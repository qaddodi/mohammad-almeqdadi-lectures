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50e2ce-6be5-1970-1fdb-16f87adaca55}">
          <p14:sldIdLst>
            <p14:sldId id="256"/>
            <p14:sldId id="257"/>
            <p14:sldId id="258"/>
            <p14:sldId id="259"/>
            <p14:sldId id="260"/>
          </p14:sldIdLst>
        </p14:section>
        <p14:section name="Finding information" id="{219dedf8-4e12-376b-3d0e-7171b6e6d27d}">
          <p14:sldIdLst>
            <p14:sldId id="261"/>
            <p14:sldId id="262"/>
            <p14:sldId id="263"/>
            <p14:sldId id="264"/>
            <p14:sldId id="265"/>
            <p14:sldId id="266"/>
            <p14:sldId id="267"/>
            <p14:sldId id="268"/>
            <p14:sldId id="269"/>
            <p14:sldId id="270"/>
            <p14:sldId id="271"/>
            <p14:sldId id="272"/>
            <p14:sldId id="273"/>
            <p14:sldId id="274"/>
            <p14:sldId id="275"/>
            <p14:sldId id="276"/>
            <p14:sldId id="277"/>
          </p14:sldIdLst>
        </p14:section>
        <p14:section name="Notes and orders" id="{6517a005-b211-e69c-581a-df22ebe2ef7b}">
          <p14:sldIdLst>
            <p14:sldId id="278"/>
            <p14:sldId id="279"/>
            <p14:sldId id="280"/>
            <p14:sldId id="281"/>
          </p14:sldIdLst>
        </p14:section>
        <p14:section name="In Basket" id="{5d2e8624-fbe1-bf77-7027-41720d949495}">
          <p14:sldIdLst>
            <p14:sldId id="282"/>
          </p14:sldIdLst>
        </p14:section>
        <p14:section name="AI in the chart" id="{21438cf8-fd20-b42c-b0f7-e0009af608ca}">
          <p14:sldIdLst>
            <p14:sldId id="283"/>
            <p14:sldId id="284"/>
            <p14:sldId id="285"/>
          </p14:sldIdLst>
        </p14:section>
        <p14:section name="Measure yourself" id="{b1622c77-e003-ef69-09f4-6e17c36f1ec0}">
          <p14:sldIdLst>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transplants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Across all US hospitals Epic is about a third, so the transplant world is much more Epic than medicine overall. One fair sentence on the others, no jokes about anyone's system: the ideas carry over even when the names don't. If asked about the VA: CPRS. VA GPT is a general chat tool approved for PHI, used by over 15,000 staff, and it is not built into CPRS (VA OIG report 26-00182-140,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Across all US hospitals Epic is about a third, so the transplant world is much more Epic than medicine overall. One fair sentence on the others, no jokes about anyone's system: the ideas carry over even when the names don't. If asked about the VA: CPRS. VA GPT is a general chat tool approved for PHI, used by over 15,000 staff, and it is not built into CPRS (VA OIG report 26-00182-140,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there evidence a view like this saves time? The best I found is from Mayo Clinic Florida: their pulmonary hypertension clinic built a disease-focused dashboard in Epic, everything on one screen with current and past values. Physician previsit review, from Signal, went from 7.0 to 4.95 minutes, total EHR time per visit from 15.2 to 12.2, and after-hours time on non-clinic days from 30 to 17. Small study, two physicians, but it's the same idea. Epic hasn't published numbers for Synopsis itself. We built three views at our center: a liver disease view for cirrhosis over time, one for the chronic liver disease workup that shows the most recent value of every etiology test in the last 20 years, and one for after transplant.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from this talk: Ctrl+Space. It opens the search bar from any screen in the chart. Everything on the next few slides starts here. Last EGD: type EGD, and the outside EGD from 2023 shows up with a hover preview. It searches notes, results, media and outside records. Favorite searches I keep: EGD, MRI, biopsy, PEth. You can also type Synopsis or an order set name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10 years and the graph is right there. Was it ever elevated? Yes, up to 71 in 2018, and normal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weight 10 years and both go on one graph, ALT on the left axis and weight on the right. Add weight to the same search and you see the ALT come down as he loses 19 kg. You can switch to 5 years or 1 year, and mix any labs and vitals.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My favorites: MELD labs with AFP built in, so the AFP goes out with every MELD draw; an HCC tumor marker group with AFP, AFP-L3 and DCP; a CLD workup set, and make sure yours includes PEth; and an MRI abdomen with and without contrast with a comment that it's a triphasic liver protocol, if your organization doesn't have a dedicated liver MRI order.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CommLib, Epic's Community Library, at comlib.epic.com with your UserWeb login. 536 organizations share their build there: SmartTexts, SmartSets and order sets, flowsheets, reports, questionnaires. Type hepatology and you get over six thousand items. Click one and you see the whole thing, every diagnosis and order in the set, before you ask for it. Before you ask your analyst to build a cirrhosis note or an order set from nothing, search it: somebody has probably made one, and your analyst can adapt it. If you've made something good, share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 Why it matters: after March 2020 patient messages jumped and stayed high, and EHR time grew most for medical subspecialists, about 10% (Holmgren, JAMA Intern Med 2025, Signal data on 280,712 physicians).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 Epic's own numbers, not studies: Outpatient Insights, one Dutch center (Groningen) found comparable quality at 7 minutes for the physician versus 15 seconds for the AI; Draft hospital course saved over 1,300 hours on discharge summaries across 50+ organizations in January 2026. Chart with Art is the ambient one Nizar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Transplant Evaluation Insights summarizes the evaluation notes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 and 30.5% reported burnout. For everyone, not just us: 5.8 hours in the EHR for every 8 hours of scheduled patient care, notes the biggest piece, and 42% of it outside clinic hours (Holmgren 2024, Signal data). Not new: Sinsky 2016 found nearly 2 hours of EHR and desk work per hour with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9-1.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31-1.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548640" y="1645920"/>
          <a:ext cx="539496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645920"/>
          <a:ext cx="5394960" cy="3931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760720"/>
            <a:ext cx="11094415" cy="41148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86%</a:t>
            </a:r>
            <a:r>
              <a:rPr lang="en-US" sz="1900" dirty="0">
                <a:solidFill>
                  <a:srgbClr val="000000"/>
                </a:solidFill>
                <a:latin typeface="Georgia" pitchFamily="34" charset="0"/>
                <a:ea typeface="Georgia" pitchFamily="34" charset="-122"/>
                <a:cs typeface="Georgia" pitchFamily="34" charset="-120"/>
              </a:rPr>
              <a:t> of transplants in 2025. Most of these tools have a version in the other systems</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Phoenix). Hospitals: KLAS via Becker's Hospital Review,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548640" y="1024128"/>
            <a:ext cx="11094415" cy="4572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One screen per disease cut physician previsit review from </a:t>
            </a:r>
            <a:r>
              <a:rPr lang="en-US" sz="1800" b="1" dirty="0">
                <a:solidFill>
                  <a:srgbClr val="000000"/>
                </a:solidFill>
                <a:highlight>
                  <a:srgbClr val="FFFF00"/>
                </a:highlight>
                <a:latin typeface="Georgia" pitchFamily="34" charset="0"/>
                <a:ea typeface="Georgia" pitchFamily="34" charset="-122"/>
                <a:cs typeface="Georgia" pitchFamily="34" charset="-120"/>
              </a:rPr>
              <a:t>7.0 to 4.95 minutes</a:t>
            </a:r>
            <a:endParaRPr lang="en-US" sz="1800" dirty="0"/>
          </a:p>
        </p:txBody>
      </p:sp>
      <p:pic>
        <p:nvPicPr>
          <p:cNvPr id="5" name="Image 0" descr="Mock Synopsis view: Liver disease">    </p:cNvPr>
          <p:cNvPicPr>
            <a:picLocks noChangeAspect="1"/>
          </p:cNvPicPr>
          <p:nvPr/>
        </p:nvPicPr>
        <p:blipFill>
          <a:blip r:embed="rId1"/>
          <a:stretch>
            <a:fillRect/>
          </a:stretch>
        </p:blipFill>
        <p:spPr>
          <a:xfrm>
            <a:off x="622011" y="1600200"/>
            <a:ext cx="3266714" cy="3429000"/>
          </a:xfrm>
          <a:prstGeom prst="rect">
            <a:avLst/>
          </a:prstGeom>
        </p:spPr>
      </p:pic>
      <p:sp>
        <p:nvSpPr>
          <p:cNvPr id="6" name="Text 3"/>
          <p:cNvSpPr txBox="1"/>
          <p:nvPr/>
        </p:nvSpPr>
        <p:spPr>
          <a:xfrm>
            <a:off x="44942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7" name="Image 1" descr="Mock Synopsis view: CLD workup">    </p:cNvPr>
          <p:cNvPicPr>
            <a:picLocks noChangeAspect="1"/>
          </p:cNvPicPr>
          <p:nvPr/>
        </p:nvPicPr>
        <p:blipFill>
          <a:blip r:embed="rId2"/>
          <a:stretch>
            <a:fillRect/>
          </a:stretch>
        </p:blipFill>
        <p:spPr>
          <a:xfrm>
            <a:off x="4462030" y="1600200"/>
            <a:ext cx="3267635" cy="3429000"/>
          </a:xfrm>
          <a:prstGeom prst="rect">
            <a:avLst/>
          </a:prstGeom>
        </p:spPr>
      </p:pic>
      <p:sp>
        <p:nvSpPr>
          <p:cNvPr id="8" name="Text 4"/>
          <p:cNvSpPr txBox="1"/>
          <p:nvPr/>
        </p:nvSpPr>
        <p:spPr>
          <a:xfrm>
            <a:off x="428990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9" name="Image 2" descr="Mock Synopsis view: After transplant">    </p:cNvPr>
          <p:cNvPicPr>
            <a:picLocks noChangeAspect="1"/>
          </p:cNvPicPr>
          <p:nvPr/>
        </p:nvPicPr>
        <p:blipFill>
          <a:blip r:embed="rId3"/>
          <a:stretch>
            <a:fillRect/>
          </a:stretch>
        </p:blipFill>
        <p:spPr>
          <a:xfrm>
            <a:off x="8302839" y="1600200"/>
            <a:ext cx="3266977" cy="3429000"/>
          </a:xfrm>
          <a:prstGeom prst="rect">
            <a:avLst/>
          </a:prstGeom>
        </p:spPr>
      </p:pic>
      <p:sp>
        <p:nvSpPr>
          <p:cNvPr id="10" name="Text 5"/>
          <p:cNvSpPr txBox="1"/>
          <p:nvPr/>
        </p:nvSpPr>
        <p:spPr>
          <a:xfrm>
            <a:off x="813038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After transplant</a:t>
            </a:r>
            <a:endParaRPr lang="en-US" sz="1800" dirty="0"/>
          </a:p>
        </p:txBody>
      </p:sp>
      <p:sp>
        <p:nvSpPr>
          <p:cNvPr id="11" name="Text 6"/>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 Koirala T et al. Appl Clin Inform 2024;15:928-38 (Mayo Clinic pulmonary hypertension clinic, 2 physicians, Signal data). doi:10.1055/s-0044-1790552</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3" name="Text 1"/>
          <p:cNvSpPr txBox="1"/>
          <p:nvPr/>
        </p:nvSpPr>
        <p:spPr>
          <a:xfrm>
            <a:off x="640080" y="2286000"/>
            <a:ext cx="4937760" cy="1280160"/>
          </a:xfrm>
          <a:prstGeom prst="rect">
            <a:avLst/>
          </a:prstGeom>
          <a:noFill/>
          <a:ln/>
        </p:spPr>
        <p:txBody>
          <a:bodyPr wrap="square" lIns="0" tIns="0" rIns="0" bIns="0" rtlCol="0" anchor="b"/>
          <a:lstStyle/>
          <a:p>
            <a:pPr algn="l" indent="0" marL="0">
              <a:buNone/>
            </a:pPr>
            <a:r>
              <a:rPr lang="en-US" sz="3200" dirty="0">
                <a:solidFill>
                  <a:srgbClr val="000000"/>
                </a:solidFill>
                <a:latin typeface="Georgia" pitchFamily="34" charset="0"/>
                <a:ea typeface="Georgia" pitchFamily="34" charset="-122"/>
                <a:cs typeface="Georgia" pitchFamily="34" charset="-120"/>
              </a:rPr>
              <a:t>Opens chart search from anywhere in Epic</a:t>
            </a:r>
            <a:endParaRPr lang="en-US" sz="3200" dirty="0"/>
          </a:p>
        </p:txBody>
      </p:sp>
      <p:sp>
        <p:nvSpPr>
          <p:cNvPr id="4" name="Text 2"/>
          <p:cNvSpPr txBox="1"/>
          <p:nvPr/>
        </p:nvSpPr>
        <p:spPr>
          <a:xfrm>
            <a:off x="640080" y="3703320"/>
            <a:ext cx="4937760" cy="822960"/>
          </a:xfrm>
          <a:prstGeom prst="rect">
            <a:avLst/>
          </a:prstGeom>
          <a:noFill/>
          <a:ln/>
        </p:spPr>
        <p:txBody>
          <a:bodyPr wrap="square" lIns="0" tIns="0" rIns="0" bIns="0" rtlCol="0" anchor="t"/>
          <a:lstStyle/>
          <a:p>
            <a:pPr algn="l" indent="0" marL="0">
              <a:buNone/>
            </a:pPr>
            <a:r>
              <a:rPr lang="en-US" sz="2000" dirty="0">
                <a:solidFill>
                  <a:srgbClr val="595959"/>
                </a:solidFill>
                <a:latin typeface="Georgia" pitchFamily="34" charset="0"/>
                <a:ea typeface="Georgia" pitchFamily="34" charset="-122"/>
                <a:cs typeface="Georgia" pitchFamily="34" charset="-120"/>
              </a:rPr>
              <a:t>No clicking through tabs. Type what you need.</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Assistant Bar and Chart Search Setup and Support Guide,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
        <p:nvSpPr>
          <p:cNvPr id="8"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endParaRPr lang="en-US" sz="3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over 10 years with the upper limit of normal">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10 years: the graph opens in the search box</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and weight together over 10 years">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weight 10 years: both on one graph</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11/21</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with favorite sections: MELD labs with AFP, HCC tumor markers, CLD workup with PEth, and a triphasic liver MRI">    </p:cNvPr>
          <p:cNvPicPr>
            <a:picLocks noChangeAspect="1"/>
          </p:cNvPicPr>
          <p:nvPr/>
        </p:nvPicPr>
        <p:blipFill>
          <a:blip r:embed="rId1"/>
          <a:stretch>
            <a:fillRect/>
          </a:stretch>
        </p:blipFill>
        <p:spPr>
          <a:xfrm>
            <a:off x="506388" y="1188720"/>
            <a:ext cx="5753784" cy="4434840"/>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760720"/>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12/21</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Community Library</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Community Library search for hepatology: a list of shared items on the left and an invented cirrhosis visit order set opened on the right">    </p:cNvPr>
          <p:cNvPicPr>
            <a:picLocks noChangeAspect="1"/>
          </p:cNvPicPr>
          <p:nvPr/>
        </p:nvPicPr>
        <p:blipFill>
          <a:blip r:embed="rId1"/>
          <a:stretch>
            <a:fillRect/>
          </a:stretch>
        </p:blipFill>
        <p:spPr>
          <a:xfrm>
            <a:off x="365760" y="1188720"/>
            <a:ext cx="7680960" cy="4915814"/>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536 organizations share their build here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SmartTexts, order sets, flowsheets, reports, questionnaires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Search “hepatology”: 6,232 results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Look before you ask your analyst to build from scratch</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back</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laid out like the Community Library site (comlib.epic.com, October 2026); organizations invented</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13/21</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14/21</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914400" y="1280160"/>
          <a:ext cx="10362895" cy="914400"/>
        </p:xfrm>
        <a:graphic>
          <a:graphicData uri="http://schemas.openxmlformats.org/drawingml/2006/table">
            <a:tbl>
              <a:tblPr/>
              <a:tblGrid>
                <a:gridCol w="2615184"/>
                <a:gridCol w="6117336"/>
                <a:gridCol w="1627632"/>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Tool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does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Epic version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 Basket drafts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a reply to a patient message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Nov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Outpatient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Summarizes notes, labs and imaging before a visit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Feb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Inpatient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Patient story and recent events for rounds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Feb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Draft hospital course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the hospital course in the discharge summary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Synopsis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Shows why a medication was changed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Aug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Chart with 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the note from the visit conversation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Ask 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Answers questions about the chart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15/21</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Transplant Evaluation Insights: committee prep 15 to 5 minutes</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All US ambulatory physicians: </a:t>
            </a:r>
            <a:r>
              <a:rPr lang="en-US" sz="1800" b="1" dirty="0">
                <a:solidFill>
                  <a:srgbClr val="000000"/>
                </a:solidFill>
                <a:highlight>
                  <a:srgbClr val="FFFF00"/>
                </a:highlight>
                <a:latin typeface="Georgia" pitchFamily="34" charset="0"/>
                <a:ea typeface="Georgia" pitchFamily="34" charset="-122"/>
                <a:cs typeface="Georgia" pitchFamily="34" charset="-120"/>
              </a:rPr>
              <a:t>5.8 hours in the EHR</a:t>
            </a:r>
            <a:r>
              <a:rPr lang="en-US" sz="1800" dirty="0">
                <a:solidFill>
                  <a:srgbClr val="000000"/>
                </a:solidFill>
                <a:latin typeface="Georgia" pitchFamily="34" charset="0"/>
                <a:ea typeface="Georgia" pitchFamily="34" charset="-122"/>
                <a:cs typeface="Georgia" pitchFamily="34" charset="-120"/>
              </a:rPr>
              <a:t> for every 8 hours of patient care</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 Holmgren AJ et al. J Gen Intern Med 2024;39:2868-70, 200,081 physicians</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21/21</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2026-10-28T11:40:12Z</dcterms:created>
  <dcterms:modified xsi:type="dcterms:W3CDTF">2026-10-28T11:40:12Z</dcterms:modified>
</cp:coreProperties>
</file>