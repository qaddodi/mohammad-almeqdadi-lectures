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c575fc1-091e-399f-e77f-1317155604f6}">
          <p14:sldIdLst>
            <p14:sldId id="256"/>
            <p14:sldId id="257"/>
            <p14:sldId id="258"/>
            <p14:sldId id="259"/>
            <p14:sldId id="260"/>
          </p14:sldIdLst>
        </p14:section>
        <p14:section name="Finding information" id="{17084c52-3a65-6e12-32f6-b0769e7c840c}">
          <p14:sldIdLst>
            <p14:sldId id="261"/>
            <p14:sldId id="262"/>
            <p14:sldId id="263"/>
            <p14:sldId id="264"/>
            <p14:sldId id="265"/>
            <p14:sldId id="266"/>
            <p14:sldId id="267"/>
            <p14:sldId id="268"/>
            <p14:sldId id="269"/>
            <p14:sldId id="270"/>
            <p14:sldId id="271"/>
            <p14:sldId id="272"/>
            <p14:sldId id="273"/>
            <p14:sldId id="274"/>
            <p14:sldId id="275"/>
            <p14:sldId id="276"/>
            <p14:sldId id="277"/>
          </p14:sldIdLst>
        </p14:section>
        <p14:section name="Notes and orders" id="{323e65cd-7dec-0c29-9e2d-561bb1bdcd00}">
          <p14:sldIdLst>
            <p14:sldId id="278"/>
            <p14:sldId id="279"/>
            <p14:sldId id="280"/>
            <p14:sldId id="281"/>
          </p14:sldIdLst>
        </p14:section>
        <p14:section name="In Basket" id="{492a3b94-ebd4-28e3-3f86-bc6f6cc4d385}">
          <p14:sldIdLst>
            <p14:sldId id="282"/>
          </p14:sldIdLst>
        </p14:section>
        <p14:section name="AI in the chart" id="{703a5a59-f156-4bd0-0417-b6292efa5ad5}">
          <p14:sldIdLst>
            <p14:sldId id="283"/>
            <p14:sldId id="284"/>
            <p14:sldId id="285"/>
          </p14:sldIdLst>
        </p14:section>
        <p14:section name="Measure yourself" id="{e007098d-04d1-6c92-9634-baf95df9a139}">
          <p14:sldIdLst>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82</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86</c:v>
                </c:pt>
              </c:numCache>
            </c:numRef>
          </c:val>
        </c:ser>
        <c:dLbls>
          <c:numFmt formatCode="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US transplants</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Sheet1!$B$2:$B$5</c:f>
              <c:numCache>
                <c:formatCode>General</c:formatCode>
                <c:ptCount val="4"/>
                <c:pt idx="0">
                  <c:v>0</c:v>
                </c:pt>
                <c:pt idx="1">
                  <c:v>25</c:v>
                </c:pt>
                <c:pt idx="2">
                  <c:v>16</c:v>
                </c:pt>
                <c:pt idx="3">
                  <c:v>23</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Sheet1!$C$2:$C$5</c:f>
              <c:numCache>
                <c:formatCode>General</c:formatCode>
                <c:ptCount val="4"/>
                <c:pt idx="0">
                  <c:v>36</c:v>
                </c:pt>
                <c:pt idx="1">
                  <c:v>0</c:v>
                </c:pt>
                <c:pt idx="2">
                  <c:v>0</c:v>
                </c:pt>
                <c:pt idx="3">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US hospitals</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Sheet1!$B$2:$B$4</c:f>
              <c:numCache>
                <c:formatCode>General</c:formatCode>
                <c:ptCount val="3"/>
                <c:pt idx="0">
                  <c:v>21.8</c:v>
                </c:pt>
                <c:pt idx="1">
                  <c:v>0</c:v>
                </c:pt>
                <c:pt idx="2">
                  <c:v>17.9</c:v>
                </c:pt>
              </c:numCache>
            </c:numRef>
          </c:val>
        </c:ser>
        <c:ser>
          <c:idx val="1"/>
          <c:order val="1"/>
          <c:tx>
            <c:strRef>
              <c:f>Sheet1!$C$1</c:f>
              <c:strCache>
                <c:ptCount val="1"/>
                <c:pt idx="0">
                  <c:v>b</c:v>
                </c:pt>
              </c:strCache>
            </c:strRef>
          </c:tx>
          <c:spPr>
            <a:solidFill>
              <a:srgbClr val="1F4E79"/>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Sheet1!$C$2:$C$4</c:f>
              <c:numCache>
                <c:formatCode>General</c:formatCode>
                <c:ptCount val="3"/>
                <c:pt idx="0">
                  <c:v>0</c:v>
                </c:pt>
                <c:pt idx="1">
                  <c:v>-5.9</c:v>
                </c:pt>
                <c:pt idx="2">
                  <c:v>0</c:v>
                </c:pt>
              </c:numCache>
            </c:numRef>
          </c:val>
        </c:ser>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3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Sheet1!$B$2:$B$6</c:f>
              <c:numCache>
                <c:formatCode>General</c:formatCode>
                <c:ptCount val="5"/>
                <c:pt idx="0">
                  <c:v>14.7</c:v>
                </c:pt>
                <c:pt idx="1">
                  <c:v>17.2</c:v>
                </c:pt>
                <c:pt idx="2">
                  <c:v>26.2</c:v>
                </c:pt>
                <c:pt idx="3">
                  <c:v>29.7</c:v>
                </c:pt>
                <c:pt idx="4">
                  <c:v>0</c:v>
                </c:pt>
              </c:numCache>
            </c:numRef>
          </c:val>
        </c:ser>
        <c:ser>
          <c:idx val="1"/>
          <c:order val="1"/>
          <c:tx>
            <c:strRef>
              <c:f>Sheet1!$C$1</c:f>
              <c:strCache>
                <c:ptCount val="1"/>
                <c:pt idx="0">
                  <c:v>b</c:v>
                </c:pt>
              </c:strCache>
            </c:strRef>
          </c:tx>
          <c:spPr>
            <a:solidFill>
              <a:srgbClr val="1F4E79"/>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Sheet1!$C$2:$C$6</c:f>
              <c:numCache>
                <c:formatCode>General</c:formatCode>
                <c:ptCount val="5"/>
                <c:pt idx="0">
                  <c:v>0</c:v>
                </c:pt>
                <c:pt idx="1">
                  <c:v>0</c:v>
                </c:pt>
                <c:pt idx="2">
                  <c:v>0</c:v>
                </c:pt>
                <c:pt idx="3">
                  <c:v>0</c:v>
                </c:pt>
                <c:pt idx="4">
                  <c:v>30.5</c:v>
                </c:pt>
              </c:numCache>
            </c:numRef>
          </c:val>
        </c:ser>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Minutes per appointment</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10:10 to 10:30. Emily has already said why this session exists, so no burnout slides up front. Nizar covers ambient documentation in depth, so I only touch it once. Show and tell, no live demo. Every screen in this talk is a mock-up with made-up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The point to make: the screens look like Epic so you recognize them, but I drew them. No patient data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We'll follow one new referral through the chart, then the In Basket, then the AI tools, then how to see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Across all US hospitals Epic is about a third, so the transplant world is much more Epic than medicine overall. One fair sentence on the others, no jokes about anyone's system: the ideas carry over even when the names don't. If asked about the VA: CPRS. VA GPT is a general chat tool approved for PHI, used by over 15,000 staff, and it is not built into CPRS (VA OIG report 26-00182-140, June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Across all US hospitals Epic is about a third, so the transplant world is much more Epic than medicine overall. One fair sentence on the others, no jokes about anyone's system: the ideas carry over even when the names don't. If asked about the VA: CPRS. VA GPT is a general chat tool approved for PHI, used by over 15,000 staff, and it is not built into CPRS (VA OIG report 26-00182-140, June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there evidence a view like this saves time? The best I found is from Mayo Clinic Florida: their pulmonary hypertension clinic built a disease-focused dashboard in Epic, everything on one screen with current and past values. Physician previsit review, from Signal, went from 7.0 to 4.95 minutes, total EHR time per visit from 15.2 to 12.2, and after-hours time on non-clinic days from 30 to 17. Small study, two physicians, but it's the same idea. Epic hasn't published numbers for Synopsis itself. We built three views at our center: a liver disease view for cirrhosis over time, one for the chronic liver disease workup that shows the most recent value of every etiology test in the last 20 years, and a post-transplant view. Epic ships a cirrhosis view, built with its Hepatology Specialty Steering Board, that your analyst can import; we started there and kept adding sections. You can do the same: it's a build request, not a product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one thing from this talk: Ctrl+Space. It opens the search bar from any screen in the chart. Everything on the next few slides starts here. Last EGD: type EGD, and the outside EGD from 2023 shows up with a hover preview. It searches notes, results, media and outside records. Favorite searches I keep: EGD, MRI, biopsy, PEth. You can also type Synopsis or an order set name to jump straight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terms. I type hepatitis b and it suggests the core and surface antibodies and also his entecavir and tenofovir. The spotlight card shows the latest result without opening anything. Results show up before you press Enter; press Enter for the full list. Quotation marks give the exact word only, and AND / OR work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Trends. Steatotic liver disease follow-up: type trend alt 10 years and the graph is right there. Was it ever elevated? Yes, up to 71 in 2018, and normal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Trends. Steatotic liver disease follow-up: type trend alt weight 10 years and both go on one graph, ALT on the left axis and weight on the right. Add weight to the same search and you see the ALT come down as he loses 19 kg. You can switch to 5 years or 1 year, and mix any labs and vitals. Was it ever elevated? Yes, up to 71 in 2018, and normal now after weight loss. Works for labs and vitals, weight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Scanned documents. Chart search reads the text of scanned documents with OCR, so the outside referral fax is searchable. Hover and you see the page with the words highlighted: his 2024 FibroScan, 12.4 kPa, was only in a fax. Your organization has to turn this on, and it reads documents scanned in the last two years when it starts, so ask your Epic team if yours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 Ursodiol for PBC at 13 to 15 mg/kg. I type 80x13 and get 1,040 mg, with a button to copy the answer. No calculator. It does unit conversions too, like pounds to kilograms.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Review, Notes tab, no filter: 214 notes, phone calls, nursing, other clinics. Scrolling this before every visit is where the time goes. The buttons above the list are quick filters.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list with our Hepatology quick filter on: hepatology notes, GI procedures, imaging and pathology. The green CE icon marks notes from other organizations through Care Everywhere, so his outside MRI with the LI-RADS 3 observation and the 2019 biopsy sit in the same list. You can build your own quick filter from Chart Review in a minute, or ask your analyst to make one for the whole division.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Preference list: click the star on any order, or right-click it, and it goes into your own list in the section you pick. Follow Users on the Browse tab lets you use a colleague's lists, up to three people, so one person in the division builds it and everyone follows. My favorites: MELD labs with AFP built in, so the AFP goes out with every MELD draw; an HCC tumor marker group with AFP, AFP-L3 and DCP; a CLD workup set, and make sure yours includes PEth; and an MRI abdomen with and without contrast with a comment that it's a triphasic liver protocol, if your organization doesn't have a dedicated liver MRI order. Every new cirrhosis visit gets the same labs and ultrasound: save it once as your version of the order set. Safety point: check the encounter before signing; inpatient orders placed under a clinic visit don't reach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CommLib, Epic's Community Library, at comlib.epic.com with your UserWeb login. 536 organizations share their build there: SmartTexts, SmartSets and order sets, flowsheets, reports, questionnaires. Type hepatology and you get over six thousand items. Click one and you see the whole thing, every diagnosis and order in the set, before you ask for it. Before you ask your analyst to build a cirrhosis note or an order set from nothing, search it: somebody has probably made one, and your analyst can adapt it. If you've made something good, share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AFP: one click sends the MyChart letter, done. Build three or four QuickActions for the results you see every day. Result notes come from a SmartPhrase so the wording is the same each time. Set out of contact and a delegate before vacation, not after. Why it matters: after March 2020 patient messages jumped and stayed high, and EHR time grew most for medical subspecialists, about 10% (Holmgren, JAMA Intern Med 2025, Signal data on 280,712 physicians).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ones a hepatologist will touch. Version is the Epic release where it became generally available; your system may be a release or two behind, and some need to be requested from Epic. Ask your informatics team which ones are on. Every suggestion still needs your review and signature. Epic's own numbers, not studies: Outpatient Insights, one Dutch center (Groningen) found comparable quality at 7 minutes for the physician versus 15 seconds for the AI; Draft hospital course saved over 1,300 hours on discharge summaries across 50+ organizations in January 2026. Chart with Art is the ambient one Nizar 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waiting-list study, 2023, drafts built into Epic. Reading time went up 22%, reply time did not change significantly, and replies got 18% longer. Physicians still liked them as a kinder starting point. The 30 seconds saved per message you'll hear from Mayo comes from Epic's own material, not a trial. So: worth trying, but don't expect your In Basket to empty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Phoenix tools. Transplant Evaluation Insights summarizes the evaluation notes for selection committee, with a link to every source note; Epic estimates prep drops from 15 to 5 minutes. MELD lab submission checks which waitlisted patients have new labs and sends them to UNOS together; Epic estimates 100 coordinator hours a year for a center with about 60 liver patients listed. These are vendor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own specialty. Three tertiary centers, Signal data. Hepatologists had the most EHR time per appointment of any GI group: 30.5 minutes, versus 14.7 for advanced endoscopy. That includes 8.9 minutes of chart review and 7.7 minutes outside scheduled hours per appointment. Survey: in-basket and documentation ranked as the top stressors, and 30.5% reported burnout. For everyone, not just us: 5.8 hours in the EHR for every 8 hours of scheduled patient care, notes the biggest piece, and 42% of it outside clinic hours (Holmgren 2024, Signal data). Not new: Sinsky 2016 found nearly 2 hours of EHR and desk work per hour with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national numbers come from, and you can see your own. Dr. Example is slower than peers in notes and closes fewer notes the same day; the personalization line shows why: 3 SmartPhrases, no preference list, no QuickActions. Most of us have to request access. I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referral: MELD trend, workup gaps, last EGD and outside MRI, all found before walking in. None of this is AI. Pick two from the list this week. And ask which AI tools your organization has turned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back to Emily for the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29-1.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31-1.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2.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linic workstation with two monitors and a coffee cup">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914400"/>
            <a:ext cx="6035040" cy="2011680"/>
          </a:xfrm>
          <a:prstGeom prst="rect">
            <a:avLst/>
          </a:prstGeom>
          <a:noFill/>
          <a:ln/>
        </p:spPr>
        <p:txBody>
          <a:bodyPr wrap="square" lIns="0" tIns="0" rIns="0" bIns="0" rtlCol="0" anchor="ctr"/>
          <a:lstStyle/>
          <a:p>
            <a:pPr algn="ctr" indent="0" marL="0">
              <a:buNone/>
            </a:pPr>
            <a:r>
              <a:rPr lang="en-US" sz="4000" b="1" dirty="0">
                <a:solidFill>
                  <a:srgbClr val="000000"/>
                </a:solidFill>
                <a:latin typeface="Georgia" pitchFamily="34" charset="0"/>
                <a:ea typeface="Georgia" pitchFamily="34" charset="-122"/>
                <a:cs typeface="Georgia" pitchFamily="34" charset="-120"/>
              </a:rPr>
              <a:t>Epically Efficient</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Electronic Health Record Tools</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to Improve Your Practice</a:t>
            </a:r>
            <a:endParaRPr lang="en-US" sz="4000" dirty="0"/>
          </a:p>
        </p:txBody>
      </p:sp>
      <p:sp>
        <p:nvSpPr>
          <p:cNvPr id="4" name="Shape 1"/>
          <p:cNvSpPr/>
          <p:nvPr/>
        </p:nvSpPr>
        <p:spPr>
          <a:xfrm>
            <a:off x="1737360" y="3246120"/>
            <a:ext cx="3474720" cy="0"/>
          </a:xfrm>
          <a:prstGeom prst="line">
            <a:avLst/>
          </a:prstGeom>
          <a:noFill/>
          <a:ln w="12700">
            <a:solidFill>
              <a:srgbClr val="A6A6A6"/>
            </a:solidFill>
            <a:prstDash val="solid"/>
          </a:ln>
        </p:spPr>
      </p:sp>
      <p:sp>
        <p:nvSpPr>
          <p:cNvPr id="5" name="Text 2"/>
          <p:cNvSpPr txBox="1"/>
          <p:nvPr/>
        </p:nvSpPr>
        <p:spPr>
          <a:xfrm>
            <a:off x="457200" y="3520440"/>
            <a:ext cx="6035040"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1741932" y="5257800"/>
            <a:ext cx="3465576" cy="704088"/>
          </a:xfrm>
          <a:prstGeom prst="rect">
            <a:avLst/>
          </a:prstGeom>
        </p:spPr>
      </p:pic>
      <p:sp>
        <p:nvSpPr>
          <p:cNvPr id="7" name="Text 3"/>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Body"/>
          <p:cNvSpPr txBox="1"/>
          <p:nvPr/>
        </p:nvSpPr>
        <p:spPr>
          <a:xfrm>
            <a:off x="822960" y="1737360"/>
            <a:ext cx="6400800" cy="384048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relevant financial relationships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relationship with Epic Systems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Every screen in this talk is a mock-up with invented data. None of it is a real patient or a real Epic screen</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822960" y="1554480"/>
            <a:ext cx="60350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Find what you need in the chart faster</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Spend less time on notes, orders and the In Basket</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Know which AI tools are live and what the evidence shows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Measure your own EHR time</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2194560" y="16459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Phoenix)</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548640" y="1645920"/>
          <a:ext cx="539496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09360" y="1645920"/>
          <a:ext cx="5394960" cy="393192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548640" y="5760720"/>
            <a:ext cx="11094415" cy="411480"/>
          </a:xfrm>
          <a:prstGeom prst="rect">
            <a:avLst/>
          </a:prstGeom>
          <a:noFill/>
          <a:ln/>
        </p:spPr>
        <p:txBody>
          <a:bodyPr wrap="square" lIns="0" tIns="0" rIns="0" bIns="0" rtlCol="0" anchor="ctr"/>
          <a:lstStyle/>
          <a:p>
            <a:pPr algn="ctr" indent="0" marL="0">
              <a:buNone/>
            </a:pPr>
            <a:r>
              <a:rPr lang="en-US" sz="1900" b="1" dirty="0">
                <a:solidFill>
                  <a:srgbClr val="000000"/>
                </a:solidFill>
                <a:highlight>
                  <a:srgbClr val="FFFF00"/>
                </a:highlight>
                <a:latin typeface="Georgia" pitchFamily="34" charset="0"/>
                <a:ea typeface="Georgia" pitchFamily="34" charset="-122"/>
                <a:cs typeface="Georgia" pitchFamily="34" charset="-120"/>
              </a:rPr>
              <a:t>86%</a:t>
            </a:r>
            <a:r>
              <a:rPr lang="en-US" sz="1900" dirty="0">
                <a:solidFill>
                  <a:srgbClr val="000000"/>
                </a:solidFill>
                <a:latin typeface="Georgia" pitchFamily="34" charset="0"/>
                <a:ea typeface="Georgia" pitchFamily="34" charset="-122"/>
                <a:cs typeface="Georgia" pitchFamily="34" charset="-120"/>
              </a:rPr>
              <a:t> of transplants in 2025. Most of these tools have a version in the other systems</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Phoenix). Hospitals: KLAS via Becker's Hospital Review,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3/21</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4" name="Text 1"/>
          <p:cNvSpPr txBox="1"/>
          <p:nvPr/>
        </p:nvSpPr>
        <p:spPr>
          <a:xfrm>
            <a:off x="731520" y="5623560"/>
            <a:ext cx="1072865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Today that resident also knows where everything is in the chart.</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7" name="Body"/>
          <p:cNvSpPr txBox="1"/>
          <p:nvPr/>
        </p:nvSpPr>
        <p:spPr>
          <a:xfrm>
            <a:off x="6309360" y="2468880"/>
            <a:ext cx="5303520" cy="3749040"/>
          </a:xfrm>
          <a:prstGeom prst="rect">
            <a:avLst/>
          </a:prstGeom>
          <a:noFill/>
          <a:ln/>
        </p:spPr>
        <p:txBody>
          <a:bodyPr wrap="square" lIns="50800" tIns="50800" rIns="50800" bIns="50800" rtlCol="0" anchor="t"/>
          <a:lstStyle/>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Where his MELD is going</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Was the etiology workup done?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imaging (HCC surveillance)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EGD (varices)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Current liver meds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Is he still drinking?</a:t>
            </a:r>
            <a:endParaRPr lang="en-US" sz="22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We built three Synopsis views. You can too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548640" y="1024128"/>
            <a:ext cx="11094415" cy="45720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One screen per disease cut physician previsit review from </a:t>
            </a:r>
            <a:r>
              <a:rPr lang="en-US" sz="1800" b="1" dirty="0">
                <a:solidFill>
                  <a:srgbClr val="000000"/>
                </a:solidFill>
                <a:highlight>
                  <a:srgbClr val="FFFF00"/>
                </a:highlight>
                <a:latin typeface="Georgia" pitchFamily="34" charset="0"/>
                <a:ea typeface="Georgia" pitchFamily="34" charset="-122"/>
                <a:cs typeface="Georgia" pitchFamily="34" charset="-120"/>
              </a:rPr>
              <a:t>7.0 to 4.95 minutes</a:t>
            </a:r>
            <a:endParaRPr lang="en-US" sz="1800" dirty="0"/>
          </a:p>
        </p:txBody>
      </p:sp>
      <p:pic>
        <p:nvPicPr>
          <p:cNvPr id="5" name="Image 0" descr="Mock Synopsis view: Liver disease">    </p:cNvPr>
          <p:cNvPicPr>
            <a:picLocks noChangeAspect="1"/>
          </p:cNvPicPr>
          <p:nvPr/>
        </p:nvPicPr>
        <p:blipFill>
          <a:blip r:embed="rId1"/>
          <a:stretch>
            <a:fillRect/>
          </a:stretch>
        </p:blipFill>
        <p:spPr>
          <a:xfrm>
            <a:off x="622011" y="1600200"/>
            <a:ext cx="3266714" cy="3429000"/>
          </a:xfrm>
          <a:prstGeom prst="rect">
            <a:avLst/>
          </a:prstGeom>
        </p:spPr>
      </p:pic>
      <p:sp>
        <p:nvSpPr>
          <p:cNvPr id="6" name="Text 3"/>
          <p:cNvSpPr txBox="1"/>
          <p:nvPr/>
        </p:nvSpPr>
        <p:spPr>
          <a:xfrm>
            <a:off x="449428" y="512064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Liver disease</a:t>
            </a:r>
            <a:endParaRPr lang="en-US" sz="1800" dirty="0"/>
          </a:p>
        </p:txBody>
      </p:sp>
      <p:pic>
        <p:nvPicPr>
          <p:cNvPr id="7" name="Image 1" descr="Mock Synopsis view: CLD workup">    </p:cNvPr>
          <p:cNvPicPr>
            <a:picLocks noChangeAspect="1"/>
          </p:cNvPicPr>
          <p:nvPr/>
        </p:nvPicPr>
        <p:blipFill>
          <a:blip r:embed="rId2"/>
          <a:stretch>
            <a:fillRect/>
          </a:stretch>
        </p:blipFill>
        <p:spPr>
          <a:xfrm>
            <a:off x="4462030" y="1600200"/>
            <a:ext cx="3267635" cy="3429000"/>
          </a:xfrm>
          <a:prstGeom prst="rect">
            <a:avLst/>
          </a:prstGeom>
        </p:spPr>
      </p:pic>
      <p:sp>
        <p:nvSpPr>
          <p:cNvPr id="8" name="Text 4"/>
          <p:cNvSpPr txBox="1"/>
          <p:nvPr/>
        </p:nvSpPr>
        <p:spPr>
          <a:xfrm>
            <a:off x="4289908" y="512064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CLD workup</a:t>
            </a:r>
            <a:endParaRPr lang="en-US" sz="1800" dirty="0"/>
          </a:p>
        </p:txBody>
      </p:sp>
      <p:pic>
        <p:nvPicPr>
          <p:cNvPr id="9" name="Image 2" descr="Mock Synopsis view: Post-transplant">    </p:cNvPr>
          <p:cNvPicPr>
            <a:picLocks noChangeAspect="1"/>
          </p:cNvPicPr>
          <p:nvPr/>
        </p:nvPicPr>
        <p:blipFill>
          <a:blip r:embed="rId3"/>
          <a:stretch>
            <a:fillRect/>
          </a:stretch>
        </p:blipFill>
        <p:spPr>
          <a:xfrm>
            <a:off x="8302839" y="1600200"/>
            <a:ext cx="3266977" cy="3429000"/>
          </a:xfrm>
          <a:prstGeom prst="rect">
            <a:avLst/>
          </a:prstGeom>
        </p:spPr>
      </p:pic>
      <p:sp>
        <p:nvSpPr>
          <p:cNvPr id="10" name="Text 5"/>
          <p:cNvSpPr txBox="1"/>
          <p:nvPr/>
        </p:nvSpPr>
        <p:spPr>
          <a:xfrm>
            <a:off x="8130388" y="512064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Post-transplant</a:t>
            </a:r>
            <a:endParaRPr lang="en-US" sz="1800" dirty="0"/>
          </a:p>
        </p:txBody>
      </p:sp>
      <p:sp>
        <p:nvSpPr>
          <p:cNvPr id="11" name="Text 6"/>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Start from one of Epic's Synopsis views, then sit with your Epic analyst and add the sections you look for every day</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Synopsis Setup and Support Guide, 2026. Koirala T et al. Appl Clin Inform 2024;15:928-38 (Mayo Clinic pulmonary hypertension clinic, 2 physicians, Signal data). doi:10.1055/s-0044-1790552</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Where is his MELD going?</a:t>
            </a:r>
            <a:endParaRPr lang="en-US" sz="22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MELD 3.0 went from 9 to 24 in a year, with the creatinine rising</a:t>
            </a:r>
            <a:endParaRPr lang="en-US" sz="20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Was the workup done?</a:t>
            </a:r>
            <a:endParaRPr lang="en-US" sz="22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No HBV core antibody or HFE, HBsAb negative, and metabolic risk</a:t>
            </a:r>
            <a:endParaRPr lang="en-US" sz="20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8/21</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3" name="Text 1"/>
          <p:cNvSpPr txBox="1"/>
          <p:nvPr/>
        </p:nvSpPr>
        <p:spPr>
          <a:xfrm>
            <a:off x="640080" y="2286000"/>
            <a:ext cx="4937760" cy="1280160"/>
          </a:xfrm>
          <a:prstGeom prst="rect">
            <a:avLst/>
          </a:prstGeom>
          <a:noFill/>
          <a:ln/>
        </p:spPr>
        <p:txBody>
          <a:bodyPr wrap="square" lIns="0" tIns="0" rIns="0" bIns="0" rtlCol="0" anchor="b"/>
          <a:lstStyle/>
          <a:p>
            <a:pPr algn="l" indent="0" marL="0">
              <a:buNone/>
            </a:pPr>
            <a:r>
              <a:rPr lang="en-US" sz="3200" dirty="0">
                <a:solidFill>
                  <a:srgbClr val="000000"/>
                </a:solidFill>
                <a:latin typeface="Georgia" pitchFamily="34" charset="0"/>
                <a:ea typeface="Georgia" pitchFamily="34" charset="-122"/>
                <a:cs typeface="Georgia" pitchFamily="34" charset="-120"/>
              </a:rPr>
              <a:t>Opens chart search from anywhere in Epic</a:t>
            </a:r>
            <a:endParaRPr lang="en-US" sz="3200" dirty="0"/>
          </a:p>
        </p:txBody>
      </p:sp>
      <p:sp>
        <p:nvSpPr>
          <p:cNvPr id="4" name="Text 2"/>
          <p:cNvSpPr txBox="1"/>
          <p:nvPr/>
        </p:nvSpPr>
        <p:spPr>
          <a:xfrm>
            <a:off x="640080" y="3703320"/>
            <a:ext cx="4937760" cy="822960"/>
          </a:xfrm>
          <a:prstGeom prst="rect">
            <a:avLst/>
          </a:prstGeom>
          <a:noFill/>
          <a:ln/>
        </p:spPr>
        <p:txBody>
          <a:bodyPr wrap="square" lIns="0" tIns="0" rIns="0" bIns="0" rtlCol="0" anchor="t"/>
          <a:lstStyle/>
          <a:p>
            <a:pPr algn="l" indent="0" marL="0">
              <a:buNone/>
            </a:pPr>
            <a:r>
              <a:rPr lang="en-US" sz="2000" dirty="0">
                <a:solidFill>
                  <a:srgbClr val="595959"/>
                </a:solidFill>
                <a:latin typeface="Georgia" pitchFamily="34" charset="0"/>
                <a:ea typeface="Georgia" pitchFamily="34" charset="-122"/>
                <a:cs typeface="Georgia" pitchFamily="34" charset="-120"/>
              </a:rPr>
              <a:t>No clicking through tabs. Type what you need.</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Assistant Bar and Chart Search Setup and Support Guide,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
        <p:nvSpPr>
          <p:cNvPr id="8"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endParaRPr lang="en-US" sz="3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hep B showing related medications, results and problems">    </p:cNvPr>
          <p:cNvPicPr>
            <a:picLocks noChangeAspect="1"/>
          </p:cNvPicPr>
          <p:nvPr/>
        </p:nvPicPr>
        <p:blipFill>
          <a:blip r:embed="rId1"/>
          <a:stretch>
            <a:fillRect/>
          </a:stretch>
        </p:blipFill>
        <p:spPr>
          <a:xfrm>
            <a:off x="2913911" y="1143000"/>
            <a:ext cx="6363872"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hepatitis b: it also offers entecavir and tenofovir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trending ALT over 10 years with the upper limit of normal">    </p:cNvPr>
          <p:cNvPicPr>
            <a:picLocks noChangeAspect="1"/>
          </p:cNvPicPr>
          <p:nvPr/>
        </p:nvPicPr>
        <p:blipFill>
          <a:blip r:embed="rId1"/>
          <a:stretch>
            <a:fillRect/>
          </a:stretch>
        </p:blipFill>
        <p:spPr>
          <a:xfrm>
            <a:off x="3432854" y="1143000"/>
            <a:ext cx="5325988"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trend alt 10 years: the graph opens in the search box</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trending ALT and weight together over 10 years">    </p:cNvPr>
          <p:cNvPicPr>
            <a:picLocks noChangeAspect="1"/>
          </p:cNvPicPr>
          <p:nvPr/>
        </p:nvPicPr>
        <p:blipFill>
          <a:blip r:embed="rId1"/>
          <a:stretch>
            <a:fillRect/>
          </a:stretch>
        </p:blipFill>
        <p:spPr>
          <a:xfrm>
            <a:off x="3432854" y="1143000"/>
            <a:ext cx="5325988"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trend alt weight 10 years: both on one graph</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elastography finding the words inside a scanned outside fax, highlighted in a preview">    </p:cNvPr>
          <p:cNvPicPr>
            <a:picLocks noChangeAspect="1"/>
          </p:cNvPicPr>
          <p:nvPr/>
        </p:nvPicPr>
        <p:blipFill>
          <a:blip r:embed="rId1"/>
          <a:stretch>
            <a:fillRect/>
          </a:stretch>
        </p:blipFill>
        <p:spPr>
          <a:xfrm>
            <a:off x="2600199" y="1143000"/>
            <a:ext cx="6991296"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Scanned faxes are searchable too: it reads the text (OCR)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doing the calculation 80 x 13 = 1,040">    </p:cNvPr>
          <p:cNvPicPr>
            <a:picLocks noChangeAspect="1"/>
          </p:cNvPicPr>
          <p:nvPr/>
        </p:nvPicPr>
        <p:blipFill>
          <a:blip r:embed="rId1"/>
          <a:stretch>
            <a:fillRect/>
          </a:stretch>
        </p:blipFill>
        <p:spPr>
          <a:xfrm>
            <a:off x="822960" y="1143000"/>
            <a:ext cx="10545775" cy="3929824"/>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Ursodiol for PBC: 80 kg x 13 mg/kg, typed straight in</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showing all 214 notes, quick filter buttons above the list">    </p:cNvPr>
          <p:cNvPicPr>
            <a:picLocks noChangeAspect="1"/>
          </p:cNvPicPr>
          <p:nvPr/>
        </p:nvPicPr>
        <p:blipFill>
          <a:blip r:embed="rId1"/>
          <a:stretch>
            <a:fillRect/>
          </a:stretch>
        </p:blipFill>
        <p:spPr>
          <a:xfrm>
            <a:off x="1904848" y="1143000"/>
            <a:ext cx="8382000"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Notes tab, no filter: 214 notes</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with a Hepatology quick filter applied, 7 notes, four from outside organizations">    </p:cNvPr>
          <p:cNvPicPr>
            <a:picLocks noChangeAspect="1"/>
          </p:cNvPicPr>
          <p:nvPr/>
        </p:nvPicPr>
        <p:blipFill>
          <a:blip r:embed="rId1"/>
          <a:stretch>
            <a:fillRect/>
          </a:stretch>
        </p:blipFill>
        <p:spPr>
          <a:xfrm>
            <a:off x="1103627" y="1143000"/>
            <a:ext cx="9984441"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One click on our Hepatology quick filter: 7 notes, outside ones included</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with a SmartPhrase being typed">    </p:cNvPr>
          <p:cNvPicPr>
            <a:picLocks noChangeAspect="1"/>
          </p:cNvPicPr>
          <p:nvPr/>
        </p:nvPicPr>
        <p:blipFill>
          <a:blip r:embed="rId1"/>
          <a:stretch>
            <a:fillRect/>
          </a:stretch>
        </p:blipFill>
        <p:spPr>
          <a:xfrm>
            <a:off x="365760" y="1188720"/>
            <a:ext cx="7680960" cy="432277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11/21</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after the SmartPhrase expanded, with linked data">    </p:cNvPr>
          <p:cNvPicPr>
            <a:picLocks noChangeAspect="1"/>
          </p:cNvPicPr>
          <p:nvPr/>
        </p:nvPicPr>
        <p:blipFill>
          <a:blip r:embed="rId1"/>
          <a:stretch>
            <a:fillRect/>
          </a:stretch>
        </p:blipFill>
        <p:spPr>
          <a:xfrm>
            <a:off x="365760" y="1188720"/>
            <a:ext cx="7680960" cy="4322773"/>
          </a:xfrm>
          <a:prstGeom prst="rect">
            <a:avLst/>
          </a:prstGeom>
        </p:spPr>
      </p:pic>
      <p:sp>
        <p:nvSpPr>
          <p:cNvPr id="5" name="Body"/>
          <p:cNvSpPr txBox="1"/>
          <p:nvPr/>
        </p:nvSpPr>
        <p:spPr>
          <a:xfrm>
            <a:off x="8229600" y="1371600"/>
            <a:ext cx="3566160" cy="484632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Blue fields are pulled from the chart</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 } lists are one click</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 has to be filled before you sign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Share yours with colleagues, or use theirs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11/21</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Orders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order search with favorite sections: MELD labs with AFP, HCC tumor markers, CLD workup with PEth, and a triphasic liver MRI">    </p:cNvPr>
          <p:cNvPicPr>
            <a:picLocks noChangeAspect="1"/>
          </p:cNvPicPr>
          <p:nvPr/>
        </p:nvPicPr>
        <p:blipFill>
          <a:blip r:embed="rId1"/>
          <a:stretch>
            <a:fillRect/>
          </a:stretch>
        </p:blipFill>
        <p:spPr>
          <a:xfrm>
            <a:off x="506388" y="1188720"/>
            <a:ext cx="5753784" cy="4434840"/>
          </a:xfrm>
          <a:prstGeom prst="rect">
            <a:avLst/>
          </a:prstGeom>
        </p:spPr>
      </p:pic>
      <p:pic>
        <p:nvPicPr>
          <p:cNvPr id="5" name="Image 1" descr="Mock order set for a new cirrhosis visit, saved as a personal version">    </p:cNvPr>
          <p:cNvPicPr>
            <a:picLocks noChangeAspect="1"/>
          </p:cNvPicPr>
          <p:nvPr/>
        </p:nvPicPr>
        <p:blipFill>
          <a:blip r:embed="rId2"/>
          <a:stretch>
            <a:fillRect/>
          </a:stretch>
        </p:blipFill>
        <p:spPr>
          <a:xfrm>
            <a:off x="6675120" y="1188720"/>
            <a:ext cx="5120640" cy="4106753"/>
          </a:xfrm>
          <a:prstGeom prst="rect">
            <a:avLst/>
          </a:prstGeom>
        </p:spPr>
      </p:pic>
      <p:sp>
        <p:nvSpPr>
          <p:cNvPr id="6" name="Text 2"/>
          <p:cNvSpPr txBox="1"/>
          <p:nvPr/>
        </p:nvSpPr>
        <p:spPr>
          <a:xfrm>
            <a:off x="365760" y="5760720"/>
            <a:ext cx="6035040" cy="68580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Star an order to put it on your preference list. Follow up to 3 colleagues' lists.</a:t>
            </a:r>
            <a:endParaRPr lang="en-US" sz="1800" dirty="0"/>
          </a:p>
        </p:txBody>
      </p:sp>
      <p:sp>
        <p:nvSpPr>
          <p:cNvPr id="7" name="Text 3"/>
          <p:cNvSpPr txBox="1"/>
          <p:nvPr/>
        </p:nvSpPr>
        <p:spPr>
          <a:xfrm>
            <a:off x="6675120" y="5432633"/>
            <a:ext cx="512064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Save your own version of an order set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Preference Lists Setup and Support Guide, 2026; Epic, How to Personalize Epic</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12/21</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Community Library</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Community Library search for hepatology: a list of shared items on the left and an invented cirrhosis visit order set opened on the right">    </p:cNvPr>
          <p:cNvPicPr>
            <a:picLocks noChangeAspect="1"/>
          </p:cNvPicPr>
          <p:nvPr/>
        </p:nvPicPr>
        <p:blipFill>
          <a:blip r:embed="rId1"/>
          <a:stretch>
            <a:fillRect/>
          </a:stretch>
        </p:blipFill>
        <p:spPr>
          <a:xfrm>
            <a:off x="365760" y="1188720"/>
            <a:ext cx="7680960" cy="4915814"/>
          </a:xfrm>
          <a:prstGeom prst="rect">
            <a:avLst/>
          </a:prstGeom>
        </p:spPr>
      </p:pic>
      <p:sp>
        <p:nvSpPr>
          <p:cNvPr id="5" name="Body"/>
          <p:cNvSpPr txBox="1"/>
          <p:nvPr/>
        </p:nvSpPr>
        <p:spPr>
          <a:xfrm>
            <a:off x="8229600" y="1371600"/>
            <a:ext cx="3566160" cy="484632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536 organizations share their build here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SmartTexts, order sets, flowsheets, reports, questionnaires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Search “hepatology”: 6,232 results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Look before you ask your analyst to build from scratch</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Share yours back</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laid out like the Community Library site (comlib.epic.com, October 2026); organizations invented</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13/21</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Basket tools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pic>
        <p:nvPicPr>
          <p:cNvPr id="4" name="Image 0" descr="Mock In Basket with a normal AFP result and QuickAction buttons">    </p:cNvPr>
          <p:cNvPicPr>
            <a:picLocks noChangeAspect="1"/>
          </p:cNvPicPr>
          <p:nvPr/>
        </p:nvPicPr>
        <p:blipFill>
          <a:blip r:embed="rId1"/>
          <a:stretch>
            <a:fillRect/>
          </a:stretch>
        </p:blipFill>
        <p:spPr>
          <a:xfrm>
            <a:off x="1093666" y="1143000"/>
            <a:ext cx="10004364" cy="4526280"/>
          </a:xfrm>
          <a:prstGeom prst="rect">
            <a:avLst/>
          </a:prstGeom>
        </p:spPr>
      </p:pic>
      <p:sp>
        <p:nvSpPr>
          <p:cNvPr id="5" name="Text 2"/>
          <p:cNvSpPr txBox="1"/>
          <p:nvPr/>
        </p:nvSpPr>
        <p:spPr>
          <a:xfrm>
            <a:off x="822960" y="571500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QuickActions for normal results, result notes from a SmartPhrase, out of contact when you're away</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In Basket Guide for Providers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14/21</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AI tools in Epic</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914400" y="1280160"/>
          <a:ext cx="10362895" cy="914400"/>
        </p:xfrm>
        <a:graphic>
          <a:graphicData uri="http://schemas.openxmlformats.org/drawingml/2006/table">
            <a:tbl>
              <a:tblPr/>
              <a:tblGrid>
                <a:gridCol w="2615184"/>
                <a:gridCol w="6117336"/>
                <a:gridCol w="1627632"/>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Tool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does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Epic version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 Basket drafts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Drafts a reply to a patient message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Nov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Outpatient Insights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Summarizes notes, labs and imaging before a visit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Feb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Inpatient Insights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Patient story and recent events for rounds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Feb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Draft hospital course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Drafts the hospital course in the discharge summary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May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Synopsis Insights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Shows why a medication was changed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Aug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Chart with Art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Drafts the note from the visit conversation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May 2026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Ask Art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Answers questions about the chart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May 2026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22960" y="5669280"/>
            <a:ext cx="10545775" cy="457200"/>
          </a:xfrm>
          <a:prstGeom prst="rect">
            <a:avLst/>
          </a:prstGeom>
          <a:noFill/>
          <a:ln/>
        </p:spPr>
        <p:txBody>
          <a:bodyPr wrap="square" lIns="0" tIns="0" rIns="0" bIns="0" rtlCol="0" anchor="ctr"/>
          <a:lstStyle/>
          <a:p>
            <a:pPr algn="ctr" indent="0" marL="0">
              <a:buNone/>
            </a:pPr>
            <a:r>
              <a:rPr lang="en-US" sz="1900" i="1" dirty="0">
                <a:solidFill>
                  <a:srgbClr val="000000"/>
                </a:solidFill>
                <a:latin typeface="Georgia" pitchFamily="34" charset="0"/>
                <a:ea typeface="Georgia" pitchFamily="34" charset="-122"/>
                <a:cs typeface="Georgia" pitchFamily="34" charset="-120"/>
              </a:rPr>
              <a:t>What you have depends on your organization's version and what it turned 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Generative AI Feature Library, 2026. Art is Epic's AI for clinicians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15/21</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 AI drafts save time?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Tai-Seale et al., JAMA Network Open 2024: title">    </p:cNvPr>
          <p:cNvPicPr>
            <a:picLocks noChangeAspect="1"/>
          </p:cNvPicPr>
          <p:nvPr/>
        </p:nvPicPr>
        <p:blipFill>
          <a:blip r:embed="rId1"/>
          <a:stretch>
            <a:fillRect/>
          </a:stretch>
        </p:blipFill>
        <p:spPr>
          <a:xfrm>
            <a:off x="2658641" y="1143000"/>
            <a:ext cx="6874412" cy="1828800"/>
          </a:xfrm>
          <a:prstGeom prst="rect">
            <a:avLst/>
          </a:prstGeom>
        </p:spPr>
      </p:pic>
      <p:graphicFrame>
        <p:nvGraphicFramePr>
          <p:cNvPr id="5" name="Chart 0" descr=""/>
          <p:cNvGraphicFramePr/>
          <p:nvPr/>
        </p:nvGraphicFramePr>
        <p:xfrm>
          <a:off x="2194560" y="3108960"/>
          <a:ext cx="7772400" cy="3154680"/>
        </p:xfrm>
        <a:graphic xmlns:a="http://schemas.openxmlformats.org/drawingml/2006/main">
          <a:graphicData uri="http://schemas.openxmlformats.org/drawingml/2006/chart">
            <c:chart xmlns:c="http://schemas.openxmlformats.org/drawingml/2006/chart" r:id="rId2"/>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Tai-Seale M et al. JAMA Netw Open 2024;7:e246565. 52 primary care physicians, UC San Diego. Reply time change not significant (P=.33)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16/21</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For transplant teams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Mock AI summary of concerns for transplant committee review, with references">    </p:cNvPr>
          <p:cNvPicPr>
            <a:picLocks noChangeAspect="1"/>
          </p:cNvPicPr>
          <p:nvPr/>
        </p:nvPicPr>
        <p:blipFill>
          <a:blip r:embed="rId1"/>
          <a:stretch>
            <a:fillRect/>
          </a:stretch>
        </p:blipFill>
        <p:spPr>
          <a:xfrm>
            <a:off x="365760" y="1188720"/>
            <a:ext cx="5760720" cy="3353562"/>
          </a:xfrm>
          <a:prstGeom prst="rect">
            <a:avLst/>
          </a:prstGeom>
        </p:spPr>
      </p:pic>
      <p:pic>
        <p:nvPicPr>
          <p:cNvPr id="5" name="Image 1" descr="Mock list of waitlisted patients with new labs ready to submit to UNOS">    </p:cNvPr>
          <p:cNvPicPr>
            <a:picLocks noChangeAspect="1"/>
          </p:cNvPicPr>
          <p:nvPr/>
        </p:nvPicPr>
        <p:blipFill>
          <a:blip r:embed="rId2"/>
          <a:stretch>
            <a:fillRect/>
          </a:stretch>
        </p:blipFill>
        <p:spPr>
          <a:xfrm>
            <a:off x="6309360" y="1188720"/>
            <a:ext cx="5486400" cy="2488474"/>
          </a:xfrm>
          <a:prstGeom prst="rect">
            <a:avLst/>
          </a:prstGeom>
        </p:spPr>
      </p:pic>
      <p:sp>
        <p:nvSpPr>
          <p:cNvPr id="6" name="Text 2"/>
          <p:cNvSpPr txBox="1"/>
          <p:nvPr/>
        </p:nvSpPr>
        <p:spPr>
          <a:xfrm>
            <a:off x="365760" y="4725162"/>
            <a:ext cx="576072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Transplant Evaluation Insights: committee prep 15 to 5 minutes</a:t>
            </a:r>
            <a:endParaRPr lang="en-US" sz="1800" dirty="0"/>
          </a:p>
        </p:txBody>
      </p:sp>
      <p:sp>
        <p:nvSpPr>
          <p:cNvPr id="7" name="Text 3"/>
          <p:cNvSpPr txBox="1"/>
          <p:nvPr/>
        </p:nvSpPr>
        <p:spPr>
          <a:xfrm>
            <a:off x="6309360" y="3860074"/>
            <a:ext cx="548640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MELD labs to UNOS in bulk: 100 hours a year</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Time savings are Epic's own estimates per transplant center (Epic UGM 2025), not studies</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17/21</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Hepatologists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Bali et al., Digestive Diseases and Sciences 2026: title">    </p:cNvPr>
          <p:cNvPicPr>
            <a:picLocks noChangeAspect="1"/>
          </p:cNvPicPr>
          <p:nvPr/>
        </p:nvPicPr>
        <p:blipFill>
          <a:blip r:embed="rId1"/>
          <a:stretch>
            <a:fillRect/>
          </a:stretch>
        </p:blipFill>
        <p:spPr>
          <a:xfrm>
            <a:off x="3025005" y="1097280"/>
            <a:ext cx="6141684" cy="1828800"/>
          </a:xfrm>
          <a:prstGeom prst="rect">
            <a:avLst/>
          </a:prstGeom>
        </p:spPr>
      </p:pic>
      <p:graphicFrame>
        <p:nvGraphicFramePr>
          <p:cNvPr id="5" name="Chart 0" descr=""/>
          <p:cNvGraphicFramePr/>
          <p:nvPr/>
        </p:nvGraphicFramePr>
        <p:xfrm>
          <a:off x="1463040" y="3017520"/>
          <a:ext cx="9235440" cy="278892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22960" y="5852160"/>
            <a:ext cx="10545775" cy="36576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All US ambulatory physicians: </a:t>
            </a:r>
            <a:r>
              <a:rPr lang="en-US" sz="1800" b="1" dirty="0">
                <a:solidFill>
                  <a:srgbClr val="000000"/>
                </a:solidFill>
                <a:highlight>
                  <a:srgbClr val="FFFF00"/>
                </a:highlight>
                <a:latin typeface="Georgia" pitchFamily="34" charset="0"/>
                <a:ea typeface="Georgia" pitchFamily="34" charset="-122"/>
                <a:cs typeface="Georgia" pitchFamily="34" charset="-120"/>
              </a:rPr>
              <a:t>5.8 hours in the EHR</a:t>
            </a:r>
            <a:r>
              <a:rPr lang="en-US" sz="1800" dirty="0">
                <a:solidFill>
                  <a:srgbClr val="000000"/>
                </a:solidFill>
                <a:latin typeface="Georgia" pitchFamily="34" charset="0"/>
                <a:ea typeface="Georgia" pitchFamily="34" charset="-122"/>
                <a:cs typeface="Georgia" pitchFamily="34" charset="-120"/>
              </a:rPr>
              <a:t> for every 8 hours of patient care</a:t>
            </a:r>
            <a:endParaRPr lang="en-US" sz="18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Bali AS et al. Dig Dis Sci 2026;71:3466-75. Signal data, 347 GI providers (38 hepatology), 3 centers [PMID: 41801633]. Holmgren AJ et al. J Gen Intern Med 2024;39:2868-70, 200,081 physicians</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18/21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Your own numbers: Signal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 Signal provider efficiency report compared with peers">    </p:cNvPr>
          <p:cNvPicPr>
            <a:picLocks noChangeAspect="1"/>
          </p:cNvPicPr>
          <p:nvPr/>
        </p:nvPicPr>
        <p:blipFill>
          <a:blip r:embed="rId1"/>
          <a:stretch>
            <a:fillRect/>
          </a:stretch>
        </p:blipFill>
        <p:spPr>
          <a:xfrm>
            <a:off x="548640" y="1143000"/>
            <a:ext cx="7589520" cy="3483395"/>
          </a:xfrm>
          <a:prstGeom prst="rect">
            <a:avLst/>
          </a:prstGeom>
        </p:spPr>
      </p:pic>
      <p:sp>
        <p:nvSpPr>
          <p:cNvPr id="5" name="Body"/>
          <p:cNvSpPr txBox="1"/>
          <p:nvPr/>
        </p:nvSpPr>
        <p:spPr>
          <a:xfrm>
            <a:off x="8321040" y="1463040"/>
            <a:ext cx="3566160" cy="45720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Your time in notes, In Basket and chart review, against your peers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Time outside scheduled hours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Which tools you use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Ask your Epic team for access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Signal Quick Start Guide and Metric Reference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19/21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up: Synopsis">    </p:cNvPr>
          <p:cNvPicPr>
            <a:picLocks noChangeAspect="1"/>
          </p:cNvPicPr>
          <p:nvPr/>
        </p:nvPicPr>
        <p:blipFill>
          <a:blip r:embed="rId1"/>
          <a:stretch>
            <a:fillRect/>
          </a:stretch>
        </p:blipFill>
        <p:spPr>
          <a:xfrm>
            <a:off x="365760" y="1188720"/>
            <a:ext cx="3291840" cy="1866814"/>
          </a:xfrm>
          <a:prstGeom prst="rect">
            <a:avLst/>
          </a:prstGeom>
        </p:spPr>
      </p:pic>
      <p:sp>
        <p:nvSpPr>
          <p:cNvPr id="5" name="Text 2"/>
          <p:cNvSpPr txBox="1"/>
          <p:nvPr/>
        </p:nvSpPr>
        <p:spPr>
          <a:xfrm>
            <a:off x="365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Synopsis</a:t>
            </a:r>
            <a:endParaRPr lang="en-US" sz="1500" dirty="0"/>
          </a:p>
        </p:txBody>
      </p:sp>
      <p:pic>
        <p:nvPicPr>
          <p:cNvPr id="6" name="Image 1" descr="Mock-up: Chart search">    </p:cNvPr>
          <p:cNvPicPr>
            <a:picLocks noChangeAspect="1"/>
          </p:cNvPicPr>
          <p:nvPr/>
        </p:nvPicPr>
        <p:blipFill>
          <a:blip r:embed="rId2"/>
          <a:stretch>
            <a:fillRect/>
          </a:stretch>
        </p:blipFill>
        <p:spPr>
          <a:xfrm>
            <a:off x="3794760" y="1188720"/>
            <a:ext cx="3291840" cy="1822482"/>
          </a:xfrm>
          <a:prstGeom prst="rect">
            <a:avLst/>
          </a:prstGeom>
        </p:spPr>
      </p:pic>
      <p:sp>
        <p:nvSpPr>
          <p:cNvPr id="7" name="Text 3"/>
          <p:cNvSpPr txBox="1"/>
          <p:nvPr/>
        </p:nvSpPr>
        <p:spPr>
          <a:xfrm>
            <a:off x="3794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Chart search</a:t>
            </a:r>
            <a:endParaRPr lang="en-US" sz="1500" dirty="0"/>
          </a:p>
        </p:txBody>
      </p:sp>
      <p:pic>
        <p:nvPicPr>
          <p:cNvPr id="8" name="Image 2" descr="Mock-up: SmartPhrase">    </p:cNvPr>
          <p:cNvPicPr>
            <a:picLocks noChangeAspect="1"/>
          </p:cNvPicPr>
          <p:nvPr/>
        </p:nvPicPr>
        <p:blipFill>
          <a:blip r:embed="rId3"/>
          <a:stretch>
            <a:fillRect/>
          </a:stretch>
        </p:blipFill>
        <p:spPr>
          <a:xfrm>
            <a:off x="365760" y="3703320"/>
            <a:ext cx="3291840" cy="1852617"/>
          </a:xfrm>
          <a:prstGeom prst="rect">
            <a:avLst/>
          </a:prstGeom>
        </p:spPr>
      </p:pic>
      <p:sp>
        <p:nvSpPr>
          <p:cNvPr id="9" name="Text 4"/>
          <p:cNvSpPr txBox="1"/>
          <p:nvPr/>
        </p:nvSpPr>
        <p:spPr>
          <a:xfrm>
            <a:off x="365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SmartPhrase</a:t>
            </a:r>
            <a:endParaRPr lang="en-US" sz="1500" dirty="0"/>
          </a:p>
        </p:txBody>
      </p:sp>
      <p:pic>
        <p:nvPicPr>
          <p:cNvPr id="10" name="Image 3" descr="Mock-up: QuickActions">    </p:cNvPr>
          <p:cNvPicPr>
            <a:picLocks noChangeAspect="1"/>
          </p:cNvPicPr>
          <p:nvPr/>
        </p:nvPicPr>
        <p:blipFill>
          <a:blip r:embed="rId4"/>
          <a:stretch>
            <a:fillRect/>
          </a:stretch>
        </p:blipFill>
        <p:spPr>
          <a:xfrm>
            <a:off x="3794760" y="3703320"/>
            <a:ext cx="3291840" cy="1489329"/>
          </a:xfrm>
          <a:prstGeom prst="rect">
            <a:avLst/>
          </a:prstGeom>
        </p:spPr>
      </p:pic>
      <p:sp>
        <p:nvSpPr>
          <p:cNvPr id="11" name="Text 5"/>
          <p:cNvSpPr txBox="1"/>
          <p:nvPr/>
        </p:nvSpPr>
        <p:spPr>
          <a:xfrm>
            <a:off x="3794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QuickActions</a:t>
            </a:r>
            <a:endParaRPr lang="en-US" sz="1500" dirty="0"/>
          </a:p>
        </p:txBody>
      </p:sp>
      <p:sp>
        <p:nvSpPr>
          <p:cNvPr id="12" name="Question"/>
          <p:cNvSpPr txBox="1"/>
          <p:nvPr/>
        </p:nvSpPr>
        <p:spPr>
          <a:xfrm>
            <a:off x="7315200" y="1234440"/>
            <a:ext cx="4572000"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To set up when you get home</a:t>
            </a:r>
            <a:endParaRPr lang="en-US" sz="2000" dirty="0"/>
          </a:p>
        </p:txBody>
      </p:sp>
      <p:sp>
        <p:nvSpPr>
          <p:cNvPr id="13" name="Body"/>
          <p:cNvSpPr txBox="1"/>
          <p:nvPr/>
        </p:nvSpPr>
        <p:spPr>
          <a:xfrm>
            <a:off x="7406640" y="1783080"/>
            <a:ext cx="4480560" cy="44805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Synopsis view for each kind of visit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Three saved chart searches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One SmartPhrase, yours or borrowed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Your own version of the new-patient order set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QuickActions for normal results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Look at your Signal report</a:t>
            </a:r>
            <a:endParaRPr lang="en-US" sz="19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20/21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Watercolor of the same workstation at the end of the day, monitors off, white coat on the chai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194560"/>
            <a:ext cx="603504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457200" y="3566160"/>
            <a:ext cx="603504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21/21</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Epically Efficient Electronic Health Record Tools to Improve Your Practice</dc:title>
  <dc:subject>PptxGenJS Presentation</dc:subject>
  <dc:creator>Mohammad Almeqdadi, MD</dc:creator>
  <cp:lastModifiedBy>Mohammad Almeqdadi, MD</cp:lastModifiedBy>
  <cp:revision>1</cp:revision>
  <dcterms:created xsi:type="dcterms:W3CDTF">2026-10-28T11:53:12Z</dcterms:created>
  <dcterms:modified xsi:type="dcterms:W3CDTF">2026-10-28T11:53:12Z</dcterms:modified>
</cp:coreProperties>
</file>