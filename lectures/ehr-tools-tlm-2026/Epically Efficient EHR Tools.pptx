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7.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8.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60aa0d-fad7-9028-4503-13ffd7de3a68}">
          <p14:sldIdLst>
            <p14:sldId id="256"/>
            <p14:sldId id="257"/>
            <p14:sldId id="258"/>
            <p14:sldId id="259"/>
            <p14:sldId id="260"/>
            <p14:sldId id="261"/>
          </p14:sldIdLst>
        </p14:section>
        <p14:section name="Finding information" id="{d34b1a58-2ecd-998c-eb1f-1b9d1286a1db}">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 name="Notes and orders" id="{c849e527-8266-f7c5-3052-2b16395f4b55}">
          <p14:sldIdLst>
            <p14:sldId id="286"/>
            <p14:sldId id="287"/>
            <p14:sldId id="288"/>
            <p14:sldId id="289"/>
          </p14:sldIdLst>
        </p14:section>
        <p14:section name="In Basket" id="{bf71eb5a-e0a2-ecc2-282b-75ad2ada1012}">
          <p14:sldIdLst>
            <p14:sldId id="290"/>
            <p14:sldId id="291"/>
            <p14:sldId id="292"/>
          </p14:sldIdLst>
        </p14:section>
        <p14:section name="AI in the chart" id="{a1cf5258-bea9-6c7e-f516-78a4b912d17d}">
          <p14:sldIdLst>
            <p14:sldId id="293"/>
            <p14:sldId id="294"/>
            <p14:sldId id="295"/>
            <p14:sldId id="296"/>
          </p14:sldIdLst>
        </p14:section>
        <p14:section name="Measure yourself" id="{302ce06b-00e9-4a8f-2111-faffab0ea65a}">
          <p14:sldIdLst>
            <p14:sldId id="297"/>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0</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6.5</c:v>
                </c:pt>
                <c:pt idx="1">
                  <c:v>0</c:v>
                </c:pt>
                <c:pt idx="2">
                  <c:v>5.2</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9.9</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0</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0</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c:v>
                </c:pt>
              </c:numCache>
            </c:numRef>
          </c:val>
        </c:ser>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2.3</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1.1</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0.8</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0.8</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0.8</c:v>
                </c:pt>
              </c:numCache>
            </c:numRef>
          </c:val>
        </c:ser>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fair sentence on the others; no jokes about anyone's system. The ideas carry over even when the names don't. VA GPT came up in our planning call as a CPRS tool. It isn't: the VA OIG reviewed it in June 2026 as a general chat tool approved for PHI, separate from CPRS. The VA ambient scribe is a separate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from this talk: Ctrl+Space. It opens the search bar from any screen in the chart. Everything on the next few slides starts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Ctrl+Space opens chart search from anywhere in Epic, no clicking around. Last EGD: type EGD. The 2023 outside EGD shows up and the hover preview gives small varices without opening anything. Favorite searches I keep: EGD, MRI, biopsy, PEth. You can also type Synopsis or an order set name in the same bar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Was it ever elevated? Yes, up to 71 in 2018, and normal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Add weight to the same search and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CommLib, Epic's Community Library, at comlib.epic.com with your UserWeb login. 536 organizations share their build there: SmartTexts, SmartSets and order sets, flowsheets, reports, questionnaires. Type hepatology and you get over six thousand items. Click one and you see the whole thing, every diagnosis and order in the set, before you ask for it. Before you ask your analyst to build a cirrhosis note or an order set from nothing, search it: somebody has probably made one, and your analyst can adapt it. If you've made something good, share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only, because Nizar went through it. The UCLA trial randomized clinicians to two ambient tools or usual care. One cut note time by about 10%, the other didn't change it, and both helped burnout scores a little. Cut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Insights for committee review drafts the concerns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9-1.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44-1.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2.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897880"/>
            <a:ext cx="10545775" cy="41148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86%</a:t>
            </a:r>
            <a:r>
              <a:rPr lang="en-US" sz="2000" dirty="0">
                <a:solidFill>
                  <a:srgbClr val="000000"/>
                </a:solidFill>
                <a:latin typeface="Georgia" pitchFamily="34" charset="0"/>
                <a:ea typeface="Georgia" pitchFamily="34" charset="-122"/>
                <a:cs typeface="Georgia" pitchFamily="34" charset="-120"/>
              </a:rPr>
              <a:t> in 2025, and another 6% at centers implementing it</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everyone else?</a:t>
            </a:r>
            <a:endParaRPr lang="en-US" sz="3000" dirty="0"/>
          </a:p>
        </p:txBody>
      </p:sp>
      <p:graphicFrame>
        <p:nvGraphicFramePr>
          <p:cNvPr id="3" name="Chart 0" descr=""/>
          <p:cNvGraphicFramePr/>
          <p:nvPr/>
        </p:nvGraphicFramePr>
        <p:xfrm>
          <a:off x="548640" y="123444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48056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Most of these tools have a version in the other systems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VA: CPRS. VA GPT is a general chat tool approved for PHI, used by over 15,000 staff. It is not built into CPRS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KLAS via Becker's Hospital Review, 2022 (share of US hospitals). VA OIG report 26-00182-140,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Synopsis view: Liver disease">    </p:cNvPr>
          <p:cNvPicPr>
            <a:picLocks noChangeAspect="1"/>
          </p:cNvPicPr>
          <p:nvPr/>
        </p:nvPicPr>
        <p:blipFill>
          <a:blip r:embed="rId1"/>
          <a:stretch>
            <a:fillRect/>
          </a:stretch>
        </p:blipFill>
        <p:spPr>
          <a:xfrm>
            <a:off x="469564" y="1234440"/>
            <a:ext cx="3571607" cy="3749040"/>
          </a:xfrm>
          <a:prstGeom prst="rect">
            <a:avLst/>
          </a:prstGeom>
        </p:spPr>
      </p:pic>
      <p:sp>
        <p:nvSpPr>
          <p:cNvPr id="5" name="Text 2"/>
          <p:cNvSpPr txBox="1"/>
          <p:nvPr/>
        </p:nvSpPr>
        <p:spPr>
          <a:xfrm>
            <a:off x="44942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6" name="Image 1" descr="Mock Synopsis view: CLD workup">    </p:cNvPr>
          <p:cNvPicPr>
            <a:picLocks noChangeAspect="1"/>
          </p:cNvPicPr>
          <p:nvPr/>
        </p:nvPicPr>
        <p:blipFill>
          <a:blip r:embed="rId2"/>
          <a:stretch>
            <a:fillRect/>
          </a:stretch>
        </p:blipFill>
        <p:spPr>
          <a:xfrm>
            <a:off x="4309540" y="1234440"/>
            <a:ext cx="3572615" cy="3749040"/>
          </a:xfrm>
          <a:prstGeom prst="rect">
            <a:avLst/>
          </a:prstGeom>
        </p:spPr>
      </p:pic>
      <p:sp>
        <p:nvSpPr>
          <p:cNvPr id="7" name="Text 3"/>
          <p:cNvSpPr txBox="1"/>
          <p:nvPr/>
        </p:nvSpPr>
        <p:spPr>
          <a:xfrm>
            <a:off x="428990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8" name="Image 2" descr="Mock Synopsis view: After transplant">    </p:cNvPr>
          <p:cNvPicPr>
            <a:picLocks noChangeAspect="1"/>
          </p:cNvPicPr>
          <p:nvPr/>
        </p:nvPicPr>
        <p:blipFill>
          <a:blip r:embed="rId3"/>
          <a:stretch>
            <a:fillRect/>
          </a:stretch>
        </p:blipFill>
        <p:spPr>
          <a:xfrm>
            <a:off x="8150380" y="1234440"/>
            <a:ext cx="3571895" cy="3749040"/>
          </a:xfrm>
          <a:prstGeom prst="rect">
            <a:avLst/>
          </a:prstGeom>
        </p:spPr>
      </p:pic>
      <p:sp>
        <p:nvSpPr>
          <p:cNvPr id="9" name="Text 4"/>
          <p:cNvSpPr txBox="1"/>
          <p:nvPr/>
        </p:nvSpPr>
        <p:spPr>
          <a:xfrm>
            <a:off x="813038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0" name="Text 5"/>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2302310" y="1097280"/>
            <a:ext cx="7587076"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475364" y="1097280"/>
            <a:ext cx="7240967"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884066" y="1097280"/>
            <a:ext cx="6423563"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1207201" y="1097280"/>
            <a:ext cx="9777292"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063833" y="1097280"/>
            <a:ext cx="8064030"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271086" y="1097280"/>
            <a:ext cx="7649524"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3" name="Text 1"/>
          <p:cNvSpPr txBox="1"/>
          <p:nvPr/>
        </p:nvSpPr>
        <p:spPr>
          <a:xfrm>
            <a:off x="640080" y="2286000"/>
            <a:ext cx="4937760" cy="1280160"/>
          </a:xfrm>
          <a:prstGeom prst="rect">
            <a:avLst/>
          </a:prstGeom>
          <a:noFill/>
          <a:ln/>
        </p:spPr>
        <p:txBody>
          <a:bodyPr wrap="square" lIns="0" tIns="0" rIns="0" bIns="0" rtlCol="0" anchor="b"/>
          <a:lstStyle/>
          <a:p>
            <a:pPr algn="l" indent="0" marL="0">
              <a:buNone/>
            </a:pPr>
            <a:r>
              <a:rPr lang="en-US" sz="3200" dirty="0">
                <a:solidFill>
                  <a:srgbClr val="000000"/>
                </a:solidFill>
                <a:latin typeface="Georgia" pitchFamily="34" charset="0"/>
                <a:ea typeface="Georgia" pitchFamily="34" charset="-122"/>
                <a:cs typeface="Georgia" pitchFamily="34" charset="-120"/>
              </a:rPr>
              <a:t>Opens chart search from anywhere in Epic</a:t>
            </a:r>
            <a:endParaRPr lang="en-US" sz="3200" dirty="0"/>
          </a:p>
        </p:txBody>
      </p:sp>
      <p:sp>
        <p:nvSpPr>
          <p:cNvPr id="4" name="Text 2"/>
          <p:cNvSpPr txBox="1"/>
          <p:nvPr/>
        </p:nvSpPr>
        <p:spPr>
          <a:xfrm>
            <a:off x="640080" y="3703320"/>
            <a:ext cx="4937760" cy="822960"/>
          </a:xfrm>
          <a:prstGeom prst="rect">
            <a:avLst/>
          </a:prstGeom>
          <a:noFill/>
          <a:ln/>
        </p:spPr>
        <p:txBody>
          <a:bodyPr wrap="square" lIns="0" tIns="0" rIns="0" bIns="0" rtlCol="0" anchor="t"/>
          <a:lstStyle/>
          <a:p>
            <a:pPr algn="l" indent="0" marL="0">
              <a:buNone/>
            </a:pPr>
            <a:r>
              <a:rPr lang="en-US" sz="2000" dirty="0">
                <a:solidFill>
                  <a:srgbClr val="595959"/>
                </a:solidFill>
                <a:latin typeface="Georgia" pitchFamily="34" charset="0"/>
                <a:ea typeface="Georgia" pitchFamily="34" charset="-122"/>
                <a:cs typeface="Georgia" pitchFamily="34" charset="-120"/>
              </a:rPr>
              <a:t>No clicking through tabs. Type what you need.</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Assistant Bar and Chart Search Setup and Support Guide,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12/28</a:t>
            </a:r>
            <a:endParaRPr lang="en-US" sz="900" dirty="0"/>
          </a:p>
        </p:txBody>
      </p:sp>
      <p:sp>
        <p:nvSpPr>
          <p:cNvPr id="8"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endParaRPr lang="en-US" sz="3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GD with a preview of the procedure note">    </p:cNvPr>
          <p:cNvPicPr>
            <a:picLocks noChangeAspect="1"/>
          </p:cNvPicPr>
          <p:nvPr/>
        </p:nvPicPr>
        <p:blipFill>
          <a:blip r:embed="rId1"/>
          <a:stretch>
            <a:fillRect/>
          </a:stretch>
        </p:blipFill>
        <p:spPr>
          <a:xfrm>
            <a:off x="1966784" y="1143000"/>
            <a:ext cx="8258128" cy="457200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Ctrl+Space opens it from anywhere. Searches notes, results, media and outside records. Hover to read.</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search tip sheet,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over 10 years with the upper limit of normal">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Community Library</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Community Library search for hepatology: a list of shared items on the left and an invented cirrhosis visit order set opened on the right">    </p:cNvPr>
          <p:cNvPicPr>
            <a:picLocks noChangeAspect="1"/>
          </p:cNvPicPr>
          <p:nvPr/>
        </p:nvPicPr>
        <p:blipFill>
          <a:blip r:embed="rId1"/>
          <a:stretch>
            <a:fillRect/>
          </a:stretch>
        </p:blipFill>
        <p:spPr>
          <a:xfrm>
            <a:off x="365760" y="1188720"/>
            <a:ext cx="7680960" cy="4915814"/>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536 organizations share their build here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SmartTexts, order sets, flowsheets, reports, questionnaires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Search “hepatology”: 6,232 results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Look before you ask your analyst to build from scratch</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back</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laid out like the Community Library site (comlib.epic.com, October 2026); organizations invented</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Patient messages jumped in March 2020 and stayed high. Phone calls went back to baseline.</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914400" y="1371600"/>
          <a:ext cx="10362895" cy="914400"/>
        </p:xfrm>
        <a:graphic>
          <a:graphicData uri="http://schemas.openxmlformats.org/drawingml/2006/table">
            <a:tbl>
              <a:tblPr/>
              <a:tblGrid>
                <a:gridCol w="3227832"/>
                <a:gridCol w="5394960"/>
                <a:gridCol w="1737360"/>
              </a:tblGrid>
              <a:tr h="47548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it does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Epic version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 Basket drafts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a reply to a patient message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Nov 2023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Summarizes recent notes before a visit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Feb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Synopsis 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Shows why a medication was changed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the note from the visit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Ask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Answers questions about the chart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 for orders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Queues orders from the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Ambient notes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463040" y="1737360"/>
          <a:ext cx="9265615" cy="914400"/>
        </p:xfrm>
        <a:graphic>
          <a:graphicData uri="http://schemas.openxmlformats.org/drawingml/2006/table">
            <a:tbl>
              <a:tblPr/>
              <a:tblGrid>
                <a:gridCol w="1225296"/>
                <a:gridCol w="4645152"/>
                <a:gridCol w="3392424"/>
              </a:tblGrid>
              <a:tr h="523037">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Time in notes vs usual care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Burnout scores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Nabla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9.5% less (P=.02)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DAX</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 significant change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4023360"/>
            <a:ext cx="10545775" cy="457200"/>
          </a:xfrm>
          <a:prstGeom prst="rect">
            <a:avLst/>
          </a:prstGeom>
          <a:noFill/>
          <a:ln/>
        </p:spPr>
        <p:txBody>
          <a:bodyPr wrap="square" lIns="0" tIns="0" rIns="0" bIns="0" rtlCol="0" anchor="ctr"/>
          <a:lstStyle/>
          <a:p>
            <a:pPr algn="ctr" indent="0" marL="0">
              <a:buNone/>
            </a:pPr>
            <a:r>
              <a:rPr lang="en-US" sz="2200" i="1" dirty="0">
                <a:solidFill>
                  <a:srgbClr val="000000"/>
                </a:solidFill>
                <a:latin typeface="Georgia" pitchFamily="34" charset="0"/>
                <a:ea typeface="Georgia" pitchFamily="34" charset="-122"/>
                <a:cs typeface="Georgia" pitchFamily="34" charset="-120"/>
              </a:rPr>
              <a:t>Nizar covered this in detail</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Lukac PJ et al. UCLA randomized trial of two ambient scribes, medRxiv 2025 (preprint; check the NEJM AI version before quoting)</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Committee prep: 15 to 5 minutes per case</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5.8 hours</a:t>
            </a:r>
            <a:r>
              <a:rPr lang="en-US" sz="2200" dirty="0">
                <a:solidFill>
                  <a:srgbClr val="000000"/>
                </a:solidFill>
                <a:latin typeface="Georgia" pitchFamily="34" charset="0"/>
                <a:ea typeface="Georgia" pitchFamily="34" charset="-122"/>
                <a:cs typeface="Georgia" pitchFamily="34" charset="-120"/>
              </a:rPr>
              <a:t>, and 42% of it outside clinic hours</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In Basket and documentation were the top stressors; 30.5% reported burnout</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25/28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26/28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27/28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28/28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2026-10-28T00:01:38Z</dcterms:created>
  <dcterms:modified xsi:type="dcterms:W3CDTF">2026-10-28T00:01:38Z</dcterms:modified>
</cp:coreProperties>
</file>