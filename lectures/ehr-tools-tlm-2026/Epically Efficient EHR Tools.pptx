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5.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7.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8.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9.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674bd38-c1af-2455-1aea-734a10ef5761}">
          <p14:sldIdLst>
            <p14:sldId id="256"/>
            <p14:sldId id="257"/>
            <p14:sldId id="258"/>
            <p14:sldId id="259"/>
            <p14:sldId id="260"/>
            <p14:sldId id="261"/>
          </p14:sldIdLst>
        </p14:section>
        <p14:section name="Finding information" id="{0840e4ec-ab32-5d08-f4b9-ca263c94775c}">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Lst>
        </p14:section>
        <p14:section name="Notes and orders" id="{2a0c31f1-1701-4435-9f34-0a401942c717}">
          <p14:sldIdLst>
            <p14:sldId id="284"/>
            <p14:sldId id="285"/>
            <p14:sldId id="286"/>
          </p14:sldIdLst>
        </p14:section>
        <p14:section name="In Basket" id="{eff751de-63d3-694f-fa1e-b04879d29e96}">
          <p14:sldIdLst>
            <p14:sldId id="287"/>
            <p14:sldId id="288"/>
            <p14:sldId id="289"/>
          </p14:sldIdLst>
        </p14:section>
        <p14:section name="AI in the chart" id="{60ca25e7-c4a9-4c1f-a04f-771f2b51c961}">
          <p14:sldIdLst>
            <p14:sldId id="290"/>
            <p14:sldId id="291"/>
            <p14:sldId id="292"/>
            <p14:sldId id="293"/>
          </p14:sldIdLst>
        </p14:section>
        <p14:section name="Measure yourself" id="{db9c10cd-56d7-9f36-07af-d9b2beac9411}">
          <p14:sldIdLst>
            <p14:sldId id="294"/>
            <p14:sldId id="295"/>
            <p14:sldId id="296"/>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82</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86</c:v>
                </c:pt>
              </c:numCache>
            </c:numRef>
          </c:val>
        </c:ser>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Sheet1!$B$2:$B$5</c:f>
              <c:numCache>
                <c:formatCode>General</c:formatCode>
                <c:ptCount val="4"/>
                <c:pt idx="0">
                  <c:v>0</c:v>
                </c:pt>
                <c:pt idx="1">
                  <c:v>25</c:v>
                </c:pt>
                <c:pt idx="2">
                  <c:v>16</c:v>
                </c:pt>
                <c:pt idx="3">
                  <c:v>23</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Sheet1!$C$2:$C$5</c:f>
              <c:numCache>
                <c:formatCode>General</c:formatCode>
                <c:ptCount val="4"/>
                <c:pt idx="0">
                  <c:v>36</c:v>
                </c:pt>
                <c:pt idx="1">
                  <c:v>0</c:v>
                </c:pt>
                <c:pt idx="2">
                  <c:v>0</c:v>
                </c:pt>
                <c:pt idx="3">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US hospitals</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Sheet1!$B$2:$B$4</c:f>
              <c:numCache>
                <c:formatCode>General</c:formatCode>
                <c:ptCount val="3"/>
                <c:pt idx="0">
                  <c:v>0</c:v>
                </c:pt>
                <c:pt idx="1">
                  <c:v>0</c:v>
                </c:pt>
                <c:pt idx="2">
                  <c:v>0</c:v>
                </c:pt>
              </c:numCache>
            </c:numRef>
          </c:val>
        </c:ser>
        <c:ser>
          <c:idx val="1"/>
          <c:order val="1"/>
          <c:tx>
            <c:strRef>
              <c:f>Sheet1!$C$1</c:f>
              <c:strCache>
                <c:ptCount val="1"/>
                <c:pt idx="0">
                  <c:v>b</c:v>
                </c:pt>
              </c:strCache>
            </c:strRef>
          </c:tx>
          <c:spPr>
            <a:solidFill>
              <a:srgbClr val="1F4E79"/>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Sheet1!$C$2:$C$4</c:f>
              <c:numCache>
                <c:formatCode>General</c:formatCode>
                <c:ptCount val="3"/>
                <c:pt idx="0">
                  <c:v>0</c:v>
                </c:pt>
                <c:pt idx="1">
                  <c:v>0</c:v>
                </c:pt>
                <c:pt idx="2">
                  <c:v>0</c:v>
                </c:pt>
              </c:numCache>
            </c:numRef>
          </c:val>
        </c:ser>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Change in EHR hours per week</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Sheet1!$B$2:$B$4</c:f>
              <c:numCache>
                <c:formatCode>General</c:formatCode>
                <c:ptCount val="3"/>
                <c:pt idx="0">
                  <c:v>6.5</c:v>
                </c:pt>
                <c:pt idx="1">
                  <c:v>0</c:v>
                </c:pt>
                <c:pt idx="2">
                  <c:v>5.2</c:v>
                </c:pt>
              </c:numCache>
            </c:numRef>
          </c:val>
        </c:ser>
        <c:ser>
          <c:idx val="1"/>
          <c:order val="1"/>
          <c:tx>
            <c:strRef>
              <c:f>Sheet1!$C$1</c:f>
              <c:strCache>
                <c:ptCount val="1"/>
                <c:pt idx="0">
                  <c:v>b</c:v>
                </c:pt>
              </c:strCache>
            </c:strRef>
          </c:tx>
          <c:spPr>
            <a:solidFill>
              <a:srgbClr val="1F4E79"/>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Sheet1!$C$2:$C$4</c:f>
              <c:numCache>
                <c:formatCode>General</c:formatCode>
                <c:ptCount val="3"/>
                <c:pt idx="0">
                  <c:v>0</c:v>
                </c:pt>
                <c:pt idx="1">
                  <c:v>9.9</c:v>
                </c:pt>
                <c:pt idx="2">
                  <c:v>0</c:v>
                </c:pt>
              </c:numCache>
            </c:numRef>
          </c:val>
        </c:ser>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Change in EHR hours per week</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Sheet1!$B$2:$B$4</c:f>
              <c:numCache>
                <c:formatCode>General</c:formatCode>
                <c:ptCount val="3"/>
                <c:pt idx="0">
                  <c:v>21.8</c:v>
                </c:pt>
                <c:pt idx="1">
                  <c:v>0</c:v>
                </c:pt>
                <c:pt idx="2">
                  <c:v>17.9</c:v>
                </c:pt>
              </c:numCache>
            </c:numRef>
          </c:val>
        </c:ser>
        <c:ser>
          <c:idx val="1"/>
          <c:order val="1"/>
          <c:tx>
            <c:strRef>
              <c:f>Sheet1!$C$1</c:f>
              <c:strCache>
                <c:ptCount val="1"/>
                <c:pt idx="0">
                  <c:v>b</c:v>
                </c:pt>
              </c:strCache>
            </c:strRef>
          </c:tx>
          <c:spPr>
            <a:solidFill>
              <a:srgbClr val="1F4E79"/>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Sheet1!$C$2:$C$4</c:f>
              <c:numCache>
                <c:formatCode>General</c:formatCode>
                <c:ptCount val="3"/>
                <c:pt idx="0">
                  <c:v>0</c:v>
                </c:pt>
                <c:pt idx="1">
                  <c:v>-5.9</c:v>
                </c:pt>
                <c:pt idx="2">
                  <c:v>0</c:v>
                </c:pt>
              </c:numCache>
            </c:numRef>
          </c:val>
        </c:ser>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3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Scheduled patient care</c:v>
                </c:pt>
              </c:strCache>
            </c:strRef>
          </c:tx>
          <c:spPr>
            <a:solidFill>
              <a:srgbClr val="8FA6B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Sheet1!$B$2:$B$3</c:f>
              <c:numCache>
                <c:formatCode>General</c:formatCode>
                <c:ptCount val="2"/>
                <c:pt idx="0">
                  <c:v>8</c:v>
                </c:pt>
                <c:pt idx="1">
                  <c:v>0</c:v>
                </c:pt>
              </c:numCache>
            </c:numRef>
          </c:val>
        </c:ser>
        <c:ser>
          <c:idx val="1"/>
          <c:order val="1"/>
          <c:tx>
            <c:strRef>
              <c:f>Sheet1!$C$1</c:f>
              <c:strCache>
                <c:ptCount val="1"/>
                <c:pt idx="0">
                  <c:v>Notes</c:v>
                </c:pt>
              </c:strCache>
            </c:strRef>
          </c:tx>
          <c:spPr>
            <a:solidFill>
              <a:srgbClr val="1F4E7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Sheet1!$C$2:$C$3</c:f>
              <c:numCache>
                <c:formatCode>General</c:formatCode>
                <c:ptCount val="2"/>
                <c:pt idx="0">
                  <c:v>0</c:v>
                </c:pt>
                <c:pt idx="1">
                  <c:v>0</c:v>
                </c:pt>
              </c:numCache>
            </c:numRef>
          </c:val>
        </c:ser>
        <c:ser>
          <c:idx val="2"/>
          <c:order val="2"/>
          <c:tx>
            <c:strRef>
              <c:f>Sheet1!$D$1</c:f>
              <c:strCache>
                <c:ptCount val="1"/>
                <c:pt idx="0">
                  <c:v>Chart review</c:v>
                </c:pt>
              </c:strCache>
            </c:strRef>
          </c:tx>
          <c:spPr>
            <a:solidFill>
              <a:srgbClr val="2E7D8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Sheet1!$D$2:$D$3</c:f>
              <c:numCache>
                <c:formatCode>General</c:formatCode>
                <c:ptCount val="2"/>
                <c:pt idx="0">
                  <c:v>0</c:v>
                </c:pt>
                <c:pt idx="1">
                  <c:v>0</c:v>
                </c:pt>
              </c:numCache>
            </c:numRef>
          </c:val>
        </c:ser>
        <c:ser>
          <c:idx val="3"/>
          <c:order val="3"/>
          <c:tx>
            <c:strRef>
              <c:f>Sheet1!$E$1</c:f>
              <c:strCache>
                <c:ptCount val="1"/>
                <c:pt idx="0">
                  <c:v>Orders</c:v>
                </c:pt>
              </c:strCache>
            </c:strRef>
          </c:tx>
          <c:spPr>
            <a:solidFill>
              <a:srgbClr val="6F9A72"/>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Sheet1!$E$2:$E$3</c:f>
              <c:numCache>
                <c:formatCode>General</c:formatCode>
                <c:ptCount val="2"/>
                <c:pt idx="0">
                  <c:v>0</c:v>
                </c:pt>
                <c:pt idx="1">
                  <c:v>0</c:v>
                </c:pt>
              </c:numCache>
            </c:numRef>
          </c:val>
        </c:ser>
        <c:ser>
          <c:idx val="4"/>
          <c:order val="4"/>
          <c:tx>
            <c:strRef>
              <c:f>Sheet1!$F$1</c:f>
              <c:strCache>
                <c:ptCount val="1"/>
                <c:pt idx="0">
                  <c:v>In Basket</c:v>
                </c:pt>
              </c:strCache>
            </c:strRef>
          </c:tx>
          <c:spPr>
            <a:solidFill>
              <a:srgbClr val="C08A3E"/>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Sheet1!$F$2:$F$3</c:f>
              <c:numCache>
                <c:formatCode>General</c:formatCode>
                <c:ptCount val="2"/>
                <c:pt idx="0">
                  <c:v>0</c:v>
                </c:pt>
                <c:pt idx="1">
                  <c:v>0</c:v>
                </c:pt>
              </c:numCache>
            </c:numRef>
          </c:val>
        </c:ser>
        <c:ser>
          <c:idx val="5"/>
          <c:order val="5"/>
          <c:tx>
            <c:strRef>
              <c:f>Sheet1!$G$1</c:f>
              <c:strCache>
                <c:ptCount val="1"/>
                <c:pt idx="0">
                  <c:v>Other</c:v>
                </c:pt>
              </c:strCache>
            </c:strRef>
          </c:tx>
          <c:spPr>
            <a:solidFill>
              <a:srgbClr val="8E7C9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Sheet1!$G$2:$G$3</c:f>
              <c:numCache>
                <c:formatCode>General</c:formatCode>
                <c:ptCount val="2"/>
                <c:pt idx="0">
                  <c:v>0</c:v>
                </c:pt>
                <c:pt idx="1">
                  <c:v>0</c:v>
                </c:pt>
              </c:numCache>
            </c:numRef>
          </c:val>
        </c:ser>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E3E3E3"/>
              </a:solidFill>
              <a:prstDash val="solid"/>
              <a:round/>
            </a:ln>
          </c:spPr>
        </c:majorGridlines>
        <c:numFmt formatCode="0&quot; h&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5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Scheduled patient care</c:v>
                </c:pt>
              </c:strCache>
            </c:strRef>
          </c:tx>
          <c:spPr>
            <a:solidFill>
              <a:srgbClr val="8FA6B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Sheet1!$B$2:$B$3</c:f>
              <c:numCache>
                <c:formatCode>General</c:formatCode>
                <c:ptCount val="2"/>
                <c:pt idx="0">
                  <c:v>8</c:v>
                </c:pt>
                <c:pt idx="1">
                  <c:v>0</c:v>
                </c:pt>
              </c:numCache>
            </c:numRef>
          </c:val>
        </c:ser>
        <c:ser>
          <c:idx val="1"/>
          <c:order val="1"/>
          <c:tx>
            <c:strRef>
              <c:f>Sheet1!$C$1</c:f>
              <c:strCache>
                <c:ptCount val="1"/>
                <c:pt idx="0">
                  <c:v>Notes</c:v>
                </c:pt>
              </c:strCache>
            </c:strRef>
          </c:tx>
          <c:spPr>
            <a:solidFill>
              <a:srgbClr val="1F4E7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Sheet1!$C$2:$C$3</c:f>
              <c:numCache>
                <c:formatCode>General</c:formatCode>
                <c:ptCount val="2"/>
                <c:pt idx="0">
                  <c:v>0</c:v>
                </c:pt>
                <c:pt idx="1">
                  <c:v>2.3</c:v>
                </c:pt>
              </c:numCache>
            </c:numRef>
          </c:val>
        </c:ser>
        <c:ser>
          <c:idx val="2"/>
          <c:order val="2"/>
          <c:tx>
            <c:strRef>
              <c:f>Sheet1!$D$1</c:f>
              <c:strCache>
                <c:ptCount val="1"/>
                <c:pt idx="0">
                  <c:v>Chart review</c:v>
                </c:pt>
              </c:strCache>
            </c:strRef>
          </c:tx>
          <c:spPr>
            <a:solidFill>
              <a:srgbClr val="2E7D8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Sheet1!$D$2:$D$3</c:f>
              <c:numCache>
                <c:formatCode>General</c:formatCode>
                <c:ptCount val="2"/>
                <c:pt idx="0">
                  <c:v>0</c:v>
                </c:pt>
                <c:pt idx="1">
                  <c:v>1.1</c:v>
                </c:pt>
              </c:numCache>
            </c:numRef>
          </c:val>
        </c:ser>
        <c:ser>
          <c:idx val="3"/>
          <c:order val="3"/>
          <c:tx>
            <c:strRef>
              <c:f>Sheet1!$E$1</c:f>
              <c:strCache>
                <c:ptCount val="1"/>
                <c:pt idx="0">
                  <c:v>Orders</c:v>
                </c:pt>
              </c:strCache>
            </c:strRef>
          </c:tx>
          <c:spPr>
            <a:solidFill>
              <a:srgbClr val="6F9A72"/>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Sheet1!$E$2:$E$3</c:f>
              <c:numCache>
                <c:formatCode>General</c:formatCode>
                <c:ptCount val="2"/>
                <c:pt idx="0">
                  <c:v>0</c:v>
                </c:pt>
                <c:pt idx="1">
                  <c:v>0.8</c:v>
                </c:pt>
              </c:numCache>
            </c:numRef>
          </c:val>
        </c:ser>
        <c:ser>
          <c:idx val="4"/>
          <c:order val="4"/>
          <c:tx>
            <c:strRef>
              <c:f>Sheet1!$F$1</c:f>
              <c:strCache>
                <c:ptCount val="1"/>
                <c:pt idx="0">
                  <c:v>In Basket</c:v>
                </c:pt>
              </c:strCache>
            </c:strRef>
          </c:tx>
          <c:spPr>
            <a:solidFill>
              <a:srgbClr val="C08A3E"/>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Sheet1!$F$2:$F$3</c:f>
              <c:numCache>
                <c:formatCode>General</c:formatCode>
                <c:ptCount val="2"/>
                <c:pt idx="0">
                  <c:v>0</c:v>
                </c:pt>
                <c:pt idx="1">
                  <c:v>0.8</c:v>
                </c:pt>
              </c:numCache>
            </c:numRef>
          </c:val>
        </c:ser>
        <c:ser>
          <c:idx val="5"/>
          <c:order val="5"/>
          <c:tx>
            <c:strRef>
              <c:f>Sheet1!$G$1</c:f>
              <c:strCache>
                <c:ptCount val="1"/>
                <c:pt idx="0">
                  <c:v>Other</c:v>
                </c:pt>
              </c:strCache>
            </c:strRef>
          </c:tx>
          <c:spPr>
            <a:solidFill>
              <a:srgbClr val="8E7C9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Sheet1!$G$2:$G$3</c:f>
              <c:numCache>
                <c:formatCode>General</c:formatCode>
                <c:ptCount val="2"/>
                <c:pt idx="0">
                  <c:v>0</c:v>
                </c:pt>
                <c:pt idx="1">
                  <c:v>0.8</c:v>
                </c:pt>
              </c:numCache>
            </c:numRef>
          </c:val>
        </c:ser>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E3E3E3"/>
              </a:solidFill>
              <a:prstDash val="solid"/>
              <a:round/>
            </a:ln>
          </c:spPr>
        </c:majorGridlines>
        <c:numFmt formatCode="0&quot; h&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5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Sheet1!$B$2:$B$6</c:f>
              <c:numCache>
                <c:formatCode>General</c:formatCode>
                <c:ptCount val="5"/>
                <c:pt idx="0">
                  <c:v>14.7</c:v>
                </c:pt>
                <c:pt idx="1">
                  <c:v>17.2</c:v>
                </c:pt>
                <c:pt idx="2">
                  <c:v>26.2</c:v>
                </c:pt>
                <c:pt idx="3">
                  <c:v>29.7</c:v>
                </c:pt>
                <c:pt idx="4">
                  <c:v>0</c:v>
                </c:pt>
              </c:numCache>
            </c:numRef>
          </c:val>
        </c:ser>
        <c:ser>
          <c:idx val="1"/>
          <c:order val="1"/>
          <c:tx>
            <c:strRef>
              <c:f>Sheet1!$C$1</c:f>
              <c:strCache>
                <c:ptCount val="1"/>
                <c:pt idx="0">
                  <c:v>b</c:v>
                </c:pt>
              </c:strCache>
            </c:strRef>
          </c:tx>
          <c:spPr>
            <a:solidFill>
              <a:srgbClr val="1F4E79"/>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Sheet1!$C$2:$C$6</c:f>
              <c:numCache>
                <c:formatCode>General</c:formatCode>
                <c:ptCount val="5"/>
                <c:pt idx="0">
                  <c:v>0</c:v>
                </c:pt>
                <c:pt idx="1">
                  <c:v>0</c:v>
                </c:pt>
                <c:pt idx="2">
                  <c:v>0</c:v>
                </c:pt>
                <c:pt idx="3">
                  <c:v>0</c:v>
                </c:pt>
                <c:pt idx="4">
                  <c:v>30.5</c:v>
                </c:pt>
              </c:numCache>
            </c:numRef>
          </c:val>
        </c:ser>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Minutes per appointment</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10:10 to 10:30. Emily has already said why this session exists, so no burnout slides up front. Nizar covers ambient documentation in depth, so I only touch it once. Show and tell, no live demo. Every screen in this talk is a mock-up with made-up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The point to make: the screens look like Epic so you recognize them, but I drew them. No patient data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We'll follow one new referral through the chart, then the In Basket, then the AI tools, then how to see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So most hepatologists in this room work in Epic, and that's why the tool names in this talk are Epic's. Source: Epic UGM 2025 transplant breakout, data from OPTN.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So most hepatologists in this room work in Epic, and that's why the tool names in this talk are Epic's. Source: Epic UGM 2025 transplant breakout, data from OPTN.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fair sentence on the others; no jokes about anyone's system. The ideas carry over even when the names don't. VA GPT came up in our planning call as a CPRS tool. It isn't: the VA OIG reviewed it in June 2026 as a general chat tool approved for PHI, separate from CPRS. The VA ambient scribe is a separate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three views at our center: a liver disease view for cirrhosis over time, one for the chronic liver disease workup that shows the most recent value of every etiology test in the last 20 years, and one for after transplant. Epic ships a cirrhosis view, built with its Hepatology Specialty Steering Board, that your analyst can import; we started there and kept adding sections. You can do the same: it's a build request, not a product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Ctrl+Space opens chart search from anywhere in Epic, no clicking around. Last EGD: type EGD. The 2023 outside EGD shows up and the hover preview gives small varices without opening anything. Favorite searches I keep: EGD, MRI, biopsy, PEth. You can also type Synopsis or an order set name in the same bar to jump straight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terms. I type hepatitis b and it suggests the core and surface antibodies and also his entecavir and tenofovir. The spotlight card shows the latest result without opening anything. Results show up before you press Enter; press Enter for the full list. Quotation marks give the exact word only, and AND / OR work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weight 10 years and both go on one graph, ALT on the left axis and weight on the right. You see the ALT come down as he loses 19 kg. You can switch to 5 years or 1 year, and mix any labs and vitals. Was it ever elevated? Yes, up to 71 in 2018, and normal now after weight loss. Works for labs and vitals, weight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Scanned documents. Chart search reads the text of scanned documents with OCR, so the outside referral fax is searchable. Hover and you see the page with the words highlighted: his 2024 FibroScan, 12.4 kPa, was only in a fax. Your organization has to turn this on, and it reads documents scanned in the last two years when it starts, so ask your Epic team if yours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 Ursodiol for PBC at 13 to 15 mg/kg. I type 80x13 and get 1,040 mg, with a button to copy the answer. No calculator. It does unit conversions too, like pounds to kilograms.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Review, Notes tab, no filter: 214 notes, phone calls, nursing, other clinics. Scrolling this before every visit is where the time goes. The buttons above the list are quick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list with our Hepatology quick filter on: hepatology notes, GI procedures, imaging and pathology. The green CE icon marks notes from other organizations through Care Everywhere, so his outside MRI with the LI-RADS 3 observation and the 2019 biopsy sit in the same list. You can build your own quick filter from Chart Review in a minute, or ask your analyst to make one for the whole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 Epic's Community Library (CommLib) is where organizations share their build, SmartTexts, SmartPhrases and more, so ask your analyst to look there before building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 Epic's Community Library (CommLib) is where organizations share their build, SmartTexts, SmartPhrases and more, so ask your analyst to look there before building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Preference list: click the star on any order, or right-click it, and it goes into your own list in the section you pick. Follow Users on the Browse tab lets you use a colleague's lists, up to three people, so one person in the division builds it and everyone follows. Every new cirrhosis visit gets the same labs and ultrasound: save it once as your version of the order set. Safety point: check the encounter before signing; inpatient orders placed under a clinic visit don't reach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Hepatology sits with the medical subspecialists: EHR time up about 10%. Primary care went from 10.6 to 11.3 hours a week. The messages did not replace phone calls; the calls came back and the messages stayed. Limits: one vendor, no burnout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Hepatology sits with the medical subspecialists: EHR time up about 10%. Primary care went from 10.6 to 11.3 hours a week. The messages did not replace phone calls; the calls came back and the messages stayed. Limits: one vendor, no burnout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AFP: one click sends the MyChart letter, done. Build three or four QuickActions for the results you see every day. Result notes come from a SmartPhrase so the wording is the same each time. Set out of contact and a delegate before vacation,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ones a hepatologist will touch. Version is the Epic release where it became generally available; your system may be a release or two behind, and some need to be requested from Epic. Ask your informatics team which ones are on. Every suggestion still needs your review and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waiting-list study, 2023, drafts built into Epic. Reading time went up 22%, reply time did not change significantly, and replies got 18% longer. Physicians still liked them as a kinder starting point. The 30 seconds saved per message you'll hear from Mayo comes from Epic's own material, not a trial. So: worth trying, but don't expect your In Basket to empty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only, because Nizar went through it. The UCLA trial randomized clinicians to two ambient tools or usual care. One cut note time by about 10%, the other didn't change it, and both helped burnout scores a little. Cut this slide if running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Phoenix tools. Insights for committee review drafts the concerns for selection committee with a link to every source note; Epic estimates prep drops from 15 to 5 minutes. MELD lab submission checks which waitlisted patients have new labs and sends them to UNOS together; Epic estimates 100 coordinator hours a year for a center with about 60 liver patients listed. These are vendor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5.8 hours in the EHR for every 8 hours of scheduled patient care; notes are the biggest piece. 42% of that time happens outside clinic hours, half of it on days with no clinic at all. Not new: Sinsky 2016 found nearly 2 hours of EHR and desk work per hour with patients [PMID: 27595430], and Arndt 2017 found 5.9 hours of an 11.4-hour day in family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5.8 hours in the EHR for every 8 hours of scheduled patient care; notes are the biggest piece. 42% of that time happens outside clinic hours, half of it on days with no clinic at all. Not new: Sinsky 2016 found nearly 2 hours of EHR and desk work per hour with patients [PMID: 27595430], and Arndt 2017 found 5.9 hours of an 11.4-hour day in family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specialty. Three tertiary centers, Signal data. Hepatologists had the most EHR time per appointment of any GI group: 30.5 minutes, versus 14.7 for advanced endoscopy. That includes 8.9 minutes of chart review and 7.7 minutes outside scheduled hours per appointment. Survey: in-basket and documentation ranked as the top stressors.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national numbers come from, and you can see your own. Dr. Example is slower than peers in notes and closes fewer notes the same day; the personalization line shows why: 3 SmartPhrases, no preference list, no QuickActions. Most of us have to request access. I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referral: MELD trend, workup gaps, last EGD and outside MRI, all found before walking in. None of this is AI. Pick two from the list this week. And ask which AI tools your organization has turned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back to Emily for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36-1.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chart" Target="/ppt/charts/chart9.xml"/><Relationship Id="rId1" Type="http://schemas.openxmlformats.org/officeDocument/2006/relationships/image" Target="../media/image-41-1.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slideLayout" Target="../slideLayouts/slideLayout2.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linic workstation with two monitors and a coffee cup">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914400"/>
            <a:ext cx="6035040" cy="2011680"/>
          </a:xfrm>
          <a:prstGeom prst="rect">
            <a:avLst/>
          </a:prstGeom>
          <a:noFill/>
          <a:ln/>
        </p:spPr>
        <p:txBody>
          <a:bodyPr wrap="square" lIns="0" tIns="0" rIns="0" bIns="0" rtlCol="0" anchor="ctr"/>
          <a:lstStyle/>
          <a:p>
            <a:pPr algn="ctr" indent="0" marL="0">
              <a:buNone/>
            </a:pPr>
            <a:r>
              <a:rPr lang="en-US" sz="4000" b="1" dirty="0">
                <a:solidFill>
                  <a:srgbClr val="000000"/>
                </a:solidFill>
                <a:latin typeface="Georgia" pitchFamily="34" charset="0"/>
                <a:ea typeface="Georgia" pitchFamily="34" charset="-122"/>
                <a:cs typeface="Georgia" pitchFamily="34" charset="-120"/>
              </a:rPr>
              <a:t>Epically Efficient</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Electronic Health Record Tools</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to Improve Your Practice</a:t>
            </a:r>
            <a:endParaRPr lang="en-US" sz="4000" dirty="0"/>
          </a:p>
        </p:txBody>
      </p:sp>
      <p:sp>
        <p:nvSpPr>
          <p:cNvPr id="4" name="Shape 1"/>
          <p:cNvSpPr/>
          <p:nvPr/>
        </p:nvSpPr>
        <p:spPr>
          <a:xfrm>
            <a:off x="1737360" y="3246120"/>
            <a:ext cx="3474720" cy="0"/>
          </a:xfrm>
          <a:prstGeom prst="line">
            <a:avLst/>
          </a:prstGeom>
          <a:noFill/>
          <a:ln w="12700">
            <a:solidFill>
              <a:srgbClr val="A6A6A6"/>
            </a:solidFill>
            <a:prstDash val="solid"/>
          </a:ln>
        </p:spPr>
      </p:sp>
      <p:sp>
        <p:nvSpPr>
          <p:cNvPr id="5" name="Text 2"/>
          <p:cNvSpPr txBox="1"/>
          <p:nvPr/>
        </p:nvSpPr>
        <p:spPr>
          <a:xfrm>
            <a:off x="457200" y="3520440"/>
            <a:ext cx="6035040"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1741932" y="5257800"/>
            <a:ext cx="3465576" cy="704088"/>
          </a:xfrm>
          <a:prstGeom prst="rect">
            <a:avLst/>
          </a:prstGeom>
        </p:spPr>
      </p:pic>
      <p:sp>
        <p:nvSpPr>
          <p:cNvPr id="7" name="Text 3"/>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Body"/>
          <p:cNvSpPr txBox="1"/>
          <p:nvPr/>
        </p:nvSpPr>
        <p:spPr>
          <a:xfrm>
            <a:off x="822960" y="1737360"/>
            <a:ext cx="6400800" cy="384048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relevant financial relationships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relationship with Epic Systems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Every screen in this talk is a mock-up with invented data. None of it is a real patient or a real Epic screen</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822960" y="1554480"/>
            <a:ext cx="60350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Find what you need in the chart faster</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Spend less time on notes, orders and the In Basket</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Know which AI tools are live and what the evidence shows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Measure your own EHR time</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called Phoenix</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22960" y="5897880"/>
            <a:ext cx="10545775" cy="41148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86%</a:t>
            </a:r>
            <a:r>
              <a:rPr lang="en-US" sz="2000" dirty="0">
                <a:solidFill>
                  <a:srgbClr val="000000"/>
                </a:solidFill>
                <a:latin typeface="Georgia" pitchFamily="34" charset="0"/>
                <a:ea typeface="Georgia" pitchFamily="34" charset="-122"/>
                <a:cs typeface="Georgia" pitchFamily="34" charset="-120"/>
              </a:rPr>
              <a:t> in 2025, and another 6% at centers implementing it</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called Phoenix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everyone else?</a:t>
            </a:r>
            <a:endParaRPr lang="en-US" sz="3000" dirty="0"/>
          </a:p>
        </p:txBody>
      </p:sp>
      <p:graphicFrame>
        <p:nvGraphicFramePr>
          <p:cNvPr id="3" name="Chart 0" descr=""/>
          <p:cNvGraphicFramePr/>
          <p:nvPr/>
        </p:nvGraphicFramePr>
        <p:xfrm>
          <a:off x="548640" y="1234440"/>
          <a:ext cx="6400800" cy="475488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48056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Most of these tools have a version in the other systems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VA: CPRS. VA GPT is a general chat tool approved for PHI, used by over 15,000 staff. It is not built into CPRS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KLAS via Becker's Hospital Review, 2022 (share of US hospitals). VA OIG report 26-00182-140, June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4" name="Text 1"/>
          <p:cNvSpPr txBox="1"/>
          <p:nvPr/>
        </p:nvSpPr>
        <p:spPr>
          <a:xfrm>
            <a:off x="731520" y="5623560"/>
            <a:ext cx="1072865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Today that resident also knows where everything is in the chart.</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7" name="Body"/>
          <p:cNvSpPr txBox="1"/>
          <p:nvPr/>
        </p:nvSpPr>
        <p:spPr>
          <a:xfrm>
            <a:off x="6309360" y="2468880"/>
            <a:ext cx="5303520" cy="3749040"/>
          </a:xfrm>
          <a:prstGeom prst="rect">
            <a:avLst/>
          </a:prstGeom>
          <a:noFill/>
          <a:ln/>
        </p:spPr>
        <p:txBody>
          <a:bodyPr wrap="square" lIns="50800" tIns="50800" rIns="50800" bIns="50800" rtlCol="0" anchor="t"/>
          <a:lstStyle/>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Where his MELD is going</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Was the etiology workup done?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imaging (HCC surveillance)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EGD (varices)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Current liver meds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Is he still drinking?</a:t>
            </a:r>
            <a:endParaRPr lang="en-US" sz="22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We built three Synopsis views. You can too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Synopsis view: Liver disease">    </p:cNvPr>
          <p:cNvPicPr>
            <a:picLocks noChangeAspect="1"/>
          </p:cNvPicPr>
          <p:nvPr/>
        </p:nvPicPr>
        <p:blipFill>
          <a:blip r:embed="rId1"/>
          <a:stretch>
            <a:fillRect/>
          </a:stretch>
        </p:blipFill>
        <p:spPr>
          <a:xfrm>
            <a:off x="469564" y="1234440"/>
            <a:ext cx="3571607" cy="3749040"/>
          </a:xfrm>
          <a:prstGeom prst="rect">
            <a:avLst/>
          </a:prstGeom>
        </p:spPr>
      </p:pic>
      <p:sp>
        <p:nvSpPr>
          <p:cNvPr id="5" name="Text 2"/>
          <p:cNvSpPr txBox="1"/>
          <p:nvPr/>
        </p:nvSpPr>
        <p:spPr>
          <a:xfrm>
            <a:off x="44942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Liver disease</a:t>
            </a:r>
            <a:endParaRPr lang="en-US" sz="1800" dirty="0"/>
          </a:p>
        </p:txBody>
      </p:sp>
      <p:pic>
        <p:nvPicPr>
          <p:cNvPr id="6" name="Image 1" descr="Mock Synopsis view: CLD workup">    </p:cNvPr>
          <p:cNvPicPr>
            <a:picLocks noChangeAspect="1"/>
          </p:cNvPicPr>
          <p:nvPr/>
        </p:nvPicPr>
        <p:blipFill>
          <a:blip r:embed="rId2"/>
          <a:stretch>
            <a:fillRect/>
          </a:stretch>
        </p:blipFill>
        <p:spPr>
          <a:xfrm>
            <a:off x="4309540" y="1234440"/>
            <a:ext cx="3572615" cy="3749040"/>
          </a:xfrm>
          <a:prstGeom prst="rect">
            <a:avLst/>
          </a:prstGeom>
        </p:spPr>
      </p:pic>
      <p:sp>
        <p:nvSpPr>
          <p:cNvPr id="7" name="Text 3"/>
          <p:cNvSpPr txBox="1"/>
          <p:nvPr/>
        </p:nvSpPr>
        <p:spPr>
          <a:xfrm>
            <a:off x="428990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CLD workup</a:t>
            </a:r>
            <a:endParaRPr lang="en-US" sz="1800" dirty="0"/>
          </a:p>
        </p:txBody>
      </p:sp>
      <p:pic>
        <p:nvPicPr>
          <p:cNvPr id="8" name="Image 2" descr="Mock Synopsis view: After transplant">    </p:cNvPr>
          <p:cNvPicPr>
            <a:picLocks noChangeAspect="1"/>
          </p:cNvPicPr>
          <p:nvPr/>
        </p:nvPicPr>
        <p:blipFill>
          <a:blip r:embed="rId3"/>
          <a:stretch>
            <a:fillRect/>
          </a:stretch>
        </p:blipFill>
        <p:spPr>
          <a:xfrm>
            <a:off x="8150380" y="1234440"/>
            <a:ext cx="3571895" cy="3749040"/>
          </a:xfrm>
          <a:prstGeom prst="rect">
            <a:avLst/>
          </a:prstGeom>
        </p:spPr>
      </p:pic>
      <p:sp>
        <p:nvSpPr>
          <p:cNvPr id="9" name="Text 4"/>
          <p:cNvSpPr txBox="1"/>
          <p:nvPr/>
        </p:nvSpPr>
        <p:spPr>
          <a:xfrm>
            <a:off x="813038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After transplant</a:t>
            </a:r>
            <a:endParaRPr lang="en-US" sz="1800" dirty="0"/>
          </a:p>
        </p:txBody>
      </p:sp>
      <p:sp>
        <p:nvSpPr>
          <p:cNvPr id="10" name="Text 5"/>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Start from one of Epic's Synopsis views, then sit with your Epic analyst and add the sections you look for every day</a:t>
            </a:r>
            <a:endParaRPr lang="en-US" sz="1900" dirty="0"/>
          </a:p>
        </p:txBody>
      </p:sp>
      <p:sp>
        <p:nvSpPr>
          <p:cNvPr id="1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Synopsis Setup and Support Guide, 2026</a:t>
            </a:r>
            <a:endParaRPr lang="en-US" sz="10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1 of 3</a:t>
            </a:r>
            <a:endParaRPr lang="en-US" sz="1100" dirty="0"/>
          </a:p>
        </p:txBody>
      </p:sp>
      <p:pic>
        <p:nvPicPr>
          <p:cNvPr id="5" name="Image 0" descr="Mock Synopsis view, screenful 1">    </p:cNvPr>
          <p:cNvPicPr>
            <a:picLocks noChangeAspect="1"/>
          </p:cNvPicPr>
          <p:nvPr/>
        </p:nvPicPr>
        <p:blipFill>
          <a:blip r:embed="rId1"/>
          <a:stretch>
            <a:fillRect/>
          </a:stretch>
        </p:blipFill>
        <p:spPr>
          <a:xfrm>
            <a:off x="2302310" y="1097280"/>
            <a:ext cx="7587076"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2 of 3</a:t>
            </a:r>
            <a:endParaRPr lang="en-US" sz="1100" dirty="0"/>
          </a:p>
        </p:txBody>
      </p:sp>
      <p:pic>
        <p:nvPicPr>
          <p:cNvPr id="5" name="Image 0" descr="Mock Synopsis view, screenful 2">    </p:cNvPr>
          <p:cNvPicPr>
            <a:picLocks noChangeAspect="1"/>
          </p:cNvPicPr>
          <p:nvPr/>
        </p:nvPicPr>
        <p:blipFill>
          <a:blip r:embed="rId1"/>
          <a:stretch>
            <a:fillRect/>
          </a:stretch>
        </p:blipFill>
        <p:spPr>
          <a:xfrm>
            <a:off x="2475364" y="1097280"/>
            <a:ext cx="7240967"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3 of 3</a:t>
            </a:r>
            <a:endParaRPr lang="en-US" sz="1100" dirty="0"/>
          </a:p>
        </p:txBody>
      </p:sp>
      <p:pic>
        <p:nvPicPr>
          <p:cNvPr id="5" name="Image 0" descr="Mock Synopsis view, screenful 3">    </p:cNvPr>
          <p:cNvPicPr>
            <a:picLocks noChangeAspect="1"/>
          </p:cNvPicPr>
          <p:nvPr/>
        </p:nvPicPr>
        <p:blipFill>
          <a:blip r:embed="rId1"/>
          <a:stretch>
            <a:fillRect/>
          </a:stretch>
        </p:blipFill>
        <p:spPr>
          <a:xfrm>
            <a:off x="2884066" y="1097280"/>
            <a:ext cx="6423563"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Where is his MELD going?</a:t>
            </a:r>
            <a:endParaRPr lang="en-US" sz="22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MELD 3.0 went from 9 to 24 in a year, with the creatinine rising</a:t>
            </a:r>
            <a:endParaRPr lang="en-US" sz="20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Was the workup done?</a:t>
            </a:r>
            <a:endParaRPr lang="en-US" sz="22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No HBV core antibody or HFE, HBsAb negative, and metabolic risk</a:t>
            </a:r>
            <a:endParaRPr lang="en-US" sz="20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1 of 3</a:t>
            </a:r>
            <a:endParaRPr lang="en-US" sz="1100" dirty="0"/>
          </a:p>
        </p:txBody>
      </p:sp>
      <p:pic>
        <p:nvPicPr>
          <p:cNvPr id="5" name="Image 0" descr="Mock Synopsis view, screenful 1">    </p:cNvPr>
          <p:cNvPicPr>
            <a:picLocks noChangeAspect="1"/>
          </p:cNvPicPr>
          <p:nvPr/>
        </p:nvPicPr>
        <p:blipFill>
          <a:blip r:embed="rId1"/>
          <a:stretch>
            <a:fillRect/>
          </a:stretch>
        </p:blipFill>
        <p:spPr>
          <a:xfrm>
            <a:off x="1207201" y="1097280"/>
            <a:ext cx="9777292"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2 of 3</a:t>
            </a:r>
            <a:endParaRPr lang="en-US" sz="1100" dirty="0"/>
          </a:p>
        </p:txBody>
      </p:sp>
      <p:pic>
        <p:nvPicPr>
          <p:cNvPr id="5" name="Image 0" descr="Mock Synopsis view, screenful 2">    </p:cNvPr>
          <p:cNvPicPr>
            <a:picLocks noChangeAspect="1"/>
          </p:cNvPicPr>
          <p:nvPr/>
        </p:nvPicPr>
        <p:blipFill>
          <a:blip r:embed="rId1"/>
          <a:stretch>
            <a:fillRect/>
          </a:stretch>
        </p:blipFill>
        <p:spPr>
          <a:xfrm>
            <a:off x="2063833" y="1097280"/>
            <a:ext cx="8064030"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3 of 3</a:t>
            </a:r>
            <a:endParaRPr lang="en-US" sz="1100" dirty="0"/>
          </a:p>
        </p:txBody>
      </p:sp>
      <p:pic>
        <p:nvPicPr>
          <p:cNvPr id="5" name="Image 0" descr="Mock Synopsis view, screenful 3">    </p:cNvPr>
          <p:cNvPicPr>
            <a:picLocks noChangeAspect="1"/>
          </p:cNvPicPr>
          <p:nvPr/>
        </p:nvPicPr>
        <p:blipFill>
          <a:blip r:embed="rId1"/>
          <a:stretch>
            <a:fillRect/>
          </a:stretch>
        </p:blipFill>
        <p:spPr>
          <a:xfrm>
            <a:off x="2271086" y="1097280"/>
            <a:ext cx="7649524"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GD with a preview of the procedure note">    </p:cNvPr>
          <p:cNvPicPr>
            <a:picLocks noChangeAspect="1"/>
          </p:cNvPicPr>
          <p:nvPr/>
        </p:nvPicPr>
        <p:blipFill>
          <a:blip r:embed="rId1"/>
          <a:stretch>
            <a:fillRect/>
          </a:stretch>
        </p:blipFill>
        <p:spPr>
          <a:xfrm>
            <a:off x="1966784" y="1143000"/>
            <a:ext cx="8258128" cy="457200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Ctrl+Space opens it from anywhere. Searches notes, results, media and outside records. Hover to read.</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search tip sheet,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hep B showing related medications, results and problems">    </p:cNvPr>
          <p:cNvPicPr>
            <a:picLocks noChangeAspect="1"/>
          </p:cNvPicPr>
          <p:nvPr/>
        </p:nvPicPr>
        <p:blipFill>
          <a:blip r:embed="rId1"/>
          <a:stretch>
            <a:fillRect/>
          </a:stretch>
        </p:blipFill>
        <p:spPr>
          <a:xfrm>
            <a:off x="2913911" y="1143000"/>
            <a:ext cx="6363872"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hepatitis b: it also offers entecavir and tenofovir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trending ALT and weight together over 10 years">    </p:cNvPr>
          <p:cNvPicPr>
            <a:picLocks noChangeAspect="1"/>
          </p:cNvPicPr>
          <p:nvPr/>
        </p:nvPicPr>
        <p:blipFill>
          <a:blip r:embed="rId1"/>
          <a:stretch>
            <a:fillRect/>
          </a:stretch>
        </p:blipFill>
        <p:spPr>
          <a:xfrm>
            <a:off x="3432854" y="1143000"/>
            <a:ext cx="5325988"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weight 10 years: both on one graph</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lastography finding the words inside a scanned outside fax, highlighted in a preview">    </p:cNvPr>
          <p:cNvPicPr>
            <a:picLocks noChangeAspect="1"/>
          </p:cNvPicPr>
          <p:nvPr/>
        </p:nvPicPr>
        <p:blipFill>
          <a:blip r:embed="rId1"/>
          <a:stretch>
            <a:fillRect/>
          </a:stretch>
        </p:blipFill>
        <p:spPr>
          <a:xfrm>
            <a:off x="2600199" y="1143000"/>
            <a:ext cx="6991296"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Scanned faxes are searchable too: it reads the text (OCR)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doing the calculation 80 x 13 = 1,040">    </p:cNvPr>
          <p:cNvPicPr>
            <a:picLocks noChangeAspect="1"/>
          </p:cNvPicPr>
          <p:nvPr/>
        </p:nvPicPr>
        <p:blipFill>
          <a:blip r:embed="rId1"/>
          <a:stretch>
            <a:fillRect/>
          </a:stretch>
        </p:blipFill>
        <p:spPr>
          <a:xfrm>
            <a:off x="822960" y="1143000"/>
            <a:ext cx="10545775" cy="3929824"/>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Ursodiol for PBC: 80 kg x 13 mg/kg, typed straight in</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showing all 214 notes, quick filter buttons above the list">    </p:cNvPr>
          <p:cNvPicPr>
            <a:picLocks noChangeAspect="1"/>
          </p:cNvPicPr>
          <p:nvPr/>
        </p:nvPicPr>
        <p:blipFill>
          <a:blip r:embed="rId1"/>
          <a:stretch>
            <a:fillRect/>
          </a:stretch>
        </p:blipFill>
        <p:spPr>
          <a:xfrm>
            <a:off x="1904848" y="1143000"/>
            <a:ext cx="8382000"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Notes tab, no filter: 214 notes</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with a Hepatology quick filter applied, 7 notes, four from outside organizations">    </p:cNvPr>
          <p:cNvPicPr>
            <a:picLocks noChangeAspect="1"/>
          </p:cNvPicPr>
          <p:nvPr/>
        </p:nvPicPr>
        <p:blipFill>
          <a:blip r:embed="rId1"/>
          <a:stretch>
            <a:fillRect/>
          </a:stretch>
        </p:blipFill>
        <p:spPr>
          <a:xfrm>
            <a:off x="1103627" y="1143000"/>
            <a:ext cx="9984441"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One click on our Hepatology quick filter: 7 notes, outside ones included</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with a SmartPhrase being typed">    </p:cNvPr>
          <p:cNvPicPr>
            <a:picLocks noChangeAspect="1"/>
          </p:cNvPicPr>
          <p:nvPr/>
        </p:nvPicPr>
        <p:blipFill>
          <a:blip r:embed="rId1"/>
          <a:stretch>
            <a:fillRect/>
          </a:stretch>
        </p:blipFill>
        <p:spPr>
          <a:xfrm>
            <a:off x="365760" y="1188720"/>
            <a:ext cx="7680960" cy="432277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14/26</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after the SmartPhrase expanded, with linked data">    </p:cNvPr>
          <p:cNvPicPr>
            <a:picLocks noChangeAspect="1"/>
          </p:cNvPicPr>
          <p:nvPr/>
        </p:nvPicPr>
        <p:blipFill>
          <a:blip r:embed="rId1"/>
          <a:stretch>
            <a:fillRect/>
          </a:stretch>
        </p:blipFill>
        <p:spPr>
          <a:xfrm>
            <a:off x="365760" y="1188720"/>
            <a:ext cx="7680960" cy="4322773"/>
          </a:xfrm>
          <a:prstGeom prst="rect">
            <a:avLst/>
          </a:prstGeom>
        </p:spPr>
      </p:pic>
      <p:sp>
        <p:nvSpPr>
          <p:cNvPr id="5" name="Body"/>
          <p:cNvSpPr txBox="1"/>
          <p:nvPr/>
        </p:nvSpPr>
        <p:spPr>
          <a:xfrm>
            <a:off x="8229600" y="1371600"/>
            <a:ext cx="3566160" cy="484632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Blue fields are pulled from the chart</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 lists are one click</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has to be filled before you sign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Share yours with colleagues, or use theirs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Community Library: SmartTexts other centers built</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14/26</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Orders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order search showing personal preference list sections and a Follow Users button">    </p:cNvPr>
          <p:cNvPicPr>
            <a:picLocks noChangeAspect="1"/>
          </p:cNvPicPr>
          <p:nvPr/>
        </p:nvPicPr>
        <p:blipFill>
          <a:blip r:embed="rId1"/>
          <a:stretch>
            <a:fillRect/>
          </a:stretch>
        </p:blipFill>
        <p:spPr>
          <a:xfrm>
            <a:off x="365760" y="1188720"/>
            <a:ext cx="6035040" cy="4116207"/>
          </a:xfrm>
          <a:prstGeom prst="rect">
            <a:avLst/>
          </a:prstGeom>
        </p:spPr>
      </p:pic>
      <p:pic>
        <p:nvPicPr>
          <p:cNvPr id="5" name="Image 1" descr="Mock order set for a new cirrhosis visit, saved as a personal version">    </p:cNvPr>
          <p:cNvPicPr>
            <a:picLocks noChangeAspect="1"/>
          </p:cNvPicPr>
          <p:nvPr/>
        </p:nvPicPr>
        <p:blipFill>
          <a:blip r:embed="rId2"/>
          <a:stretch>
            <a:fillRect/>
          </a:stretch>
        </p:blipFill>
        <p:spPr>
          <a:xfrm>
            <a:off x="6675120" y="1188720"/>
            <a:ext cx="5120640" cy="4106753"/>
          </a:xfrm>
          <a:prstGeom prst="rect">
            <a:avLst/>
          </a:prstGeom>
        </p:spPr>
      </p:pic>
      <p:sp>
        <p:nvSpPr>
          <p:cNvPr id="6" name="Text 2"/>
          <p:cNvSpPr txBox="1"/>
          <p:nvPr/>
        </p:nvSpPr>
        <p:spPr>
          <a:xfrm>
            <a:off x="365760" y="5442087"/>
            <a:ext cx="6035040" cy="68580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Star an order to put it on your preference list. Follow up to 3 colleagues' lists.</a:t>
            </a:r>
            <a:endParaRPr lang="en-US" sz="1800" dirty="0"/>
          </a:p>
        </p:txBody>
      </p:sp>
      <p:sp>
        <p:nvSpPr>
          <p:cNvPr id="7" name="Text 3"/>
          <p:cNvSpPr txBox="1"/>
          <p:nvPr/>
        </p:nvSpPr>
        <p:spPr>
          <a:xfrm>
            <a:off x="6675120" y="5432633"/>
            <a:ext cx="512064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Save your own version of an order set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Preference Lists Setup and Support Guide, 2026; Epic, How to Personalize Epic</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15/26</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After March 2020</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Which group's EHR time grew most after March 2020?</a:t>
            </a:r>
            <a:endParaRPr lang="en-US" sz="2000" dirty="0"/>
          </a:p>
        </p:txBody>
      </p:sp>
      <p:graphicFrame>
        <p:nvGraphicFramePr>
          <p:cNvPr id="5" name="Chart 0" descr=""/>
          <p:cNvGraphicFramePr/>
          <p:nvPr/>
        </p:nvGraphicFramePr>
        <p:xfrm>
          <a:off x="1737360" y="1645920"/>
          <a:ext cx="8686800" cy="3931920"/>
        </p:xfrm>
        <a:graphic xmlns:a="http://schemas.openxmlformats.org/drawingml/2006/main">
          <a:graphicData uri="http://schemas.openxmlformats.org/drawingml/2006/chart">
            <c:chart xmlns:c="http://schemas.openxmlformats.org/drawingml/2006/chart" r:id="rId1"/>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JAMA Intern Med 2025;185:461-3. Epic Signal data, 280,712 physicians, 2019 to 2022 [PMID: 39992635]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16/26</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After March 2020</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Which group's EHR time grew most after March 2020?</a:t>
            </a:r>
            <a:endParaRPr lang="en-US" sz="2000" dirty="0"/>
          </a:p>
        </p:txBody>
      </p:sp>
      <p:graphicFrame>
        <p:nvGraphicFramePr>
          <p:cNvPr id="5" name="Chart 0" descr=""/>
          <p:cNvGraphicFramePr/>
          <p:nvPr/>
        </p:nvGraphicFramePr>
        <p:xfrm>
          <a:off x="1737360" y="1645920"/>
          <a:ext cx="868680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 y="566928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Patient messages jumped in March 2020 and stayed high. Phone calls went back to baseline.</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JAMA Intern Med 2025;185:461-3. Epic Signal data, 280,712 physicians, 2019 to 2022 [PMID: 39992635]</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16/26</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Basket tools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pic>
        <p:nvPicPr>
          <p:cNvPr id="4" name="Image 0" descr="Mock In Basket with a normal AFP result and QuickAction buttons">    </p:cNvPr>
          <p:cNvPicPr>
            <a:picLocks noChangeAspect="1"/>
          </p:cNvPicPr>
          <p:nvPr/>
        </p:nvPicPr>
        <p:blipFill>
          <a:blip r:embed="rId1"/>
          <a:stretch>
            <a:fillRect/>
          </a:stretch>
        </p:blipFill>
        <p:spPr>
          <a:xfrm>
            <a:off x="1093666" y="1143000"/>
            <a:ext cx="10004364" cy="4526280"/>
          </a:xfrm>
          <a:prstGeom prst="rect">
            <a:avLst/>
          </a:prstGeom>
        </p:spPr>
      </p:pic>
      <p:sp>
        <p:nvSpPr>
          <p:cNvPr id="5" name="Text 2"/>
          <p:cNvSpPr txBox="1"/>
          <p:nvPr/>
        </p:nvSpPr>
        <p:spPr>
          <a:xfrm>
            <a:off x="822960" y="571500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QuickActions for normal results, result notes from a SmartPhrase, out of contact when you're away</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In Basket Guide for Providers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17/26</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AI tools in Epic</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914400" y="1371600"/>
          <a:ext cx="10362895" cy="914400"/>
        </p:xfrm>
        <a:graphic>
          <a:graphicData uri="http://schemas.openxmlformats.org/drawingml/2006/table">
            <a:tbl>
              <a:tblPr/>
              <a:tblGrid>
                <a:gridCol w="3227832"/>
                <a:gridCol w="5394960"/>
                <a:gridCol w="1737360"/>
              </a:tblGrid>
              <a:tr h="47548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Tool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it does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Epic version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 Basket drafts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Drafts a reply to a patient message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Nov 2023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Insights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Summarizes recent notes before a visit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Feb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Synopsis Insights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Shows why a medication was changed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Aug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Chart with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Drafts the note from the visit conversation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Ask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Answers questions about the chart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Chart with Art for orders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Queues orders from the conversation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Aug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5257800"/>
            <a:ext cx="10545775" cy="457200"/>
          </a:xfrm>
          <a:prstGeom prst="rect">
            <a:avLst/>
          </a:prstGeom>
          <a:noFill/>
          <a:ln/>
        </p:spPr>
        <p:txBody>
          <a:bodyPr wrap="square" lIns="0" tIns="0" rIns="0" bIns="0" rtlCol="0" anchor="ctr"/>
          <a:lstStyle/>
          <a:p>
            <a:pPr algn="ctr" indent="0" marL="0">
              <a:buNone/>
            </a:pPr>
            <a:r>
              <a:rPr lang="en-US" sz="1900" i="1" dirty="0">
                <a:solidFill>
                  <a:srgbClr val="000000"/>
                </a:solidFill>
                <a:latin typeface="Georgia" pitchFamily="34" charset="0"/>
                <a:ea typeface="Georgia" pitchFamily="34" charset="-122"/>
                <a:cs typeface="Georgia" pitchFamily="34" charset="-120"/>
              </a:rPr>
              <a:t>What you have depends on your organization's version and what it turned 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Generative AI Feature Library, 2026. Art is Epic's AI for clinicians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18/26</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 AI drafts save time?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Tai-Seale et al., JAMA Network Open 2024: title">    </p:cNvPr>
          <p:cNvPicPr>
            <a:picLocks noChangeAspect="1"/>
          </p:cNvPicPr>
          <p:nvPr/>
        </p:nvPicPr>
        <p:blipFill>
          <a:blip r:embed="rId1"/>
          <a:stretch>
            <a:fillRect/>
          </a:stretch>
        </p:blipFill>
        <p:spPr>
          <a:xfrm>
            <a:off x="2658641" y="1143000"/>
            <a:ext cx="6874412" cy="1828800"/>
          </a:xfrm>
          <a:prstGeom prst="rect">
            <a:avLst/>
          </a:prstGeom>
        </p:spPr>
      </p:pic>
      <p:graphicFrame>
        <p:nvGraphicFramePr>
          <p:cNvPr id="5" name="Chart 0" descr=""/>
          <p:cNvGraphicFramePr/>
          <p:nvPr/>
        </p:nvGraphicFramePr>
        <p:xfrm>
          <a:off x="2194560" y="3108960"/>
          <a:ext cx="7772400" cy="3154680"/>
        </p:xfrm>
        <a:graphic xmlns:a="http://schemas.openxmlformats.org/drawingml/2006/main">
          <a:graphicData uri="http://schemas.openxmlformats.org/drawingml/2006/chart">
            <c:chart xmlns:c="http://schemas.openxmlformats.org/drawingml/2006/chart" r:id="rId2"/>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Tai-Seale M et al. JAMA Netw Open 2024;7:e246565. 52 primary care physicians, UC San Diego. Reply time change not significant (P=.33)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19/26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Ambient notes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1463040" y="1737360"/>
          <a:ext cx="9265615" cy="914400"/>
        </p:xfrm>
        <a:graphic>
          <a:graphicData uri="http://schemas.openxmlformats.org/drawingml/2006/table">
            <a:tbl>
              <a:tblPr/>
              <a:tblGrid>
                <a:gridCol w="1225296"/>
                <a:gridCol w="4645152"/>
                <a:gridCol w="3392424"/>
              </a:tblGrid>
              <a:tr h="523037">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Time in notes vs usual care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Burnout scores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Nabla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9.5% less (P=.02)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Small improvement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DAX</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 significant change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Small improvement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4023360"/>
            <a:ext cx="10545775" cy="457200"/>
          </a:xfrm>
          <a:prstGeom prst="rect">
            <a:avLst/>
          </a:prstGeom>
          <a:noFill/>
          <a:ln/>
        </p:spPr>
        <p:txBody>
          <a:bodyPr wrap="square" lIns="0" tIns="0" rIns="0" bIns="0" rtlCol="0" anchor="ctr"/>
          <a:lstStyle/>
          <a:p>
            <a:pPr algn="ctr" indent="0" marL="0">
              <a:buNone/>
            </a:pPr>
            <a:r>
              <a:rPr lang="en-US" sz="2200" i="1" dirty="0">
                <a:solidFill>
                  <a:srgbClr val="000000"/>
                </a:solidFill>
                <a:latin typeface="Georgia" pitchFamily="34" charset="0"/>
                <a:ea typeface="Georgia" pitchFamily="34" charset="-122"/>
                <a:cs typeface="Georgia" pitchFamily="34" charset="-120"/>
              </a:rPr>
              <a:t>Nizar covered this in detail</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Lukac PJ et al. UCLA randomized trial of two ambient scribes, medRxiv 2025 (preprint; check the NEJM AI version before quoting)</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20/26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For transplant teams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Mock AI summary of concerns for transplant committee review, with references">    </p:cNvPr>
          <p:cNvPicPr>
            <a:picLocks noChangeAspect="1"/>
          </p:cNvPicPr>
          <p:nvPr/>
        </p:nvPicPr>
        <p:blipFill>
          <a:blip r:embed="rId1"/>
          <a:stretch>
            <a:fillRect/>
          </a:stretch>
        </p:blipFill>
        <p:spPr>
          <a:xfrm>
            <a:off x="365760" y="1188720"/>
            <a:ext cx="5760720" cy="3353562"/>
          </a:xfrm>
          <a:prstGeom prst="rect">
            <a:avLst/>
          </a:prstGeom>
        </p:spPr>
      </p:pic>
      <p:pic>
        <p:nvPicPr>
          <p:cNvPr id="5" name="Image 1" descr="Mock list of waitlisted patients with new labs ready to submit to UNOS">    </p:cNvPr>
          <p:cNvPicPr>
            <a:picLocks noChangeAspect="1"/>
          </p:cNvPicPr>
          <p:nvPr/>
        </p:nvPicPr>
        <p:blipFill>
          <a:blip r:embed="rId2"/>
          <a:stretch>
            <a:fillRect/>
          </a:stretch>
        </p:blipFill>
        <p:spPr>
          <a:xfrm>
            <a:off x="6309360" y="1188720"/>
            <a:ext cx="5486400" cy="2488474"/>
          </a:xfrm>
          <a:prstGeom prst="rect">
            <a:avLst/>
          </a:prstGeom>
        </p:spPr>
      </p:pic>
      <p:sp>
        <p:nvSpPr>
          <p:cNvPr id="6" name="Text 2"/>
          <p:cNvSpPr txBox="1"/>
          <p:nvPr/>
        </p:nvSpPr>
        <p:spPr>
          <a:xfrm>
            <a:off x="365760" y="4725162"/>
            <a:ext cx="576072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Committee prep: 15 to 5 minutes per case</a:t>
            </a:r>
            <a:endParaRPr lang="en-US" sz="1800" dirty="0"/>
          </a:p>
        </p:txBody>
      </p:sp>
      <p:sp>
        <p:nvSpPr>
          <p:cNvPr id="7" name="Text 3"/>
          <p:cNvSpPr txBox="1"/>
          <p:nvPr/>
        </p:nvSpPr>
        <p:spPr>
          <a:xfrm>
            <a:off x="6309360" y="3860074"/>
            <a:ext cx="548640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MELD labs to UNOS in bulk: 100 hours a year</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Time savings are Epic's own estimates per transplant center (Epic UGM 2025), not studies</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21/26</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does the time go?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For every 8 hours of scheduled patient care, how many hours in the EHR?</a:t>
            </a:r>
            <a:endParaRPr lang="en-US" sz="2000" dirty="0"/>
          </a:p>
        </p:txBody>
      </p:sp>
      <p:graphicFrame>
        <p:nvGraphicFramePr>
          <p:cNvPr id="5" name="Chart 0" descr=""/>
          <p:cNvGraphicFramePr/>
          <p:nvPr/>
        </p:nvGraphicFramePr>
        <p:xfrm>
          <a:off x="822960" y="1645920"/>
          <a:ext cx="10545775" cy="3383280"/>
        </p:xfrm>
        <a:graphic xmlns:a="http://schemas.openxmlformats.org/drawingml/2006/main">
          <a:graphicData uri="http://schemas.openxmlformats.org/drawingml/2006/chart">
            <c:chart xmlns:c="http://schemas.openxmlformats.org/drawingml/2006/chart" r:id="rId1"/>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 Gen Intern Med 2024;39:2868-70. Epic Signal data, 200,081 ambulatory physicians. doi:10.1007/s11606-024-08930-4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22/26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does the time go?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For every 8 hours of scheduled patient care, how many hours in the EHR?</a:t>
            </a:r>
            <a:endParaRPr lang="en-US" sz="2000" dirty="0"/>
          </a:p>
        </p:txBody>
      </p:sp>
      <p:graphicFrame>
        <p:nvGraphicFramePr>
          <p:cNvPr id="5" name="Chart 0" descr=""/>
          <p:cNvGraphicFramePr/>
          <p:nvPr/>
        </p:nvGraphicFramePr>
        <p:xfrm>
          <a:off x="822960" y="1645920"/>
          <a:ext cx="10545775" cy="33832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 y="525780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5.8 hours</a:t>
            </a:r>
            <a:r>
              <a:rPr lang="en-US" sz="2200" dirty="0">
                <a:solidFill>
                  <a:srgbClr val="000000"/>
                </a:solidFill>
                <a:latin typeface="Georgia" pitchFamily="34" charset="0"/>
                <a:ea typeface="Georgia" pitchFamily="34" charset="-122"/>
                <a:cs typeface="Georgia" pitchFamily="34" charset="-120"/>
              </a:rPr>
              <a:t>, and 42% of it outside clinic hours</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 Gen Intern Med 2024;39:2868-70. Epic Signal data, 200,081 ambulatory physicians. doi:10.1007/s11606-024-08930-4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22/26</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Hepatologists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Bali et al., Digestive Diseases and Sciences 2026: title">    </p:cNvPr>
          <p:cNvPicPr>
            <a:picLocks noChangeAspect="1"/>
          </p:cNvPicPr>
          <p:nvPr/>
        </p:nvPicPr>
        <p:blipFill>
          <a:blip r:embed="rId1"/>
          <a:stretch>
            <a:fillRect/>
          </a:stretch>
        </p:blipFill>
        <p:spPr>
          <a:xfrm>
            <a:off x="3025005" y="1097280"/>
            <a:ext cx="6141684" cy="1828800"/>
          </a:xfrm>
          <a:prstGeom prst="rect">
            <a:avLst/>
          </a:prstGeom>
        </p:spPr>
      </p:pic>
      <p:graphicFrame>
        <p:nvGraphicFramePr>
          <p:cNvPr id="5" name="Chart 0" descr=""/>
          <p:cNvGraphicFramePr/>
          <p:nvPr/>
        </p:nvGraphicFramePr>
        <p:xfrm>
          <a:off x="1463040" y="3017520"/>
          <a:ext cx="9235440" cy="278892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22960" y="5852160"/>
            <a:ext cx="10545775" cy="36576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In Basket and documentation were the top stressors; 30.5% reported burnout</a:t>
            </a:r>
            <a:endParaRPr lang="en-US" sz="18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Bali AS et al. Dig Dis Sci 2026;71:3466-75. Signal data, 347 GI providers (38 hepatology), 3 centers [PMID: 41801633]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23/26</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Your own numbers: Signal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 Signal provider efficiency report compared with peers">    </p:cNvPr>
          <p:cNvPicPr>
            <a:picLocks noChangeAspect="1"/>
          </p:cNvPicPr>
          <p:nvPr/>
        </p:nvPicPr>
        <p:blipFill>
          <a:blip r:embed="rId1"/>
          <a:stretch>
            <a:fillRect/>
          </a:stretch>
        </p:blipFill>
        <p:spPr>
          <a:xfrm>
            <a:off x="548640" y="1143000"/>
            <a:ext cx="7589520" cy="3483395"/>
          </a:xfrm>
          <a:prstGeom prst="rect">
            <a:avLst/>
          </a:prstGeom>
        </p:spPr>
      </p:pic>
      <p:sp>
        <p:nvSpPr>
          <p:cNvPr id="5" name="Body"/>
          <p:cNvSpPr txBox="1"/>
          <p:nvPr/>
        </p:nvSpPr>
        <p:spPr>
          <a:xfrm>
            <a:off x="8321040" y="1463040"/>
            <a:ext cx="3566160" cy="45720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Your time in notes, In Basket and chart review, against your peers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Time outside scheduled hours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Which tools you use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Ask your Epic team for access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Signal Quick Start Guide and Metric Reference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24/26</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up: Synopsis">    </p:cNvPr>
          <p:cNvPicPr>
            <a:picLocks noChangeAspect="1"/>
          </p:cNvPicPr>
          <p:nvPr/>
        </p:nvPicPr>
        <p:blipFill>
          <a:blip r:embed="rId1"/>
          <a:stretch>
            <a:fillRect/>
          </a:stretch>
        </p:blipFill>
        <p:spPr>
          <a:xfrm>
            <a:off x="365760" y="1188720"/>
            <a:ext cx="3291840" cy="1866814"/>
          </a:xfrm>
          <a:prstGeom prst="rect">
            <a:avLst/>
          </a:prstGeom>
        </p:spPr>
      </p:pic>
      <p:sp>
        <p:nvSpPr>
          <p:cNvPr id="5" name="Text 2"/>
          <p:cNvSpPr txBox="1"/>
          <p:nvPr/>
        </p:nvSpPr>
        <p:spPr>
          <a:xfrm>
            <a:off x="365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Synopsis</a:t>
            </a:r>
            <a:endParaRPr lang="en-US" sz="1500" dirty="0"/>
          </a:p>
        </p:txBody>
      </p:sp>
      <p:pic>
        <p:nvPicPr>
          <p:cNvPr id="6" name="Image 1" descr="Mock-up: Chart search">    </p:cNvPr>
          <p:cNvPicPr>
            <a:picLocks noChangeAspect="1"/>
          </p:cNvPicPr>
          <p:nvPr/>
        </p:nvPicPr>
        <p:blipFill>
          <a:blip r:embed="rId2"/>
          <a:stretch>
            <a:fillRect/>
          </a:stretch>
        </p:blipFill>
        <p:spPr>
          <a:xfrm>
            <a:off x="3794760" y="1188720"/>
            <a:ext cx="3291840" cy="1822482"/>
          </a:xfrm>
          <a:prstGeom prst="rect">
            <a:avLst/>
          </a:prstGeom>
        </p:spPr>
      </p:pic>
      <p:sp>
        <p:nvSpPr>
          <p:cNvPr id="7" name="Text 3"/>
          <p:cNvSpPr txBox="1"/>
          <p:nvPr/>
        </p:nvSpPr>
        <p:spPr>
          <a:xfrm>
            <a:off x="3794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Chart search</a:t>
            </a:r>
            <a:endParaRPr lang="en-US" sz="1500" dirty="0"/>
          </a:p>
        </p:txBody>
      </p:sp>
      <p:pic>
        <p:nvPicPr>
          <p:cNvPr id="8" name="Image 2" descr="Mock-up: SmartPhrase">    </p:cNvPr>
          <p:cNvPicPr>
            <a:picLocks noChangeAspect="1"/>
          </p:cNvPicPr>
          <p:nvPr/>
        </p:nvPicPr>
        <p:blipFill>
          <a:blip r:embed="rId3"/>
          <a:stretch>
            <a:fillRect/>
          </a:stretch>
        </p:blipFill>
        <p:spPr>
          <a:xfrm>
            <a:off x="365760" y="3703320"/>
            <a:ext cx="3291840" cy="1852617"/>
          </a:xfrm>
          <a:prstGeom prst="rect">
            <a:avLst/>
          </a:prstGeom>
        </p:spPr>
      </p:pic>
      <p:sp>
        <p:nvSpPr>
          <p:cNvPr id="9" name="Text 4"/>
          <p:cNvSpPr txBox="1"/>
          <p:nvPr/>
        </p:nvSpPr>
        <p:spPr>
          <a:xfrm>
            <a:off x="365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SmartPhrase</a:t>
            </a:r>
            <a:endParaRPr lang="en-US" sz="1500" dirty="0"/>
          </a:p>
        </p:txBody>
      </p:sp>
      <p:pic>
        <p:nvPicPr>
          <p:cNvPr id="10" name="Image 3" descr="Mock-up: QuickActions">    </p:cNvPr>
          <p:cNvPicPr>
            <a:picLocks noChangeAspect="1"/>
          </p:cNvPicPr>
          <p:nvPr/>
        </p:nvPicPr>
        <p:blipFill>
          <a:blip r:embed="rId4"/>
          <a:stretch>
            <a:fillRect/>
          </a:stretch>
        </p:blipFill>
        <p:spPr>
          <a:xfrm>
            <a:off x="3794760" y="3703320"/>
            <a:ext cx="3291840" cy="1489329"/>
          </a:xfrm>
          <a:prstGeom prst="rect">
            <a:avLst/>
          </a:prstGeom>
        </p:spPr>
      </p:pic>
      <p:sp>
        <p:nvSpPr>
          <p:cNvPr id="11" name="Text 5"/>
          <p:cNvSpPr txBox="1"/>
          <p:nvPr/>
        </p:nvSpPr>
        <p:spPr>
          <a:xfrm>
            <a:off x="3794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QuickActions</a:t>
            </a:r>
            <a:endParaRPr lang="en-US" sz="1500" dirty="0"/>
          </a:p>
        </p:txBody>
      </p:sp>
      <p:sp>
        <p:nvSpPr>
          <p:cNvPr id="12" name="Question"/>
          <p:cNvSpPr txBox="1"/>
          <p:nvPr/>
        </p:nvSpPr>
        <p:spPr>
          <a:xfrm>
            <a:off x="7315200" y="1234440"/>
            <a:ext cx="4572000"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To set up when you get home</a:t>
            </a:r>
            <a:endParaRPr lang="en-US" sz="2000" dirty="0"/>
          </a:p>
        </p:txBody>
      </p:sp>
      <p:sp>
        <p:nvSpPr>
          <p:cNvPr id="13" name="Body"/>
          <p:cNvSpPr txBox="1"/>
          <p:nvPr/>
        </p:nvSpPr>
        <p:spPr>
          <a:xfrm>
            <a:off x="7406640" y="1783080"/>
            <a:ext cx="4480560" cy="44805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Synopsis view for each kind of visit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Three saved chart searches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One SmartPhrase, yours or borrowed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Your own version of the new-patient order set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QuickActions for normal results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Look at your Signal report</a:t>
            </a:r>
            <a:endParaRPr lang="en-US" sz="19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25/26</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Watercolor of the same workstation at the end of the day, monitors off, white coat on the chai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194560"/>
            <a:ext cx="603504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457200" y="3566160"/>
            <a:ext cx="603504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26/26</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Epically Efficient Electronic Health Record Tools to Improve Your Practice</dc:title>
  <dc:subject>PptxGenJS Presentation</dc:subject>
  <dc:creator>Mohammad Almeqdadi, MD</dc:creator>
  <cp:lastModifiedBy>Mohammad Almeqdadi, MD</cp:lastModifiedBy>
  <cp:revision>1</cp:revision>
  <dcterms:created xsi:type="dcterms:W3CDTF">2026-10-27T23:51:14Z</dcterms:created>
  <dcterms:modified xsi:type="dcterms:W3CDTF">2026-10-27T23:51:14Z</dcterms:modified>
</cp:coreProperties>
</file>