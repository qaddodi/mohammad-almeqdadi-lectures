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5.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7.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8.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9.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91907cd-2850-af57-2a83-d11c27038e46}">
          <p14:sldIdLst>
            <p14:sldId id="256"/>
            <p14:sldId id="257"/>
            <p14:sldId id="258"/>
            <p14:sldId id="259"/>
            <p14:sldId id="260"/>
            <p14:sldId id="261"/>
          </p14:sldIdLst>
        </p14:section>
        <p14:section name="Finding information" id="{ea0230b1-003d-f298-9c27-cca24c9d6335}">
          <p14:sldIdLst>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Notes and orders" id="{17cb935a-300f-39c1-8154-d66840400d2f}">
          <p14:sldIdLst>
            <p14:sldId id="284"/>
            <p14:sldId id="285"/>
            <p14:sldId id="286"/>
          </p14:sldIdLst>
        </p14:section>
        <p14:section name="In Basket" id="{67e2ba6e-2e1c-74b0-e056-628716a391cd}">
          <p14:sldIdLst>
            <p14:sldId id="287"/>
            <p14:sldId id="288"/>
            <p14:sldId id="289"/>
          </p14:sldIdLst>
        </p14:section>
        <p14:section name="AI in the chart" id="{74f81a80-48e8-764b-31b9-6cdda26b2708}">
          <p14:sldIdLst>
            <p14:sldId id="290"/>
            <p14:sldId id="291"/>
            <p14:sldId id="292"/>
            <p14:sldId id="293"/>
          </p14:sldIdLst>
        </p14:section>
        <p14:section name="Measure yourself" id="{066844e5-79a0-8a94-cda1-ea9a74fd686a}">
          <p14:sldIdLst>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quot;%&quot;;;;" sourceLinked="0"/>
            <c:txPr>
              <a:bodyPr/>
              <a:lstStyle/>
              <a:p>
                <a:pPr>
                  <a:defRPr b="1" i="0" strike="noStrike" sz="24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Sheet1!$B$2:$B$3</c:f>
              <c:numCache>
                <c:formatCode>General</c:formatCode>
                <c:ptCount val="2"/>
                <c:pt idx="0">
                  <c:v>0</c:v>
                </c:pt>
                <c:pt idx="1">
                  <c:v>0</c:v>
                </c:pt>
              </c:numCache>
            </c:numRef>
          </c:val>
        </c:ser>
        <c:ser>
          <c:idx val="1"/>
          <c:order val="1"/>
          <c:tx>
            <c:strRef>
              <c:f>Sheet1!$C$1</c:f>
              <c:strCache>
                <c:ptCount val="1"/>
                <c:pt idx="0">
                  <c:v>b</c:v>
                </c:pt>
              </c:strCache>
            </c:strRef>
          </c:tx>
          <c:spPr>
            <a:solidFill>
              <a:srgbClr val="1F4E79"/>
            </a:solidFill>
            <a:effectLst/>
          </c:spPr>
          <c:invertIfNegative val="0"/>
          <c:dLbls>
            <c:numFmt formatCode="0&quot;%&quot;;;;" sourceLinked="0"/>
            <c:txPr>
              <a:bodyPr/>
              <a:lstStyle/>
              <a:p>
                <a:pPr>
                  <a:defRPr b="1" i="0" strike="noStrike" sz="2400" u="none">
                    <a:solidFill>
                      <a:srgbClr val="000000"/>
                    </a:solidFill>
                    <a:latin typeface="Calibri"/>
                  </a:defRPr>
                </a:pPr>
              </a:p>
            </c:txPr>
            <c:showLegendKey val="0"/>
            <c:showVal val="0"/>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Sheet1!$C$2:$C$3</c:f>
              <c:numCache>
                <c:formatCode>General</c:formatCode>
                <c:ptCount val="2"/>
                <c:pt idx="0">
                  <c:v>0</c:v>
                </c:pt>
                <c:pt idx="1">
                  <c:v>0</c:v>
                </c:pt>
              </c:numCache>
            </c:numRef>
          </c:val>
        </c:ser>
        <c:dLbls>
          <c:numFmt formatCode="0&quot;%&quot;;;;" sourceLinked="0"/>
          <c:txPr>
            <a:bodyPr/>
            <a:lstStyle/>
            <a:p>
              <a:pPr>
                <a:defRPr b="1" i="0" strike="noStrike" sz="2400" u="none">
                  <a:solidFill>
                    <a:srgbClr val="000000"/>
                  </a:solidFill>
                  <a:latin typeface="Calibri"/>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quot;%&quot;;;;" sourceLinked="0"/>
            <c:txPr>
              <a:bodyPr/>
              <a:lstStyle/>
              <a:p>
                <a:pPr>
                  <a:defRPr b="1" i="0" strike="noStrike" sz="24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Sheet1!$B$2:$B$3</c:f>
              <c:numCache>
                <c:formatCode>General</c:formatCode>
                <c:ptCount val="2"/>
                <c:pt idx="0">
                  <c:v>82</c:v>
                </c:pt>
                <c:pt idx="1">
                  <c:v>0</c:v>
                </c:pt>
              </c:numCache>
            </c:numRef>
          </c:val>
        </c:ser>
        <c:ser>
          <c:idx val="1"/>
          <c:order val="1"/>
          <c:tx>
            <c:strRef>
              <c:f>Sheet1!$C$1</c:f>
              <c:strCache>
                <c:ptCount val="1"/>
                <c:pt idx="0">
                  <c:v>b</c:v>
                </c:pt>
              </c:strCache>
            </c:strRef>
          </c:tx>
          <c:spPr>
            <a:solidFill>
              <a:srgbClr val="1F4E79"/>
            </a:solidFill>
            <a:effectLst/>
          </c:spPr>
          <c:invertIfNegative val="0"/>
          <c:dLbls>
            <c:numFmt formatCode="0&quot;%&quot;;;;" sourceLinked="0"/>
            <c:txPr>
              <a:bodyPr/>
              <a:lstStyle/>
              <a:p>
                <a:pPr>
                  <a:defRPr b="1" i="0" strike="noStrike" sz="24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Sheet1!$C$2:$C$3</c:f>
              <c:numCache>
                <c:formatCode>General</c:formatCode>
                <c:ptCount val="2"/>
                <c:pt idx="0">
                  <c:v>0</c:v>
                </c:pt>
                <c:pt idx="1">
                  <c:v>86</c:v>
                </c:pt>
              </c:numCache>
            </c:numRef>
          </c:val>
        </c:ser>
        <c:dLbls>
          <c:numFmt formatCode="0&quot;%&quot;;;;" sourceLinked="0"/>
          <c:txPr>
            <a:bodyPr/>
            <a:lstStyle/>
            <a:p>
              <a:pPr>
                <a:defRPr b="1" i="0" strike="noStrike" sz="2400" u="none">
                  <a:solidFill>
                    <a:srgbClr val="000000"/>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Epic</c:v>
                  </c:pt>
                  <c:pt idx="1">
                    <c:v>Oracle Health</c:v>
                  </c:pt>
                  <c:pt idx="2">
                    <c:v>Meditech</c:v>
                  </c:pt>
                  <c:pt idx="3">
                    <c:v>All others</c:v>
                  </c:pt>
                </c:lvl>
              </c:multiLvlStrCache>
            </c:multiLvlStrRef>
          </c:cat>
          <c:val>
            <c:numRef>
              <c:f>Sheet1!$B$2:$B$5</c:f>
              <c:numCache>
                <c:formatCode>General</c:formatCode>
                <c:ptCount val="4"/>
                <c:pt idx="0">
                  <c:v>0</c:v>
                </c:pt>
                <c:pt idx="1">
                  <c:v>25</c:v>
                </c:pt>
                <c:pt idx="2">
                  <c:v>16</c:v>
                </c:pt>
                <c:pt idx="3">
                  <c:v>23</c:v>
                </c:pt>
              </c:numCache>
            </c:numRef>
          </c:val>
        </c:ser>
        <c:ser>
          <c:idx val="1"/>
          <c:order val="1"/>
          <c:tx>
            <c:strRef>
              <c:f>Sheet1!$C$1</c:f>
              <c:strCache>
                <c:ptCount val="1"/>
                <c:pt idx="0">
                  <c:v>b</c:v>
                </c:pt>
              </c:strCache>
            </c:strRef>
          </c:tx>
          <c:spPr>
            <a:solidFill>
              <a:srgbClr val="1F4E79"/>
            </a:solidFill>
            <a:effectLst/>
          </c:spPr>
          <c:invertIfNegative val="0"/>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Epic</c:v>
                  </c:pt>
                  <c:pt idx="1">
                    <c:v>Oracle Health</c:v>
                  </c:pt>
                  <c:pt idx="2">
                    <c:v>Meditech</c:v>
                  </c:pt>
                  <c:pt idx="3">
                    <c:v>All others</c:v>
                  </c:pt>
                </c:lvl>
              </c:multiLvlStrCache>
            </c:multiLvlStrRef>
          </c:cat>
          <c:val>
            <c:numRef>
              <c:f>Sheet1!$C$2:$C$5</c:f>
              <c:numCache>
                <c:formatCode>General</c:formatCode>
                <c:ptCount val="4"/>
                <c:pt idx="0">
                  <c:v>36</c:v>
                </c:pt>
                <c:pt idx="1">
                  <c:v>0</c:v>
                </c:pt>
                <c:pt idx="2">
                  <c:v>0</c:v>
                </c:pt>
                <c:pt idx="3">
                  <c:v>0</c:v>
                </c:pt>
              </c:numCache>
            </c:numRef>
          </c:val>
        </c:ser>
        <c:dLbls>
          <c:numFmt formatCode="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3E3"/>
              </a:solidFill>
              <a:prstDash val="solid"/>
              <a:round/>
            </a:ln>
          </c:spPr>
        </c:majorGridlines>
        <c:title>
          <c:tx>
            <c:rich>
              <a:bodyPr/>
              <a:lstStyle/>
              <a:p>
                <a:pPr>
                  <a:defRPr sz="1300" b="0" i="0" u="none" strike="noStrike">
                    <a:solidFill>
                      <a:srgbClr val="595959"/>
                    </a:solidFill>
                    <a:latin typeface="Calibri"/>
                  </a:defRPr>
                </a:pPr>
                <a:r>
                  <a:rPr sz="1300" b="0" i="0" u="none" strike="noStrike">
                    <a:solidFill>
                      <a:srgbClr val="595959"/>
                    </a:solidFill>
                    <a:latin typeface="Calibri"/>
                  </a:rPr>
                  <a:t>US hospitals</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0&quot;%&quot;;;;" sourceLinked="0"/>
            <c:txPr>
              <a:bodyPr/>
              <a:lstStyle/>
              <a:p>
                <a:pPr>
                  <a:defRPr b="1" i="0" strike="noStrike" sz="2200" u="none">
                    <a:solidFill>
                      <a:srgbClr val="000000"/>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Primary care</c:v>
                  </c:pt>
                  <c:pt idx="1">
                    <c:v>Medical subspecialists</c:v>
                  </c:pt>
                  <c:pt idx="2">
                    <c:v>Surgeons</c:v>
                  </c:pt>
                </c:lvl>
              </c:multiLvlStrCache>
            </c:multiLvlStrRef>
          </c:cat>
          <c:val>
            <c:numRef>
              <c:f>Sheet1!$B$2:$B$4</c:f>
              <c:numCache>
                <c:formatCode>General</c:formatCode>
                <c:ptCount val="3"/>
                <c:pt idx="0">
                  <c:v>0</c:v>
                </c:pt>
                <c:pt idx="1">
                  <c:v>0</c:v>
                </c:pt>
                <c:pt idx="2">
                  <c:v>0</c:v>
                </c:pt>
              </c:numCache>
            </c:numRef>
          </c:val>
        </c:ser>
        <c:ser>
          <c:idx val="1"/>
          <c:order val="1"/>
          <c:tx>
            <c:strRef>
              <c:f>Sheet1!$C$1</c:f>
              <c:strCache>
                <c:ptCount val="1"/>
                <c:pt idx="0">
                  <c:v>b</c:v>
                </c:pt>
              </c:strCache>
            </c:strRef>
          </c:tx>
          <c:spPr>
            <a:solidFill>
              <a:srgbClr val="1F4E79"/>
            </a:solidFill>
            <a:effectLst/>
          </c:spPr>
          <c:invertIfNegative val="0"/>
          <c:dLbls>
            <c:numFmt formatCode="+0.0&quot;%&quot;;;;" sourceLinked="0"/>
            <c:txPr>
              <a:bodyPr/>
              <a:lstStyle/>
              <a:p>
                <a:pPr>
                  <a:defRPr b="1" i="0" strike="noStrike" sz="2200" u="none">
                    <a:solidFill>
                      <a:srgbClr val="000000"/>
                    </a:solidFill>
                    <a:latin typeface="Calibri"/>
                  </a:defRPr>
                </a:pPr>
              </a:p>
            </c:txPr>
            <c:showLegendKey val="0"/>
            <c:showVal val="0"/>
            <c:showCatName val="0"/>
            <c:showSerName val="0"/>
            <c:showPercent val="0"/>
            <c:showBubbleSize val="0"/>
            <c:showLeaderLines val="0"/>
          </c:dLbls>
          <c:cat>
            <c:multiLvlStrRef>
              <c:f>Sheet1!$A$2:$A$4</c:f>
              <c:multiLvlStrCache>
                <c:ptCount val="3"/>
                <c:lvl>
                  <c:pt idx="0">
                    <c:v>Primary care</c:v>
                  </c:pt>
                  <c:pt idx="1">
                    <c:v>Medical subspecialists</c:v>
                  </c:pt>
                  <c:pt idx="2">
                    <c:v>Surgeons</c:v>
                  </c:pt>
                </c:lvl>
              </c:multiLvlStrCache>
            </c:multiLvlStrRef>
          </c:cat>
          <c:val>
            <c:numRef>
              <c:f>Sheet1!$C$2:$C$4</c:f>
              <c:numCache>
                <c:formatCode>General</c:formatCode>
                <c:ptCount val="3"/>
                <c:pt idx="0">
                  <c:v>0</c:v>
                </c:pt>
                <c:pt idx="1">
                  <c:v>0</c:v>
                </c:pt>
                <c:pt idx="2">
                  <c:v>0</c:v>
                </c:pt>
              </c:numCache>
            </c:numRef>
          </c:val>
        </c:ser>
        <c:dLbls>
          <c:numFmt formatCode="+0.0&quot;%&quot;;;;" sourceLinked="0"/>
          <c:txPr>
            <a:bodyPr/>
            <a:lstStyle/>
            <a:p>
              <a:pPr>
                <a:defRPr b="1" i="0" strike="noStrike" sz="2200" u="none">
                  <a:solidFill>
                    <a:srgbClr val="000000"/>
                  </a:solidFill>
                  <a:latin typeface="Calibri"/>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3E3E3"/>
              </a:solidFill>
              <a:prstDash val="solid"/>
              <a:round/>
            </a:ln>
          </c:spPr>
        </c:majorGridlines>
        <c:title>
          <c:tx>
            <c:rich>
              <a:bodyPr/>
              <a:lstStyle/>
              <a:p>
                <a:pPr>
                  <a:defRPr sz="1300" b="0" i="0" u="none" strike="noStrike">
                    <a:solidFill>
                      <a:srgbClr val="595959"/>
                    </a:solidFill>
                    <a:latin typeface="Calibri"/>
                  </a:defRPr>
                </a:pPr>
                <a:r>
                  <a:rPr sz="1300" b="0" i="0" u="none" strike="noStrike">
                    <a:solidFill>
                      <a:srgbClr val="595959"/>
                    </a:solidFill>
                    <a:latin typeface="Calibri"/>
                  </a:rPr>
                  <a:t>Change in EHR hours per week</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0&quot;%&quot;;;;" sourceLinked="0"/>
            <c:txPr>
              <a:bodyPr/>
              <a:lstStyle/>
              <a:p>
                <a:pPr>
                  <a:defRPr b="1" i="0" strike="noStrike" sz="22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Primary care</c:v>
                  </c:pt>
                  <c:pt idx="1">
                    <c:v>Medical subspecialists</c:v>
                  </c:pt>
                  <c:pt idx="2">
                    <c:v>Surgeons</c:v>
                  </c:pt>
                </c:lvl>
              </c:multiLvlStrCache>
            </c:multiLvlStrRef>
          </c:cat>
          <c:val>
            <c:numRef>
              <c:f>Sheet1!$B$2:$B$4</c:f>
              <c:numCache>
                <c:formatCode>General</c:formatCode>
                <c:ptCount val="3"/>
                <c:pt idx="0">
                  <c:v>6.5</c:v>
                </c:pt>
                <c:pt idx="1">
                  <c:v>0</c:v>
                </c:pt>
                <c:pt idx="2">
                  <c:v>5.2</c:v>
                </c:pt>
              </c:numCache>
            </c:numRef>
          </c:val>
        </c:ser>
        <c:ser>
          <c:idx val="1"/>
          <c:order val="1"/>
          <c:tx>
            <c:strRef>
              <c:f>Sheet1!$C$1</c:f>
              <c:strCache>
                <c:ptCount val="1"/>
                <c:pt idx="0">
                  <c:v>b</c:v>
                </c:pt>
              </c:strCache>
            </c:strRef>
          </c:tx>
          <c:spPr>
            <a:solidFill>
              <a:srgbClr val="1F4E79"/>
            </a:solidFill>
            <a:effectLst/>
          </c:spPr>
          <c:invertIfNegative val="0"/>
          <c:dLbls>
            <c:numFmt formatCode="+0.0&quot;%&quot;;;;" sourceLinked="0"/>
            <c:txPr>
              <a:bodyPr/>
              <a:lstStyle/>
              <a:p>
                <a:pPr>
                  <a:defRPr b="1" i="0" strike="noStrike" sz="22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Primary care</c:v>
                  </c:pt>
                  <c:pt idx="1">
                    <c:v>Medical subspecialists</c:v>
                  </c:pt>
                  <c:pt idx="2">
                    <c:v>Surgeons</c:v>
                  </c:pt>
                </c:lvl>
              </c:multiLvlStrCache>
            </c:multiLvlStrRef>
          </c:cat>
          <c:val>
            <c:numRef>
              <c:f>Sheet1!$C$2:$C$4</c:f>
              <c:numCache>
                <c:formatCode>General</c:formatCode>
                <c:ptCount val="3"/>
                <c:pt idx="0">
                  <c:v>0</c:v>
                </c:pt>
                <c:pt idx="1">
                  <c:v>9.9</c:v>
                </c:pt>
                <c:pt idx="2">
                  <c:v>0</c:v>
                </c:pt>
              </c:numCache>
            </c:numRef>
          </c:val>
        </c:ser>
        <c:dLbls>
          <c:numFmt formatCode="+0.0&quot;%&quot;;;;" sourceLinked="0"/>
          <c:txPr>
            <a:bodyPr/>
            <a:lstStyle/>
            <a:p>
              <a:pPr>
                <a:defRPr b="1" i="0" strike="noStrike" sz="2200" u="none">
                  <a:solidFill>
                    <a:srgbClr val="000000"/>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3E3E3"/>
              </a:solidFill>
              <a:prstDash val="solid"/>
              <a:round/>
            </a:ln>
          </c:spPr>
        </c:majorGridlines>
        <c:title>
          <c:tx>
            <c:rich>
              <a:bodyPr/>
              <a:lstStyle/>
              <a:p>
                <a:pPr>
                  <a:defRPr sz="1300" b="0" i="0" u="none" strike="noStrike">
                    <a:solidFill>
                      <a:srgbClr val="595959"/>
                    </a:solidFill>
                    <a:latin typeface="Calibri"/>
                  </a:defRPr>
                </a:pPr>
                <a:r>
                  <a:rPr sz="1300" b="0" i="0" u="none" strike="noStrike">
                    <a:solidFill>
                      <a:srgbClr val="595959"/>
                    </a:solidFill>
                    <a:latin typeface="Calibri"/>
                  </a:rPr>
                  <a:t>Change in EHR hours per week</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0&quot;%&quot;;-0.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Time reading</c:v>
                  </c:pt>
                  <c:pt idx="1">
                    <c:v>Time replying (NS)</c:v>
                  </c:pt>
                  <c:pt idx="2">
                    <c:v>Reply length</c:v>
                  </c:pt>
                </c:lvl>
              </c:multiLvlStrCache>
            </c:multiLvlStrRef>
          </c:cat>
          <c:val>
            <c:numRef>
              <c:f>Sheet1!$B$2:$B$4</c:f>
              <c:numCache>
                <c:formatCode>General</c:formatCode>
                <c:ptCount val="3"/>
                <c:pt idx="0">
                  <c:v>21.8</c:v>
                </c:pt>
                <c:pt idx="1">
                  <c:v>0</c:v>
                </c:pt>
                <c:pt idx="2">
                  <c:v>17.9</c:v>
                </c:pt>
              </c:numCache>
            </c:numRef>
          </c:val>
        </c:ser>
        <c:ser>
          <c:idx val="1"/>
          <c:order val="1"/>
          <c:tx>
            <c:strRef>
              <c:f>Sheet1!$C$1</c:f>
              <c:strCache>
                <c:ptCount val="1"/>
                <c:pt idx="0">
                  <c:v>b</c:v>
                </c:pt>
              </c:strCache>
            </c:strRef>
          </c:tx>
          <c:spPr>
            <a:solidFill>
              <a:srgbClr val="1F4E79"/>
            </a:solidFill>
            <a:effectLst/>
          </c:spPr>
          <c:invertIfNegative val="0"/>
          <c:dLbls>
            <c:numFmt formatCode="+0.0&quot;%&quot;;-0.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Time reading</c:v>
                  </c:pt>
                  <c:pt idx="1">
                    <c:v>Time replying (NS)</c:v>
                  </c:pt>
                  <c:pt idx="2">
                    <c:v>Reply length</c:v>
                  </c:pt>
                </c:lvl>
              </c:multiLvlStrCache>
            </c:multiLvlStrRef>
          </c:cat>
          <c:val>
            <c:numRef>
              <c:f>Sheet1!$C$2:$C$4</c:f>
              <c:numCache>
                <c:formatCode>General</c:formatCode>
                <c:ptCount val="3"/>
                <c:pt idx="0">
                  <c:v>0</c:v>
                </c:pt>
                <c:pt idx="1">
                  <c:v>-5.9</c:v>
                </c:pt>
                <c:pt idx="2">
                  <c:v>0</c:v>
                </c:pt>
              </c:numCache>
            </c:numRef>
          </c:val>
        </c:ser>
        <c:dLbls>
          <c:numFmt formatCode="+0.0&quot;%&quot;;-0.0&quot;%&quot;;;" sourceLinked="0"/>
          <c:txPr>
            <a:bodyPr/>
            <a:lstStyle/>
            <a:p>
              <a:pPr>
                <a:defRPr b="1" i="0" strike="noStrike" sz="1800" u="none">
                  <a:solidFill>
                    <a:srgbClr val="000000"/>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30"/>
          <c:min val="-1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Scheduled patient care</c:v>
                </c:pt>
              </c:strCache>
            </c:strRef>
          </c:tx>
          <c:spPr>
            <a:solidFill>
              <a:srgbClr val="8FA6BC"/>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Sheet1!$B$2:$B$3</c:f>
              <c:numCache>
                <c:formatCode>General</c:formatCode>
                <c:ptCount val="2"/>
                <c:pt idx="0">
                  <c:v>8</c:v>
                </c:pt>
                <c:pt idx="1">
                  <c:v>0</c:v>
                </c:pt>
              </c:numCache>
            </c:numRef>
          </c:val>
        </c:ser>
        <c:ser>
          <c:idx val="1"/>
          <c:order val="1"/>
          <c:tx>
            <c:strRef>
              <c:f>Sheet1!$C$1</c:f>
              <c:strCache>
                <c:ptCount val="1"/>
                <c:pt idx="0">
                  <c:v>Notes</c:v>
                </c:pt>
              </c:strCache>
            </c:strRef>
          </c:tx>
          <c:spPr>
            <a:solidFill>
              <a:srgbClr val="1F4E79"/>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Sheet1!$C$2:$C$3</c:f>
              <c:numCache>
                <c:formatCode>General</c:formatCode>
                <c:ptCount val="2"/>
                <c:pt idx="0">
                  <c:v>0</c:v>
                </c:pt>
                <c:pt idx="1">
                  <c:v>0</c:v>
                </c:pt>
              </c:numCache>
            </c:numRef>
          </c:val>
        </c:ser>
        <c:ser>
          <c:idx val="2"/>
          <c:order val="2"/>
          <c:tx>
            <c:strRef>
              <c:f>Sheet1!$D$1</c:f>
              <c:strCache>
                <c:ptCount val="1"/>
                <c:pt idx="0">
                  <c:v>Chart review</c:v>
                </c:pt>
              </c:strCache>
            </c:strRef>
          </c:tx>
          <c:spPr>
            <a:solidFill>
              <a:srgbClr val="2E7D8C"/>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Sheet1!$D$2:$D$3</c:f>
              <c:numCache>
                <c:formatCode>General</c:formatCode>
                <c:ptCount val="2"/>
                <c:pt idx="0">
                  <c:v>0</c:v>
                </c:pt>
                <c:pt idx="1">
                  <c:v>0</c:v>
                </c:pt>
              </c:numCache>
            </c:numRef>
          </c:val>
        </c:ser>
        <c:ser>
          <c:idx val="3"/>
          <c:order val="3"/>
          <c:tx>
            <c:strRef>
              <c:f>Sheet1!$E$1</c:f>
              <c:strCache>
                <c:ptCount val="1"/>
                <c:pt idx="0">
                  <c:v>Orders</c:v>
                </c:pt>
              </c:strCache>
            </c:strRef>
          </c:tx>
          <c:spPr>
            <a:solidFill>
              <a:srgbClr val="6F9A72"/>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Sheet1!$E$2:$E$3</c:f>
              <c:numCache>
                <c:formatCode>General</c:formatCode>
                <c:ptCount val="2"/>
                <c:pt idx="0">
                  <c:v>0</c:v>
                </c:pt>
                <c:pt idx="1">
                  <c:v>0</c:v>
                </c:pt>
              </c:numCache>
            </c:numRef>
          </c:val>
        </c:ser>
        <c:ser>
          <c:idx val="4"/>
          <c:order val="4"/>
          <c:tx>
            <c:strRef>
              <c:f>Sheet1!$F$1</c:f>
              <c:strCache>
                <c:ptCount val="1"/>
                <c:pt idx="0">
                  <c:v>In Basket</c:v>
                </c:pt>
              </c:strCache>
            </c:strRef>
          </c:tx>
          <c:spPr>
            <a:solidFill>
              <a:srgbClr val="C08A3E"/>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Sheet1!$F$2:$F$3</c:f>
              <c:numCache>
                <c:formatCode>General</c:formatCode>
                <c:ptCount val="2"/>
                <c:pt idx="0">
                  <c:v>0</c:v>
                </c:pt>
                <c:pt idx="1">
                  <c:v>0</c:v>
                </c:pt>
              </c:numCache>
            </c:numRef>
          </c:val>
        </c:ser>
        <c:ser>
          <c:idx val="5"/>
          <c:order val="5"/>
          <c:tx>
            <c:strRef>
              <c:f>Sheet1!$G$1</c:f>
              <c:strCache>
                <c:ptCount val="1"/>
                <c:pt idx="0">
                  <c:v>Other</c:v>
                </c:pt>
              </c:strCache>
            </c:strRef>
          </c:tx>
          <c:spPr>
            <a:solidFill>
              <a:srgbClr val="8E7C99"/>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Sheet1!$G$2:$G$3</c:f>
              <c:numCache>
                <c:formatCode>General</c:formatCode>
                <c:ptCount val="2"/>
                <c:pt idx="0">
                  <c:v>0</c:v>
                </c:pt>
                <c:pt idx="1">
                  <c:v>0</c:v>
                </c:pt>
              </c:numCache>
            </c:numRef>
          </c:val>
        </c:ser>
        <c:dLbls>
          <c:numFmt formatCode="0.0;;;" sourceLinked="0"/>
          <c:txPr>
            <a:bodyPr/>
            <a:lstStyle/>
            <a:p>
              <a:pPr>
                <a:defRPr b="1" i="0" strike="noStrike" sz="1600" u="none">
                  <a:solidFill>
                    <a:srgbClr val="FFFFFF"/>
                  </a:solidFill>
                  <a:latin typeface="Calibri"/>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6350" cap="flat">
              <a:solidFill>
                <a:srgbClr val="E3E3E3"/>
              </a:solidFill>
              <a:prstDash val="solid"/>
              <a:round/>
            </a:ln>
          </c:spPr>
        </c:majorGridlines>
        <c:numFmt formatCode="0&quot; h&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5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Scheduled patient care</c:v>
                </c:pt>
              </c:strCache>
            </c:strRef>
          </c:tx>
          <c:spPr>
            <a:solidFill>
              <a:srgbClr val="8FA6BC"/>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Sheet1!$B$2:$B$3</c:f>
              <c:numCache>
                <c:formatCode>General</c:formatCode>
                <c:ptCount val="2"/>
                <c:pt idx="0">
                  <c:v>8</c:v>
                </c:pt>
                <c:pt idx="1">
                  <c:v>0</c:v>
                </c:pt>
              </c:numCache>
            </c:numRef>
          </c:val>
        </c:ser>
        <c:ser>
          <c:idx val="1"/>
          <c:order val="1"/>
          <c:tx>
            <c:strRef>
              <c:f>Sheet1!$C$1</c:f>
              <c:strCache>
                <c:ptCount val="1"/>
                <c:pt idx="0">
                  <c:v>Notes</c:v>
                </c:pt>
              </c:strCache>
            </c:strRef>
          </c:tx>
          <c:spPr>
            <a:solidFill>
              <a:srgbClr val="1F4E79"/>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Sheet1!$C$2:$C$3</c:f>
              <c:numCache>
                <c:formatCode>General</c:formatCode>
                <c:ptCount val="2"/>
                <c:pt idx="0">
                  <c:v>0</c:v>
                </c:pt>
                <c:pt idx="1">
                  <c:v>2.3</c:v>
                </c:pt>
              </c:numCache>
            </c:numRef>
          </c:val>
        </c:ser>
        <c:ser>
          <c:idx val="2"/>
          <c:order val="2"/>
          <c:tx>
            <c:strRef>
              <c:f>Sheet1!$D$1</c:f>
              <c:strCache>
                <c:ptCount val="1"/>
                <c:pt idx="0">
                  <c:v>Chart review</c:v>
                </c:pt>
              </c:strCache>
            </c:strRef>
          </c:tx>
          <c:spPr>
            <a:solidFill>
              <a:srgbClr val="2E7D8C"/>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Sheet1!$D$2:$D$3</c:f>
              <c:numCache>
                <c:formatCode>General</c:formatCode>
                <c:ptCount val="2"/>
                <c:pt idx="0">
                  <c:v>0</c:v>
                </c:pt>
                <c:pt idx="1">
                  <c:v>1.1</c:v>
                </c:pt>
              </c:numCache>
            </c:numRef>
          </c:val>
        </c:ser>
        <c:ser>
          <c:idx val="3"/>
          <c:order val="3"/>
          <c:tx>
            <c:strRef>
              <c:f>Sheet1!$E$1</c:f>
              <c:strCache>
                <c:ptCount val="1"/>
                <c:pt idx="0">
                  <c:v>Orders</c:v>
                </c:pt>
              </c:strCache>
            </c:strRef>
          </c:tx>
          <c:spPr>
            <a:solidFill>
              <a:srgbClr val="6F9A72"/>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Sheet1!$E$2:$E$3</c:f>
              <c:numCache>
                <c:formatCode>General</c:formatCode>
                <c:ptCount val="2"/>
                <c:pt idx="0">
                  <c:v>0</c:v>
                </c:pt>
                <c:pt idx="1">
                  <c:v>0.8</c:v>
                </c:pt>
              </c:numCache>
            </c:numRef>
          </c:val>
        </c:ser>
        <c:ser>
          <c:idx val="4"/>
          <c:order val="4"/>
          <c:tx>
            <c:strRef>
              <c:f>Sheet1!$F$1</c:f>
              <c:strCache>
                <c:ptCount val="1"/>
                <c:pt idx="0">
                  <c:v>In Basket</c:v>
                </c:pt>
              </c:strCache>
            </c:strRef>
          </c:tx>
          <c:spPr>
            <a:solidFill>
              <a:srgbClr val="C08A3E"/>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Sheet1!$F$2:$F$3</c:f>
              <c:numCache>
                <c:formatCode>General</c:formatCode>
                <c:ptCount val="2"/>
                <c:pt idx="0">
                  <c:v>0</c:v>
                </c:pt>
                <c:pt idx="1">
                  <c:v>0.8</c:v>
                </c:pt>
              </c:numCache>
            </c:numRef>
          </c:val>
        </c:ser>
        <c:ser>
          <c:idx val="5"/>
          <c:order val="5"/>
          <c:tx>
            <c:strRef>
              <c:f>Sheet1!$G$1</c:f>
              <c:strCache>
                <c:ptCount val="1"/>
                <c:pt idx="0">
                  <c:v>Other</c:v>
                </c:pt>
              </c:strCache>
            </c:strRef>
          </c:tx>
          <c:spPr>
            <a:solidFill>
              <a:srgbClr val="8E7C99"/>
            </a:solidFill>
            <a:effectLst/>
          </c:spPr>
          <c:invertIfNegative val="0"/>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Patient care</c:v>
                  </c:pt>
                  <c:pt idx="1">
                    <c:v>In the EHR</c:v>
                  </c:pt>
                </c:lvl>
              </c:multiLvlStrCache>
            </c:multiLvlStrRef>
          </c:cat>
          <c:val>
            <c:numRef>
              <c:f>Sheet1!$G$2:$G$3</c:f>
              <c:numCache>
                <c:formatCode>General</c:formatCode>
                <c:ptCount val="2"/>
                <c:pt idx="0">
                  <c:v>0</c:v>
                </c:pt>
                <c:pt idx="1">
                  <c:v>0.8</c:v>
                </c:pt>
              </c:numCache>
            </c:numRef>
          </c:val>
        </c:ser>
        <c:dLbls>
          <c:numFmt formatCode="0.0;;;"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6350" cap="flat">
              <a:solidFill>
                <a:srgbClr val="E3E3E3"/>
              </a:solidFill>
              <a:prstDash val="solid"/>
              <a:round/>
            </a:ln>
          </c:spPr>
        </c:majorGridlines>
        <c:numFmt formatCode="0&quot; h&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5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v>
                </c:pt>
              </c:strCache>
            </c:strRef>
          </c:tx>
          <c:spPr>
            <a:solidFill>
              <a:srgbClr val="9DB4CA"/>
            </a:solidFill>
            <a:effectLst/>
          </c:spPr>
          <c:invertIfNegative val="0"/>
          <c:dLbls>
            <c:numFmt formatCode="0.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Advanced endoscopy</c:v>
                  </c:pt>
                  <c:pt idx="1">
                    <c:v>Esophagus</c:v>
                  </c:pt>
                  <c:pt idx="2">
                    <c:v>IBD</c:v>
                  </c:pt>
                  <c:pt idx="3">
                    <c:v>Motility</c:v>
                  </c:pt>
                  <c:pt idx="4">
                    <c:v>Hepatology</c:v>
                  </c:pt>
                </c:lvl>
              </c:multiLvlStrCache>
            </c:multiLvlStrRef>
          </c:cat>
          <c:val>
            <c:numRef>
              <c:f>Sheet1!$B$2:$B$6</c:f>
              <c:numCache>
                <c:formatCode>General</c:formatCode>
                <c:ptCount val="5"/>
                <c:pt idx="0">
                  <c:v>14.7</c:v>
                </c:pt>
                <c:pt idx="1">
                  <c:v>17.2</c:v>
                </c:pt>
                <c:pt idx="2">
                  <c:v>26.2</c:v>
                </c:pt>
                <c:pt idx="3">
                  <c:v>29.7</c:v>
                </c:pt>
                <c:pt idx="4">
                  <c:v>0</c:v>
                </c:pt>
              </c:numCache>
            </c:numRef>
          </c:val>
        </c:ser>
        <c:ser>
          <c:idx val="1"/>
          <c:order val="1"/>
          <c:tx>
            <c:strRef>
              <c:f>Sheet1!$C$1</c:f>
              <c:strCache>
                <c:ptCount val="1"/>
                <c:pt idx="0">
                  <c:v>b</c:v>
                </c:pt>
              </c:strCache>
            </c:strRef>
          </c:tx>
          <c:spPr>
            <a:solidFill>
              <a:srgbClr val="1F4E79"/>
            </a:solidFill>
            <a:effectLst/>
          </c:spPr>
          <c:invertIfNegative val="0"/>
          <c:dLbls>
            <c:numFmt formatCode="0.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Advanced endoscopy</c:v>
                  </c:pt>
                  <c:pt idx="1">
                    <c:v>Esophagus</c:v>
                  </c:pt>
                  <c:pt idx="2">
                    <c:v>IBD</c:v>
                  </c:pt>
                  <c:pt idx="3">
                    <c:v>Motility</c:v>
                  </c:pt>
                  <c:pt idx="4">
                    <c:v>Hepatology</c:v>
                  </c:pt>
                </c:lvl>
              </c:multiLvlStrCache>
            </c:multiLvlStrRef>
          </c:cat>
          <c:val>
            <c:numRef>
              <c:f>Sheet1!$C$2:$C$6</c:f>
              <c:numCache>
                <c:formatCode>General</c:formatCode>
                <c:ptCount val="5"/>
                <c:pt idx="0">
                  <c:v>0</c:v>
                </c:pt>
                <c:pt idx="1">
                  <c:v>0</c:v>
                </c:pt>
                <c:pt idx="2">
                  <c:v>0</c:v>
                </c:pt>
                <c:pt idx="3">
                  <c:v>0</c:v>
                </c:pt>
                <c:pt idx="4">
                  <c:v>30.5</c:v>
                </c:pt>
              </c:numCache>
            </c:numRef>
          </c:val>
        </c:ser>
        <c:dLbls>
          <c:numFmt formatCode="0.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title>
          <c:tx>
            <c:rich>
              <a:bodyPr/>
              <a:lstStyle/>
              <a:p>
                <a:pPr>
                  <a:defRPr sz="1300" b="0" i="0" u="none" strike="noStrike">
                    <a:solidFill>
                      <a:srgbClr val="595959"/>
                    </a:solidFill>
                    <a:latin typeface="Calibri"/>
                  </a:defRPr>
                </a:pPr>
                <a:r>
                  <a:rPr sz="1300" b="0" i="0" u="none" strike="noStrike">
                    <a:solidFill>
                      <a:srgbClr val="595959"/>
                    </a:solidFill>
                    <a:latin typeface="Calibri"/>
                  </a:rPr>
                  <a:t>Minutes per appointment</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10:10 to 10:30. Emily has already said why this session exists, so no burnout slides up front. Nizar covers ambient documentation in depth, so I only touch it once. Show and tell, no live demo. Every screen in this talk is a mock-up with made-up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The point to make: the screens look like Epic so you recognize them, but I drew them. No patient data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We'll follow one new referral through the chart, then the In Basket, then the AI tools, then how to see your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guess. Most guess around half. 82% of US transplants in 2024 and 86% in 2025 were done at a center on Phoenix, and another 6% are at centers implementing it. So most hepatologists in this room work in Epic, and that's why the tool names in this talk are Epic's. Source: Epic UGM 2025 transplant breakout, data from OPTN.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guess. Most guess around half. 82% of US transplants in 2024 and 86% in 2025 were done at a center on Phoenix, and another 6% are at centers implementing it. So most hepatologists in this room work in Epic, and that's why the tool names in this talk are Epic's. Source: Epic UGM 2025 transplant breakout, data from OPTN.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fair sentence on the others; no jokes about anyone's system. The ideas carry over even when the names don't. VA GPT came up in our planning call as a CPRS tool. It isn't: the VA OIG reviewed it in June 2026 as a general chat tool approved for PHI, separate from CPRS. The VA ambient scribe is a separate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say this to my trainees all the time. Taking a history from the patient is still the job. But half of the history now lives in the chart, and the person who knows where to find it saves everyone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say this to my trainees all the time. Taking a history from the patient is still the job. But half of the history now lives in the chart, and the person who knows where to find it saves everyone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and wait for two or three answers before going to the list. This made-up patient, ZZTEST, LIVER, carries the talk. The next five slides find each item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and wait for two or three answers before going to the list. This made-up patient, ZZTEST, LIVER, carries the talk. The next five slides find each item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three views at our center: a liver disease view for cirrhosis over time, one for the chronic liver disease workup that shows the most recent value of every etiology test in the last 20 years, and one for after transplant. Epic ships a cirrhosis view, built with its Hepatology Specialty Steering Board, that your analyst can import; we started there and kept adding sections. You can do the same: it's a build request, not a product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screen, scrolled; the date row stays at the top. Click through quickly. Sections, top to bottom: transplant status, vitals, scores (MELD 3.0, Child-Pugh, Fib-4, APRI, NAFLD fibrosis, AST:ALT), hematology, chemistry, other labs, ascitic fluid, blood products, micro, anti-infectives, liver meds, other meds, imaging, cardiac testing, procedures, urine and stool output, dialysis, toxicology (PEth, drug screen). Meds are bars over time so you see when a dose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screen, scrolled; the date row stays at the top. Click through quickly. Sections, top to bottom: transplant status, vitals, scores (MELD 3.0, Child-Pugh, Fib-4, APRI, NAFLD fibrosis, AST:ALT), hematology, chemistry, other labs, ascitic fluid, blood products, micro, anti-infectives, liver meds, other meds, imaging, cardiac testing, procedures, urine and stool output, dialysis, toxicology (PEth, drug screen). Meds are bars over time so you see when a dose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screen, scrolled; the date row stays at the top. Click through quickly. Sections, top to bottom: transplant status, vitals, scores (MELD 3.0, Child-Pugh, Fib-4, APRI, NAFLD fibrosis, AST:ALT), hematology, chemistry, other labs, ascitic fluid, blood products, micro, anti-infectives, liver meds, other meds, imaging, cardiac testing, procedures, urine and stool output, dialysis, toxicology (PEth, drug screen). Meds are bars over time so you see when a dose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view, the rows that matter for this visit. Ask the room where the MELD is going, then show the row. Also point at the diuretics going up and carvedilol stopped when the pressure dropped. With Phoenix the view can also show the MELD last reported to UNOS.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view, the rows that matter for this visit. Ask the room where the MELD is going, then show the row. Also point at the diuretics going up and carvedilol stopped when the pressure dropped. With Phoenix the view can also show the MELD last reported to UNOS.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value of each test in the last 20 years, with its date; a dash means never done. Sections: transplant (ABO), scores, hepatitis, hemochromatosis, autoimmune, alpha-1, Wilson, MASLD (weight, BMI, A1c, fasting glucose, lipids), biopsies, cardiac and imaging. Ask: was the workup done? Gaps: HBV core antibody and HFE never sent, HBsAb negative so he needs the vaccine, and the MASLD section shows A1c 6.1, high triglycerides and low HDL. This took a minute instead of digging through 14 years of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recent value of each test in the last 20 years, with its date; a dash means never done. Sections: transplant (ABO), scores, hepatitis, hemochromatosis, autoimmune, alpha-1, Wilson, MASLD (weight, BMI, A1c, fasting glucose, lipids), biopsies, cardiac and imaging. Ask: was the workup done? Gaps: HBV core antibody and HFE never sent, HBsAb negative so he needs the vaccine, and the MASLD section shows A1c 6.1, high triglycerides and low HDL. This took a minute instead of digging through 14 years of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made-up patient, 9 months after transplant. Same order as our real view: vitals, then immunosuppression with the tacrolimus levels right under the doses, transplant immunology, anti-infectives, infection monitoring (CMV), then chemistry with PEth, hematology, toxicology and the rest of the meds. Our post-transplant clinic opens this first: dose changes line up with the levels and the creatinine.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made-up patient, 9 months after transplant. Same order as our real view: vitals, then immunosuppression with the tacrolimus levels right under the doses, transplant immunology, anti-infectives, infection monitoring (CMV), then chemistry with PEth, hematology, toxicology and the rest of the meds. Our post-transplant clinic opens this first: dose changes line up with the levels and the creatinine.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made-up patient, 9 months after transplant. Same order as our real view: vitals, then immunosuppression with the tacrolimus levels right under the doses, transplant immunology, anti-infectives, infection monitoring (CMV), then chemistry with PEth, hematology, toxicology and the rest of the meds. Our post-transplant clinic opens this first: dose changes line up with the levels and the creatinine.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EGD: type EGD. The 2023 outside EGD shows up and the hover preview gives small varices without opening anything. Favorite searches I keep: EGD, MRI, biopsy, PEth. You can also type Synopsis or an order set name in the same bar to jump straight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terms. I type hepatitis b and it suggests the core and surface antibodies and also his entecavir and tenofovir. The spotlight card shows the latest result without opening anything. Results show up before you press Enter; press Enter for the full list. Quotation marks give the exact word only, and AND / OR work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Trends. Steatotic liver disease follow-up: type trend alt 10 years and the graph is right there. You can switch to 5 years or 1 year, and trend two labs together, like ALT and AST. Was it ever elevated? Yes, up to 71 in 2018, and normal now after weight loss. Works for labs and vitals, weight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Scanned documents. Chart search reads the text of scanned documents with OCR, so the outside referral fax is searchable. Hover and you see the page with the words highlighted: his 2024 FibroScan, 12.4 kPa, was only in a fax. Your organization has to turn this on, and it reads documents scanned in the last two years when it starts, so ask your Epic team if yours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Ursodiol for PBC at 13 to 15 mg/kg. I type 80x13 and get 1,040 mg, with a button to copy the answer. No calculator. It does unit conversions too, like pounds to kilograms.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Review, Notes tab, no filter: 214 notes, phone calls, nursing, other clinics. Scrolling this before every visit is where the time goes. The buttons above the list are quick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list with our Hepatology quick filter on: hepatology notes, GI procedures, imaging and pathology. The green CE icon marks notes from other organizations through Care Everywhere, so his outside MRI with the LI-RADS 3 observation and the 2019 biopsy sit in the same list. You can build your own quick filter from Chart Review in a minute, or ask your analyst to make one for the whole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dot phrase, pick it, and the plan writes itself with today's MELD, last imaging and last EGD pulled in. I won't spend long on notes: Nizar covered the AI side. Trap: copy-forward carries old numbers, SmartLinks don't. Ask a colleague to share theirs from the SmartPhrase Manager; you don't have to build from scratch. Since February 2026 you can preview a SmartPhrase against a real chart before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dot phrase, pick it, and the plan writes itself with today's MELD, last imaging and last EGD pulled in. I won't spend long on notes: Nizar covered the AI side. Trap: copy-forward carries old numbers, SmartLinks don't. Ask a colleague to share theirs from the SmartPhrase Manager; you don't have to build from scratch. Since February 2026 you can preview a SmartPhrase against a real chart before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Preference list: click the star on any order, or right-click it, and it goes into your own list in the section you pick. Follow Users on the Browse tab lets you use a colleague's lists, up to three people, so one person in the division builds it and everyone follows. Every new cirrhosis visit gets the same labs and ultrasound: save it once as your version of the order set. Safety point: check the encounter before signing; inpatient orders placed under a clinic visit don't reach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Hepatology sits with the medical subspecialists: EHR time up about 10%. Primary care went from 10.6 to 11.3 hours a week. The messages did not replace phone calls; the calls came back and the messages stayed. Limits: one vendor, no burnout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Hepatology sits with the medical subspecialists: EHR time up about 10%. Primary care went from 10.6 to 11.3 hours a week. The messages did not replace phone calls; the calls came back and the messages stayed. Limits: one vendor, no burnout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AFP: one click sends the MyChart letter, done. Build three or four QuickActions for the results you see every day. Result notes come from a SmartPhrase so the wording is the same each time. Set out of contact and a delegate before vacation,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ones a hepatologist will touch. Version is the Epic release where it became generally available; your system may be a release or two behind, and some need to be requested from Epic. Ask your informatics team which ones are on. Every suggestion still needs your review and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Randomized waiting-list study, 2023, drafts built into Epic. Reading time went up 22%, reply time did not change significantly, and replies got 18% longer. Physicians still liked them as a kinder starting point. The 30 seconds saved per message you'll hear from Mayo comes from Epic's own material, not a trial. So: worth trying, but don't expect your In Basket to empty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only, because Nizar went through it. The UCLA trial randomized clinicians to two ambient tools or usual care. One cut note time by about 10%, the other didn't change it, and both helped burnout scores a little. Cut this slide if running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Phoenix tools. Insights for committee review drafts the concerns for selection committee with a link to every source note; Epic estimates prep drops from 15 to 5 minutes. MELD lab submission checks which waitlisted patients have new labs and sends them to UNOS together; Epic estimates 100 coordinator hours a year for a center with about 60 liver patients listed. These are vendor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5.8 hours in the EHR for every 8 hours of scheduled patient care; notes are the biggest piece. 42% of that time happens outside clinic hours, half of it on days with no clinic at all. Not new: Sinsky 2016 found nearly 2 hours of EHR and desk work per hour with patients [PMID: 27595430], and Arndt 2017 found 5.9 hours of an 11.4-hour day in family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guess. 5.8 hours in the EHR for every 8 hours of scheduled patient care; notes are the biggest piece. 42% of that time happens outside clinic hours, half of it on days with no clinic at all. Not new: Sinsky 2016 found nearly 2 hours of EHR and desk work per hour with patients [PMID: 27595430], and Arndt 2017 found 5.9 hours of an 11.4-hour day in family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specialty. Three tertiary centers, Signal data. Hepatologists had the most EHR time per appointment of any GI group: 30.5 minutes, versus 14.7 for advanced endoscopy. That includes 8.9 minutes of chart review and 7.7 minutes outside scheduled hours per appointment. Survey: in-basket and documentation ranked as the top stressors.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national numbers come from, and you can see your own. Dr. Example is slower than peers in notes and closes fewer notes the same day; the personalization line shows why: 3 SmartPhrases, no preference list, no QuickActions. Most of us have to request access. I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referral: MELD trend, workup gaps, last EGD and outside MRI, all found before walking in. None of this is AI. Pick two from the list this week. And ask which AI tools your organization has turned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back to Emily for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36-1.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41-1.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2.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of a clinic workstation with two monitors and a coffee cup">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57200" y="914400"/>
            <a:ext cx="6035040" cy="2011680"/>
          </a:xfrm>
          <a:prstGeom prst="rect">
            <a:avLst/>
          </a:prstGeom>
          <a:noFill/>
          <a:ln/>
        </p:spPr>
        <p:txBody>
          <a:bodyPr wrap="square" lIns="0" tIns="0" rIns="0" bIns="0" rtlCol="0" anchor="ctr"/>
          <a:lstStyle/>
          <a:p>
            <a:pPr algn="ctr" indent="0" marL="0">
              <a:buNone/>
            </a:pPr>
            <a:r>
              <a:rPr lang="en-US" sz="4000" b="1" dirty="0">
                <a:solidFill>
                  <a:srgbClr val="000000"/>
                </a:solidFill>
                <a:latin typeface="Georgia" pitchFamily="34" charset="0"/>
                <a:ea typeface="Georgia" pitchFamily="34" charset="-122"/>
                <a:cs typeface="Georgia" pitchFamily="34" charset="-120"/>
              </a:rPr>
              <a:t>Epically Efficient</a:t>
            </a:r>
            <a:endParaRPr lang="en-US" sz="4000" dirty="0"/>
          </a:p>
          <a:p>
            <a:pPr algn="ctr" indent="0" marL="0">
              <a:buNone/>
            </a:pPr>
            <a:r>
              <a:rPr lang="en-US" sz="2700" b="1" dirty="0">
                <a:solidFill>
                  <a:srgbClr val="000000"/>
                </a:solidFill>
                <a:latin typeface="Georgia" pitchFamily="34" charset="0"/>
                <a:ea typeface="Georgia" pitchFamily="34" charset="-122"/>
                <a:cs typeface="Georgia" pitchFamily="34" charset="-120"/>
              </a:rPr>
              <a:t>Electronic Health Record Tools</a:t>
            </a:r>
            <a:endParaRPr lang="en-US" sz="4000" dirty="0"/>
          </a:p>
          <a:p>
            <a:pPr algn="ctr" indent="0" marL="0">
              <a:buNone/>
            </a:pPr>
            <a:r>
              <a:rPr lang="en-US" sz="2700" b="1" dirty="0">
                <a:solidFill>
                  <a:srgbClr val="000000"/>
                </a:solidFill>
                <a:latin typeface="Georgia" pitchFamily="34" charset="0"/>
                <a:ea typeface="Georgia" pitchFamily="34" charset="-122"/>
                <a:cs typeface="Georgia" pitchFamily="34" charset="-120"/>
              </a:rPr>
              <a:t>to Improve Your Practice</a:t>
            </a:r>
            <a:endParaRPr lang="en-US" sz="4000" dirty="0"/>
          </a:p>
        </p:txBody>
      </p:sp>
      <p:sp>
        <p:nvSpPr>
          <p:cNvPr id="4" name="Shape 1"/>
          <p:cNvSpPr/>
          <p:nvPr/>
        </p:nvSpPr>
        <p:spPr>
          <a:xfrm>
            <a:off x="1737360" y="3246120"/>
            <a:ext cx="3474720" cy="0"/>
          </a:xfrm>
          <a:prstGeom prst="line">
            <a:avLst/>
          </a:prstGeom>
          <a:noFill/>
          <a:ln w="12700">
            <a:solidFill>
              <a:srgbClr val="A6A6A6"/>
            </a:solidFill>
            <a:prstDash val="solid"/>
          </a:ln>
        </p:spPr>
      </p:sp>
      <p:sp>
        <p:nvSpPr>
          <p:cNvPr id="5" name="Text 2"/>
          <p:cNvSpPr txBox="1"/>
          <p:nvPr/>
        </p:nvSpPr>
        <p:spPr>
          <a:xfrm>
            <a:off x="457200" y="3520440"/>
            <a:ext cx="6035040" cy="146304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and Gastroenterologist</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1741932" y="5257800"/>
            <a:ext cx="3465576" cy="704088"/>
          </a:xfrm>
          <a:prstGeom prst="rect">
            <a:avLst/>
          </a:prstGeom>
        </p:spPr>
      </p:pic>
      <p:sp>
        <p:nvSpPr>
          <p:cNvPr id="7" name="Text 3"/>
          <p:cNvSpPr txBox="1"/>
          <p:nvPr/>
        </p:nvSpPr>
        <p:spPr>
          <a:xfrm>
            <a:off x="365760" y="6400800"/>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Disclosures</a:t>
            </a:r>
            <a:endParaRPr lang="en-US" sz="3000" dirty="0"/>
          </a:p>
        </p:txBody>
      </p:sp>
      <p:sp>
        <p:nvSpPr>
          <p:cNvPr id="3" name="Body"/>
          <p:cNvSpPr txBox="1"/>
          <p:nvPr/>
        </p:nvSpPr>
        <p:spPr>
          <a:xfrm>
            <a:off x="822960" y="1737360"/>
            <a:ext cx="6400800" cy="3840480"/>
          </a:xfrm>
          <a:prstGeom prst="rect">
            <a:avLst/>
          </a:prstGeom>
          <a:noFill/>
          <a:ln/>
        </p:spPr>
        <p:txBody>
          <a:bodyPr wrap="square" lIns="50800" tIns="50800" rIns="50800" bIns="50800" rtlCol="0" anchor="t"/>
          <a:lstStyle/>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No relevant financial relationships</a:t>
            </a:r>
            <a:endParaRPr lang="en-US" sz="2400" dirty="0"/>
          </a:p>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No relationship with Epic Systems</a:t>
            </a:r>
            <a:endParaRPr lang="en-US" sz="2400" dirty="0"/>
          </a:p>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Every screen in this talk is a mock-up with invented data. None of it is a real patient or a real Epic screen</a:t>
            </a:r>
            <a:endParaRPr lang="en-US" sz="24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sp>
        <p:nvSpPr>
          <p:cNvPr id="3" name="Body"/>
          <p:cNvSpPr txBox="1"/>
          <p:nvPr/>
        </p:nvSpPr>
        <p:spPr>
          <a:xfrm>
            <a:off x="822960" y="1554480"/>
            <a:ext cx="6035040" cy="4389120"/>
          </a:xfrm>
          <a:prstGeom prst="rect">
            <a:avLst/>
          </a:prstGeom>
          <a:noFill/>
          <a:ln/>
        </p:spPr>
        <p:txBody>
          <a:bodyPr wrap="square" lIns="50800" tIns="50800" rIns="50800" bIns="50800" rtlCol="0" anchor="t"/>
          <a:lstStyle/>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Find what you need in the chart faster</a:t>
            </a:r>
            <a:endParaRPr lang="en-US" sz="2400" dirty="0"/>
          </a:p>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Spend less time on notes, orders and the In Basket</a:t>
            </a:r>
            <a:endParaRPr lang="en-US" sz="2400" dirty="0"/>
          </a:p>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Know which AI tools are live and what the evidence shows</a:t>
            </a:r>
            <a:endParaRPr lang="en-US" sz="2400" dirty="0"/>
          </a:p>
          <a:p>
            <a:pPr marL="228600" indent="-228600">
              <a:spcBef>
                <a:spcPts val="1800"/>
              </a:spcBef>
              <a:buSzPct val="100000"/>
              <a:buChar char="–"/>
            </a:pPr>
            <a:r>
              <a:rPr lang="en-US" sz="2400" dirty="0">
                <a:solidFill>
                  <a:srgbClr val="000000"/>
                </a:solidFill>
                <a:latin typeface="Georgia" pitchFamily="34" charset="0"/>
                <a:ea typeface="Georgia" pitchFamily="34" charset="-122"/>
                <a:cs typeface="Georgia" pitchFamily="34" charset="-120"/>
              </a:rPr>
              <a:t>Measure your own EHR time</a:t>
            </a:r>
            <a:endParaRPr lang="en-US" sz="24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Epic?</a:t>
            </a:r>
            <a:endParaRPr lang="en-US" sz="3000" dirty="0"/>
          </a:p>
        </p:txBody>
      </p:sp>
      <p:sp>
        <p:nvSpPr>
          <p:cNvPr id="3"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What share of US transplants were done at a center using Epic's transplant module?</a:t>
            </a:r>
            <a:endParaRPr lang="en-US" sz="2000" dirty="0"/>
          </a:p>
        </p:txBody>
      </p:sp>
      <p:graphicFrame>
        <p:nvGraphicFramePr>
          <p:cNvPr id="4" name="Chart 0" descr=""/>
          <p:cNvGraphicFramePr/>
          <p:nvPr/>
        </p:nvGraphicFramePr>
        <p:xfrm>
          <a:off x="2194560" y="1645920"/>
          <a:ext cx="7772400" cy="434340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Epic UGM 2025, source OPTN. 48,137 US transplants in 2024; 49,064 in 2025. Epic's transplant module is called Phoenix</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Epic?</a:t>
            </a:r>
            <a:endParaRPr lang="en-US" sz="3000" dirty="0"/>
          </a:p>
        </p:txBody>
      </p:sp>
      <p:sp>
        <p:nvSpPr>
          <p:cNvPr id="3"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What share of US transplants were done at a center using Epic's transplant module?</a:t>
            </a:r>
            <a:endParaRPr lang="en-US" sz="2000" dirty="0"/>
          </a:p>
        </p:txBody>
      </p:sp>
      <p:graphicFrame>
        <p:nvGraphicFramePr>
          <p:cNvPr id="4" name="Chart 0" descr=""/>
          <p:cNvGraphicFramePr/>
          <p:nvPr/>
        </p:nvGraphicFramePr>
        <p:xfrm>
          <a:off x="2194560" y="1645920"/>
          <a:ext cx="777240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22960" y="5897880"/>
            <a:ext cx="10545775" cy="41148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86%</a:t>
            </a:r>
            <a:r>
              <a:rPr lang="en-US" sz="2000" dirty="0">
                <a:solidFill>
                  <a:srgbClr val="000000"/>
                </a:solidFill>
                <a:latin typeface="Georgia" pitchFamily="34" charset="0"/>
                <a:ea typeface="Georgia" pitchFamily="34" charset="-122"/>
                <a:cs typeface="Georgia" pitchFamily="34" charset="-120"/>
              </a:rPr>
              <a:t> in 2025, and another 6% at centers implementing it</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Epic UGM 2025, source OPTN. 48,137 US transplants in 2024; 49,064 in 2025. Epic's transplant module is called Phoenix</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3/26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And everyone else?</a:t>
            </a:r>
            <a:endParaRPr lang="en-US" sz="3000" dirty="0"/>
          </a:p>
        </p:txBody>
      </p:sp>
      <p:graphicFrame>
        <p:nvGraphicFramePr>
          <p:cNvPr id="3" name="Chart 0" descr=""/>
          <p:cNvGraphicFramePr/>
          <p:nvPr/>
        </p:nvGraphicFramePr>
        <p:xfrm>
          <a:off x="548640" y="123444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223760" y="1554480"/>
            <a:ext cx="4480560" cy="4206240"/>
          </a:xfrm>
          <a:prstGeom prst="rect">
            <a:avLst/>
          </a:prstGeom>
          <a:noFill/>
          <a:ln/>
        </p:spPr>
        <p:txBody>
          <a:bodyPr wrap="square" lIns="50800" tIns="50800" rIns="50800" bIns="50800" rtlCol="0" anchor="t"/>
          <a:lstStyle/>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Most of these tools have a version in the other systems</a:t>
            </a:r>
            <a:endParaRPr lang="en-US" sz="2000" dirty="0"/>
          </a:p>
          <a:p>
            <a:pPr marL="228600" indent="-228600">
              <a:spcBef>
                <a:spcPts val="1600"/>
              </a:spcBef>
              <a:buSzPct val="100000"/>
              <a:buChar char="–"/>
            </a:pPr>
            <a:r>
              <a:rPr lang="en-US" sz="2000" dirty="0">
                <a:solidFill>
                  <a:srgbClr val="000000"/>
                </a:solidFill>
                <a:latin typeface="Georgia" pitchFamily="34" charset="0"/>
                <a:ea typeface="Georgia" pitchFamily="34" charset="-122"/>
                <a:cs typeface="Georgia" pitchFamily="34" charset="-120"/>
              </a:rPr>
              <a:t>VA: CPRS. VA GPT is a general chat tool approved for PHI, used by over 15,000 staff. It is not built into CPRS</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KLAS via Becker's Hospital Review, 2022 (share of US hospitals). VA OIG report 26-00182-140, June 2026</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4/26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Watercolor of a doctor at a patient's bedside and the same doctor at a comput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731520" y="5074920"/>
            <a:ext cx="10728655" cy="457200"/>
          </a:xfrm>
          <a:prstGeom prst="rect">
            <a:avLst/>
          </a:prstGeom>
          <a:noFill/>
          <a:ln/>
        </p:spPr>
        <p:txBody>
          <a:bodyPr wrap="square" lIns="0" tIns="0" rIns="0" bIns="0" rtlCol="0" anchor="ctr"/>
          <a:lstStyle/>
          <a:p>
            <a:pPr algn="ctr" indent="0" marL="0">
              <a:buNone/>
            </a:pPr>
            <a:r>
              <a:rPr lang="en-US" sz="2200" dirty="0">
                <a:solidFill>
                  <a:srgbClr val="000000"/>
                </a:solidFill>
                <a:latin typeface="Georgia" pitchFamily="34" charset="0"/>
                <a:ea typeface="Georgia" pitchFamily="34" charset="-122"/>
                <a:cs typeface="Georgia" pitchFamily="34" charset="-120"/>
              </a:rPr>
              <a:t>We used to call the resident who got the whole story from the patient a good historian.</a:t>
            </a:r>
            <a:endParaRPr lang="en-US" sz="2200" dirty="0"/>
          </a:p>
        </p:txBody>
      </p:sp>
      <p:sp>
        <p:nvSpPr>
          <p:cNvPr id="5"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Watercolor of a doctor at a patient's bedside and the same doctor at a comput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731520" y="5074920"/>
            <a:ext cx="10728655" cy="457200"/>
          </a:xfrm>
          <a:prstGeom prst="rect">
            <a:avLst/>
          </a:prstGeom>
          <a:noFill/>
          <a:ln/>
        </p:spPr>
        <p:txBody>
          <a:bodyPr wrap="square" lIns="0" tIns="0" rIns="0" bIns="0" rtlCol="0" anchor="ctr"/>
          <a:lstStyle/>
          <a:p>
            <a:pPr algn="ctr" indent="0" marL="0">
              <a:buNone/>
            </a:pPr>
            <a:r>
              <a:rPr lang="en-US" sz="2200" dirty="0">
                <a:solidFill>
                  <a:srgbClr val="000000"/>
                </a:solidFill>
                <a:latin typeface="Georgia" pitchFamily="34" charset="0"/>
                <a:ea typeface="Georgia" pitchFamily="34" charset="-122"/>
                <a:cs typeface="Georgia" pitchFamily="34" charset="-120"/>
              </a:rPr>
              <a:t>We used to call the resident who got the whole story from the patient a good historian.</a:t>
            </a:r>
            <a:endParaRPr lang="en-US" sz="2200" dirty="0"/>
          </a:p>
        </p:txBody>
      </p:sp>
      <p:sp>
        <p:nvSpPr>
          <p:cNvPr id="4" name="Text 1"/>
          <p:cNvSpPr txBox="1"/>
          <p:nvPr/>
        </p:nvSpPr>
        <p:spPr>
          <a:xfrm>
            <a:off x="731520" y="5623560"/>
            <a:ext cx="10728655" cy="45720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Today that resident also knows where everything is in the chart.</a:t>
            </a:r>
            <a:endParaRPr lang="en-US" sz="22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5/26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New referral</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58M with cirrhosis. 14 years of records, 312 outside documents. 10 minutes before you walk in.</a:t>
            </a:r>
            <a:endParaRPr lang="en-US" sz="1900" dirty="0"/>
          </a:p>
        </p:txBody>
      </p:sp>
      <p:pic>
        <p:nvPicPr>
          <p:cNvPr id="5" name="Image 0" descr="Watercolor of a tall stack of outside medical records">    </p:cNvPr>
          <p:cNvPicPr>
            <a:picLocks noChangeAspect="1"/>
          </p:cNvPicPr>
          <p:nvPr/>
        </p:nvPicPr>
        <p:blipFill>
          <a:blip r:embed="rId1"/>
          <a:stretch>
            <a:fillRect/>
          </a:stretch>
        </p:blipFill>
        <p:spPr>
          <a:xfrm>
            <a:off x="879145" y="1645920"/>
            <a:ext cx="4276749" cy="4572000"/>
          </a:xfrm>
          <a:prstGeom prst="rect">
            <a:avLst/>
          </a:prstGeom>
        </p:spPr>
      </p:pic>
      <p:sp>
        <p:nvSpPr>
          <p:cNvPr id="6" name="Question"/>
          <p:cNvSpPr txBox="1"/>
          <p:nvPr/>
        </p:nvSpPr>
        <p:spPr>
          <a:xfrm>
            <a:off x="5852160" y="1783080"/>
            <a:ext cx="576072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want to know?</a:t>
            </a:r>
            <a:endParaRPr lang="en-US" sz="24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New referral</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58M with cirrhosis. 14 years of records, 312 outside documents. 10 minutes before you walk in.</a:t>
            </a:r>
            <a:endParaRPr lang="en-US" sz="1900" dirty="0"/>
          </a:p>
        </p:txBody>
      </p:sp>
      <p:pic>
        <p:nvPicPr>
          <p:cNvPr id="5" name="Image 0" descr="Watercolor of a tall stack of outside medical records">    </p:cNvPr>
          <p:cNvPicPr>
            <a:picLocks noChangeAspect="1"/>
          </p:cNvPicPr>
          <p:nvPr/>
        </p:nvPicPr>
        <p:blipFill>
          <a:blip r:embed="rId1"/>
          <a:stretch>
            <a:fillRect/>
          </a:stretch>
        </p:blipFill>
        <p:spPr>
          <a:xfrm>
            <a:off x="879145" y="1645920"/>
            <a:ext cx="4276749" cy="4572000"/>
          </a:xfrm>
          <a:prstGeom prst="rect">
            <a:avLst/>
          </a:prstGeom>
        </p:spPr>
      </p:pic>
      <p:sp>
        <p:nvSpPr>
          <p:cNvPr id="6" name="Question"/>
          <p:cNvSpPr txBox="1"/>
          <p:nvPr/>
        </p:nvSpPr>
        <p:spPr>
          <a:xfrm>
            <a:off x="5852160" y="1783080"/>
            <a:ext cx="5760720"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want to know?</a:t>
            </a:r>
            <a:endParaRPr lang="en-US" sz="2400" dirty="0"/>
          </a:p>
        </p:txBody>
      </p:sp>
      <p:sp>
        <p:nvSpPr>
          <p:cNvPr id="7" name="Body"/>
          <p:cNvSpPr txBox="1"/>
          <p:nvPr/>
        </p:nvSpPr>
        <p:spPr>
          <a:xfrm>
            <a:off x="6309360" y="2468880"/>
            <a:ext cx="5303520" cy="3749040"/>
          </a:xfrm>
          <a:prstGeom prst="rect">
            <a:avLst/>
          </a:prstGeom>
          <a:noFill/>
          <a:ln/>
        </p:spPr>
        <p:txBody>
          <a:bodyPr wrap="square" lIns="50800" tIns="50800" rIns="50800" bIns="50800" rtlCol="0" anchor="t"/>
          <a:lstStyle/>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Where his MELD is going</a:t>
            </a:r>
            <a:endParaRPr lang="en-US" sz="2200" dirty="0"/>
          </a:p>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Was the etiology workup done?</a:t>
            </a:r>
            <a:endParaRPr lang="en-US" sz="2200" dirty="0"/>
          </a:p>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Last imaging (HCC surveillance)</a:t>
            </a:r>
            <a:endParaRPr lang="en-US" sz="2200" dirty="0"/>
          </a:p>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Last EGD (varices)</a:t>
            </a:r>
            <a:endParaRPr lang="en-US" sz="2200" dirty="0"/>
          </a:p>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Current liver meds</a:t>
            </a:r>
            <a:endParaRPr lang="en-US" sz="2200" dirty="0"/>
          </a:p>
          <a:p>
            <a:pPr marL="228600" indent="-228600">
              <a:spcBef>
                <a:spcPts val="1000"/>
              </a:spcBef>
              <a:buSzPct val="100000"/>
              <a:buChar char="–"/>
            </a:pPr>
            <a:r>
              <a:rPr lang="en-US" sz="2200" dirty="0">
                <a:solidFill>
                  <a:srgbClr val="000000"/>
                </a:solidFill>
                <a:latin typeface="Georgia" pitchFamily="34" charset="0"/>
                <a:ea typeface="Georgia" pitchFamily="34" charset="-122"/>
                <a:cs typeface="Georgia" pitchFamily="34" charset="-120"/>
              </a:rPr>
              <a:t>Is he still drinking?</a:t>
            </a:r>
            <a:endParaRPr lang="en-US" sz="22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6/26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We built three Synopsis views. You can too</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Synopsis view: Liver disease">    </p:cNvPr>
          <p:cNvPicPr>
            <a:picLocks noChangeAspect="1"/>
          </p:cNvPicPr>
          <p:nvPr/>
        </p:nvPicPr>
        <p:blipFill>
          <a:blip r:embed="rId1"/>
          <a:stretch>
            <a:fillRect/>
          </a:stretch>
        </p:blipFill>
        <p:spPr>
          <a:xfrm>
            <a:off x="469564" y="1234440"/>
            <a:ext cx="3571607" cy="3749040"/>
          </a:xfrm>
          <a:prstGeom prst="rect">
            <a:avLst/>
          </a:prstGeom>
        </p:spPr>
      </p:pic>
      <p:sp>
        <p:nvSpPr>
          <p:cNvPr id="5" name="Text 2"/>
          <p:cNvSpPr txBox="1"/>
          <p:nvPr/>
        </p:nvSpPr>
        <p:spPr>
          <a:xfrm>
            <a:off x="449428" y="5074920"/>
            <a:ext cx="361188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Liver disease</a:t>
            </a:r>
            <a:endParaRPr lang="en-US" sz="1800" dirty="0"/>
          </a:p>
        </p:txBody>
      </p:sp>
      <p:pic>
        <p:nvPicPr>
          <p:cNvPr id="6" name="Image 1" descr="Mock Synopsis view: CLD workup">    </p:cNvPr>
          <p:cNvPicPr>
            <a:picLocks noChangeAspect="1"/>
          </p:cNvPicPr>
          <p:nvPr/>
        </p:nvPicPr>
        <p:blipFill>
          <a:blip r:embed="rId2"/>
          <a:stretch>
            <a:fillRect/>
          </a:stretch>
        </p:blipFill>
        <p:spPr>
          <a:xfrm>
            <a:off x="4309540" y="1234440"/>
            <a:ext cx="3572615" cy="3749040"/>
          </a:xfrm>
          <a:prstGeom prst="rect">
            <a:avLst/>
          </a:prstGeom>
        </p:spPr>
      </p:pic>
      <p:sp>
        <p:nvSpPr>
          <p:cNvPr id="7" name="Text 3"/>
          <p:cNvSpPr txBox="1"/>
          <p:nvPr/>
        </p:nvSpPr>
        <p:spPr>
          <a:xfrm>
            <a:off x="4289908" y="5074920"/>
            <a:ext cx="361188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CLD workup</a:t>
            </a:r>
            <a:endParaRPr lang="en-US" sz="1800" dirty="0"/>
          </a:p>
        </p:txBody>
      </p:sp>
      <p:pic>
        <p:nvPicPr>
          <p:cNvPr id="8" name="Image 2" descr="Mock Synopsis view: After transplant">    </p:cNvPr>
          <p:cNvPicPr>
            <a:picLocks noChangeAspect="1"/>
          </p:cNvPicPr>
          <p:nvPr/>
        </p:nvPicPr>
        <p:blipFill>
          <a:blip r:embed="rId3"/>
          <a:stretch>
            <a:fillRect/>
          </a:stretch>
        </p:blipFill>
        <p:spPr>
          <a:xfrm>
            <a:off x="8150380" y="1234440"/>
            <a:ext cx="3571895" cy="3749040"/>
          </a:xfrm>
          <a:prstGeom prst="rect">
            <a:avLst/>
          </a:prstGeom>
        </p:spPr>
      </p:pic>
      <p:sp>
        <p:nvSpPr>
          <p:cNvPr id="9" name="Text 4"/>
          <p:cNvSpPr txBox="1"/>
          <p:nvPr/>
        </p:nvSpPr>
        <p:spPr>
          <a:xfrm>
            <a:off x="8130388" y="5074920"/>
            <a:ext cx="361188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Georgia" pitchFamily="34" charset="0"/>
                <a:ea typeface="Georgia" pitchFamily="34" charset="-122"/>
                <a:cs typeface="Georgia" pitchFamily="34" charset="-120"/>
              </a:rPr>
              <a:t>After transplant</a:t>
            </a:r>
            <a:endParaRPr lang="en-US" sz="1800" dirty="0"/>
          </a:p>
        </p:txBody>
      </p:sp>
      <p:sp>
        <p:nvSpPr>
          <p:cNvPr id="10" name="Text 5"/>
          <p:cNvSpPr txBox="1"/>
          <p:nvPr/>
        </p:nvSpPr>
        <p:spPr>
          <a:xfrm>
            <a:off x="822960" y="5577840"/>
            <a:ext cx="10545775" cy="54864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Start from one of Epic's Synopsis views, then sit with your Epic analyst and add the sections you look for every day</a:t>
            </a:r>
            <a:endParaRPr lang="en-US" sz="1900" dirty="0"/>
          </a:p>
        </p:txBody>
      </p:sp>
      <p:sp>
        <p:nvSpPr>
          <p:cNvPr id="1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Synopsis Setup and Support Guide, 2026</a:t>
            </a:r>
            <a:endParaRPr lang="en-US" sz="1000" dirty="0"/>
          </a:p>
        </p:txBody>
      </p:sp>
      <p:sp>
        <p:nvSpPr>
          <p:cNvPr id="13"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7/26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liver disease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1 of 3</a:t>
            </a:r>
            <a:endParaRPr lang="en-US" sz="1100" dirty="0"/>
          </a:p>
        </p:txBody>
      </p:sp>
      <p:pic>
        <p:nvPicPr>
          <p:cNvPr id="5" name="Image 0" descr="Mock Synopsis view, screenful 1">    </p:cNvPr>
          <p:cNvPicPr>
            <a:picLocks noChangeAspect="1"/>
          </p:cNvPicPr>
          <p:nvPr/>
        </p:nvPicPr>
        <p:blipFill>
          <a:blip r:embed="rId1"/>
          <a:stretch>
            <a:fillRect/>
          </a:stretch>
        </p:blipFill>
        <p:spPr>
          <a:xfrm>
            <a:off x="2302310" y="1097280"/>
            <a:ext cx="7587076"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liver disease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2 of 3</a:t>
            </a:r>
            <a:endParaRPr lang="en-US" sz="1100" dirty="0"/>
          </a:p>
        </p:txBody>
      </p:sp>
      <p:pic>
        <p:nvPicPr>
          <p:cNvPr id="5" name="Image 0" descr="Mock Synopsis view, screenful 2">    </p:cNvPr>
          <p:cNvPicPr>
            <a:picLocks noChangeAspect="1"/>
          </p:cNvPicPr>
          <p:nvPr/>
        </p:nvPicPr>
        <p:blipFill>
          <a:blip r:embed="rId1"/>
          <a:stretch>
            <a:fillRect/>
          </a:stretch>
        </p:blipFill>
        <p:spPr>
          <a:xfrm>
            <a:off x="2475364" y="1097280"/>
            <a:ext cx="7240967"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liver disease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3 of 3</a:t>
            </a:r>
            <a:endParaRPr lang="en-US" sz="1100" dirty="0"/>
          </a:p>
        </p:txBody>
      </p:sp>
      <p:pic>
        <p:nvPicPr>
          <p:cNvPr id="5" name="Image 0" descr="Mock Synopsis view, screenful 3">    </p:cNvPr>
          <p:cNvPicPr>
            <a:picLocks noChangeAspect="1"/>
          </p:cNvPicPr>
          <p:nvPr/>
        </p:nvPicPr>
        <p:blipFill>
          <a:blip r:embed="rId1"/>
          <a:stretch>
            <a:fillRect/>
          </a:stretch>
        </p:blipFill>
        <p:spPr>
          <a:xfrm>
            <a:off x="2884066" y="1097280"/>
            <a:ext cx="6423563"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8/26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liver disease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200" dirty="0">
                <a:solidFill>
                  <a:srgbClr val="000000"/>
                </a:solidFill>
                <a:latin typeface="Georgia" pitchFamily="34" charset="0"/>
                <a:ea typeface="Georgia" pitchFamily="34" charset="-122"/>
                <a:cs typeface="Georgia" pitchFamily="34" charset="-120"/>
              </a:rPr>
              <a:t>Where is his MELD going?</a:t>
            </a:r>
            <a:endParaRPr lang="en-US" sz="2200" dirty="0"/>
          </a:p>
        </p:txBody>
      </p:sp>
      <p:pic>
        <p:nvPicPr>
          <p:cNvPr id="5" name="Image 0" descr="Mock Synopsis liver disease view with scores, labs and liver medications over a year">    </p:cNvPr>
          <p:cNvPicPr>
            <a:picLocks noChangeAspect="1"/>
          </p:cNvPicPr>
          <p:nvPr/>
        </p:nvPicPr>
        <p:blipFill>
          <a:blip r:embed="rId1"/>
          <a:stretch>
            <a:fillRect/>
          </a:stretch>
        </p:blipFill>
        <p:spPr>
          <a:xfrm>
            <a:off x="1903597" y="1554480"/>
            <a:ext cx="8384502" cy="475488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liver disease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highlight>
                  <a:srgbClr val="FFFF00"/>
                </a:highlight>
                <a:latin typeface="Georgia" pitchFamily="34" charset="0"/>
                <a:ea typeface="Georgia" pitchFamily="34" charset="-122"/>
                <a:cs typeface="Georgia" pitchFamily="34" charset="-120"/>
              </a:rPr>
              <a:t>MELD 3.0 went from 9 to 24 in a year, with the creatinine rising</a:t>
            </a:r>
            <a:endParaRPr lang="en-US" sz="2000" dirty="0"/>
          </a:p>
        </p:txBody>
      </p:sp>
      <p:pic>
        <p:nvPicPr>
          <p:cNvPr id="5" name="Image 0" descr="Mock Synopsis liver disease view with scores, labs and liver medications over a year">    </p:cNvPr>
          <p:cNvPicPr>
            <a:picLocks noChangeAspect="1"/>
          </p:cNvPicPr>
          <p:nvPr/>
        </p:nvPicPr>
        <p:blipFill>
          <a:blip r:embed="rId1"/>
          <a:stretch>
            <a:fillRect/>
          </a:stretch>
        </p:blipFill>
        <p:spPr>
          <a:xfrm>
            <a:off x="1903597" y="1554480"/>
            <a:ext cx="8384502" cy="475488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9/26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chronic liver disease workup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200" dirty="0">
                <a:solidFill>
                  <a:srgbClr val="000000"/>
                </a:solidFill>
                <a:latin typeface="Georgia" pitchFamily="34" charset="0"/>
                <a:ea typeface="Georgia" pitchFamily="34" charset="-122"/>
                <a:cs typeface="Georgia" pitchFamily="34" charset="-120"/>
              </a:rPr>
              <a:t>Was the workup done?</a:t>
            </a:r>
            <a:endParaRPr lang="en-US" sz="2200" dirty="0"/>
          </a:p>
        </p:txBody>
      </p:sp>
      <p:pic>
        <p:nvPicPr>
          <p:cNvPr id="5" name="Image 0" descr="Mock chronic liver disease workup view, part 1">    </p:cNvPr>
          <p:cNvPicPr>
            <a:picLocks noChangeAspect="1"/>
          </p:cNvPicPr>
          <p:nvPr/>
        </p:nvPicPr>
        <p:blipFill>
          <a:blip r:embed="rId1"/>
          <a:stretch>
            <a:fillRect/>
          </a:stretch>
        </p:blipFill>
        <p:spPr>
          <a:xfrm>
            <a:off x="548640" y="1554480"/>
            <a:ext cx="3685430" cy="4709160"/>
          </a:xfrm>
          <a:prstGeom prst="rect">
            <a:avLst/>
          </a:prstGeom>
        </p:spPr>
      </p:pic>
      <p:pic>
        <p:nvPicPr>
          <p:cNvPr id="6" name="Image 1" descr="Mock chronic liver disease workup view, part 2">    </p:cNvPr>
          <p:cNvPicPr>
            <a:picLocks noChangeAspect="1"/>
          </p:cNvPicPr>
          <p:nvPr/>
        </p:nvPicPr>
        <p:blipFill>
          <a:blip r:embed="rId2"/>
          <a:stretch>
            <a:fillRect/>
          </a:stretch>
        </p:blipFill>
        <p:spPr>
          <a:xfrm>
            <a:off x="6172200" y="1554480"/>
            <a:ext cx="3415898" cy="4709160"/>
          </a:xfrm>
          <a:prstGeom prst="rect">
            <a:avLst/>
          </a:prstGeom>
        </p:spPr>
      </p:pic>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chronic liver disease workup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highlight>
                  <a:srgbClr val="FFFF00"/>
                </a:highlight>
                <a:latin typeface="Georgia" pitchFamily="34" charset="0"/>
                <a:ea typeface="Georgia" pitchFamily="34" charset="-122"/>
                <a:cs typeface="Georgia" pitchFamily="34" charset="-120"/>
              </a:rPr>
              <a:t>No HBV core antibody or HFE, HBsAb negative, and metabolic risk</a:t>
            </a:r>
            <a:endParaRPr lang="en-US" sz="2000" dirty="0"/>
          </a:p>
        </p:txBody>
      </p:sp>
      <p:pic>
        <p:nvPicPr>
          <p:cNvPr id="5" name="Image 0" descr="Mock chronic liver disease workup view, part 1">    </p:cNvPr>
          <p:cNvPicPr>
            <a:picLocks noChangeAspect="1"/>
          </p:cNvPicPr>
          <p:nvPr/>
        </p:nvPicPr>
        <p:blipFill>
          <a:blip r:embed="rId1"/>
          <a:stretch>
            <a:fillRect/>
          </a:stretch>
        </p:blipFill>
        <p:spPr>
          <a:xfrm>
            <a:off x="548640" y="1554480"/>
            <a:ext cx="3685430" cy="4709160"/>
          </a:xfrm>
          <a:prstGeom prst="rect">
            <a:avLst/>
          </a:prstGeom>
        </p:spPr>
      </p:pic>
      <p:pic>
        <p:nvPicPr>
          <p:cNvPr id="6" name="Image 1" descr="Mock chronic liver disease workup view, part 2">    </p:cNvPr>
          <p:cNvPicPr>
            <a:picLocks noChangeAspect="1"/>
          </p:cNvPicPr>
          <p:nvPr/>
        </p:nvPicPr>
        <p:blipFill>
          <a:blip r:embed="rId2"/>
          <a:stretch>
            <a:fillRect/>
          </a:stretch>
        </p:blipFill>
        <p:spPr>
          <a:xfrm>
            <a:off x="6172200" y="1554480"/>
            <a:ext cx="3415898" cy="4709160"/>
          </a:xfrm>
          <a:prstGeom prst="rect">
            <a:avLst/>
          </a:prstGeom>
        </p:spPr>
      </p:pic>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post-transplant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1 of 3</a:t>
            </a:r>
            <a:endParaRPr lang="en-US" sz="1100" dirty="0"/>
          </a:p>
        </p:txBody>
      </p:sp>
      <p:pic>
        <p:nvPicPr>
          <p:cNvPr id="5" name="Image 0" descr="Mock Synopsis view, screenful 1">    </p:cNvPr>
          <p:cNvPicPr>
            <a:picLocks noChangeAspect="1"/>
          </p:cNvPicPr>
          <p:nvPr/>
        </p:nvPicPr>
        <p:blipFill>
          <a:blip r:embed="rId1"/>
          <a:stretch>
            <a:fillRect/>
          </a:stretch>
        </p:blipFill>
        <p:spPr>
          <a:xfrm>
            <a:off x="1207201" y="1097280"/>
            <a:ext cx="9777292"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post-transplant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2 of 3</a:t>
            </a:r>
            <a:endParaRPr lang="en-US" sz="1100" dirty="0"/>
          </a:p>
        </p:txBody>
      </p:sp>
      <p:pic>
        <p:nvPicPr>
          <p:cNvPr id="5" name="Image 0" descr="Mock Synopsis view, screenful 2">    </p:cNvPr>
          <p:cNvPicPr>
            <a:picLocks noChangeAspect="1"/>
          </p:cNvPicPr>
          <p:nvPr/>
        </p:nvPicPr>
        <p:blipFill>
          <a:blip r:embed="rId1"/>
          <a:stretch>
            <a:fillRect/>
          </a:stretch>
        </p:blipFill>
        <p:spPr>
          <a:xfrm>
            <a:off x="2063833" y="1097280"/>
            <a:ext cx="8064030"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Our post-transplant view</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sp>
        <p:nvSpPr>
          <p:cNvPr id="4" name="Text 2"/>
          <p:cNvSpPr txBox="1"/>
          <p:nvPr/>
        </p:nvSpPr>
        <p:spPr>
          <a:xfrm>
            <a:off x="9082735" y="73152"/>
            <a:ext cx="2788920" cy="274320"/>
          </a:xfrm>
          <a:prstGeom prst="rect">
            <a:avLst/>
          </a:prstGeom>
          <a:noFill/>
          <a:ln/>
        </p:spPr>
        <p:txBody>
          <a:bodyPr wrap="square" lIns="0" tIns="0" rIns="0" bIns="0" rtlCol="0" anchor="ctr"/>
          <a:lstStyle/>
          <a:p>
            <a:pPr algn="r" indent="0" marL="0">
              <a:buNone/>
            </a:pPr>
            <a:r>
              <a:rPr lang="en-US" sz="1100" dirty="0">
                <a:solidFill>
                  <a:srgbClr val="8C8C8C"/>
                </a:solidFill>
                <a:latin typeface="Georgia" pitchFamily="34" charset="0"/>
                <a:ea typeface="Georgia" pitchFamily="34" charset="-122"/>
                <a:cs typeface="Georgia" pitchFamily="34" charset="-120"/>
              </a:rPr>
              <a:t>Scrolling, 3 of 3</a:t>
            </a:r>
            <a:endParaRPr lang="en-US" sz="1100" dirty="0"/>
          </a:p>
        </p:txBody>
      </p:sp>
      <p:pic>
        <p:nvPicPr>
          <p:cNvPr id="5" name="Image 0" descr="Mock Synopsis view, screenful 3">    </p:cNvPr>
          <p:cNvPicPr>
            <a:picLocks noChangeAspect="1"/>
          </p:cNvPicPr>
          <p:nvPr/>
        </p:nvPicPr>
        <p:blipFill>
          <a:blip r:embed="rId1"/>
          <a:stretch>
            <a:fillRect/>
          </a:stretch>
        </p:blipFill>
        <p:spPr>
          <a:xfrm>
            <a:off x="2271086" y="1097280"/>
            <a:ext cx="7649524" cy="516636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Built from our transplant center's views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11/26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search</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search for EGD with a preview of the procedure note">    </p:cNvPr>
          <p:cNvPicPr>
            <a:picLocks noChangeAspect="1"/>
          </p:cNvPicPr>
          <p:nvPr/>
        </p:nvPicPr>
        <p:blipFill>
          <a:blip r:embed="rId1"/>
          <a:stretch>
            <a:fillRect/>
          </a:stretch>
        </p:blipFill>
        <p:spPr>
          <a:xfrm>
            <a:off x="1966784" y="1143000"/>
            <a:ext cx="8258128" cy="457200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Searches notes, results, media and outside records. Hover to read. Save the searches you repeat.</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chart search tip sheet,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search does more</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search for hep B showing related medications, results and problems">    </p:cNvPr>
          <p:cNvPicPr>
            <a:picLocks noChangeAspect="1"/>
          </p:cNvPicPr>
          <p:nvPr/>
        </p:nvPicPr>
        <p:blipFill>
          <a:blip r:embed="rId1"/>
          <a:stretch>
            <a:fillRect/>
          </a:stretch>
        </p:blipFill>
        <p:spPr>
          <a:xfrm>
            <a:off x="2913911" y="1143000"/>
            <a:ext cx="6363872" cy="452628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Type hepatitis b: it also offers entecavir and tenofovir</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Specialist Spotlight: Search Tips for Hepatologists, November 2025; Epic Assistant Bar and Chart Search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search does more</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search for ALT with a 10-year trend graph">    </p:cNvPr>
          <p:cNvPicPr>
            <a:picLocks noChangeAspect="1"/>
          </p:cNvPicPr>
          <p:nvPr/>
        </p:nvPicPr>
        <p:blipFill>
          <a:blip r:embed="rId1"/>
          <a:stretch>
            <a:fillRect/>
          </a:stretch>
        </p:blipFill>
        <p:spPr>
          <a:xfrm>
            <a:off x="3064198" y="1143000"/>
            <a:ext cx="6063299" cy="452628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Type trend alt 10 years: the graph opens in the search box</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Specialist Spotlight: Search Tips for Hepatologists, November 2025; Epic Assistant Bar and Chart Search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search does more</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search for elastography finding the words inside a scanned outside fax, highlighted in a preview">    </p:cNvPr>
          <p:cNvPicPr>
            <a:picLocks noChangeAspect="1"/>
          </p:cNvPicPr>
          <p:nvPr/>
        </p:nvPicPr>
        <p:blipFill>
          <a:blip r:embed="rId1"/>
          <a:stretch>
            <a:fillRect/>
          </a:stretch>
        </p:blipFill>
        <p:spPr>
          <a:xfrm>
            <a:off x="2600199" y="1143000"/>
            <a:ext cx="6991296" cy="452628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Scanned faxes are searchable too: it reads the text (OCR)</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Specialist Spotlight: Search Tips for Hepatologists, November 2025; Epic Assistant Bar and Chart Search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search does more</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search doing the calculation 80 x 13 = 1,040">    </p:cNvPr>
          <p:cNvPicPr>
            <a:picLocks noChangeAspect="1"/>
          </p:cNvPicPr>
          <p:nvPr/>
        </p:nvPicPr>
        <p:blipFill>
          <a:blip r:embed="rId1"/>
          <a:stretch>
            <a:fillRect/>
          </a:stretch>
        </p:blipFill>
        <p:spPr>
          <a:xfrm>
            <a:off x="822960" y="1143000"/>
            <a:ext cx="10545775" cy="3929824"/>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Ursodiol for PBC: 80 kg x 13 mg/kg, typed straight in</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Specialist Spotlight: Search Tips for Hepatologists, November 2025; Epic Assistant Bar and Chart Search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12/26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Review quick filters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Review Notes tab showing all 214 notes, quick filter buttons above the list">    </p:cNvPr>
          <p:cNvPicPr>
            <a:picLocks noChangeAspect="1"/>
          </p:cNvPicPr>
          <p:nvPr/>
        </p:nvPicPr>
        <p:blipFill>
          <a:blip r:embed="rId1"/>
          <a:stretch>
            <a:fillRect/>
          </a:stretch>
        </p:blipFill>
        <p:spPr>
          <a:xfrm>
            <a:off x="1870068" y="1143000"/>
            <a:ext cx="8451560" cy="452628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Notes tab, no filter: 214 notes</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Chart Review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Chart Review quick filters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Finding information</a:t>
            </a:r>
            <a:endParaRPr lang="en-US" sz="1100" dirty="0"/>
          </a:p>
        </p:txBody>
      </p:sp>
      <p:pic>
        <p:nvPicPr>
          <p:cNvPr id="4" name="Image 0" descr="Mock Chart Review Notes tab with a Hepatology quick filter applied, 7 notes, four from outside organizations">    </p:cNvPr>
          <p:cNvPicPr>
            <a:picLocks noChangeAspect="1"/>
          </p:cNvPicPr>
          <p:nvPr/>
        </p:nvPicPr>
        <p:blipFill>
          <a:blip r:embed="rId1"/>
          <a:stretch>
            <a:fillRect/>
          </a:stretch>
        </p:blipFill>
        <p:spPr>
          <a:xfrm>
            <a:off x="941936" y="1143000"/>
            <a:ext cx="10307824" cy="4526280"/>
          </a:xfrm>
          <a:prstGeom prst="rect">
            <a:avLst/>
          </a:prstGeom>
        </p:spPr>
      </p:pic>
      <p:sp>
        <p:nvSpPr>
          <p:cNvPr id="5" name="Text 2"/>
          <p:cNvSpPr txBox="1"/>
          <p:nvPr/>
        </p:nvSpPr>
        <p:spPr>
          <a:xfrm>
            <a:off x="822960" y="5760720"/>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One click on our Hepatology quick filter: 7 notes, outside ones included</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Chart Review Setup and Support Guide, 2026</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13/26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SmartPhrases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Notes and orders</a:t>
            </a:r>
            <a:endParaRPr lang="en-US" sz="1100" dirty="0"/>
          </a:p>
        </p:txBody>
      </p:sp>
      <p:pic>
        <p:nvPicPr>
          <p:cNvPr id="4" name="Image 0" descr="Mock note with a SmartPhrase being typed">    </p:cNvPr>
          <p:cNvPicPr>
            <a:picLocks noChangeAspect="1"/>
          </p:cNvPicPr>
          <p:nvPr/>
        </p:nvPicPr>
        <p:blipFill>
          <a:blip r:embed="rId1"/>
          <a:stretch>
            <a:fillRect/>
          </a:stretch>
        </p:blipFill>
        <p:spPr>
          <a:xfrm>
            <a:off x="365760" y="1188720"/>
            <a:ext cx="7680960" cy="4322773"/>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SmartTools Setup and Support Guide, 2026; Epic, How to Personalize Epic</a:t>
            </a:r>
            <a:endParaRPr lang="en-US" sz="1000" dirty="0"/>
          </a:p>
        </p:txBody>
      </p:sp>
      <p:sp>
        <p:nvSpPr>
          <p:cNvPr id="7"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SmartPhrases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Notes and orders</a:t>
            </a:r>
            <a:endParaRPr lang="en-US" sz="1100" dirty="0"/>
          </a:p>
        </p:txBody>
      </p:sp>
      <p:pic>
        <p:nvPicPr>
          <p:cNvPr id="4" name="Image 0" descr="Mock note after the SmartPhrase expanded, with linked data">    </p:cNvPr>
          <p:cNvPicPr>
            <a:picLocks noChangeAspect="1"/>
          </p:cNvPicPr>
          <p:nvPr/>
        </p:nvPicPr>
        <p:blipFill>
          <a:blip r:embed="rId1"/>
          <a:stretch>
            <a:fillRect/>
          </a:stretch>
        </p:blipFill>
        <p:spPr>
          <a:xfrm>
            <a:off x="365760" y="1188720"/>
            <a:ext cx="7680960" cy="4322773"/>
          </a:xfrm>
          <a:prstGeom prst="rect">
            <a:avLst/>
          </a:prstGeom>
        </p:spPr>
      </p:pic>
      <p:sp>
        <p:nvSpPr>
          <p:cNvPr id="5" name="Body"/>
          <p:cNvSpPr txBox="1"/>
          <p:nvPr/>
        </p:nvSpPr>
        <p:spPr>
          <a:xfrm>
            <a:off x="8229600" y="1463040"/>
            <a:ext cx="3566160" cy="457200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Blue fields are pulled from the chart</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 } lists are one click</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 has to be filled before you sign</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Share yours with colleagues, or use theirs</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SmartTools Setup and Support Guide, 2026; Epic, How to Personalize Epic</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14/26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Orders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Notes and orders</a:t>
            </a:r>
            <a:endParaRPr lang="en-US" sz="1100" dirty="0"/>
          </a:p>
        </p:txBody>
      </p:sp>
      <p:pic>
        <p:nvPicPr>
          <p:cNvPr id="4" name="Image 0" descr="Mock order search showing personal preference list sections and a Follow Users button">    </p:cNvPr>
          <p:cNvPicPr>
            <a:picLocks noChangeAspect="1"/>
          </p:cNvPicPr>
          <p:nvPr/>
        </p:nvPicPr>
        <p:blipFill>
          <a:blip r:embed="rId1"/>
          <a:stretch>
            <a:fillRect/>
          </a:stretch>
        </p:blipFill>
        <p:spPr>
          <a:xfrm>
            <a:off x="365760" y="1188720"/>
            <a:ext cx="6035040" cy="4116207"/>
          </a:xfrm>
          <a:prstGeom prst="rect">
            <a:avLst/>
          </a:prstGeom>
        </p:spPr>
      </p:pic>
      <p:pic>
        <p:nvPicPr>
          <p:cNvPr id="5" name="Image 1" descr="Mock order set for a new cirrhosis visit, saved as a personal version">    </p:cNvPr>
          <p:cNvPicPr>
            <a:picLocks noChangeAspect="1"/>
          </p:cNvPicPr>
          <p:nvPr/>
        </p:nvPicPr>
        <p:blipFill>
          <a:blip r:embed="rId2"/>
          <a:stretch>
            <a:fillRect/>
          </a:stretch>
        </p:blipFill>
        <p:spPr>
          <a:xfrm>
            <a:off x="6675120" y="1188720"/>
            <a:ext cx="5120640" cy="4106753"/>
          </a:xfrm>
          <a:prstGeom prst="rect">
            <a:avLst/>
          </a:prstGeom>
        </p:spPr>
      </p:pic>
      <p:sp>
        <p:nvSpPr>
          <p:cNvPr id="6" name="Text 2"/>
          <p:cNvSpPr txBox="1"/>
          <p:nvPr/>
        </p:nvSpPr>
        <p:spPr>
          <a:xfrm>
            <a:off x="365760" y="5442087"/>
            <a:ext cx="6035040" cy="685800"/>
          </a:xfrm>
          <a:prstGeom prst="rect">
            <a:avLst/>
          </a:prstGeom>
          <a:noFill/>
          <a:ln/>
        </p:spPr>
        <p:txBody>
          <a:bodyPr wrap="square" lIns="0" tIns="0" rIns="0" bIns="0" rtlCol="0" anchor="ctr"/>
          <a:lstStyle/>
          <a:p>
            <a:pPr algn="ctr" indent="0" marL="0">
              <a:buNone/>
            </a:pPr>
            <a:r>
              <a:rPr lang="en-US" sz="1800" dirty="0">
                <a:solidFill>
                  <a:srgbClr val="000000"/>
                </a:solidFill>
                <a:latin typeface="Georgia" pitchFamily="34" charset="0"/>
                <a:ea typeface="Georgia" pitchFamily="34" charset="-122"/>
                <a:cs typeface="Georgia" pitchFamily="34" charset="-120"/>
              </a:rPr>
              <a:t>Star an order to put it on your preference list. Follow up to 3 colleagues' lists.</a:t>
            </a:r>
            <a:endParaRPr lang="en-US" sz="1800" dirty="0"/>
          </a:p>
        </p:txBody>
      </p:sp>
      <p:sp>
        <p:nvSpPr>
          <p:cNvPr id="7" name="Text 3"/>
          <p:cNvSpPr txBox="1"/>
          <p:nvPr/>
        </p:nvSpPr>
        <p:spPr>
          <a:xfrm>
            <a:off x="6675120" y="5432633"/>
            <a:ext cx="5120640" cy="411480"/>
          </a:xfrm>
          <a:prstGeom prst="rect">
            <a:avLst/>
          </a:prstGeom>
          <a:noFill/>
          <a:ln/>
        </p:spPr>
        <p:txBody>
          <a:bodyPr wrap="square" lIns="0" tIns="0" rIns="0" bIns="0" rtlCol="0" anchor="ctr"/>
          <a:lstStyle/>
          <a:p>
            <a:pPr algn="ctr" indent="0" marL="0">
              <a:buNone/>
            </a:pPr>
            <a:r>
              <a:rPr lang="en-US" sz="1800" dirty="0">
                <a:solidFill>
                  <a:srgbClr val="000000"/>
                </a:solidFill>
                <a:latin typeface="Georgia" pitchFamily="34" charset="0"/>
                <a:ea typeface="Georgia" pitchFamily="34" charset="-122"/>
                <a:cs typeface="Georgia" pitchFamily="34" charset="-120"/>
              </a:rPr>
              <a:t>Save your own version of an order set</a:t>
            </a:r>
            <a:endParaRPr lang="en-US" sz="18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Preference Lists Setup and Support Guide, 2026; Epic, How to Personalize Epic</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15/26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After March 2020</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In Basket</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Which group's EHR time grew most after March 2020?</a:t>
            </a:r>
            <a:endParaRPr lang="en-US" sz="2000" dirty="0"/>
          </a:p>
        </p:txBody>
      </p:sp>
      <p:graphicFrame>
        <p:nvGraphicFramePr>
          <p:cNvPr id="5" name="Chart 0" descr=""/>
          <p:cNvGraphicFramePr/>
          <p:nvPr/>
        </p:nvGraphicFramePr>
        <p:xfrm>
          <a:off x="1737360" y="1645920"/>
          <a:ext cx="8686800" cy="3931920"/>
        </p:xfrm>
        <a:graphic xmlns:a="http://schemas.openxmlformats.org/drawingml/2006/main">
          <a:graphicData uri="http://schemas.openxmlformats.org/drawingml/2006/chart">
            <c:chart xmlns:c="http://schemas.openxmlformats.org/drawingml/2006/chart" r:id="rId1"/>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Holmgren AJ et al. JAMA Intern Med 2025;185:461-3. Epic Signal data, 280,712 physicians, 2019 to 2022 [PMID: 39992635]</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After March 2020</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In Basket</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Which group's EHR time grew most after March 2020?</a:t>
            </a:r>
            <a:endParaRPr lang="en-US" sz="2000" dirty="0"/>
          </a:p>
        </p:txBody>
      </p:sp>
      <p:graphicFrame>
        <p:nvGraphicFramePr>
          <p:cNvPr id="5" name="Chart 0" descr=""/>
          <p:cNvGraphicFramePr/>
          <p:nvPr/>
        </p:nvGraphicFramePr>
        <p:xfrm>
          <a:off x="1737360" y="1645920"/>
          <a:ext cx="86868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22960" y="5669280"/>
            <a:ext cx="10545775" cy="45720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Patient messages jumped in March 2020 and stayed high. Phone calls went back to baseline.</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Holmgren AJ et al. JAMA Intern Med 2025;185:461-3. Epic Signal data, 280,712 physicians, 2019 to 2022 [PMID: 39992635]</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16/26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 Basket tools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In Basket</a:t>
            </a:r>
            <a:endParaRPr lang="en-US" sz="1100" dirty="0"/>
          </a:p>
        </p:txBody>
      </p:sp>
      <p:pic>
        <p:nvPicPr>
          <p:cNvPr id="4" name="Image 0" descr="Mock In Basket with a normal AFP result and QuickAction buttons">    </p:cNvPr>
          <p:cNvPicPr>
            <a:picLocks noChangeAspect="1"/>
          </p:cNvPicPr>
          <p:nvPr/>
        </p:nvPicPr>
        <p:blipFill>
          <a:blip r:embed="rId1"/>
          <a:stretch>
            <a:fillRect/>
          </a:stretch>
        </p:blipFill>
        <p:spPr>
          <a:xfrm>
            <a:off x="1093666" y="1143000"/>
            <a:ext cx="10004364" cy="4526280"/>
          </a:xfrm>
          <a:prstGeom prst="rect">
            <a:avLst/>
          </a:prstGeom>
        </p:spPr>
      </p:pic>
      <p:sp>
        <p:nvSpPr>
          <p:cNvPr id="5" name="Text 2"/>
          <p:cNvSpPr txBox="1"/>
          <p:nvPr/>
        </p:nvSpPr>
        <p:spPr>
          <a:xfrm>
            <a:off x="822960" y="5715000"/>
            <a:ext cx="10545775" cy="457200"/>
          </a:xfrm>
          <a:prstGeom prst="rect">
            <a:avLst/>
          </a:prstGeom>
          <a:noFill/>
          <a:ln/>
        </p:spPr>
        <p:txBody>
          <a:bodyPr wrap="square" lIns="0" tIns="0" rIns="0" bIns="0" rtlCol="0" anchor="ctr"/>
          <a:lstStyle/>
          <a:p>
            <a:pPr algn="ctr" indent="0" marL="0">
              <a:buNone/>
            </a:pPr>
            <a:r>
              <a:rPr lang="en-US" sz="1900" dirty="0">
                <a:solidFill>
                  <a:srgbClr val="000000"/>
                </a:solidFill>
                <a:latin typeface="Georgia" pitchFamily="34" charset="0"/>
                <a:ea typeface="Georgia" pitchFamily="34" charset="-122"/>
                <a:cs typeface="Georgia" pitchFamily="34" charset="-120"/>
              </a:rPr>
              <a:t>QuickActions for normal results, result notes from a SmartPhrase, out of contact when you're away</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In Basket Guide for Providers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17/26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AI tools in Epic</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AI in the chart</a:t>
            </a:r>
            <a:endParaRPr lang="en-US" sz="1100" dirty="0"/>
          </a:p>
        </p:txBody>
      </p:sp>
      <p:graphicFrame>
        <p:nvGraphicFramePr>
          <p:cNvPr id="36" name="Table"/>
          <p:cNvGraphicFramePr>
            <a:graphicFrameLocks noGrp="1"/>
          </p:cNvGraphicFramePr>
          <p:nvPr>
            <p:extLst>
              <p:ext uri="{D42A27DB-BD31-4B8C-83A1-F6EECF244321}">
                <p14:modId xmlns:p14="http://schemas.microsoft.com/office/powerpoint/2010/main" val="1579011935"/>
              </p:ext>
            </p:extLst>
          </p:nvPr>
        </p:nvGraphicFramePr>
        <p:xfrm>
          <a:off x="914400" y="1371600"/>
          <a:ext cx="10362895" cy="914400"/>
        </p:xfrm>
        <a:graphic>
          <a:graphicData uri="http://schemas.openxmlformats.org/drawingml/2006/table">
            <a:tbl>
              <a:tblPr/>
              <a:tblGrid>
                <a:gridCol w="3227832"/>
                <a:gridCol w="5394960"/>
                <a:gridCol w="1737360"/>
              </a:tblGrid>
              <a:tr h="475488">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Tool</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What it does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Epic version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 Basket drafts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Drafts a reply to a patient message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Nov 2023</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Insights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Summarizes recent notes before a visit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Feb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Synopsis Insights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Shows why a medication was changed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Aug 2025</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Chart with Art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Drafts the note from the visit conversation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May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Ask Art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Answers questions about the chart</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May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75488">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Chart with Art for orders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Queues orders from the conversation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Aug 2026</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22960" y="5257800"/>
            <a:ext cx="10545775" cy="457200"/>
          </a:xfrm>
          <a:prstGeom prst="rect">
            <a:avLst/>
          </a:prstGeom>
          <a:noFill/>
          <a:ln/>
        </p:spPr>
        <p:txBody>
          <a:bodyPr wrap="square" lIns="0" tIns="0" rIns="0" bIns="0" rtlCol="0" anchor="ctr"/>
          <a:lstStyle/>
          <a:p>
            <a:pPr algn="ctr" indent="0" marL="0">
              <a:buNone/>
            </a:pPr>
            <a:r>
              <a:rPr lang="en-US" sz="1900" i="1" dirty="0">
                <a:solidFill>
                  <a:srgbClr val="000000"/>
                </a:solidFill>
                <a:latin typeface="Georgia" pitchFamily="34" charset="0"/>
                <a:ea typeface="Georgia" pitchFamily="34" charset="-122"/>
                <a:cs typeface="Georgia" pitchFamily="34" charset="-120"/>
              </a:rPr>
              <a:t>What you have depends on your organization's version and what it turned on</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Epic Generative AI Feature Library, 2026. Art is Epic's AI for clinicians</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18/26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 AI drafts save time?</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AI in the chart</a:t>
            </a:r>
            <a:endParaRPr lang="en-US" sz="1100" dirty="0"/>
          </a:p>
        </p:txBody>
      </p:sp>
      <p:pic>
        <p:nvPicPr>
          <p:cNvPr id="4" name="Image 0" descr="Tai-Seale et al., JAMA Network Open 2024: title">    </p:cNvPr>
          <p:cNvPicPr>
            <a:picLocks noChangeAspect="1"/>
          </p:cNvPicPr>
          <p:nvPr/>
        </p:nvPicPr>
        <p:blipFill>
          <a:blip r:embed="rId1"/>
          <a:stretch>
            <a:fillRect/>
          </a:stretch>
        </p:blipFill>
        <p:spPr>
          <a:xfrm>
            <a:off x="2658641" y="1143000"/>
            <a:ext cx="6874412" cy="1828800"/>
          </a:xfrm>
          <a:prstGeom prst="rect">
            <a:avLst/>
          </a:prstGeom>
        </p:spPr>
      </p:pic>
      <p:graphicFrame>
        <p:nvGraphicFramePr>
          <p:cNvPr id="5" name="Chart 0" descr=""/>
          <p:cNvGraphicFramePr/>
          <p:nvPr/>
        </p:nvGraphicFramePr>
        <p:xfrm>
          <a:off x="2194560" y="3108960"/>
          <a:ext cx="7772400" cy="3154680"/>
        </p:xfrm>
        <a:graphic xmlns:a="http://schemas.openxmlformats.org/drawingml/2006/main">
          <a:graphicData uri="http://schemas.openxmlformats.org/drawingml/2006/chart">
            <c:chart xmlns:c="http://schemas.openxmlformats.org/drawingml/2006/chart" r:id="rId2"/>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Tai-Seale M et al. JAMA Netw Open 2024;7:e246565. 52 primary care physicians, UC San Diego. Reply time change not significant (P=.33)</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19/26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Ambient notes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AI in the chart</a:t>
            </a:r>
            <a:endParaRPr lang="en-US" sz="11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1463040" y="1737360"/>
          <a:ext cx="9265615" cy="914400"/>
        </p:xfrm>
        <a:graphic>
          <a:graphicData uri="http://schemas.openxmlformats.org/drawingml/2006/table">
            <a:tbl>
              <a:tblPr/>
              <a:tblGrid>
                <a:gridCol w="1225296"/>
                <a:gridCol w="4645152"/>
                <a:gridCol w="3392424"/>
              </a:tblGrid>
              <a:tr h="523037">
                <a:tc>
                  <a:txBody>
                    <a:bodyPr/>
                    <a:lstStyle/>
                    <a:p>
                      <a:pPr algn="l" indent="0" marL="0">
                        <a:buNone/>
                      </a:pP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Time in notes vs usual care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Burnout scores</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23037">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Nabla</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b="1" dirty="0">
                          <a:solidFill>
                            <a:srgbClr val="000000"/>
                          </a:solidFill>
                          <a:latin typeface="Calibri" pitchFamily="34" charset="0"/>
                          <a:ea typeface="Calibri" pitchFamily="34" charset="-122"/>
                          <a:cs typeface="Calibri" pitchFamily="34" charset="-120"/>
                        </a:rPr>
                        <a:t>9.5% less (P=.02)</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Small improvement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23037">
                <a:tc>
                  <a:txBody>
                    <a:bodyPr/>
                    <a:lstStyle/>
                    <a:p>
                      <a:pPr algn="l" indent="0" marL="0">
                        <a:buNone/>
                      </a:pPr>
                      <a:r>
                        <a:rPr lang="en-US" sz="2200" dirty="0">
                          <a:solidFill>
                            <a:srgbClr val="000000"/>
                          </a:solidFill>
                          <a:latin typeface="Calibri" pitchFamily="34" charset="0"/>
                          <a:ea typeface="Calibri" pitchFamily="34" charset="-122"/>
                          <a:cs typeface="Calibri" pitchFamily="34" charset="-120"/>
                        </a:rPr>
                        <a:t>DAX</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No significant change</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000000"/>
                          </a:solidFill>
                          <a:latin typeface="Calibri" pitchFamily="34" charset="0"/>
                          <a:ea typeface="Calibri" pitchFamily="34" charset="-122"/>
                          <a:cs typeface="Calibri" pitchFamily="34" charset="-120"/>
                        </a:rPr>
                        <a:t>Small improvement</a:t>
                      </a:r>
                      <a:endParaRPr lang="en-US" sz="22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22960" y="4023360"/>
            <a:ext cx="10545775" cy="457200"/>
          </a:xfrm>
          <a:prstGeom prst="rect">
            <a:avLst/>
          </a:prstGeom>
          <a:noFill/>
          <a:ln/>
        </p:spPr>
        <p:txBody>
          <a:bodyPr wrap="square" lIns="0" tIns="0" rIns="0" bIns="0" rtlCol="0" anchor="ctr"/>
          <a:lstStyle/>
          <a:p>
            <a:pPr algn="ctr" indent="0" marL="0">
              <a:buNone/>
            </a:pPr>
            <a:r>
              <a:rPr lang="en-US" sz="2200" i="1" dirty="0">
                <a:solidFill>
                  <a:srgbClr val="000000"/>
                </a:solidFill>
                <a:latin typeface="Georgia" pitchFamily="34" charset="0"/>
                <a:ea typeface="Georgia" pitchFamily="34" charset="-122"/>
                <a:cs typeface="Georgia" pitchFamily="34" charset="-120"/>
              </a:rPr>
              <a:t>Nizar covered this in detail</a:t>
            </a:r>
            <a:endParaRPr lang="en-US" sz="22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Lukac PJ et al. UCLA randomized trial of two ambient scribes, medRxiv 2025 (preprint; check the NEJM AI version before quoting)</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20/26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For transplant teams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AI in the chart</a:t>
            </a:r>
            <a:endParaRPr lang="en-US" sz="1100" dirty="0"/>
          </a:p>
        </p:txBody>
      </p:sp>
      <p:pic>
        <p:nvPicPr>
          <p:cNvPr id="4" name="Image 0" descr="Mock AI summary of concerns for transplant committee review, with references">    </p:cNvPr>
          <p:cNvPicPr>
            <a:picLocks noChangeAspect="1"/>
          </p:cNvPicPr>
          <p:nvPr/>
        </p:nvPicPr>
        <p:blipFill>
          <a:blip r:embed="rId1"/>
          <a:stretch>
            <a:fillRect/>
          </a:stretch>
        </p:blipFill>
        <p:spPr>
          <a:xfrm>
            <a:off x="365760" y="1188720"/>
            <a:ext cx="5760720" cy="3353562"/>
          </a:xfrm>
          <a:prstGeom prst="rect">
            <a:avLst/>
          </a:prstGeom>
        </p:spPr>
      </p:pic>
      <p:pic>
        <p:nvPicPr>
          <p:cNvPr id="5" name="Image 1" descr="Mock list of waitlisted patients with new labs ready to submit to UNOS">    </p:cNvPr>
          <p:cNvPicPr>
            <a:picLocks noChangeAspect="1"/>
          </p:cNvPicPr>
          <p:nvPr/>
        </p:nvPicPr>
        <p:blipFill>
          <a:blip r:embed="rId2"/>
          <a:stretch>
            <a:fillRect/>
          </a:stretch>
        </p:blipFill>
        <p:spPr>
          <a:xfrm>
            <a:off x="6309360" y="1188720"/>
            <a:ext cx="5486400" cy="2488474"/>
          </a:xfrm>
          <a:prstGeom prst="rect">
            <a:avLst/>
          </a:prstGeom>
        </p:spPr>
      </p:pic>
      <p:sp>
        <p:nvSpPr>
          <p:cNvPr id="6" name="Text 2"/>
          <p:cNvSpPr txBox="1"/>
          <p:nvPr/>
        </p:nvSpPr>
        <p:spPr>
          <a:xfrm>
            <a:off x="365760" y="4725162"/>
            <a:ext cx="5760720" cy="411480"/>
          </a:xfrm>
          <a:prstGeom prst="rect">
            <a:avLst/>
          </a:prstGeom>
          <a:noFill/>
          <a:ln/>
        </p:spPr>
        <p:txBody>
          <a:bodyPr wrap="square" lIns="0" tIns="0" rIns="0" bIns="0" rtlCol="0" anchor="ctr"/>
          <a:lstStyle/>
          <a:p>
            <a:pPr algn="ctr" indent="0" marL="0">
              <a:buNone/>
            </a:pPr>
            <a:r>
              <a:rPr lang="en-US" sz="1800" dirty="0">
                <a:solidFill>
                  <a:srgbClr val="000000"/>
                </a:solidFill>
                <a:latin typeface="Georgia" pitchFamily="34" charset="0"/>
                <a:ea typeface="Georgia" pitchFamily="34" charset="-122"/>
                <a:cs typeface="Georgia" pitchFamily="34" charset="-120"/>
              </a:rPr>
              <a:t>Committee prep: 15 to 5 minutes per case</a:t>
            </a:r>
            <a:endParaRPr lang="en-US" sz="1800" dirty="0"/>
          </a:p>
        </p:txBody>
      </p:sp>
      <p:sp>
        <p:nvSpPr>
          <p:cNvPr id="7" name="Text 3"/>
          <p:cNvSpPr txBox="1"/>
          <p:nvPr/>
        </p:nvSpPr>
        <p:spPr>
          <a:xfrm>
            <a:off x="6309360" y="3860074"/>
            <a:ext cx="5486400" cy="411480"/>
          </a:xfrm>
          <a:prstGeom prst="rect">
            <a:avLst/>
          </a:prstGeom>
          <a:noFill/>
          <a:ln/>
        </p:spPr>
        <p:txBody>
          <a:bodyPr wrap="square" lIns="0" tIns="0" rIns="0" bIns="0" rtlCol="0" anchor="ctr"/>
          <a:lstStyle/>
          <a:p>
            <a:pPr algn="ctr" indent="0" marL="0">
              <a:buNone/>
            </a:pPr>
            <a:r>
              <a:rPr lang="en-US" sz="1800" dirty="0">
                <a:solidFill>
                  <a:srgbClr val="000000"/>
                </a:solidFill>
                <a:latin typeface="Georgia" pitchFamily="34" charset="0"/>
                <a:ea typeface="Georgia" pitchFamily="34" charset="-122"/>
                <a:cs typeface="Georgia" pitchFamily="34" charset="-120"/>
              </a:rPr>
              <a:t>MELD labs to UNOS in bulk: 100 hours a year</a:t>
            </a:r>
            <a:endParaRPr lang="en-US" sz="1800" dirty="0"/>
          </a:p>
        </p:txBody>
      </p:sp>
      <p:sp>
        <p:nvSpPr>
          <p:cNvPr id="8"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Time savings are Epic's own estimates per transplant center (Epic UGM 2025), not studies</a:t>
            </a:r>
            <a:endParaRPr lang="en-US" sz="1000" dirty="0"/>
          </a:p>
        </p:txBody>
      </p:sp>
      <p:sp>
        <p:nvSpPr>
          <p:cNvPr id="10"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21/26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Where does the time go?</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Measure yourself</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For every 8 hours of scheduled patient care, how many hours in the EHR?</a:t>
            </a:r>
            <a:endParaRPr lang="en-US" sz="2000" dirty="0"/>
          </a:p>
        </p:txBody>
      </p:sp>
      <p:graphicFrame>
        <p:nvGraphicFramePr>
          <p:cNvPr id="5" name="Chart 0" descr=""/>
          <p:cNvGraphicFramePr/>
          <p:nvPr/>
        </p:nvGraphicFramePr>
        <p:xfrm>
          <a:off x="822960" y="1645920"/>
          <a:ext cx="10545775" cy="3383280"/>
        </p:xfrm>
        <a:graphic xmlns:a="http://schemas.openxmlformats.org/drawingml/2006/main">
          <a:graphicData uri="http://schemas.openxmlformats.org/drawingml/2006/chart">
            <c:chart xmlns:c="http://schemas.openxmlformats.org/drawingml/2006/chart" r:id="rId1"/>
          </a:graphicData>
        </a:graphic>
      </p:graphicFrame>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Holmgren AJ et al. J Gen Intern Med 2024;39:2868-70. Epic Signal data, 200,081 ambulatory physicians. doi:10.1007/s11606-024-08930-4</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22/26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Where does the time go?</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Measure yourself</a:t>
            </a:r>
            <a:endParaRPr lang="en-US" sz="1100" dirty="0"/>
          </a:p>
        </p:txBody>
      </p:sp>
      <p:sp>
        <p:nvSpPr>
          <p:cNvPr id="4" name="Sub"/>
          <p:cNvSpPr txBox="1"/>
          <p:nvPr/>
        </p:nvSpPr>
        <p:spPr>
          <a:xfrm>
            <a:off x="822960" y="1024128"/>
            <a:ext cx="10545775" cy="457200"/>
          </a:xfrm>
          <a:prstGeom prst="rect">
            <a:avLst/>
          </a:prstGeom>
          <a:noFill/>
          <a:ln/>
        </p:spPr>
        <p:txBody>
          <a:bodyPr wrap="square" lIns="0" tIns="0" rIns="0" bIns="0" rtlCol="0" anchor="ctr"/>
          <a:lstStyle/>
          <a:p>
            <a:pPr algn="ctr" indent="0" marL="0">
              <a:buNone/>
            </a:pPr>
            <a:r>
              <a:rPr lang="en-US" sz="2000" dirty="0">
                <a:solidFill>
                  <a:srgbClr val="000000"/>
                </a:solidFill>
                <a:latin typeface="Georgia" pitchFamily="34" charset="0"/>
                <a:ea typeface="Georgia" pitchFamily="34" charset="-122"/>
                <a:cs typeface="Georgia" pitchFamily="34" charset="-120"/>
              </a:rPr>
              <a:t>For every 8 hours of scheduled patient care, how many hours in the EHR?</a:t>
            </a:r>
            <a:endParaRPr lang="en-US" sz="2000" dirty="0"/>
          </a:p>
        </p:txBody>
      </p:sp>
      <p:graphicFrame>
        <p:nvGraphicFramePr>
          <p:cNvPr id="5" name="Chart 0" descr=""/>
          <p:cNvGraphicFramePr/>
          <p:nvPr/>
        </p:nvGraphicFramePr>
        <p:xfrm>
          <a:off x="822960" y="1645920"/>
          <a:ext cx="10545775"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22960" y="5257800"/>
            <a:ext cx="10545775" cy="45720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5.8 hours</a:t>
            </a:r>
            <a:r>
              <a:rPr lang="en-US" sz="2200" dirty="0">
                <a:solidFill>
                  <a:srgbClr val="000000"/>
                </a:solidFill>
                <a:latin typeface="Georgia" pitchFamily="34" charset="0"/>
                <a:ea typeface="Georgia" pitchFamily="34" charset="-122"/>
                <a:cs typeface="Georgia" pitchFamily="34" charset="-120"/>
              </a:rPr>
              <a:t>, and 42% of it outside clinic hours</a:t>
            </a:r>
            <a:endParaRPr lang="en-US" sz="22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Holmgren AJ et al. J Gen Intern Med 2024;39:2868-70. Epic Signal data, 200,081 ambulatory physicians. doi:10.1007/s11606-024-08930-4</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22/26</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Hepatologists</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Measure yourself</a:t>
            </a:r>
            <a:endParaRPr lang="en-US" sz="1100" dirty="0"/>
          </a:p>
        </p:txBody>
      </p:sp>
      <p:pic>
        <p:nvPicPr>
          <p:cNvPr id="4" name="Image 0" descr="Bali et al., Digestive Diseases and Sciences 2026: title">    </p:cNvPr>
          <p:cNvPicPr>
            <a:picLocks noChangeAspect="1"/>
          </p:cNvPicPr>
          <p:nvPr/>
        </p:nvPicPr>
        <p:blipFill>
          <a:blip r:embed="rId1"/>
          <a:stretch>
            <a:fillRect/>
          </a:stretch>
        </p:blipFill>
        <p:spPr>
          <a:xfrm>
            <a:off x="3025005" y="1097280"/>
            <a:ext cx="6141684" cy="1828800"/>
          </a:xfrm>
          <a:prstGeom prst="rect">
            <a:avLst/>
          </a:prstGeom>
        </p:spPr>
      </p:pic>
      <p:graphicFrame>
        <p:nvGraphicFramePr>
          <p:cNvPr id="5" name="Chart 0" descr=""/>
          <p:cNvGraphicFramePr/>
          <p:nvPr/>
        </p:nvGraphicFramePr>
        <p:xfrm>
          <a:off x="1463040" y="3017520"/>
          <a:ext cx="9235440" cy="278892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22960" y="5852160"/>
            <a:ext cx="10545775" cy="365760"/>
          </a:xfrm>
          <a:prstGeom prst="rect">
            <a:avLst/>
          </a:prstGeom>
          <a:noFill/>
          <a:ln/>
        </p:spPr>
        <p:txBody>
          <a:bodyPr wrap="square" lIns="0" tIns="0" rIns="0" bIns="0" rtlCol="0" anchor="ctr"/>
          <a:lstStyle/>
          <a:p>
            <a:pPr algn="ctr" indent="0" marL="0">
              <a:buNone/>
            </a:pPr>
            <a:r>
              <a:rPr lang="en-US" sz="1800" dirty="0">
                <a:solidFill>
                  <a:srgbClr val="000000"/>
                </a:solidFill>
                <a:latin typeface="Georgia" pitchFamily="34" charset="0"/>
                <a:ea typeface="Georgia" pitchFamily="34" charset="-122"/>
                <a:cs typeface="Georgia" pitchFamily="34" charset="-120"/>
              </a:rPr>
              <a:t>In Basket and documentation were the top stressors; 30.5% reported burnout</a:t>
            </a:r>
            <a:endParaRPr lang="en-US" sz="18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Bali AS et al. Dig Dis Sci 2026;71:3466-75. Signal data, 347 GI providers (38 hepatology), 3 centers [PMID: 41801633]</a:t>
            </a:r>
            <a:endParaRPr lang="en-US" sz="1000" dirty="0"/>
          </a:p>
        </p:txBody>
      </p:sp>
      <p:sp>
        <p:nvSpPr>
          <p:cNvPr id="9"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23/26</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Your own numbers: Signal</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Measure yourself</a:t>
            </a:r>
            <a:endParaRPr lang="en-US" sz="1100" dirty="0"/>
          </a:p>
        </p:txBody>
      </p:sp>
      <p:pic>
        <p:nvPicPr>
          <p:cNvPr id="4" name="Image 0" descr="Mock Signal provider efficiency report compared with peers">    </p:cNvPr>
          <p:cNvPicPr>
            <a:picLocks noChangeAspect="1"/>
          </p:cNvPicPr>
          <p:nvPr/>
        </p:nvPicPr>
        <p:blipFill>
          <a:blip r:embed="rId1"/>
          <a:stretch>
            <a:fillRect/>
          </a:stretch>
        </p:blipFill>
        <p:spPr>
          <a:xfrm>
            <a:off x="548640" y="1143000"/>
            <a:ext cx="7589520" cy="3483395"/>
          </a:xfrm>
          <a:prstGeom prst="rect">
            <a:avLst/>
          </a:prstGeom>
        </p:spPr>
      </p:pic>
      <p:sp>
        <p:nvSpPr>
          <p:cNvPr id="5" name="Body"/>
          <p:cNvSpPr txBox="1"/>
          <p:nvPr/>
        </p:nvSpPr>
        <p:spPr>
          <a:xfrm>
            <a:off x="8321040" y="1463040"/>
            <a:ext cx="3566160" cy="457200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Your time in notes, In Basket and chart review, against your peers</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Time outside scheduled hours</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Which tools you use</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Ask your Epic team for access</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 Epic Signal Quick Start Guide and Metric Reference</a:t>
            </a:r>
            <a:endParaRPr lang="en-US" sz="1000" dirty="0"/>
          </a:p>
        </p:txBody>
      </p:sp>
      <p:sp>
        <p:nvSpPr>
          <p:cNvPr id="8"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24/26</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our patient</a:t>
            </a:r>
            <a:endParaRPr lang="en-US" sz="3000" dirty="0"/>
          </a:p>
        </p:txBody>
      </p:sp>
      <p:sp>
        <p:nvSpPr>
          <p:cNvPr id="3" name="Part"/>
          <p:cNvSpPr txBox="1"/>
          <p:nvPr/>
        </p:nvSpPr>
        <p:spPr>
          <a:xfrm>
            <a:off x="320040" y="73152"/>
            <a:ext cx="3657600" cy="274320"/>
          </a:xfrm>
          <a:prstGeom prst="rect">
            <a:avLst/>
          </a:prstGeom>
          <a:noFill/>
          <a:ln/>
        </p:spPr>
        <p:txBody>
          <a:bodyPr wrap="square" lIns="0" tIns="0" rIns="0" bIns="0" rtlCol="0" anchor="ctr"/>
          <a:lstStyle/>
          <a:p>
            <a:pPr indent="0" marL="0">
              <a:buNone/>
            </a:pPr>
            <a:r>
              <a:rPr lang="en-US" sz="1100" dirty="0">
                <a:solidFill>
                  <a:srgbClr val="8C8C8C"/>
                </a:solidFill>
                <a:latin typeface="Georgia" pitchFamily="34" charset="0"/>
                <a:ea typeface="Georgia" pitchFamily="34" charset="-122"/>
                <a:cs typeface="Georgia" pitchFamily="34" charset="-120"/>
              </a:rPr>
              <a:t>Measure yourself</a:t>
            </a:r>
            <a:endParaRPr lang="en-US" sz="1100" dirty="0"/>
          </a:p>
        </p:txBody>
      </p:sp>
      <p:pic>
        <p:nvPicPr>
          <p:cNvPr id="4" name="Image 0" descr="Mock-up: Synopsis">    </p:cNvPr>
          <p:cNvPicPr>
            <a:picLocks noChangeAspect="1"/>
          </p:cNvPicPr>
          <p:nvPr/>
        </p:nvPicPr>
        <p:blipFill>
          <a:blip r:embed="rId1"/>
          <a:stretch>
            <a:fillRect/>
          </a:stretch>
        </p:blipFill>
        <p:spPr>
          <a:xfrm>
            <a:off x="365760" y="1188720"/>
            <a:ext cx="3291840" cy="1866814"/>
          </a:xfrm>
          <a:prstGeom prst="rect">
            <a:avLst/>
          </a:prstGeom>
        </p:spPr>
      </p:pic>
      <p:sp>
        <p:nvSpPr>
          <p:cNvPr id="5" name="Text 2"/>
          <p:cNvSpPr txBox="1"/>
          <p:nvPr/>
        </p:nvSpPr>
        <p:spPr>
          <a:xfrm>
            <a:off x="365760" y="3264408"/>
            <a:ext cx="32918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Synopsis</a:t>
            </a:r>
            <a:endParaRPr lang="en-US" sz="1500" dirty="0"/>
          </a:p>
        </p:txBody>
      </p:sp>
      <p:pic>
        <p:nvPicPr>
          <p:cNvPr id="6" name="Image 1" descr="Mock-up: Chart search">    </p:cNvPr>
          <p:cNvPicPr>
            <a:picLocks noChangeAspect="1"/>
          </p:cNvPicPr>
          <p:nvPr/>
        </p:nvPicPr>
        <p:blipFill>
          <a:blip r:embed="rId2"/>
          <a:stretch>
            <a:fillRect/>
          </a:stretch>
        </p:blipFill>
        <p:spPr>
          <a:xfrm>
            <a:off x="3794760" y="1188720"/>
            <a:ext cx="3291840" cy="1822482"/>
          </a:xfrm>
          <a:prstGeom prst="rect">
            <a:avLst/>
          </a:prstGeom>
        </p:spPr>
      </p:pic>
      <p:sp>
        <p:nvSpPr>
          <p:cNvPr id="7" name="Text 3"/>
          <p:cNvSpPr txBox="1"/>
          <p:nvPr/>
        </p:nvSpPr>
        <p:spPr>
          <a:xfrm>
            <a:off x="3794760" y="3264408"/>
            <a:ext cx="32918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Chart search</a:t>
            </a:r>
            <a:endParaRPr lang="en-US" sz="1500" dirty="0"/>
          </a:p>
        </p:txBody>
      </p:sp>
      <p:pic>
        <p:nvPicPr>
          <p:cNvPr id="8" name="Image 2" descr="Mock-up: SmartPhrase">    </p:cNvPr>
          <p:cNvPicPr>
            <a:picLocks noChangeAspect="1"/>
          </p:cNvPicPr>
          <p:nvPr/>
        </p:nvPicPr>
        <p:blipFill>
          <a:blip r:embed="rId3"/>
          <a:stretch>
            <a:fillRect/>
          </a:stretch>
        </p:blipFill>
        <p:spPr>
          <a:xfrm>
            <a:off x="365760" y="3703320"/>
            <a:ext cx="3291840" cy="1852617"/>
          </a:xfrm>
          <a:prstGeom prst="rect">
            <a:avLst/>
          </a:prstGeom>
        </p:spPr>
      </p:pic>
      <p:sp>
        <p:nvSpPr>
          <p:cNvPr id="9" name="Text 4"/>
          <p:cNvSpPr txBox="1"/>
          <p:nvPr/>
        </p:nvSpPr>
        <p:spPr>
          <a:xfrm>
            <a:off x="365760" y="5779008"/>
            <a:ext cx="32918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SmartPhrase</a:t>
            </a:r>
            <a:endParaRPr lang="en-US" sz="1500" dirty="0"/>
          </a:p>
        </p:txBody>
      </p:sp>
      <p:pic>
        <p:nvPicPr>
          <p:cNvPr id="10" name="Image 3" descr="Mock-up: QuickActions">    </p:cNvPr>
          <p:cNvPicPr>
            <a:picLocks noChangeAspect="1"/>
          </p:cNvPicPr>
          <p:nvPr/>
        </p:nvPicPr>
        <p:blipFill>
          <a:blip r:embed="rId4"/>
          <a:stretch>
            <a:fillRect/>
          </a:stretch>
        </p:blipFill>
        <p:spPr>
          <a:xfrm>
            <a:off x="3794760" y="3703320"/>
            <a:ext cx="3291840" cy="1489329"/>
          </a:xfrm>
          <a:prstGeom prst="rect">
            <a:avLst/>
          </a:prstGeom>
        </p:spPr>
      </p:pic>
      <p:sp>
        <p:nvSpPr>
          <p:cNvPr id="11" name="Text 5"/>
          <p:cNvSpPr txBox="1"/>
          <p:nvPr/>
        </p:nvSpPr>
        <p:spPr>
          <a:xfrm>
            <a:off x="3794760" y="5779008"/>
            <a:ext cx="32918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Georgia" pitchFamily="34" charset="0"/>
                <a:ea typeface="Georgia" pitchFamily="34" charset="-122"/>
                <a:cs typeface="Georgia" pitchFamily="34" charset="-120"/>
              </a:rPr>
              <a:t>QuickActions</a:t>
            </a:r>
            <a:endParaRPr lang="en-US" sz="1500" dirty="0"/>
          </a:p>
        </p:txBody>
      </p:sp>
      <p:sp>
        <p:nvSpPr>
          <p:cNvPr id="12" name="Question"/>
          <p:cNvSpPr txBox="1"/>
          <p:nvPr/>
        </p:nvSpPr>
        <p:spPr>
          <a:xfrm>
            <a:off x="7315200" y="1234440"/>
            <a:ext cx="4572000" cy="548640"/>
          </a:xfrm>
          <a:prstGeom prst="rect">
            <a:avLst/>
          </a:prstGeom>
          <a:noFill/>
          <a:ln/>
        </p:spPr>
        <p:txBody>
          <a:bodyPr wrap="square" lIns="0" tIns="0" rIns="0" bIns="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To set up when you get home</a:t>
            </a:r>
            <a:endParaRPr lang="en-US" sz="2000" dirty="0"/>
          </a:p>
        </p:txBody>
      </p:sp>
      <p:sp>
        <p:nvSpPr>
          <p:cNvPr id="13" name="Body"/>
          <p:cNvSpPr txBox="1"/>
          <p:nvPr/>
        </p:nvSpPr>
        <p:spPr>
          <a:xfrm>
            <a:off x="7406640" y="1783080"/>
            <a:ext cx="4480560" cy="448056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A Synopsis view for each kind of visit</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Three saved chart searches</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One SmartPhrase, yours or borrowed</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Your own version of the new-patient order set</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QuickActions for normal results</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Look at your Signal report</a:t>
            </a:r>
            <a:endParaRPr lang="en-US" sz="1900" dirty="0"/>
          </a:p>
        </p:txBody>
      </p:sp>
      <p:sp>
        <p:nvSpPr>
          <p:cNvPr id="1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Mock-up with invented data, not a real patient or a real screen</a:t>
            </a:r>
            <a:endParaRPr lang="en-US" sz="1000" dirty="0"/>
          </a:p>
        </p:txBody>
      </p:sp>
      <p:sp>
        <p:nvSpPr>
          <p:cNvPr id="1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25/26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Watercolor of the same workstation at the end of the day, monitors off, white coat on the chai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457200" y="2194560"/>
            <a:ext cx="6035040" cy="128016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sp>
        <p:nvSpPr>
          <p:cNvPr id="4" name="Text 1"/>
          <p:cNvSpPr txBox="1"/>
          <p:nvPr/>
        </p:nvSpPr>
        <p:spPr>
          <a:xfrm>
            <a:off x="457200" y="3566160"/>
            <a:ext cx="6035040" cy="457200"/>
          </a:xfrm>
          <a:prstGeom prst="rect">
            <a:avLst/>
          </a:prstGeom>
          <a:noFill/>
          <a:ln/>
        </p:spPr>
        <p:txBody>
          <a:bodyPr wrap="square" lIns="0" tIns="0" rIns="0" bIns="0" rtlCol="0" anchor="ctr"/>
          <a:lstStyle/>
          <a:p>
            <a:pPr algn="ctr" indent="0" marL="0">
              <a:buNone/>
            </a:pPr>
            <a:r>
              <a:rPr lang="en-US" sz="2000" dirty="0">
                <a:solidFill>
                  <a:srgbClr val="595959"/>
                </a:solidFill>
                <a:latin typeface="Georgia" pitchFamily="34" charset="0"/>
                <a:ea typeface="Georgia" pitchFamily="34" charset="-122"/>
                <a:cs typeface="Georgia" pitchFamily="34" charset="-120"/>
              </a:rPr>
              <a:t>X: @mfalmeqdadi</a:t>
            </a:r>
            <a:endParaRPr lang="en-US" sz="2000" dirty="0"/>
          </a:p>
        </p:txBody>
      </p:sp>
      <p:sp>
        <p:nvSpPr>
          <p:cNvPr id="6" name="SlideNumber"/>
          <p:cNvSpPr txBox="1"/>
          <p:nvPr/>
        </p:nvSpPr>
        <p:spPr>
          <a:xfrm>
            <a:off x="11002975" y="6400800"/>
            <a:ext cx="822960" cy="274320"/>
          </a:xfrm>
          <a:prstGeom prst="rect">
            <a:avLst/>
          </a:prstGeom>
          <a:noFill/>
          <a:ln/>
        </p:spPr>
        <p:txBody>
          <a:bodyPr wrap="square" lIns="0" tIns="0" rIns="0" bIns="0" rtlCol="0" anchor="ctr"/>
          <a:lstStyle/>
          <a:p>
            <a:pPr algn="r" indent="0" marL="0">
              <a:buNone/>
            </a:pPr>
            <a:r>
              <a:rPr lang="en-US" sz="900" dirty="0">
                <a:solidFill>
                  <a:srgbClr val="A6A6A6"/>
                </a:solidFill>
                <a:latin typeface="Georgia" pitchFamily="34" charset="0"/>
                <a:ea typeface="Georgia" pitchFamily="34" charset="-122"/>
                <a:cs typeface="Georgia" pitchFamily="34" charset="-120"/>
              </a:rPr>
              <a:t>26/26</a:t>
            </a:r>
            <a:endParaRPr lang="en-US" sz="900"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Epically Efficient Electronic Health Record Tools to Improve Your Practice</dc:title>
  <dc:subject>PptxGenJS Presentation</dc:subject>
  <dc:creator>Mohammad Almeqdadi, MD</dc:creator>
  <cp:lastModifiedBy>Mohammad Almeqdadi, MD</cp:lastModifiedBy>
  <cp:revision>1</cp:revision>
  <dcterms:created xsi:type="dcterms:W3CDTF">2026-10-27T15:51:20Z</dcterms:created>
  <dcterms:modified xsi:type="dcterms:W3CDTF">2026-10-27T15:51:20Z</dcterms:modified>
</cp:coreProperties>
</file>