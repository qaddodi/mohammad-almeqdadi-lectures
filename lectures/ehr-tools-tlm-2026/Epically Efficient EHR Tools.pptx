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5.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7.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8.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9.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123cf2-c030-2f20-5bbe-1ac00a1c9ec8}">
          <p14:sldIdLst>
            <p14:sldId id="256"/>
            <p14:sldId id="257"/>
            <p14:sldId id="258"/>
            <p14:sldId id="259"/>
            <p14:sldId id="260"/>
            <p14:sldId id="261"/>
          </p14:sldIdLst>
        </p14:section>
        <p14:section name="Finding information" id="{87c09b86-94db-4968-41ac-2af0bfa630a9}">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Lst>
        </p14:section>
        <p14:section name="Notes and orders" id="{6b67fb0d-942c-d1fc-9730-03f63a0496d7}">
          <p14:sldIdLst>
            <p14:sldId id="284"/>
            <p14:sldId id="285"/>
            <p14:sldId id="286"/>
          </p14:sldIdLst>
        </p14:section>
        <p14:section name="In Basket" id="{27778c2e-ab5b-3c31-c25d-64754d9bbd6c}">
          <p14:sldIdLst>
            <p14:sldId id="287"/>
            <p14:sldId id="288"/>
            <p14:sldId id="289"/>
          </p14:sldIdLst>
        </p14:section>
        <p14:section name="AI in the chart" id="{3039a77a-1a4e-bfdd-65e3-12a238b61ec9}">
          <p14:sldIdLst>
            <p14:sldId id="290"/>
            <p14:sldId id="291"/>
            <p14:sldId id="292"/>
            <p14:sldId id="293"/>
          </p14:sldIdLst>
        </p14:section>
        <p14:section name="Measure yourself" id="{a446fbc2-9f79-9213-589c-dcc18e7a3f4a}">
          <p14:sldIdLst>
            <p14:sldId id="294"/>
            <p14:sldId id="295"/>
            <p14:sldId id="296"/>
            <p14:sldId id="297"/>
            <p14:sldId id="298"/>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4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0</c:v>
                </c:pt>
                <c:pt idx="1">
                  <c:v>0</c:v>
                </c:pt>
                <c:pt idx="2">
                  <c:v>0</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0</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Sheet1!$B$2:$B$4</c:f>
              <c:numCache>
                <c:formatCode>General</c:formatCode>
                <c:ptCount val="3"/>
                <c:pt idx="0">
                  <c:v>6.5</c:v>
                </c:pt>
                <c:pt idx="1">
                  <c:v>0</c:v>
                </c:pt>
                <c:pt idx="2">
                  <c:v>5.2</c:v>
                </c:pt>
              </c:numCache>
            </c:numRef>
          </c:val>
        </c:ser>
        <c:ser>
          <c:idx val="1"/>
          <c:order val="1"/>
          <c:tx>
            <c:strRef>
              <c:f>Sheet1!$C$1</c:f>
              <c:strCache>
                <c:ptCount val="1"/>
                <c:pt idx="0">
                  <c:v>b</c:v>
                </c:pt>
              </c:strCache>
            </c:strRef>
          </c:tx>
          <c:spPr>
            <a:solidFill>
              <a:srgbClr val="1F4E79"/>
            </a:solidFill>
            <a:effectLst/>
          </c:spPr>
          <c:invertIfNegative val="0"/>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Primary care</c:v>
                  </c:pt>
                  <c:pt idx="1">
                    <c:v>Medical subspecialists</c:v>
                  </c:pt>
                  <c:pt idx="2">
                    <c:v>Surgeons</c:v>
                  </c:pt>
                </c:lvl>
              </c:multiLvlStrCache>
            </c:multiLvlStrRef>
          </c:cat>
          <c:val>
            <c:numRef>
              <c:f>Sheet1!$C$2:$C$4</c:f>
              <c:numCache>
                <c:formatCode>General</c:formatCode>
                <c:ptCount val="3"/>
                <c:pt idx="0">
                  <c:v>0</c:v>
                </c:pt>
                <c:pt idx="1">
                  <c:v>9.9</c:v>
                </c:pt>
                <c:pt idx="2">
                  <c:v>0</c:v>
                </c:pt>
              </c:numCache>
            </c:numRef>
          </c:val>
        </c:ser>
        <c:dLbls>
          <c:numFmt formatCode="+0.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Change in EHR hours per week</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3"/>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0</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0</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c:v>
                </c:pt>
              </c:numCache>
            </c:numRef>
          </c:val>
        </c:ser>
        <c:dLbls>
          <c:numFmt formatCode="0.0;;;" sourceLinked="0"/>
          <c:txPr>
            <a:bodyPr/>
            <a:lstStyle/>
            <a:p>
              <a:pPr>
                <a:defRPr b="1" i="0" strike="noStrike" sz="1600" u="none">
                  <a:solidFill>
                    <a:srgbClr val="FFFFFF"/>
                  </a:solidFill>
                  <a:latin typeface="Calibri"/>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Scheduled patient care</c:v>
                </c:pt>
              </c:strCache>
            </c:strRef>
          </c:tx>
          <c:spPr>
            <a:solidFill>
              <a:srgbClr val="8FA6B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Sheet1!$B$2:$B$3</c:f>
              <c:numCache>
                <c:formatCode>General</c:formatCode>
                <c:ptCount val="2"/>
                <c:pt idx="0">
                  <c:v>8</c:v>
                </c:pt>
                <c:pt idx="1">
                  <c:v>0</c:v>
                </c:pt>
              </c:numCache>
            </c:numRef>
          </c:val>
        </c:ser>
        <c:ser>
          <c:idx val="1"/>
          <c:order val="1"/>
          <c:tx>
            <c:strRef>
              <c:f>Sheet1!$C$1</c:f>
              <c:strCache>
                <c:ptCount val="1"/>
                <c:pt idx="0">
                  <c:v>Notes</c:v>
                </c:pt>
              </c:strCache>
            </c:strRef>
          </c:tx>
          <c:spPr>
            <a:solidFill>
              <a:srgbClr val="1F4E7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Sheet1!$C$2:$C$3</c:f>
              <c:numCache>
                <c:formatCode>General</c:formatCode>
                <c:ptCount val="2"/>
                <c:pt idx="0">
                  <c:v>0</c:v>
                </c:pt>
                <c:pt idx="1">
                  <c:v>2.3</c:v>
                </c:pt>
              </c:numCache>
            </c:numRef>
          </c:val>
        </c:ser>
        <c:ser>
          <c:idx val="2"/>
          <c:order val="2"/>
          <c:tx>
            <c:strRef>
              <c:f>Sheet1!$D$1</c:f>
              <c:strCache>
                <c:ptCount val="1"/>
                <c:pt idx="0">
                  <c:v>Chart review</c:v>
                </c:pt>
              </c:strCache>
            </c:strRef>
          </c:tx>
          <c:spPr>
            <a:solidFill>
              <a:srgbClr val="2E7D8C"/>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Sheet1!$D$2:$D$3</c:f>
              <c:numCache>
                <c:formatCode>General</c:formatCode>
                <c:ptCount val="2"/>
                <c:pt idx="0">
                  <c:v>0</c:v>
                </c:pt>
                <c:pt idx="1">
                  <c:v>1.1</c:v>
                </c:pt>
              </c:numCache>
            </c:numRef>
          </c:val>
        </c:ser>
        <c:ser>
          <c:idx val="3"/>
          <c:order val="3"/>
          <c:tx>
            <c:strRef>
              <c:f>Sheet1!$E$1</c:f>
              <c:strCache>
                <c:ptCount val="1"/>
                <c:pt idx="0">
                  <c:v>Orders</c:v>
                </c:pt>
              </c:strCache>
            </c:strRef>
          </c:tx>
          <c:spPr>
            <a:solidFill>
              <a:srgbClr val="6F9A72"/>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Sheet1!$E$2:$E$3</c:f>
              <c:numCache>
                <c:formatCode>General</c:formatCode>
                <c:ptCount val="2"/>
                <c:pt idx="0">
                  <c:v>0</c:v>
                </c:pt>
                <c:pt idx="1">
                  <c:v>0.8</c:v>
                </c:pt>
              </c:numCache>
            </c:numRef>
          </c:val>
        </c:ser>
        <c:ser>
          <c:idx val="4"/>
          <c:order val="4"/>
          <c:tx>
            <c:strRef>
              <c:f>Sheet1!$F$1</c:f>
              <c:strCache>
                <c:ptCount val="1"/>
                <c:pt idx="0">
                  <c:v>In Basket</c:v>
                </c:pt>
              </c:strCache>
            </c:strRef>
          </c:tx>
          <c:spPr>
            <a:solidFill>
              <a:srgbClr val="C08A3E"/>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Sheet1!$F$2:$F$3</c:f>
              <c:numCache>
                <c:formatCode>General</c:formatCode>
                <c:ptCount val="2"/>
                <c:pt idx="0">
                  <c:v>0</c:v>
                </c:pt>
                <c:pt idx="1">
                  <c:v>0.8</c:v>
                </c:pt>
              </c:numCache>
            </c:numRef>
          </c:val>
        </c:ser>
        <c:ser>
          <c:idx val="5"/>
          <c:order val="5"/>
          <c:tx>
            <c:strRef>
              <c:f>Sheet1!$G$1</c:f>
              <c:strCache>
                <c:ptCount val="1"/>
                <c:pt idx="0">
                  <c:v>Other</c:v>
                </c:pt>
              </c:strCache>
            </c:strRef>
          </c:tx>
          <c:spPr>
            <a:solidFill>
              <a:srgbClr val="8E7C99"/>
            </a:solidFill>
            <a:effectLst/>
          </c:spPr>
          <c:invertIfNegative val="0"/>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Patient care</c:v>
                  </c:pt>
                  <c:pt idx="1">
                    <c:v>In the EHR</c:v>
                  </c:pt>
                </c:lvl>
              </c:multiLvlStrCache>
            </c:multiLvlStrRef>
          </c:cat>
          <c:val>
            <c:numRef>
              <c:f>Sheet1!$G$2:$G$3</c:f>
              <c:numCache>
                <c:formatCode>General</c:formatCode>
                <c:ptCount val="2"/>
                <c:pt idx="0">
                  <c:v>0</c:v>
                </c:pt>
                <c:pt idx="1">
                  <c:v>0.8</c:v>
                </c:pt>
              </c:numCache>
            </c:numRef>
          </c:val>
        </c:ser>
        <c:dLbls>
          <c:numFmt formatCode="0.0;;;" sourceLinked="0"/>
          <c:txPr>
            <a:bodyPr/>
            <a:lstStyle/>
            <a:p>
              <a:pPr>
                <a:defRPr b="1" i="0" strike="noStrike" sz="1600" u="none">
                  <a:solidFill>
                    <a:srgbClr val="FFFFFF"/>
                  </a:solidFill>
                  <a:latin typeface="Calibri"/>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E3E3E3"/>
              </a:solidFill>
              <a:prstDash val="solid"/>
              <a:round/>
            </a:ln>
          </c:spPr>
        </c:majorGridlines>
        <c:numFmt formatCode="0&quot; h&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5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So most hepatologists in this room work in Epic, and that's why the tool names in this talk are Epic's. Source: Epic UGM 2025 transplant breakout, data from OPTN.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fair sentence on the others; no jokes about anyone's system. The ideas carry over even when the names don't. VA GPT came up in our planning call as a CPRS tool. It isn't: the VA OIG reviewed it in June 2026 as a general chat tool approved for PHI, separate from CPRS. The VA ambient scribe is a separate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three views at our center: a liver disease view for cirrhosis over time, one for the chronic liver disease workup that shows the most recent value of every etiology test in the last 20 years, and one for after transplant.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screen, scrolled; the date row stays at the top. Click through quickly. Sections, top to bottom: transplant status, vitals, scores (MELD 3.0, Child-Pugh, Fib-4, APRI, NAFLD fibrosis, AST:ALT), hematology, chemistry, other labs, ascitic fluid, blood products, micro, anti-infectives, liver meds, other meds, imaging, cardiac testing, procedures, urine and stool output, dialysis, toxicology (PEth, drug screen). Meds are bars over time so you see when a dose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made-up patient, 9 months after transplant. Same order as our real view: vitals, then immunosuppression with the tacrolimus levels right under the doses, transplant immunology, anti-infectives, infection monitoring (CMV), then chemistry with PEth, hematology, toxicology and the rest of the meds. Our post-transplant clinic opens this first: dose changes line up with the levels and the creatinine.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Ctrl+Space opens chart search from anywhere in Epic, no clicking around. Last EGD: type EGD. The 2023 outside EGD shows up and the hover preview gives small varices without opening anything. Favorite searches I keep: EGD, MRI, biopsy, PEth. You can also type Synopsis or an order set name in the same bar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weight 10 years and both go on one graph, ALT on the left axis and weight on the right. You see the ALT come down as he loses 19 kg. You can switch to 5 years or 1 year, and mix any labs and vitals.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 Epic's Community Library (CommLib) is where organizations share their build, SmartTexts, SmartPhrases and more, so ask your analyst to look there before building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 Epic's Community Library (CommLib) is where organizations share their build, SmartTexts, SmartPhrases and more, so ask your analyst to look there before building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My favorites: MELD labs with AFP built in, so the AFP goes out with every MELD draw; an HCC tumor marker group with AFP, AFP-L3 and DCP; a CLD workup set, and make sure yours includes PEth; and an MRI abdomen with and without contrast with a comment that it's a triphasic liver protocol, if your organization doesn't have a dedicated liver MRI order.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Hepatology sits with the medical subspecialists: EHR time up about 10%. Primary care went from 10.6 to 11.3 hours a week. The messages did not replace phone calls; the calls came back and the messages stayed. Limits: one vendor, no burnout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only, because Nizar went through it. The UCLA trial randomized clinicians to two ambient tools or usual care. One cut note time by about 10%, the other didn't change it, and both helped burnout scores a little. Cut this slide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Insights for committee review drafts the concerns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5.8 hours in the EHR for every 8 hours of scheduled patient care; notes are the biggest piece. 42% of that time happens outside clinic hours, half of it on days with no clinic at all. Not new: Sinsky 2016 found nearly 2 hours of EHR and desk work per hour with patients [PMID: 27595430], and Arndt 2017 found 5.9 hours of an 11.4-hour day in family medicine.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36-1.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41-1.png"/><Relationship Id="rId3" Type="http://schemas.openxmlformats.org/officeDocument/2006/relationships/slideLayout" Target="../slideLayouts/slideLayout2.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2.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 y="5897880"/>
            <a:ext cx="10545775" cy="41148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86%</a:t>
            </a:r>
            <a:r>
              <a:rPr lang="en-US" sz="2000" dirty="0">
                <a:solidFill>
                  <a:srgbClr val="000000"/>
                </a:solidFill>
                <a:latin typeface="Georgia" pitchFamily="34" charset="0"/>
                <a:ea typeface="Georgia" pitchFamily="34" charset="-122"/>
                <a:cs typeface="Georgia" pitchFamily="34" charset="-120"/>
              </a:rPr>
              <a:t> in 2025, and another 6% at centers implementing it</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called Phoenix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And everyone else?</a:t>
            </a:r>
            <a:endParaRPr lang="en-US" sz="3000" dirty="0"/>
          </a:p>
        </p:txBody>
      </p:sp>
      <p:graphicFrame>
        <p:nvGraphicFramePr>
          <p:cNvPr id="3" name="Chart 0" descr=""/>
          <p:cNvGraphicFramePr/>
          <p:nvPr/>
        </p:nvGraphicFramePr>
        <p:xfrm>
          <a:off x="548640" y="123444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480560" cy="4206240"/>
          </a:xfrm>
          <a:prstGeom prst="rect">
            <a:avLst/>
          </a:prstGeom>
          <a:noFill/>
          <a:ln/>
        </p:spPr>
        <p:txBody>
          <a:bodyPr wrap="square" lIns="50800" tIns="50800" rIns="50800" bIns="50800" rtlCol="0" anchor="t"/>
          <a:lstStyle/>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Most of these tools have a version in the other systems</a:t>
            </a:r>
            <a:endParaRPr lang="en-US" sz="2000" dirty="0"/>
          </a:p>
          <a:p>
            <a:pPr marL="228600" indent="-228600">
              <a:spcBef>
                <a:spcPts val="1600"/>
              </a:spcBef>
              <a:buSzPct val="100000"/>
              <a:buChar char="–"/>
            </a:pPr>
            <a:r>
              <a:rPr lang="en-US" sz="2000" dirty="0">
                <a:solidFill>
                  <a:srgbClr val="000000"/>
                </a:solidFill>
                <a:latin typeface="Georgia" pitchFamily="34" charset="0"/>
                <a:ea typeface="Georgia" pitchFamily="34" charset="-122"/>
                <a:cs typeface="Georgia" pitchFamily="34" charset="-120"/>
              </a:rPr>
              <a:t>VA: CPRS. VA GPT is a general chat tool approved for PHI, used by over 15,000 staff. It is not built into CPRS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KLAS via Becker's Hospital Review, 2022 (share of US hospitals). VA OIG report 26-00182-140,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Synopsis view: Liver disease">    </p:cNvPr>
          <p:cNvPicPr>
            <a:picLocks noChangeAspect="1"/>
          </p:cNvPicPr>
          <p:nvPr/>
        </p:nvPicPr>
        <p:blipFill>
          <a:blip r:embed="rId1"/>
          <a:stretch>
            <a:fillRect/>
          </a:stretch>
        </p:blipFill>
        <p:spPr>
          <a:xfrm>
            <a:off x="469564" y="1234440"/>
            <a:ext cx="3571607" cy="3749040"/>
          </a:xfrm>
          <a:prstGeom prst="rect">
            <a:avLst/>
          </a:prstGeom>
        </p:spPr>
      </p:pic>
      <p:sp>
        <p:nvSpPr>
          <p:cNvPr id="5" name="Text 2"/>
          <p:cNvSpPr txBox="1"/>
          <p:nvPr/>
        </p:nvSpPr>
        <p:spPr>
          <a:xfrm>
            <a:off x="44942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6" name="Image 1" descr="Mock Synopsis view: CLD workup">    </p:cNvPr>
          <p:cNvPicPr>
            <a:picLocks noChangeAspect="1"/>
          </p:cNvPicPr>
          <p:nvPr/>
        </p:nvPicPr>
        <p:blipFill>
          <a:blip r:embed="rId2"/>
          <a:stretch>
            <a:fillRect/>
          </a:stretch>
        </p:blipFill>
        <p:spPr>
          <a:xfrm>
            <a:off x="4309540" y="1234440"/>
            <a:ext cx="3572615" cy="3749040"/>
          </a:xfrm>
          <a:prstGeom prst="rect">
            <a:avLst/>
          </a:prstGeom>
        </p:spPr>
      </p:pic>
      <p:sp>
        <p:nvSpPr>
          <p:cNvPr id="7" name="Text 3"/>
          <p:cNvSpPr txBox="1"/>
          <p:nvPr/>
        </p:nvSpPr>
        <p:spPr>
          <a:xfrm>
            <a:off x="428990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8" name="Image 2" descr="Mock Synopsis view: After transplant">    </p:cNvPr>
          <p:cNvPicPr>
            <a:picLocks noChangeAspect="1"/>
          </p:cNvPicPr>
          <p:nvPr/>
        </p:nvPicPr>
        <p:blipFill>
          <a:blip r:embed="rId3"/>
          <a:stretch>
            <a:fillRect/>
          </a:stretch>
        </p:blipFill>
        <p:spPr>
          <a:xfrm>
            <a:off x="8150380" y="1234440"/>
            <a:ext cx="3571895" cy="3749040"/>
          </a:xfrm>
          <a:prstGeom prst="rect">
            <a:avLst/>
          </a:prstGeom>
        </p:spPr>
      </p:pic>
      <p:sp>
        <p:nvSpPr>
          <p:cNvPr id="9" name="Text 4"/>
          <p:cNvSpPr txBox="1"/>
          <p:nvPr/>
        </p:nvSpPr>
        <p:spPr>
          <a:xfrm>
            <a:off x="8130388" y="507492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After transplant</a:t>
            </a:r>
            <a:endParaRPr lang="en-US" sz="1800" dirty="0"/>
          </a:p>
        </p:txBody>
      </p:sp>
      <p:sp>
        <p:nvSpPr>
          <p:cNvPr id="10" name="Text 5"/>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2302310" y="1097280"/>
            <a:ext cx="7587076"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475364" y="1097280"/>
            <a:ext cx="7240967"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884066" y="1097280"/>
            <a:ext cx="6423563"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1 of 3</a:t>
            </a:r>
            <a:endParaRPr lang="en-US" sz="1100" dirty="0"/>
          </a:p>
        </p:txBody>
      </p:sp>
      <p:pic>
        <p:nvPicPr>
          <p:cNvPr id="5" name="Image 0" descr="Mock Synopsis view, screenful 1">    </p:cNvPr>
          <p:cNvPicPr>
            <a:picLocks noChangeAspect="1"/>
          </p:cNvPicPr>
          <p:nvPr/>
        </p:nvPicPr>
        <p:blipFill>
          <a:blip r:embed="rId1"/>
          <a:stretch>
            <a:fillRect/>
          </a:stretch>
        </p:blipFill>
        <p:spPr>
          <a:xfrm>
            <a:off x="1207201" y="1097280"/>
            <a:ext cx="9777292"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2 of 3</a:t>
            </a:r>
            <a:endParaRPr lang="en-US" sz="1100" dirty="0"/>
          </a:p>
        </p:txBody>
      </p:sp>
      <p:pic>
        <p:nvPicPr>
          <p:cNvPr id="5" name="Image 0" descr="Mock Synopsis view, screenful 2">    </p:cNvPr>
          <p:cNvPicPr>
            <a:picLocks noChangeAspect="1"/>
          </p:cNvPicPr>
          <p:nvPr/>
        </p:nvPicPr>
        <p:blipFill>
          <a:blip r:embed="rId1"/>
          <a:stretch>
            <a:fillRect/>
          </a:stretch>
        </p:blipFill>
        <p:spPr>
          <a:xfrm>
            <a:off x="2063833" y="1097280"/>
            <a:ext cx="8064030"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post-transplant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Text 2"/>
          <p:cNvSpPr txBox="1"/>
          <p:nvPr/>
        </p:nvSpPr>
        <p:spPr>
          <a:xfrm>
            <a:off x="9082735" y="73152"/>
            <a:ext cx="2788920" cy="274320"/>
          </a:xfrm>
          <a:prstGeom prst="rect">
            <a:avLst/>
          </a:prstGeom>
          <a:noFill/>
          <a:ln/>
        </p:spPr>
        <p:txBody>
          <a:bodyPr wrap="square" lIns="0" tIns="0" rIns="0" bIns="0" rtlCol="0" anchor="ctr"/>
          <a:lstStyle/>
          <a:p>
            <a:pPr algn="r" indent="0" marL="0">
              <a:buNone/>
            </a:pPr>
            <a:r>
              <a:rPr lang="en-US" sz="1100" dirty="0">
                <a:solidFill>
                  <a:srgbClr val="8C8C8C"/>
                </a:solidFill>
                <a:latin typeface="Georgia" pitchFamily="34" charset="0"/>
                <a:ea typeface="Georgia" pitchFamily="34" charset="-122"/>
                <a:cs typeface="Georgia" pitchFamily="34" charset="-120"/>
              </a:rPr>
              <a:t>Scrolling, 3 of 3</a:t>
            </a:r>
            <a:endParaRPr lang="en-US" sz="1100" dirty="0"/>
          </a:p>
        </p:txBody>
      </p:sp>
      <p:pic>
        <p:nvPicPr>
          <p:cNvPr id="5" name="Image 0" descr="Mock Synopsis view, screenful 3">    </p:cNvPr>
          <p:cNvPicPr>
            <a:picLocks noChangeAspect="1"/>
          </p:cNvPicPr>
          <p:nvPr/>
        </p:nvPicPr>
        <p:blipFill>
          <a:blip r:embed="rId1"/>
          <a:stretch>
            <a:fillRect/>
          </a:stretch>
        </p:blipFill>
        <p:spPr>
          <a:xfrm>
            <a:off x="2271086" y="1097280"/>
            <a:ext cx="7649524" cy="516636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Built from our transplant center's views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GD with a preview of the procedure note">    </p:cNvPr>
          <p:cNvPicPr>
            <a:picLocks noChangeAspect="1"/>
          </p:cNvPicPr>
          <p:nvPr/>
        </p:nvPicPr>
        <p:blipFill>
          <a:blip r:embed="rId1"/>
          <a:stretch>
            <a:fillRect/>
          </a:stretch>
        </p:blipFill>
        <p:spPr>
          <a:xfrm>
            <a:off x="1966784" y="1143000"/>
            <a:ext cx="8258128" cy="457200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Ctrl+Space opens it from anywhere. Searches notes, results, media and outside records. Hover to read.</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search tip sheet,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and weight together over 10 years">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weight 10 years: both on one graph</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13/26</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14/26</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Community Library: SmartTexts other centers built</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14/26</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with favorite sections: MELD labs with AFP, HCC tumor markers, CLD workup with PEth, and a triphasic liver MRI">    </p:cNvPr>
          <p:cNvPicPr>
            <a:picLocks noChangeAspect="1"/>
          </p:cNvPicPr>
          <p:nvPr/>
        </p:nvPicPr>
        <p:blipFill>
          <a:blip r:embed="rId1"/>
          <a:stretch>
            <a:fillRect/>
          </a:stretch>
        </p:blipFill>
        <p:spPr>
          <a:xfrm>
            <a:off x="506388" y="1188720"/>
            <a:ext cx="5753784" cy="4434840"/>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760720"/>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15/26</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16/26</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After March 2020</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Which group's EHR time grew most after March 2020?</a:t>
            </a:r>
            <a:endParaRPr lang="en-US" sz="2000" dirty="0"/>
          </a:p>
        </p:txBody>
      </p:sp>
      <p:graphicFrame>
        <p:nvGraphicFramePr>
          <p:cNvPr id="5" name="Chart 0" descr=""/>
          <p:cNvGraphicFramePr/>
          <p:nvPr/>
        </p:nvGraphicFramePr>
        <p:xfrm>
          <a:off x="1737360" y="1645920"/>
          <a:ext cx="8686800" cy="39319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Patient messages jumped in March 2020 and stayed high. Phone calls went back to baseline.</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JAMA Intern Med 2025;185:461-3. Epic Signal data, 280,712 physicians, 2019 to 2022 [PMID: 39992635]</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16/26</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17/26</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914400" y="1371600"/>
          <a:ext cx="10362895" cy="914400"/>
        </p:xfrm>
        <a:graphic>
          <a:graphicData uri="http://schemas.openxmlformats.org/drawingml/2006/table">
            <a:tbl>
              <a:tblPr/>
              <a:tblGrid>
                <a:gridCol w="3227832"/>
                <a:gridCol w="5394960"/>
                <a:gridCol w="1737360"/>
              </a:tblGrid>
              <a:tr h="47548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Tool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it does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Epic version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 Basket drafts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a reply to a patient message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Nov 2023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Summarizes recent notes before a visit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Feb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Synopsis Insights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Shows why a medication was changed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Drafts the note from the visit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Ask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Answers questions about the chart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Chart with Art for orders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Queues orders from the conversation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Aug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18/26</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Ambient notes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1463040" y="1737360"/>
          <a:ext cx="9265615" cy="914400"/>
        </p:xfrm>
        <a:graphic>
          <a:graphicData uri="http://schemas.openxmlformats.org/drawingml/2006/table">
            <a:tbl>
              <a:tblPr/>
              <a:tblGrid>
                <a:gridCol w="1225296"/>
                <a:gridCol w="4645152"/>
                <a:gridCol w="3392424"/>
              </a:tblGrid>
              <a:tr h="523037">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Time in notes vs usual care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Burnout scores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Nabla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9.5% less (P=.02)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DAX</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 significant change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Small improvement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4023360"/>
            <a:ext cx="10545775" cy="457200"/>
          </a:xfrm>
          <a:prstGeom prst="rect">
            <a:avLst/>
          </a:prstGeom>
          <a:noFill/>
          <a:ln/>
        </p:spPr>
        <p:txBody>
          <a:bodyPr wrap="square" lIns="0" tIns="0" rIns="0" bIns="0" rtlCol="0" anchor="ctr"/>
          <a:lstStyle/>
          <a:p>
            <a:pPr algn="ctr" indent="0" marL="0">
              <a:buNone/>
            </a:pPr>
            <a:r>
              <a:rPr lang="en-US" sz="2200" i="1" dirty="0">
                <a:solidFill>
                  <a:srgbClr val="000000"/>
                </a:solidFill>
                <a:latin typeface="Georgia" pitchFamily="34" charset="0"/>
                <a:ea typeface="Georgia" pitchFamily="34" charset="-122"/>
                <a:cs typeface="Georgia" pitchFamily="34" charset="-120"/>
              </a:rPr>
              <a:t>Nizar covered this in detail</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Lukac PJ et al. UCLA randomized trial of two ambient scribes, medRxiv 2025 (preprint; check the NEJM AI version before quoting)</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Committee prep: 15 to 5 minutes per case</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21/26</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22/26</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Where does the time go?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For every 8 hours of scheduled patient care, how many hours in the EHR?</a:t>
            </a:r>
            <a:endParaRPr lang="en-US" sz="2000" dirty="0"/>
          </a:p>
        </p:txBody>
      </p:sp>
      <p:graphicFrame>
        <p:nvGraphicFramePr>
          <p:cNvPr id="5" name="Chart 0" descr=""/>
          <p:cNvGraphicFramePr/>
          <p:nvPr/>
        </p:nvGraphicFramePr>
        <p:xfrm>
          <a:off x="822960" y="1645920"/>
          <a:ext cx="10545775" cy="33832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 y="525780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5.8 hours</a:t>
            </a:r>
            <a:r>
              <a:rPr lang="en-US" sz="2200" dirty="0">
                <a:solidFill>
                  <a:srgbClr val="000000"/>
                </a:solidFill>
                <a:latin typeface="Georgia" pitchFamily="34" charset="0"/>
                <a:ea typeface="Georgia" pitchFamily="34" charset="-122"/>
                <a:cs typeface="Georgia" pitchFamily="34" charset="-120"/>
              </a:rPr>
              <a:t>, and 42% of it outside clinic hours</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Holmgren AJ et al. J Gen Intern Med 2024;39:2868-70. Epic Signal data, 200,081 ambulatory physicians. doi:10.1007/s11606-024-08930-4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22/26</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In Basket and documentation were the top stressors; 30.5% reported burnout</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23/26</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24/26</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25/26</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26/26</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2026-10-27T23:53:04Z</dcterms:created>
  <dcterms:modified xsi:type="dcterms:W3CDTF">2026-10-27T23:53:04Z</dcterms:modified>
</cp:coreProperties>
</file>