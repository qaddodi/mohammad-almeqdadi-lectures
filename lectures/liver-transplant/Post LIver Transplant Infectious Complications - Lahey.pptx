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6" r:id="rId2"/>
    <p:sldId id="258" r:id="rId3"/>
    <p:sldId id="259" r:id="rId4"/>
    <p:sldId id="265" r:id="rId5"/>
    <p:sldId id="278" r:id="rId6"/>
    <p:sldId id="277" r:id="rId7"/>
    <p:sldId id="276" r:id="rId8"/>
    <p:sldId id="279" r:id="rId9"/>
    <p:sldId id="280" r:id="rId10"/>
    <p:sldId id="260" r:id="rId11"/>
    <p:sldId id="267" r:id="rId12"/>
    <p:sldId id="300" r:id="rId13"/>
    <p:sldId id="261" r:id="rId14"/>
    <p:sldId id="269" r:id="rId15"/>
    <p:sldId id="270" r:id="rId16"/>
    <p:sldId id="275" r:id="rId17"/>
    <p:sldId id="281" r:id="rId18"/>
    <p:sldId id="271" r:id="rId19"/>
    <p:sldId id="272" r:id="rId20"/>
    <p:sldId id="273" r:id="rId21"/>
    <p:sldId id="282" r:id="rId22"/>
    <p:sldId id="284" r:id="rId23"/>
    <p:sldId id="318" r:id="rId24"/>
    <p:sldId id="262" r:id="rId25"/>
    <p:sldId id="301" r:id="rId26"/>
    <p:sldId id="285" r:id="rId27"/>
    <p:sldId id="319" r:id="rId28"/>
    <p:sldId id="283" r:id="rId29"/>
    <p:sldId id="320" r:id="rId30"/>
    <p:sldId id="303" r:id="rId31"/>
    <p:sldId id="286" r:id="rId32"/>
    <p:sldId id="304" r:id="rId33"/>
    <p:sldId id="305" r:id="rId34"/>
    <p:sldId id="288" r:id="rId35"/>
    <p:sldId id="289" r:id="rId36"/>
    <p:sldId id="290" r:id="rId37"/>
    <p:sldId id="291" r:id="rId38"/>
    <p:sldId id="310" r:id="rId39"/>
    <p:sldId id="311" r:id="rId40"/>
    <p:sldId id="312" r:id="rId41"/>
    <p:sldId id="306" r:id="rId42"/>
    <p:sldId id="287" r:id="rId43"/>
    <p:sldId id="321" r:id="rId44"/>
    <p:sldId id="293" r:id="rId45"/>
    <p:sldId id="313" r:id="rId46"/>
    <p:sldId id="307" r:id="rId47"/>
    <p:sldId id="294" r:id="rId48"/>
    <p:sldId id="295" r:id="rId49"/>
    <p:sldId id="298" r:id="rId50"/>
    <p:sldId id="308" r:id="rId51"/>
    <p:sldId id="297" r:id="rId52"/>
    <p:sldId id="296" r:id="rId53"/>
    <p:sldId id="299" r:id="rId54"/>
    <p:sldId id="309" r:id="rId55"/>
    <p:sldId id="274" r:id="rId56"/>
    <p:sldId id="315" r:id="rId57"/>
    <p:sldId id="268" r:id="rId58"/>
    <p:sldId id="317" r:id="rId59"/>
    <p:sldId id="316" r:id="rId60"/>
    <p:sldId id="322"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46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43"/>
    <p:restoredTop sz="96739"/>
  </p:normalViewPr>
  <p:slideViewPr>
    <p:cSldViewPr snapToGrid="0">
      <p:cViewPr varScale="1">
        <p:scale>
          <a:sx n="145" d="100"/>
          <a:sy n="145" d="100"/>
        </p:scale>
        <p:origin x="208" y="192"/>
      </p:cViewPr>
      <p:guideLst/>
    </p:cSldViewPr>
  </p:slideViewPr>
  <p:outlineViewPr>
    <p:cViewPr>
      <p:scale>
        <a:sx n="33" d="100"/>
        <a:sy n="33" d="100"/>
      </p:scale>
      <p:origin x="0" y="-3076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01CB47-678E-CD4F-A55B-6EACE83D43BD}" type="datetimeFigureOut">
              <a:rPr lang="en-US" smtClean="0"/>
              <a:t>3/13/23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DE5B78-7355-A548-8286-CAB71A76BF2D}" type="slidenum">
              <a:rPr lang="en-US" smtClean="0"/>
              <a:t>‹#›</a:t>
            </a:fld>
            <a:endParaRPr lang="en-US"/>
          </a:p>
        </p:txBody>
      </p:sp>
    </p:spTree>
    <p:extLst>
      <p:ext uri="{BB962C8B-B14F-4D97-AF65-F5344CB8AC3E}">
        <p14:creationId xmlns:p14="http://schemas.microsoft.com/office/powerpoint/2010/main" val="2469218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1</a:t>
            </a:fld>
            <a:endParaRPr lang="en-US"/>
          </a:p>
        </p:txBody>
      </p:sp>
    </p:spTree>
    <p:extLst>
      <p:ext uri="{BB962C8B-B14F-4D97-AF65-F5344CB8AC3E}">
        <p14:creationId xmlns:p14="http://schemas.microsoft.com/office/powerpoint/2010/main" val="3596642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2</a:t>
            </a:fld>
            <a:endParaRPr lang="en-US"/>
          </a:p>
        </p:txBody>
      </p:sp>
    </p:spTree>
    <p:extLst>
      <p:ext uri="{BB962C8B-B14F-4D97-AF65-F5344CB8AC3E}">
        <p14:creationId xmlns:p14="http://schemas.microsoft.com/office/powerpoint/2010/main" val="1595411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3</a:t>
            </a:fld>
            <a:endParaRPr lang="en-US"/>
          </a:p>
        </p:txBody>
      </p:sp>
    </p:spTree>
    <p:extLst>
      <p:ext uri="{BB962C8B-B14F-4D97-AF65-F5344CB8AC3E}">
        <p14:creationId xmlns:p14="http://schemas.microsoft.com/office/powerpoint/2010/main" val="1541954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4</a:t>
            </a:fld>
            <a:endParaRPr lang="en-US"/>
          </a:p>
        </p:txBody>
      </p:sp>
    </p:spTree>
    <p:extLst>
      <p:ext uri="{BB962C8B-B14F-4D97-AF65-F5344CB8AC3E}">
        <p14:creationId xmlns:p14="http://schemas.microsoft.com/office/powerpoint/2010/main" val="1532184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5</a:t>
            </a:fld>
            <a:endParaRPr lang="en-US"/>
          </a:p>
        </p:txBody>
      </p:sp>
    </p:spTree>
    <p:extLst>
      <p:ext uri="{BB962C8B-B14F-4D97-AF65-F5344CB8AC3E}">
        <p14:creationId xmlns:p14="http://schemas.microsoft.com/office/powerpoint/2010/main" val="3502827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9</a:t>
            </a:fld>
            <a:endParaRPr lang="en-US"/>
          </a:p>
        </p:txBody>
      </p:sp>
    </p:spTree>
    <p:extLst>
      <p:ext uri="{BB962C8B-B14F-4D97-AF65-F5344CB8AC3E}">
        <p14:creationId xmlns:p14="http://schemas.microsoft.com/office/powerpoint/2010/main" val="147029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10</a:t>
            </a:fld>
            <a:endParaRPr lang="en-US"/>
          </a:p>
        </p:txBody>
      </p:sp>
    </p:spTree>
    <p:extLst>
      <p:ext uri="{BB962C8B-B14F-4D97-AF65-F5344CB8AC3E}">
        <p14:creationId xmlns:p14="http://schemas.microsoft.com/office/powerpoint/2010/main" val="3750975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11</a:t>
            </a:fld>
            <a:endParaRPr lang="en-US"/>
          </a:p>
        </p:txBody>
      </p:sp>
    </p:spTree>
    <p:extLst>
      <p:ext uri="{BB962C8B-B14F-4D97-AF65-F5344CB8AC3E}">
        <p14:creationId xmlns:p14="http://schemas.microsoft.com/office/powerpoint/2010/main" val="1093732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12</a:t>
            </a:fld>
            <a:endParaRPr lang="en-US"/>
          </a:p>
        </p:txBody>
      </p:sp>
    </p:spTree>
    <p:extLst>
      <p:ext uri="{BB962C8B-B14F-4D97-AF65-F5344CB8AC3E}">
        <p14:creationId xmlns:p14="http://schemas.microsoft.com/office/powerpoint/2010/main" val="1727893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13</a:t>
            </a:fld>
            <a:endParaRPr lang="en-US"/>
          </a:p>
        </p:txBody>
      </p:sp>
    </p:spTree>
    <p:extLst>
      <p:ext uri="{BB962C8B-B14F-4D97-AF65-F5344CB8AC3E}">
        <p14:creationId xmlns:p14="http://schemas.microsoft.com/office/powerpoint/2010/main" val="798648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14</a:t>
            </a:fld>
            <a:endParaRPr lang="en-US"/>
          </a:p>
        </p:txBody>
      </p:sp>
    </p:spTree>
    <p:extLst>
      <p:ext uri="{BB962C8B-B14F-4D97-AF65-F5344CB8AC3E}">
        <p14:creationId xmlns:p14="http://schemas.microsoft.com/office/powerpoint/2010/main" val="2041969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15</a:t>
            </a:fld>
            <a:endParaRPr lang="en-US"/>
          </a:p>
        </p:txBody>
      </p:sp>
    </p:spTree>
    <p:extLst>
      <p:ext uri="{BB962C8B-B14F-4D97-AF65-F5344CB8AC3E}">
        <p14:creationId xmlns:p14="http://schemas.microsoft.com/office/powerpoint/2010/main" val="3948990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16</a:t>
            </a:fld>
            <a:endParaRPr lang="en-US"/>
          </a:p>
        </p:txBody>
      </p:sp>
    </p:spTree>
    <p:extLst>
      <p:ext uri="{BB962C8B-B14F-4D97-AF65-F5344CB8AC3E}">
        <p14:creationId xmlns:p14="http://schemas.microsoft.com/office/powerpoint/2010/main" val="1269090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17</a:t>
            </a:fld>
            <a:endParaRPr lang="en-US"/>
          </a:p>
        </p:txBody>
      </p:sp>
    </p:spTree>
    <p:extLst>
      <p:ext uri="{BB962C8B-B14F-4D97-AF65-F5344CB8AC3E}">
        <p14:creationId xmlns:p14="http://schemas.microsoft.com/office/powerpoint/2010/main" val="110340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18</a:t>
            </a:fld>
            <a:endParaRPr lang="en-US"/>
          </a:p>
        </p:txBody>
      </p:sp>
    </p:spTree>
    <p:extLst>
      <p:ext uri="{BB962C8B-B14F-4D97-AF65-F5344CB8AC3E}">
        <p14:creationId xmlns:p14="http://schemas.microsoft.com/office/powerpoint/2010/main" val="561372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19</a:t>
            </a:fld>
            <a:endParaRPr lang="en-US"/>
          </a:p>
        </p:txBody>
      </p:sp>
    </p:spTree>
    <p:extLst>
      <p:ext uri="{BB962C8B-B14F-4D97-AF65-F5344CB8AC3E}">
        <p14:creationId xmlns:p14="http://schemas.microsoft.com/office/powerpoint/2010/main" val="2753019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20</a:t>
            </a:fld>
            <a:endParaRPr lang="en-US"/>
          </a:p>
        </p:txBody>
      </p:sp>
    </p:spTree>
    <p:extLst>
      <p:ext uri="{BB962C8B-B14F-4D97-AF65-F5344CB8AC3E}">
        <p14:creationId xmlns:p14="http://schemas.microsoft.com/office/powerpoint/2010/main" val="24298791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22</a:t>
            </a:fld>
            <a:endParaRPr lang="en-US"/>
          </a:p>
        </p:txBody>
      </p:sp>
    </p:spTree>
    <p:extLst>
      <p:ext uri="{BB962C8B-B14F-4D97-AF65-F5344CB8AC3E}">
        <p14:creationId xmlns:p14="http://schemas.microsoft.com/office/powerpoint/2010/main" val="32886895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24</a:t>
            </a:fld>
            <a:endParaRPr lang="en-US"/>
          </a:p>
        </p:txBody>
      </p:sp>
    </p:spTree>
    <p:extLst>
      <p:ext uri="{BB962C8B-B14F-4D97-AF65-F5344CB8AC3E}">
        <p14:creationId xmlns:p14="http://schemas.microsoft.com/office/powerpoint/2010/main" val="10939224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25</a:t>
            </a:fld>
            <a:endParaRPr lang="en-US"/>
          </a:p>
        </p:txBody>
      </p:sp>
    </p:spTree>
    <p:extLst>
      <p:ext uri="{BB962C8B-B14F-4D97-AF65-F5344CB8AC3E}">
        <p14:creationId xmlns:p14="http://schemas.microsoft.com/office/powerpoint/2010/main" val="25852105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26</a:t>
            </a:fld>
            <a:endParaRPr lang="en-US"/>
          </a:p>
        </p:txBody>
      </p:sp>
    </p:spTree>
    <p:extLst>
      <p:ext uri="{BB962C8B-B14F-4D97-AF65-F5344CB8AC3E}">
        <p14:creationId xmlns:p14="http://schemas.microsoft.com/office/powerpoint/2010/main" val="26164871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27</a:t>
            </a:fld>
            <a:endParaRPr lang="en-US"/>
          </a:p>
        </p:txBody>
      </p:sp>
    </p:spTree>
    <p:extLst>
      <p:ext uri="{BB962C8B-B14F-4D97-AF65-F5344CB8AC3E}">
        <p14:creationId xmlns:p14="http://schemas.microsoft.com/office/powerpoint/2010/main" val="8100841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28</a:t>
            </a:fld>
            <a:endParaRPr lang="en-US"/>
          </a:p>
        </p:txBody>
      </p:sp>
    </p:spTree>
    <p:extLst>
      <p:ext uri="{BB962C8B-B14F-4D97-AF65-F5344CB8AC3E}">
        <p14:creationId xmlns:p14="http://schemas.microsoft.com/office/powerpoint/2010/main" val="15619014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30</a:t>
            </a:fld>
            <a:endParaRPr lang="en-US"/>
          </a:p>
        </p:txBody>
      </p:sp>
    </p:spTree>
    <p:extLst>
      <p:ext uri="{BB962C8B-B14F-4D97-AF65-F5344CB8AC3E}">
        <p14:creationId xmlns:p14="http://schemas.microsoft.com/office/powerpoint/2010/main" val="4199997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31</a:t>
            </a:fld>
            <a:endParaRPr lang="en-US"/>
          </a:p>
        </p:txBody>
      </p:sp>
    </p:spTree>
    <p:extLst>
      <p:ext uri="{BB962C8B-B14F-4D97-AF65-F5344CB8AC3E}">
        <p14:creationId xmlns:p14="http://schemas.microsoft.com/office/powerpoint/2010/main" val="8572035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32</a:t>
            </a:fld>
            <a:endParaRPr lang="en-US"/>
          </a:p>
        </p:txBody>
      </p:sp>
    </p:spTree>
    <p:extLst>
      <p:ext uri="{BB962C8B-B14F-4D97-AF65-F5344CB8AC3E}">
        <p14:creationId xmlns:p14="http://schemas.microsoft.com/office/powerpoint/2010/main" val="2214540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33</a:t>
            </a:fld>
            <a:endParaRPr lang="en-US"/>
          </a:p>
        </p:txBody>
      </p:sp>
    </p:spTree>
    <p:extLst>
      <p:ext uri="{BB962C8B-B14F-4D97-AF65-F5344CB8AC3E}">
        <p14:creationId xmlns:p14="http://schemas.microsoft.com/office/powerpoint/2010/main" val="34510086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DE5B78-7355-A548-8286-CAB71A76BF2D}" type="slidenum">
              <a:rPr lang="en-US" smtClean="0"/>
              <a:t>34</a:t>
            </a:fld>
            <a:endParaRPr lang="en-US"/>
          </a:p>
        </p:txBody>
      </p:sp>
    </p:spTree>
    <p:extLst>
      <p:ext uri="{BB962C8B-B14F-4D97-AF65-F5344CB8AC3E}">
        <p14:creationId xmlns:p14="http://schemas.microsoft.com/office/powerpoint/2010/main" val="20345905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35</a:t>
            </a:fld>
            <a:endParaRPr lang="en-US"/>
          </a:p>
        </p:txBody>
      </p:sp>
    </p:spTree>
    <p:extLst>
      <p:ext uri="{BB962C8B-B14F-4D97-AF65-F5344CB8AC3E}">
        <p14:creationId xmlns:p14="http://schemas.microsoft.com/office/powerpoint/2010/main" val="1629826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36</a:t>
            </a:fld>
            <a:endParaRPr lang="en-US"/>
          </a:p>
        </p:txBody>
      </p:sp>
    </p:spTree>
    <p:extLst>
      <p:ext uri="{BB962C8B-B14F-4D97-AF65-F5344CB8AC3E}">
        <p14:creationId xmlns:p14="http://schemas.microsoft.com/office/powerpoint/2010/main" val="11169108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37</a:t>
            </a:fld>
            <a:endParaRPr lang="en-US"/>
          </a:p>
        </p:txBody>
      </p:sp>
    </p:spTree>
    <p:extLst>
      <p:ext uri="{BB962C8B-B14F-4D97-AF65-F5344CB8AC3E}">
        <p14:creationId xmlns:p14="http://schemas.microsoft.com/office/powerpoint/2010/main" val="25336882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38</a:t>
            </a:fld>
            <a:endParaRPr lang="en-US"/>
          </a:p>
        </p:txBody>
      </p:sp>
    </p:spTree>
    <p:extLst>
      <p:ext uri="{BB962C8B-B14F-4D97-AF65-F5344CB8AC3E}">
        <p14:creationId xmlns:p14="http://schemas.microsoft.com/office/powerpoint/2010/main" val="8803900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39</a:t>
            </a:fld>
            <a:endParaRPr lang="en-US"/>
          </a:p>
        </p:txBody>
      </p:sp>
    </p:spTree>
    <p:extLst>
      <p:ext uri="{BB962C8B-B14F-4D97-AF65-F5344CB8AC3E}">
        <p14:creationId xmlns:p14="http://schemas.microsoft.com/office/powerpoint/2010/main" val="9831468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40</a:t>
            </a:fld>
            <a:endParaRPr lang="en-US"/>
          </a:p>
        </p:txBody>
      </p:sp>
    </p:spTree>
    <p:extLst>
      <p:ext uri="{BB962C8B-B14F-4D97-AF65-F5344CB8AC3E}">
        <p14:creationId xmlns:p14="http://schemas.microsoft.com/office/powerpoint/2010/main" val="42036460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42</a:t>
            </a:fld>
            <a:endParaRPr lang="en-US"/>
          </a:p>
        </p:txBody>
      </p:sp>
    </p:spTree>
    <p:extLst>
      <p:ext uri="{BB962C8B-B14F-4D97-AF65-F5344CB8AC3E}">
        <p14:creationId xmlns:p14="http://schemas.microsoft.com/office/powerpoint/2010/main" val="1082615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44</a:t>
            </a:fld>
            <a:endParaRPr lang="en-US"/>
          </a:p>
        </p:txBody>
      </p:sp>
    </p:spTree>
    <p:extLst>
      <p:ext uri="{BB962C8B-B14F-4D97-AF65-F5344CB8AC3E}">
        <p14:creationId xmlns:p14="http://schemas.microsoft.com/office/powerpoint/2010/main" val="14361622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45</a:t>
            </a:fld>
            <a:endParaRPr lang="en-US"/>
          </a:p>
        </p:txBody>
      </p:sp>
    </p:spTree>
    <p:extLst>
      <p:ext uri="{BB962C8B-B14F-4D97-AF65-F5344CB8AC3E}">
        <p14:creationId xmlns:p14="http://schemas.microsoft.com/office/powerpoint/2010/main" val="8707255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46</a:t>
            </a:fld>
            <a:endParaRPr lang="en-US"/>
          </a:p>
        </p:txBody>
      </p:sp>
    </p:spTree>
    <p:extLst>
      <p:ext uri="{BB962C8B-B14F-4D97-AF65-F5344CB8AC3E}">
        <p14:creationId xmlns:p14="http://schemas.microsoft.com/office/powerpoint/2010/main" val="27905208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47</a:t>
            </a:fld>
            <a:endParaRPr lang="en-US"/>
          </a:p>
        </p:txBody>
      </p:sp>
    </p:spTree>
    <p:extLst>
      <p:ext uri="{BB962C8B-B14F-4D97-AF65-F5344CB8AC3E}">
        <p14:creationId xmlns:p14="http://schemas.microsoft.com/office/powerpoint/2010/main" val="1165212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DE5B78-7355-A548-8286-CAB71A76BF2D}" type="slidenum">
              <a:rPr lang="en-US" smtClean="0"/>
              <a:t>48</a:t>
            </a:fld>
            <a:endParaRPr lang="en-US"/>
          </a:p>
        </p:txBody>
      </p:sp>
    </p:spTree>
    <p:extLst>
      <p:ext uri="{BB962C8B-B14F-4D97-AF65-F5344CB8AC3E}">
        <p14:creationId xmlns:p14="http://schemas.microsoft.com/office/powerpoint/2010/main" val="10443642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49</a:t>
            </a:fld>
            <a:endParaRPr lang="en-US"/>
          </a:p>
        </p:txBody>
      </p:sp>
    </p:spTree>
    <p:extLst>
      <p:ext uri="{BB962C8B-B14F-4D97-AF65-F5344CB8AC3E}">
        <p14:creationId xmlns:p14="http://schemas.microsoft.com/office/powerpoint/2010/main" val="19865070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50</a:t>
            </a:fld>
            <a:endParaRPr lang="en-US"/>
          </a:p>
        </p:txBody>
      </p:sp>
    </p:spTree>
    <p:extLst>
      <p:ext uri="{BB962C8B-B14F-4D97-AF65-F5344CB8AC3E}">
        <p14:creationId xmlns:p14="http://schemas.microsoft.com/office/powerpoint/2010/main" val="411903944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7DE5B78-7355-A548-8286-CAB71A76BF2D}" type="slidenum">
              <a:rPr lang="en-US" smtClean="0"/>
              <a:t>51</a:t>
            </a:fld>
            <a:endParaRPr lang="en-US"/>
          </a:p>
        </p:txBody>
      </p:sp>
    </p:spTree>
    <p:extLst>
      <p:ext uri="{BB962C8B-B14F-4D97-AF65-F5344CB8AC3E}">
        <p14:creationId xmlns:p14="http://schemas.microsoft.com/office/powerpoint/2010/main" val="20129826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53</a:t>
            </a:fld>
            <a:endParaRPr lang="en-US"/>
          </a:p>
        </p:txBody>
      </p:sp>
    </p:spTree>
    <p:extLst>
      <p:ext uri="{BB962C8B-B14F-4D97-AF65-F5344CB8AC3E}">
        <p14:creationId xmlns:p14="http://schemas.microsoft.com/office/powerpoint/2010/main" val="37956616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54</a:t>
            </a:fld>
            <a:endParaRPr lang="en-US"/>
          </a:p>
        </p:txBody>
      </p:sp>
    </p:spTree>
    <p:extLst>
      <p:ext uri="{BB962C8B-B14F-4D97-AF65-F5344CB8AC3E}">
        <p14:creationId xmlns:p14="http://schemas.microsoft.com/office/powerpoint/2010/main" val="31043102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55</a:t>
            </a:fld>
            <a:endParaRPr lang="en-US"/>
          </a:p>
        </p:txBody>
      </p:sp>
    </p:spTree>
    <p:extLst>
      <p:ext uri="{BB962C8B-B14F-4D97-AF65-F5344CB8AC3E}">
        <p14:creationId xmlns:p14="http://schemas.microsoft.com/office/powerpoint/2010/main" val="22618640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noRot="1" noChangeAspect="1"/>
          </p:cNvSpPr>
          <p:nvPr>
            <p:ph type="sldImg"/>
          </p:nvPr>
        </p:nvSpPr>
        <p:spPr>
          <a:xfrm>
            <a:off x="423863" y="704850"/>
            <a:ext cx="6186487" cy="3481388"/>
          </a:xfrm>
          <a:prstGeom prst="rect">
            <a:avLst/>
          </a:prstGeom>
        </p:spPr>
      </p:sp>
      <p:sp>
        <p:nvSpPr>
          <p:cNvPr id="49" name="PlaceHolder 2"/>
          <p:cNvSpPr>
            <a:spLocks noGrp="1"/>
          </p:cNvSpPr>
          <p:nvPr>
            <p:ph type="body"/>
          </p:nvPr>
        </p:nvSpPr>
        <p:spPr>
          <a:xfrm>
            <a:off x="703440" y="4410000"/>
            <a:ext cx="5627160" cy="4177800"/>
          </a:xfrm>
          <a:prstGeom prst="rect">
            <a:avLst/>
          </a:prstGeom>
        </p:spPr>
        <p:txBody>
          <a:bodyPr lIns="0" tIns="0" rIns="0" bIns="0"/>
          <a:lstStyle/>
          <a:p>
            <a:pPr>
              <a:lnSpc>
                <a:spcPct val="100000"/>
              </a:lnSpc>
            </a:pPr>
            <a:r>
              <a:rPr lang="en-US" sz="1000" b="0" strike="noStrike" spc="-1">
                <a:latin typeface="Arial Unicode MS"/>
                <a:ea typeface="Arial Unicode MS"/>
              </a:rPr>
              <a:t>Figure 4. Changing Timeline of Infection after Organ Transplantation. Infections occur in a generally predictable pattern after solid-organ transplantation. The development of infection is delayed by prophylaxis and accelerated by intensified immunosuppression, drug toxic effects that may cause leukopenia, or immunomodulatory viral infections such as infection with cytomegalovirus (CMV), hepatitis C virus (HCV), or Epstein–Barr virus (EBV). At the time of transplantation, a patient's short-term and long-term risk of infection can be stratified according to donor and recipient screening, the technical outcome of surgery, and the intensity of immunosuppression required to prevent graft rejection. Subsequently, an ongoing assessment of the risk of infection is used to adjust both prophylaxis and immunosuppressive therapy. MRSA denotes methicillin-resistant </a:t>
            </a:r>
            <a:r>
              <a:rPr lang="en-US" sz="1000" b="0" i="1" strike="noStrike" spc="-1">
                <a:latin typeface="Arial Unicode MS"/>
                <a:ea typeface="Arial Unicode MS"/>
              </a:rPr>
              <a:t>Staphylococcus aureus,</a:t>
            </a:r>
            <a:r>
              <a:rPr lang="en-US" sz="1000" b="0" strike="noStrike" spc="-1">
                <a:latin typeface="Arial Unicode MS"/>
                <a:ea typeface="Arial Unicode MS"/>
              </a:rPr>
              <a:t> VRE vancomycin-resistant </a:t>
            </a:r>
            <a:r>
              <a:rPr lang="en-US" sz="1000" b="0" i="1" strike="noStrike" spc="-1">
                <a:latin typeface="Arial Unicode MS"/>
                <a:ea typeface="Arial Unicode MS"/>
              </a:rPr>
              <a:t>Enterococcus faecalis,</a:t>
            </a:r>
            <a:r>
              <a:rPr lang="en-US" sz="1000" b="0" strike="noStrike" spc="-1">
                <a:latin typeface="Arial Unicode MS"/>
                <a:ea typeface="Arial Unicode MS"/>
              </a:rPr>
              <a:t> HSV herpes simplex virus, LCMV lymphocytic choriomeningitis virus, HIV human immunodeficiency virus, PCP </a:t>
            </a:r>
            <a:r>
              <a:rPr lang="en-US" sz="1000" b="0" i="1" strike="noStrike" spc="-1">
                <a:latin typeface="Arial Unicode MS"/>
                <a:ea typeface="Arial Unicode MS"/>
              </a:rPr>
              <a:t>Pneumocystis carinii</a:t>
            </a:r>
            <a:r>
              <a:rPr lang="en-US" sz="1000" b="0" strike="noStrike" spc="-1">
                <a:latin typeface="Arial Unicode MS"/>
                <a:ea typeface="Arial Unicode MS"/>
              </a:rPr>
              <a:t> pneumonia, HBV hepatitis B virus, VZV varicella–zoster virus, SARS severe acute respiratory syndrome, PML progressive multifocal leukoencephalopathy, and PTLD post-transplantation lymphoproliferative disorder. Modified from Fishman and Rubin </a:t>
            </a:r>
            <a:r>
              <a:rPr lang="en-US" sz="1000" b="0" strike="noStrike" spc="-1" baseline="101000">
                <a:latin typeface="Arial Unicode MS"/>
                <a:ea typeface="Arial Unicode MS"/>
              </a:rPr>
              <a:t>1</a:t>
            </a:r>
            <a:r>
              <a:rPr lang="en-US" sz="1000" b="0" strike="noStrike" spc="-1">
                <a:latin typeface="Arial Unicode MS"/>
                <a:ea typeface="Arial Unicode MS"/>
              </a:rPr>
              <a:t> and Rubin et al. </a:t>
            </a:r>
            <a:r>
              <a:rPr lang="en-US" sz="1000" b="0" strike="noStrike" spc="-1" baseline="101000">
                <a:latin typeface="Arial Unicode MS"/>
                <a:ea typeface="Arial Unicode MS"/>
              </a:rPr>
              <a:t>45</a:t>
            </a:r>
            <a:r>
              <a:rPr lang="en-US" sz="1000" b="0" strike="noStrike" spc="-1">
                <a:latin typeface="Arial Unicode MS"/>
                <a:ea typeface="Arial Unicode MS"/>
              </a:rPr>
              <a:t> </a:t>
            </a:r>
            <a:endParaRPr lang="en-US" sz="1000" b="0" strike="noStrike" spc="-1">
              <a:latin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57</a:t>
            </a:fld>
            <a:endParaRPr lang="en-US"/>
          </a:p>
        </p:txBody>
      </p:sp>
    </p:spTree>
    <p:extLst>
      <p:ext uri="{BB962C8B-B14F-4D97-AF65-F5344CB8AC3E}">
        <p14:creationId xmlns:p14="http://schemas.microsoft.com/office/powerpoint/2010/main" val="8950163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DE5B78-7355-A548-8286-CAB71A76BF2D}" type="slidenum">
              <a:rPr lang="en-US" smtClean="0"/>
              <a:t>59</a:t>
            </a:fld>
            <a:endParaRPr lang="en-US"/>
          </a:p>
        </p:txBody>
      </p:sp>
    </p:spTree>
    <p:extLst>
      <p:ext uri="{BB962C8B-B14F-4D97-AF65-F5344CB8AC3E}">
        <p14:creationId xmlns:p14="http://schemas.microsoft.com/office/powerpoint/2010/main" val="2419808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C1ED7-537B-33E8-1686-9BF7FBC25D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5FF949-5A09-D246-D587-D9D06BCF7F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8D76B7-79FC-CDE3-0716-B07C0EDCA76D}"/>
              </a:ext>
            </a:extLst>
          </p:cNvPr>
          <p:cNvSpPr>
            <a:spLocks noGrp="1"/>
          </p:cNvSpPr>
          <p:nvPr>
            <p:ph type="dt" sz="half" idx="10"/>
          </p:nvPr>
        </p:nvSpPr>
        <p:spPr/>
        <p:txBody>
          <a:bodyPr/>
          <a:lstStyle/>
          <a:p>
            <a:fld id="{2166A493-E83D-9540-8F67-60EB60C1BB58}" type="datetimeFigureOut">
              <a:rPr lang="en-US" smtClean="0"/>
              <a:t>3/13/23</a:t>
            </a:fld>
            <a:endParaRPr lang="en-US"/>
          </a:p>
        </p:txBody>
      </p:sp>
      <p:sp>
        <p:nvSpPr>
          <p:cNvPr id="5" name="Footer Placeholder 4">
            <a:extLst>
              <a:ext uri="{FF2B5EF4-FFF2-40B4-BE49-F238E27FC236}">
                <a16:creationId xmlns:a16="http://schemas.microsoft.com/office/drawing/2014/main" id="{BCC2509D-D961-4198-60C1-233AE17304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D65C95-1F27-4E85-54D5-E6BAFF79C658}"/>
              </a:ext>
            </a:extLst>
          </p:cNvPr>
          <p:cNvSpPr>
            <a:spLocks noGrp="1"/>
          </p:cNvSpPr>
          <p:nvPr>
            <p:ph type="sldNum" sz="quarter" idx="12"/>
          </p:nvPr>
        </p:nvSpPr>
        <p:spPr/>
        <p:txBody>
          <a:bodyPr/>
          <a:lstStyle/>
          <a:p>
            <a:fld id="{83F2126E-F305-AE43-8979-3AE7DC8E39C9}" type="slidenum">
              <a:rPr lang="en-US" smtClean="0"/>
              <a:t>‹#›</a:t>
            </a:fld>
            <a:endParaRPr lang="en-US"/>
          </a:p>
        </p:txBody>
      </p:sp>
    </p:spTree>
    <p:extLst>
      <p:ext uri="{BB962C8B-B14F-4D97-AF65-F5344CB8AC3E}">
        <p14:creationId xmlns:p14="http://schemas.microsoft.com/office/powerpoint/2010/main" val="3053236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2A706-6B22-3C92-3822-035D86F68FA6}"/>
              </a:ext>
            </a:extLst>
          </p:cNvPr>
          <p:cNvSpPr>
            <a:spLocks noGrp="1"/>
          </p:cNvSpPr>
          <p:nvPr>
            <p:ph type="title"/>
          </p:nvPr>
        </p:nvSpPr>
        <p:spPr>
          <a:xfrm>
            <a:off x="838200" y="256076"/>
            <a:ext cx="10515600" cy="99768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D38E54D-31FF-2A75-B41C-C46195FF9641}"/>
              </a:ext>
            </a:extLst>
          </p:cNvPr>
          <p:cNvSpPr>
            <a:spLocks noGrp="1"/>
          </p:cNvSpPr>
          <p:nvPr>
            <p:ph idx="1"/>
          </p:nvPr>
        </p:nvSpPr>
        <p:spPr>
          <a:xfrm>
            <a:off x="838200" y="1608991"/>
            <a:ext cx="10515600" cy="45679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53EE96-EEBA-1F0D-A9DA-2640C4138BE5}"/>
              </a:ext>
            </a:extLst>
          </p:cNvPr>
          <p:cNvSpPr>
            <a:spLocks noGrp="1"/>
          </p:cNvSpPr>
          <p:nvPr>
            <p:ph type="dt" sz="half" idx="10"/>
          </p:nvPr>
        </p:nvSpPr>
        <p:spPr/>
        <p:txBody>
          <a:bodyPr/>
          <a:lstStyle/>
          <a:p>
            <a:fld id="{2166A493-E83D-9540-8F67-60EB60C1BB58}" type="datetimeFigureOut">
              <a:rPr lang="en-US" smtClean="0"/>
              <a:t>3/13/23</a:t>
            </a:fld>
            <a:endParaRPr lang="en-US"/>
          </a:p>
        </p:txBody>
      </p:sp>
      <p:sp>
        <p:nvSpPr>
          <p:cNvPr id="5" name="Footer Placeholder 4">
            <a:extLst>
              <a:ext uri="{FF2B5EF4-FFF2-40B4-BE49-F238E27FC236}">
                <a16:creationId xmlns:a16="http://schemas.microsoft.com/office/drawing/2014/main" id="{D1E15744-3BDB-C4B1-ACF4-761985D2E9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3CFA7-1E1E-9AD9-9C0A-16F8C6F9C6F3}"/>
              </a:ext>
            </a:extLst>
          </p:cNvPr>
          <p:cNvSpPr>
            <a:spLocks noGrp="1"/>
          </p:cNvSpPr>
          <p:nvPr>
            <p:ph type="sldNum" sz="quarter" idx="12"/>
          </p:nvPr>
        </p:nvSpPr>
        <p:spPr/>
        <p:txBody>
          <a:bodyPr/>
          <a:lstStyle/>
          <a:p>
            <a:fld id="{83F2126E-F305-AE43-8979-3AE7DC8E39C9}" type="slidenum">
              <a:rPr lang="en-US" smtClean="0"/>
              <a:t>‹#›</a:t>
            </a:fld>
            <a:endParaRPr lang="en-US"/>
          </a:p>
        </p:txBody>
      </p:sp>
    </p:spTree>
    <p:extLst>
      <p:ext uri="{BB962C8B-B14F-4D97-AF65-F5344CB8AC3E}">
        <p14:creationId xmlns:p14="http://schemas.microsoft.com/office/powerpoint/2010/main" val="3132711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1E358-40F5-D38F-2C40-2893D65CE8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C1FC79-2A1C-117F-F22B-6FBE4B25318A}"/>
              </a:ext>
            </a:extLst>
          </p:cNvPr>
          <p:cNvSpPr>
            <a:spLocks noGrp="1"/>
          </p:cNvSpPr>
          <p:nvPr>
            <p:ph type="body" idx="1"/>
          </p:nvPr>
        </p:nvSpPr>
        <p:spPr>
          <a:xfrm>
            <a:off x="831850" y="4589463"/>
            <a:ext cx="10515600"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4976B9-23DF-9CA2-1700-82B4422D5569}"/>
              </a:ext>
            </a:extLst>
          </p:cNvPr>
          <p:cNvSpPr>
            <a:spLocks noGrp="1"/>
          </p:cNvSpPr>
          <p:nvPr>
            <p:ph type="dt" sz="half" idx="10"/>
          </p:nvPr>
        </p:nvSpPr>
        <p:spPr/>
        <p:txBody>
          <a:bodyPr/>
          <a:lstStyle/>
          <a:p>
            <a:fld id="{2166A493-E83D-9540-8F67-60EB60C1BB58}" type="datetimeFigureOut">
              <a:rPr lang="en-US" smtClean="0"/>
              <a:t>3/13/23</a:t>
            </a:fld>
            <a:endParaRPr lang="en-US"/>
          </a:p>
        </p:txBody>
      </p:sp>
      <p:sp>
        <p:nvSpPr>
          <p:cNvPr id="5" name="Footer Placeholder 4">
            <a:extLst>
              <a:ext uri="{FF2B5EF4-FFF2-40B4-BE49-F238E27FC236}">
                <a16:creationId xmlns:a16="http://schemas.microsoft.com/office/drawing/2014/main" id="{EA4392DB-7183-092B-3325-D5FBEEA0A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19DBFF-92DB-EEF4-065A-6D6A6FDA55A3}"/>
              </a:ext>
            </a:extLst>
          </p:cNvPr>
          <p:cNvSpPr>
            <a:spLocks noGrp="1"/>
          </p:cNvSpPr>
          <p:nvPr>
            <p:ph type="sldNum" sz="quarter" idx="12"/>
          </p:nvPr>
        </p:nvSpPr>
        <p:spPr/>
        <p:txBody>
          <a:bodyPr/>
          <a:lstStyle/>
          <a:p>
            <a:fld id="{83F2126E-F305-AE43-8979-3AE7DC8E39C9}" type="slidenum">
              <a:rPr lang="en-US" smtClean="0"/>
              <a:t>‹#›</a:t>
            </a:fld>
            <a:endParaRPr lang="en-US"/>
          </a:p>
        </p:txBody>
      </p:sp>
    </p:spTree>
    <p:extLst>
      <p:ext uri="{BB962C8B-B14F-4D97-AF65-F5344CB8AC3E}">
        <p14:creationId xmlns:p14="http://schemas.microsoft.com/office/powerpoint/2010/main" val="2479964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4D24A-299C-6554-F8D3-A894779DAD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75754-753D-9F37-BC4A-758D733E59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E08A40-4FD2-2EB9-FAC2-6433452566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3175FF-83FC-80EF-AF8E-8BF46CB6EDC0}"/>
              </a:ext>
            </a:extLst>
          </p:cNvPr>
          <p:cNvSpPr>
            <a:spLocks noGrp="1"/>
          </p:cNvSpPr>
          <p:nvPr>
            <p:ph type="dt" sz="half" idx="10"/>
          </p:nvPr>
        </p:nvSpPr>
        <p:spPr/>
        <p:txBody>
          <a:bodyPr/>
          <a:lstStyle/>
          <a:p>
            <a:fld id="{2166A493-E83D-9540-8F67-60EB60C1BB58}" type="datetimeFigureOut">
              <a:rPr lang="en-US" smtClean="0"/>
              <a:t>3/13/23</a:t>
            </a:fld>
            <a:endParaRPr lang="en-US"/>
          </a:p>
        </p:txBody>
      </p:sp>
      <p:sp>
        <p:nvSpPr>
          <p:cNvPr id="6" name="Footer Placeholder 5">
            <a:extLst>
              <a:ext uri="{FF2B5EF4-FFF2-40B4-BE49-F238E27FC236}">
                <a16:creationId xmlns:a16="http://schemas.microsoft.com/office/drawing/2014/main" id="{A34E3BFD-D689-589D-C489-42E7204548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B3BDE5-08A7-4077-2ECE-4E7EC926E839}"/>
              </a:ext>
            </a:extLst>
          </p:cNvPr>
          <p:cNvSpPr>
            <a:spLocks noGrp="1"/>
          </p:cNvSpPr>
          <p:nvPr>
            <p:ph type="sldNum" sz="quarter" idx="12"/>
          </p:nvPr>
        </p:nvSpPr>
        <p:spPr/>
        <p:txBody>
          <a:bodyPr/>
          <a:lstStyle/>
          <a:p>
            <a:fld id="{83F2126E-F305-AE43-8979-3AE7DC8E39C9}" type="slidenum">
              <a:rPr lang="en-US" smtClean="0"/>
              <a:t>‹#›</a:t>
            </a:fld>
            <a:endParaRPr lang="en-US"/>
          </a:p>
        </p:txBody>
      </p:sp>
    </p:spTree>
    <p:extLst>
      <p:ext uri="{BB962C8B-B14F-4D97-AF65-F5344CB8AC3E}">
        <p14:creationId xmlns:p14="http://schemas.microsoft.com/office/powerpoint/2010/main" val="4231291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3F402-34AA-E719-C955-C03ADC4726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3A2E98-B45D-45A5-4F65-24581845BD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AD3C39-14E6-2D00-8084-6D2F045E90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236F9F-DDA6-E98A-1A83-4B2249DB9A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3C6200-56C6-D303-EE5E-79D85EA2D2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3586E1-C7D7-C19C-D270-98C55FB75A5A}"/>
              </a:ext>
            </a:extLst>
          </p:cNvPr>
          <p:cNvSpPr>
            <a:spLocks noGrp="1"/>
          </p:cNvSpPr>
          <p:nvPr>
            <p:ph type="dt" sz="half" idx="10"/>
          </p:nvPr>
        </p:nvSpPr>
        <p:spPr/>
        <p:txBody>
          <a:bodyPr/>
          <a:lstStyle/>
          <a:p>
            <a:fld id="{2166A493-E83D-9540-8F67-60EB60C1BB58}" type="datetimeFigureOut">
              <a:rPr lang="en-US" smtClean="0"/>
              <a:t>3/13/23</a:t>
            </a:fld>
            <a:endParaRPr lang="en-US"/>
          </a:p>
        </p:txBody>
      </p:sp>
      <p:sp>
        <p:nvSpPr>
          <p:cNvPr id="8" name="Footer Placeholder 7">
            <a:extLst>
              <a:ext uri="{FF2B5EF4-FFF2-40B4-BE49-F238E27FC236}">
                <a16:creationId xmlns:a16="http://schemas.microsoft.com/office/drawing/2014/main" id="{49DDE0F4-502E-A5DE-8012-E8B47036FF1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05E801-821F-36CD-99CF-033A44C45A1E}"/>
              </a:ext>
            </a:extLst>
          </p:cNvPr>
          <p:cNvSpPr>
            <a:spLocks noGrp="1"/>
          </p:cNvSpPr>
          <p:nvPr>
            <p:ph type="sldNum" sz="quarter" idx="12"/>
          </p:nvPr>
        </p:nvSpPr>
        <p:spPr/>
        <p:txBody>
          <a:bodyPr/>
          <a:lstStyle/>
          <a:p>
            <a:fld id="{83F2126E-F305-AE43-8979-3AE7DC8E39C9}" type="slidenum">
              <a:rPr lang="en-US" smtClean="0"/>
              <a:t>‹#›</a:t>
            </a:fld>
            <a:endParaRPr lang="en-US"/>
          </a:p>
        </p:txBody>
      </p:sp>
    </p:spTree>
    <p:extLst>
      <p:ext uri="{BB962C8B-B14F-4D97-AF65-F5344CB8AC3E}">
        <p14:creationId xmlns:p14="http://schemas.microsoft.com/office/powerpoint/2010/main" val="2021366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E0955-30E6-FD66-2C01-B436A73879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9FBB2A9-291D-8818-FCA6-29A29E88B632}"/>
              </a:ext>
            </a:extLst>
          </p:cNvPr>
          <p:cNvSpPr>
            <a:spLocks noGrp="1"/>
          </p:cNvSpPr>
          <p:nvPr>
            <p:ph type="dt" sz="half" idx="10"/>
          </p:nvPr>
        </p:nvSpPr>
        <p:spPr/>
        <p:txBody>
          <a:bodyPr/>
          <a:lstStyle/>
          <a:p>
            <a:fld id="{2166A493-E83D-9540-8F67-60EB60C1BB58}" type="datetimeFigureOut">
              <a:rPr lang="en-US" smtClean="0"/>
              <a:t>3/13/23</a:t>
            </a:fld>
            <a:endParaRPr lang="en-US"/>
          </a:p>
        </p:txBody>
      </p:sp>
      <p:sp>
        <p:nvSpPr>
          <p:cNvPr id="4" name="Footer Placeholder 3">
            <a:extLst>
              <a:ext uri="{FF2B5EF4-FFF2-40B4-BE49-F238E27FC236}">
                <a16:creationId xmlns:a16="http://schemas.microsoft.com/office/drawing/2014/main" id="{A8A43E53-53DD-0ECC-E7E3-9EA0C165C2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98694E-8647-0FE7-6341-AD8D169CFAA2}"/>
              </a:ext>
            </a:extLst>
          </p:cNvPr>
          <p:cNvSpPr>
            <a:spLocks noGrp="1"/>
          </p:cNvSpPr>
          <p:nvPr>
            <p:ph type="sldNum" sz="quarter" idx="12"/>
          </p:nvPr>
        </p:nvSpPr>
        <p:spPr/>
        <p:txBody>
          <a:bodyPr/>
          <a:lstStyle/>
          <a:p>
            <a:fld id="{83F2126E-F305-AE43-8979-3AE7DC8E39C9}" type="slidenum">
              <a:rPr lang="en-US" smtClean="0"/>
              <a:t>‹#›</a:t>
            </a:fld>
            <a:endParaRPr lang="en-US"/>
          </a:p>
        </p:txBody>
      </p:sp>
    </p:spTree>
    <p:extLst>
      <p:ext uri="{BB962C8B-B14F-4D97-AF65-F5344CB8AC3E}">
        <p14:creationId xmlns:p14="http://schemas.microsoft.com/office/powerpoint/2010/main" val="2764554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23BEFF-AD44-44A9-9E65-253572075713}"/>
              </a:ext>
            </a:extLst>
          </p:cNvPr>
          <p:cNvSpPr>
            <a:spLocks noGrp="1"/>
          </p:cNvSpPr>
          <p:nvPr>
            <p:ph type="dt" sz="half" idx="10"/>
          </p:nvPr>
        </p:nvSpPr>
        <p:spPr/>
        <p:txBody>
          <a:bodyPr/>
          <a:lstStyle/>
          <a:p>
            <a:fld id="{2166A493-E83D-9540-8F67-60EB60C1BB58}" type="datetimeFigureOut">
              <a:rPr lang="en-US" smtClean="0"/>
              <a:t>3/13/23</a:t>
            </a:fld>
            <a:endParaRPr lang="en-US"/>
          </a:p>
        </p:txBody>
      </p:sp>
      <p:sp>
        <p:nvSpPr>
          <p:cNvPr id="3" name="Footer Placeholder 2">
            <a:extLst>
              <a:ext uri="{FF2B5EF4-FFF2-40B4-BE49-F238E27FC236}">
                <a16:creationId xmlns:a16="http://schemas.microsoft.com/office/drawing/2014/main" id="{85105D1E-829D-E9B3-7472-521E4B78C9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564C19-F802-B8D6-C144-DDF8FBF62430}"/>
              </a:ext>
            </a:extLst>
          </p:cNvPr>
          <p:cNvSpPr>
            <a:spLocks noGrp="1"/>
          </p:cNvSpPr>
          <p:nvPr>
            <p:ph type="sldNum" sz="quarter" idx="12"/>
          </p:nvPr>
        </p:nvSpPr>
        <p:spPr/>
        <p:txBody>
          <a:bodyPr/>
          <a:lstStyle/>
          <a:p>
            <a:fld id="{83F2126E-F305-AE43-8979-3AE7DC8E39C9}" type="slidenum">
              <a:rPr lang="en-US" smtClean="0"/>
              <a:t>‹#›</a:t>
            </a:fld>
            <a:endParaRPr lang="en-US"/>
          </a:p>
        </p:txBody>
      </p:sp>
    </p:spTree>
    <p:extLst>
      <p:ext uri="{BB962C8B-B14F-4D97-AF65-F5344CB8AC3E}">
        <p14:creationId xmlns:p14="http://schemas.microsoft.com/office/powerpoint/2010/main" val="1706136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1E77C-E472-8773-7131-5FE088675F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550894-4DF6-4312-01B0-9A8E578AF7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1FD779-4EF7-895F-7507-632427027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711134-2C30-A0B2-46F7-CA224CACAC3C}"/>
              </a:ext>
            </a:extLst>
          </p:cNvPr>
          <p:cNvSpPr>
            <a:spLocks noGrp="1"/>
          </p:cNvSpPr>
          <p:nvPr>
            <p:ph type="dt" sz="half" idx="10"/>
          </p:nvPr>
        </p:nvSpPr>
        <p:spPr/>
        <p:txBody>
          <a:bodyPr/>
          <a:lstStyle/>
          <a:p>
            <a:fld id="{2166A493-E83D-9540-8F67-60EB60C1BB58}" type="datetimeFigureOut">
              <a:rPr lang="en-US" smtClean="0"/>
              <a:t>3/13/23</a:t>
            </a:fld>
            <a:endParaRPr lang="en-US"/>
          </a:p>
        </p:txBody>
      </p:sp>
      <p:sp>
        <p:nvSpPr>
          <p:cNvPr id="6" name="Footer Placeholder 5">
            <a:extLst>
              <a:ext uri="{FF2B5EF4-FFF2-40B4-BE49-F238E27FC236}">
                <a16:creationId xmlns:a16="http://schemas.microsoft.com/office/drawing/2014/main" id="{20F13359-067F-804F-5E0E-60EF4E1483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F4635-DAD8-E92E-FFB5-E755FE8DF2CE}"/>
              </a:ext>
            </a:extLst>
          </p:cNvPr>
          <p:cNvSpPr>
            <a:spLocks noGrp="1"/>
          </p:cNvSpPr>
          <p:nvPr>
            <p:ph type="sldNum" sz="quarter" idx="12"/>
          </p:nvPr>
        </p:nvSpPr>
        <p:spPr/>
        <p:txBody>
          <a:bodyPr/>
          <a:lstStyle/>
          <a:p>
            <a:fld id="{83F2126E-F305-AE43-8979-3AE7DC8E39C9}" type="slidenum">
              <a:rPr lang="en-US" smtClean="0"/>
              <a:t>‹#›</a:t>
            </a:fld>
            <a:endParaRPr lang="en-US"/>
          </a:p>
        </p:txBody>
      </p:sp>
    </p:spTree>
    <p:extLst>
      <p:ext uri="{BB962C8B-B14F-4D97-AF65-F5344CB8AC3E}">
        <p14:creationId xmlns:p14="http://schemas.microsoft.com/office/powerpoint/2010/main" val="3310810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C63F4-EC08-466F-9001-B222BF6EAA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A76919-DC4D-F053-EF2A-F895737375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ECB9D4-8A0D-23CE-2CA5-871AF6B22F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FC564B-B4D5-779B-1F3E-7CB7EB625ABE}"/>
              </a:ext>
            </a:extLst>
          </p:cNvPr>
          <p:cNvSpPr>
            <a:spLocks noGrp="1"/>
          </p:cNvSpPr>
          <p:nvPr>
            <p:ph type="dt" sz="half" idx="10"/>
          </p:nvPr>
        </p:nvSpPr>
        <p:spPr/>
        <p:txBody>
          <a:bodyPr/>
          <a:lstStyle/>
          <a:p>
            <a:fld id="{2166A493-E83D-9540-8F67-60EB60C1BB58}" type="datetimeFigureOut">
              <a:rPr lang="en-US" smtClean="0"/>
              <a:t>3/13/23</a:t>
            </a:fld>
            <a:endParaRPr lang="en-US"/>
          </a:p>
        </p:txBody>
      </p:sp>
      <p:sp>
        <p:nvSpPr>
          <p:cNvPr id="6" name="Footer Placeholder 5">
            <a:extLst>
              <a:ext uri="{FF2B5EF4-FFF2-40B4-BE49-F238E27FC236}">
                <a16:creationId xmlns:a16="http://schemas.microsoft.com/office/drawing/2014/main" id="{47A93AA1-E786-E9C2-9321-003B4EA48A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9FCBA0-A3B1-90AA-DBB0-B7FC84B41E8B}"/>
              </a:ext>
            </a:extLst>
          </p:cNvPr>
          <p:cNvSpPr>
            <a:spLocks noGrp="1"/>
          </p:cNvSpPr>
          <p:nvPr>
            <p:ph type="sldNum" sz="quarter" idx="12"/>
          </p:nvPr>
        </p:nvSpPr>
        <p:spPr/>
        <p:txBody>
          <a:bodyPr/>
          <a:lstStyle/>
          <a:p>
            <a:fld id="{83F2126E-F305-AE43-8979-3AE7DC8E39C9}" type="slidenum">
              <a:rPr lang="en-US" smtClean="0"/>
              <a:t>‹#›</a:t>
            </a:fld>
            <a:endParaRPr lang="en-US"/>
          </a:p>
        </p:txBody>
      </p:sp>
    </p:spTree>
    <p:extLst>
      <p:ext uri="{BB962C8B-B14F-4D97-AF65-F5344CB8AC3E}">
        <p14:creationId xmlns:p14="http://schemas.microsoft.com/office/powerpoint/2010/main" val="4158691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D3DC2-DCCB-E52E-66C5-334DC58C62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D71315-2525-502E-286E-1D24ED4E92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032802-85B1-B618-80AC-978B49C13C97}"/>
              </a:ext>
            </a:extLst>
          </p:cNvPr>
          <p:cNvSpPr>
            <a:spLocks noGrp="1"/>
          </p:cNvSpPr>
          <p:nvPr>
            <p:ph type="dt" sz="half" idx="10"/>
          </p:nvPr>
        </p:nvSpPr>
        <p:spPr/>
        <p:txBody>
          <a:bodyPr/>
          <a:lstStyle/>
          <a:p>
            <a:fld id="{2166A493-E83D-9540-8F67-60EB60C1BB58}" type="datetimeFigureOut">
              <a:rPr lang="en-US" smtClean="0"/>
              <a:t>3/13/23</a:t>
            </a:fld>
            <a:endParaRPr lang="en-US"/>
          </a:p>
        </p:txBody>
      </p:sp>
      <p:sp>
        <p:nvSpPr>
          <p:cNvPr id="5" name="Footer Placeholder 4">
            <a:extLst>
              <a:ext uri="{FF2B5EF4-FFF2-40B4-BE49-F238E27FC236}">
                <a16:creationId xmlns:a16="http://schemas.microsoft.com/office/drawing/2014/main" id="{EB9B3008-0238-6A27-483B-8FE1E80360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2BB7E8-A072-18EE-41D6-574932B7F570}"/>
              </a:ext>
            </a:extLst>
          </p:cNvPr>
          <p:cNvSpPr>
            <a:spLocks noGrp="1"/>
          </p:cNvSpPr>
          <p:nvPr>
            <p:ph type="sldNum" sz="quarter" idx="12"/>
          </p:nvPr>
        </p:nvSpPr>
        <p:spPr/>
        <p:txBody>
          <a:bodyPr/>
          <a:lstStyle/>
          <a:p>
            <a:fld id="{83F2126E-F305-AE43-8979-3AE7DC8E39C9}" type="slidenum">
              <a:rPr lang="en-US" smtClean="0"/>
              <a:t>‹#›</a:t>
            </a:fld>
            <a:endParaRPr lang="en-US"/>
          </a:p>
        </p:txBody>
      </p:sp>
    </p:spTree>
    <p:extLst>
      <p:ext uri="{BB962C8B-B14F-4D97-AF65-F5344CB8AC3E}">
        <p14:creationId xmlns:p14="http://schemas.microsoft.com/office/powerpoint/2010/main" val="113930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D926CA-F0F1-A0DF-37AD-A292C2B67D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CCA59E-716F-619E-CDAD-B812B225D5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334B26-A03E-354B-E888-7867B4A84EB9}"/>
              </a:ext>
            </a:extLst>
          </p:cNvPr>
          <p:cNvSpPr>
            <a:spLocks noGrp="1"/>
          </p:cNvSpPr>
          <p:nvPr>
            <p:ph type="dt" sz="half" idx="10"/>
          </p:nvPr>
        </p:nvSpPr>
        <p:spPr/>
        <p:txBody>
          <a:bodyPr/>
          <a:lstStyle/>
          <a:p>
            <a:fld id="{2166A493-E83D-9540-8F67-60EB60C1BB58}" type="datetimeFigureOut">
              <a:rPr lang="en-US" smtClean="0"/>
              <a:t>3/13/23</a:t>
            </a:fld>
            <a:endParaRPr lang="en-US"/>
          </a:p>
        </p:txBody>
      </p:sp>
      <p:sp>
        <p:nvSpPr>
          <p:cNvPr id="5" name="Footer Placeholder 4">
            <a:extLst>
              <a:ext uri="{FF2B5EF4-FFF2-40B4-BE49-F238E27FC236}">
                <a16:creationId xmlns:a16="http://schemas.microsoft.com/office/drawing/2014/main" id="{10079B7D-7110-7029-7D81-CA38837BF7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0333E-4295-90CF-DCFD-796E90776C67}"/>
              </a:ext>
            </a:extLst>
          </p:cNvPr>
          <p:cNvSpPr>
            <a:spLocks noGrp="1"/>
          </p:cNvSpPr>
          <p:nvPr>
            <p:ph type="sldNum" sz="quarter" idx="12"/>
          </p:nvPr>
        </p:nvSpPr>
        <p:spPr/>
        <p:txBody>
          <a:bodyPr/>
          <a:lstStyle/>
          <a:p>
            <a:fld id="{83F2126E-F305-AE43-8979-3AE7DC8E39C9}" type="slidenum">
              <a:rPr lang="en-US" smtClean="0"/>
              <a:t>‹#›</a:t>
            </a:fld>
            <a:endParaRPr lang="en-US"/>
          </a:p>
        </p:txBody>
      </p:sp>
    </p:spTree>
    <p:extLst>
      <p:ext uri="{BB962C8B-B14F-4D97-AF65-F5344CB8AC3E}">
        <p14:creationId xmlns:p14="http://schemas.microsoft.com/office/powerpoint/2010/main" val="40337854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600" y="273494"/>
            <a:ext cx="10972364" cy="1144800"/>
          </a:xfrm>
          <a:prstGeom prst="rect">
            <a:avLst/>
          </a:prstGeom>
        </p:spPr>
        <p:txBody>
          <a:bodyPr lIns="0" tIns="0" rIns="0" bIns="0" anchor="ctr"/>
          <a:lstStyle/>
          <a:p>
            <a:pPr algn="ctr"/>
            <a:endParaRPr lang="en-US" sz="3883" b="0" strike="noStrike" spc="-1">
              <a:latin typeface="Arial"/>
            </a:endParaRPr>
          </a:p>
        </p:txBody>
      </p:sp>
      <p:sp>
        <p:nvSpPr>
          <p:cNvPr id="3" name="PlaceHolder 2"/>
          <p:cNvSpPr>
            <a:spLocks noGrp="1"/>
          </p:cNvSpPr>
          <p:nvPr>
            <p:ph type="subTitle"/>
          </p:nvPr>
        </p:nvSpPr>
        <p:spPr>
          <a:xfrm>
            <a:off x="609600" y="1604753"/>
            <a:ext cx="10972364" cy="3977259"/>
          </a:xfrm>
          <a:prstGeom prst="rect">
            <a:avLst/>
          </a:prstGeom>
        </p:spPr>
        <p:txBody>
          <a:bodyPr lIns="0" tIns="0" rIns="0" bIns="0" anchor="ctr"/>
          <a:lstStyle/>
          <a:p>
            <a:pPr algn="ctr"/>
            <a:endParaRPr lang="en-US" sz="2824" b="0" strike="noStrike" spc="-1">
              <a:latin typeface="Arial"/>
            </a:endParaRPr>
          </a:p>
        </p:txBody>
      </p:sp>
    </p:spTree>
    <p:extLst>
      <p:ext uri="{BB962C8B-B14F-4D97-AF65-F5344CB8AC3E}">
        <p14:creationId xmlns:p14="http://schemas.microsoft.com/office/powerpoint/2010/main" val="2582813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9415A3-065D-A005-1704-0196C480C9E9}"/>
              </a:ext>
            </a:extLst>
          </p:cNvPr>
          <p:cNvSpPr>
            <a:spLocks noGrp="1"/>
          </p:cNvSpPr>
          <p:nvPr>
            <p:ph type="title"/>
          </p:nvPr>
        </p:nvSpPr>
        <p:spPr>
          <a:xfrm>
            <a:off x="838200" y="136525"/>
            <a:ext cx="10515600" cy="99768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3495E6-5BF6-C979-F905-54CB325A1C22}"/>
              </a:ext>
            </a:extLst>
          </p:cNvPr>
          <p:cNvSpPr>
            <a:spLocks noGrp="1"/>
          </p:cNvSpPr>
          <p:nvPr>
            <p:ph type="body" idx="1"/>
          </p:nvPr>
        </p:nvSpPr>
        <p:spPr>
          <a:xfrm>
            <a:off x="838200" y="1468315"/>
            <a:ext cx="10515600" cy="470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94DBD0-6FD5-9ECE-6536-91F1165204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66A493-E83D-9540-8F67-60EB60C1BB58}" type="datetimeFigureOut">
              <a:rPr lang="en-US" smtClean="0"/>
              <a:t>3/13/23</a:t>
            </a:fld>
            <a:endParaRPr lang="en-US"/>
          </a:p>
        </p:txBody>
      </p:sp>
      <p:sp>
        <p:nvSpPr>
          <p:cNvPr id="5" name="Footer Placeholder 4">
            <a:extLst>
              <a:ext uri="{FF2B5EF4-FFF2-40B4-BE49-F238E27FC236}">
                <a16:creationId xmlns:a16="http://schemas.microsoft.com/office/drawing/2014/main" id="{1D15C9E3-C488-0E39-B607-068179B5F6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09E9F58-D51B-B468-1F2A-9AAA176DE2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F2126E-F305-AE43-8979-3AE7DC8E39C9}" type="slidenum">
              <a:rPr lang="en-US" smtClean="0"/>
              <a:t>‹#›</a:t>
            </a:fld>
            <a:endParaRPr lang="en-US"/>
          </a:p>
        </p:txBody>
      </p:sp>
    </p:spTree>
    <p:extLst>
      <p:ext uri="{BB962C8B-B14F-4D97-AF65-F5344CB8AC3E}">
        <p14:creationId xmlns:p14="http://schemas.microsoft.com/office/powerpoint/2010/main" val="1832045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lnSpc>
          <a:spcPct val="90000"/>
        </a:lnSpc>
        <a:spcBef>
          <a:spcPct val="0"/>
        </a:spcBef>
        <a:buNone/>
        <a:defRPr sz="4400" kern="1200">
          <a:solidFill>
            <a:schemeClr val="tx1"/>
          </a:solidFill>
          <a:latin typeface="Georgia" panose="02040502050405020303"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FDD96-642D-9985-4F17-B44562199E07}"/>
              </a:ext>
            </a:extLst>
          </p:cNvPr>
          <p:cNvSpPr>
            <a:spLocks noGrp="1"/>
          </p:cNvSpPr>
          <p:nvPr>
            <p:ph type="ctrTitle"/>
          </p:nvPr>
        </p:nvSpPr>
        <p:spPr/>
        <p:txBody>
          <a:bodyPr/>
          <a:lstStyle/>
          <a:p>
            <a:r>
              <a:rPr lang="en-US" dirty="0"/>
              <a:t>Post Liver Transplant Infectious Complications</a:t>
            </a:r>
          </a:p>
        </p:txBody>
      </p:sp>
      <p:sp>
        <p:nvSpPr>
          <p:cNvPr id="3" name="Subtitle 2">
            <a:extLst>
              <a:ext uri="{FF2B5EF4-FFF2-40B4-BE49-F238E27FC236}">
                <a16:creationId xmlns:a16="http://schemas.microsoft.com/office/drawing/2014/main" id="{E5BCF895-FC6C-A679-4560-D19C06791793}"/>
              </a:ext>
            </a:extLst>
          </p:cNvPr>
          <p:cNvSpPr>
            <a:spLocks noGrp="1"/>
          </p:cNvSpPr>
          <p:nvPr>
            <p:ph type="subTitle" idx="1"/>
          </p:nvPr>
        </p:nvSpPr>
        <p:spPr/>
        <p:txBody>
          <a:bodyPr/>
          <a:lstStyle/>
          <a:p>
            <a:r>
              <a:rPr lang="en-US" dirty="0"/>
              <a:t>Mohammad Almeqdadi, MD</a:t>
            </a:r>
          </a:p>
          <a:p>
            <a:r>
              <a:rPr lang="en-US" dirty="0"/>
              <a:t>Transplant Hepatology Fellow, PGY-7</a:t>
            </a:r>
          </a:p>
        </p:txBody>
      </p:sp>
    </p:spTree>
    <p:extLst>
      <p:ext uri="{BB962C8B-B14F-4D97-AF65-F5344CB8AC3E}">
        <p14:creationId xmlns:p14="http://schemas.microsoft.com/office/powerpoint/2010/main" val="2204451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B2D35-193C-2216-18AD-7F9088E0D431}"/>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331F7A76-5017-8829-A621-E2F980EA8499}"/>
              </a:ext>
            </a:extLst>
          </p:cNvPr>
          <p:cNvSpPr>
            <a:spLocks noGrp="1"/>
          </p:cNvSpPr>
          <p:nvPr>
            <p:ph idx="1"/>
          </p:nvPr>
        </p:nvSpPr>
        <p:spPr/>
        <p:txBody>
          <a:bodyPr/>
          <a:lstStyle/>
          <a:p>
            <a:r>
              <a:rPr lang="en-US" dirty="0"/>
              <a:t>Epidemiology</a:t>
            </a:r>
          </a:p>
          <a:p>
            <a:r>
              <a:rPr lang="en-US" dirty="0"/>
              <a:t>General Principles</a:t>
            </a:r>
          </a:p>
          <a:p>
            <a:r>
              <a:rPr lang="en-US" dirty="0"/>
              <a:t>Risk Factors</a:t>
            </a:r>
          </a:p>
          <a:p>
            <a:r>
              <a:rPr lang="en-US" dirty="0"/>
              <a:t>Prophylaxis</a:t>
            </a:r>
          </a:p>
          <a:p>
            <a:r>
              <a:rPr lang="en-US" dirty="0"/>
              <a:t>Post-transplant infections</a:t>
            </a:r>
          </a:p>
        </p:txBody>
      </p:sp>
    </p:spTree>
    <p:extLst>
      <p:ext uri="{BB962C8B-B14F-4D97-AF65-F5344CB8AC3E}">
        <p14:creationId xmlns:p14="http://schemas.microsoft.com/office/powerpoint/2010/main" val="49761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76F17-E1EA-772C-D425-425930A73BD4}"/>
              </a:ext>
            </a:extLst>
          </p:cNvPr>
          <p:cNvSpPr>
            <a:spLocks noGrp="1"/>
          </p:cNvSpPr>
          <p:nvPr>
            <p:ph type="title"/>
          </p:nvPr>
        </p:nvSpPr>
        <p:spPr/>
        <p:txBody>
          <a:bodyPr/>
          <a:lstStyle/>
          <a:p>
            <a:r>
              <a:rPr lang="en-US" dirty="0"/>
              <a:t>Epidemiology </a:t>
            </a:r>
          </a:p>
        </p:txBody>
      </p:sp>
      <p:sp>
        <p:nvSpPr>
          <p:cNvPr id="3" name="Content Placeholder 2">
            <a:extLst>
              <a:ext uri="{FF2B5EF4-FFF2-40B4-BE49-F238E27FC236}">
                <a16:creationId xmlns:a16="http://schemas.microsoft.com/office/drawing/2014/main" id="{F6412A93-A7C6-693A-5298-C4DFD7899E10}"/>
              </a:ext>
            </a:extLst>
          </p:cNvPr>
          <p:cNvSpPr>
            <a:spLocks noGrp="1"/>
          </p:cNvSpPr>
          <p:nvPr>
            <p:ph idx="1"/>
          </p:nvPr>
        </p:nvSpPr>
        <p:spPr>
          <a:xfrm>
            <a:off x="838200" y="1825625"/>
            <a:ext cx="10515600" cy="4667250"/>
          </a:xfrm>
        </p:spPr>
        <p:txBody>
          <a:bodyPr>
            <a:normAutofit/>
          </a:bodyPr>
          <a:lstStyle/>
          <a:p>
            <a:r>
              <a:rPr lang="en-US" dirty="0"/>
              <a:t>Despite advances in liver transplantation, infectious complications remain a major problem.</a:t>
            </a:r>
          </a:p>
          <a:p>
            <a:r>
              <a:rPr lang="en-US" dirty="0"/>
              <a:t>Up to two-thirds of liver transplant patients have at least one episode of infection, with rates of 1 to 2.5 episodes per patient.</a:t>
            </a:r>
          </a:p>
          <a:p>
            <a:r>
              <a:rPr lang="en-US" dirty="0"/>
              <a:t>Infection accounted for 42% of deaths within a year of liver transplant in one study. </a:t>
            </a:r>
          </a:p>
          <a:p>
            <a:pPr lvl="1"/>
            <a:r>
              <a:rPr lang="en-US" b="0" i="0" u="none" strike="noStrike" dirty="0">
                <a:solidFill>
                  <a:srgbClr val="212121"/>
                </a:solidFill>
                <a:effectLst/>
                <a:latin typeface="BlinkMacSystemFont"/>
              </a:rPr>
              <a:t>Clin Infect Dis. 2020 Oct 23;71(7):e159-e169</a:t>
            </a:r>
            <a:endParaRPr lang="en-US" dirty="0"/>
          </a:p>
          <a:p>
            <a:r>
              <a:rPr lang="en-US" dirty="0"/>
              <a:t>Infection was the most frequent cause of mortality from 30 to 180 days post-transplant in a large analysis of liver transplants. </a:t>
            </a:r>
          </a:p>
          <a:p>
            <a:pPr lvl="1"/>
            <a:r>
              <a:rPr lang="en-US" b="0" i="0" u="none" strike="noStrike" dirty="0">
                <a:solidFill>
                  <a:srgbClr val="212121"/>
                </a:solidFill>
                <a:effectLst/>
                <a:latin typeface="BlinkMacSystemFont"/>
              </a:rPr>
              <a:t>Clin Infect Dis. 1995 Nov;21(5):1077-89</a:t>
            </a:r>
            <a:endParaRPr lang="en-US" dirty="0"/>
          </a:p>
        </p:txBody>
      </p:sp>
    </p:spTree>
    <p:extLst>
      <p:ext uri="{BB962C8B-B14F-4D97-AF65-F5344CB8AC3E}">
        <p14:creationId xmlns:p14="http://schemas.microsoft.com/office/powerpoint/2010/main" val="1675965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7FEB4-DD92-B887-7609-368EC6954785}"/>
              </a:ext>
            </a:extLst>
          </p:cNvPr>
          <p:cNvSpPr>
            <a:spLocks noGrp="1"/>
          </p:cNvSpPr>
          <p:nvPr>
            <p:ph type="title"/>
          </p:nvPr>
        </p:nvSpPr>
        <p:spPr/>
        <p:txBody>
          <a:bodyPr/>
          <a:lstStyle/>
          <a:p>
            <a:r>
              <a:rPr lang="en-US" dirty="0"/>
              <a:t>Types of infections</a:t>
            </a:r>
          </a:p>
        </p:txBody>
      </p:sp>
      <p:pic>
        <p:nvPicPr>
          <p:cNvPr id="4" name="Content Placeholder 3">
            <a:extLst>
              <a:ext uri="{FF2B5EF4-FFF2-40B4-BE49-F238E27FC236}">
                <a16:creationId xmlns:a16="http://schemas.microsoft.com/office/drawing/2014/main" id="{B96EF08C-915F-7B85-C5B7-E0A149CE30AD}"/>
              </a:ext>
            </a:extLst>
          </p:cNvPr>
          <p:cNvPicPr>
            <a:picLocks noGrp="1" noChangeAspect="1"/>
          </p:cNvPicPr>
          <p:nvPr>
            <p:ph idx="1"/>
          </p:nvPr>
        </p:nvPicPr>
        <p:blipFill>
          <a:blip r:embed="rId3"/>
          <a:stretch>
            <a:fillRect/>
          </a:stretch>
        </p:blipFill>
        <p:spPr>
          <a:xfrm>
            <a:off x="2133046" y="1825625"/>
            <a:ext cx="7925908" cy="4351338"/>
          </a:xfrm>
          <a:prstGeom prst="rect">
            <a:avLst/>
          </a:prstGeom>
        </p:spPr>
      </p:pic>
      <p:sp>
        <p:nvSpPr>
          <p:cNvPr id="6" name="TextBox 5">
            <a:extLst>
              <a:ext uri="{FF2B5EF4-FFF2-40B4-BE49-F238E27FC236}">
                <a16:creationId xmlns:a16="http://schemas.microsoft.com/office/drawing/2014/main" id="{5C9AAA2E-9F73-2636-FF9F-5371A8ABB109}"/>
              </a:ext>
            </a:extLst>
          </p:cNvPr>
          <p:cNvSpPr txBox="1"/>
          <p:nvPr/>
        </p:nvSpPr>
        <p:spPr>
          <a:xfrm>
            <a:off x="-2058" y="6488668"/>
            <a:ext cx="6098058" cy="369332"/>
          </a:xfrm>
          <a:prstGeom prst="rect">
            <a:avLst/>
          </a:prstGeom>
          <a:noFill/>
        </p:spPr>
        <p:txBody>
          <a:bodyPr wrap="square">
            <a:spAutoFit/>
          </a:bodyPr>
          <a:lstStyle/>
          <a:p>
            <a:r>
              <a:rPr lang="en-US" b="0" i="0" u="none" strike="noStrike" dirty="0">
                <a:solidFill>
                  <a:srgbClr val="212121"/>
                </a:solidFill>
                <a:effectLst/>
                <a:latin typeface="BlinkMacSystemFont"/>
              </a:rPr>
              <a:t>Clin Infect Dis. 2020 Oct 23;71(7):e159-e169</a:t>
            </a:r>
            <a:endParaRPr lang="en-US" dirty="0"/>
          </a:p>
        </p:txBody>
      </p:sp>
    </p:spTree>
    <p:extLst>
      <p:ext uri="{BB962C8B-B14F-4D97-AF65-F5344CB8AC3E}">
        <p14:creationId xmlns:p14="http://schemas.microsoft.com/office/powerpoint/2010/main" val="1321925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BE1C24-016B-E1DA-E448-4FB8D9FE5F1E}"/>
              </a:ext>
            </a:extLst>
          </p:cNvPr>
          <p:cNvSpPr>
            <a:spLocks noGrp="1"/>
          </p:cNvSpPr>
          <p:nvPr>
            <p:ph type="title"/>
          </p:nvPr>
        </p:nvSpPr>
        <p:spPr/>
        <p:txBody>
          <a:bodyPr/>
          <a:lstStyle/>
          <a:p>
            <a:r>
              <a:rPr lang="en-US" dirty="0"/>
              <a:t>Overview of Transplant Immunology</a:t>
            </a:r>
          </a:p>
        </p:txBody>
      </p:sp>
      <p:sp>
        <p:nvSpPr>
          <p:cNvPr id="5" name="Text Placeholder 4">
            <a:extLst>
              <a:ext uri="{FF2B5EF4-FFF2-40B4-BE49-F238E27FC236}">
                <a16:creationId xmlns:a16="http://schemas.microsoft.com/office/drawing/2014/main" id="{282D6FCF-62BC-C498-6F04-5A1C6832666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71820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E901914-38C9-AED1-39B5-DA3A507D5C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1114" y="355862"/>
            <a:ext cx="8630396" cy="61462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CD6F036-9963-B3E8-690D-D97CAC6FC703}"/>
              </a:ext>
            </a:extLst>
          </p:cNvPr>
          <p:cNvSpPr txBox="1"/>
          <p:nvPr/>
        </p:nvSpPr>
        <p:spPr>
          <a:xfrm>
            <a:off x="0" y="6488668"/>
            <a:ext cx="3681167" cy="369332"/>
          </a:xfrm>
          <a:prstGeom prst="rect">
            <a:avLst/>
          </a:prstGeom>
          <a:noFill/>
        </p:spPr>
        <p:txBody>
          <a:bodyPr wrap="square">
            <a:spAutoFit/>
          </a:bodyPr>
          <a:lstStyle/>
          <a:p>
            <a:r>
              <a:rPr lang="en-US" b="0" i="0" u="none" strike="noStrike" dirty="0">
                <a:solidFill>
                  <a:srgbClr val="212121"/>
                </a:solidFill>
                <a:effectLst/>
                <a:latin typeface="BlinkMacSystemFont"/>
              </a:rPr>
              <a:t>Front Immunol. 2020 Sep 2;11:2155</a:t>
            </a:r>
            <a:endParaRPr lang="en-US" dirty="0"/>
          </a:p>
        </p:txBody>
      </p:sp>
    </p:spTree>
    <p:extLst>
      <p:ext uri="{BB962C8B-B14F-4D97-AF65-F5344CB8AC3E}">
        <p14:creationId xmlns:p14="http://schemas.microsoft.com/office/powerpoint/2010/main" val="913890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730D1C-8F1B-422A-F6D1-3DD05943A85F}"/>
              </a:ext>
            </a:extLst>
          </p:cNvPr>
          <p:cNvPicPr>
            <a:picLocks noChangeAspect="1"/>
          </p:cNvPicPr>
          <p:nvPr/>
        </p:nvPicPr>
        <p:blipFill>
          <a:blip r:embed="rId2"/>
          <a:stretch>
            <a:fillRect/>
          </a:stretch>
        </p:blipFill>
        <p:spPr>
          <a:xfrm>
            <a:off x="2209800" y="355474"/>
            <a:ext cx="7772400" cy="5807688"/>
          </a:xfrm>
          <a:prstGeom prst="rect">
            <a:avLst/>
          </a:prstGeom>
        </p:spPr>
      </p:pic>
      <p:sp>
        <p:nvSpPr>
          <p:cNvPr id="9" name="TextBox 8">
            <a:extLst>
              <a:ext uri="{FF2B5EF4-FFF2-40B4-BE49-F238E27FC236}">
                <a16:creationId xmlns:a16="http://schemas.microsoft.com/office/drawing/2014/main" id="{88A16A04-F897-7212-E962-4C5A0973F969}"/>
              </a:ext>
            </a:extLst>
          </p:cNvPr>
          <p:cNvSpPr txBox="1"/>
          <p:nvPr/>
        </p:nvSpPr>
        <p:spPr>
          <a:xfrm>
            <a:off x="0" y="6502526"/>
            <a:ext cx="3976281" cy="369332"/>
          </a:xfrm>
          <a:prstGeom prst="rect">
            <a:avLst/>
          </a:prstGeom>
          <a:noFill/>
        </p:spPr>
        <p:txBody>
          <a:bodyPr wrap="none" rtlCol="0">
            <a:spAutoFit/>
          </a:bodyPr>
          <a:lstStyle/>
          <a:p>
            <a:r>
              <a:rPr lang="en-US" b="0" u="none" strike="noStrike" dirty="0">
                <a:solidFill>
                  <a:srgbClr val="000000"/>
                </a:solidFill>
                <a:effectLst/>
                <a:latin typeface="Arial" panose="020B0604020202020204" pitchFamily="34" charset="0"/>
                <a:cs typeface="Arial" panose="020B0604020202020204" pitchFamily="34" charset="0"/>
              </a:rPr>
              <a:t>Immunotherapy 2012 4(8), 793–805.</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867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D326F9-C360-F829-B18B-0CC29C4104EE}"/>
              </a:ext>
            </a:extLst>
          </p:cNvPr>
          <p:cNvPicPr>
            <a:picLocks noChangeAspect="1"/>
          </p:cNvPicPr>
          <p:nvPr/>
        </p:nvPicPr>
        <p:blipFill>
          <a:blip r:embed="rId2"/>
          <a:stretch>
            <a:fillRect/>
          </a:stretch>
        </p:blipFill>
        <p:spPr>
          <a:xfrm>
            <a:off x="2870200" y="4052217"/>
            <a:ext cx="6451600" cy="2336800"/>
          </a:xfrm>
          <a:prstGeom prst="rect">
            <a:avLst/>
          </a:prstGeom>
        </p:spPr>
      </p:pic>
      <p:pic>
        <p:nvPicPr>
          <p:cNvPr id="2050" name="Picture 2" descr="Lymphocytes – Cell Cartoons">
            <a:extLst>
              <a:ext uri="{FF2B5EF4-FFF2-40B4-BE49-F238E27FC236}">
                <a16:creationId xmlns:a16="http://schemas.microsoft.com/office/drawing/2014/main" id="{6F30495E-DABC-43E6-4158-B9042461CE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1437" y="468983"/>
            <a:ext cx="6009126" cy="3339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69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5F550A-3B7D-CF3D-8C79-2E956B378F66}"/>
              </a:ext>
            </a:extLst>
          </p:cNvPr>
          <p:cNvSpPr>
            <a:spLocks noGrp="1"/>
          </p:cNvSpPr>
          <p:nvPr>
            <p:ph type="title"/>
          </p:nvPr>
        </p:nvSpPr>
        <p:spPr/>
        <p:txBody>
          <a:bodyPr/>
          <a:lstStyle/>
          <a:p>
            <a:r>
              <a:rPr lang="en-US" dirty="0"/>
              <a:t>General Principles</a:t>
            </a:r>
          </a:p>
        </p:txBody>
      </p:sp>
      <p:sp>
        <p:nvSpPr>
          <p:cNvPr id="5" name="Text Placeholder 4">
            <a:extLst>
              <a:ext uri="{FF2B5EF4-FFF2-40B4-BE49-F238E27FC236}">
                <a16:creationId xmlns:a16="http://schemas.microsoft.com/office/drawing/2014/main" id="{5A37E317-DC74-35B5-C685-2F5C0E1372D6}"/>
              </a:ext>
            </a:extLst>
          </p:cNvPr>
          <p:cNvSpPr>
            <a:spLocks noGrp="1"/>
          </p:cNvSpPr>
          <p:nvPr>
            <p:ph type="body" idx="1"/>
          </p:nvPr>
        </p:nvSpPr>
        <p:spPr/>
        <p:txBody>
          <a:bodyPr/>
          <a:lstStyle/>
          <a:p>
            <a:r>
              <a:rPr lang="en-US" dirty="0"/>
              <a:t>Post liver transplant infections</a:t>
            </a:r>
          </a:p>
        </p:txBody>
      </p:sp>
    </p:spTree>
    <p:extLst>
      <p:ext uri="{BB962C8B-B14F-4D97-AF65-F5344CB8AC3E}">
        <p14:creationId xmlns:p14="http://schemas.microsoft.com/office/powerpoint/2010/main" val="3762022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DA411-85B0-2937-36B8-BAFD5C10DBA3}"/>
              </a:ext>
            </a:extLst>
          </p:cNvPr>
          <p:cNvSpPr>
            <a:spLocks noGrp="1"/>
          </p:cNvSpPr>
          <p:nvPr>
            <p:ph type="title"/>
          </p:nvPr>
        </p:nvSpPr>
        <p:spPr/>
        <p:txBody>
          <a:bodyPr/>
          <a:lstStyle/>
          <a:p>
            <a:r>
              <a:rPr lang="en-US" dirty="0"/>
              <a:t>General Principles</a:t>
            </a:r>
          </a:p>
        </p:txBody>
      </p:sp>
      <p:sp>
        <p:nvSpPr>
          <p:cNvPr id="3" name="Content Placeholder 2">
            <a:extLst>
              <a:ext uri="{FF2B5EF4-FFF2-40B4-BE49-F238E27FC236}">
                <a16:creationId xmlns:a16="http://schemas.microsoft.com/office/drawing/2014/main" id="{38F146B6-3E5A-C190-0AEA-C9330E3C1F06}"/>
              </a:ext>
            </a:extLst>
          </p:cNvPr>
          <p:cNvSpPr>
            <a:spLocks noGrp="1"/>
          </p:cNvSpPr>
          <p:nvPr>
            <p:ph idx="1"/>
          </p:nvPr>
        </p:nvSpPr>
        <p:spPr/>
        <p:txBody>
          <a:bodyPr/>
          <a:lstStyle/>
          <a:p>
            <a:r>
              <a:rPr lang="en-US" dirty="0"/>
              <a:t>Immunosuppressed patient = less signs of infection</a:t>
            </a:r>
          </a:p>
          <a:p>
            <a:pPr lvl="1"/>
            <a:r>
              <a:rPr lang="en-US" dirty="0"/>
              <a:t>Infections may be more severe compared to an immunocompetent host</a:t>
            </a:r>
          </a:p>
          <a:p>
            <a:r>
              <a:rPr lang="en-US" b="1" dirty="0"/>
              <a:t>Rejection</a:t>
            </a:r>
            <a:r>
              <a:rPr lang="en-US" dirty="0"/>
              <a:t> may mimic infection! </a:t>
            </a:r>
          </a:p>
          <a:p>
            <a:r>
              <a:rPr lang="en-US" dirty="0"/>
              <a:t>There are lots of pathogens, but timing since transplant is everything</a:t>
            </a:r>
          </a:p>
          <a:p>
            <a:r>
              <a:rPr lang="en-US" dirty="0"/>
              <a:t>Beware of antimicrobial interactions with immunosuppression </a:t>
            </a:r>
          </a:p>
          <a:p>
            <a:pPr lvl="1"/>
            <a:r>
              <a:rPr lang="en-US" dirty="0"/>
              <a:t>(i.e., fluconazole + </a:t>
            </a:r>
            <a:r>
              <a:rPr lang="en-US" dirty="0" err="1"/>
              <a:t>tacro</a:t>
            </a:r>
            <a:r>
              <a:rPr lang="en-US" dirty="0"/>
              <a:t>)</a:t>
            </a:r>
          </a:p>
          <a:p>
            <a:r>
              <a:rPr lang="en-US" b="1" dirty="0"/>
              <a:t>Net state of immunosuppression principle</a:t>
            </a:r>
          </a:p>
          <a:p>
            <a:endParaRPr lang="en-US" dirty="0"/>
          </a:p>
        </p:txBody>
      </p:sp>
    </p:spTree>
    <p:extLst>
      <p:ext uri="{BB962C8B-B14F-4D97-AF65-F5344CB8AC3E}">
        <p14:creationId xmlns:p14="http://schemas.microsoft.com/office/powerpoint/2010/main" val="1987103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82797-D3F9-0AA9-3E0F-B3FF2E785DC9}"/>
              </a:ext>
            </a:extLst>
          </p:cNvPr>
          <p:cNvSpPr>
            <a:spLocks noGrp="1"/>
          </p:cNvSpPr>
          <p:nvPr>
            <p:ph type="title"/>
          </p:nvPr>
        </p:nvSpPr>
        <p:spPr/>
        <p:txBody>
          <a:bodyPr/>
          <a:lstStyle/>
          <a:p>
            <a:r>
              <a:rPr lang="en-US" dirty="0"/>
              <a:t>Net State of Immunosuppression</a:t>
            </a:r>
          </a:p>
        </p:txBody>
      </p:sp>
      <p:pic>
        <p:nvPicPr>
          <p:cNvPr id="4" name="Content Placeholder 3">
            <a:extLst>
              <a:ext uri="{FF2B5EF4-FFF2-40B4-BE49-F238E27FC236}">
                <a16:creationId xmlns:a16="http://schemas.microsoft.com/office/drawing/2014/main" id="{35024F9E-403E-3C3E-B3C9-81D558BB5C57}"/>
              </a:ext>
            </a:extLst>
          </p:cNvPr>
          <p:cNvPicPr>
            <a:picLocks noGrp="1" noChangeAspect="1"/>
          </p:cNvPicPr>
          <p:nvPr>
            <p:ph idx="1"/>
          </p:nvPr>
        </p:nvPicPr>
        <p:blipFill>
          <a:blip r:embed="rId3"/>
          <a:stretch>
            <a:fillRect/>
          </a:stretch>
        </p:blipFill>
        <p:spPr>
          <a:xfrm>
            <a:off x="3092450" y="1690688"/>
            <a:ext cx="6007100" cy="4203700"/>
          </a:xfrm>
          <a:prstGeom prst="rect">
            <a:avLst/>
          </a:prstGeom>
        </p:spPr>
      </p:pic>
      <p:sp>
        <p:nvSpPr>
          <p:cNvPr id="6" name="TextBox 5">
            <a:extLst>
              <a:ext uri="{FF2B5EF4-FFF2-40B4-BE49-F238E27FC236}">
                <a16:creationId xmlns:a16="http://schemas.microsoft.com/office/drawing/2014/main" id="{0008719B-30A9-6C23-EEBA-6508ECC5FB2C}"/>
              </a:ext>
            </a:extLst>
          </p:cNvPr>
          <p:cNvSpPr txBox="1"/>
          <p:nvPr/>
        </p:nvSpPr>
        <p:spPr>
          <a:xfrm>
            <a:off x="-2058" y="6488668"/>
            <a:ext cx="6098058" cy="369332"/>
          </a:xfrm>
          <a:prstGeom prst="rect">
            <a:avLst/>
          </a:prstGeom>
          <a:noFill/>
        </p:spPr>
        <p:txBody>
          <a:bodyPr wrap="square">
            <a:spAutoFit/>
          </a:bodyPr>
          <a:lstStyle/>
          <a:p>
            <a:r>
              <a:rPr lang="en-US" b="0" i="0" u="none" strike="noStrike" dirty="0">
                <a:solidFill>
                  <a:srgbClr val="212121"/>
                </a:solidFill>
                <a:effectLst/>
                <a:latin typeface="BlinkMacSystemFont"/>
              </a:rPr>
              <a:t>Am J Transplant. 2017 Apr;17(4):856-879</a:t>
            </a:r>
            <a:endParaRPr lang="en-US" dirty="0"/>
          </a:p>
        </p:txBody>
      </p:sp>
    </p:spTree>
    <p:extLst>
      <p:ext uri="{BB962C8B-B14F-4D97-AF65-F5344CB8AC3E}">
        <p14:creationId xmlns:p14="http://schemas.microsoft.com/office/powerpoint/2010/main" val="3918190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A3087B-FF52-E1E3-1946-C4FA62C990E0}"/>
              </a:ext>
            </a:extLst>
          </p:cNvPr>
          <p:cNvSpPr>
            <a:spLocks noGrp="1"/>
          </p:cNvSpPr>
          <p:nvPr>
            <p:ph type="title"/>
          </p:nvPr>
        </p:nvSpPr>
        <p:spPr/>
        <p:txBody>
          <a:bodyPr/>
          <a:lstStyle/>
          <a:p>
            <a:r>
              <a:rPr lang="en-US" dirty="0"/>
              <a:t>Risk Factors</a:t>
            </a:r>
          </a:p>
        </p:txBody>
      </p:sp>
      <p:sp>
        <p:nvSpPr>
          <p:cNvPr id="5" name="Text Placeholder 4">
            <a:extLst>
              <a:ext uri="{FF2B5EF4-FFF2-40B4-BE49-F238E27FC236}">
                <a16:creationId xmlns:a16="http://schemas.microsoft.com/office/drawing/2014/main" id="{29FA5A86-046F-EE98-4765-031A836D9F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6462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1B640-B54C-7AFB-F6AF-C1D73F80DF83}"/>
              </a:ext>
            </a:extLst>
          </p:cNvPr>
          <p:cNvSpPr>
            <a:spLocks noGrp="1"/>
          </p:cNvSpPr>
          <p:nvPr>
            <p:ph type="title"/>
          </p:nvPr>
        </p:nvSpPr>
        <p:spPr/>
        <p:txBody>
          <a:bodyPr/>
          <a:lstStyle/>
          <a:p>
            <a:r>
              <a:rPr lang="en-US" dirty="0"/>
              <a:t>Risk Factors</a:t>
            </a:r>
          </a:p>
        </p:txBody>
      </p:sp>
      <p:sp>
        <p:nvSpPr>
          <p:cNvPr id="3" name="Content Placeholder 2">
            <a:extLst>
              <a:ext uri="{FF2B5EF4-FFF2-40B4-BE49-F238E27FC236}">
                <a16:creationId xmlns:a16="http://schemas.microsoft.com/office/drawing/2014/main" id="{1EDB179C-3A0B-2AA3-23FB-24E1D8ED8DF8}"/>
              </a:ext>
            </a:extLst>
          </p:cNvPr>
          <p:cNvSpPr>
            <a:spLocks noGrp="1"/>
          </p:cNvSpPr>
          <p:nvPr>
            <p:ph idx="1"/>
          </p:nvPr>
        </p:nvSpPr>
        <p:spPr/>
        <p:txBody>
          <a:bodyPr/>
          <a:lstStyle/>
          <a:p>
            <a:r>
              <a:rPr lang="en-US" dirty="0"/>
              <a:t>Latent infection in donor or recipient</a:t>
            </a:r>
          </a:p>
          <a:p>
            <a:r>
              <a:rPr lang="en-US" dirty="0"/>
              <a:t>Active infection in the donor</a:t>
            </a:r>
          </a:p>
          <a:p>
            <a:r>
              <a:rPr lang="en-US" dirty="0"/>
              <a:t>Pretransplant colonization with certain organisms</a:t>
            </a:r>
          </a:p>
          <a:p>
            <a:r>
              <a:rPr lang="en-US" dirty="0"/>
              <a:t>Surgical approach and surgical complications</a:t>
            </a:r>
          </a:p>
          <a:p>
            <a:endParaRPr lang="en-US" dirty="0"/>
          </a:p>
        </p:txBody>
      </p:sp>
    </p:spTree>
    <p:extLst>
      <p:ext uri="{BB962C8B-B14F-4D97-AF65-F5344CB8AC3E}">
        <p14:creationId xmlns:p14="http://schemas.microsoft.com/office/powerpoint/2010/main" val="802501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6AC01-6C7F-FA4F-ACE7-FB5E67982225}"/>
              </a:ext>
            </a:extLst>
          </p:cNvPr>
          <p:cNvSpPr>
            <a:spLocks noGrp="1"/>
          </p:cNvSpPr>
          <p:nvPr>
            <p:ph type="title"/>
          </p:nvPr>
        </p:nvSpPr>
        <p:spPr/>
        <p:txBody>
          <a:bodyPr/>
          <a:lstStyle/>
          <a:p>
            <a:r>
              <a:rPr lang="en-US" dirty="0"/>
              <a:t>Latent Infections in Donor or Recipient</a:t>
            </a:r>
          </a:p>
        </p:txBody>
      </p:sp>
      <p:sp>
        <p:nvSpPr>
          <p:cNvPr id="3" name="Content Placeholder 2">
            <a:extLst>
              <a:ext uri="{FF2B5EF4-FFF2-40B4-BE49-F238E27FC236}">
                <a16:creationId xmlns:a16="http://schemas.microsoft.com/office/drawing/2014/main" id="{9AE23A79-51E9-72AA-E84D-B650E734C4D1}"/>
              </a:ext>
            </a:extLst>
          </p:cNvPr>
          <p:cNvSpPr>
            <a:spLocks noGrp="1"/>
          </p:cNvSpPr>
          <p:nvPr>
            <p:ph idx="1"/>
          </p:nvPr>
        </p:nvSpPr>
        <p:spPr/>
        <p:txBody>
          <a:bodyPr/>
          <a:lstStyle/>
          <a:p>
            <a:r>
              <a:rPr lang="en-US" dirty="0"/>
              <a:t>Latent or unrecognized infections in transplant donors or recipients are a significant risk factor for morbidity after immunosuppressive therapy.</a:t>
            </a:r>
          </a:p>
          <a:p>
            <a:r>
              <a:rPr lang="en-US" dirty="0"/>
              <a:t>Transplant donors and recipients are routinely screened for infections such as </a:t>
            </a:r>
            <a:r>
              <a:rPr lang="en-US" b="1" dirty="0"/>
              <a:t>CMV (+other HHVs), TB, HBV, HCV, Syphilis, and HIV</a:t>
            </a:r>
            <a:r>
              <a:rPr lang="en-US" dirty="0"/>
              <a:t>.</a:t>
            </a:r>
          </a:p>
          <a:p>
            <a:r>
              <a:rPr lang="en-US" dirty="0"/>
              <a:t>Reactivation of latent infections after immunosuppressive therapy can cause significant morbidity in transplant recipients.</a:t>
            </a:r>
          </a:p>
        </p:txBody>
      </p:sp>
    </p:spTree>
    <p:extLst>
      <p:ext uri="{BB962C8B-B14F-4D97-AF65-F5344CB8AC3E}">
        <p14:creationId xmlns:p14="http://schemas.microsoft.com/office/powerpoint/2010/main" val="3253029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1EF64-EEE7-D92E-B0FE-512688C2D69A}"/>
              </a:ext>
            </a:extLst>
          </p:cNvPr>
          <p:cNvSpPr>
            <a:spLocks noGrp="1"/>
          </p:cNvSpPr>
          <p:nvPr>
            <p:ph type="title"/>
          </p:nvPr>
        </p:nvSpPr>
        <p:spPr/>
        <p:txBody>
          <a:bodyPr/>
          <a:lstStyle/>
          <a:p>
            <a:r>
              <a:rPr lang="en-US" dirty="0"/>
              <a:t>Active infection in the donor</a:t>
            </a:r>
          </a:p>
        </p:txBody>
      </p:sp>
      <p:sp>
        <p:nvSpPr>
          <p:cNvPr id="3" name="Content Placeholder 2">
            <a:extLst>
              <a:ext uri="{FF2B5EF4-FFF2-40B4-BE49-F238E27FC236}">
                <a16:creationId xmlns:a16="http://schemas.microsoft.com/office/drawing/2014/main" id="{BB5190AD-91E5-ABB7-729F-41A6F513B4CE}"/>
              </a:ext>
            </a:extLst>
          </p:cNvPr>
          <p:cNvSpPr>
            <a:spLocks noGrp="1"/>
          </p:cNvSpPr>
          <p:nvPr>
            <p:ph idx="1"/>
          </p:nvPr>
        </p:nvSpPr>
        <p:spPr/>
        <p:txBody>
          <a:bodyPr>
            <a:normAutofit fontScale="92500"/>
          </a:bodyPr>
          <a:lstStyle/>
          <a:p>
            <a:r>
              <a:rPr lang="en-US" dirty="0"/>
              <a:t>Infection in the donor that is active at the time of organ procurement may also be transferred to the recipient</a:t>
            </a:r>
          </a:p>
          <a:p>
            <a:endParaRPr lang="en-US" dirty="0"/>
          </a:p>
          <a:p>
            <a:r>
              <a:rPr lang="en-US" b="1" dirty="0"/>
              <a:t>Donor blood stream infections</a:t>
            </a:r>
            <a:r>
              <a:rPr lang="en-US" dirty="0"/>
              <a:t> (i.e. bacteremia) may cause anastomotic site infections (vessels, bile ducts, etc.)</a:t>
            </a:r>
          </a:p>
          <a:p>
            <a:r>
              <a:rPr lang="en-US" b="1" dirty="0"/>
              <a:t>Infections that may be accelerated by immunosuppression</a:t>
            </a:r>
          </a:p>
          <a:p>
            <a:pPr lvl="1"/>
            <a:r>
              <a:rPr lang="en-US" dirty="0"/>
              <a:t>West Nile virus</a:t>
            </a:r>
          </a:p>
          <a:p>
            <a:pPr lvl="1"/>
            <a:r>
              <a:rPr lang="en-US" dirty="0"/>
              <a:t>Lymphocytic choriomeningitis virus</a:t>
            </a:r>
          </a:p>
          <a:p>
            <a:pPr lvl="1"/>
            <a:r>
              <a:rPr lang="en-US" dirty="0"/>
              <a:t>Rabies</a:t>
            </a:r>
          </a:p>
          <a:p>
            <a:pPr lvl="1"/>
            <a:r>
              <a:rPr lang="en-US" dirty="0"/>
              <a:t>Leishmaniasis</a:t>
            </a:r>
          </a:p>
          <a:p>
            <a:pPr lvl="1"/>
            <a:r>
              <a:rPr lang="en-US" dirty="0"/>
              <a:t>Chagas disease (trypanosomiasis) </a:t>
            </a:r>
          </a:p>
          <a:p>
            <a:pPr marL="457200" lvl="1" indent="0">
              <a:buNone/>
            </a:pPr>
            <a:endParaRPr lang="en-US" dirty="0"/>
          </a:p>
        </p:txBody>
      </p:sp>
    </p:spTree>
    <p:extLst>
      <p:ext uri="{BB962C8B-B14F-4D97-AF65-F5344CB8AC3E}">
        <p14:creationId xmlns:p14="http://schemas.microsoft.com/office/powerpoint/2010/main" val="2238357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B506CB-C0CD-A3F1-6185-C222642FE1D7}"/>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02DD0827-4019-C267-3A9A-8515E05ADD11}"/>
              </a:ext>
            </a:extLst>
          </p:cNvPr>
          <p:cNvSpPr>
            <a:spLocks noGrp="1"/>
          </p:cNvSpPr>
          <p:nvPr>
            <p:ph idx="1"/>
          </p:nvPr>
        </p:nvSpPr>
        <p:spPr/>
        <p:txBody>
          <a:bodyPr/>
          <a:lstStyle/>
          <a:p>
            <a:r>
              <a:rPr lang="en-US" dirty="0"/>
              <a:t>A patient who is a 60-year-old man with history of NASH cirrhosis with ascites, varices, and encephalopathy, MELD-Na of 27, underwent a deceased-donor liver transplant. </a:t>
            </a:r>
          </a:p>
          <a:p>
            <a:r>
              <a:rPr lang="en-US" dirty="0"/>
              <a:t>The donor was a 45-year-old man who had septic shock with MRSA bacteremia and endocarditis, with positive MRSA blood cultures at the time of death/procurement. </a:t>
            </a:r>
          </a:p>
          <a:p>
            <a:pPr marL="0" indent="0">
              <a:buNone/>
            </a:pPr>
            <a:endParaRPr lang="en-US" dirty="0"/>
          </a:p>
          <a:p>
            <a:pPr marL="514350" indent="-514350">
              <a:buAutoNum type="alphaUcPeriod"/>
            </a:pPr>
            <a:r>
              <a:rPr lang="en-US" dirty="0"/>
              <a:t>Would you start antibiotic prophylaxis for the recipient?</a:t>
            </a:r>
          </a:p>
          <a:p>
            <a:pPr marL="514350" indent="-514350">
              <a:buAutoNum type="alphaUcPeriod"/>
            </a:pPr>
            <a:r>
              <a:rPr lang="en-US" dirty="0"/>
              <a:t>How long would you continue antibiotics for?</a:t>
            </a:r>
          </a:p>
        </p:txBody>
      </p:sp>
    </p:spTree>
    <p:extLst>
      <p:ext uri="{BB962C8B-B14F-4D97-AF65-F5344CB8AC3E}">
        <p14:creationId xmlns:p14="http://schemas.microsoft.com/office/powerpoint/2010/main" val="106111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34654"/>
        </a:solidFill>
        <a:effectLst/>
      </p:bgPr>
    </p:bg>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52CBFEFA-5E50-4FCB-C21E-340AEBEAC443}"/>
              </a:ext>
            </a:extLst>
          </p:cNvPr>
          <p:cNvPicPr>
            <a:picLocks noChangeAspect="1"/>
          </p:cNvPicPr>
          <p:nvPr/>
        </p:nvPicPr>
        <p:blipFill rotWithShape="1">
          <a:blip r:embed="rId3"/>
          <a:srcRect r="2355" b="44536"/>
          <a:stretch/>
        </p:blipFill>
        <p:spPr>
          <a:xfrm>
            <a:off x="321472" y="1930830"/>
            <a:ext cx="5755674" cy="4099231"/>
          </a:xfrm>
          <a:prstGeom prst="rect">
            <a:avLst/>
          </a:prstGeom>
        </p:spPr>
      </p:pic>
      <p:pic>
        <p:nvPicPr>
          <p:cNvPr id="7" name="Picture 6" descr="Text&#10;&#10;Description automatically generated">
            <a:extLst>
              <a:ext uri="{FF2B5EF4-FFF2-40B4-BE49-F238E27FC236}">
                <a16:creationId xmlns:a16="http://schemas.microsoft.com/office/drawing/2014/main" id="{E9CD2B56-14EF-925D-4262-F9A3761C7D11}"/>
              </a:ext>
            </a:extLst>
          </p:cNvPr>
          <p:cNvPicPr>
            <a:picLocks noChangeAspect="1"/>
          </p:cNvPicPr>
          <p:nvPr/>
        </p:nvPicPr>
        <p:blipFill rotWithShape="1">
          <a:blip r:embed="rId3"/>
          <a:srcRect t="55464" r="2355"/>
          <a:stretch/>
        </p:blipFill>
        <p:spPr>
          <a:xfrm>
            <a:off x="6077146" y="2037618"/>
            <a:ext cx="5755675" cy="3291574"/>
          </a:xfrm>
          <a:prstGeom prst="rect">
            <a:avLst/>
          </a:prstGeom>
        </p:spPr>
      </p:pic>
      <p:sp>
        <p:nvSpPr>
          <p:cNvPr id="8" name="Title 7">
            <a:extLst>
              <a:ext uri="{FF2B5EF4-FFF2-40B4-BE49-F238E27FC236}">
                <a16:creationId xmlns:a16="http://schemas.microsoft.com/office/drawing/2014/main" id="{49FABEF7-7C7C-69BE-B602-17BBBECBD61A}"/>
              </a:ext>
            </a:extLst>
          </p:cNvPr>
          <p:cNvSpPr>
            <a:spLocks noGrp="1"/>
          </p:cNvSpPr>
          <p:nvPr>
            <p:ph type="title"/>
          </p:nvPr>
        </p:nvSpPr>
        <p:spPr/>
        <p:txBody>
          <a:bodyPr/>
          <a:lstStyle/>
          <a:p>
            <a:r>
              <a:rPr lang="en-US" dirty="0">
                <a:solidFill>
                  <a:schemeClr val="bg1"/>
                </a:solidFill>
              </a:rPr>
              <a:t>AI-Assisted Decision Making (</a:t>
            </a:r>
            <a:r>
              <a:rPr lang="en-US" dirty="0" err="1">
                <a:solidFill>
                  <a:schemeClr val="bg1"/>
                </a:solidFill>
              </a:rPr>
              <a:t>ChatGPT</a:t>
            </a:r>
            <a:r>
              <a:rPr lang="en-US" dirty="0">
                <a:solidFill>
                  <a:schemeClr val="bg1"/>
                </a:solidFill>
              </a:rPr>
              <a:t>)</a:t>
            </a:r>
          </a:p>
        </p:txBody>
      </p:sp>
    </p:spTree>
    <p:extLst>
      <p:ext uri="{BB962C8B-B14F-4D97-AF65-F5344CB8AC3E}">
        <p14:creationId xmlns:p14="http://schemas.microsoft.com/office/powerpoint/2010/main" val="888013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211183-ADAC-92BA-4496-D212F7BABFE6}"/>
              </a:ext>
            </a:extLst>
          </p:cNvPr>
          <p:cNvSpPr>
            <a:spLocks noGrp="1"/>
          </p:cNvSpPr>
          <p:nvPr>
            <p:ph idx="1"/>
          </p:nvPr>
        </p:nvSpPr>
        <p:spPr>
          <a:xfrm>
            <a:off x="838200" y="2187019"/>
            <a:ext cx="10515600" cy="3989944"/>
          </a:xfrm>
        </p:spPr>
        <p:txBody>
          <a:bodyPr/>
          <a:lstStyle/>
          <a:p>
            <a:endParaRPr lang="en-US" dirty="0"/>
          </a:p>
          <a:p>
            <a:r>
              <a:rPr lang="en-US" dirty="0"/>
              <a:t>Donors with documented bacteremia should should be treated with targeted antimicrobial treatment for at least 24-48 hours, optimally with some degree of clinical response. </a:t>
            </a:r>
            <a:endParaRPr lang="en-US" b="1" dirty="0"/>
          </a:p>
          <a:p>
            <a:pPr lvl="1"/>
            <a:endParaRPr lang="en-US" b="1" dirty="0"/>
          </a:p>
          <a:p>
            <a:r>
              <a:rPr lang="en-US" b="1" dirty="0"/>
              <a:t>The recipient should receive 7- to 14-day course of antibiotics targeted to the organism isolated from the donor. (Strong, Moderate)</a:t>
            </a:r>
          </a:p>
          <a:p>
            <a:endParaRPr lang="en-US" b="1" dirty="0"/>
          </a:p>
          <a:p>
            <a:endParaRPr lang="en-US" dirty="0"/>
          </a:p>
        </p:txBody>
      </p:sp>
      <p:pic>
        <p:nvPicPr>
          <p:cNvPr id="7" name="Picture 6">
            <a:extLst>
              <a:ext uri="{FF2B5EF4-FFF2-40B4-BE49-F238E27FC236}">
                <a16:creationId xmlns:a16="http://schemas.microsoft.com/office/drawing/2014/main" id="{A752C7F6-C13B-9572-1434-46E0238083C9}"/>
              </a:ext>
            </a:extLst>
          </p:cNvPr>
          <p:cNvPicPr>
            <a:picLocks noChangeAspect="1"/>
          </p:cNvPicPr>
          <p:nvPr/>
        </p:nvPicPr>
        <p:blipFill>
          <a:blip r:embed="rId3"/>
          <a:stretch>
            <a:fillRect/>
          </a:stretch>
        </p:blipFill>
        <p:spPr>
          <a:xfrm>
            <a:off x="2209800" y="284281"/>
            <a:ext cx="7772400" cy="1902738"/>
          </a:xfrm>
          <a:prstGeom prst="rect">
            <a:avLst/>
          </a:prstGeom>
        </p:spPr>
      </p:pic>
    </p:spTree>
    <p:extLst>
      <p:ext uri="{BB962C8B-B14F-4D97-AF65-F5344CB8AC3E}">
        <p14:creationId xmlns:p14="http://schemas.microsoft.com/office/powerpoint/2010/main" val="1658097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14BE9-05E3-1AED-DDF4-9088B7236398}"/>
              </a:ext>
            </a:extLst>
          </p:cNvPr>
          <p:cNvSpPr>
            <a:spLocks noGrp="1"/>
          </p:cNvSpPr>
          <p:nvPr>
            <p:ph type="title"/>
          </p:nvPr>
        </p:nvSpPr>
        <p:spPr>
          <a:xfrm>
            <a:off x="254524" y="256076"/>
            <a:ext cx="11682952" cy="997683"/>
          </a:xfrm>
        </p:spPr>
        <p:txBody>
          <a:bodyPr>
            <a:normAutofit fontScale="90000"/>
          </a:bodyPr>
          <a:lstStyle/>
          <a:p>
            <a:r>
              <a:rPr lang="en-US" dirty="0"/>
              <a:t>Pretransplant colonization with certain organisms</a:t>
            </a:r>
          </a:p>
        </p:txBody>
      </p:sp>
      <p:sp>
        <p:nvSpPr>
          <p:cNvPr id="3" name="Content Placeholder 2">
            <a:extLst>
              <a:ext uri="{FF2B5EF4-FFF2-40B4-BE49-F238E27FC236}">
                <a16:creationId xmlns:a16="http://schemas.microsoft.com/office/drawing/2014/main" id="{E449DBF8-5090-07F7-DD0E-96212739538F}"/>
              </a:ext>
            </a:extLst>
          </p:cNvPr>
          <p:cNvSpPr>
            <a:spLocks noGrp="1"/>
          </p:cNvSpPr>
          <p:nvPr>
            <p:ph idx="1"/>
          </p:nvPr>
        </p:nvSpPr>
        <p:spPr/>
        <p:txBody>
          <a:bodyPr/>
          <a:lstStyle/>
          <a:p>
            <a:r>
              <a:rPr lang="en-US" dirty="0"/>
              <a:t>Pre-transplant colonization with organisms such as MRSA, multidrug-resistant Enterobacteriaceae, or VRE can increase post-transplant infection risk and mortality.</a:t>
            </a:r>
          </a:p>
          <a:p>
            <a:r>
              <a:rPr lang="en-US" b="1" dirty="0"/>
              <a:t>Colonization by these organisms is not a contraindication to transplantation</a:t>
            </a:r>
          </a:p>
          <a:p>
            <a:r>
              <a:rPr lang="en-US" dirty="0"/>
              <a:t>Solid organ transplant recipients have an increased prevalence of multidrug-resistant gram-negative bacilli (</a:t>
            </a:r>
            <a:r>
              <a:rPr lang="en-US" dirty="0" err="1"/>
              <a:t>eg</a:t>
            </a:r>
            <a:r>
              <a:rPr lang="en-US" dirty="0"/>
              <a:t>, extended-spectrum beta-lactamase-producing Enterobacteriaceae and carbapenem-resistant Enterobacteriaceae)</a:t>
            </a:r>
          </a:p>
        </p:txBody>
      </p:sp>
    </p:spTree>
    <p:extLst>
      <p:ext uri="{BB962C8B-B14F-4D97-AF65-F5344CB8AC3E}">
        <p14:creationId xmlns:p14="http://schemas.microsoft.com/office/powerpoint/2010/main" val="23148030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C98B-6053-0844-AE1A-920E90C89CBE}"/>
              </a:ext>
            </a:extLst>
          </p:cNvPr>
          <p:cNvSpPr>
            <a:spLocks noGrp="1"/>
          </p:cNvSpPr>
          <p:nvPr>
            <p:ph type="title"/>
          </p:nvPr>
        </p:nvSpPr>
        <p:spPr/>
        <p:txBody>
          <a:bodyPr>
            <a:normAutofit fontScale="90000"/>
          </a:bodyPr>
          <a:lstStyle/>
          <a:p>
            <a:r>
              <a:rPr lang="en-US" dirty="0"/>
              <a:t>Surgical approach and surgical complications</a:t>
            </a:r>
          </a:p>
        </p:txBody>
      </p:sp>
      <p:sp>
        <p:nvSpPr>
          <p:cNvPr id="6" name="Content Placeholder 5">
            <a:extLst>
              <a:ext uri="{FF2B5EF4-FFF2-40B4-BE49-F238E27FC236}">
                <a16:creationId xmlns:a16="http://schemas.microsoft.com/office/drawing/2014/main" id="{894C876A-643D-0F49-50F0-911955D867D3}"/>
              </a:ext>
            </a:extLst>
          </p:cNvPr>
          <p:cNvSpPr>
            <a:spLocks noGrp="1"/>
          </p:cNvSpPr>
          <p:nvPr>
            <p:ph idx="1"/>
          </p:nvPr>
        </p:nvSpPr>
        <p:spPr/>
        <p:txBody>
          <a:bodyPr>
            <a:normAutofit lnSpcReduction="10000"/>
          </a:bodyPr>
          <a:lstStyle/>
          <a:p>
            <a:r>
              <a:rPr lang="en-US" dirty="0"/>
              <a:t>Various risk factors for infection after liver transplantation have been reported, many related to surgical complications of the transplant operation.</a:t>
            </a:r>
          </a:p>
          <a:p>
            <a:r>
              <a:rPr lang="en-US" dirty="0"/>
              <a:t>Roux-en-Y biliary anastomosis has been associated with increased risk of bacterial infections compared to </a:t>
            </a:r>
            <a:r>
              <a:rPr lang="en-US" dirty="0" err="1"/>
              <a:t>choledochocholedochostomy</a:t>
            </a:r>
            <a:r>
              <a:rPr lang="en-US" dirty="0"/>
              <a:t>.</a:t>
            </a:r>
          </a:p>
          <a:p>
            <a:r>
              <a:rPr lang="en-US" dirty="0"/>
              <a:t>Multiple abdominal surgeries and CMV infection in the postoperative period have also been identified as risk factors for bacterial infections.</a:t>
            </a:r>
          </a:p>
          <a:p>
            <a:r>
              <a:rPr lang="en-US" dirty="0"/>
              <a:t>Similar risk factors have been identified for post-transplant fungal infections.</a:t>
            </a:r>
          </a:p>
        </p:txBody>
      </p:sp>
    </p:spTree>
    <p:extLst>
      <p:ext uri="{BB962C8B-B14F-4D97-AF65-F5344CB8AC3E}">
        <p14:creationId xmlns:p14="http://schemas.microsoft.com/office/powerpoint/2010/main" val="36387386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DBF0D733-C1C1-62EE-DB4B-736566B6E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3986" y="991334"/>
            <a:ext cx="5964026" cy="54794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7816820-10C8-BF0F-61A1-301BC033DACB}"/>
              </a:ext>
            </a:extLst>
          </p:cNvPr>
          <p:cNvSpPr txBox="1"/>
          <p:nvPr/>
        </p:nvSpPr>
        <p:spPr>
          <a:xfrm>
            <a:off x="0" y="6470830"/>
            <a:ext cx="6099716" cy="369332"/>
          </a:xfrm>
          <a:prstGeom prst="rect">
            <a:avLst/>
          </a:prstGeom>
          <a:noFill/>
        </p:spPr>
        <p:txBody>
          <a:bodyPr wrap="square">
            <a:spAutoFit/>
          </a:bodyPr>
          <a:lstStyle/>
          <a:p>
            <a:r>
              <a:rPr lang="en-US" b="0" i="0" u="none" strike="noStrike" dirty="0">
                <a:solidFill>
                  <a:srgbClr val="212121"/>
                </a:solidFill>
                <a:effectLst/>
                <a:latin typeface="BlinkMacSystemFont"/>
              </a:rPr>
              <a:t>Medicine (Baltimore). 1988 Mar;67(2):132-43</a:t>
            </a:r>
            <a:endParaRPr lang="en-US" dirty="0"/>
          </a:p>
        </p:txBody>
      </p:sp>
      <p:sp>
        <p:nvSpPr>
          <p:cNvPr id="3" name="TextBox 2">
            <a:extLst>
              <a:ext uri="{FF2B5EF4-FFF2-40B4-BE49-F238E27FC236}">
                <a16:creationId xmlns:a16="http://schemas.microsoft.com/office/drawing/2014/main" id="{45B73A7A-8384-A58C-B523-ED242175339D}"/>
              </a:ext>
            </a:extLst>
          </p:cNvPr>
          <p:cNvSpPr txBox="1"/>
          <p:nvPr/>
        </p:nvSpPr>
        <p:spPr>
          <a:xfrm>
            <a:off x="3802142" y="196859"/>
            <a:ext cx="4587714" cy="646331"/>
          </a:xfrm>
          <a:prstGeom prst="rect">
            <a:avLst/>
          </a:prstGeom>
          <a:noFill/>
        </p:spPr>
        <p:txBody>
          <a:bodyPr wrap="square">
            <a:spAutoFit/>
          </a:bodyPr>
          <a:lstStyle/>
          <a:p>
            <a:pPr algn="ctr"/>
            <a:r>
              <a:rPr lang="en-US" b="1" i="0" u="none" strike="noStrike" dirty="0">
                <a:solidFill>
                  <a:srgbClr val="212121"/>
                </a:solidFill>
                <a:effectLst/>
                <a:latin typeface="Merriweather" pitchFamily="2" charset="77"/>
              </a:rPr>
              <a:t>Infections after liver transplantation. An analysis of 101 consecutive cases</a:t>
            </a:r>
          </a:p>
        </p:txBody>
      </p:sp>
    </p:spTree>
    <p:extLst>
      <p:ext uri="{BB962C8B-B14F-4D97-AF65-F5344CB8AC3E}">
        <p14:creationId xmlns:p14="http://schemas.microsoft.com/office/powerpoint/2010/main" val="1394487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AB048-04E4-AA2D-40FD-EB3139814540}"/>
              </a:ext>
            </a:extLst>
          </p:cNvPr>
          <p:cNvSpPr>
            <a:spLocks noGrp="1"/>
          </p:cNvSpPr>
          <p:nvPr>
            <p:ph type="title"/>
          </p:nvPr>
        </p:nvSpPr>
        <p:spPr/>
        <p:txBody>
          <a:bodyPr/>
          <a:lstStyle/>
          <a:p>
            <a:r>
              <a:rPr lang="en-US" dirty="0"/>
              <a:t>Other Factors</a:t>
            </a:r>
          </a:p>
        </p:txBody>
      </p:sp>
      <p:sp>
        <p:nvSpPr>
          <p:cNvPr id="3" name="Content Placeholder 2">
            <a:extLst>
              <a:ext uri="{FF2B5EF4-FFF2-40B4-BE49-F238E27FC236}">
                <a16:creationId xmlns:a16="http://schemas.microsoft.com/office/drawing/2014/main" id="{697DBE47-B4AF-7E19-D3A1-C0DEA2DB4571}"/>
              </a:ext>
            </a:extLst>
          </p:cNvPr>
          <p:cNvSpPr>
            <a:spLocks noGrp="1"/>
          </p:cNvSpPr>
          <p:nvPr>
            <p:ph idx="1"/>
          </p:nvPr>
        </p:nvSpPr>
        <p:spPr/>
        <p:txBody>
          <a:bodyPr/>
          <a:lstStyle/>
          <a:p>
            <a:r>
              <a:rPr lang="en-US" dirty="0"/>
              <a:t>Graft dysfunction and pre-existing critical illness increase the risk of post-transplant infection.</a:t>
            </a:r>
          </a:p>
          <a:p>
            <a:r>
              <a:rPr lang="en-US" dirty="0"/>
              <a:t>CMV infection increases the risk of other infections</a:t>
            </a:r>
          </a:p>
          <a:p>
            <a:r>
              <a:rPr lang="en-US" dirty="0"/>
              <a:t>Patients who develop rejection or have poor graft function after transplant are at increased risk of infection due to receiving a more aggressive immunosuppressive regimen.</a:t>
            </a:r>
          </a:p>
        </p:txBody>
      </p:sp>
    </p:spTree>
    <p:extLst>
      <p:ext uri="{BB962C8B-B14F-4D97-AF65-F5344CB8AC3E}">
        <p14:creationId xmlns:p14="http://schemas.microsoft.com/office/powerpoint/2010/main" val="1222529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8EC21D-247B-6C7D-D574-13356D811CEA}"/>
              </a:ext>
            </a:extLst>
          </p:cNvPr>
          <p:cNvSpPr>
            <a:spLocks noGrp="1"/>
          </p:cNvSpPr>
          <p:nvPr>
            <p:ph type="title"/>
          </p:nvPr>
        </p:nvSpPr>
        <p:spPr/>
        <p:txBody>
          <a:bodyPr/>
          <a:lstStyle/>
          <a:p>
            <a:r>
              <a:rPr lang="en-US" dirty="0"/>
              <a:t>Infection Prophylaxis</a:t>
            </a:r>
          </a:p>
        </p:txBody>
      </p:sp>
      <p:sp>
        <p:nvSpPr>
          <p:cNvPr id="5" name="Text Placeholder 4">
            <a:extLst>
              <a:ext uri="{FF2B5EF4-FFF2-40B4-BE49-F238E27FC236}">
                <a16:creationId xmlns:a16="http://schemas.microsoft.com/office/drawing/2014/main" id="{B6BBD798-4142-4512-3861-30231A2BA8B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80431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27759-B08C-D597-8C1C-B316C158B8F2}"/>
              </a:ext>
            </a:extLst>
          </p:cNvPr>
          <p:cNvSpPr>
            <a:spLocks noGrp="1"/>
          </p:cNvSpPr>
          <p:nvPr>
            <p:ph type="title"/>
          </p:nvPr>
        </p:nvSpPr>
        <p:spPr/>
        <p:txBody>
          <a:bodyPr/>
          <a:lstStyle/>
          <a:p>
            <a:r>
              <a:rPr lang="en-US" dirty="0"/>
              <a:t>Infection Prophylaxis</a:t>
            </a:r>
          </a:p>
        </p:txBody>
      </p:sp>
      <p:sp>
        <p:nvSpPr>
          <p:cNvPr id="3" name="Content Placeholder 2">
            <a:extLst>
              <a:ext uri="{FF2B5EF4-FFF2-40B4-BE49-F238E27FC236}">
                <a16:creationId xmlns:a16="http://schemas.microsoft.com/office/drawing/2014/main" id="{8746DDF2-8686-089B-C681-29F0360B1C50}"/>
              </a:ext>
            </a:extLst>
          </p:cNvPr>
          <p:cNvSpPr>
            <a:spLocks noGrp="1"/>
          </p:cNvSpPr>
          <p:nvPr>
            <p:ph idx="1"/>
          </p:nvPr>
        </p:nvSpPr>
        <p:spPr/>
        <p:txBody>
          <a:bodyPr/>
          <a:lstStyle/>
          <a:p>
            <a:r>
              <a:rPr lang="en-US" dirty="0"/>
              <a:t>Pretransplant vaccines</a:t>
            </a:r>
          </a:p>
          <a:p>
            <a:r>
              <a:rPr lang="en-US" dirty="0"/>
              <a:t>Antibacterial prophylaxis</a:t>
            </a:r>
          </a:p>
          <a:p>
            <a:r>
              <a:rPr lang="en-US" dirty="0"/>
              <a:t>Antifungal prophylaxis</a:t>
            </a:r>
          </a:p>
          <a:p>
            <a:r>
              <a:rPr lang="en-US" dirty="0"/>
              <a:t>Pneumocystis pneumonia (PCP)</a:t>
            </a:r>
          </a:p>
          <a:p>
            <a:r>
              <a:rPr lang="en-US" dirty="0"/>
              <a:t>Cytomegalovirus (CMV)</a:t>
            </a:r>
          </a:p>
        </p:txBody>
      </p:sp>
    </p:spTree>
    <p:extLst>
      <p:ext uri="{BB962C8B-B14F-4D97-AF65-F5344CB8AC3E}">
        <p14:creationId xmlns:p14="http://schemas.microsoft.com/office/powerpoint/2010/main" val="501237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F6BCF6-7BA3-1EFC-3E65-98334335A742}"/>
              </a:ext>
            </a:extLst>
          </p:cNvPr>
          <p:cNvSpPr>
            <a:spLocks noGrp="1"/>
          </p:cNvSpPr>
          <p:nvPr>
            <p:ph type="title"/>
          </p:nvPr>
        </p:nvSpPr>
        <p:spPr/>
        <p:txBody>
          <a:bodyPr/>
          <a:lstStyle/>
          <a:p>
            <a:r>
              <a:rPr lang="en-US" dirty="0"/>
              <a:t>Pre-transplantation Vaccination</a:t>
            </a:r>
          </a:p>
        </p:txBody>
      </p:sp>
      <p:sp>
        <p:nvSpPr>
          <p:cNvPr id="5" name="Text Placeholder 4">
            <a:extLst>
              <a:ext uri="{FF2B5EF4-FFF2-40B4-BE49-F238E27FC236}">
                <a16:creationId xmlns:a16="http://schemas.microsoft.com/office/drawing/2014/main" id="{2C538A44-F473-8E18-0576-8E42C841E56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31007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CF9A2B-9CAE-4C70-64D2-A72B08A27EDB}"/>
              </a:ext>
            </a:extLst>
          </p:cNvPr>
          <p:cNvSpPr>
            <a:spLocks noGrp="1"/>
          </p:cNvSpPr>
          <p:nvPr>
            <p:ph idx="1"/>
          </p:nvPr>
        </p:nvSpPr>
        <p:spPr>
          <a:xfrm>
            <a:off x="838200" y="780585"/>
            <a:ext cx="10515600" cy="5575204"/>
          </a:xfrm>
        </p:spPr>
        <p:txBody>
          <a:bodyPr>
            <a:normAutofit lnSpcReduction="10000"/>
          </a:bodyPr>
          <a:lstStyle/>
          <a:p>
            <a:pPr marL="0" indent="0">
              <a:buNone/>
            </a:pPr>
            <a:r>
              <a:rPr lang="en-US" dirty="0"/>
              <a:t>A 60-year-old man who underwent liver transplantation six months ago presents to the clinic for a routine follow-up visit. He is currently on tacrolimus monotherapy. The patient asks you about getting vaccinated against various infectious diseases.</a:t>
            </a:r>
          </a:p>
          <a:p>
            <a:pPr marL="0" indent="0">
              <a:buNone/>
            </a:pPr>
            <a:endParaRPr lang="en-US" dirty="0"/>
          </a:p>
          <a:p>
            <a:pPr marL="0" indent="0">
              <a:buNone/>
            </a:pPr>
            <a:r>
              <a:rPr lang="en-US" dirty="0"/>
              <a:t>Which of the following vaccines is generally </a:t>
            </a:r>
            <a:r>
              <a:rPr lang="en-US" b="1" dirty="0"/>
              <a:t>not </a:t>
            </a:r>
            <a:r>
              <a:rPr lang="en-US" dirty="0"/>
              <a:t>recommended in his case?</a:t>
            </a:r>
          </a:p>
          <a:p>
            <a:pPr marL="0" indent="0">
              <a:buNone/>
            </a:pPr>
            <a:endParaRPr lang="en-US" dirty="0"/>
          </a:p>
          <a:p>
            <a:pPr marL="514350" indent="-514350">
              <a:buAutoNum type="alphaUcParenR"/>
            </a:pPr>
            <a:r>
              <a:rPr lang="en-US" dirty="0"/>
              <a:t>Rabies vaccine</a:t>
            </a:r>
          </a:p>
          <a:p>
            <a:pPr marL="514350" indent="-514350">
              <a:buAutoNum type="alphaUcParenR"/>
            </a:pPr>
            <a:r>
              <a:rPr lang="en-US" dirty="0"/>
              <a:t>MMR vaccine</a:t>
            </a:r>
          </a:p>
          <a:p>
            <a:pPr marL="514350" indent="-514350">
              <a:buAutoNum type="alphaUcParenR"/>
            </a:pPr>
            <a:r>
              <a:rPr lang="en-US" dirty="0"/>
              <a:t>Hepatitis B vaccine series</a:t>
            </a:r>
          </a:p>
          <a:p>
            <a:pPr marL="514350" indent="-514350">
              <a:buAutoNum type="alphaUcParenR"/>
            </a:pPr>
            <a:r>
              <a:rPr lang="en-US" dirty="0"/>
              <a:t>COVID-19 vaccine</a:t>
            </a:r>
          </a:p>
        </p:txBody>
      </p:sp>
    </p:spTree>
    <p:extLst>
      <p:ext uri="{BB962C8B-B14F-4D97-AF65-F5344CB8AC3E}">
        <p14:creationId xmlns:p14="http://schemas.microsoft.com/office/powerpoint/2010/main" val="2981091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CF9A2B-9CAE-4C70-64D2-A72B08A27EDB}"/>
              </a:ext>
            </a:extLst>
          </p:cNvPr>
          <p:cNvSpPr>
            <a:spLocks noGrp="1"/>
          </p:cNvSpPr>
          <p:nvPr>
            <p:ph idx="1"/>
          </p:nvPr>
        </p:nvSpPr>
        <p:spPr>
          <a:xfrm>
            <a:off x="838200" y="780585"/>
            <a:ext cx="10515600" cy="5575204"/>
          </a:xfrm>
        </p:spPr>
        <p:txBody>
          <a:bodyPr>
            <a:normAutofit lnSpcReduction="10000"/>
          </a:bodyPr>
          <a:lstStyle/>
          <a:p>
            <a:pPr marL="0" indent="0">
              <a:buNone/>
            </a:pPr>
            <a:r>
              <a:rPr lang="en-US" dirty="0"/>
              <a:t>A 60-year-old man who underwent liver transplantation six months ago presents to the clinic for a routine follow-up visit. He is currently on tacrolimus monotherapy. The patient asks you about getting vaccinated against various infectious diseases.</a:t>
            </a:r>
          </a:p>
          <a:p>
            <a:pPr marL="0" indent="0">
              <a:buNone/>
            </a:pPr>
            <a:endParaRPr lang="en-US" dirty="0"/>
          </a:p>
          <a:p>
            <a:pPr marL="0" indent="0">
              <a:buNone/>
            </a:pPr>
            <a:r>
              <a:rPr lang="en-US" dirty="0"/>
              <a:t>Which of the following vaccines is generally </a:t>
            </a:r>
            <a:r>
              <a:rPr lang="en-US" b="1" dirty="0"/>
              <a:t>not </a:t>
            </a:r>
            <a:r>
              <a:rPr lang="en-US" dirty="0"/>
              <a:t>recommended in his case?</a:t>
            </a:r>
          </a:p>
          <a:p>
            <a:pPr marL="0" indent="0">
              <a:buNone/>
            </a:pPr>
            <a:endParaRPr lang="en-US" dirty="0"/>
          </a:p>
          <a:p>
            <a:pPr marL="514350" indent="-514350">
              <a:buAutoNum type="alphaUcParenR"/>
            </a:pPr>
            <a:r>
              <a:rPr lang="en-US" dirty="0"/>
              <a:t>Rabies vaccine</a:t>
            </a:r>
          </a:p>
          <a:p>
            <a:pPr marL="514350" indent="-514350">
              <a:buAutoNum type="alphaUcParenR"/>
            </a:pPr>
            <a:r>
              <a:rPr lang="en-US" b="1" dirty="0"/>
              <a:t>MMR vaccine</a:t>
            </a:r>
          </a:p>
          <a:p>
            <a:pPr marL="514350" indent="-514350">
              <a:buAutoNum type="alphaUcParenR"/>
            </a:pPr>
            <a:r>
              <a:rPr lang="en-US" dirty="0"/>
              <a:t>Hepatitis B vaccine series</a:t>
            </a:r>
          </a:p>
          <a:p>
            <a:pPr marL="514350" indent="-514350">
              <a:buAutoNum type="alphaUcParenR"/>
            </a:pPr>
            <a:r>
              <a:rPr lang="en-US" dirty="0"/>
              <a:t>COVID-19 vaccine</a:t>
            </a:r>
          </a:p>
        </p:txBody>
      </p:sp>
    </p:spTree>
    <p:extLst>
      <p:ext uri="{BB962C8B-B14F-4D97-AF65-F5344CB8AC3E}">
        <p14:creationId xmlns:p14="http://schemas.microsoft.com/office/powerpoint/2010/main" val="3363151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EC990-749B-A1E5-3D0F-EDCD997D379F}"/>
              </a:ext>
            </a:extLst>
          </p:cNvPr>
          <p:cNvSpPr>
            <a:spLocks noGrp="1"/>
          </p:cNvSpPr>
          <p:nvPr>
            <p:ph type="title"/>
          </p:nvPr>
        </p:nvSpPr>
        <p:spPr/>
        <p:txBody>
          <a:bodyPr/>
          <a:lstStyle/>
          <a:p>
            <a:r>
              <a:rPr lang="en-US" dirty="0"/>
              <a:t>Pretransplant Vaccines</a:t>
            </a:r>
          </a:p>
        </p:txBody>
      </p:sp>
      <p:pic>
        <p:nvPicPr>
          <p:cNvPr id="4" name="Content Placeholder 3">
            <a:extLst>
              <a:ext uri="{FF2B5EF4-FFF2-40B4-BE49-F238E27FC236}">
                <a16:creationId xmlns:a16="http://schemas.microsoft.com/office/drawing/2014/main" id="{49EBDC45-56B9-CB49-1533-B106E6A03BEB}"/>
              </a:ext>
            </a:extLst>
          </p:cNvPr>
          <p:cNvPicPr>
            <a:picLocks noGrp="1" noChangeAspect="1"/>
          </p:cNvPicPr>
          <p:nvPr>
            <p:ph idx="1"/>
          </p:nvPr>
        </p:nvPicPr>
        <p:blipFill>
          <a:blip r:embed="rId3"/>
          <a:stretch>
            <a:fillRect/>
          </a:stretch>
        </p:blipFill>
        <p:spPr>
          <a:xfrm>
            <a:off x="2530521" y="1679872"/>
            <a:ext cx="7130955" cy="4351338"/>
          </a:xfrm>
          <a:prstGeom prst="rect">
            <a:avLst/>
          </a:prstGeom>
        </p:spPr>
      </p:pic>
      <p:sp>
        <p:nvSpPr>
          <p:cNvPr id="6" name="TextBox 5">
            <a:extLst>
              <a:ext uri="{FF2B5EF4-FFF2-40B4-BE49-F238E27FC236}">
                <a16:creationId xmlns:a16="http://schemas.microsoft.com/office/drawing/2014/main" id="{D80FB767-67C8-0CE9-401F-09550BAEB810}"/>
              </a:ext>
            </a:extLst>
          </p:cNvPr>
          <p:cNvSpPr txBox="1"/>
          <p:nvPr/>
        </p:nvSpPr>
        <p:spPr>
          <a:xfrm>
            <a:off x="-3718" y="6464766"/>
            <a:ext cx="12459629" cy="369332"/>
          </a:xfrm>
          <a:prstGeom prst="rect">
            <a:avLst/>
          </a:prstGeom>
          <a:noFill/>
        </p:spPr>
        <p:txBody>
          <a:bodyPr wrap="square">
            <a:spAutoFit/>
          </a:bodyPr>
          <a:lstStyle/>
          <a:p>
            <a:r>
              <a:rPr lang="en-US" dirty="0"/>
              <a:t>American Society of Transplantation (AST): Guidelines on vaccination of solid organ transplant candidates and recipients (2019)</a:t>
            </a:r>
          </a:p>
        </p:txBody>
      </p:sp>
    </p:spTree>
    <p:extLst>
      <p:ext uri="{BB962C8B-B14F-4D97-AF65-F5344CB8AC3E}">
        <p14:creationId xmlns:p14="http://schemas.microsoft.com/office/powerpoint/2010/main" val="22165927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3F905-3CAE-0CD0-E4EA-36B67895CF13}"/>
              </a:ext>
            </a:extLst>
          </p:cNvPr>
          <p:cNvSpPr>
            <a:spLocks noGrp="1"/>
          </p:cNvSpPr>
          <p:nvPr>
            <p:ph type="title"/>
          </p:nvPr>
        </p:nvSpPr>
        <p:spPr/>
        <p:txBody>
          <a:bodyPr>
            <a:normAutofit/>
          </a:bodyPr>
          <a:lstStyle/>
          <a:p>
            <a:r>
              <a:rPr lang="en-US" dirty="0"/>
              <a:t>Lahey Liver Transplant Protocols</a:t>
            </a:r>
          </a:p>
        </p:txBody>
      </p:sp>
      <p:pic>
        <p:nvPicPr>
          <p:cNvPr id="5" name="Picture 4">
            <a:extLst>
              <a:ext uri="{FF2B5EF4-FFF2-40B4-BE49-F238E27FC236}">
                <a16:creationId xmlns:a16="http://schemas.microsoft.com/office/drawing/2014/main" id="{ED403CDB-0F71-6D9F-4F87-DCE1E443860A}"/>
              </a:ext>
            </a:extLst>
          </p:cNvPr>
          <p:cNvPicPr>
            <a:picLocks noChangeAspect="1"/>
          </p:cNvPicPr>
          <p:nvPr/>
        </p:nvPicPr>
        <p:blipFill>
          <a:blip r:embed="rId2"/>
          <a:stretch>
            <a:fillRect/>
          </a:stretch>
        </p:blipFill>
        <p:spPr>
          <a:xfrm>
            <a:off x="2209800" y="1495134"/>
            <a:ext cx="7772400" cy="1441055"/>
          </a:xfrm>
          <a:prstGeom prst="rect">
            <a:avLst/>
          </a:prstGeom>
        </p:spPr>
      </p:pic>
      <p:pic>
        <p:nvPicPr>
          <p:cNvPr id="6" name="Picture 5">
            <a:extLst>
              <a:ext uri="{FF2B5EF4-FFF2-40B4-BE49-F238E27FC236}">
                <a16:creationId xmlns:a16="http://schemas.microsoft.com/office/drawing/2014/main" id="{35674F17-F0FA-87C5-7BC4-DDD0442BDADF}"/>
              </a:ext>
            </a:extLst>
          </p:cNvPr>
          <p:cNvPicPr>
            <a:picLocks noChangeAspect="1"/>
          </p:cNvPicPr>
          <p:nvPr/>
        </p:nvPicPr>
        <p:blipFill>
          <a:blip r:embed="rId3"/>
          <a:stretch>
            <a:fillRect/>
          </a:stretch>
        </p:blipFill>
        <p:spPr>
          <a:xfrm>
            <a:off x="2209800" y="2918604"/>
            <a:ext cx="7772400" cy="1127796"/>
          </a:xfrm>
          <a:prstGeom prst="rect">
            <a:avLst/>
          </a:prstGeom>
        </p:spPr>
      </p:pic>
      <p:pic>
        <p:nvPicPr>
          <p:cNvPr id="7" name="Picture 6">
            <a:extLst>
              <a:ext uri="{FF2B5EF4-FFF2-40B4-BE49-F238E27FC236}">
                <a16:creationId xmlns:a16="http://schemas.microsoft.com/office/drawing/2014/main" id="{F1365496-F7F9-CEA0-C0C6-A702A7D90FA8}"/>
              </a:ext>
            </a:extLst>
          </p:cNvPr>
          <p:cNvPicPr>
            <a:picLocks noChangeAspect="1"/>
          </p:cNvPicPr>
          <p:nvPr/>
        </p:nvPicPr>
        <p:blipFill>
          <a:blip r:embed="rId4"/>
          <a:stretch>
            <a:fillRect/>
          </a:stretch>
        </p:blipFill>
        <p:spPr>
          <a:xfrm>
            <a:off x="2736850" y="4417524"/>
            <a:ext cx="6718300" cy="2184400"/>
          </a:xfrm>
          <a:prstGeom prst="rect">
            <a:avLst/>
          </a:prstGeom>
        </p:spPr>
      </p:pic>
    </p:spTree>
    <p:extLst>
      <p:ext uri="{BB962C8B-B14F-4D97-AF65-F5344CB8AC3E}">
        <p14:creationId xmlns:p14="http://schemas.microsoft.com/office/powerpoint/2010/main" val="4047216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28F6DF-ED98-F41B-BB52-50D00018A33F}"/>
              </a:ext>
            </a:extLst>
          </p:cNvPr>
          <p:cNvSpPr>
            <a:spLocks noGrp="1"/>
          </p:cNvSpPr>
          <p:nvPr>
            <p:ph type="title"/>
          </p:nvPr>
        </p:nvSpPr>
        <p:spPr/>
        <p:txBody>
          <a:bodyPr/>
          <a:lstStyle/>
          <a:p>
            <a:r>
              <a:rPr lang="en-US" dirty="0"/>
              <a:t>Antibacterial Prophylaxis</a:t>
            </a:r>
          </a:p>
        </p:txBody>
      </p:sp>
      <p:sp>
        <p:nvSpPr>
          <p:cNvPr id="5" name="Text Placeholder 4">
            <a:extLst>
              <a:ext uri="{FF2B5EF4-FFF2-40B4-BE49-F238E27FC236}">
                <a16:creationId xmlns:a16="http://schemas.microsoft.com/office/drawing/2014/main" id="{740360B4-114B-0DC1-053F-45EC58FFB99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28887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418D5-1852-E78C-55CB-98008D3BFEA6}"/>
              </a:ext>
            </a:extLst>
          </p:cNvPr>
          <p:cNvSpPr>
            <a:spLocks noGrp="1"/>
          </p:cNvSpPr>
          <p:nvPr>
            <p:ph type="title"/>
          </p:nvPr>
        </p:nvSpPr>
        <p:spPr/>
        <p:txBody>
          <a:bodyPr/>
          <a:lstStyle/>
          <a:p>
            <a:r>
              <a:rPr lang="en-US" dirty="0"/>
              <a:t>Antibacterial Prophylaxis</a:t>
            </a:r>
          </a:p>
        </p:txBody>
      </p:sp>
      <p:sp>
        <p:nvSpPr>
          <p:cNvPr id="3" name="Content Placeholder 2">
            <a:extLst>
              <a:ext uri="{FF2B5EF4-FFF2-40B4-BE49-F238E27FC236}">
                <a16:creationId xmlns:a16="http://schemas.microsoft.com/office/drawing/2014/main" id="{06D5AB51-2E96-32CB-434C-DA9B906906F9}"/>
              </a:ext>
            </a:extLst>
          </p:cNvPr>
          <p:cNvSpPr>
            <a:spLocks noGrp="1"/>
          </p:cNvSpPr>
          <p:nvPr>
            <p:ph idx="1"/>
          </p:nvPr>
        </p:nvSpPr>
        <p:spPr/>
        <p:txBody>
          <a:bodyPr/>
          <a:lstStyle/>
          <a:p>
            <a:r>
              <a:rPr lang="en-US" dirty="0"/>
              <a:t>Surgical site infections are more common in liver transplant recipients compared to other solid organ transplants</a:t>
            </a:r>
          </a:p>
          <a:p>
            <a:pPr lvl="1"/>
            <a:r>
              <a:rPr lang="en-US" dirty="0"/>
              <a:t>Rates are 10-37% in one report</a:t>
            </a:r>
          </a:p>
          <a:p>
            <a:r>
              <a:rPr lang="en-US" b="1" dirty="0"/>
              <a:t>No consensus exists for the management of patients colonized </a:t>
            </a:r>
            <a:r>
              <a:rPr lang="en-US" dirty="0"/>
              <a:t>with resistant </a:t>
            </a:r>
            <a:r>
              <a:rPr lang="en-US" b="1" dirty="0"/>
              <a:t>gram-negative organisms </a:t>
            </a:r>
            <a:r>
              <a:rPr lang="en-US" dirty="0"/>
              <a:t>during the </a:t>
            </a:r>
            <a:r>
              <a:rPr lang="en-US" dirty="0" err="1"/>
              <a:t>peritransplant</a:t>
            </a:r>
            <a:r>
              <a:rPr lang="en-US" dirty="0"/>
              <a:t> period.</a:t>
            </a:r>
          </a:p>
          <a:p>
            <a:r>
              <a:rPr lang="en-US" b="1" dirty="0"/>
              <a:t>Universal decolonization </a:t>
            </a:r>
            <a:r>
              <a:rPr lang="en-US" dirty="0"/>
              <a:t>with chlorhexidine (CHG) bathing is recommended for ICU patients to prevent transmission of </a:t>
            </a:r>
            <a:r>
              <a:rPr lang="en-US" b="1" dirty="0"/>
              <a:t>MRSA</a:t>
            </a:r>
            <a:r>
              <a:rPr lang="en-US" dirty="0"/>
              <a:t> (strong, high). </a:t>
            </a:r>
          </a:p>
          <a:p>
            <a:endParaRPr lang="en-US" dirty="0"/>
          </a:p>
        </p:txBody>
      </p:sp>
      <p:sp>
        <p:nvSpPr>
          <p:cNvPr id="5" name="TextBox 4">
            <a:extLst>
              <a:ext uri="{FF2B5EF4-FFF2-40B4-BE49-F238E27FC236}">
                <a16:creationId xmlns:a16="http://schemas.microsoft.com/office/drawing/2014/main" id="{241B5A45-23AE-7F36-3211-EF79C25BD3FA}"/>
              </a:ext>
            </a:extLst>
          </p:cNvPr>
          <p:cNvSpPr txBox="1"/>
          <p:nvPr/>
        </p:nvSpPr>
        <p:spPr>
          <a:xfrm>
            <a:off x="-14654" y="6532194"/>
            <a:ext cx="12028602" cy="369332"/>
          </a:xfrm>
          <a:prstGeom prst="rect">
            <a:avLst/>
          </a:prstGeom>
          <a:noFill/>
        </p:spPr>
        <p:txBody>
          <a:bodyPr wrap="square">
            <a:spAutoFit/>
          </a:bodyPr>
          <a:lstStyle/>
          <a:p>
            <a:r>
              <a:rPr lang="en-US" b="0" i="0" u="none" strike="noStrike" dirty="0" err="1">
                <a:solidFill>
                  <a:srgbClr val="212121"/>
                </a:solidFill>
                <a:effectLst/>
                <a:latin typeface="BlinkMacSystemFont"/>
              </a:rPr>
              <a:t>Diagn</a:t>
            </a:r>
            <a:r>
              <a:rPr lang="en-US" b="0" i="0" u="none" strike="noStrike" dirty="0">
                <a:solidFill>
                  <a:srgbClr val="212121"/>
                </a:solidFill>
                <a:effectLst/>
                <a:latin typeface="BlinkMacSystemFont"/>
              </a:rPr>
              <a:t> </a:t>
            </a:r>
            <a:r>
              <a:rPr lang="en-US" b="0" i="0" u="none" strike="noStrike" dirty="0" err="1">
                <a:solidFill>
                  <a:srgbClr val="212121"/>
                </a:solidFill>
                <a:effectLst/>
                <a:latin typeface="BlinkMacSystemFont"/>
              </a:rPr>
              <a:t>Microbiol</a:t>
            </a:r>
            <a:r>
              <a:rPr lang="en-US" b="0" i="0" u="none" strike="noStrike" dirty="0">
                <a:solidFill>
                  <a:srgbClr val="212121"/>
                </a:solidFill>
                <a:effectLst/>
                <a:latin typeface="BlinkMacSystemFont"/>
              </a:rPr>
              <a:t> Infect Dis. 2021;99(1):115220; Clin Transplant. 2019 Sep;33(9):e13611</a:t>
            </a:r>
            <a:endParaRPr lang="en-US" dirty="0"/>
          </a:p>
        </p:txBody>
      </p:sp>
    </p:spTree>
    <p:extLst>
      <p:ext uri="{BB962C8B-B14F-4D97-AF65-F5344CB8AC3E}">
        <p14:creationId xmlns:p14="http://schemas.microsoft.com/office/powerpoint/2010/main" val="36738632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7510004-94FF-F0A0-064F-4E007FBD55B4}"/>
              </a:ext>
            </a:extLst>
          </p:cNvPr>
          <p:cNvPicPr>
            <a:picLocks noChangeAspect="1"/>
          </p:cNvPicPr>
          <p:nvPr/>
        </p:nvPicPr>
        <p:blipFill>
          <a:blip r:embed="rId3"/>
          <a:stretch>
            <a:fillRect/>
          </a:stretch>
        </p:blipFill>
        <p:spPr>
          <a:xfrm>
            <a:off x="3203993" y="1118508"/>
            <a:ext cx="5784014" cy="5348359"/>
          </a:xfrm>
          <a:prstGeom prst="rect">
            <a:avLst/>
          </a:prstGeom>
        </p:spPr>
      </p:pic>
      <p:sp>
        <p:nvSpPr>
          <p:cNvPr id="8" name="TextBox 7">
            <a:extLst>
              <a:ext uri="{FF2B5EF4-FFF2-40B4-BE49-F238E27FC236}">
                <a16:creationId xmlns:a16="http://schemas.microsoft.com/office/drawing/2014/main" id="{16B78FE7-5273-485D-61F4-5166147A87DF}"/>
              </a:ext>
            </a:extLst>
          </p:cNvPr>
          <p:cNvSpPr txBox="1"/>
          <p:nvPr/>
        </p:nvSpPr>
        <p:spPr>
          <a:xfrm>
            <a:off x="0" y="6488668"/>
            <a:ext cx="6122708" cy="369332"/>
          </a:xfrm>
          <a:prstGeom prst="rect">
            <a:avLst/>
          </a:prstGeom>
          <a:noFill/>
        </p:spPr>
        <p:txBody>
          <a:bodyPr wrap="square">
            <a:spAutoFit/>
          </a:bodyPr>
          <a:lstStyle/>
          <a:p>
            <a:r>
              <a:rPr lang="en-US" b="0" i="0" u="none" strike="noStrike" dirty="0">
                <a:solidFill>
                  <a:srgbClr val="212121"/>
                </a:solidFill>
                <a:effectLst/>
                <a:latin typeface="BlinkMacSystemFont"/>
              </a:rPr>
              <a:t>Infect Control Hosp Epidemiol. 2006 Feb;27(2):122-6.</a:t>
            </a:r>
            <a:endParaRPr lang="en-US" dirty="0"/>
          </a:p>
        </p:txBody>
      </p:sp>
      <p:sp>
        <p:nvSpPr>
          <p:cNvPr id="10" name="TextBox 9">
            <a:extLst>
              <a:ext uri="{FF2B5EF4-FFF2-40B4-BE49-F238E27FC236}">
                <a16:creationId xmlns:a16="http://schemas.microsoft.com/office/drawing/2014/main" id="{7AD20A25-CC48-3C35-5735-8CF7BD20CCB4}"/>
              </a:ext>
            </a:extLst>
          </p:cNvPr>
          <p:cNvSpPr txBox="1"/>
          <p:nvPr/>
        </p:nvSpPr>
        <p:spPr>
          <a:xfrm>
            <a:off x="3230701" y="111831"/>
            <a:ext cx="5784014" cy="923330"/>
          </a:xfrm>
          <a:prstGeom prst="rect">
            <a:avLst/>
          </a:prstGeom>
          <a:noFill/>
        </p:spPr>
        <p:txBody>
          <a:bodyPr wrap="square">
            <a:spAutoFit/>
          </a:bodyPr>
          <a:lstStyle/>
          <a:p>
            <a:pPr algn="ctr"/>
            <a:r>
              <a:rPr lang="en-US" b="1" i="0" u="none" strike="noStrike" dirty="0">
                <a:solidFill>
                  <a:srgbClr val="212121"/>
                </a:solidFill>
                <a:effectLst/>
                <a:latin typeface="Merriweather" panose="020F0502020204030204" pitchFamily="34" charset="0"/>
              </a:rPr>
              <a:t>Impact of an aggressive infection control strategy on endemic Staphylococcus aureus infection in liver transplant recipients</a:t>
            </a:r>
          </a:p>
        </p:txBody>
      </p:sp>
    </p:spTree>
    <p:extLst>
      <p:ext uri="{BB962C8B-B14F-4D97-AF65-F5344CB8AC3E}">
        <p14:creationId xmlns:p14="http://schemas.microsoft.com/office/powerpoint/2010/main" val="2231577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C66EEC-B88F-1879-CE52-5B5B2C54B850}"/>
              </a:ext>
            </a:extLst>
          </p:cNvPr>
          <p:cNvSpPr>
            <a:spLocks noGrp="1"/>
          </p:cNvSpPr>
          <p:nvPr>
            <p:ph type="title"/>
          </p:nvPr>
        </p:nvSpPr>
        <p:spPr/>
        <p:txBody>
          <a:bodyPr/>
          <a:lstStyle/>
          <a:p>
            <a:r>
              <a:rPr lang="en-US" dirty="0"/>
              <a:t>Antifungal Prophylaxis</a:t>
            </a:r>
          </a:p>
        </p:txBody>
      </p:sp>
      <p:sp>
        <p:nvSpPr>
          <p:cNvPr id="5" name="Text Placeholder 4">
            <a:extLst>
              <a:ext uri="{FF2B5EF4-FFF2-40B4-BE49-F238E27FC236}">
                <a16:creationId xmlns:a16="http://schemas.microsoft.com/office/drawing/2014/main" id="{AA2E7DB0-0C8D-ACD6-E9C7-1E64E956BAC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810785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B0355-BD21-A4FC-5C62-DB2804E3CD35}"/>
              </a:ext>
            </a:extLst>
          </p:cNvPr>
          <p:cNvSpPr>
            <a:spLocks noGrp="1"/>
          </p:cNvSpPr>
          <p:nvPr>
            <p:ph type="title"/>
          </p:nvPr>
        </p:nvSpPr>
        <p:spPr/>
        <p:txBody>
          <a:bodyPr/>
          <a:lstStyle/>
          <a:p>
            <a:r>
              <a:rPr lang="en-US" dirty="0"/>
              <a:t>Antifungal Prophylaxis (Candida mainly)</a:t>
            </a:r>
          </a:p>
        </p:txBody>
      </p:sp>
      <p:sp>
        <p:nvSpPr>
          <p:cNvPr id="3" name="Content Placeholder 2">
            <a:extLst>
              <a:ext uri="{FF2B5EF4-FFF2-40B4-BE49-F238E27FC236}">
                <a16:creationId xmlns:a16="http://schemas.microsoft.com/office/drawing/2014/main" id="{970AE1E1-FBD8-1031-D216-761D63BE081D}"/>
              </a:ext>
            </a:extLst>
          </p:cNvPr>
          <p:cNvSpPr>
            <a:spLocks noGrp="1"/>
          </p:cNvSpPr>
          <p:nvPr>
            <p:ph idx="1"/>
          </p:nvPr>
        </p:nvSpPr>
        <p:spPr/>
        <p:txBody>
          <a:bodyPr>
            <a:normAutofit fontScale="92500" lnSpcReduction="10000"/>
          </a:bodyPr>
          <a:lstStyle/>
          <a:p>
            <a:r>
              <a:rPr lang="en-US" b="1" dirty="0"/>
              <a:t>Targeted prophylaxis </a:t>
            </a:r>
            <a:r>
              <a:rPr lang="en-US" dirty="0"/>
              <a:t>should be given to all adult liver transplant recipients at high risk for development of invasive candidiasis</a:t>
            </a:r>
          </a:p>
          <a:p>
            <a:r>
              <a:rPr lang="en-US" dirty="0"/>
              <a:t>Risk factors include (AST 2019 Guidelines)</a:t>
            </a:r>
          </a:p>
          <a:p>
            <a:pPr lvl="1"/>
            <a:r>
              <a:rPr lang="en-US" dirty="0"/>
              <a:t>Retransplant or reoperation</a:t>
            </a:r>
          </a:p>
          <a:p>
            <a:pPr lvl="1"/>
            <a:r>
              <a:rPr lang="en-US" dirty="0"/>
              <a:t>Renal failure -&gt; RRT</a:t>
            </a:r>
          </a:p>
          <a:p>
            <a:pPr lvl="1"/>
            <a:r>
              <a:rPr lang="en-US" dirty="0"/>
              <a:t>&gt; 40 units of blood products </a:t>
            </a:r>
          </a:p>
          <a:p>
            <a:pPr lvl="1"/>
            <a:r>
              <a:rPr lang="en-US" dirty="0" err="1"/>
              <a:t>Choledochojejunostomy</a:t>
            </a:r>
            <a:endParaRPr lang="en-US" dirty="0"/>
          </a:p>
          <a:p>
            <a:pPr lvl="1"/>
            <a:r>
              <a:rPr lang="en-US" dirty="0"/>
              <a:t>Candida colonization perioperatively</a:t>
            </a:r>
          </a:p>
          <a:p>
            <a:r>
              <a:rPr lang="en-US" dirty="0"/>
              <a:t>Other risk factors</a:t>
            </a:r>
          </a:p>
          <a:p>
            <a:pPr lvl="1"/>
            <a:r>
              <a:rPr lang="en-US" dirty="0"/>
              <a:t>MELD score ≥30</a:t>
            </a:r>
          </a:p>
          <a:p>
            <a:pPr lvl="1"/>
            <a:r>
              <a:rPr lang="en-US" dirty="0"/>
              <a:t>Biliary leaks</a:t>
            </a:r>
          </a:p>
          <a:p>
            <a:pPr lvl="1"/>
            <a:r>
              <a:rPr lang="en-US" dirty="0"/>
              <a:t>Living donor liver transplantation</a:t>
            </a:r>
          </a:p>
        </p:txBody>
      </p:sp>
      <p:sp>
        <p:nvSpPr>
          <p:cNvPr id="4" name="TextBox 3">
            <a:extLst>
              <a:ext uri="{FF2B5EF4-FFF2-40B4-BE49-F238E27FC236}">
                <a16:creationId xmlns:a16="http://schemas.microsoft.com/office/drawing/2014/main" id="{2ABCABEB-C14C-C328-054F-D3667C60F9AD}"/>
              </a:ext>
            </a:extLst>
          </p:cNvPr>
          <p:cNvSpPr txBox="1"/>
          <p:nvPr/>
        </p:nvSpPr>
        <p:spPr>
          <a:xfrm>
            <a:off x="0" y="6488668"/>
            <a:ext cx="6100548" cy="369332"/>
          </a:xfrm>
          <a:prstGeom prst="rect">
            <a:avLst/>
          </a:prstGeom>
          <a:noFill/>
        </p:spPr>
        <p:txBody>
          <a:bodyPr wrap="square">
            <a:spAutoFit/>
          </a:bodyPr>
          <a:lstStyle/>
          <a:p>
            <a:r>
              <a:rPr lang="en-US" dirty="0"/>
              <a:t>Clin Transplant. 2019 Sep;33(9):e13623</a:t>
            </a:r>
          </a:p>
        </p:txBody>
      </p:sp>
    </p:spTree>
    <p:extLst>
      <p:ext uri="{BB962C8B-B14F-4D97-AF65-F5344CB8AC3E}">
        <p14:creationId xmlns:p14="http://schemas.microsoft.com/office/powerpoint/2010/main" val="6251193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etails are in the caption following the image">
            <a:extLst>
              <a:ext uri="{FF2B5EF4-FFF2-40B4-BE49-F238E27FC236}">
                <a16:creationId xmlns:a16="http://schemas.microsoft.com/office/drawing/2014/main" id="{C8FD1664-52C9-580B-C98E-0C74632648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1393"/>
          <a:stretch/>
        </p:blipFill>
        <p:spPr bwMode="auto">
          <a:xfrm>
            <a:off x="4099991" y="2196872"/>
            <a:ext cx="3903202" cy="3579674"/>
          </a:xfrm>
          <a:prstGeom prst="rect">
            <a:avLst/>
          </a:prstGeom>
          <a:noFill/>
          <a:extLst>
            <a:ext uri="{909E8E84-426E-40DD-AFC4-6F175D3DCCD1}">
              <a14:hiddenFill xmlns:a14="http://schemas.microsoft.com/office/drawing/2010/main">
                <a:solidFill>
                  <a:srgbClr val="FFFFFF"/>
                </a:solidFill>
              </a14:hiddenFill>
            </a:ext>
          </a:extLst>
        </p:spPr>
      </p:pic>
      <p:sp>
        <p:nvSpPr>
          <p:cNvPr id="9" name="Title 8">
            <a:extLst>
              <a:ext uri="{FF2B5EF4-FFF2-40B4-BE49-F238E27FC236}">
                <a16:creationId xmlns:a16="http://schemas.microsoft.com/office/drawing/2014/main" id="{127BF2DA-A4F5-8E2B-A2EE-72724DD1D519}"/>
              </a:ext>
            </a:extLst>
          </p:cNvPr>
          <p:cNvSpPr>
            <a:spLocks noGrp="1"/>
          </p:cNvSpPr>
          <p:nvPr>
            <p:ph type="title"/>
          </p:nvPr>
        </p:nvSpPr>
        <p:spPr>
          <a:xfrm>
            <a:off x="-48956" y="482860"/>
            <a:ext cx="12289912" cy="997683"/>
          </a:xfrm>
        </p:spPr>
        <p:txBody>
          <a:bodyPr>
            <a:normAutofit fontScale="90000"/>
          </a:bodyPr>
          <a:lstStyle/>
          <a:p>
            <a:r>
              <a:rPr lang="en-US" dirty="0"/>
              <a:t>Targeted Versus Universal Antifungal Prophylaxis Among Liver Transplant Recipients</a:t>
            </a:r>
          </a:p>
        </p:txBody>
      </p:sp>
      <p:sp>
        <p:nvSpPr>
          <p:cNvPr id="13" name="TextBox 12">
            <a:extLst>
              <a:ext uri="{FF2B5EF4-FFF2-40B4-BE49-F238E27FC236}">
                <a16:creationId xmlns:a16="http://schemas.microsoft.com/office/drawing/2014/main" id="{2736D384-E9E5-90CE-4EF6-02BDD9DE06C0}"/>
              </a:ext>
            </a:extLst>
          </p:cNvPr>
          <p:cNvSpPr txBox="1"/>
          <p:nvPr/>
        </p:nvSpPr>
        <p:spPr>
          <a:xfrm>
            <a:off x="-48956" y="6492875"/>
            <a:ext cx="6100548" cy="369332"/>
          </a:xfrm>
          <a:prstGeom prst="rect">
            <a:avLst/>
          </a:prstGeom>
          <a:noFill/>
        </p:spPr>
        <p:txBody>
          <a:bodyPr wrap="square">
            <a:spAutoFit/>
          </a:bodyPr>
          <a:lstStyle/>
          <a:p>
            <a:r>
              <a:rPr lang="en-US" dirty="0"/>
              <a:t>Am J Transplant. 2015 Jan;15(1):180-9</a:t>
            </a:r>
          </a:p>
        </p:txBody>
      </p:sp>
    </p:spTree>
    <p:extLst>
      <p:ext uri="{BB962C8B-B14F-4D97-AF65-F5344CB8AC3E}">
        <p14:creationId xmlns:p14="http://schemas.microsoft.com/office/powerpoint/2010/main" val="30297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969C6-D54C-2339-86B5-4BF94928AEF3}"/>
              </a:ext>
            </a:extLst>
          </p:cNvPr>
          <p:cNvSpPr>
            <a:spLocks noGrp="1"/>
          </p:cNvSpPr>
          <p:nvPr>
            <p:ph type="title"/>
          </p:nvPr>
        </p:nvSpPr>
        <p:spPr/>
        <p:txBody>
          <a:bodyPr/>
          <a:lstStyle/>
          <a:p>
            <a:r>
              <a:rPr lang="en-US" dirty="0"/>
              <a:t>Antifungal Prophylaxis</a:t>
            </a:r>
          </a:p>
        </p:txBody>
      </p:sp>
      <p:sp>
        <p:nvSpPr>
          <p:cNvPr id="3" name="Content Placeholder 2">
            <a:extLst>
              <a:ext uri="{FF2B5EF4-FFF2-40B4-BE49-F238E27FC236}">
                <a16:creationId xmlns:a16="http://schemas.microsoft.com/office/drawing/2014/main" id="{5DF514F9-1407-8EA4-C63D-6B39C0B89BB2}"/>
              </a:ext>
            </a:extLst>
          </p:cNvPr>
          <p:cNvSpPr>
            <a:spLocks noGrp="1"/>
          </p:cNvSpPr>
          <p:nvPr>
            <p:ph idx="1"/>
          </p:nvPr>
        </p:nvSpPr>
        <p:spPr>
          <a:xfrm>
            <a:off x="410308" y="1608991"/>
            <a:ext cx="11371384" cy="4567971"/>
          </a:xfrm>
        </p:spPr>
        <p:txBody>
          <a:bodyPr/>
          <a:lstStyle/>
          <a:p>
            <a:r>
              <a:rPr lang="en-US" dirty="0"/>
              <a:t>As shown, along multiple other studies, the following is a is an effective and safe strategy:</a:t>
            </a:r>
          </a:p>
          <a:p>
            <a:endParaRPr lang="en-US" dirty="0"/>
          </a:p>
          <a:p>
            <a:pPr marL="514350" indent="-514350">
              <a:buAutoNum type="arabicPeriod"/>
            </a:pPr>
            <a:r>
              <a:rPr lang="en-US" b="1" dirty="0"/>
              <a:t>Targeted prophylaxis in high-risk liver transplant patients</a:t>
            </a:r>
            <a:r>
              <a:rPr lang="en-US" dirty="0"/>
              <a:t> </a:t>
            </a:r>
          </a:p>
          <a:p>
            <a:pPr marL="514350" indent="-514350">
              <a:buAutoNum type="arabicPeriod"/>
            </a:pPr>
            <a:r>
              <a:rPr lang="en-US" b="1" dirty="0"/>
              <a:t>No fungal prophylaxis in low-risk patients</a:t>
            </a:r>
            <a:endParaRPr lang="en-US" dirty="0"/>
          </a:p>
          <a:p>
            <a:pPr marL="0" indent="0">
              <a:buNone/>
            </a:pPr>
            <a:endParaRPr lang="en-US" dirty="0"/>
          </a:p>
          <a:p>
            <a:pPr marL="0" indent="0">
              <a:buNone/>
            </a:pPr>
            <a:r>
              <a:rPr lang="en-US" dirty="0"/>
              <a:t>How about agent of choice?</a:t>
            </a:r>
          </a:p>
        </p:txBody>
      </p:sp>
    </p:spTree>
    <p:extLst>
      <p:ext uri="{BB962C8B-B14F-4D97-AF65-F5344CB8AC3E}">
        <p14:creationId xmlns:p14="http://schemas.microsoft.com/office/powerpoint/2010/main" val="32842821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70628-0BCE-48CE-4C18-3EF9E234B3CD}"/>
              </a:ext>
            </a:extLst>
          </p:cNvPr>
          <p:cNvSpPr>
            <a:spLocks noGrp="1"/>
          </p:cNvSpPr>
          <p:nvPr>
            <p:ph type="title"/>
          </p:nvPr>
        </p:nvSpPr>
        <p:spPr/>
        <p:txBody>
          <a:bodyPr/>
          <a:lstStyle/>
          <a:p>
            <a:r>
              <a:rPr lang="en-US" dirty="0"/>
              <a:t>Antifungal Prophylaxis</a:t>
            </a:r>
          </a:p>
        </p:txBody>
      </p:sp>
      <p:sp>
        <p:nvSpPr>
          <p:cNvPr id="3" name="Content Placeholder 2">
            <a:extLst>
              <a:ext uri="{FF2B5EF4-FFF2-40B4-BE49-F238E27FC236}">
                <a16:creationId xmlns:a16="http://schemas.microsoft.com/office/drawing/2014/main" id="{AF49E372-9820-F3A4-BC44-EEFEC38EC677}"/>
              </a:ext>
            </a:extLst>
          </p:cNvPr>
          <p:cNvSpPr>
            <a:spLocks noGrp="1"/>
          </p:cNvSpPr>
          <p:nvPr>
            <p:ph idx="1"/>
          </p:nvPr>
        </p:nvSpPr>
        <p:spPr>
          <a:xfrm>
            <a:off x="838200" y="1521067"/>
            <a:ext cx="10515600" cy="4879677"/>
          </a:xfrm>
        </p:spPr>
        <p:txBody>
          <a:bodyPr>
            <a:normAutofit fontScale="92500" lnSpcReduction="10000"/>
          </a:bodyPr>
          <a:lstStyle/>
          <a:p>
            <a:r>
              <a:rPr lang="en-US" b="1" dirty="0"/>
              <a:t>Fluconazole</a:t>
            </a:r>
            <a:r>
              <a:rPr lang="en-US" dirty="0"/>
              <a:t>, voriconazole, echinocandins (micafungin), and low-dose amphotericin B have all been studied</a:t>
            </a:r>
          </a:p>
          <a:p>
            <a:r>
              <a:rPr lang="en-US" dirty="0"/>
              <a:t>All the above agents are safe and effective in multiple clinical trials</a:t>
            </a:r>
          </a:p>
          <a:p>
            <a:r>
              <a:rPr lang="en-US" dirty="0"/>
              <a:t>Echinocandins or </a:t>
            </a:r>
            <a:r>
              <a:rPr lang="en-US" dirty="0" err="1"/>
              <a:t>AmphoB</a:t>
            </a:r>
            <a:r>
              <a:rPr lang="en-US" dirty="0"/>
              <a:t> reserved if there are high incidence of non-albicans </a:t>
            </a:r>
            <a:r>
              <a:rPr lang="en-US" i="1" dirty="0"/>
              <a:t>Candida</a:t>
            </a:r>
            <a:r>
              <a:rPr lang="en-US" dirty="0"/>
              <a:t> </a:t>
            </a:r>
          </a:p>
          <a:p>
            <a:r>
              <a:rPr lang="en-US" dirty="0"/>
              <a:t>Duration of up to </a:t>
            </a:r>
            <a:r>
              <a:rPr lang="en-US" b="1" dirty="0"/>
              <a:t>2-4 weeks </a:t>
            </a:r>
            <a:r>
              <a:rPr lang="en-US" dirty="0"/>
              <a:t>after transplant</a:t>
            </a:r>
          </a:p>
          <a:p>
            <a:endParaRPr lang="en-US" dirty="0"/>
          </a:p>
          <a:p>
            <a:pPr marL="0" indent="0">
              <a:buNone/>
            </a:pPr>
            <a:r>
              <a:rPr lang="en-US" dirty="0"/>
              <a:t>AST 2019 Recommendations:</a:t>
            </a:r>
          </a:p>
          <a:p>
            <a:pPr marL="514350" indent="-514350">
              <a:buAutoNum type="arabicPeriod"/>
            </a:pPr>
            <a:r>
              <a:rPr lang="en-US" b="1" dirty="0"/>
              <a:t>Fluconazole</a:t>
            </a:r>
            <a:r>
              <a:rPr lang="en-US" dirty="0"/>
              <a:t> should remain the preferred antifungal choice for prophylaxis in </a:t>
            </a:r>
            <a:r>
              <a:rPr lang="en-US" b="1" dirty="0"/>
              <a:t>high-risk LT recipients </a:t>
            </a:r>
          </a:p>
          <a:p>
            <a:pPr marL="514350" indent="-514350">
              <a:buAutoNum type="arabicPeriod"/>
            </a:pPr>
            <a:r>
              <a:rPr lang="en-US" dirty="0"/>
              <a:t>Non-absorbable agents such as nystatin, clotrimazole, and enteral amphotericin B… </a:t>
            </a:r>
            <a:r>
              <a:rPr lang="en-US" b="1" dirty="0"/>
              <a:t>not recommended</a:t>
            </a:r>
          </a:p>
        </p:txBody>
      </p:sp>
      <p:sp>
        <p:nvSpPr>
          <p:cNvPr id="5" name="TextBox 4">
            <a:extLst>
              <a:ext uri="{FF2B5EF4-FFF2-40B4-BE49-F238E27FC236}">
                <a16:creationId xmlns:a16="http://schemas.microsoft.com/office/drawing/2014/main" id="{FA168602-4951-A365-2182-C61E65FB32D3}"/>
              </a:ext>
            </a:extLst>
          </p:cNvPr>
          <p:cNvSpPr txBox="1"/>
          <p:nvPr/>
        </p:nvSpPr>
        <p:spPr>
          <a:xfrm>
            <a:off x="0" y="6488668"/>
            <a:ext cx="6100548" cy="369332"/>
          </a:xfrm>
          <a:prstGeom prst="rect">
            <a:avLst/>
          </a:prstGeom>
          <a:noFill/>
        </p:spPr>
        <p:txBody>
          <a:bodyPr wrap="square">
            <a:spAutoFit/>
          </a:bodyPr>
          <a:lstStyle/>
          <a:p>
            <a:r>
              <a:rPr lang="en-US" dirty="0"/>
              <a:t>Clin Transplant. 2019 Sep;33(9):e13623</a:t>
            </a:r>
          </a:p>
        </p:txBody>
      </p:sp>
    </p:spTree>
    <p:extLst>
      <p:ext uri="{BB962C8B-B14F-4D97-AF65-F5344CB8AC3E}">
        <p14:creationId xmlns:p14="http://schemas.microsoft.com/office/powerpoint/2010/main" val="1293369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77AEF-740C-BB38-AEDB-871D0864115D}"/>
              </a:ext>
            </a:extLst>
          </p:cNvPr>
          <p:cNvSpPr>
            <a:spLocks noGrp="1"/>
          </p:cNvSpPr>
          <p:nvPr>
            <p:ph type="title"/>
          </p:nvPr>
        </p:nvSpPr>
        <p:spPr/>
        <p:txBody>
          <a:bodyPr/>
          <a:lstStyle/>
          <a:p>
            <a:r>
              <a:rPr lang="en-US" dirty="0"/>
              <a:t>Aspergillus Prophylaxis</a:t>
            </a:r>
          </a:p>
        </p:txBody>
      </p:sp>
      <p:sp>
        <p:nvSpPr>
          <p:cNvPr id="3" name="Content Placeholder 2">
            <a:extLst>
              <a:ext uri="{FF2B5EF4-FFF2-40B4-BE49-F238E27FC236}">
                <a16:creationId xmlns:a16="http://schemas.microsoft.com/office/drawing/2014/main" id="{BA06DB67-445F-1563-1359-82296ED6C3B4}"/>
              </a:ext>
            </a:extLst>
          </p:cNvPr>
          <p:cNvSpPr>
            <a:spLocks noGrp="1"/>
          </p:cNvSpPr>
          <p:nvPr>
            <p:ph idx="1"/>
          </p:nvPr>
        </p:nvSpPr>
        <p:spPr/>
        <p:txBody>
          <a:bodyPr/>
          <a:lstStyle/>
          <a:p>
            <a:pPr marL="0" indent="0">
              <a:buNone/>
            </a:pPr>
            <a:r>
              <a:rPr lang="en-US" dirty="0"/>
              <a:t>AST 2019 Guidelines</a:t>
            </a:r>
          </a:p>
          <a:p>
            <a:r>
              <a:rPr lang="en-US" dirty="0"/>
              <a:t>Targeted prophylaxis in patients with any of the following high-risk factors is recommended</a:t>
            </a:r>
          </a:p>
          <a:p>
            <a:pPr lvl="1"/>
            <a:r>
              <a:rPr lang="en-US" dirty="0"/>
              <a:t>Retransplant or reoperation (same for candida)</a:t>
            </a:r>
          </a:p>
          <a:p>
            <a:pPr lvl="1"/>
            <a:r>
              <a:rPr lang="en-US" dirty="0"/>
              <a:t>RRT (HD or CVVH) within 7 days of </a:t>
            </a:r>
            <a:r>
              <a:rPr lang="en-US" dirty="0" err="1"/>
              <a:t>Txp</a:t>
            </a:r>
            <a:r>
              <a:rPr lang="en-US" dirty="0"/>
              <a:t> (same for candida!)</a:t>
            </a:r>
          </a:p>
          <a:p>
            <a:pPr lvl="1"/>
            <a:endParaRPr lang="en-US" dirty="0"/>
          </a:p>
          <a:p>
            <a:r>
              <a:rPr lang="en-US" b="1" dirty="0"/>
              <a:t>Agents</a:t>
            </a:r>
            <a:r>
              <a:rPr lang="en-US" dirty="0"/>
              <a:t>: Anidulafungin, micafungin or </a:t>
            </a:r>
            <a:r>
              <a:rPr lang="en-US" dirty="0" err="1"/>
              <a:t>caspofungin</a:t>
            </a:r>
            <a:r>
              <a:rPr lang="en-US" dirty="0"/>
              <a:t> in standard dose, or voriconazole</a:t>
            </a:r>
          </a:p>
          <a:p>
            <a:r>
              <a:rPr lang="en-US" b="1" dirty="0"/>
              <a:t>Duration</a:t>
            </a:r>
            <a:r>
              <a:rPr lang="en-US" dirty="0"/>
              <a:t>: 2-3 weeks</a:t>
            </a:r>
          </a:p>
          <a:p>
            <a:endParaRPr lang="en-US" dirty="0"/>
          </a:p>
        </p:txBody>
      </p:sp>
      <p:sp>
        <p:nvSpPr>
          <p:cNvPr id="5" name="TextBox 4">
            <a:extLst>
              <a:ext uri="{FF2B5EF4-FFF2-40B4-BE49-F238E27FC236}">
                <a16:creationId xmlns:a16="http://schemas.microsoft.com/office/drawing/2014/main" id="{6EB0C108-27E1-A1CD-8E80-60529587D1EC}"/>
              </a:ext>
            </a:extLst>
          </p:cNvPr>
          <p:cNvSpPr txBox="1"/>
          <p:nvPr/>
        </p:nvSpPr>
        <p:spPr>
          <a:xfrm>
            <a:off x="-3142" y="6488668"/>
            <a:ext cx="6099142" cy="369332"/>
          </a:xfrm>
          <a:prstGeom prst="rect">
            <a:avLst/>
          </a:prstGeom>
          <a:noFill/>
        </p:spPr>
        <p:txBody>
          <a:bodyPr wrap="square">
            <a:spAutoFit/>
          </a:bodyPr>
          <a:lstStyle/>
          <a:p>
            <a:r>
              <a:rPr lang="en-US" b="0" i="0" u="none" strike="noStrike" dirty="0">
                <a:solidFill>
                  <a:srgbClr val="212121"/>
                </a:solidFill>
                <a:effectLst/>
                <a:latin typeface="BlinkMacSystemFont"/>
              </a:rPr>
              <a:t>Clin Transplant. 2019 Sep;33(9):e13544</a:t>
            </a:r>
            <a:endParaRPr lang="en-US" dirty="0"/>
          </a:p>
        </p:txBody>
      </p:sp>
    </p:spTree>
    <p:extLst>
      <p:ext uri="{BB962C8B-B14F-4D97-AF65-F5344CB8AC3E}">
        <p14:creationId xmlns:p14="http://schemas.microsoft.com/office/powerpoint/2010/main" val="53990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7E596-5036-7DCC-27A0-AB581DD2F3B6}"/>
              </a:ext>
            </a:extLst>
          </p:cNvPr>
          <p:cNvSpPr>
            <a:spLocks noGrp="1"/>
          </p:cNvSpPr>
          <p:nvPr>
            <p:ph type="title"/>
          </p:nvPr>
        </p:nvSpPr>
        <p:spPr/>
        <p:txBody>
          <a:bodyPr/>
          <a:lstStyle/>
          <a:p>
            <a:r>
              <a:rPr lang="en-US" dirty="0"/>
              <a:t>Lahey Protocol</a:t>
            </a:r>
          </a:p>
        </p:txBody>
      </p:sp>
      <p:pic>
        <p:nvPicPr>
          <p:cNvPr id="4" name="Content Placeholder 3">
            <a:extLst>
              <a:ext uri="{FF2B5EF4-FFF2-40B4-BE49-F238E27FC236}">
                <a16:creationId xmlns:a16="http://schemas.microsoft.com/office/drawing/2014/main" id="{C0177FAD-318B-F5E4-3FF5-81EA9371B3FD}"/>
              </a:ext>
            </a:extLst>
          </p:cNvPr>
          <p:cNvPicPr>
            <a:picLocks noGrp="1" noChangeAspect="1"/>
          </p:cNvPicPr>
          <p:nvPr>
            <p:ph idx="1"/>
          </p:nvPr>
        </p:nvPicPr>
        <p:blipFill>
          <a:blip r:embed="rId3"/>
          <a:stretch>
            <a:fillRect/>
          </a:stretch>
        </p:blipFill>
        <p:spPr>
          <a:xfrm>
            <a:off x="1447800" y="1937544"/>
            <a:ext cx="9296400" cy="4127500"/>
          </a:xfrm>
          <a:prstGeom prst="rect">
            <a:avLst/>
          </a:prstGeom>
        </p:spPr>
      </p:pic>
    </p:spTree>
    <p:extLst>
      <p:ext uri="{BB962C8B-B14F-4D97-AF65-F5344CB8AC3E}">
        <p14:creationId xmlns:p14="http://schemas.microsoft.com/office/powerpoint/2010/main" val="17084353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7E596-5036-7DCC-27A0-AB581DD2F3B6}"/>
              </a:ext>
            </a:extLst>
          </p:cNvPr>
          <p:cNvSpPr>
            <a:spLocks noGrp="1"/>
          </p:cNvSpPr>
          <p:nvPr>
            <p:ph type="title"/>
          </p:nvPr>
        </p:nvSpPr>
        <p:spPr/>
        <p:txBody>
          <a:bodyPr/>
          <a:lstStyle/>
          <a:p>
            <a:r>
              <a:rPr lang="en-US" dirty="0"/>
              <a:t>Lahey Protocol</a:t>
            </a:r>
          </a:p>
        </p:txBody>
      </p:sp>
      <p:pic>
        <p:nvPicPr>
          <p:cNvPr id="6" name="Content Placeholder 5">
            <a:extLst>
              <a:ext uri="{FF2B5EF4-FFF2-40B4-BE49-F238E27FC236}">
                <a16:creationId xmlns:a16="http://schemas.microsoft.com/office/drawing/2014/main" id="{275DE638-F2FC-113A-BCD4-B51DE655DC9B}"/>
              </a:ext>
            </a:extLst>
          </p:cNvPr>
          <p:cNvPicPr>
            <a:picLocks noGrp="1" noChangeAspect="1"/>
          </p:cNvPicPr>
          <p:nvPr>
            <p:ph idx="1"/>
          </p:nvPr>
        </p:nvPicPr>
        <p:blipFill>
          <a:blip r:embed="rId3"/>
          <a:stretch>
            <a:fillRect/>
          </a:stretch>
        </p:blipFill>
        <p:spPr>
          <a:xfrm>
            <a:off x="838200" y="2452289"/>
            <a:ext cx="10515600" cy="3098009"/>
          </a:xfrm>
          <a:prstGeom prst="rect">
            <a:avLst/>
          </a:prstGeom>
        </p:spPr>
      </p:pic>
    </p:spTree>
    <p:extLst>
      <p:ext uri="{BB962C8B-B14F-4D97-AF65-F5344CB8AC3E}">
        <p14:creationId xmlns:p14="http://schemas.microsoft.com/office/powerpoint/2010/main" val="27908570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122" name="Picture 2" descr="Pneumocystis jirovecii pneumonia images">
            <a:extLst>
              <a:ext uri="{FF2B5EF4-FFF2-40B4-BE49-F238E27FC236}">
                <a16:creationId xmlns:a16="http://schemas.microsoft.com/office/drawing/2014/main" id="{1CD14B5C-4906-D60A-5AF4-ADCB62AA78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3138" y="6144"/>
            <a:ext cx="6042582" cy="6849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46340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E9909-02E3-F601-47A9-A1322A297DE5}"/>
              </a:ext>
            </a:extLst>
          </p:cNvPr>
          <p:cNvSpPr>
            <a:spLocks noGrp="1"/>
          </p:cNvSpPr>
          <p:nvPr>
            <p:ph type="title"/>
          </p:nvPr>
        </p:nvSpPr>
        <p:spPr/>
        <p:txBody>
          <a:bodyPr/>
          <a:lstStyle/>
          <a:p>
            <a:r>
              <a:rPr lang="en-US" i="1" dirty="0"/>
              <a:t>Pneumocystis </a:t>
            </a:r>
            <a:r>
              <a:rPr lang="en-US" i="1" dirty="0" err="1"/>
              <a:t>jirovecii</a:t>
            </a:r>
            <a:r>
              <a:rPr lang="en-US" i="1" dirty="0"/>
              <a:t> </a:t>
            </a:r>
            <a:r>
              <a:rPr lang="en-US" dirty="0"/>
              <a:t>Prophylaxis</a:t>
            </a:r>
          </a:p>
        </p:txBody>
      </p:sp>
      <p:sp>
        <p:nvSpPr>
          <p:cNvPr id="3" name="Content Placeholder 2">
            <a:extLst>
              <a:ext uri="{FF2B5EF4-FFF2-40B4-BE49-F238E27FC236}">
                <a16:creationId xmlns:a16="http://schemas.microsoft.com/office/drawing/2014/main" id="{74CA8E2E-BFE7-9A86-163B-A9B80EC9E0FA}"/>
              </a:ext>
            </a:extLst>
          </p:cNvPr>
          <p:cNvSpPr>
            <a:spLocks noGrp="1"/>
          </p:cNvSpPr>
          <p:nvPr>
            <p:ph idx="1"/>
          </p:nvPr>
        </p:nvSpPr>
        <p:spPr>
          <a:xfrm>
            <a:off x="838200" y="1825625"/>
            <a:ext cx="10515600" cy="4509188"/>
          </a:xfrm>
        </p:spPr>
        <p:txBody>
          <a:bodyPr>
            <a:normAutofit fontScale="92500" lnSpcReduction="10000"/>
          </a:bodyPr>
          <a:lstStyle/>
          <a:p>
            <a:r>
              <a:rPr lang="en-US" i="1" dirty="0"/>
              <a:t>Pneumocystis </a:t>
            </a:r>
            <a:r>
              <a:rPr lang="en-US" i="1" dirty="0" err="1"/>
              <a:t>jirovecii</a:t>
            </a:r>
            <a:r>
              <a:rPr lang="en-US" i="1" dirty="0"/>
              <a:t> </a:t>
            </a:r>
            <a:r>
              <a:rPr lang="en-US" dirty="0"/>
              <a:t>is a ubiquitous and common fungus</a:t>
            </a:r>
          </a:p>
          <a:p>
            <a:r>
              <a:rPr lang="en-US" dirty="0"/>
              <a:t>It can cause pneumocystis pneumonia (PCP) in immunocompromised hosts</a:t>
            </a:r>
          </a:p>
          <a:p>
            <a:r>
              <a:rPr lang="en-US" dirty="0"/>
              <a:t>Incidence used to be 10-15% of all transplant patients </a:t>
            </a:r>
          </a:p>
          <a:p>
            <a:pPr lvl="1"/>
            <a:r>
              <a:rPr lang="en-US" dirty="0"/>
              <a:t>(up to 80% in lung </a:t>
            </a:r>
            <a:r>
              <a:rPr lang="en-US" dirty="0" err="1"/>
              <a:t>txp</a:t>
            </a:r>
            <a:r>
              <a:rPr lang="en-US" dirty="0"/>
              <a:t>)</a:t>
            </a:r>
          </a:p>
          <a:p>
            <a:r>
              <a:rPr lang="en-US" dirty="0"/>
              <a:t>Virtually eradicated in the era of antimicrobial prophylaxis</a:t>
            </a:r>
          </a:p>
          <a:p>
            <a:r>
              <a:rPr lang="en-US" b="1" dirty="0"/>
              <a:t>Prophylaxis is recommended in all post liver transplant patients</a:t>
            </a:r>
          </a:p>
          <a:p>
            <a:r>
              <a:rPr lang="en-US" dirty="0"/>
              <a:t>Duration of therapy (AST 2019 guidelines)</a:t>
            </a:r>
          </a:p>
          <a:p>
            <a:pPr lvl="1"/>
            <a:r>
              <a:rPr lang="en-US" b="1" dirty="0"/>
              <a:t>6-12 months </a:t>
            </a:r>
            <a:r>
              <a:rPr lang="en-US" dirty="0"/>
              <a:t>after transplant</a:t>
            </a:r>
            <a:r>
              <a:rPr lang="en-US" b="1" dirty="0"/>
              <a:t> </a:t>
            </a:r>
          </a:p>
          <a:p>
            <a:pPr lvl="1"/>
            <a:r>
              <a:rPr lang="en-US" dirty="0"/>
              <a:t>Some experts call for </a:t>
            </a:r>
            <a:r>
              <a:rPr lang="en-US" b="1" dirty="0"/>
              <a:t>lifelong </a:t>
            </a:r>
            <a:r>
              <a:rPr lang="en-US" dirty="0"/>
              <a:t>in post liver transplant patients</a:t>
            </a:r>
          </a:p>
        </p:txBody>
      </p:sp>
      <p:sp>
        <p:nvSpPr>
          <p:cNvPr id="4" name="TextBox 3">
            <a:extLst>
              <a:ext uri="{FF2B5EF4-FFF2-40B4-BE49-F238E27FC236}">
                <a16:creationId xmlns:a16="http://schemas.microsoft.com/office/drawing/2014/main" id="{D5226FB6-FA8C-0B40-F9DA-E5EABB5AFC7B}"/>
              </a:ext>
            </a:extLst>
          </p:cNvPr>
          <p:cNvSpPr txBox="1"/>
          <p:nvPr/>
        </p:nvSpPr>
        <p:spPr>
          <a:xfrm>
            <a:off x="0" y="6488668"/>
            <a:ext cx="6100548" cy="369332"/>
          </a:xfrm>
          <a:prstGeom prst="rect">
            <a:avLst/>
          </a:prstGeom>
          <a:noFill/>
        </p:spPr>
        <p:txBody>
          <a:bodyPr wrap="square">
            <a:spAutoFit/>
          </a:bodyPr>
          <a:lstStyle/>
          <a:p>
            <a:r>
              <a:rPr lang="en-US" dirty="0"/>
              <a:t>Clin Transplant. 2019 Sep;33(9):e13623</a:t>
            </a:r>
          </a:p>
        </p:txBody>
      </p:sp>
    </p:spTree>
    <p:extLst>
      <p:ext uri="{BB962C8B-B14F-4D97-AF65-F5344CB8AC3E}">
        <p14:creationId xmlns:p14="http://schemas.microsoft.com/office/powerpoint/2010/main" val="26388930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41D833-3EBA-6ACA-A3D2-6E57B62CBA75}"/>
              </a:ext>
            </a:extLst>
          </p:cNvPr>
          <p:cNvPicPr>
            <a:picLocks noChangeAspect="1"/>
          </p:cNvPicPr>
          <p:nvPr/>
        </p:nvPicPr>
        <p:blipFill>
          <a:blip r:embed="rId2"/>
          <a:stretch>
            <a:fillRect/>
          </a:stretch>
        </p:blipFill>
        <p:spPr>
          <a:xfrm>
            <a:off x="2209800" y="1112609"/>
            <a:ext cx="7772400" cy="2236240"/>
          </a:xfrm>
          <a:prstGeom prst="rect">
            <a:avLst/>
          </a:prstGeom>
        </p:spPr>
      </p:pic>
      <p:pic>
        <p:nvPicPr>
          <p:cNvPr id="6" name="Picture 5">
            <a:extLst>
              <a:ext uri="{FF2B5EF4-FFF2-40B4-BE49-F238E27FC236}">
                <a16:creationId xmlns:a16="http://schemas.microsoft.com/office/drawing/2014/main" id="{11247DCF-8D9F-F6E7-8FAC-050CAB88D658}"/>
              </a:ext>
            </a:extLst>
          </p:cNvPr>
          <p:cNvPicPr>
            <a:picLocks noChangeAspect="1"/>
          </p:cNvPicPr>
          <p:nvPr/>
        </p:nvPicPr>
        <p:blipFill>
          <a:blip r:embed="rId3"/>
          <a:stretch>
            <a:fillRect/>
          </a:stretch>
        </p:blipFill>
        <p:spPr>
          <a:xfrm>
            <a:off x="2209800" y="3896013"/>
            <a:ext cx="7772400" cy="15278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38191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E9909-02E3-F601-47A9-A1322A297DE5}"/>
              </a:ext>
            </a:extLst>
          </p:cNvPr>
          <p:cNvSpPr>
            <a:spLocks noGrp="1"/>
          </p:cNvSpPr>
          <p:nvPr>
            <p:ph type="title"/>
          </p:nvPr>
        </p:nvSpPr>
        <p:spPr/>
        <p:txBody>
          <a:bodyPr/>
          <a:lstStyle/>
          <a:p>
            <a:r>
              <a:rPr lang="en-US" i="1" dirty="0"/>
              <a:t>Pneumocystis </a:t>
            </a:r>
            <a:r>
              <a:rPr lang="en-US" i="1" dirty="0" err="1"/>
              <a:t>jirovecii</a:t>
            </a:r>
            <a:r>
              <a:rPr lang="en-US" i="1" dirty="0"/>
              <a:t> </a:t>
            </a:r>
            <a:r>
              <a:rPr lang="en-US" dirty="0"/>
              <a:t>Prophylaxis</a:t>
            </a:r>
          </a:p>
        </p:txBody>
      </p:sp>
      <p:sp>
        <p:nvSpPr>
          <p:cNvPr id="3" name="Content Placeholder 2">
            <a:extLst>
              <a:ext uri="{FF2B5EF4-FFF2-40B4-BE49-F238E27FC236}">
                <a16:creationId xmlns:a16="http://schemas.microsoft.com/office/drawing/2014/main" id="{74CA8E2E-BFE7-9A86-163B-A9B80EC9E0FA}"/>
              </a:ext>
            </a:extLst>
          </p:cNvPr>
          <p:cNvSpPr>
            <a:spLocks noGrp="1"/>
          </p:cNvSpPr>
          <p:nvPr>
            <p:ph idx="1"/>
          </p:nvPr>
        </p:nvSpPr>
        <p:spPr/>
        <p:txBody>
          <a:bodyPr>
            <a:normAutofit/>
          </a:bodyPr>
          <a:lstStyle/>
          <a:p>
            <a:r>
              <a:rPr lang="en-US" b="1" dirty="0"/>
              <a:t>First choice: </a:t>
            </a:r>
            <a:r>
              <a:rPr lang="en-US" dirty="0"/>
              <a:t>trimethoprim-</a:t>
            </a:r>
            <a:r>
              <a:rPr lang="en-US" b="1" dirty="0"/>
              <a:t>sulfa</a:t>
            </a:r>
            <a:r>
              <a:rPr lang="en-US" dirty="0"/>
              <a:t>methoxazole (Bactrim)</a:t>
            </a:r>
          </a:p>
          <a:p>
            <a:pPr lvl="1"/>
            <a:r>
              <a:rPr lang="en-US" dirty="0"/>
              <a:t>Bone marrow suppression</a:t>
            </a:r>
          </a:p>
          <a:p>
            <a:pPr lvl="1"/>
            <a:r>
              <a:rPr lang="en-US" dirty="0"/>
              <a:t>Rash -----&gt; Steven Johnson </a:t>
            </a:r>
          </a:p>
          <a:p>
            <a:pPr lvl="1"/>
            <a:r>
              <a:rPr lang="en-US" dirty="0"/>
              <a:t>Inhibits potassium and creatinine secretion </a:t>
            </a:r>
          </a:p>
          <a:p>
            <a:pPr lvl="2"/>
            <a:r>
              <a:rPr lang="en-US" dirty="0" err="1"/>
              <a:t>HyperK</a:t>
            </a:r>
            <a:r>
              <a:rPr lang="en-US" dirty="0"/>
              <a:t> and </a:t>
            </a:r>
            <a:r>
              <a:rPr lang="en-US" dirty="0" err="1"/>
              <a:t>hyperCreatininemia</a:t>
            </a:r>
            <a:r>
              <a:rPr lang="en-US" dirty="0"/>
              <a:t> -&gt; “pseudo AKI”</a:t>
            </a:r>
          </a:p>
          <a:p>
            <a:pPr lvl="2"/>
            <a:r>
              <a:rPr lang="en-US" dirty="0"/>
              <a:t>Synergistic effect with </a:t>
            </a:r>
            <a:r>
              <a:rPr lang="en-US" b="1" dirty="0"/>
              <a:t>cyclosporine</a:t>
            </a:r>
          </a:p>
          <a:p>
            <a:r>
              <a:rPr lang="en-US" dirty="0"/>
              <a:t>Second line agents</a:t>
            </a:r>
          </a:p>
          <a:p>
            <a:pPr lvl="1"/>
            <a:r>
              <a:rPr lang="en-US" dirty="0"/>
              <a:t>Dapsone: avoid in G6PD deficiency</a:t>
            </a:r>
          </a:p>
          <a:p>
            <a:pPr lvl="1"/>
            <a:r>
              <a:rPr lang="en-US" dirty="0"/>
              <a:t>Atovaquone</a:t>
            </a:r>
          </a:p>
          <a:p>
            <a:pPr lvl="1"/>
            <a:r>
              <a:rPr lang="en-US" dirty="0"/>
              <a:t>Pentamidine (inhaled)</a:t>
            </a:r>
          </a:p>
          <a:p>
            <a:pPr lvl="1"/>
            <a:r>
              <a:rPr lang="en-US" dirty="0"/>
              <a:t>Clindamycin + pyrimethamine</a:t>
            </a:r>
          </a:p>
        </p:txBody>
      </p:sp>
      <p:sp>
        <p:nvSpPr>
          <p:cNvPr id="4" name="TextBox 3">
            <a:extLst>
              <a:ext uri="{FF2B5EF4-FFF2-40B4-BE49-F238E27FC236}">
                <a16:creationId xmlns:a16="http://schemas.microsoft.com/office/drawing/2014/main" id="{D5226FB6-FA8C-0B40-F9DA-E5EABB5AFC7B}"/>
              </a:ext>
            </a:extLst>
          </p:cNvPr>
          <p:cNvSpPr txBox="1"/>
          <p:nvPr/>
        </p:nvSpPr>
        <p:spPr>
          <a:xfrm>
            <a:off x="0" y="6488668"/>
            <a:ext cx="6100548" cy="369332"/>
          </a:xfrm>
          <a:prstGeom prst="rect">
            <a:avLst/>
          </a:prstGeom>
          <a:noFill/>
        </p:spPr>
        <p:txBody>
          <a:bodyPr wrap="square">
            <a:spAutoFit/>
          </a:bodyPr>
          <a:lstStyle/>
          <a:p>
            <a:r>
              <a:rPr lang="en-US" b="0" i="0" u="none" strike="noStrike" dirty="0">
                <a:solidFill>
                  <a:srgbClr val="212121"/>
                </a:solidFill>
                <a:effectLst/>
                <a:latin typeface="BlinkMacSystemFont"/>
              </a:rPr>
              <a:t>Clin Transplant. 2019 Sep;33(9):e13587</a:t>
            </a:r>
            <a:endParaRPr lang="en-US" dirty="0"/>
          </a:p>
        </p:txBody>
      </p:sp>
      <p:cxnSp>
        <p:nvCxnSpPr>
          <p:cNvPr id="6" name="Straight Arrow Connector 5">
            <a:extLst>
              <a:ext uri="{FF2B5EF4-FFF2-40B4-BE49-F238E27FC236}">
                <a16:creationId xmlns:a16="http://schemas.microsoft.com/office/drawing/2014/main" id="{89DDD6C1-FC33-F09E-89E8-2341C5CC5D4A}"/>
              </a:ext>
            </a:extLst>
          </p:cNvPr>
          <p:cNvCxnSpPr>
            <a:cxnSpLocks/>
          </p:cNvCxnSpPr>
          <p:nvPr/>
        </p:nvCxnSpPr>
        <p:spPr>
          <a:xfrm>
            <a:off x="6400800" y="2031023"/>
            <a:ext cx="3103685" cy="668215"/>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4BAFA4A-4B00-4FAC-A982-1B55F5B58497}"/>
              </a:ext>
            </a:extLst>
          </p:cNvPr>
          <p:cNvSpPr txBox="1"/>
          <p:nvPr/>
        </p:nvSpPr>
        <p:spPr>
          <a:xfrm>
            <a:off x="8184279" y="2817225"/>
            <a:ext cx="3857920" cy="923330"/>
          </a:xfrm>
          <a:prstGeom prst="rect">
            <a:avLst/>
          </a:prstGeom>
          <a:solidFill>
            <a:srgbClr val="FFFF00"/>
          </a:solidFill>
          <a:ln>
            <a:solidFill>
              <a:schemeClr val="tx1"/>
            </a:solidFill>
          </a:ln>
        </p:spPr>
        <p:txBody>
          <a:bodyPr wrap="square">
            <a:spAutoFit/>
          </a:bodyPr>
          <a:lstStyle/>
          <a:p>
            <a:pPr algn="ctr"/>
            <a:r>
              <a:rPr lang="en-US" b="0" i="1" u="none" strike="noStrike" dirty="0">
                <a:solidFill>
                  <a:srgbClr val="232323"/>
                </a:solidFill>
                <a:effectLst/>
                <a:latin typeface="Noto Sans" panose="020B0502040504020204" pitchFamily="34" charset="0"/>
              </a:rPr>
              <a:t>History of "allergy" to TMP-SMX may be misleading, and allergy testing is often worthwhile.</a:t>
            </a:r>
            <a:endParaRPr lang="en-US" i="1" dirty="0"/>
          </a:p>
        </p:txBody>
      </p:sp>
    </p:spTree>
    <p:extLst>
      <p:ext uri="{BB962C8B-B14F-4D97-AF65-F5344CB8AC3E}">
        <p14:creationId xmlns:p14="http://schemas.microsoft.com/office/powerpoint/2010/main" val="3081098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148C1-B45D-2D19-9E6B-786901670333}"/>
              </a:ext>
            </a:extLst>
          </p:cNvPr>
          <p:cNvSpPr>
            <a:spLocks noGrp="1"/>
          </p:cNvSpPr>
          <p:nvPr>
            <p:ph type="title"/>
          </p:nvPr>
        </p:nvSpPr>
        <p:spPr/>
        <p:txBody>
          <a:bodyPr/>
          <a:lstStyle/>
          <a:p>
            <a:r>
              <a:rPr lang="en-US" dirty="0"/>
              <a:t>Lahey Protocol</a:t>
            </a:r>
          </a:p>
        </p:txBody>
      </p:sp>
      <p:pic>
        <p:nvPicPr>
          <p:cNvPr id="4" name="Content Placeholder 3">
            <a:extLst>
              <a:ext uri="{FF2B5EF4-FFF2-40B4-BE49-F238E27FC236}">
                <a16:creationId xmlns:a16="http://schemas.microsoft.com/office/drawing/2014/main" id="{915F97CD-BCAA-88D1-A89C-20EF26B92E21}"/>
              </a:ext>
            </a:extLst>
          </p:cNvPr>
          <p:cNvPicPr>
            <a:picLocks noGrp="1" noChangeAspect="1"/>
          </p:cNvPicPr>
          <p:nvPr>
            <p:ph idx="1"/>
          </p:nvPr>
        </p:nvPicPr>
        <p:blipFill>
          <a:blip r:embed="rId3"/>
          <a:stretch>
            <a:fillRect/>
          </a:stretch>
        </p:blipFill>
        <p:spPr>
          <a:xfrm>
            <a:off x="838200" y="2944849"/>
            <a:ext cx="10515600" cy="2112890"/>
          </a:xfrm>
          <a:prstGeom prst="rect">
            <a:avLst/>
          </a:prstGeom>
        </p:spPr>
      </p:pic>
    </p:spTree>
    <p:extLst>
      <p:ext uri="{BB962C8B-B14F-4D97-AF65-F5344CB8AC3E}">
        <p14:creationId xmlns:p14="http://schemas.microsoft.com/office/powerpoint/2010/main" val="6959382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3C6465-F668-BB9F-399F-1A364104BEA9}"/>
              </a:ext>
            </a:extLst>
          </p:cNvPr>
          <p:cNvSpPr>
            <a:spLocks noGrp="1"/>
          </p:cNvSpPr>
          <p:nvPr>
            <p:ph type="title"/>
          </p:nvPr>
        </p:nvSpPr>
        <p:spPr/>
        <p:txBody>
          <a:bodyPr/>
          <a:lstStyle/>
          <a:p>
            <a:r>
              <a:rPr lang="en-US" dirty="0"/>
              <a:t>Cytomegalovirus (CMV) Prophylaxis</a:t>
            </a:r>
          </a:p>
        </p:txBody>
      </p:sp>
      <p:sp>
        <p:nvSpPr>
          <p:cNvPr id="5" name="Text Placeholder 4">
            <a:extLst>
              <a:ext uri="{FF2B5EF4-FFF2-40B4-BE49-F238E27FC236}">
                <a16:creationId xmlns:a16="http://schemas.microsoft.com/office/drawing/2014/main" id="{A62EAD7F-F50C-C621-F503-11BF0046F719}"/>
              </a:ext>
            </a:extLst>
          </p:cNvPr>
          <p:cNvSpPr>
            <a:spLocks noGrp="1"/>
          </p:cNvSpPr>
          <p:nvPr>
            <p:ph type="body" idx="1"/>
          </p:nvPr>
        </p:nvSpPr>
        <p:spPr/>
        <p:txBody>
          <a:bodyPr/>
          <a:lstStyle/>
          <a:p>
            <a:r>
              <a:rPr lang="en-US" dirty="0"/>
              <a:t>Human Herpesvirus 5</a:t>
            </a:r>
          </a:p>
        </p:txBody>
      </p:sp>
    </p:spTree>
    <p:extLst>
      <p:ext uri="{BB962C8B-B14F-4D97-AF65-F5344CB8AC3E}">
        <p14:creationId xmlns:p14="http://schemas.microsoft.com/office/powerpoint/2010/main" val="24357180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A1962-DF7E-80A8-4236-BC83327737D2}"/>
              </a:ext>
            </a:extLst>
          </p:cNvPr>
          <p:cNvSpPr>
            <a:spLocks noGrp="1"/>
          </p:cNvSpPr>
          <p:nvPr>
            <p:ph type="title"/>
          </p:nvPr>
        </p:nvSpPr>
        <p:spPr/>
        <p:txBody>
          <a:bodyPr/>
          <a:lstStyle/>
          <a:p>
            <a:r>
              <a:rPr lang="en-US" dirty="0"/>
              <a:t>CMV Prophylaxis</a:t>
            </a:r>
          </a:p>
        </p:txBody>
      </p:sp>
      <p:sp>
        <p:nvSpPr>
          <p:cNvPr id="3" name="Content Placeholder 2">
            <a:extLst>
              <a:ext uri="{FF2B5EF4-FFF2-40B4-BE49-F238E27FC236}">
                <a16:creationId xmlns:a16="http://schemas.microsoft.com/office/drawing/2014/main" id="{0CBF3A05-725F-7289-A258-CD0F2B3C1BA3}"/>
              </a:ext>
            </a:extLst>
          </p:cNvPr>
          <p:cNvSpPr>
            <a:spLocks noGrp="1"/>
          </p:cNvSpPr>
          <p:nvPr>
            <p:ph idx="1"/>
          </p:nvPr>
        </p:nvSpPr>
        <p:spPr/>
        <p:txBody>
          <a:bodyPr>
            <a:normAutofit lnSpcReduction="10000"/>
          </a:bodyPr>
          <a:lstStyle/>
          <a:p>
            <a:r>
              <a:rPr lang="en-US" dirty="0"/>
              <a:t>CMV is the most important viral infection in post liver transplant patients</a:t>
            </a:r>
          </a:p>
          <a:p>
            <a:endParaRPr lang="en-US" dirty="0"/>
          </a:p>
          <a:p>
            <a:r>
              <a:rPr lang="en-US" b="1" dirty="0"/>
              <a:t>CMV infection </a:t>
            </a:r>
            <a:r>
              <a:rPr lang="en-US" dirty="0"/>
              <a:t>refers to virus isolation or detection of viral proteins (antigens) or nucleic acid in any body fluid or tissue specimen regardless of symptoms or signs.</a:t>
            </a:r>
          </a:p>
          <a:p>
            <a:r>
              <a:rPr lang="en-US" b="1" dirty="0"/>
              <a:t>CMV disease </a:t>
            </a:r>
            <a:r>
              <a:rPr lang="en-US" dirty="0"/>
              <a:t>refers to evidence of </a:t>
            </a:r>
            <a:r>
              <a:rPr lang="en-US" u="sng" dirty="0"/>
              <a:t>CMV infection </a:t>
            </a:r>
            <a:r>
              <a:rPr lang="en-US" dirty="0"/>
              <a:t>with attributable symptoms or signs </a:t>
            </a:r>
          </a:p>
          <a:p>
            <a:pPr lvl="1"/>
            <a:r>
              <a:rPr lang="en-US" dirty="0"/>
              <a:t>CMV disease may manifest as either a viral syndrome (</a:t>
            </a:r>
            <a:r>
              <a:rPr lang="en-US" dirty="0" err="1"/>
              <a:t>eg</a:t>
            </a:r>
            <a:r>
              <a:rPr lang="en-US" dirty="0"/>
              <a:t>, fever, malaise, leukopenia, neutropenia, atypical lymphocytosis, thrombocytopenia) or as tissue-invasive disease.</a:t>
            </a:r>
          </a:p>
        </p:txBody>
      </p:sp>
    </p:spTree>
    <p:extLst>
      <p:ext uri="{BB962C8B-B14F-4D97-AF65-F5344CB8AC3E}">
        <p14:creationId xmlns:p14="http://schemas.microsoft.com/office/powerpoint/2010/main" val="37574394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8D43D-2FE6-8FB6-4AE0-00C0A892D486}"/>
              </a:ext>
            </a:extLst>
          </p:cNvPr>
          <p:cNvSpPr>
            <a:spLocks noGrp="1"/>
          </p:cNvSpPr>
          <p:nvPr>
            <p:ph type="title"/>
          </p:nvPr>
        </p:nvSpPr>
        <p:spPr/>
        <p:txBody>
          <a:bodyPr/>
          <a:lstStyle/>
          <a:p>
            <a:r>
              <a:rPr lang="en-US" dirty="0"/>
              <a:t>CMV Post Liver Transplant</a:t>
            </a:r>
          </a:p>
        </p:txBody>
      </p:sp>
      <p:sp>
        <p:nvSpPr>
          <p:cNvPr id="3" name="Content Placeholder 2">
            <a:extLst>
              <a:ext uri="{FF2B5EF4-FFF2-40B4-BE49-F238E27FC236}">
                <a16:creationId xmlns:a16="http://schemas.microsoft.com/office/drawing/2014/main" id="{8BF5697C-F830-E002-DC09-EFDFA53F08E2}"/>
              </a:ext>
            </a:extLst>
          </p:cNvPr>
          <p:cNvSpPr>
            <a:spLocks noGrp="1"/>
          </p:cNvSpPr>
          <p:nvPr>
            <p:ph idx="1"/>
          </p:nvPr>
        </p:nvSpPr>
        <p:spPr>
          <a:xfrm>
            <a:off x="527901" y="1825625"/>
            <a:ext cx="6674177" cy="4351338"/>
          </a:xfrm>
        </p:spPr>
        <p:txBody>
          <a:bodyPr>
            <a:normAutofit lnSpcReduction="10000"/>
          </a:bodyPr>
          <a:lstStyle/>
          <a:p>
            <a:r>
              <a:rPr lang="en-US" dirty="0"/>
              <a:t>The risk of CMV infection and disease depends on pre-transplant donor (D) and recipient (R) statuses of CMV</a:t>
            </a:r>
          </a:p>
          <a:p>
            <a:pPr lvl="1"/>
            <a:r>
              <a:rPr lang="en-US" b="1" dirty="0">
                <a:highlight>
                  <a:srgbClr val="FF0000"/>
                </a:highlight>
              </a:rPr>
              <a:t>D+/R- 	</a:t>
            </a:r>
            <a:r>
              <a:rPr lang="en-US" dirty="0">
                <a:highlight>
                  <a:srgbClr val="FF0000"/>
                </a:highlight>
              </a:rPr>
              <a:t>have the highest risk </a:t>
            </a:r>
          </a:p>
          <a:p>
            <a:pPr lvl="1"/>
            <a:r>
              <a:rPr lang="en-US" b="1" dirty="0">
                <a:highlight>
                  <a:srgbClr val="FFFF00"/>
                </a:highlight>
              </a:rPr>
              <a:t>D*/R+ 	</a:t>
            </a:r>
            <a:r>
              <a:rPr lang="en-US" dirty="0">
                <a:highlight>
                  <a:srgbClr val="FFFF00"/>
                </a:highlight>
              </a:rPr>
              <a:t>have modest risk</a:t>
            </a:r>
          </a:p>
          <a:p>
            <a:pPr lvl="1"/>
            <a:r>
              <a:rPr lang="en-US" b="1" dirty="0">
                <a:highlight>
                  <a:srgbClr val="00FF00"/>
                </a:highlight>
              </a:rPr>
              <a:t>D-/R- 	</a:t>
            </a:r>
            <a:r>
              <a:rPr lang="en-US" dirty="0">
                <a:highlight>
                  <a:srgbClr val="00FF00"/>
                </a:highlight>
              </a:rPr>
              <a:t>have the lowest risk</a:t>
            </a:r>
          </a:p>
          <a:p>
            <a:r>
              <a:rPr lang="en-US" dirty="0"/>
              <a:t>CMV has some immune-related implications</a:t>
            </a:r>
          </a:p>
          <a:p>
            <a:pPr lvl="1"/>
            <a:r>
              <a:rPr lang="en-US" dirty="0"/>
              <a:t>Increases risk of bacteremia</a:t>
            </a:r>
          </a:p>
          <a:p>
            <a:pPr lvl="1"/>
            <a:r>
              <a:rPr lang="en-US" dirty="0"/>
              <a:t>Increases risk of invasive fungal infections</a:t>
            </a:r>
          </a:p>
          <a:p>
            <a:pPr lvl="1"/>
            <a:r>
              <a:rPr lang="en-US" dirty="0"/>
              <a:t>Increases one-year mortality</a:t>
            </a:r>
          </a:p>
        </p:txBody>
      </p:sp>
      <p:pic>
        <p:nvPicPr>
          <p:cNvPr id="5" name="Picture 4">
            <a:extLst>
              <a:ext uri="{FF2B5EF4-FFF2-40B4-BE49-F238E27FC236}">
                <a16:creationId xmlns:a16="http://schemas.microsoft.com/office/drawing/2014/main" id="{FC45F819-B6A3-0359-E52D-817028818449}"/>
              </a:ext>
            </a:extLst>
          </p:cNvPr>
          <p:cNvPicPr>
            <a:picLocks noChangeAspect="1"/>
          </p:cNvPicPr>
          <p:nvPr/>
        </p:nvPicPr>
        <p:blipFill>
          <a:blip r:embed="rId3"/>
          <a:stretch>
            <a:fillRect/>
          </a:stretch>
        </p:blipFill>
        <p:spPr>
          <a:xfrm>
            <a:off x="7320838" y="2955237"/>
            <a:ext cx="4871162" cy="3032141"/>
          </a:xfrm>
          <a:prstGeom prst="rect">
            <a:avLst/>
          </a:prstGeom>
        </p:spPr>
      </p:pic>
      <p:sp>
        <p:nvSpPr>
          <p:cNvPr id="7" name="TextBox 6">
            <a:extLst>
              <a:ext uri="{FF2B5EF4-FFF2-40B4-BE49-F238E27FC236}">
                <a16:creationId xmlns:a16="http://schemas.microsoft.com/office/drawing/2014/main" id="{0BF3E69D-DBC3-7885-66D0-78F7D7675502}"/>
              </a:ext>
            </a:extLst>
          </p:cNvPr>
          <p:cNvSpPr txBox="1"/>
          <p:nvPr/>
        </p:nvSpPr>
        <p:spPr>
          <a:xfrm>
            <a:off x="8304229" y="6488668"/>
            <a:ext cx="6099142" cy="369332"/>
          </a:xfrm>
          <a:prstGeom prst="rect">
            <a:avLst/>
          </a:prstGeom>
          <a:noFill/>
        </p:spPr>
        <p:txBody>
          <a:bodyPr wrap="square">
            <a:spAutoFit/>
          </a:bodyPr>
          <a:lstStyle/>
          <a:p>
            <a:r>
              <a:rPr lang="en-US" dirty="0"/>
              <a:t>Clin Infect Dis 2004 Nov 1;39(9):1293-9</a:t>
            </a:r>
          </a:p>
        </p:txBody>
      </p:sp>
      <p:cxnSp>
        <p:nvCxnSpPr>
          <p:cNvPr id="9" name="Straight Arrow Connector 8">
            <a:extLst>
              <a:ext uri="{FF2B5EF4-FFF2-40B4-BE49-F238E27FC236}">
                <a16:creationId xmlns:a16="http://schemas.microsoft.com/office/drawing/2014/main" id="{1B12612F-8BC8-E77B-D36D-97D0CD2334C6}"/>
              </a:ext>
            </a:extLst>
          </p:cNvPr>
          <p:cNvCxnSpPr>
            <a:cxnSpLocks/>
            <a:endCxn id="3" idx="3"/>
          </p:cNvCxnSpPr>
          <p:nvPr/>
        </p:nvCxnSpPr>
        <p:spPr>
          <a:xfrm flipV="1">
            <a:off x="5187462" y="4001294"/>
            <a:ext cx="2014616" cy="966360"/>
          </a:xfrm>
          <a:prstGeom prst="straightConnector1">
            <a:avLst/>
          </a:prstGeom>
          <a:ln w="38100">
            <a:solidFill>
              <a:schemeClr val="tx1"/>
            </a:solidFill>
            <a:headEnd type="none"/>
            <a:tailEnd type="stealth"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13CFB3D-1169-82AD-A0F7-45E2A4E2E53A}"/>
              </a:ext>
            </a:extLst>
          </p:cNvPr>
          <p:cNvSpPr txBox="1"/>
          <p:nvPr/>
        </p:nvSpPr>
        <p:spPr>
          <a:xfrm>
            <a:off x="7484235" y="1825625"/>
            <a:ext cx="4707765" cy="1200329"/>
          </a:xfrm>
          <a:prstGeom prst="rect">
            <a:avLst/>
          </a:prstGeom>
          <a:noFill/>
        </p:spPr>
        <p:txBody>
          <a:bodyPr wrap="square">
            <a:spAutoFit/>
          </a:bodyPr>
          <a:lstStyle/>
          <a:p>
            <a:pPr algn="ctr"/>
            <a:r>
              <a:rPr lang="en-US" b="1" i="0" u="none" strike="noStrike" dirty="0">
                <a:solidFill>
                  <a:srgbClr val="212121"/>
                </a:solidFill>
                <a:effectLst/>
                <a:latin typeface="Merriweather" pitchFamily="2" charset="77"/>
              </a:rPr>
              <a:t>The clinical impact of ganciclovir prophylaxis on the occurrence of bacteremia in orthotopic liver transplant recipients</a:t>
            </a:r>
          </a:p>
        </p:txBody>
      </p:sp>
    </p:spTree>
    <p:extLst>
      <p:ext uri="{BB962C8B-B14F-4D97-AF65-F5344CB8AC3E}">
        <p14:creationId xmlns:p14="http://schemas.microsoft.com/office/powerpoint/2010/main" val="26303479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BD71-97FE-D8A1-1126-304C1A78D5A4}"/>
              </a:ext>
            </a:extLst>
          </p:cNvPr>
          <p:cNvSpPr>
            <a:spLocks noGrp="1"/>
          </p:cNvSpPr>
          <p:nvPr>
            <p:ph type="title"/>
          </p:nvPr>
        </p:nvSpPr>
        <p:spPr/>
        <p:txBody>
          <a:bodyPr/>
          <a:lstStyle/>
          <a:p>
            <a:r>
              <a:rPr lang="en-US" dirty="0"/>
              <a:t>CMV Prophylaxis</a:t>
            </a:r>
          </a:p>
        </p:txBody>
      </p:sp>
      <p:pic>
        <p:nvPicPr>
          <p:cNvPr id="5" name="Content Placeholder 4">
            <a:extLst>
              <a:ext uri="{FF2B5EF4-FFF2-40B4-BE49-F238E27FC236}">
                <a16:creationId xmlns:a16="http://schemas.microsoft.com/office/drawing/2014/main" id="{550F2CFB-3FDB-0C0B-019C-D92B9EF8D6A4}"/>
              </a:ext>
            </a:extLst>
          </p:cNvPr>
          <p:cNvPicPr>
            <a:picLocks noGrp="1" noChangeAspect="1"/>
          </p:cNvPicPr>
          <p:nvPr>
            <p:ph idx="1"/>
          </p:nvPr>
        </p:nvPicPr>
        <p:blipFill>
          <a:blip r:embed="rId3"/>
          <a:stretch>
            <a:fillRect/>
          </a:stretch>
        </p:blipFill>
        <p:spPr>
          <a:xfrm>
            <a:off x="149774" y="1690688"/>
            <a:ext cx="7238280" cy="4457634"/>
          </a:xfrm>
          <a:prstGeom prst="rect">
            <a:avLst/>
          </a:prstGeom>
        </p:spPr>
      </p:pic>
      <p:sp>
        <p:nvSpPr>
          <p:cNvPr id="11" name="TextBox 10">
            <a:extLst>
              <a:ext uri="{FF2B5EF4-FFF2-40B4-BE49-F238E27FC236}">
                <a16:creationId xmlns:a16="http://schemas.microsoft.com/office/drawing/2014/main" id="{7A87B427-F3E4-6037-5BEC-BA237F936FA1}"/>
              </a:ext>
            </a:extLst>
          </p:cNvPr>
          <p:cNvSpPr txBox="1"/>
          <p:nvPr/>
        </p:nvSpPr>
        <p:spPr>
          <a:xfrm>
            <a:off x="7900512" y="2029816"/>
            <a:ext cx="3997751" cy="1077218"/>
          </a:xfrm>
          <a:prstGeom prst="rect">
            <a:avLst/>
          </a:prstGeom>
          <a:solidFill>
            <a:srgbClr val="FFFF00"/>
          </a:solidFill>
          <a:ln>
            <a:solidFill>
              <a:schemeClr val="tx1"/>
            </a:solidFill>
          </a:ln>
        </p:spPr>
        <p:txBody>
          <a:bodyPr wrap="square">
            <a:spAutoFit/>
          </a:bodyPr>
          <a:lstStyle/>
          <a:p>
            <a:pPr algn="ctr"/>
            <a:r>
              <a:rPr lang="en-US" sz="1600" b="1" i="1" baseline="30000" dirty="0" err="1"/>
              <a:t>a</a:t>
            </a:r>
            <a:r>
              <a:rPr lang="en-US" sz="1600" b="1" i="1" dirty="0" err="1"/>
              <a:t>The</a:t>
            </a:r>
            <a:r>
              <a:rPr lang="en-US" sz="1600" b="1" i="1" dirty="0"/>
              <a:t> US FDA has cautioned against valganciclovir prophylaxis in liver recipients due to high rate of tissue‐invasive disease compared to oral ganciclovir. </a:t>
            </a:r>
          </a:p>
        </p:txBody>
      </p:sp>
      <p:pic>
        <p:nvPicPr>
          <p:cNvPr id="12" name="Picture 11">
            <a:extLst>
              <a:ext uri="{FF2B5EF4-FFF2-40B4-BE49-F238E27FC236}">
                <a16:creationId xmlns:a16="http://schemas.microsoft.com/office/drawing/2014/main" id="{08C2730E-0216-2C94-41A8-B6C0353E913C}"/>
              </a:ext>
            </a:extLst>
          </p:cNvPr>
          <p:cNvPicPr>
            <a:picLocks noChangeAspect="1"/>
          </p:cNvPicPr>
          <p:nvPr/>
        </p:nvPicPr>
        <p:blipFill>
          <a:blip r:embed="rId4"/>
          <a:stretch>
            <a:fillRect/>
          </a:stretch>
        </p:blipFill>
        <p:spPr>
          <a:xfrm>
            <a:off x="7825144" y="4151567"/>
            <a:ext cx="4148485" cy="552409"/>
          </a:xfrm>
          <a:prstGeom prst="rect">
            <a:avLst/>
          </a:prstGeom>
        </p:spPr>
      </p:pic>
      <p:cxnSp>
        <p:nvCxnSpPr>
          <p:cNvPr id="14" name="Straight Arrow Connector 13">
            <a:extLst>
              <a:ext uri="{FF2B5EF4-FFF2-40B4-BE49-F238E27FC236}">
                <a16:creationId xmlns:a16="http://schemas.microsoft.com/office/drawing/2014/main" id="{76605ADC-5BD6-371A-BFAC-4995F657A297}"/>
              </a:ext>
            </a:extLst>
          </p:cNvPr>
          <p:cNvCxnSpPr>
            <a:stCxn id="11" idx="2"/>
            <a:endCxn id="12" idx="0"/>
          </p:cNvCxnSpPr>
          <p:nvPr/>
        </p:nvCxnSpPr>
        <p:spPr>
          <a:xfrm flipH="1">
            <a:off x="9899387" y="3107034"/>
            <a:ext cx="1" cy="1044533"/>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19C365A-012C-3217-9D3D-D0B742070299}"/>
              </a:ext>
            </a:extLst>
          </p:cNvPr>
          <p:cNvSpPr txBox="1"/>
          <p:nvPr/>
        </p:nvSpPr>
        <p:spPr>
          <a:xfrm>
            <a:off x="8850060" y="4703976"/>
            <a:ext cx="2098651" cy="369332"/>
          </a:xfrm>
          <a:prstGeom prst="rect">
            <a:avLst/>
          </a:prstGeom>
          <a:noFill/>
        </p:spPr>
        <p:txBody>
          <a:bodyPr wrap="none" rtlCol="0">
            <a:spAutoFit/>
          </a:bodyPr>
          <a:lstStyle/>
          <a:p>
            <a:r>
              <a:rPr lang="en-US" dirty="0"/>
              <a:t>AST 2019 Guidelines</a:t>
            </a:r>
          </a:p>
        </p:txBody>
      </p:sp>
    </p:spTree>
    <p:extLst>
      <p:ext uri="{BB962C8B-B14F-4D97-AF65-F5344CB8AC3E}">
        <p14:creationId xmlns:p14="http://schemas.microsoft.com/office/powerpoint/2010/main" val="36595556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28FDF-9CA6-BD78-7A2C-8C670A16965E}"/>
              </a:ext>
            </a:extLst>
          </p:cNvPr>
          <p:cNvSpPr>
            <a:spLocks noGrp="1"/>
          </p:cNvSpPr>
          <p:nvPr>
            <p:ph type="title"/>
          </p:nvPr>
        </p:nvSpPr>
        <p:spPr/>
        <p:txBody>
          <a:bodyPr/>
          <a:lstStyle/>
          <a:p>
            <a:r>
              <a:rPr lang="en-US" dirty="0"/>
              <a:t>CMV Preemptive Treatment</a:t>
            </a:r>
          </a:p>
        </p:txBody>
      </p:sp>
      <p:pic>
        <p:nvPicPr>
          <p:cNvPr id="6148" name="Picture 4" descr="Details are in the caption following the image">
            <a:extLst>
              <a:ext uri="{FF2B5EF4-FFF2-40B4-BE49-F238E27FC236}">
                <a16:creationId xmlns:a16="http://schemas.microsoft.com/office/drawing/2014/main" id="{FE9FD372-72EC-D9BF-2A21-8372C8FB65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0183" y="1690688"/>
            <a:ext cx="7291633" cy="44341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9C34505-EB99-01A0-8C2C-DA649B0DFB66}"/>
              </a:ext>
            </a:extLst>
          </p:cNvPr>
          <p:cNvSpPr txBox="1"/>
          <p:nvPr/>
        </p:nvSpPr>
        <p:spPr>
          <a:xfrm>
            <a:off x="-3143" y="6492875"/>
            <a:ext cx="6099142" cy="369332"/>
          </a:xfrm>
          <a:prstGeom prst="rect">
            <a:avLst/>
          </a:prstGeom>
          <a:noFill/>
        </p:spPr>
        <p:txBody>
          <a:bodyPr wrap="square">
            <a:spAutoFit/>
          </a:bodyPr>
          <a:lstStyle/>
          <a:p>
            <a:r>
              <a:rPr lang="en-US" b="0" i="0" u="none" strike="noStrike" dirty="0">
                <a:solidFill>
                  <a:srgbClr val="212121"/>
                </a:solidFill>
                <a:effectLst/>
                <a:latin typeface="BlinkMacSystemFont"/>
              </a:rPr>
              <a:t>Clin Transplant. 2019 Sep;33(9):e13512</a:t>
            </a:r>
            <a:endParaRPr lang="en-US" dirty="0"/>
          </a:p>
        </p:txBody>
      </p:sp>
    </p:spTree>
    <p:extLst>
      <p:ext uri="{BB962C8B-B14F-4D97-AF65-F5344CB8AC3E}">
        <p14:creationId xmlns:p14="http://schemas.microsoft.com/office/powerpoint/2010/main" val="30095134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EF8529-9AAB-5E44-03F3-9098E91A68B4}"/>
              </a:ext>
            </a:extLst>
          </p:cNvPr>
          <p:cNvSpPr>
            <a:spLocks noGrp="1"/>
          </p:cNvSpPr>
          <p:nvPr>
            <p:ph idx="1"/>
          </p:nvPr>
        </p:nvSpPr>
        <p:spPr>
          <a:xfrm>
            <a:off x="838200" y="181988"/>
            <a:ext cx="10515600" cy="5994975"/>
          </a:xfrm>
        </p:spPr>
        <p:txBody>
          <a:bodyPr/>
          <a:lstStyle/>
          <a:p>
            <a:r>
              <a:rPr lang="en-US" dirty="0"/>
              <a:t>Universal Prophylaxis – give anti-CMV for highest risk</a:t>
            </a:r>
          </a:p>
          <a:p>
            <a:r>
              <a:rPr lang="en-US" dirty="0"/>
              <a:t>Preemptive Therapy – give anti-CMV only when viremic</a:t>
            </a:r>
          </a:p>
        </p:txBody>
      </p:sp>
      <p:pic>
        <p:nvPicPr>
          <p:cNvPr id="5" name="Picture 4">
            <a:extLst>
              <a:ext uri="{FF2B5EF4-FFF2-40B4-BE49-F238E27FC236}">
                <a16:creationId xmlns:a16="http://schemas.microsoft.com/office/drawing/2014/main" id="{03C6FDDE-CF35-88D3-CE28-581186364A8B}"/>
              </a:ext>
            </a:extLst>
          </p:cNvPr>
          <p:cNvPicPr>
            <a:picLocks noChangeAspect="1"/>
          </p:cNvPicPr>
          <p:nvPr/>
        </p:nvPicPr>
        <p:blipFill>
          <a:blip r:embed="rId3"/>
          <a:stretch>
            <a:fillRect/>
          </a:stretch>
        </p:blipFill>
        <p:spPr>
          <a:xfrm>
            <a:off x="735291" y="1452963"/>
            <a:ext cx="10721418" cy="4593096"/>
          </a:xfrm>
          <a:prstGeom prst="rect">
            <a:avLst/>
          </a:prstGeom>
        </p:spPr>
      </p:pic>
      <p:sp>
        <p:nvSpPr>
          <p:cNvPr id="6" name="TextBox 5">
            <a:extLst>
              <a:ext uri="{FF2B5EF4-FFF2-40B4-BE49-F238E27FC236}">
                <a16:creationId xmlns:a16="http://schemas.microsoft.com/office/drawing/2014/main" id="{C76EF91E-386C-CE0C-9EFB-F8006C235B39}"/>
              </a:ext>
            </a:extLst>
          </p:cNvPr>
          <p:cNvSpPr txBox="1"/>
          <p:nvPr/>
        </p:nvSpPr>
        <p:spPr>
          <a:xfrm>
            <a:off x="0" y="6488668"/>
            <a:ext cx="6100548" cy="369332"/>
          </a:xfrm>
          <a:prstGeom prst="rect">
            <a:avLst/>
          </a:prstGeom>
          <a:noFill/>
        </p:spPr>
        <p:txBody>
          <a:bodyPr wrap="square">
            <a:spAutoFit/>
          </a:bodyPr>
          <a:lstStyle/>
          <a:p>
            <a:r>
              <a:rPr lang="en-US" dirty="0"/>
              <a:t>Clin Transplant. 2019 Sep;33(9):e13623</a:t>
            </a:r>
          </a:p>
        </p:txBody>
      </p:sp>
    </p:spTree>
    <p:extLst>
      <p:ext uri="{BB962C8B-B14F-4D97-AF65-F5344CB8AC3E}">
        <p14:creationId xmlns:p14="http://schemas.microsoft.com/office/powerpoint/2010/main" val="39218213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text, application, email&#10;&#10;Description automatically generated">
            <a:extLst>
              <a:ext uri="{FF2B5EF4-FFF2-40B4-BE49-F238E27FC236}">
                <a16:creationId xmlns:a16="http://schemas.microsoft.com/office/drawing/2014/main" id="{8CF164CB-AE79-37A9-070B-BF0E7D989144}"/>
              </a:ext>
            </a:extLst>
          </p:cNvPr>
          <p:cNvPicPr>
            <a:picLocks noChangeAspect="1"/>
          </p:cNvPicPr>
          <p:nvPr/>
        </p:nvPicPr>
        <p:blipFill>
          <a:blip r:embed="rId2"/>
          <a:stretch>
            <a:fillRect/>
          </a:stretch>
        </p:blipFill>
        <p:spPr>
          <a:xfrm>
            <a:off x="65988" y="26172"/>
            <a:ext cx="12060024" cy="6805656"/>
          </a:xfrm>
          <a:prstGeom prst="rect">
            <a:avLst/>
          </a:prstGeom>
        </p:spPr>
      </p:pic>
    </p:spTree>
    <p:extLst>
      <p:ext uri="{BB962C8B-B14F-4D97-AF65-F5344CB8AC3E}">
        <p14:creationId xmlns:p14="http://schemas.microsoft.com/office/powerpoint/2010/main" val="2674286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6BDB7-48F6-EFEE-450F-F96641C250A4}"/>
              </a:ext>
            </a:extLst>
          </p:cNvPr>
          <p:cNvSpPr>
            <a:spLocks noGrp="1"/>
          </p:cNvSpPr>
          <p:nvPr>
            <p:ph type="title"/>
          </p:nvPr>
        </p:nvSpPr>
        <p:spPr/>
        <p:txBody>
          <a:bodyPr/>
          <a:lstStyle/>
          <a:p>
            <a:r>
              <a:rPr lang="en-US" dirty="0"/>
              <a:t>Late-onset CMV </a:t>
            </a:r>
          </a:p>
        </p:txBody>
      </p:sp>
      <p:sp>
        <p:nvSpPr>
          <p:cNvPr id="3" name="Content Placeholder 2">
            <a:extLst>
              <a:ext uri="{FF2B5EF4-FFF2-40B4-BE49-F238E27FC236}">
                <a16:creationId xmlns:a16="http://schemas.microsoft.com/office/drawing/2014/main" id="{AF554477-C3E2-A8A2-C32C-DB69F902609E}"/>
              </a:ext>
            </a:extLst>
          </p:cNvPr>
          <p:cNvSpPr>
            <a:spLocks noGrp="1"/>
          </p:cNvSpPr>
          <p:nvPr>
            <p:ph idx="1"/>
          </p:nvPr>
        </p:nvSpPr>
        <p:spPr/>
        <p:txBody>
          <a:bodyPr>
            <a:normAutofit/>
          </a:bodyPr>
          <a:lstStyle/>
          <a:p>
            <a:r>
              <a:rPr lang="en-US" dirty="0"/>
              <a:t> The term “</a:t>
            </a:r>
            <a:r>
              <a:rPr lang="en-US" i="1" u="sng" dirty="0" err="1"/>
              <a:t>postprophylaxis</a:t>
            </a:r>
            <a:r>
              <a:rPr lang="en-US" i="1" u="sng" dirty="0"/>
              <a:t> delayed-onset CMV disease</a:t>
            </a:r>
            <a:r>
              <a:rPr lang="en-US" dirty="0"/>
              <a:t>” may distinguish this entity from the truly </a:t>
            </a:r>
            <a:r>
              <a:rPr lang="en-US" i="1" u="sng" dirty="0"/>
              <a:t>late-onset CMV </a:t>
            </a:r>
            <a:r>
              <a:rPr lang="en-US" dirty="0"/>
              <a:t>diseases that occur many years after transplantation.</a:t>
            </a:r>
          </a:p>
          <a:p>
            <a:pPr marL="0" indent="0">
              <a:buNone/>
            </a:pPr>
            <a:endParaRPr lang="en-US" dirty="0"/>
          </a:p>
          <a:p>
            <a:pPr marL="0" indent="0">
              <a:buNone/>
            </a:pPr>
            <a:r>
              <a:rPr lang="en-US" b="1" dirty="0"/>
              <a:t>What can be done?</a:t>
            </a:r>
          </a:p>
          <a:p>
            <a:r>
              <a:rPr lang="en-US" dirty="0"/>
              <a:t>Clinical close follow up of high-risk patients (D+/R-) after completing prophylaxis</a:t>
            </a:r>
          </a:p>
          <a:p>
            <a:pPr marL="0" indent="0">
              <a:buNone/>
            </a:pPr>
            <a:r>
              <a:rPr lang="en-US" b="1" dirty="0"/>
              <a:t>OR</a:t>
            </a:r>
          </a:p>
          <a:p>
            <a:r>
              <a:rPr lang="en-US" dirty="0"/>
              <a:t>CMV QNAT at least once weekly for 3 months after completion of antiviral prophylaxis</a:t>
            </a:r>
          </a:p>
        </p:txBody>
      </p:sp>
    </p:spTree>
    <p:extLst>
      <p:ext uri="{BB962C8B-B14F-4D97-AF65-F5344CB8AC3E}">
        <p14:creationId xmlns:p14="http://schemas.microsoft.com/office/powerpoint/2010/main" val="30087826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9B58E-8B18-360F-349B-1BA8E2FAD527}"/>
              </a:ext>
            </a:extLst>
          </p:cNvPr>
          <p:cNvSpPr>
            <a:spLocks noGrp="1"/>
          </p:cNvSpPr>
          <p:nvPr>
            <p:ph type="title"/>
          </p:nvPr>
        </p:nvSpPr>
        <p:spPr/>
        <p:txBody>
          <a:bodyPr/>
          <a:lstStyle/>
          <a:p>
            <a:r>
              <a:rPr lang="en-US" dirty="0"/>
              <a:t>Lahey Protocol</a:t>
            </a:r>
          </a:p>
        </p:txBody>
      </p:sp>
      <p:pic>
        <p:nvPicPr>
          <p:cNvPr id="4" name="Content Placeholder 3">
            <a:extLst>
              <a:ext uri="{FF2B5EF4-FFF2-40B4-BE49-F238E27FC236}">
                <a16:creationId xmlns:a16="http://schemas.microsoft.com/office/drawing/2014/main" id="{C292FEBD-687A-9162-0C39-01303F6D20E3}"/>
              </a:ext>
            </a:extLst>
          </p:cNvPr>
          <p:cNvPicPr>
            <a:picLocks noGrp="1" noChangeAspect="1"/>
          </p:cNvPicPr>
          <p:nvPr>
            <p:ph idx="1"/>
          </p:nvPr>
        </p:nvPicPr>
        <p:blipFill>
          <a:blip r:embed="rId3"/>
          <a:stretch>
            <a:fillRect/>
          </a:stretch>
        </p:blipFill>
        <p:spPr>
          <a:xfrm>
            <a:off x="1365250" y="1498600"/>
            <a:ext cx="9461500" cy="1930400"/>
          </a:xfrm>
          <a:prstGeom prst="rect">
            <a:avLst/>
          </a:prstGeom>
        </p:spPr>
      </p:pic>
      <p:pic>
        <p:nvPicPr>
          <p:cNvPr id="5" name="Picture 4">
            <a:extLst>
              <a:ext uri="{FF2B5EF4-FFF2-40B4-BE49-F238E27FC236}">
                <a16:creationId xmlns:a16="http://schemas.microsoft.com/office/drawing/2014/main" id="{0F3FD8CD-F185-2637-DC3E-28045FD66D7F}"/>
              </a:ext>
            </a:extLst>
          </p:cNvPr>
          <p:cNvPicPr>
            <a:picLocks noChangeAspect="1"/>
          </p:cNvPicPr>
          <p:nvPr/>
        </p:nvPicPr>
        <p:blipFill>
          <a:blip r:embed="rId4"/>
          <a:stretch>
            <a:fillRect/>
          </a:stretch>
        </p:blipFill>
        <p:spPr>
          <a:xfrm>
            <a:off x="1365249" y="3814028"/>
            <a:ext cx="9452171" cy="1645335"/>
          </a:xfrm>
          <a:prstGeom prst="rect">
            <a:avLst/>
          </a:prstGeom>
        </p:spPr>
      </p:pic>
      <p:sp>
        <p:nvSpPr>
          <p:cNvPr id="6" name="TextBox 5">
            <a:extLst>
              <a:ext uri="{FF2B5EF4-FFF2-40B4-BE49-F238E27FC236}">
                <a16:creationId xmlns:a16="http://schemas.microsoft.com/office/drawing/2014/main" id="{F99BA844-1DCF-2C39-477B-94ED26FB9365}"/>
              </a:ext>
            </a:extLst>
          </p:cNvPr>
          <p:cNvSpPr txBox="1"/>
          <p:nvPr/>
        </p:nvSpPr>
        <p:spPr>
          <a:xfrm>
            <a:off x="1137863" y="5989269"/>
            <a:ext cx="9906944" cy="400110"/>
          </a:xfrm>
          <a:prstGeom prst="rect">
            <a:avLst/>
          </a:prstGeom>
          <a:noFill/>
          <a:ln>
            <a:solidFill>
              <a:schemeClr val="tx1"/>
            </a:solidFill>
          </a:ln>
        </p:spPr>
        <p:txBody>
          <a:bodyPr wrap="none" rtlCol="0">
            <a:spAutoFit/>
          </a:bodyPr>
          <a:lstStyle/>
          <a:p>
            <a:pPr algn="ctr"/>
            <a:r>
              <a:rPr lang="en-US" sz="2000" b="1" i="1" dirty="0"/>
              <a:t>Ongoing Quality Improvement project to increase and ease the adherence to this protocol!</a:t>
            </a:r>
          </a:p>
        </p:txBody>
      </p:sp>
    </p:spTree>
    <p:extLst>
      <p:ext uri="{BB962C8B-B14F-4D97-AF65-F5344CB8AC3E}">
        <p14:creationId xmlns:p14="http://schemas.microsoft.com/office/powerpoint/2010/main" val="28861928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E8346-5A56-0C11-E121-DFB5ECBC7511}"/>
              </a:ext>
            </a:extLst>
          </p:cNvPr>
          <p:cNvSpPr>
            <a:spLocks noGrp="1"/>
          </p:cNvSpPr>
          <p:nvPr>
            <p:ph type="title"/>
          </p:nvPr>
        </p:nvSpPr>
        <p:spPr/>
        <p:txBody>
          <a:bodyPr/>
          <a:lstStyle/>
          <a:p>
            <a:r>
              <a:rPr lang="en-US" dirty="0"/>
              <a:t>Time Course of Post Transplant Infections</a:t>
            </a:r>
          </a:p>
        </p:txBody>
      </p:sp>
      <p:sp>
        <p:nvSpPr>
          <p:cNvPr id="4" name="Text Placeholder 3">
            <a:extLst>
              <a:ext uri="{FF2B5EF4-FFF2-40B4-BE49-F238E27FC236}">
                <a16:creationId xmlns:a16="http://schemas.microsoft.com/office/drawing/2014/main" id="{E1D61609-753C-A8C2-EC62-BEE9C32F5F5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088825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398385D9-0594-D680-F300-230BF95A0D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0847" y="424937"/>
            <a:ext cx="7890301" cy="566876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4C4AE7E-C975-9BF3-EA91-A3BC709F80B4}"/>
              </a:ext>
            </a:extLst>
          </p:cNvPr>
          <p:cNvSpPr txBox="1"/>
          <p:nvPr/>
        </p:nvSpPr>
        <p:spPr>
          <a:xfrm>
            <a:off x="-4550" y="6488668"/>
            <a:ext cx="6100548" cy="369332"/>
          </a:xfrm>
          <a:prstGeom prst="rect">
            <a:avLst/>
          </a:prstGeom>
          <a:noFill/>
        </p:spPr>
        <p:txBody>
          <a:bodyPr wrap="square">
            <a:spAutoFit/>
          </a:bodyPr>
          <a:lstStyle/>
          <a:p>
            <a:r>
              <a:rPr lang="en-US" dirty="0"/>
              <a:t>Fishman JA. N </a:t>
            </a:r>
            <a:r>
              <a:rPr lang="en-US" dirty="0" err="1"/>
              <a:t>Engl</a:t>
            </a:r>
            <a:r>
              <a:rPr lang="en-US" dirty="0"/>
              <a:t> J Med 2007;357:2601-2614.</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5B878C-A269-6295-C4B4-0B70AD27BF6D}"/>
              </a:ext>
            </a:extLst>
          </p:cNvPr>
          <p:cNvPicPr>
            <a:picLocks noChangeAspect="1"/>
          </p:cNvPicPr>
          <p:nvPr/>
        </p:nvPicPr>
        <p:blipFill>
          <a:blip r:embed="rId3"/>
          <a:stretch>
            <a:fillRect/>
          </a:stretch>
        </p:blipFill>
        <p:spPr>
          <a:xfrm>
            <a:off x="3206734" y="0"/>
            <a:ext cx="5778532" cy="6363093"/>
          </a:xfrm>
          <a:prstGeom prst="rect">
            <a:avLst/>
          </a:prstGeom>
        </p:spPr>
      </p:pic>
      <p:sp>
        <p:nvSpPr>
          <p:cNvPr id="5" name="TextBox 4">
            <a:extLst>
              <a:ext uri="{FF2B5EF4-FFF2-40B4-BE49-F238E27FC236}">
                <a16:creationId xmlns:a16="http://schemas.microsoft.com/office/drawing/2014/main" id="{3F01EC6C-1772-0CE1-7E7F-8DA61E8F717E}"/>
              </a:ext>
            </a:extLst>
          </p:cNvPr>
          <p:cNvSpPr txBox="1"/>
          <p:nvPr/>
        </p:nvSpPr>
        <p:spPr>
          <a:xfrm>
            <a:off x="-2058" y="6502108"/>
            <a:ext cx="6098058" cy="369332"/>
          </a:xfrm>
          <a:prstGeom prst="rect">
            <a:avLst/>
          </a:prstGeom>
          <a:noFill/>
        </p:spPr>
        <p:txBody>
          <a:bodyPr wrap="square">
            <a:spAutoFit/>
          </a:bodyPr>
          <a:lstStyle/>
          <a:p>
            <a:r>
              <a:rPr lang="en-US" b="0" i="0" u="none" strike="noStrike" dirty="0">
                <a:solidFill>
                  <a:srgbClr val="212121"/>
                </a:solidFill>
                <a:effectLst/>
                <a:latin typeface="BlinkMacSystemFont"/>
              </a:rPr>
              <a:t>Am J Transplant. 2017 Apr;17(4):856-879</a:t>
            </a:r>
            <a:endParaRPr lang="en-US" dirty="0"/>
          </a:p>
        </p:txBody>
      </p:sp>
    </p:spTree>
    <p:extLst>
      <p:ext uri="{BB962C8B-B14F-4D97-AF65-F5344CB8AC3E}">
        <p14:creationId xmlns:p14="http://schemas.microsoft.com/office/powerpoint/2010/main" val="18944144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001004-A0B8-CECF-BA09-4CF5F2A8A832}"/>
              </a:ext>
            </a:extLst>
          </p:cNvPr>
          <p:cNvPicPr>
            <a:picLocks noChangeAspect="1"/>
          </p:cNvPicPr>
          <p:nvPr/>
        </p:nvPicPr>
        <p:blipFill>
          <a:blip r:embed="rId2"/>
          <a:stretch>
            <a:fillRect/>
          </a:stretch>
        </p:blipFill>
        <p:spPr>
          <a:xfrm>
            <a:off x="175553" y="532614"/>
            <a:ext cx="11840894" cy="5792772"/>
          </a:xfrm>
          <a:prstGeom prst="rect">
            <a:avLst/>
          </a:prstGeom>
        </p:spPr>
      </p:pic>
    </p:spTree>
    <p:extLst>
      <p:ext uri="{BB962C8B-B14F-4D97-AF65-F5344CB8AC3E}">
        <p14:creationId xmlns:p14="http://schemas.microsoft.com/office/powerpoint/2010/main" val="21430846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C97E4-9DEC-9DA4-34D0-1E97A2BD1C92}"/>
              </a:ext>
            </a:extLst>
          </p:cNvPr>
          <p:cNvSpPr>
            <a:spLocks noGrp="1"/>
          </p:cNvSpPr>
          <p:nvPr>
            <p:ph type="title"/>
          </p:nvPr>
        </p:nvSpPr>
        <p:spPr/>
        <p:txBody>
          <a:bodyPr/>
          <a:lstStyle/>
          <a:p>
            <a:r>
              <a:rPr lang="en-US" dirty="0"/>
              <a:t>Take-home Points</a:t>
            </a:r>
          </a:p>
        </p:txBody>
      </p:sp>
      <p:sp>
        <p:nvSpPr>
          <p:cNvPr id="3" name="Content Placeholder 2">
            <a:extLst>
              <a:ext uri="{FF2B5EF4-FFF2-40B4-BE49-F238E27FC236}">
                <a16:creationId xmlns:a16="http://schemas.microsoft.com/office/drawing/2014/main" id="{3A2B781F-56D8-D872-9F8E-E59B2B85A535}"/>
              </a:ext>
            </a:extLst>
          </p:cNvPr>
          <p:cNvSpPr>
            <a:spLocks noGrp="1"/>
          </p:cNvSpPr>
          <p:nvPr>
            <p:ph idx="1"/>
          </p:nvPr>
        </p:nvSpPr>
        <p:spPr/>
        <p:txBody>
          <a:bodyPr>
            <a:normAutofit fontScale="92500" lnSpcReduction="10000"/>
          </a:bodyPr>
          <a:lstStyle/>
          <a:p>
            <a:r>
              <a:rPr lang="en-US" dirty="0"/>
              <a:t>Post liver transplant infections are a major source of M&amp;M</a:t>
            </a:r>
          </a:p>
          <a:p>
            <a:r>
              <a:rPr lang="en-US" dirty="0"/>
              <a:t>Immunosuppression is T cell suppression</a:t>
            </a:r>
          </a:p>
          <a:p>
            <a:r>
              <a:rPr lang="en-US" dirty="0"/>
              <a:t>Vaccinate and decolonize MRSA</a:t>
            </a:r>
          </a:p>
          <a:p>
            <a:r>
              <a:rPr lang="en-US" dirty="0"/>
              <a:t>Prophylaxis</a:t>
            </a:r>
          </a:p>
          <a:p>
            <a:pPr lvl="1"/>
            <a:r>
              <a:rPr lang="en-US" dirty="0" err="1"/>
              <a:t>Antibacterials</a:t>
            </a:r>
            <a:r>
              <a:rPr lang="en-US" dirty="0"/>
              <a:t> 	-&gt; 	Case by case</a:t>
            </a:r>
          </a:p>
          <a:p>
            <a:pPr lvl="1"/>
            <a:r>
              <a:rPr lang="en-US" dirty="0"/>
              <a:t>Antifungals 	-&gt; 	Nystatin, fluconazole, micafungin</a:t>
            </a:r>
          </a:p>
          <a:p>
            <a:pPr lvl="1"/>
            <a:r>
              <a:rPr lang="en-US" dirty="0"/>
              <a:t>Anti-PCP 	-&gt; 	Bactrim, others</a:t>
            </a:r>
          </a:p>
          <a:p>
            <a:pPr lvl="1"/>
            <a:r>
              <a:rPr lang="en-US" dirty="0"/>
              <a:t>Anti-CMV 	-&gt; 	Valganciclovir</a:t>
            </a:r>
          </a:p>
          <a:p>
            <a:r>
              <a:rPr lang="en-US" dirty="0"/>
              <a:t>Watch for late CMV!</a:t>
            </a:r>
          </a:p>
          <a:p>
            <a:pPr lvl="1"/>
            <a:r>
              <a:rPr lang="en-US" dirty="0"/>
              <a:t>always a good answer to “I don’t know what’s happening with this post </a:t>
            </a:r>
            <a:r>
              <a:rPr lang="en-US" dirty="0" err="1"/>
              <a:t>LTx</a:t>
            </a:r>
            <a:r>
              <a:rPr lang="en-US" dirty="0"/>
              <a:t> patient”</a:t>
            </a:r>
          </a:p>
          <a:p>
            <a:r>
              <a:rPr lang="en-US" dirty="0"/>
              <a:t>Timing of infection varies</a:t>
            </a:r>
          </a:p>
        </p:txBody>
      </p:sp>
    </p:spTree>
    <p:extLst>
      <p:ext uri="{BB962C8B-B14F-4D97-AF65-F5344CB8AC3E}">
        <p14:creationId xmlns:p14="http://schemas.microsoft.com/office/powerpoint/2010/main" val="13126752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33FA21C-DB43-1B78-BE2E-6ECAF61E804A}"/>
              </a:ext>
            </a:extLst>
          </p:cNvPr>
          <p:cNvSpPr>
            <a:spLocks noGrp="1"/>
          </p:cNvSpPr>
          <p:nvPr>
            <p:ph type="title"/>
          </p:nvPr>
        </p:nvSpPr>
        <p:spPr/>
        <p:txBody>
          <a:bodyPr/>
          <a:lstStyle/>
          <a:p>
            <a:r>
              <a:rPr lang="en-US" dirty="0"/>
              <a:t>Thank You</a:t>
            </a:r>
          </a:p>
        </p:txBody>
      </p:sp>
      <p:sp>
        <p:nvSpPr>
          <p:cNvPr id="5" name="Text Placeholder 4">
            <a:extLst>
              <a:ext uri="{FF2B5EF4-FFF2-40B4-BE49-F238E27FC236}">
                <a16:creationId xmlns:a16="http://schemas.microsoft.com/office/drawing/2014/main" id="{BFFBA269-D080-F393-EA14-B794A401B48A}"/>
              </a:ext>
            </a:extLst>
          </p:cNvPr>
          <p:cNvSpPr>
            <a:spLocks noGrp="1"/>
          </p:cNvSpPr>
          <p:nvPr>
            <p:ph type="body" idx="1"/>
          </p:nvPr>
        </p:nvSpPr>
        <p:spPr/>
        <p:txBody>
          <a:bodyPr/>
          <a:lstStyle/>
          <a:p>
            <a:r>
              <a:rPr lang="en-US" dirty="0"/>
              <a:t>Questions</a:t>
            </a:r>
          </a:p>
        </p:txBody>
      </p:sp>
    </p:spTree>
    <p:extLst>
      <p:ext uri="{BB962C8B-B14F-4D97-AF65-F5344CB8AC3E}">
        <p14:creationId xmlns:p14="http://schemas.microsoft.com/office/powerpoint/2010/main" val="24851220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4717</TotalTime>
  <Words>2161</Words>
  <Application>Microsoft Macintosh PowerPoint</Application>
  <PresentationFormat>Widescreen</PresentationFormat>
  <Paragraphs>287</Paragraphs>
  <Slides>60</Slides>
  <Notes>49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Arial Unicode MS</vt:lpstr>
      <vt:lpstr>Arial</vt:lpstr>
      <vt:lpstr>BlinkMacSystemFont</vt:lpstr>
      <vt:lpstr>Calibri</vt:lpstr>
      <vt:lpstr>Georgia</vt:lpstr>
      <vt:lpstr>Merriweather</vt:lpstr>
      <vt:lpstr>Noto Sans</vt:lpstr>
      <vt:lpstr>Office Theme</vt:lpstr>
      <vt:lpstr>Post Liver Transplant Infectious Complications</vt:lpstr>
      <vt:lpstr>Outline</vt:lpstr>
      <vt:lpstr>Epidemiology </vt:lpstr>
      <vt:lpstr>Types of infections</vt:lpstr>
      <vt:lpstr>Overview of Transplant Immunology</vt:lpstr>
      <vt:lpstr>PowerPoint Presentation</vt:lpstr>
      <vt:lpstr>PowerPoint Presentation</vt:lpstr>
      <vt:lpstr>PowerPoint Presentation</vt:lpstr>
      <vt:lpstr>General Principles</vt:lpstr>
      <vt:lpstr>General Principles</vt:lpstr>
      <vt:lpstr>Net State of Immunosuppression</vt:lpstr>
      <vt:lpstr>Risk Factors</vt:lpstr>
      <vt:lpstr>Risk Factors</vt:lpstr>
      <vt:lpstr>Latent Infections in Donor or Recipient</vt:lpstr>
      <vt:lpstr>Active infection in the donor</vt:lpstr>
      <vt:lpstr>Question</vt:lpstr>
      <vt:lpstr>AI-Assisted Decision Making (ChatGPT)</vt:lpstr>
      <vt:lpstr>PowerPoint Presentation</vt:lpstr>
      <vt:lpstr>Pretransplant colonization with certain organisms</vt:lpstr>
      <vt:lpstr>Surgical approach and surgical complications</vt:lpstr>
      <vt:lpstr>PowerPoint Presentation</vt:lpstr>
      <vt:lpstr>Other Factors</vt:lpstr>
      <vt:lpstr>Infection Prophylaxis</vt:lpstr>
      <vt:lpstr>Infection Prophylaxis</vt:lpstr>
      <vt:lpstr>Pre-transplantation Vaccination</vt:lpstr>
      <vt:lpstr>PowerPoint Presentation</vt:lpstr>
      <vt:lpstr>PowerPoint Presentation</vt:lpstr>
      <vt:lpstr>Pretransplant Vaccines</vt:lpstr>
      <vt:lpstr>Lahey Liver Transplant Protocols</vt:lpstr>
      <vt:lpstr>Antibacterial Prophylaxis</vt:lpstr>
      <vt:lpstr>Antibacterial Prophylaxis</vt:lpstr>
      <vt:lpstr>PowerPoint Presentation</vt:lpstr>
      <vt:lpstr>Antifungal Prophylaxis</vt:lpstr>
      <vt:lpstr>Antifungal Prophylaxis (Candida mainly)</vt:lpstr>
      <vt:lpstr>Targeted Versus Universal Antifungal Prophylaxis Among Liver Transplant Recipients</vt:lpstr>
      <vt:lpstr>Antifungal Prophylaxis</vt:lpstr>
      <vt:lpstr>Antifungal Prophylaxis</vt:lpstr>
      <vt:lpstr>Aspergillus Prophylaxis</vt:lpstr>
      <vt:lpstr>Lahey Protocol</vt:lpstr>
      <vt:lpstr>Lahey Protocol</vt:lpstr>
      <vt:lpstr>PowerPoint Presentation</vt:lpstr>
      <vt:lpstr>Pneumocystis jirovecii Prophylaxis</vt:lpstr>
      <vt:lpstr>PowerPoint Presentation</vt:lpstr>
      <vt:lpstr>Pneumocystis jirovecii Prophylaxis</vt:lpstr>
      <vt:lpstr>Lahey Protocol</vt:lpstr>
      <vt:lpstr>Cytomegalovirus (CMV) Prophylaxis</vt:lpstr>
      <vt:lpstr>CMV Prophylaxis</vt:lpstr>
      <vt:lpstr>CMV Post Liver Transplant</vt:lpstr>
      <vt:lpstr>CMV Prophylaxis</vt:lpstr>
      <vt:lpstr>CMV Preemptive Treatment</vt:lpstr>
      <vt:lpstr>PowerPoint Presentation</vt:lpstr>
      <vt:lpstr>PowerPoint Presentation</vt:lpstr>
      <vt:lpstr>Late-onset CMV </vt:lpstr>
      <vt:lpstr>Lahey Protocol</vt:lpstr>
      <vt:lpstr>Time Course of Post Transplant Infections</vt:lpstr>
      <vt:lpstr>PowerPoint Presentation</vt:lpstr>
      <vt:lpstr>PowerPoint Presentation</vt:lpstr>
      <vt:lpstr>PowerPoint Presentation</vt:lpstr>
      <vt:lpstr>Take-home Points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 Liver Transplant Infectious Complications</dc:title>
  <dc:creator>Mohammad Almeqdadi</dc:creator>
  <cp:lastModifiedBy>Almeqdadi, Mohammad</cp:lastModifiedBy>
  <cp:revision>262</cp:revision>
  <dcterms:created xsi:type="dcterms:W3CDTF">2023-03-07T17:57:40Z</dcterms:created>
  <dcterms:modified xsi:type="dcterms:W3CDTF">2023-03-14T01:13:40Z</dcterms:modified>
</cp:coreProperties>
</file>