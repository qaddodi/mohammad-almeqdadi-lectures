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316" r:id="rId9"/>
    <p:sldId id="283" r:id="rId10"/>
    <p:sldId id="263" r:id="rId11"/>
    <p:sldId id="262" r:id="rId12"/>
    <p:sldId id="284" r:id="rId13"/>
    <p:sldId id="264" r:id="rId14"/>
    <p:sldId id="273" r:id="rId15"/>
    <p:sldId id="282" r:id="rId16"/>
    <p:sldId id="265" r:id="rId17"/>
    <p:sldId id="266" r:id="rId18"/>
    <p:sldId id="267" r:id="rId19"/>
    <p:sldId id="275" r:id="rId20"/>
    <p:sldId id="276" r:id="rId21"/>
    <p:sldId id="277" r:id="rId22"/>
    <p:sldId id="278" r:id="rId23"/>
    <p:sldId id="268" r:id="rId24"/>
    <p:sldId id="274" r:id="rId25"/>
    <p:sldId id="289" r:id="rId26"/>
    <p:sldId id="288" r:id="rId27"/>
    <p:sldId id="290" r:id="rId28"/>
    <p:sldId id="317" r:id="rId29"/>
    <p:sldId id="294" r:id="rId30"/>
    <p:sldId id="295" r:id="rId31"/>
    <p:sldId id="296" r:id="rId32"/>
    <p:sldId id="297" r:id="rId33"/>
    <p:sldId id="298" r:id="rId34"/>
    <p:sldId id="299" r:id="rId35"/>
    <p:sldId id="320" r:id="rId36"/>
    <p:sldId id="285" r:id="rId37"/>
    <p:sldId id="287" r:id="rId38"/>
    <p:sldId id="291" r:id="rId39"/>
    <p:sldId id="292" r:id="rId40"/>
    <p:sldId id="293" r:id="rId41"/>
    <p:sldId id="319" r:id="rId42"/>
    <p:sldId id="280" r:id="rId43"/>
    <p:sldId id="281" r:id="rId44"/>
    <p:sldId id="269" r:id="rId45"/>
    <p:sldId id="310" r:id="rId46"/>
    <p:sldId id="301" r:id="rId47"/>
    <p:sldId id="300" r:id="rId48"/>
    <p:sldId id="302" r:id="rId49"/>
    <p:sldId id="303" r:id="rId50"/>
    <p:sldId id="304" r:id="rId51"/>
    <p:sldId id="305" r:id="rId52"/>
    <p:sldId id="307" r:id="rId53"/>
    <p:sldId id="308" r:id="rId54"/>
    <p:sldId id="306" r:id="rId55"/>
    <p:sldId id="311" r:id="rId56"/>
    <p:sldId id="309" r:id="rId57"/>
    <p:sldId id="312" r:id="rId58"/>
    <p:sldId id="315" r:id="rId59"/>
    <p:sldId id="279" r:id="rId60"/>
    <p:sldId id="313" r:id="rId61"/>
    <p:sldId id="314" r:id="rId62"/>
    <p:sldId id="271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8"/>
    <p:restoredTop sz="94613"/>
  </p:normalViewPr>
  <p:slideViewPr>
    <p:cSldViewPr snapToGrid="0">
      <p:cViewPr>
        <p:scale>
          <a:sx n="120" d="100"/>
          <a:sy n="120" d="100"/>
        </p:scale>
        <p:origin x="48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408F4F-530A-744D-8C42-F5543540AA0C}" type="datetimeFigureOut">
              <a:rPr lang="en-US" smtClean="0"/>
              <a:t>6/4/23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D0BED-4993-A849-B63B-110777029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1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D0BED-4993-A849-B63B-1107770297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87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D0BED-4993-A849-B63B-1107770297E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32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8C5B-30B5-265F-85AC-0CE632932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4767E-F1C4-FCEC-BBB4-699DD26B9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E8EE1-8930-8F0C-65E7-8A00B2F64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3F82-905E-EB4C-9C6C-C8942FFF62FB}" type="datetimeFigureOut">
              <a:rPr lang="en-US" smtClean="0"/>
              <a:t>6/4/23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8E4E2-6BCF-C0D4-4516-C35451322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E9F55-84DB-22EC-DA7F-3CB33B54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2101D-E624-D44C-A175-051D2D432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5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4E0C-E847-1E57-8FFD-0F8A93A41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7D266-B4CD-1849-1FA6-744AACDB6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A3625-5915-4187-C5B6-90EBF7A44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3F82-905E-EB4C-9C6C-C8942FFF62FB}" type="datetimeFigureOut">
              <a:rPr lang="en-US" smtClean="0"/>
              <a:t>6/4/23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4FA19-0AE3-8358-BE91-B6D47F08C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2B6BB-0B40-ACA8-CBDE-30151960C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2101D-E624-D44C-A175-051D2D432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54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EB4F-805D-C96F-7C93-BBD514FF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E0BB6-4955-E1CA-C14C-4E5D9C9CF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5E4AE-E0DA-0CF2-1562-B359089D5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3F82-905E-EB4C-9C6C-C8942FFF62FB}" type="datetimeFigureOut">
              <a:rPr lang="en-US" smtClean="0"/>
              <a:t>6/4/23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D9375-281D-3757-D9F2-C93DA714B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47760-7764-FE55-AF9D-F76D82B9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2101D-E624-D44C-A175-051D2D432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12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617B5-38EB-1C74-8E3D-58F99987E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5F30A-6F58-C032-AE33-793AA7444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F1BAA-D35A-4E6A-F6BB-5FF5AB334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48B0C-2BE8-96C9-7FBC-3C8B520F2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3F82-905E-EB4C-9C6C-C8942FFF62FB}" type="datetimeFigureOut">
              <a:rPr lang="en-US" smtClean="0"/>
              <a:t>6/4/23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1405D-5136-25B9-F812-D95480D7E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E7D4B-6908-0CE7-A7C1-A4CEE0EB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2101D-E624-D44C-A175-051D2D432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50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97372-65BD-3EEB-C90A-DCE558F27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868BC-CC72-31D8-EE4A-D2C02779E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8D081-08BD-B862-C4CE-D63B64A9F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4FEA2-288A-9251-66BE-2CA84E964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CA227D-0950-DDE0-D6C7-A1F607F6D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BBDD40-75AD-4A86-5210-A8FD1EB7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3F82-905E-EB4C-9C6C-C8942FFF62FB}" type="datetimeFigureOut">
              <a:rPr lang="en-US" smtClean="0"/>
              <a:t>6/4/23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7E828-A477-E293-1B0F-75C64E583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0CF5CB-D8CC-1028-648B-5F5651CF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2101D-E624-D44C-A175-051D2D432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8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04DA-32C4-49C4-8F16-6DCCCCB7B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34DCD-F272-2FB1-7352-2A8D62ACC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3F82-905E-EB4C-9C6C-C8942FFF62FB}" type="datetimeFigureOut">
              <a:rPr lang="en-US" smtClean="0"/>
              <a:t>6/4/23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E5F35-8746-8DD3-1C3D-549FF1D6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E6078-45C0-E325-75A5-1BD849B85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2101D-E624-D44C-A175-051D2D432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2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7B0A6-D169-334D-8281-0EC58DE6F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3F82-905E-EB4C-9C6C-C8942FFF62FB}" type="datetimeFigureOut">
              <a:rPr lang="en-US" smtClean="0"/>
              <a:t>6/4/23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E034F-7087-2744-F395-19910471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A1220-93E7-8F21-3C9E-59E1CFFC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2101D-E624-D44C-A175-051D2D432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2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BE05-032C-4ED2-0062-32F40202E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0D027-8FEA-B370-FE02-764331E5D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7A6E8-D274-8D39-CF59-F242B9020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7694A-F109-2C8F-DF19-E396E29D6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3F82-905E-EB4C-9C6C-C8942FFF62FB}" type="datetimeFigureOut">
              <a:rPr lang="en-US" smtClean="0"/>
              <a:t>6/4/23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FFB6A-7A6E-C866-B910-7D17B947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0AC60-A504-585C-A665-737B8CAF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2101D-E624-D44C-A175-051D2D432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2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C807-E424-5B98-4C0C-35DF7DD7B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B9D954-70BF-ED0B-AE4E-16722372D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C1094-8482-5178-4CE3-AEE50F0F6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05D3E-D7E5-CEE4-CACC-BC89A38C0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3F82-905E-EB4C-9C6C-C8942FFF62FB}" type="datetimeFigureOut">
              <a:rPr lang="en-US" smtClean="0"/>
              <a:t>6/4/23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E9E87-6DCC-206E-4497-C73D976F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3580C-F521-DEC8-A33B-A78E67FB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2101D-E624-D44C-A175-051D2D432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80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EEBA-7FCD-6A62-1FAC-AA3C834FE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7A9A1-5169-B829-6E7D-CF2D67095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8D60E-FC2C-7CB1-92C3-A158EAAFE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3F82-905E-EB4C-9C6C-C8942FFF62FB}" type="datetimeFigureOut">
              <a:rPr lang="en-US" smtClean="0"/>
              <a:t>6/4/23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DC80D-5890-3824-4911-ADC08D99C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48E70-EB5E-020E-A4F5-F112DB2B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2101D-E624-D44C-A175-051D2D432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06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8A51E-6B48-556E-C0AB-EA5346EE7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A7429-A5DD-1625-A84F-AA4E4419A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40BA7-0DDA-7B94-DB35-1E5738AD6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13F82-905E-EB4C-9C6C-C8942FFF62FB}" type="datetimeFigureOut">
              <a:rPr lang="en-US" smtClean="0"/>
              <a:t>6/4/23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066D1-6352-503D-121F-57A8A4F3E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8B0E7-962B-791B-A49D-843466716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2101D-E624-D44C-A175-051D2D432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00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DDF7BB-3FC4-87AE-263D-8B714C43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DBA43-03B8-114E-8320-DC065BB2A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61746"/>
            <a:ext cx="10515600" cy="4515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A266F-9EDF-0E38-4906-D0C30820DF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B313F82-905E-EB4C-9C6C-C8942FFF62FB}" type="datetimeFigureOut">
              <a:rPr lang="en-US" smtClean="0"/>
              <a:pPr/>
              <a:t>6/4/23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E2F4B-A01D-E13C-662D-9B6DEDE21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99F62-1EAF-4E0E-908E-E577624CB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FDA2101D-E624-D44C-A175-051D2D432B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75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COS And Non-Alcoholic Fatty Liver Disease (NAFLD): Treatment And  Prevention - PCOS Nutrition Center">
            <a:extLst>
              <a:ext uri="{FF2B5EF4-FFF2-40B4-BE49-F238E27FC236}">
                <a16:creationId xmlns:a16="http://schemas.microsoft.com/office/drawing/2014/main" id="{FF08488D-793A-2B04-826D-2ECF23104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09" y="-9804"/>
            <a:ext cx="7966567" cy="512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wooden spoon full of salt&#10;&#10;Description automatically generated with medium confidence">
            <a:extLst>
              <a:ext uri="{FF2B5EF4-FFF2-40B4-BE49-F238E27FC236}">
                <a16:creationId xmlns:a16="http://schemas.microsoft.com/office/drawing/2014/main" id="{E43716F4-ECC5-22DE-0FC0-055151768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836" y="-9804"/>
            <a:ext cx="2650327" cy="55941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B9B23F-449D-31C0-0A80-468584207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effectLst>
            <a:glow>
              <a:schemeClr val="bg1"/>
            </a:glow>
          </a:effectLst>
        </p:spPr>
        <p:txBody>
          <a:bodyPr/>
          <a:lstStyle/>
          <a:p>
            <a:r>
              <a:rPr lang="en-US" dirty="0">
                <a:effectLst>
                  <a:glow rad="466975">
                    <a:schemeClr val="bg1">
                      <a:alpha val="87779"/>
                    </a:schemeClr>
                  </a:glow>
                </a:effectLst>
              </a:rPr>
              <a:t>Hyponatremia in Liver Transplantation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5CACC3-BBFD-0BF3-2491-ED2CB8835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dirty="0"/>
              <a:t>Mohammad </a:t>
            </a:r>
            <a:r>
              <a:rPr lang="en-US" dirty="0" err="1"/>
              <a:t>Almeqdadi</a:t>
            </a:r>
            <a:r>
              <a:rPr lang="en-US" dirty="0"/>
              <a:t>, MD</a:t>
            </a:r>
          </a:p>
          <a:p>
            <a:r>
              <a:rPr lang="en-US" dirty="0"/>
              <a:t>Transplant Hepatology Fellow, PGY-7</a:t>
            </a:r>
          </a:p>
        </p:txBody>
      </p:sp>
      <p:pic>
        <p:nvPicPr>
          <p:cNvPr id="4" name="Picture 4" descr="Environmental Services Hiring Events | Lahey Hospital &amp; Medical Center|  Burlington, MA">
            <a:extLst>
              <a:ext uri="{FF2B5EF4-FFF2-40B4-BE49-F238E27FC236}">
                <a16:creationId xmlns:a16="http://schemas.microsoft.com/office/drawing/2014/main" id="{AFDFB952-1E1A-791F-4192-CF0B444E7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33907"/>
            <a:ext cx="4693243" cy="154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512F49-174F-AE19-390E-0A72B81159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8589" y="6076241"/>
            <a:ext cx="3144859" cy="62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93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576F-F04E-302E-5F1B-AE4658BE9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1A85A-4879-FCAF-7164-EEE2819AB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Pathophysiology of hyponatremia in cirrhosis</a:t>
            </a:r>
          </a:p>
          <a:p>
            <a:r>
              <a:rPr lang="en-US" dirty="0"/>
              <a:t>Importance in prognostications</a:t>
            </a:r>
          </a:p>
          <a:p>
            <a:r>
              <a:rPr lang="en-US" dirty="0"/>
              <a:t>Treatment of hyponatremia and challenges</a:t>
            </a:r>
          </a:p>
          <a:p>
            <a:r>
              <a:rPr lang="en-US" dirty="0"/>
              <a:t>Hyponatremia in liver transplantation</a:t>
            </a:r>
          </a:p>
          <a:p>
            <a:r>
              <a:rPr lang="en-US" dirty="0"/>
              <a:t>Osmotic demyelination syndrome</a:t>
            </a:r>
          </a:p>
          <a:p>
            <a:r>
              <a:rPr lang="en-US" dirty="0"/>
              <a:t>Take-home points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958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F7D53-2479-C9B2-E3BD-6D5501F1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Hyponatremia in Cirrhosis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D2285-CB88-308A-482F-A9BEC0BEB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 Na is </a:t>
            </a:r>
            <a:r>
              <a:rPr lang="en-US" b="1" dirty="0"/>
              <a:t>135-145 </a:t>
            </a:r>
            <a:r>
              <a:rPr lang="en-US" b="1" dirty="0" err="1"/>
              <a:t>mEq</a:t>
            </a:r>
            <a:r>
              <a:rPr lang="en-US" b="1" dirty="0"/>
              <a:t>/L</a:t>
            </a:r>
          </a:p>
          <a:p>
            <a:r>
              <a:rPr lang="en-US" b="1" dirty="0"/>
              <a:t>Hyponatremia</a:t>
            </a:r>
            <a:r>
              <a:rPr lang="en-US" dirty="0"/>
              <a:t> is a common complication in patients with cirrhosis.</a:t>
            </a:r>
          </a:p>
          <a:p>
            <a:r>
              <a:rPr lang="en-US" dirty="0"/>
              <a:t>The pathogenesis of hyponatremia in cirrhosis is associated with </a:t>
            </a:r>
            <a:r>
              <a:rPr lang="en-US" i="1" dirty="0"/>
              <a:t>hemodynamic changes</a:t>
            </a:r>
            <a:r>
              <a:rPr lang="en-US" dirty="0"/>
              <a:t> and secondary </a:t>
            </a:r>
            <a:r>
              <a:rPr lang="en-US" i="1" dirty="0"/>
              <a:t>neurohumoral adaptations</a:t>
            </a:r>
            <a:r>
              <a:rPr lang="en-US" dirty="0"/>
              <a:t>.</a:t>
            </a:r>
          </a:p>
          <a:p>
            <a:r>
              <a:rPr lang="en-US" dirty="0"/>
              <a:t>Mainly a result of </a:t>
            </a:r>
            <a:r>
              <a:rPr lang="en-US" b="1" dirty="0"/>
              <a:t>water retention</a:t>
            </a:r>
            <a:endParaRPr lang="en-US" dirty="0"/>
          </a:p>
          <a:p>
            <a:r>
              <a:rPr lang="en-US" dirty="0"/>
              <a:t>The severity of hyponatremia is directly related to the severity of cirrhosis (MELD-Na)</a:t>
            </a:r>
          </a:p>
        </p:txBody>
      </p:sp>
    </p:spTree>
    <p:extLst>
      <p:ext uri="{BB962C8B-B14F-4D97-AF65-F5344CB8AC3E}">
        <p14:creationId xmlns:p14="http://schemas.microsoft.com/office/powerpoint/2010/main" val="978135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390D-5AEA-9726-A771-D37FCF80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Pathophysiology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A90B0-A7F8-1F88-0B79-8E0902F28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4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676474-D459-7CB7-A35A-A8FE6857B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47" y="550506"/>
            <a:ext cx="4102596" cy="5756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CCFC61-A3FB-77B5-E592-CFF445CE8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894" y="839755"/>
            <a:ext cx="6440694" cy="51784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D19A02-046C-0DAB-A024-0C36F44C8140}"/>
              </a:ext>
            </a:extLst>
          </p:cNvPr>
          <p:cNvSpPr txBox="1"/>
          <p:nvPr/>
        </p:nvSpPr>
        <p:spPr>
          <a:xfrm>
            <a:off x="0" y="6519446"/>
            <a:ext cx="121986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Knepper MA, Kwon TH, Nielsen S. Molecular physiology of water balance. N </a:t>
            </a:r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2015 Apr 2;372(14):1349-58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31545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tails are in the caption following the image">
            <a:extLst>
              <a:ext uri="{FF2B5EF4-FFF2-40B4-BE49-F238E27FC236}">
                <a16:creationId xmlns:a16="http://schemas.microsoft.com/office/drawing/2014/main" id="{7E3964B5-F4EF-E829-5457-2FA359425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28" y="0"/>
            <a:ext cx="5591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E848F7E-0B94-C8C0-9429-324F05E2D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286" y="550506"/>
            <a:ext cx="4102596" cy="575698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409BE3-8E6C-BE22-AB26-CE29F9F0300B}"/>
              </a:ext>
            </a:extLst>
          </p:cNvPr>
          <p:cNvCxnSpPr>
            <a:cxnSpLocks/>
          </p:cNvCxnSpPr>
          <p:nvPr/>
        </p:nvCxnSpPr>
        <p:spPr>
          <a:xfrm>
            <a:off x="5952931" y="3135085"/>
            <a:ext cx="3685591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5A9CE93-54AF-F3E9-E35F-2357E0A7CC21}"/>
              </a:ext>
            </a:extLst>
          </p:cNvPr>
          <p:cNvSpPr txBox="1"/>
          <p:nvPr/>
        </p:nvSpPr>
        <p:spPr>
          <a:xfrm>
            <a:off x="6322191" y="2873475"/>
            <a:ext cx="13276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Non-osmotic </a:t>
            </a:r>
          </a:p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activation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C79111-BA51-6AB4-BA99-1898B38EE55A}"/>
              </a:ext>
            </a:extLst>
          </p:cNvPr>
          <p:cNvSpPr/>
          <p:nvPr/>
        </p:nvSpPr>
        <p:spPr>
          <a:xfrm>
            <a:off x="8439782" y="3031130"/>
            <a:ext cx="189247" cy="18924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069FA2-CB53-520E-4877-03F934DD0A2D}"/>
              </a:ext>
            </a:extLst>
          </p:cNvPr>
          <p:cNvSpPr txBox="1"/>
          <p:nvPr/>
        </p:nvSpPr>
        <p:spPr>
          <a:xfrm>
            <a:off x="0" y="6519446"/>
            <a:ext cx="121986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Knepper MA, Kwon TH, Nielsen S. Molecular physiology of water balance. N </a:t>
            </a:r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2015 Apr 2;372(14):1349-58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9118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385156-72B7-6FAB-909E-AF2AE9075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884" y="191028"/>
            <a:ext cx="5024232" cy="62981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1C2FC9-F31C-3571-EAF8-902816FE9BC1}"/>
              </a:ext>
            </a:extLst>
          </p:cNvPr>
          <p:cNvSpPr txBox="1"/>
          <p:nvPr/>
        </p:nvSpPr>
        <p:spPr>
          <a:xfrm>
            <a:off x="0" y="6569579"/>
            <a:ext cx="121986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Knepper MA, Kwon TH, Nielsen S. Molecular physiology of water balance. N </a:t>
            </a:r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Engl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 Med. 2015 Apr 2;372(14):1349-58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13204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F3B0-00CF-7CC3-E729-FDE8737A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happens in cirrhosis?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E5A20-E500-7204-AFFB-32CC04EEF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29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FFB88E-037C-D323-ACA1-9786B9066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449" y="783771"/>
            <a:ext cx="8893102" cy="52904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FFEEA3-2B5F-DF7D-73FA-A1B242F380D1}"/>
              </a:ext>
            </a:extLst>
          </p:cNvPr>
          <p:cNvSpPr txBox="1"/>
          <p:nvPr/>
        </p:nvSpPr>
        <p:spPr>
          <a:xfrm>
            <a:off x="0" y="6488668"/>
            <a:ext cx="1219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Rondon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-Berrios H, Velez JCQ. Hyponatremia in Cirrhosis. Clin Liver Dis. 2022 May;26(2):149-164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9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3BA01D-5E62-E65D-5B6E-B17868560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22" y="442126"/>
            <a:ext cx="10309556" cy="58129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A7403F-E537-E8FA-1EA2-562CAD2A63C2}"/>
              </a:ext>
            </a:extLst>
          </p:cNvPr>
          <p:cNvSpPr txBox="1"/>
          <p:nvPr/>
        </p:nvSpPr>
        <p:spPr>
          <a:xfrm>
            <a:off x="0" y="6488668"/>
            <a:ext cx="1219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Alukal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JJ, John S,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Thuluvath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PJ. Hyponatremia in Cirrhosis: An Update. Am J Gastroenterol. 2020 Nov;115(11):1775-1785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226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B5546B-FFD3-5BD6-19D4-42EC1FC71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106" y="510932"/>
            <a:ext cx="6823788" cy="58361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55DB1B-72B5-6374-15FB-D76288F517A0}"/>
              </a:ext>
            </a:extLst>
          </p:cNvPr>
          <p:cNvSpPr txBox="1"/>
          <p:nvPr/>
        </p:nvSpPr>
        <p:spPr>
          <a:xfrm>
            <a:off x="0" y="6550223"/>
            <a:ext cx="121986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Verbeek TA, Saner FH, </a:t>
            </a:r>
            <a:r>
              <a:rPr lang="en-US" sz="14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Bezinover</a:t>
            </a:r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D. Hyponatremia and Liver Transplantation: A Narrative Review. J </a:t>
            </a:r>
            <a:r>
              <a:rPr lang="en-US" sz="14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Cardiothorac</a:t>
            </a:r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en-US" sz="14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Vasc</a:t>
            </a:r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en-US" sz="14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Anesth</a:t>
            </a:r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2022 May;36(5):1458-1466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48897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7A102-67E6-759C-C55D-718AC91CB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Pathogenesis of Hyponatremia in Cirrhosis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11328-74A6-7505-7443-133DDA95A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Systemic vasodilation &lt;- NO/Endotoxins</a:t>
            </a:r>
          </a:p>
          <a:p>
            <a:r>
              <a:rPr lang="en-US" dirty="0"/>
              <a:t>Iatrogenic factors &lt;- diuretics/NSBB/LVP</a:t>
            </a:r>
          </a:p>
          <a:p>
            <a:r>
              <a:rPr lang="en-US" b="1" dirty="0"/>
              <a:t>AVP/ADH activation </a:t>
            </a:r>
            <a:r>
              <a:rPr lang="en-US" dirty="0"/>
              <a:t>-&gt; water retention</a:t>
            </a:r>
          </a:p>
          <a:p>
            <a:pPr lvl="1"/>
            <a:r>
              <a:rPr lang="en-US" dirty="0"/>
              <a:t>Direct activation &lt;- baroreceptors under-stretch (hypotension)</a:t>
            </a:r>
          </a:p>
          <a:p>
            <a:pPr lvl="1"/>
            <a:r>
              <a:rPr lang="en-US" dirty="0"/>
              <a:t>Indirect activation &lt;- RAAS activation (low effective volume)</a:t>
            </a:r>
          </a:p>
        </p:txBody>
      </p:sp>
    </p:spTree>
    <p:extLst>
      <p:ext uri="{BB962C8B-B14F-4D97-AF65-F5344CB8AC3E}">
        <p14:creationId xmlns:p14="http://schemas.microsoft.com/office/powerpoint/2010/main" val="4135310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4DC96-66A0-F8CD-664E-50B283BA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Hyponatremia in Cirrhosis and Prognostications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1F4EA-96D0-0ABE-FA41-5DE7A9FB0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88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22B085-F2CA-0150-0530-014104FD0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1357"/>
            <a:ext cx="6054225" cy="36478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E78525-584D-1E22-CB64-1ED9F8800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777" y="1754847"/>
            <a:ext cx="5954798" cy="33843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CBF8AA-E0CA-E381-EA0F-A5BAF800ADB9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Angeli</a:t>
            </a:r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P, Wong F, Watson H, </a:t>
            </a:r>
            <a:r>
              <a:rPr lang="en-US" sz="14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Ginès</a:t>
            </a:r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P; CAPPS Investigators. Hyponatremia in cirrhosis: Results of a patient population survey. Hepatology. 2006 Dec;44(6):1535-42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06204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page2image333414400">
            <a:extLst>
              <a:ext uri="{FF2B5EF4-FFF2-40B4-BE49-F238E27FC236}">
                <a16:creationId xmlns:a16="http://schemas.microsoft.com/office/drawing/2014/main" id="{5143735C-2ABD-4209-FBD2-1AFCE0A8A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001" y="746978"/>
            <a:ext cx="5467998" cy="536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9B390B-86DC-0B1C-53B2-4B6AE339E98B}"/>
              </a:ext>
            </a:extLst>
          </p:cNvPr>
          <p:cNvSpPr txBox="1"/>
          <p:nvPr/>
        </p:nvSpPr>
        <p:spPr>
          <a:xfrm>
            <a:off x="0" y="6488668"/>
            <a:ext cx="1219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Rondon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-Berrios H, Velez JCQ. Hyponatremia in Cirrhosis. Clin Liver Dis. 2022 May;26(2):149-164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254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0FD5EF-6E35-25BD-93AD-B44E744E6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30776"/>
            <a:ext cx="7772400" cy="405040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0C1E74C-BF1C-8D9E-9E26-60830C4F9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714594"/>
            <a:ext cx="7772400" cy="13663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8D0D0B-F3ED-A0FA-E646-099DB2CE4E98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N </a:t>
            </a:r>
            <a:r>
              <a:rPr lang="en-US" dirty="0" err="1"/>
              <a:t>Engl</a:t>
            </a:r>
            <a:r>
              <a:rPr lang="en-US" dirty="0"/>
              <a:t> J Med 2008;359:1018-26. </a:t>
            </a:r>
          </a:p>
        </p:txBody>
      </p:sp>
    </p:spTree>
    <p:extLst>
      <p:ext uri="{BB962C8B-B14F-4D97-AF65-F5344CB8AC3E}">
        <p14:creationId xmlns:p14="http://schemas.microsoft.com/office/powerpoint/2010/main" val="826555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13818F-FB47-1220-6047-F9A0AFB91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6910"/>
            <a:ext cx="7772400" cy="59416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1FF938-1C5F-4DA3-8A42-B6B0E47C623F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N </a:t>
            </a:r>
            <a:r>
              <a:rPr lang="en-US" dirty="0" err="1"/>
              <a:t>Engl</a:t>
            </a:r>
            <a:r>
              <a:rPr lang="en-US" dirty="0"/>
              <a:t> J Med 2008;359:1018-26. </a:t>
            </a:r>
          </a:p>
        </p:txBody>
      </p:sp>
    </p:spTree>
    <p:extLst>
      <p:ext uri="{BB962C8B-B14F-4D97-AF65-F5344CB8AC3E}">
        <p14:creationId xmlns:p14="http://schemas.microsoft.com/office/powerpoint/2010/main" val="1489839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99F2D4-27D7-38A8-8AB8-D19E55E39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38780"/>
            <a:ext cx="7772400" cy="57804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610BE3-3B4B-3758-7A99-E2E0D7139449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N </a:t>
            </a:r>
            <a:r>
              <a:rPr lang="en-US" dirty="0" err="1"/>
              <a:t>Engl</a:t>
            </a:r>
            <a:r>
              <a:rPr lang="en-US" dirty="0"/>
              <a:t> J Med 2008;359:1018-26. </a:t>
            </a:r>
          </a:p>
        </p:txBody>
      </p:sp>
    </p:spTree>
    <p:extLst>
      <p:ext uri="{BB962C8B-B14F-4D97-AF65-F5344CB8AC3E}">
        <p14:creationId xmlns:p14="http://schemas.microsoft.com/office/powerpoint/2010/main" val="559037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7D13A-50D2-9AA8-EBB9-7F9E627E0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 of Hyponatremia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894EA-2914-8811-4923-2C4D761E4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58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D686F-F5A7-B185-0616-E904615C1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87" y="368560"/>
            <a:ext cx="10081426" cy="4572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2D6027-6843-782E-F9F2-CB856BD21901}"/>
              </a:ext>
            </a:extLst>
          </p:cNvPr>
          <p:cNvSpPr txBox="1"/>
          <p:nvPr/>
        </p:nvSpPr>
        <p:spPr>
          <a:xfrm>
            <a:off x="0" y="6488668"/>
            <a:ext cx="1219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Alukal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JJ, John S,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Thuluvath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PJ. Hyponatremia in Cirrhosis: An Update. Am J Gastroenterol. 2020 Nov;115(11):1775-1785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161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CB54B2-EA99-19F5-3A33-301730229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451" y="393022"/>
            <a:ext cx="9153098" cy="60719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7B4CD8-7C00-4974-4290-75ACBF3993F9}"/>
              </a:ext>
            </a:extLst>
          </p:cNvPr>
          <p:cNvSpPr txBox="1"/>
          <p:nvPr/>
        </p:nvSpPr>
        <p:spPr>
          <a:xfrm>
            <a:off x="0" y="6488668"/>
            <a:ext cx="1219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Alukal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JJ, John S,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Thuluvath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PJ. Hyponatremia in Cirrhosis: An Update. Am J Gastroenterol. 2020 Nov;115(11):1775-1785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978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557D6C-D2F4-DC73-5F4A-1A16D6B2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143" y="740229"/>
            <a:ext cx="9907714" cy="53775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3C4FAA-A1A6-FFE4-3D7F-2A30E5C2323E}"/>
              </a:ext>
            </a:extLst>
          </p:cNvPr>
          <p:cNvSpPr txBox="1"/>
          <p:nvPr/>
        </p:nvSpPr>
        <p:spPr>
          <a:xfrm>
            <a:off x="0" y="6488668"/>
            <a:ext cx="1219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Rondon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-Berrios H, Velez JCQ. Hyponatremia in Cirrhosis. Clin Liver Dis. 2022 May;26(2):149-164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388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BCC98-B8B4-674D-07CD-19747EE06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and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E806C-9CCA-4574-6C95-F72E5A97D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52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F77845-B8A6-AFCA-62C1-B2DAB801F88D}"/>
              </a:ext>
            </a:extLst>
          </p:cNvPr>
          <p:cNvSpPr txBox="1"/>
          <p:nvPr/>
        </p:nvSpPr>
        <p:spPr>
          <a:xfrm>
            <a:off x="696686" y="2300722"/>
            <a:ext cx="107986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no data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increasing the serum sodium concentration in patients with cirrhosis improves morbidity or mortality.”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2C0E9D-DB15-08D8-FDA8-E88B1449FAA7}"/>
              </a:ext>
            </a:extLst>
          </p:cNvPr>
          <p:cNvSpPr txBox="1"/>
          <p:nvPr/>
        </p:nvSpPr>
        <p:spPr>
          <a:xfrm>
            <a:off x="696686" y="4039034"/>
            <a:ext cx="107986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“Daily correction by more than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to 8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mEq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avoided to minimize the risk of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osmotic demyelination syndrome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6DC2D0-C4CD-7283-548D-071C69DA3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to Remember</a:t>
            </a:r>
          </a:p>
        </p:txBody>
      </p:sp>
    </p:spTree>
    <p:extLst>
      <p:ext uri="{BB962C8B-B14F-4D97-AF65-F5344CB8AC3E}">
        <p14:creationId xmlns:p14="http://schemas.microsoft.com/office/powerpoint/2010/main" val="4271530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2B7F97-B1DB-C67F-B855-EAB224C90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talk about what to avoid?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928F3-45C3-B1B7-7042-AB8CB3133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941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F5E0-DC16-5776-18D1-8EE696C0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Therapies to Avoid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1B7C0-3866-B186-979E-5F315607F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Fluid restriction!?</a:t>
            </a:r>
          </a:p>
          <a:p>
            <a:r>
              <a:rPr lang="en-US" dirty="0"/>
              <a:t>Vasopressin receptor antagonist in non-transplant setting</a:t>
            </a:r>
          </a:p>
          <a:p>
            <a:r>
              <a:rPr lang="en-US" dirty="0"/>
              <a:t>Demeclocycline</a:t>
            </a:r>
          </a:p>
        </p:txBody>
      </p:sp>
    </p:spTree>
    <p:extLst>
      <p:ext uri="{BB962C8B-B14F-4D97-AF65-F5344CB8AC3E}">
        <p14:creationId xmlns:p14="http://schemas.microsoft.com/office/powerpoint/2010/main" val="2275885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62CC-FAC5-66DF-9D27-204A7374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Fluid Restriction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D1111-59D7-6413-F8F2-EB4D21321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not supported by data or evidence</a:t>
            </a:r>
          </a:p>
          <a:p>
            <a:r>
              <a:rPr lang="en-US" dirty="0"/>
              <a:t>Tends to alienate and restrict patient, cohabitants, nurses, and dietitians </a:t>
            </a:r>
          </a:p>
          <a:p>
            <a:r>
              <a:rPr lang="en-US" dirty="0"/>
              <a:t>The systemic vasodilation that stimulates AVP/ADH, also stimulates thirst! </a:t>
            </a:r>
          </a:p>
          <a:p>
            <a:r>
              <a:rPr lang="en-US" dirty="0"/>
              <a:t>It may work if and only if:</a:t>
            </a:r>
          </a:p>
          <a:p>
            <a:pPr marL="0" indent="0" algn="ctr">
              <a:buNone/>
            </a:pPr>
            <a:r>
              <a:rPr lang="en-US" b="1" dirty="0"/>
              <a:t>Total fluid intake &lt; total urine volume</a:t>
            </a:r>
          </a:p>
          <a:p>
            <a:r>
              <a:rPr lang="en-US" dirty="0"/>
              <a:t>May be trialed for 48 hours, if no correction = failed</a:t>
            </a:r>
          </a:p>
        </p:txBody>
      </p:sp>
    </p:spTree>
    <p:extLst>
      <p:ext uri="{BB962C8B-B14F-4D97-AF65-F5344CB8AC3E}">
        <p14:creationId xmlns:p14="http://schemas.microsoft.com/office/powerpoint/2010/main" val="2100725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64B9B9-781F-8C92-769B-0541BE21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Vasopressin receptor antagonist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338DAF-9B0B-50B3-D268-5BF622F72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869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61F7B7-3B03-99F1-6C85-EEB948A30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15" y="2369456"/>
            <a:ext cx="5762073" cy="28230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F1DFB4-1FA4-E5BD-EC40-8B5549AF9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618" y="2114718"/>
            <a:ext cx="4421182" cy="40704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C12EBB-E127-6F2D-5553-0783BB5DD7AB}"/>
              </a:ext>
            </a:extLst>
          </p:cNvPr>
          <p:cNvSpPr txBox="1"/>
          <p:nvPr/>
        </p:nvSpPr>
        <p:spPr>
          <a:xfrm>
            <a:off x="0" y="6492875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Gastroenterology. 2003 Apr;124(4):933-9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371FE-8A2B-DADB-E1CE-4B9B3F7DFDFB}"/>
              </a:ext>
            </a:extLst>
          </p:cNvPr>
          <p:cNvSpPr txBox="1"/>
          <p:nvPr/>
        </p:nvSpPr>
        <p:spPr>
          <a:xfrm>
            <a:off x="8098971" y="2472612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N=60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8C83B0-9AF3-D61D-1968-EC14E4141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014" y="234827"/>
            <a:ext cx="7041971" cy="187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06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2F2E03-60FB-7997-C244-253AEA475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371" y="1954494"/>
            <a:ext cx="6357258" cy="43706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71AC9E-2F7E-CE1A-77ED-F1982B1487C8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J Hepatol. 2012 Mar;56(3):571-8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0EDB91-24E0-BFD9-FFD0-558A0ADD3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8862"/>
            <a:ext cx="7772400" cy="17320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431B13-4DA6-AA2B-8405-3F2B8854B108}"/>
              </a:ext>
            </a:extLst>
          </p:cNvPr>
          <p:cNvSpPr txBox="1"/>
          <p:nvPr/>
        </p:nvSpPr>
        <p:spPr>
          <a:xfrm>
            <a:off x="4805265" y="195449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N=120</a:t>
            </a:r>
          </a:p>
        </p:txBody>
      </p:sp>
    </p:spTree>
    <p:extLst>
      <p:ext uri="{BB962C8B-B14F-4D97-AF65-F5344CB8AC3E}">
        <p14:creationId xmlns:p14="http://schemas.microsoft.com/office/powerpoint/2010/main" val="2375748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C8BB-0DF7-E840-C2C6-78277A28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Tolvaptan-Induced Liver Injury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B69C2-E3AD-1EA2-7237-8B4F2C11D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Tolvaptan Efficacy and Safety in Management of Autosomal Dominant Polycystic Kidney Disease and Its Outcomes [TEMPO] 3:4) RCT that examined its effect on the progression of kidney disease in ADPKD</a:t>
            </a:r>
          </a:p>
          <a:p>
            <a:r>
              <a:rPr lang="en-US" dirty="0"/>
              <a:t>&gt;2.5-fold increase in liver enzymes in tolvaptan vs placebo</a:t>
            </a:r>
          </a:p>
          <a:p>
            <a:r>
              <a:rPr lang="en-US" dirty="0"/>
              <a:t>The serious liver injury cases observed were consistent with Hy's law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5A6B09-7B53-37B4-FCB2-543A30D17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627736"/>
            <a:ext cx="7772400" cy="17388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284646-53EC-22D6-BC54-769C1B5547CB}"/>
              </a:ext>
            </a:extLst>
          </p:cNvPr>
          <p:cNvSpPr txBox="1"/>
          <p:nvPr/>
        </p:nvSpPr>
        <p:spPr>
          <a:xfrm>
            <a:off x="3048000" y="63766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[04-30-2013]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18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94A4F-7194-C6A7-E564-29F2DA90D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Tolvaptan in Liver Transplantation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9E38B-2708-DB2C-FDB4-BE22A33BA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Despite FDA warning, a reasonable exception to using tolvaptan would be in patients who are awaiting imminent liver transplantation</a:t>
            </a:r>
          </a:p>
          <a:p>
            <a:r>
              <a:rPr lang="en-US" b="1" dirty="0"/>
              <a:t>Should still be avoided in acute hepatitis</a:t>
            </a:r>
          </a:p>
        </p:txBody>
      </p:sp>
    </p:spTree>
    <p:extLst>
      <p:ext uri="{BB962C8B-B14F-4D97-AF65-F5344CB8AC3E}">
        <p14:creationId xmlns:p14="http://schemas.microsoft.com/office/powerpoint/2010/main" val="18001071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5F3B8-747E-969B-C976-410FCA2A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Demeclocycline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80EDF-1B61-1380-A1B7-1DF319F9B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Tetracycline that is a partial antagonist to AVP/ADH</a:t>
            </a:r>
          </a:p>
          <a:p>
            <a:r>
              <a:rPr lang="en-US" b="1" dirty="0"/>
              <a:t>Nephrotoxic and should be avoided in cirrhosis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744263-CF7A-8528-6B2A-3AE32CA24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29000"/>
            <a:ext cx="7772400" cy="225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728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773D20-4084-6A75-2B7D-31491580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of Hyponatremia in Cirrhosis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26C73-7AF7-5EC8-25A6-74B02E72D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993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B5546B-FFD3-5BD6-19D4-42EC1FC71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106" y="510932"/>
            <a:ext cx="6823788" cy="58361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55DB1B-72B5-6374-15FB-D76288F517A0}"/>
              </a:ext>
            </a:extLst>
          </p:cNvPr>
          <p:cNvSpPr txBox="1"/>
          <p:nvPr/>
        </p:nvSpPr>
        <p:spPr>
          <a:xfrm>
            <a:off x="0" y="6550223"/>
            <a:ext cx="121986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Verbeek TA, Saner FH, </a:t>
            </a:r>
            <a:r>
              <a:rPr lang="en-US" sz="14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Bezinover</a:t>
            </a:r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D. Hyponatremia and Liver Transplantation: A Narrative Review. J </a:t>
            </a:r>
            <a:r>
              <a:rPr lang="en-US" sz="14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Cardiothorac</a:t>
            </a:r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en-US" sz="14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Vasc</a:t>
            </a:r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en-US" sz="14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Anesth</a:t>
            </a:r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2022 May;36(5):1458-1466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228177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A80FAB-476F-1C89-1975-5EB984096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Stepwise Approach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17D1E-A955-DB2A-ACFF-3AC223405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442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Withdraw iatrogenic factors</a:t>
            </a:r>
          </a:p>
          <a:p>
            <a:pPr lvl="1"/>
            <a:r>
              <a:rPr lang="en-US" dirty="0"/>
              <a:t>Stop NSBB/Diuretics/</a:t>
            </a:r>
            <a:r>
              <a:rPr lang="en-US" dirty="0" err="1"/>
              <a:t>AntiHTN</a:t>
            </a:r>
            <a:endParaRPr lang="en-US" dirty="0"/>
          </a:p>
          <a:p>
            <a:pPr lvl="1"/>
            <a:r>
              <a:rPr lang="en-US" dirty="0"/>
              <a:t>MAP &gt; 82 or BP &gt; 90/60; don’t let MAP &lt; 65</a:t>
            </a:r>
          </a:p>
          <a:p>
            <a:pPr lvl="1"/>
            <a:endParaRPr lang="en-US" dirty="0"/>
          </a:p>
          <a:p>
            <a:r>
              <a:rPr lang="en-US" b="1" dirty="0"/>
              <a:t>Correct hypokalemia</a:t>
            </a:r>
          </a:p>
          <a:p>
            <a:pPr lvl="1"/>
            <a:r>
              <a:rPr lang="en-US" dirty="0"/>
              <a:t>Potassium enters the cells.</a:t>
            </a:r>
          </a:p>
          <a:p>
            <a:pPr lvl="1"/>
            <a:r>
              <a:rPr lang="en-US" dirty="0"/>
              <a:t>Intracellular sodium moves to the extracellular space to maintain cell electroneutrality.</a:t>
            </a:r>
          </a:p>
          <a:p>
            <a:pPr lvl="1"/>
            <a:r>
              <a:rPr lang="en-US" dirty="0"/>
              <a:t>Chloride moves into cells along with potassium -&gt; Free water enters the cells.</a:t>
            </a:r>
          </a:p>
          <a:p>
            <a:pPr lvl="1"/>
            <a:r>
              <a:rPr lang="en-US" dirty="0"/>
              <a:t>Intracellular hydrogen moves to the extracellular space -&gt; Hydrogen is buffered by bicarbonate -&gt; Extracellular osmolality decreases.</a:t>
            </a:r>
          </a:p>
          <a:p>
            <a:pPr lvl="1"/>
            <a:endParaRPr lang="en-US" dirty="0"/>
          </a:p>
          <a:p>
            <a:r>
              <a:rPr lang="en-US" b="1" dirty="0"/>
              <a:t>Treat with midodrine to increase MAP</a:t>
            </a:r>
          </a:p>
        </p:txBody>
      </p:sp>
    </p:spTree>
    <p:extLst>
      <p:ext uri="{BB962C8B-B14F-4D97-AF65-F5344CB8AC3E}">
        <p14:creationId xmlns:p14="http://schemas.microsoft.com/office/powerpoint/2010/main" val="551398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5A4E-9A09-2315-D057-7EF85388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Therapy for Severe Hyponatremia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18584-37AD-00D5-3FFD-DCF0E5AF1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Albumin infusion</a:t>
            </a:r>
          </a:p>
          <a:p>
            <a:r>
              <a:rPr lang="en-US" dirty="0"/>
              <a:t>Hypertonic saline + diuresis/paracentesis</a:t>
            </a:r>
          </a:p>
          <a:p>
            <a:r>
              <a:rPr lang="en-US" dirty="0"/>
              <a:t>Hemodialysis</a:t>
            </a:r>
          </a:p>
        </p:txBody>
      </p:sp>
    </p:spTree>
    <p:extLst>
      <p:ext uri="{BB962C8B-B14F-4D97-AF65-F5344CB8AC3E}">
        <p14:creationId xmlns:p14="http://schemas.microsoft.com/office/powerpoint/2010/main" val="22663186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6D5D999D-45FA-8F16-35C9-92EC4C761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99385"/>
            <a:ext cx="10515600" cy="29039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24664E-B274-D707-E456-29CEEE5C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Albumin Infusions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747EA3-DE0F-C1A2-CAFE-383C6FCC903A}"/>
              </a:ext>
            </a:extLst>
          </p:cNvPr>
          <p:cNvSpPr/>
          <p:nvPr/>
        </p:nvSpPr>
        <p:spPr>
          <a:xfrm>
            <a:off x="957943" y="5534997"/>
            <a:ext cx="10232571" cy="326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855CFB-7221-DB05-6B41-1D5D2B5D89F5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Bajaj et al. The Impact of Albumin Use on Resolution of Hyponatremia in Hospitalized Patients With Cirrhosis. Am J Gastroenterol. 2018 Sep;113(9):1339</a:t>
            </a:r>
            <a:endParaRPr lang="en-US" sz="14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CCC298B-35A7-A692-40A2-A68EA9675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00675"/>
          </a:xfrm>
        </p:spPr>
        <p:txBody>
          <a:bodyPr/>
          <a:lstStyle/>
          <a:p>
            <a:r>
              <a:rPr lang="en-US" dirty="0"/>
              <a:t>Can be used 1g/kg/day (max 100 g) until resolution of severe hyponatremia</a:t>
            </a:r>
          </a:p>
          <a:p>
            <a:r>
              <a:rPr lang="en-US" dirty="0"/>
              <a:t>One retrospective trial showed resolution of hyponatremia when albumin was used</a:t>
            </a:r>
          </a:p>
        </p:txBody>
      </p:sp>
    </p:spTree>
    <p:extLst>
      <p:ext uri="{BB962C8B-B14F-4D97-AF65-F5344CB8AC3E}">
        <p14:creationId xmlns:p14="http://schemas.microsoft.com/office/powerpoint/2010/main" val="7417878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C1A5-C06D-99DF-A310-675676DF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Hypertonic Saline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73E97-EE0F-1163-9F52-79E77B4C0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may be an initial therapy for patients with severe symptomatic hyponatremia</a:t>
            </a:r>
          </a:p>
          <a:p>
            <a:r>
              <a:rPr lang="en-US" dirty="0"/>
              <a:t>May be used pre-transplantation to raise the sodium to safe levels</a:t>
            </a:r>
          </a:p>
          <a:p>
            <a:r>
              <a:rPr lang="en-US" dirty="0"/>
              <a:t>Adjuvant therapy to hypertonic saline</a:t>
            </a:r>
          </a:p>
          <a:p>
            <a:pPr lvl="1"/>
            <a:r>
              <a:rPr lang="en-US" dirty="0"/>
              <a:t>Loop diuretics (NOT thiazides)</a:t>
            </a:r>
          </a:p>
          <a:p>
            <a:pPr lvl="1"/>
            <a:r>
              <a:rPr lang="en-US" dirty="0"/>
              <a:t>Large-volume paracentesis</a:t>
            </a:r>
          </a:p>
        </p:txBody>
      </p:sp>
    </p:spTree>
    <p:extLst>
      <p:ext uri="{BB962C8B-B14F-4D97-AF65-F5344CB8AC3E}">
        <p14:creationId xmlns:p14="http://schemas.microsoft.com/office/powerpoint/2010/main" val="1580534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6422-474E-8F2C-3043-6B03B5DE3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Hemodialysis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21CFC-5875-7698-0929-65B27D82C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Reserved to patients who have severe kidney function impairment</a:t>
            </a:r>
          </a:p>
          <a:p>
            <a:pPr lvl="1"/>
            <a:r>
              <a:rPr lang="en-US" dirty="0"/>
              <a:t>GFR &lt; 15 mL/min/1.73m2</a:t>
            </a:r>
          </a:p>
          <a:p>
            <a:r>
              <a:rPr lang="en-US" dirty="0"/>
              <a:t>Those who are candidates for liver transplantation</a:t>
            </a:r>
          </a:p>
          <a:p>
            <a:r>
              <a:rPr lang="en-US" dirty="0"/>
              <a:t>Can be challenging due to hemodynamic instability</a:t>
            </a:r>
          </a:p>
          <a:p>
            <a:r>
              <a:rPr lang="en-US" dirty="0"/>
              <a:t>Use low-sodium dialysate (130 </a:t>
            </a:r>
            <a:r>
              <a:rPr lang="en-US" dirty="0" err="1"/>
              <a:t>mEq</a:t>
            </a:r>
            <a:r>
              <a:rPr lang="en-US" dirty="0"/>
              <a:t>/L Na) to avoid rapid correction</a:t>
            </a:r>
          </a:p>
          <a:p>
            <a:pPr lvl="1"/>
            <a:r>
              <a:rPr lang="en-US" dirty="0"/>
              <a:t>Use of D5W may be required to avoid correction &gt; 8 </a:t>
            </a:r>
            <a:r>
              <a:rPr lang="en-US" dirty="0" err="1"/>
              <a:t>mEq</a:t>
            </a:r>
            <a:r>
              <a:rPr lang="en-US" dirty="0"/>
              <a:t>/L/24h</a:t>
            </a:r>
          </a:p>
        </p:txBody>
      </p:sp>
    </p:spTree>
    <p:extLst>
      <p:ext uri="{BB962C8B-B14F-4D97-AF65-F5344CB8AC3E}">
        <p14:creationId xmlns:p14="http://schemas.microsoft.com/office/powerpoint/2010/main" val="5321681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E6109E-CFC4-E468-FA4E-AA1B36F6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Hyponatremia Management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DB99C3-B78E-9ED3-BF0B-1D8FB4FF3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Fluid Restriction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Tolvaptan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Stop: BB, diuretics, antihypertensives</a:t>
            </a:r>
          </a:p>
          <a:p>
            <a:r>
              <a:rPr lang="en-US" b="1" dirty="0">
                <a:solidFill>
                  <a:srgbClr val="00B050"/>
                </a:solidFill>
              </a:rPr>
              <a:t>Correct </a:t>
            </a:r>
            <a:r>
              <a:rPr lang="en-US" b="1" dirty="0" err="1">
                <a:solidFill>
                  <a:srgbClr val="00B050"/>
                </a:solidFill>
              </a:rPr>
              <a:t>hypoK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Midodrine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Albumin</a:t>
            </a:r>
          </a:p>
          <a:p>
            <a:r>
              <a:rPr lang="en-US" b="1" dirty="0">
                <a:solidFill>
                  <a:srgbClr val="00B050"/>
                </a:solidFill>
              </a:rPr>
              <a:t>Hypertonic saline</a:t>
            </a:r>
          </a:p>
          <a:p>
            <a:r>
              <a:rPr lang="en-US" b="1" dirty="0">
                <a:solidFill>
                  <a:srgbClr val="00B050"/>
                </a:solidFill>
              </a:rPr>
              <a:t>Hemodialysis</a:t>
            </a:r>
          </a:p>
        </p:txBody>
      </p:sp>
    </p:spTree>
    <p:extLst>
      <p:ext uri="{BB962C8B-B14F-4D97-AF65-F5344CB8AC3E}">
        <p14:creationId xmlns:p14="http://schemas.microsoft.com/office/powerpoint/2010/main" val="5352847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9AC5C6-C7C3-A707-3B6C-CCCFD9BB4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64755"/>
            <a:ext cx="7772400" cy="55330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C63200-49F8-37FD-3E1C-B1600803F47D}"/>
              </a:ext>
            </a:extLst>
          </p:cNvPr>
          <p:cNvSpPr txBox="1"/>
          <p:nvPr/>
        </p:nvSpPr>
        <p:spPr>
          <a:xfrm>
            <a:off x="0" y="6488668"/>
            <a:ext cx="1219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Alukal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JJ, John S,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Thuluvath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PJ. Hyponatremia in Cirrhosis: An Update. Am J Gastroenterol. 2020 Nov;115(11):1775-1785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8821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D0248D-D207-7CAE-7FEE-2A984F4C5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28147"/>
            <a:ext cx="7772400" cy="44252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48B80A-AA56-2A57-D523-960BEDEE2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42987"/>
            <a:ext cx="2446176" cy="10398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98593D-BD3B-DF45-67BF-60D3BBC3F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381" y="205663"/>
            <a:ext cx="2403929" cy="111106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5FD9FD-57D2-6F34-22E9-1F71A2F944CD}"/>
              </a:ext>
            </a:extLst>
          </p:cNvPr>
          <p:cNvCxnSpPr>
            <a:cxnSpLocks/>
          </p:cNvCxnSpPr>
          <p:nvPr/>
        </p:nvCxnSpPr>
        <p:spPr>
          <a:xfrm>
            <a:off x="3517641" y="1282859"/>
            <a:ext cx="0" cy="84452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2A4FDC-3BAF-23A3-6240-5D5B9638247B}"/>
              </a:ext>
            </a:extLst>
          </p:cNvPr>
          <p:cNvCxnSpPr>
            <a:cxnSpLocks/>
          </p:cNvCxnSpPr>
          <p:nvPr/>
        </p:nvCxnSpPr>
        <p:spPr>
          <a:xfrm>
            <a:off x="6960638" y="1320183"/>
            <a:ext cx="0" cy="639248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D135E98-2428-A5A3-1F81-6BBCFA818496}"/>
              </a:ext>
            </a:extLst>
          </p:cNvPr>
          <p:cNvSpPr txBox="1"/>
          <p:nvPr/>
        </p:nvSpPr>
        <p:spPr>
          <a:xfrm>
            <a:off x="0" y="6488668"/>
            <a:ext cx="1219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Alukal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JJ, John S,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Thuluvath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PJ. Hyponatremia in Cirrhosis: An Update. Am J Gastroenterol. 2020 Nov;115(11):1775-1785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0843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74A4-16E3-C4FE-487E-7BFD9E361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Hyponatremia in Context of Liver Transplant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5236A-A5D2-12B3-B257-6D696B75D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49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04090A-39A8-2F5E-3B9F-08F3AC9C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Liver Transplant Outcomes in </a:t>
            </a:r>
            <a:r>
              <a:rPr lang="en-US" dirty="0" err="1"/>
              <a:t>Hyponatremics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CFE681-CDFB-7DB3-1BB5-FE1AB8A8E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reports regarding patients with pre-LT hyponatremia demonstrated increased morbidity after LT</a:t>
            </a:r>
          </a:p>
          <a:p>
            <a:pPr lvl="1"/>
            <a:r>
              <a:rPr lang="en-US" dirty="0"/>
              <a:t>Longer ICU stays, increased risk of neurologic complications, renal failure, infection, and prolonged hospital time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1041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59FA84-A8CB-1C96-B436-961F08C88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083" y="530202"/>
            <a:ext cx="6231834" cy="49789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B4B310-3993-7419-C317-D5D4F41D05EF}"/>
              </a:ext>
            </a:extLst>
          </p:cNvPr>
          <p:cNvSpPr txBox="1"/>
          <p:nvPr/>
        </p:nvSpPr>
        <p:spPr>
          <a:xfrm>
            <a:off x="0" y="621166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Londoño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et al. Hyponatremia impairs early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posttransplantation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outcome in patients with cirrhosis undergoing liver transplantation. Gastroenterology. 2006 Apr;130(4):1135-43.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871650-C19F-2156-2C30-454211A0ADEE}"/>
              </a:ext>
            </a:extLst>
          </p:cNvPr>
          <p:cNvSpPr txBox="1"/>
          <p:nvPr/>
        </p:nvSpPr>
        <p:spPr>
          <a:xfrm>
            <a:off x="5812970" y="328432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N=241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DD7560-89CF-888A-B22B-FA1964F96067}"/>
              </a:ext>
            </a:extLst>
          </p:cNvPr>
          <p:cNvSpPr txBox="1"/>
          <p:nvPr/>
        </p:nvSpPr>
        <p:spPr>
          <a:xfrm>
            <a:off x="5143877" y="3019681"/>
            <a:ext cx="213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Retrospective cohort</a:t>
            </a:r>
          </a:p>
        </p:txBody>
      </p:sp>
    </p:spTree>
    <p:extLst>
      <p:ext uri="{BB962C8B-B14F-4D97-AF65-F5344CB8AC3E}">
        <p14:creationId xmlns:p14="http://schemas.microsoft.com/office/powerpoint/2010/main" val="5307125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C8DD1D-2669-85F1-6365-FD40E64AD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831" y="535914"/>
            <a:ext cx="6184338" cy="52418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8C5738-9A02-565F-CDBF-A9A1C9464448}"/>
              </a:ext>
            </a:extLst>
          </p:cNvPr>
          <p:cNvSpPr txBox="1"/>
          <p:nvPr/>
        </p:nvSpPr>
        <p:spPr>
          <a:xfrm>
            <a:off x="5993841" y="2972192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N=5,152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94A5-7606-6AAF-B3EE-DF964BB02506}"/>
              </a:ext>
            </a:extLst>
          </p:cNvPr>
          <p:cNvSpPr txBox="1"/>
          <p:nvPr/>
        </p:nvSpPr>
        <p:spPr>
          <a:xfrm>
            <a:off x="5398325" y="2747333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Retrospective Cohort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879D70-6A85-ADAA-6B59-47288FE40815}"/>
              </a:ext>
            </a:extLst>
          </p:cNvPr>
          <p:cNvSpPr txBox="1"/>
          <p:nvPr/>
        </p:nvSpPr>
        <p:spPr>
          <a:xfrm>
            <a:off x="0" y="621166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Dawwas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et al. The impact of serum sodium concentration on mortality after liver transplantation: a cohort multicenter study. Liver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Transpl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2007 Aug;13(8):1115-24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7379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64EE63-1C1E-B833-A9C7-C0261AE36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657820"/>
            <a:ext cx="7467600" cy="5542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9D9971-D9F9-58DE-8E6D-7DE1BB47C349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Yun et al. Impact of pretransplant hyponatremia on outcome following liver transplantation. Hepatology. 2009 May;49(5):1610-5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9CFAE-5056-745B-1027-5DDC56934303}"/>
              </a:ext>
            </a:extLst>
          </p:cNvPr>
          <p:cNvSpPr txBox="1"/>
          <p:nvPr/>
        </p:nvSpPr>
        <p:spPr>
          <a:xfrm>
            <a:off x="5812971" y="2789853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N=2,175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95EB7-2E75-4F1F-B3E0-F7C0ED4EE63C}"/>
              </a:ext>
            </a:extLst>
          </p:cNvPr>
          <p:cNvSpPr txBox="1"/>
          <p:nvPr/>
        </p:nvSpPr>
        <p:spPr>
          <a:xfrm>
            <a:off x="5398325" y="2517644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Retrospective Cohort</a:t>
            </a:r>
          </a:p>
        </p:txBody>
      </p:sp>
    </p:spTree>
    <p:extLst>
      <p:ext uri="{BB962C8B-B14F-4D97-AF65-F5344CB8AC3E}">
        <p14:creationId xmlns:p14="http://schemas.microsoft.com/office/powerpoint/2010/main" val="26944749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2B646E-0B5D-CA96-22DA-C91FF4A2C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457" y="-206489"/>
            <a:ext cx="6945086" cy="6225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6CA95D-B259-2CF3-C417-91C43D6CD3BE}"/>
              </a:ext>
            </a:extLst>
          </p:cNvPr>
          <p:cNvSpPr txBox="1"/>
          <p:nvPr/>
        </p:nvSpPr>
        <p:spPr>
          <a:xfrm>
            <a:off x="0" y="621166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Leise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et al. Effect of the pretransplant serum sodium concentration on outcomes following liver transplantation. </a:t>
            </a:r>
          </a:p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Liver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Transpl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2014 Jun;20(6):687-97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850EC-C666-9930-0DC7-A1CECFDC0130}"/>
              </a:ext>
            </a:extLst>
          </p:cNvPr>
          <p:cNvSpPr txBox="1"/>
          <p:nvPr/>
        </p:nvSpPr>
        <p:spPr>
          <a:xfrm>
            <a:off x="5131837" y="3498980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</a:t>
            </a:r>
            <a:r>
              <a:rPr lang="en-US" sz="1800" dirty="0">
                <a:effectLst/>
                <a:latin typeface="ACaslonPro"/>
              </a:rPr>
              <a:t>19,537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A6968-2C3E-6CAA-50C6-0C1476CEF7FA}"/>
              </a:ext>
            </a:extLst>
          </p:cNvPr>
          <p:cNvSpPr txBox="1"/>
          <p:nvPr/>
        </p:nvSpPr>
        <p:spPr>
          <a:xfrm>
            <a:off x="4621280" y="3244334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Retrospective Cohort</a:t>
            </a:r>
          </a:p>
        </p:txBody>
      </p:sp>
    </p:spTree>
    <p:extLst>
      <p:ext uri="{BB962C8B-B14F-4D97-AF65-F5344CB8AC3E}">
        <p14:creationId xmlns:p14="http://schemas.microsoft.com/office/powerpoint/2010/main" val="16496380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AFED54-38B1-DFDE-633F-657497C24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6" y="535578"/>
            <a:ext cx="10189028" cy="55255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083B65-990E-6D86-C6A8-1BF834B8C66C}"/>
              </a:ext>
            </a:extLst>
          </p:cNvPr>
          <p:cNvSpPr txBox="1"/>
          <p:nvPr/>
        </p:nvSpPr>
        <p:spPr>
          <a:xfrm>
            <a:off x="0" y="6488668"/>
            <a:ext cx="1219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 err="1"/>
              <a:t>Leise</a:t>
            </a:r>
            <a:r>
              <a:rPr lang="en-US" dirty="0"/>
              <a:t> M, Cárdenas A. Hyponatremia in Cirrhosis: Implications for Liver Transplantation. Liver </a:t>
            </a:r>
            <a:r>
              <a:rPr lang="en-US" dirty="0" err="1"/>
              <a:t>Transpl</a:t>
            </a:r>
            <a:r>
              <a:rPr lang="en-US" dirty="0"/>
              <a:t>. 2018 Nov;24(11):1612-1621</a:t>
            </a:r>
          </a:p>
        </p:txBody>
      </p:sp>
    </p:spTree>
    <p:extLst>
      <p:ext uri="{BB962C8B-B14F-4D97-AF65-F5344CB8AC3E}">
        <p14:creationId xmlns:p14="http://schemas.microsoft.com/office/powerpoint/2010/main" val="288611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9FCD-2D63-357B-D1EA-B52674A0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Rapid correction of hyponatremia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7377E-090A-E95A-F193-74ED26B9C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339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851C59-90E8-FEC2-350D-E6F19B6DA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527" y="150956"/>
            <a:ext cx="8944946" cy="655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7855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0AC5D9-9EEF-3614-6863-D491B186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Osmotic Demyelination Syndrome (ODS)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B82F01-6220-92F6-5D2D-572B0E1A7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Formerly called “Central Pontine </a:t>
            </a:r>
            <a:r>
              <a:rPr lang="en-US" dirty="0" err="1"/>
              <a:t>Demyelinolysis</a:t>
            </a:r>
            <a:r>
              <a:rPr lang="en-US" dirty="0"/>
              <a:t>”</a:t>
            </a:r>
          </a:p>
          <a:p>
            <a:r>
              <a:rPr lang="en-US" dirty="0"/>
              <a:t>Correction of hyponatremia of &gt; 8 </a:t>
            </a:r>
            <a:r>
              <a:rPr lang="en-US" dirty="0" err="1"/>
              <a:t>mEq</a:t>
            </a:r>
            <a:r>
              <a:rPr lang="en-US" dirty="0"/>
              <a:t>/L in 24 hours</a:t>
            </a:r>
          </a:p>
          <a:p>
            <a:r>
              <a:rPr lang="en-US" dirty="0"/>
              <a:t>Clinically variable, but ranges from neurologic deficits (dysarthria, paralysis) to “locked in syndrome” and coma</a:t>
            </a:r>
          </a:p>
          <a:p>
            <a:r>
              <a:rPr lang="en-US" dirty="0"/>
              <a:t>Presents 2-6 days </a:t>
            </a:r>
            <a:r>
              <a:rPr lang="en-US" b="1" dirty="0"/>
              <a:t>after </a:t>
            </a:r>
            <a:r>
              <a:rPr lang="en-US" dirty="0"/>
              <a:t>overcorrection of hyponatremia</a:t>
            </a:r>
          </a:p>
          <a:p>
            <a:pPr lvl="1"/>
            <a:r>
              <a:rPr lang="en-US" dirty="0"/>
              <a:t>But can present multiple weeks liver transplant!</a:t>
            </a:r>
          </a:p>
          <a:p>
            <a:r>
              <a:rPr lang="en-US" b="1" dirty="0">
                <a:highlight>
                  <a:srgbClr val="FFFF00"/>
                </a:highlight>
              </a:rPr>
              <a:t>Incidence post-liver transplant ranges from 0.5% to 1.5%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4448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445C7C-2A5D-2A8B-03D0-D21246500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109" y="218380"/>
            <a:ext cx="4565782" cy="5544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419577-A4FA-7BC2-922B-62BC8D18FC56}"/>
              </a:ext>
            </a:extLst>
          </p:cNvPr>
          <p:cNvSpPr txBox="1"/>
          <p:nvPr/>
        </p:nvSpPr>
        <p:spPr>
          <a:xfrm>
            <a:off x="-3110" y="6550223"/>
            <a:ext cx="12195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Tandukar</a:t>
            </a:r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et al. Osmotic Demyelination Syndrome following Correction of Hyponatremia by ≤10 </a:t>
            </a:r>
            <a:r>
              <a:rPr lang="en-US" sz="14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mEq</a:t>
            </a:r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/L per Day. Kidney360. 2021 Jul 8;2(9):1415-1423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463276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4893D-6576-ABB5-8A16-F038E4CB3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Intraoperative Risk Factors for Overcorrection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CD38A0-0B97-769C-078C-F592D1B46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0017" y="1825625"/>
            <a:ext cx="9531966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01E335-C5B4-BC53-3DBA-52D0874FAFF5}"/>
              </a:ext>
            </a:extLst>
          </p:cNvPr>
          <p:cNvSpPr txBox="1"/>
          <p:nvPr/>
        </p:nvSpPr>
        <p:spPr>
          <a:xfrm>
            <a:off x="0" y="6540500"/>
            <a:ext cx="12195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Romanovsky</a:t>
            </a:r>
            <a:r>
              <a:rPr lang="en-US" sz="14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et al. Serum sodium shift in hyponatremic patients undergoing liver transplantation: a retrospective cohort study. Ren Fail. 2015 Feb;37(1):37-44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AADD59-4F66-75D5-C8FA-DE4337E8CF94}"/>
              </a:ext>
            </a:extLst>
          </p:cNvPr>
          <p:cNvSpPr/>
          <p:nvPr/>
        </p:nvSpPr>
        <p:spPr>
          <a:xfrm>
            <a:off x="1414130" y="4093535"/>
            <a:ext cx="9314121" cy="180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079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34B5AE-D20A-7194-7966-C11492D02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86" y="158620"/>
            <a:ext cx="10476228" cy="33683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5DF488-6010-E425-FB65-DC5C98248D4A}"/>
              </a:ext>
            </a:extLst>
          </p:cNvPr>
          <p:cNvSpPr txBox="1"/>
          <p:nvPr/>
        </p:nvSpPr>
        <p:spPr>
          <a:xfrm>
            <a:off x="8630815" y="2883160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N=165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78E88-F4C6-74CC-42CF-A43EB1CC8CDC}"/>
              </a:ext>
            </a:extLst>
          </p:cNvPr>
          <p:cNvSpPr txBox="1"/>
          <p:nvPr/>
        </p:nvSpPr>
        <p:spPr>
          <a:xfrm>
            <a:off x="0" y="6488668"/>
            <a:ext cx="121951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Hudcova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et al. Sodium homeostasis during liver transplantation and correlation with outcomes. </a:t>
            </a:r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Anesth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en-US" sz="1600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Analg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2014 Dec;119(6):1420-8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265CC2-572F-0512-4D32-A5077AA87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400" y="3588641"/>
            <a:ext cx="10254714" cy="283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459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337561-91AC-F423-8C9F-04716C3A9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181" y="46108"/>
            <a:ext cx="6579637" cy="29630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35C3B-E683-CFD8-0EFA-8734C9ED5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228" y="3093097"/>
            <a:ext cx="5751544" cy="373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779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8B7E-7317-947A-41DD-C270EEAD6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Standard of Care Between Transplant Centers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E4452-161E-A957-765B-E223AA40E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2 out of 20 surveyed LT programs had a standard intraoperative hyponatremia management protocol </a:t>
            </a:r>
          </a:p>
          <a:p>
            <a:r>
              <a:rPr lang="en-US" dirty="0"/>
              <a:t>&gt;99% of liver transplant recipients had Na &gt; 120</a:t>
            </a:r>
          </a:p>
          <a:p>
            <a:r>
              <a:rPr lang="en-US" dirty="0"/>
              <a:t>0.2-0.49% had Na &lt; 120</a:t>
            </a:r>
          </a:p>
          <a:p>
            <a:r>
              <a:rPr lang="en-US" dirty="0"/>
              <a:t>Perioperative management was variable between all programs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A9B9A-AC0C-D47A-3EBC-B1E9C193F540}"/>
              </a:ext>
            </a:extLst>
          </p:cNvPr>
          <p:cNvSpPr txBox="1"/>
          <p:nvPr/>
        </p:nvSpPr>
        <p:spPr>
          <a:xfrm>
            <a:off x="0" y="6488668"/>
            <a:ext cx="1219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 err="1"/>
              <a:t>Leise</a:t>
            </a:r>
            <a:r>
              <a:rPr lang="en-US" dirty="0"/>
              <a:t> M, Cárdenas A. Hyponatremia in Cirrhosis: Implications for Liver Transplantation. Liver </a:t>
            </a:r>
            <a:r>
              <a:rPr lang="en-US" dirty="0" err="1"/>
              <a:t>Transpl</a:t>
            </a:r>
            <a:r>
              <a:rPr lang="en-US" dirty="0"/>
              <a:t>. 2018 Nov;24(11):1612-1621</a:t>
            </a:r>
          </a:p>
        </p:txBody>
      </p:sp>
    </p:spTree>
    <p:extLst>
      <p:ext uri="{BB962C8B-B14F-4D97-AF65-F5344CB8AC3E}">
        <p14:creationId xmlns:p14="http://schemas.microsoft.com/office/powerpoint/2010/main" val="23940334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D5072B-03EA-1D24-C7E2-059800975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57" y="547043"/>
            <a:ext cx="9535886" cy="57639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B698F8-8570-9493-1E1B-474733AF08D0}"/>
              </a:ext>
            </a:extLst>
          </p:cNvPr>
          <p:cNvSpPr txBox="1"/>
          <p:nvPr/>
        </p:nvSpPr>
        <p:spPr>
          <a:xfrm>
            <a:off x="0" y="6488668"/>
            <a:ext cx="1219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Rondon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-Berrios H, Velez JCQ. Hyponatremia in Cirrhosis. Clin Liver Dis. 2022 May;26(2):149-164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844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0D6092-DC71-104A-778F-3226F6719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79524"/>
            <a:ext cx="7772400" cy="56989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DF0820-8EF4-DD10-493E-CE1F8A46AFC1}"/>
              </a:ext>
            </a:extLst>
          </p:cNvPr>
          <p:cNvSpPr txBox="1"/>
          <p:nvPr/>
        </p:nvSpPr>
        <p:spPr>
          <a:xfrm>
            <a:off x="0" y="6488668"/>
            <a:ext cx="1219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 err="1"/>
              <a:t>Leise</a:t>
            </a:r>
            <a:r>
              <a:rPr lang="en-US" dirty="0"/>
              <a:t> M, Cárdenas A. Hyponatremia in Cirrhosis: Implications for Liver Transplantation. Liver </a:t>
            </a:r>
            <a:r>
              <a:rPr lang="en-US" dirty="0" err="1"/>
              <a:t>Transpl</a:t>
            </a:r>
            <a:r>
              <a:rPr lang="en-US" dirty="0"/>
              <a:t>. 2018 Nov;24(11):1612-1621</a:t>
            </a:r>
          </a:p>
        </p:txBody>
      </p:sp>
    </p:spTree>
    <p:extLst>
      <p:ext uri="{BB962C8B-B14F-4D97-AF65-F5344CB8AC3E}">
        <p14:creationId xmlns:p14="http://schemas.microsoft.com/office/powerpoint/2010/main" val="26014863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241CEB-6179-BF19-8913-4128442E6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09199"/>
            <a:ext cx="7772400" cy="49677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DB655C-4FFA-30A1-D8C5-59AEDD19877C}"/>
              </a:ext>
            </a:extLst>
          </p:cNvPr>
          <p:cNvSpPr txBox="1"/>
          <p:nvPr/>
        </p:nvSpPr>
        <p:spPr>
          <a:xfrm>
            <a:off x="0" y="6488668"/>
            <a:ext cx="12198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 err="1"/>
              <a:t>Leise</a:t>
            </a:r>
            <a:r>
              <a:rPr lang="en-US" dirty="0"/>
              <a:t> M, Cárdenas A. Hyponatremia in Cirrhosis: Implications for Liver Transplantation. Liver </a:t>
            </a:r>
            <a:r>
              <a:rPr lang="en-US" dirty="0" err="1"/>
              <a:t>Transpl</a:t>
            </a:r>
            <a:r>
              <a:rPr lang="en-US" dirty="0"/>
              <a:t>. 2018 Nov;24(11):1612-1621</a:t>
            </a:r>
          </a:p>
        </p:txBody>
      </p:sp>
    </p:spTree>
    <p:extLst>
      <p:ext uri="{BB962C8B-B14F-4D97-AF65-F5344CB8AC3E}">
        <p14:creationId xmlns:p14="http://schemas.microsoft.com/office/powerpoint/2010/main" val="13460858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7600E6-015B-2C31-DB9B-2C64E91D5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Take-Home Points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5A9F82-1198-1A18-4DBA-BFF3898AC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Hyponatremia in </a:t>
            </a:r>
            <a:r>
              <a:rPr lang="en-US" dirty="0" err="1"/>
              <a:t>cirrhotics</a:t>
            </a:r>
            <a:r>
              <a:rPr lang="en-US" dirty="0"/>
              <a:t> is mainly vasopressin/ADH-driven</a:t>
            </a:r>
          </a:p>
          <a:p>
            <a:pPr lvl="1"/>
            <a:r>
              <a:rPr lang="en-US" dirty="0"/>
              <a:t>Focus is on preventing this insult</a:t>
            </a:r>
          </a:p>
          <a:p>
            <a:r>
              <a:rPr lang="en-US" dirty="0"/>
              <a:t>Avoid rapid overcorrection of </a:t>
            </a:r>
            <a:r>
              <a:rPr lang="en-US" dirty="0" err="1"/>
              <a:t>hypoNa</a:t>
            </a:r>
            <a:r>
              <a:rPr lang="en-US" dirty="0"/>
              <a:t> &gt;8 </a:t>
            </a:r>
            <a:r>
              <a:rPr lang="en-US" dirty="0" err="1"/>
              <a:t>mEq</a:t>
            </a:r>
            <a:r>
              <a:rPr lang="en-US" dirty="0"/>
              <a:t>/L/24 hours</a:t>
            </a:r>
          </a:p>
          <a:p>
            <a:r>
              <a:rPr lang="en-US" dirty="0"/>
              <a:t>ODS can present late (even weeks later)</a:t>
            </a:r>
          </a:p>
          <a:p>
            <a:r>
              <a:rPr lang="en-US" dirty="0"/>
              <a:t>Fluid restriction is worth the attempt, but probably won’t work</a:t>
            </a:r>
          </a:p>
          <a:p>
            <a:r>
              <a:rPr lang="en-US" dirty="0"/>
              <a:t>Tolvaptan only for LT candidates</a:t>
            </a:r>
          </a:p>
          <a:p>
            <a:r>
              <a:rPr lang="en-US" dirty="0"/>
              <a:t>If RRT to be used -&gt; low dialysate sodium (130 </a:t>
            </a:r>
            <a:r>
              <a:rPr lang="en-US" dirty="0" err="1"/>
              <a:t>mEq</a:t>
            </a:r>
            <a:r>
              <a:rPr lang="en-US" dirty="0"/>
              <a:t>/L)</a:t>
            </a:r>
          </a:p>
          <a:p>
            <a:r>
              <a:rPr lang="en-US" dirty="0"/>
              <a:t>No real “contraindicated” sodium level</a:t>
            </a:r>
          </a:p>
        </p:txBody>
      </p:sp>
    </p:spTree>
    <p:extLst>
      <p:ext uri="{BB962C8B-B14F-4D97-AF65-F5344CB8AC3E}">
        <p14:creationId xmlns:p14="http://schemas.microsoft.com/office/powerpoint/2010/main" val="98926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</TotalTime>
  <Words>1644</Words>
  <Application>Microsoft Macintosh PowerPoint</Application>
  <PresentationFormat>Widescreen</PresentationFormat>
  <Paragraphs>173</Paragraphs>
  <Slides>62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ACaslonPro</vt:lpstr>
      <vt:lpstr>Arial</vt:lpstr>
      <vt:lpstr>BlinkMacSystemFont</vt:lpstr>
      <vt:lpstr>Calibri</vt:lpstr>
      <vt:lpstr>Times New Roman</vt:lpstr>
      <vt:lpstr>Office Theme</vt:lpstr>
      <vt:lpstr>Hyponatremia in Liver Transplantation</vt:lpstr>
      <vt:lpstr>Outline</vt:lpstr>
      <vt:lpstr>Hyponatremia in Cirrhosis</vt:lpstr>
      <vt:lpstr>Pathophysiology</vt:lpstr>
      <vt:lpstr>PowerPoint Presentation</vt:lpstr>
      <vt:lpstr>PowerPoint Presentation</vt:lpstr>
      <vt:lpstr>PowerPoint Presentation</vt:lpstr>
      <vt:lpstr>So what happens in cirrhosis?</vt:lpstr>
      <vt:lpstr>PowerPoint Presentation</vt:lpstr>
      <vt:lpstr>PowerPoint Presentation</vt:lpstr>
      <vt:lpstr>PowerPoint Presentation</vt:lpstr>
      <vt:lpstr>Pathogenesis of Hyponatremia in Cirrhosis</vt:lpstr>
      <vt:lpstr>Hyponatremia in Cirrhosis and Prognostications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Diagnosis of Hyponatremia</vt:lpstr>
      <vt:lpstr>PowerPoint Presentation</vt:lpstr>
      <vt:lpstr>PowerPoint Presentation</vt:lpstr>
      <vt:lpstr>PowerPoint Presentation</vt:lpstr>
      <vt:lpstr>Treatment and Challenges</vt:lpstr>
      <vt:lpstr>Points to Remember</vt:lpstr>
      <vt:lpstr>Let’s talk about what to avoid?</vt:lpstr>
      <vt:lpstr>Therapies to Avoid</vt:lpstr>
      <vt:lpstr>Fluid Restriction</vt:lpstr>
      <vt:lpstr>Vasopressin receptor antagonist</vt:lpstr>
      <vt:lpstr>PowerPoint Presentation</vt:lpstr>
      <vt:lpstr>PowerPoint Presentation</vt:lpstr>
      <vt:lpstr>Tolvaptan-Induced Liver Injury</vt:lpstr>
      <vt:lpstr>Tolvaptan in Liver Transplantation</vt:lpstr>
      <vt:lpstr>Demeclocycline</vt:lpstr>
      <vt:lpstr>Management of Hyponatremia in Cirrhosis</vt:lpstr>
      <vt:lpstr>PowerPoint Presentation</vt:lpstr>
      <vt:lpstr>Stepwise Approach</vt:lpstr>
      <vt:lpstr>Therapy for Severe Hyponatremia</vt:lpstr>
      <vt:lpstr>Albumin Infusions</vt:lpstr>
      <vt:lpstr>Hypertonic Saline</vt:lpstr>
      <vt:lpstr>Hemodialysis</vt:lpstr>
      <vt:lpstr>Hyponatremia Management</vt:lpstr>
      <vt:lpstr>PowerPoint Presentation</vt:lpstr>
      <vt:lpstr>PowerPoint Presentation</vt:lpstr>
      <vt:lpstr>Hyponatremia in Context of Liver Transplant</vt:lpstr>
      <vt:lpstr>Liver Transplant Outcomes in Hyponatremics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Rapid correction of hyponatremia</vt:lpstr>
      <vt:lpstr>PowerPoint Presentation</vt:lpstr>
      <vt:lpstr>Osmotic Demyelination Syndrome (ODS)</vt:lpstr>
      <vt:lpstr>PowerPoint Presentation</vt:lpstr>
      <vt:lpstr>Intraoperative Risk Factors for Overcorrection</vt:lpstr>
      <vt:lpstr>PowerPoint Presentation</vt:lpstr>
      <vt:lpstr>PowerPoint Presentation</vt:lpstr>
      <vt:lpstr>No Standard of Care Between Transplant Centers</vt:lpstr>
      <vt:lpstr>PowerPoint Presentation</vt:lpstr>
      <vt:lpstr>PowerPoint Presentation</vt:lpstr>
      <vt:lpstr>PowerPoint Presentation</vt:lpstr>
      <vt:lpstr>Take-Home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Hyponatremia in Liver Transplantation</dc:title>
  <dc:creator>Almeqdadi, Mohammad</dc:creator>
  <cp:lastModifiedBy>Almeqdadi, Mohammad</cp:lastModifiedBy>
  <cp:revision>245</cp:revision>
  <dcterms:created xsi:type="dcterms:W3CDTF">2023-06-03T17:11:25Z</dcterms:created>
  <dcterms:modified xsi:type="dcterms:W3CDTF">2023-06-05T10:56:34Z</dcterms:modified>
</cp:coreProperties>
</file>