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4" r:id="rId5"/>
    <p:sldId id="273" r:id="rId6"/>
    <p:sldId id="262" r:id="rId7"/>
    <p:sldId id="265" r:id="rId8"/>
    <p:sldId id="272" r:id="rId9"/>
    <p:sldId id="280" r:id="rId10"/>
    <p:sldId id="274" r:id="rId11"/>
    <p:sldId id="271" r:id="rId12"/>
    <p:sldId id="281" r:id="rId13"/>
    <p:sldId id="275" r:id="rId14"/>
    <p:sldId id="259" r:id="rId15"/>
    <p:sldId id="267" r:id="rId16"/>
    <p:sldId id="276" r:id="rId17"/>
    <p:sldId id="277" r:id="rId18"/>
    <p:sldId id="268" r:id="rId19"/>
    <p:sldId id="278" r:id="rId20"/>
    <p:sldId id="279" r:id="rId21"/>
    <p:sldId id="269" r:id="rId22"/>
    <p:sldId id="282" r:id="rId23"/>
    <p:sldId id="266" r:id="rId24"/>
    <p:sldId id="260" r:id="rId25"/>
    <p:sldId id="270" r:id="rId26"/>
    <p:sldId id="261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57" autoAdjust="0"/>
    <p:restoredTop sz="96357" autoAdjust="0"/>
  </p:normalViewPr>
  <p:slideViewPr>
    <p:cSldViewPr snapToGrid="0">
      <p:cViewPr varScale="1">
        <p:scale>
          <a:sx n="175" d="100"/>
          <a:sy n="175" d="100"/>
        </p:scale>
        <p:origin x="16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A117-385F-B1D1-9618-2200FA6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29" y="1122363"/>
            <a:ext cx="1074454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21E39-2BAB-16ED-5C71-444099EE0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729" y="3602038"/>
            <a:ext cx="1074454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DF39D-58BD-2507-BA16-438BFA6F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6B3B3-4708-8446-436B-4C430694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73DC6-55BC-2548-B313-961EFCB4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4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E693A-A5B4-BFFC-6F09-62306523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D19A-E8D2-20B5-8D55-763D82983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68E3F-21E6-1FE7-58A7-BBDD9880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139AA-2D61-B958-2550-79ACD461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E4F55-B434-B57F-3299-5B5CBB79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D1BD-846B-58EE-5468-D9F96606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E9CE0-BB4C-F550-C4E1-36C94B1A9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8FC67-92B3-B108-8413-9F65A903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85585-CE3B-0E8C-83FB-0E34B5F0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9AFFB-04E3-60C0-51A8-BE4D4351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4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9BEF-C7B8-52F1-C4B8-F5307687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7C1E6-3D62-B09B-D599-06058792C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9A0E2-8CF3-A6CB-C527-3A5375CEE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A756D-B028-4141-1F96-B79CBBC0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DCD93-2B59-D6A9-25A1-7D162C14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769BF-97A0-DAC7-5D86-AA203195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BE58-E627-5278-390F-E3B78F70F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D37C4-0A8D-15B1-21F6-5035C1FDA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8F487-B379-6159-9CFA-0B021E069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329D4-B44C-66AD-38B6-7B541BB26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6B507-EFA5-6031-60A5-2E8E4A3B5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19925-A853-0278-E128-94D15FB8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92915-F858-8F71-17D7-A9D973EB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5AA4F-C1CE-E93F-50EE-1398B806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762C-1FE0-FDE0-8384-92930D1C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4A10E0-B8B0-8835-DDF8-6D3463D30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D49B9-DC1C-1B55-62A0-9C4EFC9E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56E51-7DDA-8BB6-7716-A290DA64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0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D4540-E1E6-0394-65F6-CBB0BAFD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22451-D3F2-F4FE-4A42-E8842FE7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C7EAB-833E-F897-2B3E-D850CAF0C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5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320F-DB1C-FA43-194F-76B6410BE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B237-D3C8-C4B2-92A2-5D6B4424A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AD638-7008-301D-125D-9A5B3D0A0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76D49-3F0C-5B1B-7151-DCB44B99A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4A0A2-6A18-1A68-38D1-11638A09B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3CE63-C1C0-2489-E08C-99EC83B8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8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C93B-22E7-BCF5-3B6F-054CA5682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2895FA-3E7B-4064-D34A-D7A50ED7A4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34B43-C14D-C276-9585-0C4979457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4C52F-1BB0-79A0-9938-CCB5141B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DBA57-E2E6-0F36-0B34-1598BCB9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17F1D-CE78-2991-AB3E-FB7DCC44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7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4C40-2570-F97D-C546-A8D643DD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F114-43DB-7B68-C056-04D14639A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83D9A-2933-5FA7-7414-12BBFE019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02813-FDA4-AD4A-266A-6A2AAA5A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775E-0E7F-CB80-9288-E1A2A426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5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12FB7-744B-BAF6-0239-9BBFAD042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E2961-DA1E-852A-B0F6-66026A95A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E2D7C-A3B8-BA0F-B24C-8D7A7B68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CA3F-74BA-5C4C-AA46-A34F565C3F76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847C-96EE-EF88-6AA7-0DDB5CFEC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C7ACD-7FA6-C6F6-BEB5-54A8AA78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5FC01-9CCE-4449-B0F0-32354B899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4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0FB9B-021C-6AC9-5DE9-8020CE4A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93" y="136525"/>
            <a:ext cx="113932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06CD2-2E99-EBFB-B417-B22F76B33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9393" y="1660633"/>
            <a:ext cx="11393214" cy="4516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143D1-4370-DF91-D26A-36DD6955B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3729" y="6356350"/>
            <a:ext cx="29721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6EA1CA3F-74BA-5C4C-AA46-A34F565C3F76}" type="datetimeFigureOut">
              <a:rPr lang="en-US" smtClean="0"/>
              <a:pPr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C34FB-7631-DE6A-A8B4-C2F03C511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66893" y="6356350"/>
            <a:ext cx="4458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46388-6624-A461-5F96-819D47712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96129" y="6356350"/>
            <a:ext cx="29721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7A05FC01-9CCE-4449-B0F0-32354B8992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5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toon kidneys holding a sign&#10;&#10;Description automatically generated">
            <a:extLst>
              <a:ext uri="{FF2B5EF4-FFF2-40B4-BE49-F238E27FC236}">
                <a16:creationId xmlns:a16="http://schemas.microsoft.com/office/drawing/2014/main" id="{6C360F3F-3FDC-661F-FAB5-1706B5E5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227" y="4347303"/>
            <a:ext cx="3761344" cy="25106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A87F06-EE40-B9B2-0759-44A9075BD4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851" y="0"/>
            <a:ext cx="10744542" cy="1961398"/>
          </a:xfrm>
        </p:spPr>
        <p:txBody>
          <a:bodyPr/>
          <a:lstStyle/>
          <a:p>
            <a:r>
              <a:rPr lang="en-US" dirty="0"/>
              <a:t>Acute Kidney Injury and Liver Transplantation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E0118-C184-AA8E-6AFD-07A493E3F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51" y="1953618"/>
            <a:ext cx="10744542" cy="8476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9/26/2024</a:t>
            </a:r>
          </a:p>
          <a:p>
            <a:r>
              <a:rPr lang="en-US" dirty="0"/>
              <a:t>Mohammad Almeqdadi, MD</a:t>
            </a:r>
          </a:p>
        </p:txBody>
      </p:sp>
      <p:pic>
        <p:nvPicPr>
          <p:cNvPr id="13" name="Picture 12" descr="Cartoon of a liver&#10;&#10;Description automatically generated">
            <a:extLst>
              <a:ext uri="{FF2B5EF4-FFF2-40B4-BE49-F238E27FC236}">
                <a16:creationId xmlns:a16="http://schemas.microsoft.com/office/drawing/2014/main" id="{77D9E268-0943-0798-BBC5-3E059B4E6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893" y="2834196"/>
            <a:ext cx="4495069" cy="2571554"/>
          </a:xfrm>
          <a:prstGeom prst="rect">
            <a:avLst/>
          </a:prstGeom>
          <a:effectLst>
            <a:outerShdw blurRad="241300" dist="76200" dir="3300000" sx="103000" sy="103000" algn="t" rotWithShape="0">
              <a:prstClr val="black">
                <a:alpha val="2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365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79FA-0A5D-7083-1331-9E8A9B08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84321-3DCB-6E53-0EBC-204E56C91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Why does AKI happen in cirrhosis?</a:t>
            </a:r>
          </a:p>
          <a:p>
            <a:r>
              <a:rPr lang="en-US" dirty="0"/>
              <a:t>Why does AKI happen post liver transplant?</a:t>
            </a:r>
          </a:p>
          <a:p>
            <a:r>
              <a:rPr lang="en-US" dirty="0"/>
              <a:t>What are the pre-operative risk factors for AKI?</a:t>
            </a:r>
          </a:p>
          <a:p>
            <a:r>
              <a:rPr lang="en-US" dirty="0"/>
              <a:t>How to mitigate risk of post-liver transplant AKI?</a:t>
            </a:r>
          </a:p>
          <a:p>
            <a:r>
              <a:rPr lang="en-US" dirty="0"/>
              <a:t>How about SLK?</a:t>
            </a:r>
          </a:p>
        </p:txBody>
      </p:sp>
    </p:spTree>
    <p:extLst>
      <p:ext uri="{BB962C8B-B14F-4D97-AF65-F5344CB8AC3E}">
        <p14:creationId xmlns:p14="http://schemas.microsoft.com/office/powerpoint/2010/main" val="77983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B88EE-655E-F773-0AAE-BB9B40A42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91" y="92138"/>
            <a:ext cx="5488223" cy="760120"/>
          </a:xfrm>
        </p:spPr>
        <p:txBody>
          <a:bodyPr/>
          <a:lstStyle/>
          <a:p>
            <a:r>
              <a:rPr lang="en-US" dirty="0"/>
              <a:t>AKI in Cirrhosis</a:t>
            </a:r>
          </a:p>
        </p:txBody>
      </p:sp>
      <p:pic>
        <p:nvPicPr>
          <p:cNvPr id="5" name="Picture 4" descr="A diagram of the internal organs&#10;&#10;Description automatically generated">
            <a:extLst>
              <a:ext uri="{FF2B5EF4-FFF2-40B4-BE49-F238E27FC236}">
                <a16:creationId xmlns:a16="http://schemas.microsoft.com/office/drawing/2014/main" id="{4BC70353-065F-E935-4983-9583D0C3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516" y="0"/>
            <a:ext cx="61584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B68CC7-CACD-8AE1-EFD8-74D78A7E2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00" y="1092179"/>
            <a:ext cx="4887007" cy="5401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A2D254-BEE0-52D2-36B2-99DEC4948667}"/>
              </a:ext>
            </a:extLst>
          </p:cNvPr>
          <p:cNvSpPr txBox="1"/>
          <p:nvPr/>
        </p:nvSpPr>
        <p:spPr>
          <a:xfrm>
            <a:off x="0" y="6552198"/>
            <a:ext cx="6097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600" dirty="0"/>
              <a:t>Nat Rev Gastroenterol Hepatol. 2015 Dec;12(12):711-9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6AFAD2-1607-8D46-CF3C-0CCEF452E760}"/>
              </a:ext>
            </a:extLst>
          </p:cNvPr>
          <p:cNvSpPr txBox="1"/>
          <p:nvPr/>
        </p:nvSpPr>
        <p:spPr>
          <a:xfrm>
            <a:off x="6079724" y="6552198"/>
            <a:ext cx="6112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/>
              <a:t>N Engl J Med. 2023 Feb 23;388(8):733-745</a:t>
            </a:r>
          </a:p>
        </p:txBody>
      </p:sp>
    </p:spTree>
    <p:extLst>
      <p:ext uri="{BB962C8B-B14F-4D97-AF65-F5344CB8AC3E}">
        <p14:creationId xmlns:p14="http://schemas.microsoft.com/office/powerpoint/2010/main" val="226135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7763-CE14-C954-0B7C-3A67B7A3A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93" y="136525"/>
            <a:ext cx="11393214" cy="893285"/>
          </a:xfrm>
        </p:spPr>
        <p:txBody>
          <a:bodyPr/>
          <a:lstStyle/>
          <a:p>
            <a:r>
              <a:rPr lang="en-US" dirty="0"/>
              <a:t>Important points for AKI in liver transplant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4489A-61D6-55D7-B1EE-16A9DB8E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555" y="1225118"/>
            <a:ext cx="11546890" cy="5632882"/>
          </a:xfrm>
        </p:spPr>
        <p:txBody>
          <a:bodyPr>
            <a:normAutofit/>
          </a:bodyPr>
          <a:lstStyle/>
          <a:p>
            <a:r>
              <a:rPr lang="en-US" sz="2400" dirty="0"/>
              <a:t>Renal dysfunction after LT has been shown to be associated with higher post-LT mortality. </a:t>
            </a:r>
          </a:p>
          <a:p>
            <a:pPr lvl="1"/>
            <a:r>
              <a:rPr lang="en-US" sz="2000" dirty="0"/>
              <a:t>28-day and 1-year mortality rates were 15.5% and 25.9%, respectively, in transplant recipients who developed AKI after LT compared with 0% and 3.9%, respectively, in those who did not develop AKI - </a:t>
            </a:r>
            <a:r>
              <a:rPr lang="en-US" sz="2000" i="1" dirty="0"/>
              <a:t>Transplant Proc 2010;42:3634- 3638</a:t>
            </a:r>
          </a:p>
          <a:p>
            <a:endParaRPr lang="en-US" sz="2400" i="1" dirty="0"/>
          </a:p>
          <a:p>
            <a:r>
              <a:rPr lang="en-US" sz="2400" dirty="0"/>
              <a:t>Creatinine &gt; 1.9 pre transplant shown to have OR of 3.6 for need of RRT post </a:t>
            </a:r>
            <a:r>
              <a:rPr lang="en-US" sz="2400" dirty="0" err="1"/>
              <a:t>LTxp</a:t>
            </a:r>
            <a:r>
              <a:rPr lang="en-US" sz="2400" dirty="0"/>
              <a:t> - </a:t>
            </a:r>
            <a:r>
              <a:rPr lang="en-US" sz="2400" i="1" dirty="0"/>
              <a:t>Transplantation 2004;78:1048- 1054</a:t>
            </a:r>
          </a:p>
          <a:p>
            <a:r>
              <a:rPr lang="en-US" sz="2400" dirty="0"/>
              <a:t>While studies show poor short- and long-term survival (&gt;1 year) for ESLD patients requiring RRT, it remains essential for potential liver transplant candidates to provide critical life-sustaining support.  </a:t>
            </a:r>
          </a:p>
          <a:p>
            <a:pPr lvl="1"/>
            <a:r>
              <a:rPr lang="en-US" sz="2000" dirty="0"/>
              <a:t>The duration of RRT in AKI is a key eligibility criterion for simultaneous liver-kidney transplantation (SLKT) candidacy. - </a:t>
            </a:r>
            <a:r>
              <a:rPr lang="en-US" sz="2000" i="1" dirty="0"/>
              <a:t>Clin J Am Soc Nephrol. 2018;13:16–25, Medicine (</a:t>
            </a:r>
            <a:r>
              <a:rPr lang="en-US" sz="2000" i="1" dirty="0" err="1"/>
              <a:t>Baltim</a:t>
            </a:r>
            <a:r>
              <a:rPr lang="en-US" sz="2000" i="1" dirty="0"/>
              <a:t>). 2016;95:e3057</a:t>
            </a:r>
          </a:p>
        </p:txBody>
      </p:sp>
    </p:spTree>
    <p:extLst>
      <p:ext uri="{BB962C8B-B14F-4D97-AF65-F5344CB8AC3E}">
        <p14:creationId xmlns:p14="http://schemas.microsoft.com/office/powerpoint/2010/main" val="189568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892456-F98A-2887-1A3D-0D170253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 for AKI post liver transplant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E485E-ADEA-2BCD-84D9-DB9AB8CEA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2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745D2F-7B3A-6568-5E02-5E7B4D27D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891" y="315686"/>
            <a:ext cx="6585132" cy="6226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14EE05-B673-0592-E4CC-3C05B9C7879D}"/>
              </a:ext>
            </a:extLst>
          </p:cNvPr>
          <p:cNvSpPr txBox="1"/>
          <p:nvPr/>
        </p:nvSpPr>
        <p:spPr>
          <a:xfrm>
            <a:off x="0" y="6488668"/>
            <a:ext cx="1220152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dirty="0"/>
              <a:t>Liver </a:t>
            </a:r>
            <a:r>
              <a:rPr lang="en-US" dirty="0" err="1"/>
              <a:t>Transpl</a:t>
            </a:r>
            <a:r>
              <a:rPr lang="en-US" dirty="0"/>
              <a:t>. 2021 Nov;27(11):1653-1664</a:t>
            </a:r>
          </a:p>
        </p:txBody>
      </p:sp>
    </p:spTree>
    <p:extLst>
      <p:ext uri="{BB962C8B-B14F-4D97-AF65-F5344CB8AC3E}">
        <p14:creationId xmlns:p14="http://schemas.microsoft.com/office/powerpoint/2010/main" val="366423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8150EF0-BA4D-0B41-B93B-B0E191E12EBC}"/>
              </a:ext>
            </a:extLst>
          </p:cNvPr>
          <p:cNvGrpSpPr/>
          <p:nvPr/>
        </p:nvGrpSpPr>
        <p:grpSpPr>
          <a:xfrm>
            <a:off x="303320" y="736378"/>
            <a:ext cx="11585360" cy="5385244"/>
            <a:chOff x="-26634" y="850382"/>
            <a:chExt cx="12218634" cy="559036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3DBEBD-C6F4-BEC7-CA1A-C9D9E0989386}"/>
                </a:ext>
              </a:extLst>
            </p:cNvPr>
            <p:cNvGrpSpPr/>
            <p:nvPr/>
          </p:nvGrpSpPr>
          <p:grpSpPr>
            <a:xfrm>
              <a:off x="-26634" y="850382"/>
              <a:ext cx="12218634" cy="5590367"/>
              <a:chOff x="-26634" y="1267633"/>
              <a:chExt cx="12218634" cy="559036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C046C18-D2D4-4708-0E29-B6758C4F18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6557375"/>
                <a:ext cx="12192000" cy="300625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8CAAA33A-33F5-8486-EDF4-9C3D71CF6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5209743"/>
                <a:ext cx="12192000" cy="1238616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71FEB32-A578-AA8A-894B-A3CE098C20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6634" y="1267633"/>
                <a:ext cx="12192000" cy="2083358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30FB762-0108-0DD9-9438-167990F6AF1F}"/>
                  </a:ext>
                </a:extLst>
              </p:cNvPr>
              <p:cNvGrpSpPr/>
              <p:nvPr/>
            </p:nvGrpSpPr>
            <p:grpSpPr>
              <a:xfrm>
                <a:off x="-18209" y="3353566"/>
                <a:ext cx="9683555" cy="1868167"/>
                <a:chOff x="-9331" y="3309176"/>
                <a:chExt cx="9683555" cy="1868167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7EBA5833-67D9-CAD6-FA50-CEC7B2D089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-9331" y="3309176"/>
                  <a:ext cx="9683555" cy="1868167"/>
                </a:xfrm>
                <a:prstGeom prst="rect">
                  <a:avLst/>
                </a:prstGeom>
              </p:spPr>
            </p:pic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C324AFD-8E96-FD7B-714B-652BD6D5FB81}"/>
                    </a:ext>
                  </a:extLst>
                </p:cNvPr>
                <p:cNvSpPr/>
                <p:nvPr/>
              </p:nvSpPr>
              <p:spPr>
                <a:xfrm>
                  <a:off x="79375" y="4041775"/>
                  <a:ext cx="323850" cy="1135568"/>
                </a:xfrm>
                <a:prstGeom prst="rect">
                  <a:avLst/>
                </a:prstGeom>
                <a:solidFill>
                  <a:srgbClr val="E7E6E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1BE3F3-CC0A-A96C-B2C2-8F43C3CEC970}"/>
                </a:ext>
              </a:extLst>
            </p:cNvPr>
            <p:cNvSpPr txBox="1"/>
            <p:nvPr/>
          </p:nvSpPr>
          <p:spPr>
            <a:xfrm>
              <a:off x="204186" y="1580225"/>
              <a:ext cx="1890255" cy="3834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Pre Txp Factors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D4A1E6-B429-8230-AEA4-B572A982E33A}"/>
                </a:ext>
              </a:extLst>
            </p:cNvPr>
            <p:cNvSpPr txBox="1"/>
            <p:nvPr/>
          </p:nvSpPr>
          <p:spPr>
            <a:xfrm>
              <a:off x="204185" y="3685732"/>
              <a:ext cx="2033012" cy="3834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Intra Txp Factors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FDAB24-E87B-CD62-1056-4B254F969ED4}"/>
                </a:ext>
              </a:extLst>
            </p:cNvPr>
            <p:cNvSpPr txBox="1"/>
            <p:nvPr/>
          </p:nvSpPr>
          <p:spPr>
            <a:xfrm>
              <a:off x="97654" y="5287637"/>
              <a:ext cx="2007923" cy="3834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Post Txp Factors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D810C3A-FAF0-6E26-C07B-349AD59F4277}"/>
              </a:ext>
            </a:extLst>
          </p:cNvPr>
          <p:cNvSpPr txBox="1"/>
          <p:nvPr/>
        </p:nvSpPr>
        <p:spPr>
          <a:xfrm>
            <a:off x="6097480" y="64886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Nephrol </a:t>
            </a:r>
            <a:r>
              <a:rPr lang="en-US" dirty="0" err="1"/>
              <a:t>Ther</a:t>
            </a:r>
            <a:r>
              <a:rPr lang="en-US" dirty="0"/>
              <a:t>. 2022 Apr;18(2):89-103</a:t>
            </a:r>
          </a:p>
        </p:txBody>
      </p:sp>
    </p:spTree>
    <p:extLst>
      <p:ext uri="{BB962C8B-B14F-4D97-AF65-F5344CB8AC3E}">
        <p14:creationId xmlns:p14="http://schemas.microsoft.com/office/powerpoint/2010/main" val="487178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8889D-0BA6-8618-9E8F-90443B55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34" y="177144"/>
            <a:ext cx="9305732" cy="60558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14A3FC-5A64-C51B-FF86-476E0123C31E}"/>
              </a:ext>
            </a:extLst>
          </p:cNvPr>
          <p:cNvSpPr txBox="1"/>
          <p:nvPr/>
        </p:nvSpPr>
        <p:spPr>
          <a:xfrm>
            <a:off x="0" y="6488668"/>
            <a:ext cx="1219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</a:t>
            </a:r>
            <a:r>
              <a:rPr lang="en-US" dirty="0" err="1"/>
              <a:t>Transpl</a:t>
            </a:r>
            <a:r>
              <a:rPr lang="en-US" dirty="0"/>
              <a:t>. 2020 Jun;26(6):799-810</a:t>
            </a:r>
          </a:p>
        </p:txBody>
      </p:sp>
    </p:spTree>
    <p:extLst>
      <p:ext uri="{BB962C8B-B14F-4D97-AF65-F5344CB8AC3E}">
        <p14:creationId xmlns:p14="http://schemas.microsoft.com/office/powerpoint/2010/main" val="267102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8889D-0BA6-8618-9E8F-90443B55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34" y="177144"/>
            <a:ext cx="9305732" cy="60558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14A3FC-5A64-C51B-FF86-476E0123C31E}"/>
              </a:ext>
            </a:extLst>
          </p:cNvPr>
          <p:cNvSpPr txBox="1"/>
          <p:nvPr/>
        </p:nvSpPr>
        <p:spPr>
          <a:xfrm>
            <a:off x="0" y="6488668"/>
            <a:ext cx="1219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</a:t>
            </a:r>
            <a:r>
              <a:rPr lang="en-US" dirty="0" err="1"/>
              <a:t>Transpl</a:t>
            </a:r>
            <a:r>
              <a:rPr lang="en-US" dirty="0"/>
              <a:t>. 2020 Jun;26(6):799-810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B1AFE-66D7-96D0-AE32-02997E4BA7B3}"/>
              </a:ext>
            </a:extLst>
          </p:cNvPr>
          <p:cNvSpPr/>
          <p:nvPr/>
        </p:nvSpPr>
        <p:spPr>
          <a:xfrm>
            <a:off x="1562470" y="4502150"/>
            <a:ext cx="8851037" cy="15633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53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57EB-8395-EBD0-7D89-8C5EED42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type of donor matter?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6E01E-389C-2218-5509-6752C2D54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DCD vs DBD vs LDLT</a:t>
            </a:r>
          </a:p>
        </p:txBody>
      </p:sp>
    </p:spTree>
    <p:extLst>
      <p:ext uri="{BB962C8B-B14F-4D97-AF65-F5344CB8AC3E}">
        <p14:creationId xmlns:p14="http://schemas.microsoft.com/office/powerpoint/2010/main" val="3078511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ECD32-AB0F-2305-CE8D-CEFC2E17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290791"/>
            <a:ext cx="10326541" cy="5753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B2FE5E-A87C-9C48-838D-6F82E4681D6C}"/>
              </a:ext>
            </a:extLst>
          </p:cNvPr>
          <p:cNvSpPr txBox="1"/>
          <p:nvPr/>
        </p:nvSpPr>
        <p:spPr>
          <a:xfrm>
            <a:off x="0" y="6488668"/>
            <a:ext cx="1219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</a:t>
            </a:r>
            <a:r>
              <a:rPr lang="en-US" dirty="0" err="1"/>
              <a:t>Transpl</a:t>
            </a:r>
            <a:r>
              <a:rPr lang="en-US" dirty="0"/>
              <a:t>. 2020 Jun;26(6):799-810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32A6F-C519-3EF9-E403-45F14FCEFDA8}"/>
              </a:ext>
            </a:extLst>
          </p:cNvPr>
          <p:cNvSpPr/>
          <p:nvPr/>
        </p:nvSpPr>
        <p:spPr>
          <a:xfrm>
            <a:off x="1145219" y="3027285"/>
            <a:ext cx="9898602" cy="1473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46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8ECD32-AB0F-2305-CE8D-CEFC2E17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290791"/>
            <a:ext cx="10326541" cy="5753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B2FE5E-A87C-9C48-838D-6F82E4681D6C}"/>
              </a:ext>
            </a:extLst>
          </p:cNvPr>
          <p:cNvSpPr txBox="1"/>
          <p:nvPr/>
        </p:nvSpPr>
        <p:spPr>
          <a:xfrm>
            <a:off x="0" y="6488668"/>
            <a:ext cx="1219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Liver </a:t>
            </a:r>
            <a:r>
              <a:rPr lang="en-US" dirty="0" err="1"/>
              <a:t>Transpl</a:t>
            </a:r>
            <a:r>
              <a:rPr lang="en-US" dirty="0"/>
              <a:t>. 2020 Jun;26(6):799-810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32A6F-C519-3EF9-E403-45F14FCEFDA8}"/>
              </a:ext>
            </a:extLst>
          </p:cNvPr>
          <p:cNvSpPr/>
          <p:nvPr/>
        </p:nvSpPr>
        <p:spPr>
          <a:xfrm>
            <a:off x="1145219" y="4773335"/>
            <a:ext cx="9898602" cy="272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9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C8B7-4B2B-603F-AB9D-6B392362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mitigate the risk of AKI post liver transplant?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968F8-3EA7-F288-8407-217DE9DE9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3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014EE05-B673-0592-E4CC-3C05B9C7879D}"/>
              </a:ext>
            </a:extLst>
          </p:cNvPr>
          <p:cNvSpPr txBox="1"/>
          <p:nvPr/>
        </p:nvSpPr>
        <p:spPr>
          <a:xfrm>
            <a:off x="0" y="6488668"/>
            <a:ext cx="1220152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dirty="0"/>
              <a:t>Liver </a:t>
            </a:r>
            <a:r>
              <a:rPr lang="en-US" dirty="0" err="1"/>
              <a:t>Transpl</a:t>
            </a:r>
            <a:r>
              <a:rPr lang="en-US" dirty="0"/>
              <a:t>. 2021 Nov;27(11):1653-1664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E5CFD5-4145-F515-1EBA-4AF359FEB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16610"/>
            <a:ext cx="7772400" cy="522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93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the internal organs of the human body&#10;&#10;Description automatically generated">
            <a:extLst>
              <a:ext uri="{FF2B5EF4-FFF2-40B4-BE49-F238E27FC236}">
                <a16:creationId xmlns:a16="http://schemas.microsoft.com/office/drawing/2014/main" id="{44BC34FA-5AC8-3085-7EA6-DF2B2DB4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2" y="143570"/>
            <a:ext cx="6167022" cy="31782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259267-7AA5-32B8-D0EA-C153460B3846}"/>
              </a:ext>
            </a:extLst>
          </p:cNvPr>
          <p:cNvSpPr txBox="1"/>
          <p:nvPr/>
        </p:nvSpPr>
        <p:spPr>
          <a:xfrm>
            <a:off x="0" y="6488668"/>
            <a:ext cx="1219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i="1" dirty="0"/>
              <a:t>https://resources.wfsahq.org/atotw/anaesthesia-for-orthotopic-liver-transplantation/</a:t>
            </a:r>
          </a:p>
        </p:txBody>
      </p:sp>
      <p:pic>
        <p:nvPicPr>
          <p:cNvPr id="7" name="Picture 6" descr="A diagram of a clamping clamp&#10;&#10;Description automatically generated">
            <a:extLst>
              <a:ext uri="{FF2B5EF4-FFF2-40B4-BE49-F238E27FC236}">
                <a16:creationId xmlns:a16="http://schemas.microsoft.com/office/drawing/2014/main" id="{9B935CCE-E72E-2B3F-B5BF-9C94A4BF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20" y="3391959"/>
            <a:ext cx="5253348" cy="3096709"/>
          </a:xfrm>
          <a:prstGeom prst="rect">
            <a:avLst/>
          </a:prstGeom>
        </p:spPr>
      </p:pic>
      <p:pic>
        <p:nvPicPr>
          <p:cNvPr id="9" name="Picture 8" descr="A diagram of the internal organs of the human body&#10;&#10;Description automatically generated">
            <a:extLst>
              <a:ext uri="{FF2B5EF4-FFF2-40B4-BE49-F238E27FC236}">
                <a16:creationId xmlns:a16="http://schemas.microsoft.com/office/drawing/2014/main" id="{51A81D31-E73E-E4EF-5787-83FBC64C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135" y="1054819"/>
            <a:ext cx="6411152" cy="4534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504BD-AF53-0033-8AA8-4259687551A7}"/>
              </a:ext>
            </a:extLst>
          </p:cNvPr>
          <p:cNvSpPr txBox="1"/>
          <p:nvPr/>
        </p:nvSpPr>
        <p:spPr>
          <a:xfrm>
            <a:off x="7205314" y="5433849"/>
            <a:ext cx="33907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AMBOSS GmbH</a:t>
            </a:r>
          </a:p>
        </p:txBody>
      </p:sp>
    </p:spTree>
    <p:extLst>
      <p:ext uri="{BB962C8B-B14F-4D97-AF65-F5344CB8AC3E}">
        <p14:creationId xmlns:p14="http://schemas.microsoft.com/office/powerpoint/2010/main" val="1114621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ructure of a chemical formula&#10;&#10;Description automatically generated">
            <a:extLst>
              <a:ext uri="{FF2B5EF4-FFF2-40B4-BE49-F238E27FC236}">
                <a16:creationId xmlns:a16="http://schemas.microsoft.com/office/drawing/2014/main" id="{74278974-B657-16E7-6158-5FE9C76AF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062" y="324035"/>
            <a:ext cx="5197876" cy="519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40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ructure of a chemical formula&#10;&#10;Description automatically generated">
            <a:extLst>
              <a:ext uri="{FF2B5EF4-FFF2-40B4-BE49-F238E27FC236}">
                <a16:creationId xmlns:a16="http://schemas.microsoft.com/office/drawing/2014/main" id="{74278974-B657-16E7-6158-5FE9C76AF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062" y="324035"/>
            <a:ext cx="5197876" cy="51978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A5BBB9-2693-E8E2-D346-847B2B4BEE20}"/>
              </a:ext>
            </a:extLst>
          </p:cNvPr>
          <p:cNvSpPr txBox="1"/>
          <p:nvPr/>
        </p:nvSpPr>
        <p:spPr>
          <a:xfrm>
            <a:off x="4851909" y="5887634"/>
            <a:ext cx="2488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atin typeface="Georgia" panose="02040502050405020303" pitchFamily="18" charset="0"/>
              </a:rPr>
              <a:t>Tacrolimus</a:t>
            </a:r>
          </a:p>
        </p:txBody>
      </p:sp>
    </p:spTree>
    <p:extLst>
      <p:ext uri="{BB962C8B-B14F-4D97-AF65-F5344CB8AC3E}">
        <p14:creationId xmlns:p14="http://schemas.microsoft.com/office/powerpoint/2010/main" val="4130189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kidney&#10;&#10;Description automatically generated">
            <a:extLst>
              <a:ext uri="{FF2B5EF4-FFF2-40B4-BE49-F238E27FC236}">
                <a16:creationId xmlns:a16="http://schemas.microsoft.com/office/drawing/2014/main" id="{A1F2ED3D-76E8-DBDC-18F2-009C258F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615" y="135483"/>
            <a:ext cx="8036770" cy="59152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FB1B91-CF23-3735-6E91-998DF42A5619}"/>
              </a:ext>
            </a:extLst>
          </p:cNvPr>
          <p:cNvSpPr txBox="1"/>
          <p:nvPr/>
        </p:nvSpPr>
        <p:spPr>
          <a:xfrm>
            <a:off x="0" y="6488668"/>
            <a:ext cx="12195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J Hepatol. 2011 May;54(5):1041-54</a:t>
            </a:r>
          </a:p>
        </p:txBody>
      </p:sp>
    </p:spTree>
    <p:extLst>
      <p:ext uri="{BB962C8B-B14F-4D97-AF65-F5344CB8AC3E}">
        <p14:creationId xmlns:p14="http://schemas.microsoft.com/office/powerpoint/2010/main" val="8752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AC83-92E6-BB41-219D-A2984B3B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prevent CNI nephrotoxicity?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61E4E-50CE-3FE8-9F52-41C6510FC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266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AC83-92E6-BB41-219D-A2984B3B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prevent CNI nephrotoxicity?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61E4E-50CE-3FE8-9F52-41C6510FC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Simple… DO NOT USE CNI?!!!</a:t>
            </a:r>
          </a:p>
        </p:txBody>
      </p:sp>
    </p:spTree>
    <p:extLst>
      <p:ext uri="{BB962C8B-B14F-4D97-AF65-F5344CB8AC3E}">
        <p14:creationId xmlns:p14="http://schemas.microsoft.com/office/powerpoint/2010/main" val="1718823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07150-CADA-E89B-8AEF-A4E535BF5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96" y="122001"/>
            <a:ext cx="10357608" cy="62602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95BBA6-727C-A7A5-145F-A8DDE6DE71D7}"/>
              </a:ext>
            </a:extLst>
          </p:cNvPr>
          <p:cNvSpPr txBox="1"/>
          <p:nvPr/>
        </p:nvSpPr>
        <p:spPr>
          <a:xfrm>
            <a:off x="0" y="6488668"/>
            <a:ext cx="1220152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dirty="0"/>
              <a:t>Liver </a:t>
            </a:r>
            <a:r>
              <a:rPr lang="en-US" dirty="0" err="1"/>
              <a:t>Transpl</a:t>
            </a:r>
            <a:r>
              <a:rPr lang="en-US" dirty="0"/>
              <a:t>. 2021 Nov;27(11):1653-1664</a:t>
            </a:r>
          </a:p>
        </p:txBody>
      </p:sp>
    </p:spTree>
    <p:extLst>
      <p:ext uri="{BB962C8B-B14F-4D97-AF65-F5344CB8AC3E}">
        <p14:creationId xmlns:p14="http://schemas.microsoft.com/office/powerpoint/2010/main" val="2273924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2940B6-A5F5-8285-2F91-E4CEE9254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36" y="694341"/>
            <a:ext cx="11179728" cy="546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0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black triangles with text&#10;&#10;Description automatically generated">
            <a:extLst>
              <a:ext uri="{FF2B5EF4-FFF2-40B4-BE49-F238E27FC236}">
                <a16:creationId xmlns:a16="http://schemas.microsoft.com/office/drawing/2014/main" id="{FEDB3B39-EBB1-674B-F8F0-F48C030C3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554" y="0"/>
            <a:ext cx="5330892" cy="6380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70C24E-0097-CBE0-8064-807171B87980}"/>
              </a:ext>
            </a:extLst>
          </p:cNvPr>
          <p:cNvSpPr txBox="1"/>
          <p:nvPr/>
        </p:nvSpPr>
        <p:spPr>
          <a:xfrm>
            <a:off x="6097480" y="648866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Nephrol </a:t>
            </a:r>
            <a:r>
              <a:rPr lang="en-US" dirty="0" err="1"/>
              <a:t>Ther</a:t>
            </a:r>
            <a:r>
              <a:rPr lang="en-US" dirty="0"/>
              <a:t>. 2022 Apr;18(2):89-103</a:t>
            </a:r>
          </a:p>
        </p:txBody>
      </p:sp>
    </p:spTree>
    <p:extLst>
      <p:ext uri="{BB962C8B-B14F-4D97-AF65-F5344CB8AC3E}">
        <p14:creationId xmlns:p14="http://schemas.microsoft.com/office/powerpoint/2010/main" val="3360889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668E77-ED70-3DAE-A4AF-FCDEFB41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23" y="0"/>
            <a:ext cx="9444954" cy="64150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3F0F04-A4BA-EFC1-3DEB-CB61D7F66A52}"/>
              </a:ext>
            </a:extLst>
          </p:cNvPr>
          <p:cNvSpPr txBox="1"/>
          <p:nvPr/>
        </p:nvSpPr>
        <p:spPr>
          <a:xfrm>
            <a:off x="6091238" y="6488668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Transplantation. 2024 Jul 1;108(7):1542-1550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73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E96A9-1195-2A21-83E4-18D6E941C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about pathway to SLK?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08F1-A671-1AB8-1FF2-46B217CB0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8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3F0F04-A4BA-EFC1-3DEB-CB61D7F66A52}"/>
              </a:ext>
            </a:extLst>
          </p:cNvPr>
          <p:cNvSpPr txBox="1"/>
          <p:nvPr/>
        </p:nvSpPr>
        <p:spPr>
          <a:xfrm>
            <a:off x="6091238" y="6488668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Transplantation. 2024 Jul 1;108(7):1542-1550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C01C8-5EED-96C4-DAFD-13182A840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85" y="142874"/>
            <a:ext cx="6336134" cy="5972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67E587-AF88-D76A-536C-46D32099B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419" y="4558567"/>
            <a:ext cx="2145506" cy="1575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D7D047-3C63-2725-0845-EE0726E9C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75" y="1470883"/>
            <a:ext cx="40132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43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DB1E-4FBB-2ABF-0D2F-302C7732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3826E-8ABC-6CB7-E524-C53F96641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624802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415</Words>
  <Application>Microsoft Macintosh PowerPoint</Application>
  <PresentationFormat>Widescreen</PresentationFormat>
  <Paragraphs>47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BlinkMacSystemFont</vt:lpstr>
      <vt:lpstr>Georgia</vt:lpstr>
      <vt:lpstr>Office Theme</vt:lpstr>
      <vt:lpstr>Acute Kidney Injury and Liver Transplantation</vt:lpstr>
      <vt:lpstr>Questions</vt:lpstr>
      <vt:lpstr>AKI in Cirrhosis</vt:lpstr>
      <vt:lpstr>Important points for AKI in liver transplant</vt:lpstr>
      <vt:lpstr>Risk factors for AKI post liver transplant</vt:lpstr>
      <vt:lpstr>PowerPoint Presentation</vt:lpstr>
      <vt:lpstr>PowerPoint Presentation</vt:lpstr>
      <vt:lpstr>PowerPoint Presentation</vt:lpstr>
      <vt:lpstr>PowerPoint Presentation</vt:lpstr>
      <vt:lpstr>Does type of donor matter?</vt:lpstr>
      <vt:lpstr>PowerPoint Presentation</vt:lpstr>
      <vt:lpstr>PowerPoint Presentation</vt:lpstr>
      <vt:lpstr>How can we mitigate the risk of AKI post liver transplant?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can we prevent CNI nephrotoxicity?</vt:lpstr>
      <vt:lpstr>How can we prevent CNI nephrotoxicity?</vt:lpstr>
      <vt:lpstr>PowerPoint Presentation</vt:lpstr>
      <vt:lpstr>PowerPoint Presentation</vt:lpstr>
      <vt:lpstr>PowerPoint Presentation</vt:lpstr>
      <vt:lpstr>PowerPoint Presentation</vt:lpstr>
      <vt:lpstr>How about pathway to SLK?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Almeqdadi, Mohammad</dc:creator>
  <cp:lastModifiedBy>Almeqdadi, Mohammad</cp:lastModifiedBy>
  <cp:revision>55</cp:revision>
  <dcterms:created xsi:type="dcterms:W3CDTF">2024-09-26T11:46:45Z</dcterms:created>
  <dcterms:modified xsi:type="dcterms:W3CDTF">2026-07-16T20:24:46Z</dcterms:modified>
</cp:coreProperties>
</file>