
<file path=[Content_Types].xml><?xml version="1.0" encoding="utf-8"?>
<Types xmlns="http://schemas.openxmlformats.org/package/2006/content-types">
  <Default Extension="emf" ContentType="image/x-emf"/>
  <Default Extension="jpeg" ContentType="image/jpeg"/>
  <Default Extension="m4v" ContentType="video/mp4"/>
  <Default Extension="png" ContentType="image/png"/>
  <Default Extension="rels" ContentType="application/vnd.openxmlformats-package.relationships+xml"/>
  <Default Extension="svg" ContentType="image/svg+xml"/>
  <Default Extension="tif" ContentType="image/tiff"/>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8"/>
  </p:notesMasterIdLst>
  <p:sldIdLst>
    <p:sldId id="256" r:id="rId2"/>
    <p:sldId id="274" r:id="rId3"/>
    <p:sldId id="389" r:id="rId4"/>
    <p:sldId id="390" r:id="rId5"/>
    <p:sldId id="382" r:id="rId6"/>
    <p:sldId id="383" r:id="rId7"/>
    <p:sldId id="392" r:id="rId8"/>
    <p:sldId id="364" r:id="rId9"/>
    <p:sldId id="272" r:id="rId10"/>
    <p:sldId id="391" r:id="rId11"/>
    <p:sldId id="277" r:id="rId12"/>
    <p:sldId id="278" r:id="rId13"/>
    <p:sldId id="271" r:id="rId14"/>
    <p:sldId id="270" r:id="rId15"/>
    <p:sldId id="394" r:id="rId16"/>
    <p:sldId id="269" r:id="rId17"/>
    <p:sldId id="268" r:id="rId18"/>
    <p:sldId id="339" r:id="rId19"/>
    <p:sldId id="279" r:id="rId20"/>
    <p:sldId id="282" r:id="rId21"/>
    <p:sldId id="395" r:id="rId22"/>
    <p:sldId id="397" r:id="rId23"/>
    <p:sldId id="396" r:id="rId24"/>
    <p:sldId id="398" r:id="rId25"/>
    <p:sldId id="309" r:id="rId26"/>
    <p:sldId id="402" r:id="rId27"/>
    <p:sldId id="403" r:id="rId28"/>
    <p:sldId id="404" r:id="rId29"/>
    <p:sldId id="372" r:id="rId30"/>
    <p:sldId id="283" r:id="rId31"/>
    <p:sldId id="280" r:id="rId32"/>
    <p:sldId id="281" r:id="rId33"/>
    <p:sldId id="365" r:id="rId34"/>
    <p:sldId id="337" r:id="rId35"/>
    <p:sldId id="338" r:id="rId36"/>
    <p:sldId id="326" r:id="rId37"/>
    <p:sldId id="399" r:id="rId38"/>
    <p:sldId id="329" r:id="rId39"/>
    <p:sldId id="330" r:id="rId40"/>
    <p:sldId id="367" r:id="rId41"/>
    <p:sldId id="368" r:id="rId42"/>
    <p:sldId id="351" r:id="rId43"/>
    <p:sldId id="400" r:id="rId44"/>
    <p:sldId id="352" r:id="rId45"/>
    <p:sldId id="342" r:id="rId46"/>
    <p:sldId id="369" r:id="rId47"/>
    <p:sldId id="284" r:id="rId48"/>
    <p:sldId id="378" r:id="rId49"/>
    <p:sldId id="384" r:id="rId50"/>
    <p:sldId id="385" r:id="rId51"/>
    <p:sldId id="377" r:id="rId52"/>
    <p:sldId id="393" r:id="rId53"/>
    <p:sldId id="285" r:id="rId54"/>
    <p:sldId id="343" r:id="rId55"/>
    <p:sldId id="344" r:id="rId56"/>
    <p:sldId id="345" r:id="rId57"/>
    <p:sldId id="355" r:id="rId58"/>
    <p:sldId id="275" r:id="rId59"/>
    <p:sldId id="286" r:id="rId60"/>
    <p:sldId id="287" r:id="rId61"/>
    <p:sldId id="288" r:id="rId62"/>
    <p:sldId id="289" r:id="rId63"/>
    <p:sldId id="320" r:id="rId64"/>
    <p:sldId id="362" r:id="rId65"/>
    <p:sldId id="347" r:id="rId66"/>
    <p:sldId id="350" r:id="rId67"/>
    <p:sldId id="348" r:id="rId68"/>
    <p:sldId id="349" r:id="rId69"/>
    <p:sldId id="333" r:id="rId70"/>
    <p:sldId id="334" r:id="rId71"/>
    <p:sldId id="335" r:id="rId72"/>
    <p:sldId id="353" r:id="rId73"/>
    <p:sldId id="341" r:id="rId74"/>
    <p:sldId id="379" r:id="rId75"/>
    <p:sldId id="386" r:id="rId76"/>
    <p:sldId id="388" r:id="rId77"/>
    <p:sldId id="380" r:id="rId78"/>
    <p:sldId id="387" r:id="rId79"/>
    <p:sldId id="381" r:id="rId80"/>
    <p:sldId id="370" r:id="rId81"/>
    <p:sldId id="318" r:id="rId82"/>
    <p:sldId id="346" r:id="rId83"/>
    <p:sldId id="317" r:id="rId84"/>
    <p:sldId id="363" r:id="rId85"/>
    <p:sldId id="401" r:id="rId86"/>
    <p:sldId id="371" r:id="rId8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E8E8E"/>
    <a:srgbClr val="FBF6E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4517"/>
    <p:restoredTop sz="96197"/>
  </p:normalViewPr>
  <p:slideViewPr>
    <p:cSldViewPr snapToGrid="0">
      <p:cViewPr varScale="1">
        <p:scale>
          <a:sx n="184" d="100"/>
          <a:sy n="184" d="100"/>
        </p:scale>
        <p:origin x="272"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viewProps" Target="viewProp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notesMaster" Target="notesMasters/notesMaster1.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ableStyles" Target="tableStyle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4CF3BC5-048B-274E-9687-CDBA233BC31F}" type="datetimeFigureOut">
              <a:rPr lang="en-US" smtClean="0"/>
              <a:t>9/22/26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391704-20C8-3D43-AD69-ED2701D0998D}" type="slidenum">
              <a:rPr lang="en-US" smtClean="0"/>
              <a:t>‹#›</a:t>
            </a:fld>
            <a:endParaRPr lang="en-US"/>
          </a:p>
        </p:txBody>
      </p:sp>
    </p:spTree>
    <p:extLst>
      <p:ext uri="{BB962C8B-B14F-4D97-AF65-F5344CB8AC3E}">
        <p14:creationId xmlns:p14="http://schemas.microsoft.com/office/powerpoint/2010/main" val="792173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DE5B78-7355-A548-8286-CAB71A76BF2D}" type="slidenum">
              <a:rPr lang="en-US" smtClean="0"/>
              <a:t>59</a:t>
            </a:fld>
            <a:endParaRPr lang="en-US"/>
          </a:p>
        </p:txBody>
      </p:sp>
    </p:spTree>
    <p:extLst>
      <p:ext uri="{BB962C8B-B14F-4D97-AF65-F5344CB8AC3E}">
        <p14:creationId xmlns:p14="http://schemas.microsoft.com/office/powerpoint/2010/main" val="35028279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4BEDD-C921-8E22-9471-8F0E368AA7E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8253D31-7737-4F47-0AFD-CC396D29966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0998E42-F7FC-AB8F-44BA-46FA9EC8FC19}"/>
              </a:ext>
            </a:extLst>
          </p:cNvPr>
          <p:cNvSpPr>
            <a:spLocks noGrp="1"/>
          </p:cNvSpPr>
          <p:nvPr>
            <p:ph type="dt" sz="half" idx="10"/>
          </p:nvPr>
        </p:nvSpPr>
        <p:spPr/>
        <p:txBody>
          <a:bodyPr/>
          <a:lstStyle>
            <a:lvl1pPr algn="ctr">
              <a:defRPr/>
            </a:lvl1pPr>
          </a:lstStyle>
          <a:p>
            <a:fld id="{0AF8F626-E4A8-984C-A9E0-30047CE4C2CE}" type="datetimeFigureOut">
              <a:rPr lang="en-US" smtClean="0"/>
              <a:pPr/>
              <a:t>9/22/26</a:t>
            </a:fld>
            <a:endParaRPr lang="en-US"/>
          </a:p>
        </p:txBody>
      </p:sp>
      <p:sp>
        <p:nvSpPr>
          <p:cNvPr id="5" name="Footer Placeholder 4">
            <a:extLst>
              <a:ext uri="{FF2B5EF4-FFF2-40B4-BE49-F238E27FC236}">
                <a16:creationId xmlns:a16="http://schemas.microsoft.com/office/drawing/2014/main" id="{AEFB1F3F-E81C-4D7B-4EED-722929369EF3}"/>
              </a:ext>
            </a:extLst>
          </p:cNvPr>
          <p:cNvSpPr>
            <a:spLocks noGrp="1"/>
          </p:cNvSpPr>
          <p:nvPr>
            <p:ph type="ftr" sz="quarter" idx="11"/>
          </p:nvPr>
        </p:nvSpPr>
        <p:spPr/>
        <p:txBody>
          <a:bodyPr/>
          <a:lstStyle>
            <a:lvl1pPr algn="ctr">
              <a:defRPr/>
            </a:lvl1pPr>
          </a:lstStyle>
          <a:p>
            <a:endParaRPr lang="en-US"/>
          </a:p>
        </p:txBody>
      </p:sp>
      <p:sp>
        <p:nvSpPr>
          <p:cNvPr id="6" name="Slide Number Placeholder 5">
            <a:extLst>
              <a:ext uri="{FF2B5EF4-FFF2-40B4-BE49-F238E27FC236}">
                <a16:creationId xmlns:a16="http://schemas.microsoft.com/office/drawing/2014/main" id="{DF553854-270C-BA28-C55C-5249921DAB03}"/>
              </a:ext>
            </a:extLst>
          </p:cNvPr>
          <p:cNvSpPr>
            <a:spLocks noGrp="1"/>
          </p:cNvSpPr>
          <p:nvPr>
            <p:ph type="sldNum" sz="quarter" idx="12"/>
          </p:nvPr>
        </p:nvSpPr>
        <p:spPr/>
        <p:txBody>
          <a:bodyPr/>
          <a:lstStyle>
            <a:lvl1pPr algn="ctr">
              <a:defRPr/>
            </a:lvl1pPr>
          </a:lstStyle>
          <a:p>
            <a:fld id="{175405C3-3814-5C4A-B3C9-251C4440F8F1}" type="slidenum">
              <a:rPr lang="en-US" smtClean="0"/>
              <a:pPr/>
              <a:t>‹#›</a:t>
            </a:fld>
            <a:endParaRPr lang="en-US"/>
          </a:p>
        </p:txBody>
      </p:sp>
    </p:spTree>
    <p:extLst>
      <p:ext uri="{BB962C8B-B14F-4D97-AF65-F5344CB8AC3E}">
        <p14:creationId xmlns:p14="http://schemas.microsoft.com/office/powerpoint/2010/main" val="20336083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F81A52-F2EF-620C-740A-737FA9615D3B}"/>
              </a:ext>
            </a:extLst>
          </p:cNvPr>
          <p:cNvSpPr>
            <a:spLocks noGrp="1"/>
          </p:cNvSpPr>
          <p:nvPr>
            <p:ph type="title"/>
          </p:nvPr>
        </p:nvSpPr>
        <p:spPr/>
        <p:txBody>
          <a:bodyPr/>
          <a:lstStyle>
            <a:lvl1pPr algn="ctr">
              <a:defRPr/>
            </a:lvl1pPr>
          </a:lstStyle>
          <a:p>
            <a:r>
              <a:rPr lang="en-US"/>
              <a:t>Click to edit Master title style</a:t>
            </a:r>
          </a:p>
        </p:txBody>
      </p:sp>
      <p:sp>
        <p:nvSpPr>
          <p:cNvPr id="3" name="Content Placeholder 2">
            <a:extLst>
              <a:ext uri="{FF2B5EF4-FFF2-40B4-BE49-F238E27FC236}">
                <a16:creationId xmlns:a16="http://schemas.microsoft.com/office/drawing/2014/main" id="{E3FBC1F4-6DA5-4E47-85C9-BE4E66783B7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8D04CC-B99E-EB91-DBC7-FFFFD88B55BA}"/>
              </a:ext>
            </a:extLst>
          </p:cNvPr>
          <p:cNvSpPr>
            <a:spLocks noGrp="1"/>
          </p:cNvSpPr>
          <p:nvPr>
            <p:ph type="dt" sz="half" idx="10"/>
          </p:nvPr>
        </p:nvSpPr>
        <p:spPr/>
        <p:txBody>
          <a:bodyPr/>
          <a:lstStyle/>
          <a:p>
            <a:fld id="{0AF8F626-E4A8-984C-A9E0-30047CE4C2CE}" type="datetimeFigureOut">
              <a:rPr lang="en-US" smtClean="0"/>
              <a:t>9/22/26</a:t>
            </a:fld>
            <a:endParaRPr lang="en-US"/>
          </a:p>
        </p:txBody>
      </p:sp>
      <p:sp>
        <p:nvSpPr>
          <p:cNvPr id="5" name="Footer Placeholder 4">
            <a:extLst>
              <a:ext uri="{FF2B5EF4-FFF2-40B4-BE49-F238E27FC236}">
                <a16:creationId xmlns:a16="http://schemas.microsoft.com/office/drawing/2014/main" id="{D3DBCD17-885E-AEAA-C2F9-DBB2B2D417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B0BD17-3E19-8B48-7E28-BC6175005223}"/>
              </a:ext>
            </a:extLst>
          </p:cNvPr>
          <p:cNvSpPr>
            <a:spLocks noGrp="1"/>
          </p:cNvSpPr>
          <p:nvPr>
            <p:ph type="sldNum" sz="quarter" idx="12"/>
          </p:nvPr>
        </p:nvSpPr>
        <p:spPr/>
        <p:txBody>
          <a:bodyPr/>
          <a:lstStyle/>
          <a:p>
            <a:fld id="{175405C3-3814-5C4A-B3C9-251C4440F8F1}" type="slidenum">
              <a:rPr lang="en-US" smtClean="0"/>
              <a:t>‹#›</a:t>
            </a:fld>
            <a:endParaRPr lang="en-US"/>
          </a:p>
        </p:txBody>
      </p:sp>
    </p:spTree>
    <p:extLst>
      <p:ext uri="{BB962C8B-B14F-4D97-AF65-F5344CB8AC3E}">
        <p14:creationId xmlns:p14="http://schemas.microsoft.com/office/powerpoint/2010/main" val="9838297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C5996-3CA2-45CF-9D01-67C34A798FC3}"/>
              </a:ext>
            </a:extLst>
          </p:cNvPr>
          <p:cNvSpPr>
            <a:spLocks noGrp="1"/>
          </p:cNvSpPr>
          <p:nvPr>
            <p:ph type="title"/>
          </p:nvPr>
        </p:nvSpPr>
        <p:spPr>
          <a:xfrm>
            <a:off x="831850" y="1709738"/>
            <a:ext cx="10515600" cy="2852737"/>
          </a:xfrm>
        </p:spPr>
        <p:txBody>
          <a:bodyPr anchor="b"/>
          <a:lstStyle>
            <a:lvl1pPr algn="ctr">
              <a:defRPr sz="6000"/>
            </a:lvl1pPr>
          </a:lstStyle>
          <a:p>
            <a:r>
              <a:rPr lang="en-US"/>
              <a:t>Click to edit Master title style</a:t>
            </a:r>
          </a:p>
        </p:txBody>
      </p:sp>
      <p:sp>
        <p:nvSpPr>
          <p:cNvPr id="3" name="Text Placeholder 2">
            <a:extLst>
              <a:ext uri="{FF2B5EF4-FFF2-40B4-BE49-F238E27FC236}">
                <a16:creationId xmlns:a16="http://schemas.microsoft.com/office/drawing/2014/main" id="{901E365F-C85F-7A21-A144-1DE66627F148}"/>
              </a:ext>
            </a:extLst>
          </p:cNvPr>
          <p:cNvSpPr>
            <a:spLocks noGrp="1"/>
          </p:cNvSpPr>
          <p:nvPr>
            <p:ph type="body" idx="1"/>
          </p:nvPr>
        </p:nvSpPr>
        <p:spPr>
          <a:xfrm>
            <a:off x="831850" y="4589463"/>
            <a:ext cx="10515600"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86334FB-9A35-3FBB-B8E3-6A7DDC84D3B0}"/>
              </a:ext>
            </a:extLst>
          </p:cNvPr>
          <p:cNvSpPr>
            <a:spLocks noGrp="1"/>
          </p:cNvSpPr>
          <p:nvPr>
            <p:ph type="dt" sz="half" idx="10"/>
          </p:nvPr>
        </p:nvSpPr>
        <p:spPr/>
        <p:txBody>
          <a:bodyPr/>
          <a:lstStyle>
            <a:lvl1pPr algn="ctr">
              <a:defRPr/>
            </a:lvl1pPr>
          </a:lstStyle>
          <a:p>
            <a:fld id="{0AF8F626-E4A8-984C-A9E0-30047CE4C2CE}" type="datetimeFigureOut">
              <a:rPr lang="en-US" smtClean="0"/>
              <a:pPr/>
              <a:t>9/22/26</a:t>
            </a:fld>
            <a:endParaRPr lang="en-US"/>
          </a:p>
        </p:txBody>
      </p:sp>
      <p:sp>
        <p:nvSpPr>
          <p:cNvPr id="5" name="Footer Placeholder 4">
            <a:extLst>
              <a:ext uri="{FF2B5EF4-FFF2-40B4-BE49-F238E27FC236}">
                <a16:creationId xmlns:a16="http://schemas.microsoft.com/office/drawing/2014/main" id="{9DE513D0-F463-E0DB-0B9E-AF26E5F4248D}"/>
              </a:ext>
            </a:extLst>
          </p:cNvPr>
          <p:cNvSpPr>
            <a:spLocks noGrp="1"/>
          </p:cNvSpPr>
          <p:nvPr>
            <p:ph type="ftr" sz="quarter" idx="11"/>
          </p:nvPr>
        </p:nvSpPr>
        <p:spPr/>
        <p:txBody>
          <a:bodyPr/>
          <a:lstStyle>
            <a:lvl1pPr algn="ctr">
              <a:defRPr/>
            </a:lvl1pPr>
          </a:lstStyle>
          <a:p>
            <a:endParaRPr lang="en-US"/>
          </a:p>
        </p:txBody>
      </p:sp>
      <p:sp>
        <p:nvSpPr>
          <p:cNvPr id="6" name="Slide Number Placeholder 5">
            <a:extLst>
              <a:ext uri="{FF2B5EF4-FFF2-40B4-BE49-F238E27FC236}">
                <a16:creationId xmlns:a16="http://schemas.microsoft.com/office/drawing/2014/main" id="{CFA8278C-BA91-2086-B82A-9EF97B73C596}"/>
              </a:ext>
            </a:extLst>
          </p:cNvPr>
          <p:cNvSpPr>
            <a:spLocks noGrp="1"/>
          </p:cNvSpPr>
          <p:nvPr>
            <p:ph type="sldNum" sz="quarter" idx="12"/>
          </p:nvPr>
        </p:nvSpPr>
        <p:spPr/>
        <p:txBody>
          <a:bodyPr/>
          <a:lstStyle>
            <a:lvl1pPr algn="ctr">
              <a:defRPr/>
            </a:lvl1pPr>
          </a:lstStyle>
          <a:p>
            <a:fld id="{175405C3-3814-5C4A-B3C9-251C4440F8F1}" type="slidenum">
              <a:rPr lang="en-US" smtClean="0"/>
              <a:pPr/>
              <a:t>‹#›</a:t>
            </a:fld>
            <a:endParaRPr lang="en-US"/>
          </a:p>
        </p:txBody>
      </p:sp>
    </p:spTree>
    <p:extLst>
      <p:ext uri="{BB962C8B-B14F-4D97-AF65-F5344CB8AC3E}">
        <p14:creationId xmlns:p14="http://schemas.microsoft.com/office/powerpoint/2010/main" val="13948195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89F7D7-AB50-1FE9-377F-C8DBDA9B22C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2EF90BC-7574-3D15-F540-47B5787F73E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67E28DD-E3DA-6F03-5962-66058C13A0A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3149167-46EA-6EC3-CB73-BA539CF0BA05}"/>
              </a:ext>
            </a:extLst>
          </p:cNvPr>
          <p:cNvSpPr>
            <a:spLocks noGrp="1"/>
          </p:cNvSpPr>
          <p:nvPr>
            <p:ph type="dt" sz="half" idx="10"/>
          </p:nvPr>
        </p:nvSpPr>
        <p:spPr/>
        <p:txBody>
          <a:bodyPr/>
          <a:lstStyle/>
          <a:p>
            <a:fld id="{0AF8F626-E4A8-984C-A9E0-30047CE4C2CE}" type="datetimeFigureOut">
              <a:rPr lang="en-US" smtClean="0"/>
              <a:t>9/22/26</a:t>
            </a:fld>
            <a:endParaRPr lang="en-US"/>
          </a:p>
        </p:txBody>
      </p:sp>
      <p:sp>
        <p:nvSpPr>
          <p:cNvPr id="6" name="Footer Placeholder 5">
            <a:extLst>
              <a:ext uri="{FF2B5EF4-FFF2-40B4-BE49-F238E27FC236}">
                <a16:creationId xmlns:a16="http://schemas.microsoft.com/office/drawing/2014/main" id="{4323258D-1752-4E39-594B-A971827943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52A63E9-FB63-FBF9-2321-0636EBA7D4F6}"/>
              </a:ext>
            </a:extLst>
          </p:cNvPr>
          <p:cNvSpPr>
            <a:spLocks noGrp="1"/>
          </p:cNvSpPr>
          <p:nvPr>
            <p:ph type="sldNum" sz="quarter" idx="12"/>
          </p:nvPr>
        </p:nvSpPr>
        <p:spPr/>
        <p:txBody>
          <a:bodyPr/>
          <a:lstStyle/>
          <a:p>
            <a:fld id="{175405C3-3814-5C4A-B3C9-251C4440F8F1}" type="slidenum">
              <a:rPr lang="en-US" smtClean="0"/>
              <a:t>‹#›</a:t>
            </a:fld>
            <a:endParaRPr lang="en-US"/>
          </a:p>
        </p:txBody>
      </p:sp>
    </p:spTree>
    <p:extLst>
      <p:ext uri="{BB962C8B-B14F-4D97-AF65-F5344CB8AC3E}">
        <p14:creationId xmlns:p14="http://schemas.microsoft.com/office/powerpoint/2010/main" val="34743635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7F72A-7E1A-5AD9-536A-987AB1A2694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06EE483-842F-1057-43D4-993D0541453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6A34231-92E3-0B15-35BB-F271E3670FE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5174144-6557-B6CF-29EF-4E1964467CB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0EC52B9-C3B9-1262-9088-85527BFC624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E21E83B-B2ED-C967-CE00-1E8DCDDD46CF}"/>
              </a:ext>
            </a:extLst>
          </p:cNvPr>
          <p:cNvSpPr>
            <a:spLocks noGrp="1"/>
          </p:cNvSpPr>
          <p:nvPr>
            <p:ph type="dt" sz="half" idx="10"/>
          </p:nvPr>
        </p:nvSpPr>
        <p:spPr/>
        <p:txBody>
          <a:bodyPr/>
          <a:lstStyle/>
          <a:p>
            <a:fld id="{0AF8F626-E4A8-984C-A9E0-30047CE4C2CE}" type="datetimeFigureOut">
              <a:rPr lang="en-US" smtClean="0"/>
              <a:t>9/22/26</a:t>
            </a:fld>
            <a:endParaRPr lang="en-US"/>
          </a:p>
        </p:txBody>
      </p:sp>
      <p:sp>
        <p:nvSpPr>
          <p:cNvPr id="8" name="Footer Placeholder 7">
            <a:extLst>
              <a:ext uri="{FF2B5EF4-FFF2-40B4-BE49-F238E27FC236}">
                <a16:creationId xmlns:a16="http://schemas.microsoft.com/office/drawing/2014/main" id="{3B7A96C8-D941-B9D4-8856-3CF8255057C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0BDD6D0-A2BF-EC10-0967-4DAAE3F0474D}"/>
              </a:ext>
            </a:extLst>
          </p:cNvPr>
          <p:cNvSpPr>
            <a:spLocks noGrp="1"/>
          </p:cNvSpPr>
          <p:nvPr>
            <p:ph type="sldNum" sz="quarter" idx="12"/>
          </p:nvPr>
        </p:nvSpPr>
        <p:spPr/>
        <p:txBody>
          <a:bodyPr/>
          <a:lstStyle/>
          <a:p>
            <a:fld id="{175405C3-3814-5C4A-B3C9-251C4440F8F1}" type="slidenum">
              <a:rPr lang="en-US" smtClean="0"/>
              <a:t>‹#›</a:t>
            </a:fld>
            <a:endParaRPr lang="en-US"/>
          </a:p>
        </p:txBody>
      </p:sp>
    </p:spTree>
    <p:extLst>
      <p:ext uri="{BB962C8B-B14F-4D97-AF65-F5344CB8AC3E}">
        <p14:creationId xmlns:p14="http://schemas.microsoft.com/office/powerpoint/2010/main" val="23446294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8E57A0-37B5-72B0-C0AC-BED81102016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DDC47C7-AF7E-DD6B-7A46-28552B621239}"/>
              </a:ext>
            </a:extLst>
          </p:cNvPr>
          <p:cNvSpPr>
            <a:spLocks noGrp="1"/>
          </p:cNvSpPr>
          <p:nvPr>
            <p:ph type="dt" sz="half" idx="10"/>
          </p:nvPr>
        </p:nvSpPr>
        <p:spPr/>
        <p:txBody>
          <a:bodyPr/>
          <a:lstStyle/>
          <a:p>
            <a:fld id="{0AF8F626-E4A8-984C-A9E0-30047CE4C2CE}" type="datetimeFigureOut">
              <a:rPr lang="en-US" smtClean="0"/>
              <a:t>9/22/26</a:t>
            </a:fld>
            <a:endParaRPr lang="en-US"/>
          </a:p>
        </p:txBody>
      </p:sp>
      <p:sp>
        <p:nvSpPr>
          <p:cNvPr id="4" name="Footer Placeholder 3">
            <a:extLst>
              <a:ext uri="{FF2B5EF4-FFF2-40B4-BE49-F238E27FC236}">
                <a16:creationId xmlns:a16="http://schemas.microsoft.com/office/drawing/2014/main" id="{0A70FC94-86B4-42DC-1209-3CF3FD41976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4E3F1B8-74E1-B724-BD8F-B462DE2F931A}"/>
              </a:ext>
            </a:extLst>
          </p:cNvPr>
          <p:cNvSpPr>
            <a:spLocks noGrp="1"/>
          </p:cNvSpPr>
          <p:nvPr>
            <p:ph type="sldNum" sz="quarter" idx="12"/>
          </p:nvPr>
        </p:nvSpPr>
        <p:spPr/>
        <p:txBody>
          <a:bodyPr/>
          <a:lstStyle/>
          <a:p>
            <a:fld id="{175405C3-3814-5C4A-B3C9-251C4440F8F1}" type="slidenum">
              <a:rPr lang="en-US" smtClean="0"/>
              <a:t>‹#›</a:t>
            </a:fld>
            <a:endParaRPr lang="en-US"/>
          </a:p>
        </p:txBody>
      </p:sp>
    </p:spTree>
    <p:extLst>
      <p:ext uri="{BB962C8B-B14F-4D97-AF65-F5344CB8AC3E}">
        <p14:creationId xmlns:p14="http://schemas.microsoft.com/office/powerpoint/2010/main" val="4258560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8FBF05A-06E0-DF3A-164C-2ABC7014A1B3}"/>
              </a:ext>
            </a:extLst>
          </p:cNvPr>
          <p:cNvSpPr>
            <a:spLocks noGrp="1"/>
          </p:cNvSpPr>
          <p:nvPr>
            <p:ph type="dt" sz="half" idx="10"/>
          </p:nvPr>
        </p:nvSpPr>
        <p:spPr/>
        <p:txBody>
          <a:bodyPr/>
          <a:lstStyle/>
          <a:p>
            <a:fld id="{0AF8F626-E4A8-984C-A9E0-30047CE4C2CE}" type="datetimeFigureOut">
              <a:rPr lang="en-US" smtClean="0"/>
              <a:t>9/22/26</a:t>
            </a:fld>
            <a:endParaRPr lang="en-US"/>
          </a:p>
        </p:txBody>
      </p:sp>
      <p:sp>
        <p:nvSpPr>
          <p:cNvPr id="3" name="Footer Placeholder 2">
            <a:extLst>
              <a:ext uri="{FF2B5EF4-FFF2-40B4-BE49-F238E27FC236}">
                <a16:creationId xmlns:a16="http://schemas.microsoft.com/office/drawing/2014/main" id="{B4D88ADF-7EE0-FAFC-8DD3-DC584FE5966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47ABFF4-3442-6C9D-0022-FDDBD4F5CB37}"/>
              </a:ext>
            </a:extLst>
          </p:cNvPr>
          <p:cNvSpPr>
            <a:spLocks noGrp="1"/>
          </p:cNvSpPr>
          <p:nvPr>
            <p:ph type="sldNum" sz="quarter" idx="12"/>
          </p:nvPr>
        </p:nvSpPr>
        <p:spPr/>
        <p:txBody>
          <a:bodyPr/>
          <a:lstStyle/>
          <a:p>
            <a:fld id="{175405C3-3814-5C4A-B3C9-251C4440F8F1}" type="slidenum">
              <a:rPr lang="en-US" smtClean="0"/>
              <a:t>‹#›</a:t>
            </a:fld>
            <a:endParaRPr lang="en-US"/>
          </a:p>
        </p:txBody>
      </p:sp>
    </p:spTree>
    <p:extLst>
      <p:ext uri="{BB962C8B-B14F-4D97-AF65-F5344CB8AC3E}">
        <p14:creationId xmlns:p14="http://schemas.microsoft.com/office/powerpoint/2010/main" val="27938359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107658-C008-6B93-B9A0-144AA0CCA3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0D2AC50-4302-CF6F-87FF-28B8B752AA0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FDDBAC7-C5B1-A4D4-C527-A34F40C883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D5E3D8E-3378-1075-8277-D7587F438921}"/>
              </a:ext>
            </a:extLst>
          </p:cNvPr>
          <p:cNvSpPr>
            <a:spLocks noGrp="1"/>
          </p:cNvSpPr>
          <p:nvPr>
            <p:ph type="dt" sz="half" idx="10"/>
          </p:nvPr>
        </p:nvSpPr>
        <p:spPr/>
        <p:txBody>
          <a:bodyPr/>
          <a:lstStyle/>
          <a:p>
            <a:fld id="{0AF8F626-E4A8-984C-A9E0-30047CE4C2CE}" type="datetimeFigureOut">
              <a:rPr lang="en-US" smtClean="0"/>
              <a:t>9/22/26</a:t>
            </a:fld>
            <a:endParaRPr lang="en-US"/>
          </a:p>
        </p:txBody>
      </p:sp>
      <p:sp>
        <p:nvSpPr>
          <p:cNvPr id="6" name="Footer Placeholder 5">
            <a:extLst>
              <a:ext uri="{FF2B5EF4-FFF2-40B4-BE49-F238E27FC236}">
                <a16:creationId xmlns:a16="http://schemas.microsoft.com/office/drawing/2014/main" id="{B3A88E9E-5880-3F4B-0360-CF544B58EDB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1CC823F-0564-4D5E-CE5E-D89C829E6BA1}"/>
              </a:ext>
            </a:extLst>
          </p:cNvPr>
          <p:cNvSpPr>
            <a:spLocks noGrp="1"/>
          </p:cNvSpPr>
          <p:nvPr>
            <p:ph type="sldNum" sz="quarter" idx="12"/>
          </p:nvPr>
        </p:nvSpPr>
        <p:spPr/>
        <p:txBody>
          <a:bodyPr/>
          <a:lstStyle/>
          <a:p>
            <a:fld id="{175405C3-3814-5C4A-B3C9-251C4440F8F1}" type="slidenum">
              <a:rPr lang="en-US" smtClean="0"/>
              <a:t>‹#›</a:t>
            </a:fld>
            <a:endParaRPr lang="en-US"/>
          </a:p>
        </p:txBody>
      </p:sp>
    </p:spTree>
    <p:extLst>
      <p:ext uri="{BB962C8B-B14F-4D97-AF65-F5344CB8AC3E}">
        <p14:creationId xmlns:p14="http://schemas.microsoft.com/office/powerpoint/2010/main" val="4725394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975CE9-087B-4B1F-AE76-217C87909C9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7CB8D74-8675-122C-2B7B-4371DE33A31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0E9A214-FBF2-7D03-5DF5-DC1EE6DEDF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02B1E6E-A735-6FE5-05F3-E34FC2AB4B8A}"/>
              </a:ext>
            </a:extLst>
          </p:cNvPr>
          <p:cNvSpPr>
            <a:spLocks noGrp="1"/>
          </p:cNvSpPr>
          <p:nvPr>
            <p:ph type="dt" sz="half" idx="10"/>
          </p:nvPr>
        </p:nvSpPr>
        <p:spPr/>
        <p:txBody>
          <a:bodyPr/>
          <a:lstStyle/>
          <a:p>
            <a:fld id="{0AF8F626-E4A8-984C-A9E0-30047CE4C2CE}" type="datetimeFigureOut">
              <a:rPr lang="en-US" smtClean="0"/>
              <a:t>9/22/26</a:t>
            </a:fld>
            <a:endParaRPr lang="en-US"/>
          </a:p>
        </p:txBody>
      </p:sp>
      <p:sp>
        <p:nvSpPr>
          <p:cNvPr id="6" name="Footer Placeholder 5">
            <a:extLst>
              <a:ext uri="{FF2B5EF4-FFF2-40B4-BE49-F238E27FC236}">
                <a16:creationId xmlns:a16="http://schemas.microsoft.com/office/drawing/2014/main" id="{18CA7B6F-B689-5021-A8B6-0E94A83BAB4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0CCBA64-E5B3-BC19-636E-CBD59D60BE3A}"/>
              </a:ext>
            </a:extLst>
          </p:cNvPr>
          <p:cNvSpPr>
            <a:spLocks noGrp="1"/>
          </p:cNvSpPr>
          <p:nvPr>
            <p:ph type="sldNum" sz="quarter" idx="12"/>
          </p:nvPr>
        </p:nvSpPr>
        <p:spPr/>
        <p:txBody>
          <a:bodyPr/>
          <a:lstStyle/>
          <a:p>
            <a:fld id="{175405C3-3814-5C4A-B3C9-251C4440F8F1}" type="slidenum">
              <a:rPr lang="en-US" smtClean="0"/>
              <a:t>‹#›</a:t>
            </a:fld>
            <a:endParaRPr lang="en-US"/>
          </a:p>
        </p:txBody>
      </p:sp>
    </p:spTree>
    <p:extLst>
      <p:ext uri="{BB962C8B-B14F-4D97-AF65-F5344CB8AC3E}">
        <p14:creationId xmlns:p14="http://schemas.microsoft.com/office/powerpoint/2010/main" val="25360563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4C34A-BE97-8999-B6C3-D67EB2B29A2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621EF75-C11D-DCEC-3ABA-D8F5193A06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22722D-850C-77F6-DF23-681728E3C247}"/>
              </a:ext>
            </a:extLst>
          </p:cNvPr>
          <p:cNvSpPr>
            <a:spLocks noGrp="1"/>
          </p:cNvSpPr>
          <p:nvPr>
            <p:ph type="dt" sz="half" idx="10"/>
          </p:nvPr>
        </p:nvSpPr>
        <p:spPr/>
        <p:txBody>
          <a:bodyPr/>
          <a:lstStyle/>
          <a:p>
            <a:fld id="{0AF8F626-E4A8-984C-A9E0-30047CE4C2CE}" type="datetimeFigureOut">
              <a:rPr lang="en-US" smtClean="0"/>
              <a:t>9/22/26</a:t>
            </a:fld>
            <a:endParaRPr lang="en-US"/>
          </a:p>
        </p:txBody>
      </p:sp>
      <p:sp>
        <p:nvSpPr>
          <p:cNvPr id="5" name="Footer Placeholder 4">
            <a:extLst>
              <a:ext uri="{FF2B5EF4-FFF2-40B4-BE49-F238E27FC236}">
                <a16:creationId xmlns:a16="http://schemas.microsoft.com/office/drawing/2014/main" id="{0184C589-C8E0-3EB4-536C-B2E0937D08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58A6A4-DBD2-2DC1-543C-0F0684B45404}"/>
              </a:ext>
            </a:extLst>
          </p:cNvPr>
          <p:cNvSpPr>
            <a:spLocks noGrp="1"/>
          </p:cNvSpPr>
          <p:nvPr>
            <p:ph type="sldNum" sz="quarter" idx="12"/>
          </p:nvPr>
        </p:nvSpPr>
        <p:spPr/>
        <p:txBody>
          <a:bodyPr/>
          <a:lstStyle/>
          <a:p>
            <a:fld id="{175405C3-3814-5C4A-B3C9-251C4440F8F1}" type="slidenum">
              <a:rPr lang="en-US" smtClean="0"/>
              <a:t>‹#›</a:t>
            </a:fld>
            <a:endParaRPr lang="en-US"/>
          </a:p>
        </p:txBody>
      </p:sp>
    </p:spTree>
    <p:extLst>
      <p:ext uri="{BB962C8B-B14F-4D97-AF65-F5344CB8AC3E}">
        <p14:creationId xmlns:p14="http://schemas.microsoft.com/office/powerpoint/2010/main" val="31801979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EF24F14-8E9E-CF04-2368-7B2C106D3BE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221CE54-BC4D-FFD5-F0F4-A269CEE1459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E60286-CBBA-0BE1-E482-82DE1426364C}"/>
              </a:ext>
            </a:extLst>
          </p:cNvPr>
          <p:cNvSpPr>
            <a:spLocks noGrp="1"/>
          </p:cNvSpPr>
          <p:nvPr>
            <p:ph type="dt" sz="half" idx="10"/>
          </p:nvPr>
        </p:nvSpPr>
        <p:spPr/>
        <p:txBody>
          <a:bodyPr/>
          <a:lstStyle/>
          <a:p>
            <a:fld id="{0AF8F626-E4A8-984C-A9E0-30047CE4C2CE}" type="datetimeFigureOut">
              <a:rPr lang="en-US" smtClean="0"/>
              <a:t>9/22/26</a:t>
            </a:fld>
            <a:endParaRPr lang="en-US"/>
          </a:p>
        </p:txBody>
      </p:sp>
      <p:sp>
        <p:nvSpPr>
          <p:cNvPr id="5" name="Footer Placeholder 4">
            <a:extLst>
              <a:ext uri="{FF2B5EF4-FFF2-40B4-BE49-F238E27FC236}">
                <a16:creationId xmlns:a16="http://schemas.microsoft.com/office/drawing/2014/main" id="{AF59C27E-C542-972E-26D0-3C3C415B41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048BC9-1998-97BD-EE20-0B6C6DB07E43}"/>
              </a:ext>
            </a:extLst>
          </p:cNvPr>
          <p:cNvSpPr>
            <a:spLocks noGrp="1"/>
          </p:cNvSpPr>
          <p:nvPr>
            <p:ph type="sldNum" sz="quarter" idx="12"/>
          </p:nvPr>
        </p:nvSpPr>
        <p:spPr/>
        <p:txBody>
          <a:bodyPr/>
          <a:lstStyle/>
          <a:p>
            <a:fld id="{175405C3-3814-5C4A-B3C9-251C4440F8F1}" type="slidenum">
              <a:rPr lang="en-US" smtClean="0"/>
              <a:t>‹#›</a:t>
            </a:fld>
            <a:endParaRPr lang="en-US"/>
          </a:p>
        </p:txBody>
      </p:sp>
    </p:spTree>
    <p:extLst>
      <p:ext uri="{BB962C8B-B14F-4D97-AF65-F5344CB8AC3E}">
        <p14:creationId xmlns:p14="http://schemas.microsoft.com/office/powerpoint/2010/main" val="4924135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3A0F22A-E4A0-5FFD-5BCF-A98FC8C7FC95}"/>
              </a:ext>
            </a:extLst>
          </p:cNvPr>
          <p:cNvSpPr>
            <a:spLocks noGrp="1"/>
          </p:cNvSpPr>
          <p:nvPr>
            <p:ph type="title"/>
          </p:nvPr>
        </p:nvSpPr>
        <p:spPr>
          <a:xfrm>
            <a:off x="838200" y="1825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393AF3F-4630-3625-A769-A2C8B64EB57A}"/>
              </a:ext>
            </a:extLst>
          </p:cNvPr>
          <p:cNvSpPr>
            <a:spLocks noGrp="1"/>
          </p:cNvSpPr>
          <p:nvPr>
            <p:ph type="body" idx="1"/>
          </p:nvPr>
        </p:nvSpPr>
        <p:spPr>
          <a:xfrm>
            <a:off x="838200" y="1530036"/>
            <a:ext cx="10515600" cy="464692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8F1E2A-DA40-57B5-4B3B-27FC57A35C0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panose="02020603050405020304" pitchFamily="18" charset="0"/>
                <a:cs typeface="Times New Roman" panose="02020603050405020304" pitchFamily="18" charset="0"/>
              </a:defRPr>
            </a:lvl1pPr>
          </a:lstStyle>
          <a:p>
            <a:fld id="{0AF8F626-E4A8-984C-A9E0-30047CE4C2CE}" type="datetimeFigureOut">
              <a:rPr lang="en-US" smtClean="0"/>
              <a:pPr/>
              <a:t>9/22/26</a:t>
            </a:fld>
            <a:endParaRPr lang="en-US"/>
          </a:p>
        </p:txBody>
      </p:sp>
      <p:sp>
        <p:nvSpPr>
          <p:cNvPr id="5" name="Footer Placeholder 4">
            <a:extLst>
              <a:ext uri="{FF2B5EF4-FFF2-40B4-BE49-F238E27FC236}">
                <a16:creationId xmlns:a16="http://schemas.microsoft.com/office/drawing/2014/main" id="{BC5A0169-D93E-E7EB-EFB8-91FEE741363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a:extLst>
              <a:ext uri="{FF2B5EF4-FFF2-40B4-BE49-F238E27FC236}">
                <a16:creationId xmlns:a16="http://schemas.microsoft.com/office/drawing/2014/main" id="{9417813A-84BE-1071-63A6-48A39C87911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Times New Roman" panose="02020603050405020304" pitchFamily="18" charset="0"/>
                <a:cs typeface="Times New Roman" panose="02020603050405020304" pitchFamily="18" charset="0"/>
              </a:defRPr>
            </a:lvl1pPr>
          </a:lstStyle>
          <a:p>
            <a:fld id="{175405C3-3814-5C4A-B3C9-251C4440F8F1}" type="slidenum">
              <a:rPr lang="en-US" smtClean="0"/>
              <a:pPr/>
              <a:t>‹#›</a:t>
            </a:fld>
            <a:endParaRPr lang="en-US"/>
          </a:p>
        </p:txBody>
      </p:sp>
    </p:spTree>
    <p:extLst>
      <p:ext uri="{BB962C8B-B14F-4D97-AF65-F5344CB8AC3E}">
        <p14:creationId xmlns:p14="http://schemas.microsoft.com/office/powerpoint/2010/main" val="1931559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emf"/><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8.tif"/><Relationship Id="rId7" Type="http://schemas.openxmlformats.org/officeDocument/2006/relationships/image" Target="../media/image32.png"/><Relationship Id="rId2" Type="http://schemas.openxmlformats.org/officeDocument/2006/relationships/image" Target="../media/image27.png"/><Relationship Id="rId1" Type="http://schemas.openxmlformats.org/officeDocument/2006/relationships/slideLayout" Target="../slideLayouts/slideLayout5.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tiff"/></Relationships>
</file>

<file path=ppt/slides/_rels/slide26.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7.xml"/><Relationship Id="rId4" Type="http://schemas.openxmlformats.org/officeDocument/2006/relationships/image" Target="../media/image41.png"/></Relationships>
</file>

<file path=ppt/slides/_rels/slide3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4v"/><Relationship Id="rId1" Type="http://schemas.microsoft.com/office/2007/relationships/media" Target="../media/media1.m4v"/><Relationship Id="rId4" Type="http://schemas.openxmlformats.org/officeDocument/2006/relationships/image" Target="../media/image46.png"/></Relationships>
</file>

<file path=ppt/slides/_rels/slide4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59.jpe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image" Target="../media/image63.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69.jpe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70.jpe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71.jpe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2" Type="http://schemas.openxmlformats.org/officeDocument/2006/relationships/image" Target="../media/image75.jpe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7.xml"/><Relationship Id="rId6" Type="http://schemas.openxmlformats.org/officeDocument/2006/relationships/image" Target="../media/image85.png"/><Relationship Id="rId5" Type="http://schemas.openxmlformats.org/officeDocument/2006/relationships/image" Target="../media/image84.png"/><Relationship Id="rId4" Type="http://schemas.openxmlformats.org/officeDocument/2006/relationships/image" Target="../media/image83.png"/></Relationships>
</file>

<file path=ppt/slides/_rels/slide86.xml.rels><?xml version="1.0" encoding="UTF-8" standalone="yes"?>
<Relationships xmlns="http://schemas.openxmlformats.org/package/2006/relationships"><Relationship Id="rId2" Type="http://schemas.openxmlformats.org/officeDocument/2006/relationships/image" Target="../media/image86.jpe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B3CB1-10AB-BAAE-95EA-819AEC36D7D6}"/>
              </a:ext>
            </a:extLst>
          </p:cNvPr>
          <p:cNvSpPr>
            <a:spLocks noGrp="1"/>
          </p:cNvSpPr>
          <p:nvPr>
            <p:ph type="ctrTitle"/>
          </p:nvPr>
        </p:nvSpPr>
        <p:spPr>
          <a:xfrm>
            <a:off x="972312" y="1407589"/>
            <a:ext cx="10247376" cy="2387600"/>
          </a:xfrm>
        </p:spPr>
        <p:txBody>
          <a:bodyPr>
            <a:normAutofit/>
          </a:bodyPr>
          <a:lstStyle/>
          <a:p>
            <a:r>
              <a:rPr lang="en-US" dirty="0"/>
              <a:t>Liver Transplantation Basics</a:t>
            </a:r>
          </a:p>
        </p:txBody>
      </p:sp>
      <p:sp>
        <p:nvSpPr>
          <p:cNvPr id="3" name="Subtitle 2">
            <a:extLst>
              <a:ext uri="{FF2B5EF4-FFF2-40B4-BE49-F238E27FC236}">
                <a16:creationId xmlns:a16="http://schemas.microsoft.com/office/drawing/2014/main" id="{45F75A82-D26B-15CB-FFA0-33A493B6E166}"/>
              </a:ext>
            </a:extLst>
          </p:cNvPr>
          <p:cNvSpPr>
            <a:spLocks noGrp="1"/>
          </p:cNvSpPr>
          <p:nvPr>
            <p:ph type="subTitle" idx="1"/>
          </p:nvPr>
        </p:nvSpPr>
        <p:spPr>
          <a:xfrm>
            <a:off x="1524000" y="3887264"/>
            <a:ext cx="9144000" cy="1655762"/>
          </a:xfrm>
        </p:spPr>
        <p:txBody>
          <a:bodyPr>
            <a:normAutofit/>
          </a:bodyPr>
          <a:lstStyle/>
          <a:p>
            <a:r>
              <a:rPr lang="en-US" i="1" dirty="0"/>
              <a:t>Mohammad Almeqdadi, MD</a:t>
            </a:r>
          </a:p>
          <a:p>
            <a:r>
              <a:rPr lang="en-US" i="1" dirty="0"/>
              <a:t>Assistant Professor of Medicine and Surgery</a:t>
            </a:r>
          </a:p>
          <a:p>
            <a:r>
              <a:rPr lang="en-US" i="1" dirty="0"/>
              <a:t>Transplant Hepatology and Gastroenterology</a:t>
            </a:r>
          </a:p>
        </p:txBody>
      </p:sp>
      <p:pic>
        <p:nvPicPr>
          <p:cNvPr id="5" name="Picture 4">
            <a:extLst>
              <a:ext uri="{FF2B5EF4-FFF2-40B4-BE49-F238E27FC236}">
                <a16:creationId xmlns:a16="http://schemas.microsoft.com/office/drawing/2014/main" id="{B6E73637-AC13-2C14-77D6-6639474D8506}"/>
              </a:ext>
            </a:extLst>
          </p:cNvPr>
          <p:cNvPicPr>
            <a:picLocks noChangeAspect="1"/>
          </p:cNvPicPr>
          <p:nvPr/>
        </p:nvPicPr>
        <p:blipFill>
          <a:blip r:embed="rId2"/>
          <a:stretch>
            <a:fillRect/>
          </a:stretch>
        </p:blipFill>
        <p:spPr>
          <a:xfrm>
            <a:off x="8838589" y="6076241"/>
            <a:ext cx="3144859" cy="624170"/>
          </a:xfrm>
          <a:prstGeom prst="rect">
            <a:avLst/>
          </a:prstGeom>
        </p:spPr>
      </p:pic>
      <p:pic>
        <p:nvPicPr>
          <p:cNvPr id="4" name="Picture 3">
            <a:extLst>
              <a:ext uri="{FF2B5EF4-FFF2-40B4-BE49-F238E27FC236}">
                <a16:creationId xmlns:a16="http://schemas.microsoft.com/office/drawing/2014/main" id="{9925D7ED-F7F9-4B43-CD5D-61CF59195C1D}"/>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08552" y="6079409"/>
            <a:ext cx="3353412" cy="621002"/>
          </a:xfrm>
          <a:prstGeom prst="rect">
            <a:avLst/>
          </a:prstGeom>
        </p:spPr>
      </p:pic>
      <p:pic>
        <p:nvPicPr>
          <p:cNvPr id="7" name="Picture 6" descr="A human liver with veins and arteries&#10;&#10;Description automatically generated with medium confidence">
            <a:extLst>
              <a:ext uri="{FF2B5EF4-FFF2-40B4-BE49-F238E27FC236}">
                <a16:creationId xmlns:a16="http://schemas.microsoft.com/office/drawing/2014/main" id="{D131EC31-348C-4E3F-8369-86DCAD7286F9}"/>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383547" y="134224"/>
            <a:ext cx="3424906" cy="2397434"/>
          </a:xfrm>
          <a:prstGeom prst="rect">
            <a:avLst/>
          </a:prstGeom>
        </p:spPr>
      </p:pic>
    </p:spTree>
    <p:extLst>
      <p:ext uri="{BB962C8B-B14F-4D97-AF65-F5344CB8AC3E}">
        <p14:creationId xmlns:p14="http://schemas.microsoft.com/office/powerpoint/2010/main" val="8898541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2378ACC-90FA-F409-C158-DED0B0267CF5}"/>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44539" y="841247"/>
            <a:ext cx="11302922" cy="5175506"/>
          </a:xfrm>
          <a:prstGeom prst="rect">
            <a:avLst/>
          </a:prstGeom>
        </p:spPr>
      </p:pic>
      <p:sp>
        <p:nvSpPr>
          <p:cNvPr id="4" name="TextBox 3">
            <a:extLst>
              <a:ext uri="{FF2B5EF4-FFF2-40B4-BE49-F238E27FC236}">
                <a16:creationId xmlns:a16="http://schemas.microsoft.com/office/drawing/2014/main" id="{9E374B0D-5900-B60F-EC55-E61BC67F7D53}"/>
              </a:ext>
            </a:extLst>
          </p:cNvPr>
          <p:cNvSpPr txBox="1"/>
          <p:nvPr/>
        </p:nvSpPr>
        <p:spPr>
          <a:xfrm>
            <a:off x="0" y="6488668"/>
            <a:ext cx="12192000" cy="369332"/>
          </a:xfrm>
          <a:prstGeom prst="rect">
            <a:avLst/>
          </a:prstGeom>
          <a:noFill/>
        </p:spPr>
        <p:txBody>
          <a:bodyPr wrap="square">
            <a:spAutoFit/>
          </a:bodyPr>
          <a:lstStyle/>
          <a:p>
            <a:pPr algn="r"/>
            <a:r>
              <a:rPr lang="en-US" dirty="0" err="1"/>
              <a:t>Zarrinpar</a:t>
            </a:r>
            <a:r>
              <a:rPr lang="en-US" dirty="0"/>
              <a:t> A, Busuttil RW. Liver transplantation: past, present and future. Nat Rev Gastroenterol Hepatol. 2013 Jul;10(7):434-40</a:t>
            </a:r>
          </a:p>
        </p:txBody>
      </p:sp>
    </p:spTree>
    <p:extLst>
      <p:ext uri="{BB962C8B-B14F-4D97-AF65-F5344CB8AC3E}">
        <p14:creationId xmlns:p14="http://schemas.microsoft.com/office/powerpoint/2010/main" val="30337814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8E8E8E"/>
        </a:solidFill>
        <a:effectLst/>
      </p:bgPr>
    </p:bg>
    <p:spTree>
      <p:nvGrpSpPr>
        <p:cNvPr id="1" name="">
          <a:extLst>
            <a:ext uri="{FF2B5EF4-FFF2-40B4-BE49-F238E27FC236}">
              <a16:creationId xmlns:a16="http://schemas.microsoft.com/office/drawing/2014/main" id="{4C407655-8999-B53F-D0AD-9C5AF866FB06}"/>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49D17765-BA85-2F1F-FDF9-5C11987372BE}"/>
              </a:ext>
            </a:extLst>
          </p:cNvPr>
          <p:cNvPicPr>
            <a:picLocks noChangeAspect="1"/>
          </p:cNvPicPr>
          <p:nvPr/>
        </p:nvPicPr>
        <p:blipFill>
          <a:blip r:embed="rId2" cstate="email">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a:ext>
            </a:extLst>
          </a:blip>
          <a:stretch>
            <a:fillRect/>
          </a:stretch>
        </p:blipFill>
        <p:spPr>
          <a:xfrm>
            <a:off x="444539" y="841247"/>
            <a:ext cx="11302922" cy="5175506"/>
          </a:xfrm>
          <a:prstGeom prst="rect">
            <a:avLst/>
          </a:prstGeom>
        </p:spPr>
      </p:pic>
      <p:sp>
        <p:nvSpPr>
          <p:cNvPr id="4" name="TextBox 3">
            <a:extLst>
              <a:ext uri="{FF2B5EF4-FFF2-40B4-BE49-F238E27FC236}">
                <a16:creationId xmlns:a16="http://schemas.microsoft.com/office/drawing/2014/main" id="{EFE2416C-62A8-CEAB-F1F0-3809D7DDF064}"/>
              </a:ext>
            </a:extLst>
          </p:cNvPr>
          <p:cNvSpPr txBox="1"/>
          <p:nvPr/>
        </p:nvSpPr>
        <p:spPr>
          <a:xfrm>
            <a:off x="0" y="6488668"/>
            <a:ext cx="12192000" cy="369332"/>
          </a:xfrm>
          <a:prstGeom prst="rect">
            <a:avLst/>
          </a:prstGeom>
          <a:noFill/>
        </p:spPr>
        <p:txBody>
          <a:bodyPr wrap="square">
            <a:spAutoFit/>
          </a:bodyPr>
          <a:lstStyle/>
          <a:p>
            <a:pPr algn="r"/>
            <a:r>
              <a:rPr lang="en-US" dirty="0" err="1"/>
              <a:t>Zarrinpar</a:t>
            </a:r>
            <a:r>
              <a:rPr lang="en-US" dirty="0"/>
              <a:t> A, Busuttil RW. Liver transplantation: past, present and future. Nat Rev Gastroenterol Hepatol. 2013 Jul;10(7):434-40</a:t>
            </a:r>
          </a:p>
        </p:txBody>
      </p:sp>
      <p:pic>
        <p:nvPicPr>
          <p:cNvPr id="5" name="Picture 4">
            <a:extLst>
              <a:ext uri="{FF2B5EF4-FFF2-40B4-BE49-F238E27FC236}">
                <a16:creationId xmlns:a16="http://schemas.microsoft.com/office/drawing/2014/main" id="{DA09FCAD-E7CF-BC5C-4F79-46FFD00D3A59}"/>
              </a:ext>
            </a:extLst>
          </p:cNvPr>
          <p:cNvPicPr>
            <a:picLocks noChangeAspect="1"/>
          </p:cNvPicPr>
          <p:nvPr/>
        </p:nvPicPr>
        <p:blipFill>
          <a:blip r:embed="rId4" cstate="email">
            <a:extLst>
              <a:ext uri="{28A0092B-C50C-407E-A947-70E740481C1C}">
                <a14:useLocalDpi xmlns:a14="http://schemas.microsoft.com/office/drawing/2010/main"/>
              </a:ext>
            </a:extLst>
          </a:blip>
          <a:srcRect/>
          <a:stretch/>
        </p:blipFill>
        <p:spPr>
          <a:xfrm>
            <a:off x="543697" y="4794422"/>
            <a:ext cx="2471352" cy="753762"/>
          </a:xfrm>
          <a:prstGeom prst="rect">
            <a:avLst/>
          </a:prstGeom>
        </p:spPr>
      </p:pic>
      <p:pic>
        <p:nvPicPr>
          <p:cNvPr id="6" name="Picture 5">
            <a:extLst>
              <a:ext uri="{FF2B5EF4-FFF2-40B4-BE49-F238E27FC236}">
                <a16:creationId xmlns:a16="http://schemas.microsoft.com/office/drawing/2014/main" id="{67A5DCEE-443A-9AB3-DADB-80ADB6AB7E67}"/>
              </a:ext>
            </a:extLst>
          </p:cNvPr>
          <p:cNvPicPr>
            <a:picLocks noChangeAspect="1"/>
          </p:cNvPicPr>
          <p:nvPr/>
        </p:nvPicPr>
        <p:blipFill>
          <a:blip r:embed="rId5" cstate="email">
            <a:extLst>
              <a:ext uri="{28A0092B-C50C-407E-A947-70E740481C1C}">
                <a14:useLocalDpi xmlns:a14="http://schemas.microsoft.com/office/drawing/2010/main"/>
              </a:ext>
            </a:extLst>
          </a:blip>
          <a:srcRect/>
          <a:stretch/>
        </p:blipFill>
        <p:spPr>
          <a:xfrm>
            <a:off x="2285999" y="3249827"/>
            <a:ext cx="1989437" cy="1544595"/>
          </a:xfrm>
          <a:prstGeom prst="rect">
            <a:avLst/>
          </a:prstGeom>
        </p:spPr>
      </p:pic>
    </p:spTree>
    <p:extLst>
      <p:ext uri="{BB962C8B-B14F-4D97-AF65-F5344CB8AC3E}">
        <p14:creationId xmlns:p14="http://schemas.microsoft.com/office/powerpoint/2010/main" val="27162465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8E8E8E"/>
        </a:solidFill>
        <a:effectLst/>
      </p:bgPr>
    </p:bg>
    <p:spTree>
      <p:nvGrpSpPr>
        <p:cNvPr id="1" name="">
          <a:extLst>
            <a:ext uri="{FF2B5EF4-FFF2-40B4-BE49-F238E27FC236}">
              <a16:creationId xmlns:a16="http://schemas.microsoft.com/office/drawing/2014/main" id="{F6DA71BF-3C32-E21F-0091-85F2046AA44A}"/>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7C17564E-E41C-47D0-E758-C74E8724F345}"/>
              </a:ext>
            </a:extLst>
          </p:cNvPr>
          <p:cNvPicPr>
            <a:picLocks noChangeAspect="1"/>
          </p:cNvPicPr>
          <p:nvPr/>
        </p:nvPicPr>
        <p:blipFill>
          <a:blip r:embed="rId2" cstate="email">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a:ext>
            </a:extLst>
          </a:blip>
          <a:stretch>
            <a:fillRect/>
          </a:stretch>
        </p:blipFill>
        <p:spPr>
          <a:xfrm>
            <a:off x="444539" y="841247"/>
            <a:ext cx="11302922" cy="5175506"/>
          </a:xfrm>
          <a:prstGeom prst="rect">
            <a:avLst/>
          </a:prstGeom>
        </p:spPr>
      </p:pic>
      <p:sp>
        <p:nvSpPr>
          <p:cNvPr id="4" name="TextBox 3">
            <a:extLst>
              <a:ext uri="{FF2B5EF4-FFF2-40B4-BE49-F238E27FC236}">
                <a16:creationId xmlns:a16="http://schemas.microsoft.com/office/drawing/2014/main" id="{C601F55F-EBD9-7CB6-4509-4B78437BC3E0}"/>
              </a:ext>
            </a:extLst>
          </p:cNvPr>
          <p:cNvSpPr txBox="1"/>
          <p:nvPr/>
        </p:nvSpPr>
        <p:spPr>
          <a:xfrm>
            <a:off x="0" y="6488668"/>
            <a:ext cx="12192000" cy="369332"/>
          </a:xfrm>
          <a:prstGeom prst="rect">
            <a:avLst/>
          </a:prstGeom>
          <a:noFill/>
        </p:spPr>
        <p:txBody>
          <a:bodyPr wrap="square">
            <a:spAutoFit/>
          </a:bodyPr>
          <a:lstStyle/>
          <a:p>
            <a:pPr algn="r"/>
            <a:r>
              <a:rPr lang="en-US" dirty="0" err="1"/>
              <a:t>Zarrinpar</a:t>
            </a:r>
            <a:r>
              <a:rPr lang="en-US" dirty="0"/>
              <a:t> A, Busuttil RW. Liver transplantation: past, present and future. Nat Rev Gastroenterol Hepatol. 2013 Jul;10(7):434-40</a:t>
            </a:r>
          </a:p>
        </p:txBody>
      </p:sp>
      <p:pic>
        <p:nvPicPr>
          <p:cNvPr id="6" name="Picture 5">
            <a:extLst>
              <a:ext uri="{FF2B5EF4-FFF2-40B4-BE49-F238E27FC236}">
                <a16:creationId xmlns:a16="http://schemas.microsoft.com/office/drawing/2014/main" id="{652AC5A6-A68B-1E28-55FB-3525C3D13A91}"/>
              </a:ext>
            </a:extLst>
          </p:cNvPr>
          <p:cNvPicPr>
            <a:picLocks noChangeAspect="1"/>
          </p:cNvPicPr>
          <p:nvPr/>
        </p:nvPicPr>
        <p:blipFill>
          <a:blip r:embed="rId4" cstate="email">
            <a:extLst>
              <a:ext uri="{28A0092B-C50C-407E-A947-70E740481C1C}">
                <a14:useLocalDpi xmlns:a14="http://schemas.microsoft.com/office/drawing/2010/main"/>
              </a:ext>
            </a:extLst>
          </a:blip>
          <a:srcRect/>
          <a:stretch/>
        </p:blipFill>
        <p:spPr>
          <a:xfrm>
            <a:off x="8513805" y="3163330"/>
            <a:ext cx="1161536" cy="1631092"/>
          </a:xfrm>
          <a:prstGeom prst="rect">
            <a:avLst/>
          </a:prstGeom>
        </p:spPr>
      </p:pic>
    </p:spTree>
    <p:extLst>
      <p:ext uri="{BB962C8B-B14F-4D97-AF65-F5344CB8AC3E}">
        <p14:creationId xmlns:p14="http://schemas.microsoft.com/office/powerpoint/2010/main" val="30973365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AE4A1D1-1F55-C1D7-56D2-A6921DE45754}"/>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052990" y="94129"/>
            <a:ext cx="6086019" cy="6669741"/>
          </a:xfrm>
          <a:prstGeom prst="rect">
            <a:avLst/>
          </a:prstGeom>
        </p:spPr>
      </p:pic>
      <p:sp>
        <p:nvSpPr>
          <p:cNvPr id="4" name="TextBox 3">
            <a:extLst>
              <a:ext uri="{FF2B5EF4-FFF2-40B4-BE49-F238E27FC236}">
                <a16:creationId xmlns:a16="http://schemas.microsoft.com/office/drawing/2014/main" id="{6F5ECD08-8E72-95B2-7C90-E2D67466F3FE}"/>
              </a:ext>
            </a:extLst>
          </p:cNvPr>
          <p:cNvSpPr txBox="1"/>
          <p:nvPr/>
        </p:nvSpPr>
        <p:spPr>
          <a:xfrm>
            <a:off x="-2" y="1563377"/>
            <a:ext cx="12192001" cy="307777"/>
          </a:xfrm>
          <a:prstGeom prst="rect">
            <a:avLst/>
          </a:prstGeom>
          <a:noFill/>
        </p:spPr>
        <p:txBody>
          <a:bodyPr wrap="square">
            <a:spAutoFit/>
          </a:bodyPr>
          <a:lstStyle/>
          <a:p>
            <a:pPr algn="ctr" fontAlgn="base"/>
            <a:r>
              <a:rPr lang="en-US" sz="1400" b="0" i="0" u="none" strike="noStrike" dirty="0">
                <a:solidFill>
                  <a:srgbClr val="121212"/>
                </a:solidFill>
                <a:effectLst/>
                <a:latin typeface="Georgia" panose="02040502050405020303" pitchFamily="18" charset="0"/>
              </a:rPr>
              <a:t>March 5, 2017</a:t>
            </a:r>
          </a:p>
        </p:txBody>
      </p:sp>
    </p:spTree>
    <p:extLst>
      <p:ext uri="{BB962C8B-B14F-4D97-AF65-F5344CB8AC3E}">
        <p14:creationId xmlns:p14="http://schemas.microsoft.com/office/powerpoint/2010/main" val="23784877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AA1C7ED-12C7-7245-5FC7-3C087321C6BE}"/>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209800" y="683832"/>
            <a:ext cx="7772400" cy="2475286"/>
          </a:xfrm>
          <a:prstGeom prst="rect">
            <a:avLst/>
          </a:prstGeom>
        </p:spPr>
      </p:pic>
      <p:pic>
        <p:nvPicPr>
          <p:cNvPr id="3" name="Picture 2">
            <a:extLst>
              <a:ext uri="{FF2B5EF4-FFF2-40B4-BE49-F238E27FC236}">
                <a16:creationId xmlns:a16="http://schemas.microsoft.com/office/drawing/2014/main" id="{BE5EC294-B8AB-6670-85A3-183557197A10}"/>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209800" y="3750275"/>
            <a:ext cx="7772400" cy="2213658"/>
          </a:xfrm>
          <a:prstGeom prst="rect">
            <a:avLst/>
          </a:prstGeom>
        </p:spPr>
      </p:pic>
      <p:cxnSp>
        <p:nvCxnSpPr>
          <p:cNvPr id="5" name="Straight Connector 4">
            <a:extLst>
              <a:ext uri="{FF2B5EF4-FFF2-40B4-BE49-F238E27FC236}">
                <a16:creationId xmlns:a16="http://schemas.microsoft.com/office/drawing/2014/main" id="{359E44FF-2DC6-5DC2-8F44-91BC2D09DAD7}"/>
              </a:ext>
            </a:extLst>
          </p:cNvPr>
          <p:cNvCxnSpPr>
            <a:cxnSpLocks/>
          </p:cNvCxnSpPr>
          <p:nvPr/>
        </p:nvCxnSpPr>
        <p:spPr>
          <a:xfrm>
            <a:off x="4670855" y="3033583"/>
            <a:ext cx="947350" cy="0"/>
          </a:xfrm>
          <a:prstGeom prst="line">
            <a:avLst/>
          </a:prstGeom>
          <a:ln w="19050">
            <a:solidFill>
              <a:srgbClr val="FF0000"/>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764976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74024B5-6B3C-E8E3-AE71-34E938081AFF}"/>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701114" y="247346"/>
            <a:ext cx="8789772" cy="5992606"/>
          </a:xfrm>
          <a:prstGeom prst="rect">
            <a:avLst/>
          </a:prstGeom>
        </p:spPr>
      </p:pic>
      <p:sp>
        <p:nvSpPr>
          <p:cNvPr id="4" name="TextBox 3">
            <a:extLst>
              <a:ext uri="{FF2B5EF4-FFF2-40B4-BE49-F238E27FC236}">
                <a16:creationId xmlns:a16="http://schemas.microsoft.com/office/drawing/2014/main" id="{66B02081-0C42-A596-3128-313FBE7645DB}"/>
              </a:ext>
            </a:extLst>
          </p:cNvPr>
          <p:cNvSpPr txBox="1"/>
          <p:nvPr/>
        </p:nvSpPr>
        <p:spPr>
          <a:xfrm>
            <a:off x="0" y="6488668"/>
            <a:ext cx="12196118" cy="369332"/>
          </a:xfrm>
          <a:prstGeom prst="rect">
            <a:avLst/>
          </a:prstGeom>
          <a:noFill/>
        </p:spPr>
        <p:txBody>
          <a:bodyPr wrap="square">
            <a:spAutoFit/>
          </a:bodyPr>
          <a:lstStyle/>
          <a:p>
            <a:pPr algn="r"/>
            <a:r>
              <a:rPr lang="en-US" b="0" i="0" u="none" strike="noStrike" dirty="0">
                <a:solidFill>
                  <a:srgbClr val="212121"/>
                </a:solidFill>
                <a:effectLst/>
                <a:latin typeface="BlinkMacSystemFont"/>
              </a:rPr>
              <a:t>Feng S, Roll GR, Rouhani FJ, Sanchez </a:t>
            </a:r>
            <a:r>
              <a:rPr lang="en-US" b="0" i="0" u="none" strike="noStrike" dirty="0" err="1">
                <a:solidFill>
                  <a:srgbClr val="212121"/>
                </a:solidFill>
                <a:effectLst/>
                <a:latin typeface="BlinkMacSystemFont"/>
              </a:rPr>
              <a:t>Fueyo</a:t>
            </a:r>
            <a:r>
              <a:rPr lang="en-US" b="0" i="0" u="none" strike="noStrike" dirty="0">
                <a:solidFill>
                  <a:srgbClr val="212121"/>
                </a:solidFill>
                <a:effectLst/>
                <a:latin typeface="BlinkMacSystemFont"/>
              </a:rPr>
              <a:t> A. The future of liver transplantation. Hepatology. 2024 Sep 1;80(3):674-697</a:t>
            </a:r>
            <a:endParaRPr lang="en-US" dirty="0"/>
          </a:p>
        </p:txBody>
      </p:sp>
    </p:spTree>
    <p:extLst>
      <p:ext uri="{BB962C8B-B14F-4D97-AF65-F5344CB8AC3E}">
        <p14:creationId xmlns:p14="http://schemas.microsoft.com/office/powerpoint/2010/main" val="9837309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242667-83F8-5940-0849-1BB8B84659B4}"/>
              </a:ext>
            </a:extLst>
          </p:cNvPr>
          <p:cNvSpPr>
            <a:spLocks noGrp="1"/>
          </p:cNvSpPr>
          <p:nvPr>
            <p:ph type="title"/>
          </p:nvPr>
        </p:nvSpPr>
        <p:spPr/>
        <p:txBody>
          <a:bodyPr/>
          <a:lstStyle/>
          <a:p>
            <a:r>
              <a:rPr lang="en-US" dirty="0"/>
              <a:t>Indications and Contraindications</a:t>
            </a:r>
          </a:p>
        </p:txBody>
      </p:sp>
      <p:sp>
        <p:nvSpPr>
          <p:cNvPr id="3" name="Text Placeholder 2">
            <a:extLst>
              <a:ext uri="{FF2B5EF4-FFF2-40B4-BE49-F238E27FC236}">
                <a16:creationId xmlns:a16="http://schemas.microsoft.com/office/drawing/2014/main" id="{DE81C7BE-E823-BB35-4601-D2525ABAD790}"/>
              </a:ext>
            </a:extLst>
          </p:cNvPr>
          <p:cNvSpPr>
            <a:spLocks noGrp="1"/>
          </p:cNvSpPr>
          <p:nvPr>
            <p:ph type="body" idx="1"/>
          </p:nvPr>
        </p:nvSpPr>
        <p:spPr/>
        <p:txBody>
          <a:bodyPr/>
          <a:lstStyle/>
          <a:p>
            <a:r>
              <a:rPr lang="en-US" dirty="0"/>
              <a:t>Liver Transplant</a:t>
            </a:r>
          </a:p>
        </p:txBody>
      </p:sp>
    </p:spTree>
    <p:extLst>
      <p:ext uri="{BB962C8B-B14F-4D97-AF65-F5344CB8AC3E}">
        <p14:creationId xmlns:p14="http://schemas.microsoft.com/office/powerpoint/2010/main" val="6463003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D558E4D-4EF3-C230-BE13-79E70833CC0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472184" y="392887"/>
            <a:ext cx="9247632" cy="5619220"/>
          </a:xfrm>
          <a:prstGeom prst="rect">
            <a:avLst/>
          </a:prstGeom>
        </p:spPr>
      </p:pic>
      <p:sp>
        <p:nvSpPr>
          <p:cNvPr id="8" name="TextBox 7">
            <a:extLst>
              <a:ext uri="{FF2B5EF4-FFF2-40B4-BE49-F238E27FC236}">
                <a16:creationId xmlns:a16="http://schemas.microsoft.com/office/drawing/2014/main" id="{C832D84B-844E-D920-D611-7E3E756F4CD9}"/>
              </a:ext>
            </a:extLst>
          </p:cNvPr>
          <p:cNvSpPr txBox="1"/>
          <p:nvPr/>
        </p:nvSpPr>
        <p:spPr>
          <a:xfrm>
            <a:off x="0" y="6488668"/>
            <a:ext cx="12195048" cy="369332"/>
          </a:xfrm>
          <a:prstGeom prst="rect">
            <a:avLst/>
          </a:prstGeom>
          <a:noFill/>
        </p:spPr>
        <p:txBody>
          <a:bodyPr wrap="square">
            <a:spAutoFit/>
          </a:bodyPr>
          <a:lstStyle/>
          <a:p>
            <a:pPr algn="r"/>
            <a:r>
              <a:rPr lang="en-US" b="0" i="0" u="none" strike="noStrike" dirty="0">
                <a:solidFill>
                  <a:srgbClr val="212121"/>
                </a:solidFill>
                <a:effectLst/>
                <a:latin typeface="BlinkMacSystemFont"/>
              </a:rPr>
              <a:t>O'Leary JG, Lepe R, Davis GL. Indications for liver transplantation. Gastroenterology. 2008 May;134(6):1764-76</a:t>
            </a:r>
            <a:endParaRPr lang="en-US" dirty="0"/>
          </a:p>
        </p:txBody>
      </p:sp>
    </p:spTree>
    <p:extLst>
      <p:ext uri="{BB962C8B-B14F-4D97-AF65-F5344CB8AC3E}">
        <p14:creationId xmlns:p14="http://schemas.microsoft.com/office/powerpoint/2010/main" val="20257863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A681EC0-25CB-240C-03FB-9CB69B91302A}"/>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2667000" y="358346"/>
            <a:ext cx="6858000" cy="6226604"/>
          </a:xfrm>
          <a:prstGeom prst="rect">
            <a:avLst/>
          </a:prstGeom>
        </p:spPr>
      </p:pic>
    </p:spTree>
    <p:extLst>
      <p:ext uri="{BB962C8B-B14F-4D97-AF65-F5344CB8AC3E}">
        <p14:creationId xmlns:p14="http://schemas.microsoft.com/office/powerpoint/2010/main" val="2753019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7D52E18-11A9-027A-98B7-0BADC06179BF}"/>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851150" y="546100"/>
            <a:ext cx="6489700" cy="5765800"/>
          </a:xfrm>
          <a:prstGeom prst="rect">
            <a:avLst/>
          </a:prstGeom>
        </p:spPr>
      </p:pic>
      <p:sp>
        <p:nvSpPr>
          <p:cNvPr id="6" name="TextBox 5">
            <a:extLst>
              <a:ext uri="{FF2B5EF4-FFF2-40B4-BE49-F238E27FC236}">
                <a16:creationId xmlns:a16="http://schemas.microsoft.com/office/drawing/2014/main" id="{8C6E3D85-F080-C0F5-CBFD-2669E62C064D}"/>
              </a:ext>
            </a:extLst>
          </p:cNvPr>
          <p:cNvSpPr txBox="1"/>
          <p:nvPr/>
        </p:nvSpPr>
        <p:spPr>
          <a:xfrm>
            <a:off x="0" y="6488668"/>
            <a:ext cx="12198096" cy="369332"/>
          </a:xfrm>
          <a:prstGeom prst="rect">
            <a:avLst/>
          </a:prstGeom>
          <a:noFill/>
        </p:spPr>
        <p:txBody>
          <a:bodyPr wrap="square">
            <a:spAutoFit/>
          </a:bodyPr>
          <a:lstStyle/>
          <a:p>
            <a:pPr algn="r"/>
            <a:r>
              <a:rPr lang="en-US" b="0" i="0" u="none" strike="noStrike" dirty="0">
                <a:solidFill>
                  <a:srgbClr val="212121"/>
                </a:solidFill>
                <a:effectLst/>
                <a:latin typeface="BlinkMacSystemFont"/>
              </a:rPr>
              <a:t>O'Leary JG, Lepe R, Davis GL. Indications for liver transplantation. Gastroenterology. 2008 May;134(6):1764-76</a:t>
            </a:r>
            <a:endParaRPr lang="en-US" dirty="0"/>
          </a:p>
        </p:txBody>
      </p:sp>
      <p:sp>
        <p:nvSpPr>
          <p:cNvPr id="3" name="TextBox 2">
            <a:extLst>
              <a:ext uri="{FF2B5EF4-FFF2-40B4-BE49-F238E27FC236}">
                <a16:creationId xmlns:a16="http://schemas.microsoft.com/office/drawing/2014/main" id="{62C485FD-A7E7-E16F-CFAD-1036037751A8}"/>
              </a:ext>
            </a:extLst>
          </p:cNvPr>
          <p:cNvSpPr txBox="1"/>
          <p:nvPr/>
        </p:nvSpPr>
        <p:spPr>
          <a:xfrm>
            <a:off x="2985373" y="2288017"/>
            <a:ext cx="300082" cy="369332"/>
          </a:xfrm>
          <a:prstGeom prst="rect">
            <a:avLst/>
          </a:prstGeom>
          <a:noFill/>
        </p:spPr>
        <p:txBody>
          <a:bodyPr wrap="none" rtlCol="0">
            <a:spAutoFit/>
          </a:bodyPr>
          <a:lstStyle/>
          <a:p>
            <a:r>
              <a:rPr lang="en-US" dirty="0">
                <a:solidFill>
                  <a:srgbClr val="FF0000"/>
                </a:solidFill>
              </a:rPr>
              <a:t>*</a:t>
            </a:r>
          </a:p>
        </p:txBody>
      </p:sp>
    </p:spTree>
    <p:extLst>
      <p:ext uri="{BB962C8B-B14F-4D97-AF65-F5344CB8AC3E}">
        <p14:creationId xmlns:p14="http://schemas.microsoft.com/office/powerpoint/2010/main" val="8774449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F6B57E-9738-12BE-B23A-B3CDBF757CA6}"/>
              </a:ext>
            </a:extLst>
          </p:cNvPr>
          <p:cNvSpPr>
            <a:spLocks noGrp="1"/>
          </p:cNvSpPr>
          <p:nvPr>
            <p:ph type="title"/>
          </p:nvPr>
        </p:nvSpPr>
        <p:spPr/>
        <p:txBody>
          <a:bodyPr>
            <a:normAutofit/>
          </a:bodyPr>
          <a:lstStyle/>
          <a:p>
            <a:r>
              <a:rPr lang="en-US" sz="4800" dirty="0"/>
              <a:t>Is liver transplant worth all the trouble?</a:t>
            </a:r>
          </a:p>
        </p:txBody>
      </p:sp>
      <p:sp>
        <p:nvSpPr>
          <p:cNvPr id="3" name="Text Placeholder 2">
            <a:extLst>
              <a:ext uri="{FF2B5EF4-FFF2-40B4-BE49-F238E27FC236}">
                <a16:creationId xmlns:a16="http://schemas.microsoft.com/office/drawing/2014/main" id="{ABE7CE3A-197D-2DC8-3117-3262B5C17E22}"/>
              </a:ext>
            </a:extLst>
          </p:cNvPr>
          <p:cNvSpPr>
            <a:spLocks noGrp="1"/>
          </p:cNvSpPr>
          <p:nvPr>
            <p:ph type="body" idx="1"/>
          </p:nvPr>
        </p:nvSpPr>
        <p:spPr/>
        <p:txBody>
          <a:bodyPr/>
          <a:lstStyle/>
          <a:p>
            <a:endParaRPr lang="en-US"/>
          </a:p>
        </p:txBody>
      </p:sp>
      <p:pic>
        <p:nvPicPr>
          <p:cNvPr id="5" name="Picture 4">
            <a:extLst>
              <a:ext uri="{FF2B5EF4-FFF2-40B4-BE49-F238E27FC236}">
                <a16:creationId xmlns:a16="http://schemas.microsoft.com/office/drawing/2014/main" id="{7126CF5B-6490-4D9A-B188-7C4255C19F7B}"/>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073305" y="333215"/>
            <a:ext cx="4045390" cy="328606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6360533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5" name="Picture 1" descr="page22image811996048">
            <a:extLst>
              <a:ext uri="{FF2B5EF4-FFF2-40B4-BE49-F238E27FC236}">
                <a16:creationId xmlns:a16="http://schemas.microsoft.com/office/drawing/2014/main" id="{A2006239-C6A8-ECAA-B3F6-2928C966D4C6}"/>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1151206" y="649224"/>
            <a:ext cx="9889588" cy="5559552"/>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581FAF6C-8BDA-9DC5-0326-4857D9B936B2}"/>
              </a:ext>
            </a:extLst>
          </p:cNvPr>
          <p:cNvSpPr txBox="1"/>
          <p:nvPr/>
        </p:nvSpPr>
        <p:spPr>
          <a:xfrm>
            <a:off x="0" y="6488668"/>
            <a:ext cx="12195048" cy="369332"/>
          </a:xfrm>
          <a:prstGeom prst="rect">
            <a:avLst/>
          </a:prstGeom>
          <a:noFill/>
        </p:spPr>
        <p:txBody>
          <a:bodyPr wrap="square">
            <a:spAutoFit/>
          </a:bodyPr>
          <a:lstStyle/>
          <a:p>
            <a:pPr algn="r"/>
            <a:r>
              <a:rPr lang="en-US" b="0" i="0" u="none" strike="noStrike" dirty="0">
                <a:solidFill>
                  <a:srgbClr val="212121"/>
                </a:solidFill>
                <a:effectLst/>
                <a:latin typeface="BlinkMacSystemFont"/>
              </a:rPr>
              <a:t>Gastroenterology. 2003 Jan;124(1):91-6</a:t>
            </a:r>
            <a:endParaRPr lang="en-US" dirty="0"/>
          </a:p>
        </p:txBody>
      </p:sp>
    </p:spTree>
    <p:extLst>
      <p:ext uri="{BB962C8B-B14F-4D97-AF65-F5344CB8AC3E}">
        <p14:creationId xmlns:p14="http://schemas.microsoft.com/office/powerpoint/2010/main" val="41866164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858CB8D-61D6-89F1-4BD8-7A4F014C993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209800" y="514350"/>
            <a:ext cx="7772400" cy="5829300"/>
          </a:xfrm>
          <a:prstGeom prst="rect">
            <a:avLst/>
          </a:prstGeom>
        </p:spPr>
      </p:pic>
    </p:spTree>
    <p:extLst>
      <p:ext uri="{BB962C8B-B14F-4D97-AF65-F5344CB8AC3E}">
        <p14:creationId xmlns:p14="http://schemas.microsoft.com/office/powerpoint/2010/main" val="3453239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5D172B-1035-F3C6-7958-3ADD36E0BE32}"/>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39593840-F711-8633-31EA-86B905812A90}"/>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209800" y="514350"/>
            <a:ext cx="7772400" cy="5829300"/>
          </a:xfrm>
          <a:prstGeom prst="rect">
            <a:avLst/>
          </a:prstGeom>
        </p:spPr>
      </p:pic>
      <p:cxnSp>
        <p:nvCxnSpPr>
          <p:cNvPr id="4" name="Straight Arrow Connector 3">
            <a:extLst>
              <a:ext uri="{FF2B5EF4-FFF2-40B4-BE49-F238E27FC236}">
                <a16:creationId xmlns:a16="http://schemas.microsoft.com/office/drawing/2014/main" id="{6ACC6AC2-1150-DFDD-075E-18E03BD60BEC}"/>
              </a:ext>
            </a:extLst>
          </p:cNvPr>
          <p:cNvCxnSpPr/>
          <p:nvPr/>
        </p:nvCxnSpPr>
        <p:spPr>
          <a:xfrm flipH="1">
            <a:off x="6096000" y="2202873"/>
            <a:ext cx="88669" cy="515389"/>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5" name="TextBox 4">
            <a:extLst>
              <a:ext uri="{FF2B5EF4-FFF2-40B4-BE49-F238E27FC236}">
                <a16:creationId xmlns:a16="http://schemas.microsoft.com/office/drawing/2014/main" id="{C614CD23-840A-9169-44B2-2F52EC8CE7C4}"/>
              </a:ext>
            </a:extLst>
          </p:cNvPr>
          <p:cNvSpPr txBox="1"/>
          <p:nvPr/>
        </p:nvSpPr>
        <p:spPr>
          <a:xfrm>
            <a:off x="4414569" y="1833541"/>
            <a:ext cx="3540200" cy="369332"/>
          </a:xfrm>
          <a:prstGeom prst="rect">
            <a:avLst/>
          </a:prstGeom>
          <a:noFill/>
        </p:spPr>
        <p:txBody>
          <a:bodyPr wrap="none" rtlCol="0">
            <a:spAutoFit/>
          </a:bodyPr>
          <a:lstStyle/>
          <a:p>
            <a:r>
              <a:rPr lang="en-US" dirty="0"/>
              <a:t>How come mortality dropped here?</a:t>
            </a:r>
          </a:p>
        </p:txBody>
      </p:sp>
    </p:spTree>
    <p:extLst>
      <p:ext uri="{BB962C8B-B14F-4D97-AF65-F5344CB8AC3E}">
        <p14:creationId xmlns:p14="http://schemas.microsoft.com/office/powerpoint/2010/main" val="29351071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EC5C210-0EBC-2457-396E-7A34DC2214E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209800" y="514350"/>
            <a:ext cx="7772400" cy="5829300"/>
          </a:xfrm>
          <a:prstGeom prst="rect">
            <a:avLst/>
          </a:prstGeom>
        </p:spPr>
      </p:pic>
    </p:spTree>
    <p:extLst>
      <p:ext uri="{BB962C8B-B14F-4D97-AF65-F5344CB8AC3E}">
        <p14:creationId xmlns:p14="http://schemas.microsoft.com/office/powerpoint/2010/main" val="15126568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4C55401-A663-A946-11AA-CF6F74B41BE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209800" y="514350"/>
            <a:ext cx="7772400" cy="5829300"/>
          </a:xfrm>
          <a:prstGeom prst="rect">
            <a:avLst/>
          </a:prstGeom>
        </p:spPr>
      </p:pic>
    </p:spTree>
    <p:extLst>
      <p:ext uri="{BB962C8B-B14F-4D97-AF65-F5344CB8AC3E}">
        <p14:creationId xmlns:p14="http://schemas.microsoft.com/office/powerpoint/2010/main" val="25475745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398146-C744-F6DA-EA63-793182B34D39}"/>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481072" y="1323642"/>
            <a:ext cx="7229856" cy="4863358"/>
          </a:xfrm>
          <a:prstGeom prst="rect">
            <a:avLst/>
          </a:prstGeom>
        </p:spPr>
      </p:pic>
      <p:sp>
        <p:nvSpPr>
          <p:cNvPr id="4" name="TextBox 3">
            <a:extLst>
              <a:ext uri="{FF2B5EF4-FFF2-40B4-BE49-F238E27FC236}">
                <a16:creationId xmlns:a16="http://schemas.microsoft.com/office/drawing/2014/main" id="{C4956660-5139-E8AF-23DA-7C0D075E9D77}"/>
              </a:ext>
            </a:extLst>
          </p:cNvPr>
          <p:cNvSpPr txBox="1"/>
          <p:nvPr/>
        </p:nvSpPr>
        <p:spPr>
          <a:xfrm>
            <a:off x="0" y="6488668"/>
            <a:ext cx="12192000" cy="369332"/>
          </a:xfrm>
          <a:prstGeom prst="rect">
            <a:avLst/>
          </a:prstGeom>
          <a:noFill/>
        </p:spPr>
        <p:txBody>
          <a:bodyPr wrap="square">
            <a:spAutoFit/>
          </a:bodyPr>
          <a:lstStyle/>
          <a:p>
            <a:pPr algn="r"/>
            <a:r>
              <a:rPr lang="en-US" dirty="0"/>
              <a:t>Watt, K. D. Nat. Rev. Gastroenterol. Hepatol. 12, 639–648 (2015) </a:t>
            </a:r>
          </a:p>
        </p:txBody>
      </p:sp>
      <p:sp>
        <p:nvSpPr>
          <p:cNvPr id="5" name="Title 4">
            <a:extLst>
              <a:ext uri="{FF2B5EF4-FFF2-40B4-BE49-F238E27FC236}">
                <a16:creationId xmlns:a16="http://schemas.microsoft.com/office/drawing/2014/main" id="{1B56167A-760F-FB0F-6188-B14BF4A18293}"/>
              </a:ext>
            </a:extLst>
          </p:cNvPr>
          <p:cNvSpPr>
            <a:spLocks noGrp="1"/>
          </p:cNvSpPr>
          <p:nvPr>
            <p:ph type="title"/>
          </p:nvPr>
        </p:nvSpPr>
        <p:spPr/>
        <p:txBody>
          <a:bodyPr>
            <a:normAutofit fontScale="90000"/>
          </a:bodyPr>
          <a:lstStyle/>
          <a:p>
            <a:r>
              <a:rPr lang="en-US" dirty="0"/>
              <a:t>Overall survival after adult liver transplantation </a:t>
            </a:r>
            <a:br>
              <a:rPr lang="en-US" dirty="0"/>
            </a:br>
            <a:endParaRPr lang="en-US" dirty="0"/>
          </a:p>
        </p:txBody>
      </p:sp>
    </p:spTree>
    <p:extLst>
      <p:ext uri="{BB962C8B-B14F-4D97-AF65-F5344CB8AC3E}">
        <p14:creationId xmlns:p14="http://schemas.microsoft.com/office/powerpoint/2010/main" val="5181747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1349C0-8ECA-CB67-F769-19B465B2890F}"/>
              </a:ext>
            </a:extLst>
          </p:cNvPr>
          <p:cNvSpPr>
            <a:spLocks noGrp="1"/>
          </p:cNvSpPr>
          <p:nvPr>
            <p:ph type="title"/>
          </p:nvPr>
        </p:nvSpPr>
        <p:spPr>
          <a:xfrm>
            <a:off x="831850" y="2741584"/>
            <a:ext cx="10515600" cy="2852737"/>
          </a:xfrm>
        </p:spPr>
        <p:txBody>
          <a:bodyPr>
            <a:normAutofit/>
          </a:bodyPr>
          <a:lstStyle/>
          <a:p>
            <a:r>
              <a:rPr lang="en-US" sz="4000" dirty="0"/>
              <a:t>How does a patient end up with a liver transplant?</a:t>
            </a:r>
          </a:p>
        </p:txBody>
      </p:sp>
      <p:sp>
        <p:nvSpPr>
          <p:cNvPr id="3" name="Text Placeholder 2">
            <a:extLst>
              <a:ext uri="{FF2B5EF4-FFF2-40B4-BE49-F238E27FC236}">
                <a16:creationId xmlns:a16="http://schemas.microsoft.com/office/drawing/2014/main" id="{50C13736-DBA9-BCC3-2474-F70FB3E040A1}"/>
              </a:ext>
            </a:extLst>
          </p:cNvPr>
          <p:cNvSpPr>
            <a:spLocks noGrp="1"/>
          </p:cNvSpPr>
          <p:nvPr>
            <p:ph type="body" idx="1"/>
          </p:nvPr>
        </p:nvSpPr>
        <p:spPr>
          <a:xfrm>
            <a:off x="831850" y="5621309"/>
            <a:ext cx="10515600" cy="1500187"/>
          </a:xfrm>
        </p:spPr>
        <p:txBody>
          <a:bodyPr/>
          <a:lstStyle/>
          <a:p>
            <a:r>
              <a:rPr lang="en-US" dirty="0"/>
              <a:t>Timeline</a:t>
            </a:r>
          </a:p>
        </p:txBody>
      </p:sp>
      <p:pic>
        <p:nvPicPr>
          <p:cNvPr id="5" name="Picture 4">
            <a:extLst>
              <a:ext uri="{FF2B5EF4-FFF2-40B4-BE49-F238E27FC236}">
                <a16:creationId xmlns:a16="http://schemas.microsoft.com/office/drawing/2014/main" id="{924490F1-9205-4F83-AA31-094D49532768}"/>
              </a:ext>
            </a:extLst>
          </p:cNvPr>
          <p:cNvPicPr>
            <a:picLocks noChangeAspect="1"/>
          </p:cNvPicPr>
          <p:nvPr/>
        </p:nvPicPr>
        <p:blipFill>
          <a:blip r:embed="rId2"/>
          <a:stretch>
            <a:fillRect/>
          </a:stretch>
        </p:blipFill>
        <p:spPr>
          <a:xfrm>
            <a:off x="3652496" y="0"/>
            <a:ext cx="4887007" cy="4696480"/>
          </a:xfrm>
          <a:prstGeom prst="rect">
            <a:avLst/>
          </a:prstGeom>
        </p:spPr>
      </p:pic>
    </p:spTree>
    <p:extLst>
      <p:ext uri="{BB962C8B-B14F-4D97-AF65-F5344CB8AC3E}">
        <p14:creationId xmlns:p14="http://schemas.microsoft.com/office/powerpoint/2010/main" val="26131837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FD97EB-C243-26D2-65A8-2C42D2DD3FAE}"/>
              </a:ext>
            </a:extLst>
          </p:cNvPr>
          <p:cNvSpPr>
            <a:spLocks noGrp="1"/>
          </p:cNvSpPr>
          <p:nvPr>
            <p:ph type="title"/>
          </p:nvPr>
        </p:nvSpPr>
        <p:spPr/>
        <p:txBody>
          <a:bodyPr/>
          <a:lstStyle/>
          <a:p>
            <a:r>
              <a:rPr lang="en-US" dirty="0"/>
              <a:t>Whom to refer?</a:t>
            </a:r>
          </a:p>
        </p:txBody>
      </p:sp>
      <p:sp>
        <p:nvSpPr>
          <p:cNvPr id="3" name="Content Placeholder 2">
            <a:extLst>
              <a:ext uri="{FF2B5EF4-FFF2-40B4-BE49-F238E27FC236}">
                <a16:creationId xmlns:a16="http://schemas.microsoft.com/office/drawing/2014/main" id="{6F1BE358-9143-0D0F-0A38-6AA581870128}"/>
              </a:ext>
            </a:extLst>
          </p:cNvPr>
          <p:cNvSpPr>
            <a:spLocks noGrp="1"/>
          </p:cNvSpPr>
          <p:nvPr>
            <p:ph idx="1"/>
          </p:nvPr>
        </p:nvSpPr>
        <p:spPr/>
        <p:txBody>
          <a:bodyPr/>
          <a:lstStyle/>
          <a:p>
            <a:r>
              <a:rPr lang="en-US" b="1" dirty="0"/>
              <a:t>Any decompensated cirrhotic</a:t>
            </a:r>
          </a:p>
          <a:p>
            <a:pPr lvl="1"/>
            <a:r>
              <a:rPr lang="en-US" dirty="0"/>
              <a:t>Ascites, variceal bleed, HCC, hepatic encephalopathy etc. </a:t>
            </a:r>
          </a:p>
          <a:p>
            <a:r>
              <a:rPr lang="en-US" b="1" dirty="0"/>
              <a:t>Compensated cirrhotic with MELD 3.0 &gt;= 15 (persistently)</a:t>
            </a:r>
          </a:p>
          <a:p>
            <a:endParaRPr lang="en-US" dirty="0"/>
          </a:p>
          <a:p>
            <a:r>
              <a:rPr lang="en-US" u="sng" dirty="0"/>
              <a:t>Patient should be agreeable!</a:t>
            </a:r>
          </a:p>
          <a:p>
            <a:r>
              <a:rPr lang="en-US" i="1" dirty="0"/>
              <a:t>No obvious absolute contraindications (for example EF = 30%)</a:t>
            </a:r>
          </a:p>
          <a:p>
            <a:endParaRPr lang="en-US" dirty="0"/>
          </a:p>
        </p:txBody>
      </p:sp>
    </p:spTree>
    <p:extLst>
      <p:ext uri="{BB962C8B-B14F-4D97-AF65-F5344CB8AC3E}">
        <p14:creationId xmlns:p14="http://schemas.microsoft.com/office/powerpoint/2010/main" val="24011219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5A08E-323D-9840-E97E-73727F3DAB97}"/>
              </a:ext>
            </a:extLst>
          </p:cNvPr>
          <p:cNvSpPr>
            <a:spLocks noGrp="1"/>
          </p:cNvSpPr>
          <p:nvPr>
            <p:ph type="title"/>
          </p:nvPr>
        </p:nvSpPr>
        <p:spPr/>
        <p:txBody>
          <a:bodyPr>
            <a:normAutofit/>
          </a:bodyPr>
          <a:lstStyle/>
          <a:p>
            <a:r>
              <a:rPr lang="en-US" dirty="0"/>
              <a:t>Why MELD of 15 Became Dogma?</a:t>
            </a:r>
          </a:p>
        </p:txBody>
      </p:sp>
      <p:sp>
        <p:nvSpPr>
          <p:cNvPr id="4" name="Content Placeholder 3">
            <a:extLst>
              <a:ext uri="{FF2B5EF4-FFF2-40B4-BE49-F238E27FC236}">
                <a16:creationId xmlns:a16="http://schemas.microsoft.com/office/drawing/2014/main" id="{A5E566DA-B300-79B8-6A4E-A8D8663F3613}"/>
              </a:ext>
            </a:extLst>
          </p:cNvPr>
          <p:cNvSpPr>
            <a:spLocks noGrp="1"/>
          </p:cNvSpPr>
          <p:nvPr>
            <p:ph sz="half" idx="1"/>
          </p:nvPr>
        </p:nvSpPr>
        <p:spPr>
          <a:xfrm>
            <a:off x="477327" y="1647645"/>
            <a:ext cx="5542473" cy="4468483"/>
          </a:xfrm>
        </p:spPr>
        <p:txBody>
          <a:bodyPr>
            <a:normAutofit fontScale="92500" lnSpcReduction="20000"/>
          </a:bodyPr>
          <a:lstStyle/>
          <a:p>
            <a:pPr marL="0" indent="0" algn="ctr">
              <a:buNone/>
            </a:pPr>
            <a:r>
              <a:rPr lang="en-US" b="1" dirty="0"/>
              <a:t>Original UNOS Era Analysis</a:t>
            </a:r>
          </a:p>
          <a:p>
            <a:endParaRPr lang="en-US" dirty="0"/>
          </a:p>
          <a:p>
            <a:r>
              <a:rPr lang="en-US" sz="2600" dirty="0"/>
              <a:t>The "MELD 15" rule was set by original analyses showing that patients transplanted with MELD &lt; 15 did </a:t>
            </a:r>
            <a:r>
              <a:rPr lang="en-US" sz="2600" b="1" dirty="0"/>
              <a:t>worse</a:t>
            </a:r>
            <a:r>
              <a:rPr lang="en-US" sz="2600" dirty="0"/>
              <a:t> than similar patients who remained on the waitlist.</a:t>
            </a:r>
          </a:p>
          <a:p>
            <a:pPr lvl="1"/>
            <a:r>
              <a:rPr lang="en-US" sz="2200" dirty="0"/>
              <a:t>MELD 6–11: Post-LT mortality was significantly higher.</a:t>
            </a:r>
          </a:p>
          <a:p>
            <a:pPr lvl="1"/>
            <a:r>
              <a:rPr lang="en-US" sz="2200" dirty="0"/>
              <a:t>MELD 12–14: Post-LT mortality was still higher.</a:t>
            </a:r>
          </a:p>
          <a:p>
            <a:pPr marL="457200" lvl="1" indent="0">
              <a:buNone/>
            </a:pPr>
            <a:endParaRPr lang="en-US" sz="2200" dirty="0"/>
          </a:p>
          <a:p>
            <a:r>
              <a:rPr lang="en-US" sz="2600" b="1" dirty="0"/>
              <a:t>Conclusion</a:t>
            </a:r>
            <a:r>
              <a:rPr lang="en-US" sz="2600" dirty="0"/>
              <a:t>: Survival benefit was determined to start only at a MELD score of 15–18</a:t>
            </a:r>
            <a:r>
              <a:rPr lang="en-US" sz="3200" dirty="0"/>
              <a:t>.</a:t>
            </a:r>
          </a:p>
        </p:txBody>
      </p:sp>
      <p:sp>
        <p:nvSpPr>
          <p:cNvPr id="5" name="Content Placeholder 4">
            <a:extLst>
              <a:ext uri="{FF2B5EF4-FFF2-40B4-BE49-F238E27FC236}">
                <a16:creationId xmlns:a16="http://schemas.microsoft.com/office/drawing/2014/main" id="{97DE5A0C-493A-A01C-41D4-2EEA6CC66B69}"/>
              </a:ext>
            </a:extLst>
          </p:cNvPr>
          <p:cNvSpPr>
            <a:spLocks noGrp="1"/>
          </p:cNvSpPr>
          <p:nvPr>
            <p:ph sz="half" idx="2"/>
          </p:nvPr>
        </p:nvSpPr>
        <p:spPr>
          <a:xfrm>
            <a:off x="6172200" y="1647645"/>
            <a:ext cx="5542472" cy="4529318"/>
          </a:xfrm>
        </p:spPr>
        <p:txBody>
          <a:bodyPr>
            <a:normAutofit fontScale="92500" lnSpcReduction="20000"/>
          </a:bodyPr>
          <a:lstStyle/>
          <a:p>
            <a:pPr marL="0" indent="0" algn="ctr">
              <a:buNone/>
            </a:pPr>
            <a:r>
              <a:rPr lang="en-US" b="1" dirty="0"/>
              <a:t>Subsequent Analysis &amp; Policy</a:t>
            </a:r>
          </a:p>
          <a:p>
            <a:endParaRPr lang="en-US" dirty="0"/>
          </a:p>
          <a:p>
            <a:r>
              <a:rPr lang="en-US" dirty="0"/>
              <a:t>A follow-up decision analysis in 2009 reached the same practical conclusion: LT with MELD ≤ 14 usually does not provide a survival benefit.</a:t>
            </a:r>
          </a:p>
          <a:p>
            <a:pPr lvl="1"/>
            <a:r>
              <a:rPr lang="en-US" dirty="0"/>
              <a:t>This cemented "15" as the threshold for transplant benefit.</a:t>
            </a:r>
          </a:p>
          <a:p>
            <a:pPr lvl="1"/>
            <a:r>
              <a:rPr lang="en-US" dirty="0"/>
              <a:t>Subsequent reviews of MELD-based allocation continued to state that DDLT at MELD &lt; 15 is harmful or, at best, neutral.</a:t>
            </a:r>
          </a:p>
          <a:p>
            <a:r>
              <a:rPr lang="en-US" b="1" dirty="0"/>
              <a:t>Conclusion</a:t>
            </a:r>
            <a:r>
              <a:rPr lang="en-US" dirty="0"/>
              <a:t>: This is why "15" remains the widely quoted threshold for DDLT benefit.</a:t>
            </a:r>
          </a:p>
        </p:txBody>
      </p:sp>
      <p:sp>
        <p:nvSpPr>
          <p:cNvPr id="7" name="TextBox 6">
            <a:extLst>
              <a:ext uri="{FF2B5EF4-FFF2-40B4-BE49-F238E27FC236}">
                <a16:creationId xmlns:a16="http://schemas.microsoft.com/office/drawing/2014/main" id="{F1DE7101-EAB6-1740-038D-1E9F9D909B39}"/>
              </a:ext>
            </a:extLst>
          </p:cNvPr>
          <p:cNvSpPr txBox="1"/>
          <p:nvPr/>
        </p:nvSpPr>
        <p:spPr>
          <a:xfrm>
            <a:off x="0" y="6488668"/>
            <a:ext cx="6094562" cy="369332"/>
          </a:xfrm>
          <a:prstGeom prst="rect">
            <a:avLst/>
          </a:prstGeom>
          <a:noFill/>
        </p:spPr>
        <p:txBody>
          <a:bodyPr wrap="square">
            <a:spAutoFit/>
          </a:bodyPr>
          <a:lstStyle/>
          <a:p>
            <a:r>
              <a:rPr lang="en-US" b="0" i="0" u="none" strike="noStrike" dirty="0">
                <a:solidFill>
                  <a:srgbClr val="212121"/>
                </a:solidFill>
                <a:effectLst/>
                <a:latin typeface="BlinkMacSystemFont"/>
              </a:rPr>
              <a:t>Am J Transplant. 2005 Feb;5(2):307-13.</a:t>
            </a:r>
            <a:endParaRPr lang="en-US" dirty="0"/>
          </a:p>
        </p:txBody>
      </p:sp>
      <p:sp>
        <p:nvSpPr>
          <p:cNvPr id="9" name="TextBox 8">
            <a:extLst>
              <a:ext uri="{FF2B5EF4-FFF2-40B4-BE49-F238E27FC236}">
                <a16:creationId xmlns:a16="http://schemas.microsoft.com/office/drawing/2014/main" id="{A6776C35-D6E7-1FC2-0E20-9C946994673A}"/>
              </a:ext>
            </a:extLst>
          </p:cNvPr>
          <p:cNvSpPr txBox="1"/>
          <p:nvPr/>
        </p:nvSpPr>
        <p:spPr>
          <a:xfrm>
            <a:off x="6172200" y="6470413"/>
            <a:ext cx="6019800" cy="369332"/>
          </a:xfrm>
          <a:prstGeom prst="rect">
            <a:avLst/>
          </a:prstGeom>
          <a:noFill/>
        </p:spPr>
        <p:txBody>
          <a:bodyPr wrap="square">
            <a:spAutoFit/>
          </a:bodyPr>
          <a:lstStyle/>
          <a:p>
            <a:pPr algn="r"/>
            <a:r>
              <a:rPr lang="en-US" b="0" i="0" u="none" strike="noStrike" dirty="0">
                <a:solidFill>
                  <a:srgbClr val="212121"/>
                </a:solidFill>
                <a:effectLst/>
                <a:latin typeface="BlinkMacSystemFont"/>
              </a:rPr>
              <a:t>Liver </a:t>
            </a:r>
            <a:r>
              <a:rPr lang="en-US" b="0" i="0" u="none" strike="noStrike" dirty="0" err="1">
                <a:solidFill>
                  <a:srgbClr val="212121"/>
                </a:solidFill>
                <a:effectLst/>
                <a:latin typeface="BlinkMacSystemFont"/>
              </a:rPr>
              <a:t>Transpl</a:t>
            </a:r>
            <a:r>
              <a:rPr lang="en-US" b="0" i="0" u="none" strike="noStrike" dirty="0">
                <a:solidFill>
                  <a:srgbClr val="212121"/>
                </a:solidFill>
                <a:effectLst/>
                <a:latin typeface="BlinkMacSystemFont"/>
              </a:rPr>
              <a:t>. 2009 Feb;15(2):242-54.</a:t>
            </a:r>
            <a:endParaRPr lang="en-US" dirty="0"/>
          </a:p>
        </p:txBody>
      </p:sp>
    </p:spTree>
    <p:extLst>
      <p:ext uri="{BB962C8B-B14F-4D97-AF65-F5344CB8AC3E}">
        <p14:creationId xmlns:p14="http://schemas.microsoft.com/office/powerpoint/2010/main" val="13185641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9C0F8C7-483B-5C94-E6A1-B215B5F05A82}"/>
              </a:ext>
            </a:extLst>
          </p:cNvPr>
          <p:cNvSpPr>
            <a:spLocks noGrp="1"/>
          </p:cNvSpPr>
          <p:nvPr>
            <p:ph type="title"/>
          </p:nvPr>
        </p:nvSpPr>
        <p:spPr/>
        <p:txBody>
          <a:bodyPr/>
          <a:lstStyle/>
          <a:p>
            <a:r>
              <a:rPr lang="en-US" dirty="0"/>
              <a:t>Benefit below MELD 15?</a:t>
            </a:r>
          </a:p>
        </p:txBody>
      </p:sp>
      <p:sp>
        <p:nvSpPr>
          <p:cNvPr id="6" name="Text Placeholder 5">
            <a:extLst>
              <a:ext uri="{FF2B5EF4-FFF2-40B4-BE49-F238E27FC236}">
                <a16:creationId xmlns:a16="http://schemas.microsoft.com/office/drawing/2014/main" id="{F3ACB266-C3CD-0D6E-0E74-0E679C7C2187}"/>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8739407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76A39596-A500-E29D-0B77-D08057C20039}"/>
              </a:ext>
            </a:extLst>
          </p:cNvPr>
          <p:cNvPicPr>
            <a:picLocks noGrp="1" noChangeAspect="1"/>
          </p:cNvPicPr>
          <p:nvPr>
            <p:ph idx="1"/>
          </p:nvPr>
        </p:nvPicPr>
        <p:blipFill>
          <a:blip r:embed="rId2" cstate="email">
            <a:extLst>
              <a:ext uri="{28A0092B-C50C-407E-A947-70E740481C1C}">
                <a14:useLocalDpi xmlns:a14="http://schemas.microsoft.com/office/drawing/2010/main"/>
              </a:ext>
            </a:extLst>
          </a:blip>
          <a:stretch>
            <a:fillRect/>
          </a:stretch>
        </p:blipFill>
        <p:spPr>
          <a:xfrm>
            <a:off x="3270062" y="1917778"/>
            <a:ext cx="5651876" cy="4027494"/>
          </a:xfrm>
          <a:prstGeom prst="rect">
            <a:avLst/>
          </a:prstGeom>
        </p:spPr>
      </p:pic>
      <p:pic>
        <p:nvPicPr>
          <p:cNvPr id="6" name="Picture 5">
            <a:extLst>
              <a:ext uri="{FF2B5EF4-FFF2-40B4-BE49-F238E27FC236}">
                <a16:creationId xmlns:a16="http://schemas.microsoft.com/office/drawing/2014/main" id="{F6A879F1-ECEE-B4D7-5245-922FA5C9590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209800" y="175689"/>
            <a:ext cx="7772400" cy="1742089"/>
          </a:xfrm>
          <a:prstGeom prst="rect">
            <a:avLst/>
          </a:prstGeom>
        </p:spPr>
      </p:pic>
      <p:sp>
        <p:nvSpPr>
          <p:cNvPr id="10" name="Content Placeholder 6">
            <a:extLst>
              <a:ext uri="{FF2B5EF4-FFF2-40B4-BE49-F238E27FC236}">
                <a16:creationId xmlns:a16="http://schemas.microsoft.com/office/drawing/2014/main" id="{7102A502-7C08-B377-E4FF-9C73F8CB4F26}"/>
              </a:ext>
            </a:extLst>
          </p:cNvPr>
          <p:cNvSpPr txBox="1">
            <a:spLocks/>
          </p:cNvSpPr>
          <p:nvPr/>
        </p:nvSpPr>
        <p:spPr>
          <a:xfrm>
            <a:off x="838200" y="6012611"/>
            <a:ext cx="10515600" cy="5520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dirty="0"/>
              <a:t>One-year mortality of LDLT vs remaining on the list</a:t>
            </a:r>
          </a:p>
        </p:txBody>
      </p:sp>
      <p:cxnSp>
        <p:nvCxnSpPr>
          <p:cNvPr id="11" name="Straight Connector 10">
            <a:extLst>
              <a:ext uri="{FF2B5EF4-FFF2-40B4-BE49-F238E27FC236}">
                <a16:creationId xmlns:a16="http://schemas.microsoft.com/office/drawing/2014/main" id="{CA5AC600-D598-FEBE-057B-16EDCC0B4EBF}"/>
              </a:ext>
            </a:extLst>
          </p:cNvPr>
          <p:cNvCxnSpPr>
            <a:cxnSpLocks/>
          </p:cNvCxnSpPr>
          <p:nvPr/>
        </p:nvCxnSpPr>
        <p:spPr>
          <a:xfrm>
            <a:off x="4118764" y="1800005"/>
            <a:ext cx="1548791" cy="0"/>
          </a:xfrm>
          <a:prstGeom prst="line">
            <a:avLst/>
          </a:prstGeom>
          <a:ln w="19050">
            <a:solidFill>
              <a:srgbClr val="FF0000"/>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250182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3898073-5AC8-4E3E-D15A-898793EFA04A}"/>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209800" y="172824"/>
            <a:ext cx="7772400" cy="2147386"/>
          </a:xfrm>
          <a:prstGeom prst="rect">
            <a:avLst/>
          </a:prstGeom>
        </p:spPr>
      </p:pic>
      <p:pic>
        <p:nvPicPr>
          <p:cNvPr id="5" name="Picture 4">
            <a:extLst>
              <a:ext uri="{FF2B5EF4-FFF2-40B4-BE49-F238E27FC236}">
                <a16:creationId xmlns:a16="http://schemas.microsoft.com/office/drawing/2014/main" id="{DF62C27E-D4BD-0FF9-F238-BEE98908C38D}"/>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511550" y="2505431"/>
            <a:ext cx="5168900" cy="3340100"/>
          </a:xfrm>
          <a:prstGeom prst="rect">
            <a:avLst/>
          </a:prstGeom>
        </p:spPr>
      </p:pic>
      <p:sp>
        <p:nvSpPr>
          <p:cNvPr id="7" name="Content Placeholder 6">
            <a:extLst>
              <a:ext uri="{FF2B5EF4-FFF2-40B4-BE49-F238E27FC236}">
                <a16:creationId xmlns:a16="http://schemas.microsoft.com/office/drawing/2014/main" id="{6867139D-5F22-7E27-D9A2-BCDE13EE2EF4}"/>
              </a:ext>
            </a:extLst>
          </p:cNvPr>
          <p:cNvSpPr>
            <a:spLocks noGrp="1"/>
          </p:cNvSpPr>
          <p:nvPr>
            <p:ph idx="1"/>
          </p:nvPr>
        </p:nvSpPr>
        <p:spPr>
          <a:xfrm>
            <a:off x="838200" y="5952225"/>
            <a:ext cx="10515600" cy="552091"/>
          </a:xfrm>
        </p:spPr>
        <p:txBody>
          <a:bodyPr>
            <a:normAutofit/>
          </a:bodyPr>
          <a:lstStyle/>
          <a:p>
            <a:pPr marL="0" indent="0" algn="ctr">
              <a:buNone/>
            </a:pPr>
            <a:r>
              <a:rPr lang="en-US" dirty="0"/>
              <a:t>One-year mortality of DDLT vs remaining on the list</a:t>
            </a:r>
          </a:p>
        </p:txBody>
      </p:sp>
      <p:cxnSp>
        <p:nvCxnSpPr>
          <p:cNvPr id="8" name="Straight Connector 7">
            <a:extLst>
              <a:ext uri="{FF2B5EF4-FFF2-40B4-BE49-F238E27FC236}">
                <a16:creationId xmlns:a16="http://schemas.microsoft.com/office/drawing/2014/main" id="{BF076F6B-BBD8-4DAE-2540-62D851BB0DDA}"/>
              </a:ext>
            </a:extLst>
          </p:cNvPr>
          <p:cNvCxnSpPr>
            <a:cxnSpLocks/>
          </p:cNvCxnSpPr>
          <p:nvPr/>
        </p:nvCxnSpPr>
        <p:spPr>
          <a:xfrm>
            <a:off x="5835420" y="2196820"/>
            <a:ext cx="1548791" cy="0"/>
          </a:xfrm>
          <a:prstGeom prst="line">
            <a:avLst/>
          </a:prstGeom>
          <a:ln w="19050">
            <a:solidFill>
              <a:srgbClr val="FF0000"/>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2617057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27499" y="1"/>
            <a:ext cx="11937003" cy="1135890"/>
          </a:xfrm>
        </p:spPr>
        <p:txBody>
          <a:bodyPr>
            <a:normAutofit fontScale="90000"/>
          </a:bodyPr>
          <a:lstStyle/>
          <a:p>
            <a:pPr algn="ctr"/>
            <a:r>
              <a:rPr lang="en-US" b="1" dirty="0"/>
              <a:t>The High Burden of Mortality in Low MELD Patients </a:t>
            </a:r>
            <a:br>
              <a:rPr lang="en-US" b="1" dirty="0"/>
            </a:br>
            <a:r>
              <a:rPr lang="en-US" b="1" dirty="0"/>
              <a:t>with Cirrhosis on the Wait List </a:t>
            </a:r>
            <a:endParaRPr lang="en-US" b="1" dirty="0">
              <a:solidFill>
                <a:srgbClr val="002060"/>
              </a:solidFill>
            </a:endParaRPr>
          </a:p>
        </p:txBody>
      </p:sp>
      <p:sp>
        <p:nvSpPr>
          <p:cNvPr id="17" name="Title 3"/>
          <p:cNvSpPr txBox="1">
            <a:spLocks/>
          </p:cNvSpPr>
          <p:nvPr/>
        </p:nvSpPr>
        <p:spPr>
          <a:xfrm>
            <a:off x="98924" y="5983412"/>
            <a:ext cx="8701026" cy="51454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defRPr/>
            </a:pPr>
            <a:r>
              <a:rPr lang="en-US" sz="1800" dirty="0"/>
              <a:t>Whitney E. Jackson, MD; Carlos Goncalves, PhD; </a:t>
            </a:r>
            <a:r>
              <a:rPr lang="en-US" sz="1800" dirty="0">
                <a:highlight>
                  <a:srgbClr val="FFFF00"/>
                </a:highlight>
              </a:rPr>
              <a:t>James J. Pomposelli, MD, PhD</a:t>
            </a:r>
            <a:r>
              <a:rPr lang="en-US" sz="1800" dirty="0"/>
              <a:t>; John S. Malamon, PhD; Bruce Kaplan, MD</a:t>
            </a:r>
            <a:r>
              <a:rPr lang="en-US" sz="1800" b="1" dirty="0">
                <a:solidFill>
                  <a:prstClr val="black"/>
                </a:solidFill>
              </a:rPr>
              <a:t>. </a:t>
            </a:r>
            <a:r>
              <a:rPr lang="en-US" sz="1800" b="1" i="1" dirty="0">
                <a:solidFill>
                  <a:prstClr val="black"/>
                </a:solidFill>
              </a:rPr>
              <a:t>Transplantation</a:t>
            </a:r>
            <a:r>
              <a:rPr lang="en-US" sz="1800" b="1" dirty="0">
                <a:solidFill>
                  <a:prstClr val="black"/>
                </a:solidFill>
              </a:rPr>
              <a:t>. 2025.</a:t>
            </a:r>
          </a:p>
        </p:txBody>
      </p:sp>
      <p:sp>
        <p:nvSpPr>
          <p:cNvPr id="18" name="Title 3"/>
          <p:cNvSpPr txBox="1">
            <a:spLocks/>
          </p:cNvSpPr>
          <p:nvPr/>
        </p:nvSpPr>
        <p:spPr>
          <a:xfrm>
            <a:off x="129085" y="6532401"/>
            <a:ext cx="11710490" cy="315035"/>
          </a:xfrm>
          <a:prstGeom prst="rect">
            <a:avLst/>
          </a:prstGeom>
        </p:spPr>
        <p:txBody>
          <a:bodyPr vert="horz" lIns="91440" tIns="45720" rIns="91440" bIns="45720" rtlCol="0" anchor="ctr">
            <a:normAutofit fontScale="2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8000" b="1" i="0" u="none" strike="noStrike" kern="1200" cap="none" spc="0" normalizeH="0" baseline="0" noProof="0" dirty="0">
                <a:ln>
                  <a:noFill/>
                </a:ln>
                <a:solidFill>
                  <a:prstClr val="black"/>
                </a:solidFill>
                <a:effectLst/>
                <a:uLnTx/>
                <a:uFillTx/>
                <a:latin typeface="Calibri Light" panose="020F0302020204030204"/>
                <a:ea typeface="+mj-ea"/>
                <a:cs typeface="+mj-cs"/>
              </a:rPr>
              <a:t>@TransplantJrnl                                            </a:t>
            </a:r>
            <a:r>
              <a:rPr kumimoji="0" lang="en-US" sz="4000" b="0" i="0" u="none" strike="noStrike" kern="1200" cap="none" spc="0" normalizeH="0" baseline="0" noProof="0" dirty="0">
                <a:ln>
                  <a:noFill/>
                </a:ln>
                <a:solidFill>
                  <a:prstClr val="black"/>
                </a:solidFill>
                <a:effectLst/>
                <a:uLnTx/>
                <a:uFillTx/>
                <a:latin typeface="Calibri Light" panose="020F0302020204030204"/>
                <a:ea typeface="+mj-ea"/>
                <a:cs typeface="+mj-cs"/>
              </a:rPr>
              <a:t>Published by Wolters Kluwer. Please refer to this article online at </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000" b="0" i="0" u="none" strike="noStrike" kern="1200" cap="none" spc="0" normalizeH="0" baseline="0" noProof="0" dirty="0">
                <a:ln>
                  <a:noFill/>
                </a:ln>
                <a:solidFill>
                  <a:prstClr val="black"/>
                </a:solidFill>
                <a:effectLst/>
                <a:uLnTx/>
                <a:uFillTx/>
                <a:latin typeface="Calibri Light" panose="020F0302020204030204"/>
                <a:ea typeface="+mj-ea"/>
                <a:cs typeface="+mj-cs"/>
              </a:rPr>
              <a:t>				                journals.lww.com/</a:t>
            </a:r>
            <a:r>
              <a:rPr kumimoji="0" lang="en-US" sz="4000" b="0" i="0" u="none" strike="noStrike" kern="1200" cap="none" spc="0" normalizeH="0" baseline="0" noProof="0" dirty="0" err="1">
                <a:ln>
                  <a:noFill/>
                </a:ln>
                <a:solidFill>
                  <a:prstClr val="black"/>
                </a:solidFill>
                <a:effectLst/>
                <a:uLnTx/>
                <a:uFillTx/>
                <a:latin typeface="Calibri Light" panose="020F0302020204030204"/>
                <a:ea typeface="+mj-ea"/>
                <a:cs typeface="+mj-cs"/>
              </a:rPr>
              <a:t>transplantjournal</a:t>
            </a:r>
            <a:r>
              <a:rPr kumimoji="0" lang="en-US" sz="4000" b="0" i="0" u="none" strike="noStrike" kern="1200" cap="none" spc="0" normalizeH="0" baseline="0" noProof="0" dirty="0">
                <a:ln>
                  <a:noFill/>
                </a:ln>
                <a:solidFill>
                  <a:prstClr val="black"/>
                </a:solidFill>
                <a:effectLst/>
                <a:uLnTx/>
                <a:uFillTx/>
                <a:latin typeface="Calibri Light" panose="020F0302020204030204"/>
                <a:ea typeface="+mj-ea"/>
                <a:cs typeface="+mj-cs"/>
              </a:rPr>
              <a:t> for full copyright information.</a:t>
            </a:r>
          </a:p>
        </p:txBody>
      </p:sp>
      <p:sp>
        <p:nvSpPr>
          <p:cNvPr id="27" name="Rectangle 26"/>
          <p:cNvSpPr/>
          <p:nvPr/>
        </p:nvSpPr>
        <p:spPr>
          <a:xfrm>
            <a:off x="3828183" y="1135890"/>
            <a:ext cx="4226841" cy="3867174"/>
          </a:xfrm>
          <a:prstGeom prst="rect">
            <a:avLst/>
          </a:prstGeom>
          <a:solidFill>
            <a:srgbClr val="184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B0F0"/>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BA6B7D75-A370-B047-828D-6464EE814AEF}"/>
              </a:ext>
            </a:extLst>
          </p:cNvPr>
          <p:cNvSpPr/>
          <p:nvPr/>
        </p:nvSpPr>
        <p:spPr>
          <a:xfrm>
            <a:off x="4195794" y="1433891"/>
            <a:ext cx="1900205" cy="461665"/>
          </a:xfrm>
          <a:prstGeom prst="rect">
            <a:avLst/>
          </a:prstGeom>
        </p:spPr>
        <p:txBody>
          <a:bodyPr wrap="none">
            <a:noAutofit/>
          </a:bodyPr>
          <a:lstStyle/>
          <a:p>
            <a:endParaRPr lang="en-US" sz="2400" b="1" dirty="0">
              <a:solidFill>
                <a:schemeClr val="bg1"/>
              </a:solidFill>
            </a:endParaRPr>
          </a:p>
        </p:txBody>
      </p:sp>
      <p:sp>
        <p:nvSpPr>
          <p:cNvPr id="11" name="Rectangle 10">
            <a:extLst>
              <a:ext uri="{FF2B5EF4-FFF2-40B4-BE49-F238E27FC236}">
                <a16:creationId xmlns:a16="http://schemas.microsoft.com/office/drawing/2014/main" id="{A8114192-C955-8945-AB7F-ECA800925751}"/>
              </a:ext>
            </a:extLst>
          </p:cNvPr>
          <p:cNvSpPr/>
          <p:nvPr/>
        </p:nvSpPr>
        <p:spPr>
          <a:xfrm>
            <a:off x="8313622" y="1433891"/>
            <a:ext cx="1462765" cy="461665"/>
          </a:xfrm>
          <a:prstGeom prst="rect">
            <a:avLst/>
          </a:prstGeom>
        </p:spPr>
        <p:txBody>
          <a:bodyPr wrap="none">
            <a:noAutofit/>
          </a:bodyPr>
          <a:lstStyle/>
          <a:p>
            <a:r>
              <a:rPr lang="en-US" sz="2400" b="1" dirty="0"/>
              <a:t>Findings</a:t>
            </a:r>
          </a:p>
        </p:txBody>
      </p:sp>
      <p:sp>
        <p:nvSpPr>
          <p:cNvPr id="15" name="Rectangle 14">
            <a:extLst>
              <a:ext uri="{FF2B5EF4-FFF2-40B4-BE49-F238E27FC236}">
                <a16:creationId xmlns:a16="http://schemas.microsoft.com/office/drawing/2014/main" id="{47B07679-7D26-E940-9E4F-964576F141C4}"/>
              </a:ext>
            </a:extLst>
          </p:cNvPr>
          <p:cNvSpPr/>
          <p:nvPr/>
        </p:nvSpPr>
        <p:spPr>
          <a:xfrm flipV="1">
            <a:off x="746" y="5915129"/>
            <a:ext cx="12191254" cy="48679"/>
          </a:xfrm>
          <a:prstGeom prst="rect">
            <a:avLst/>
          </a:prstGeom>
          <a:solidFill>
            <a:srgbClr val="6BBE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3371F0D7-57E8-F841-80D2-75890C3C856D}"/>
              </a:ext>
            </a:extLst>
          </p:cNvPr>
          <p:cNvSpPr/>
          <p:nvPr/>
        </p:nvSpPr>
        <p:spPr>
          <a:xfrm>
            <a:off x="3828183" y="5003064"/>
            <a:ext cx="8363817" cy="917156"/>
          </a:xfrm>
          <a:prstGeom prst="rect">
            <a:avLst/>
          </a:prstGeom>
          <a:solidFill>
            <a:srgbClr val="0064B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B0F0"/>
              </a:solidFill>
              <a:effectLst/>
              <a:uLnTx/>
              <a:uFillTx/>
              <a:latin typeface="Calibri" panose="020F0502020204030204"/>
              <a:ea typeface="+mn-ea"/>
              <a:cs typeface="+mn-cs"/>
            </a:endParaRPr>
          </a:p>
        </p:txBody>
      </p:sp>
      <p:sp>
        <p:nvSpPr>
          <p:cNvPr id="20" name="TextBox 19">
            <a:extLst>
              <a:ext uri="{FF2B5EF4-FFF2-40B4-BE49-F238E27FC236}">
                <a16:creationId xmlns:a16="http://schemas.microsoft.com/office/drawing/2014/main" id="{AE08ED9E-A280-FC45-B55F-CD0F767169A4}"/>
              </a:ext>
            </a:extLst>
          </p:cNvPr>
          <p:cNvSpPr txBox="1"/>
          <p:nvPr/>
        </p:nvSpPr>
        <p:spPr>
          <a:xfrm>
            <a:off x="3837857" y="5014939"/>
            <a:ext cx="8311140" cy="83099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1" i="0" u="none" strike="noStrike" kern="1200" cap="none" spc="0" normalizeH="0" baseline="0" noProof="0" dirty="0">
                <a:ln>
                  <a:noFill/>
                </a:ln>
                <a:solidFill>
                  <a:prstClr val="black"/>
                </a:solidFill>
                <a:effectLst/>
                <a:uLnTx/>
                <a:uFillTx/>
                <a:latin typeface="Calibri" panose="020F0502020204030204"/>
                <a:ea typeface="+mn-ea"/>
                <a:cs typeface="+mn-cs"/>
              </a:rPr>
              <a:t>Conclusion</a:t>
            </a:r>
            <a:r>
              <a:rPr lang="en-AU" sz="1600" b="1" dirty="0">
                <a:solidFill>
                  <a:prstClr val="black"/>
                </a:solidFill>
                <a:latin typeface="Calibri" panose="020F0502020204030204"/>
              </a:rPr>
              <a:t>: </a:t>
            </a:r>
            <a:r>
              <a:rPr lang="en-US" sz="1600" dirty="0"/>
              <a:t>Low MELD patients represent a significant mortality burden of all patients waitlisted for transplant with cirrhosis. MELD loses its discriminative ability over time. These two issues will need to be addressed to accurately categorize mortality risk for all patients on the waitlist.</a:t>
            </a:r>
            <a:endParaRPr kumimoji="0" lang="en-AU" sz="16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Rectangle 21">
            <a:extLst>
              <a:ext uri="{FF2B5EF4-FFF2-40B4-BE49-F238E27FC236}">
                <a16:creationId xmlns:a16="http://schemas.microsoft.com/office/drawing/2014/main" id="{4175E7F6-DA2D-204B-B5C2-E6393A250461}"/>
              </a:ext>
            </a:extLst>
          </p:cNvPr>
          <p:cNvSpPr/>
          <p:nvPr/>
        </p:nvSpPr>
        <p:spPr>
          <a:xfrm flipV="1">
            <a:off x="0" y="1073873"/>
            <a:ext cx="12192000" cy="45719"/>
          </a:xfrm>
          <a:prstGeom prst="rect">
            <a:avLst/>
          </a:prstGeom>
          <a:solidFill>
            <a:srgbClr val="184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B0F0"/>
              </a:solidFill>
              <a:effectLst/>
              <a:uLnTx/>
              <a:uFillTx/>
              <a:latin typeface="Calibri" panose="020F0502020204030204"/>
              <a:ea typeface="+mn-ea"/>
              <a:cs typeface="+mn-cs"/>
            </a:endParaRPr>
          </a:p>
        </p:txBody>
      </p:sp>
      <p:pic>
        <p:nvPicPr>
          <p:cNvPr id="2" name="Imagem 1" descr="Logotipo&#10;&#10;Descrição gerada automaticamente">
            <a:extLst>
              <a:ext uri="{FF2B5EF4-FFF2-40B4-BE49-F238E27FC236}">
                <a16:creationId xmlns:a16="http://schemas.microsoft.com/office/drawing/2014/main" id="{668B6050-DF41-5DC6-BEAC-4A22B4B0F24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878187" y="5977643"/>
            <a:ext cx="3313814" cy="917156"/>
          </a:xfrm>
          <a:prstGeom prst="rect">
            <a:avLst/>
          </a:prstGeom>
        </p:spPr>
      </p:pic>
      <p:pic>
        <p:nvPicPr>
          <p:cNvPr id="3" name="Picture 2" descr="A graph with numbers and a bar&#10;&#10;AI-generated content may be incorrect.">
            <a:extLst>
              <a:ext uri="{FF2B5EF4-FFF2-40B4-BE49-F238E27FC236}">
                <a16:creationId xmlns:a16="http://schemas.microsoft.com/office/drawing/2014/main" id="{157F80FC-2645-5337-A5E6-81D9FE27AECF}"/>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899430" y="1498779"/>
            <a:ext cx="4083145" cy="2431042"/>
          </a:xfrm>
          <a:prstGeom prst="rect">
            <a:avLst/>
          </a:prstGeom>
        </p:spPr>
      </p:pic>
      <p:sp>
        <p:nvSpPr>
          <p:cNvPr id="5" name="Title 3">
            <a:extLst>
              <a:ext uri="{FF2B5EF4-FFF2-40B4-BE49-F238E27FC236}">
                <a16:creationId xmlns:a16="http://schemas.microsoft.com/office/drawing/2014/main" id="{2C013BB6-0BDC-93E8-6D09-8A8876282869}"/>
              </a:ext>
            </a:extLst>
          </p:cNvPr>
          <p:cNvSpPr txBox="1">
            <a:spLocks/>
          </p:cNvSpPr>
          <p:nvPr/>
        </p:nvSpPr>
        <p:spPr>
          <a:xfrm>
            <a:off x="3864721" y="3972231"/>
            <a:ext cx="4161351" cy="102859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lgn="ctr">
              <a:defRPr/>
            </a:pPr>
            <a:r>
              <a:rPr lang="en-US" sz="1800" dirty="0">
                <a:solidFill>
                  <a:schemeClr val="bg1"/>
                </a:solidFill>
              </a:rPr>
              <a:t>Fifteen percent of candidates with MELD 3.0 scores of 14 or below, who do not decompensate further, die within a year of listing.</a:t>
            </a:r>
          </a:p>
        </p:txBody>
      </p:sp>
      <p:sp>
        <p:nvSpPr>
          <p:cNvPr id="13" name="Rectangle 12">
            <a:extLst>
              <a:ext uri="{FF2B5EF4-FFF2-40B4-BE49-F238E27FC236}">
                <a16:creationId xmlns:a16="http://schemas.microsoft.com/office/drawing/2014/main" id="{84793D10-E566-1340-AC31-370D51DF0232}"/>
              </a:ext>
            </a:extLst>
          </p:cNvPr>
          <p:cNvSpPr/>
          <p:nvPr/>
        </p:nvSpPr>
        <p:spPr>
          <a:xfrm>
            <a:off x="8064859" y="1141559"/>
            <a:ext cx="4126399" cy="3861505"/>
          </a:xfrm>
          <a:prstGeom prst="rect">
            <a:avLst/>
          </a:prstGeom>
          <a:solidFill>
            <a:srgbClr val="6BBE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6" name="Picture 5" descr="A graph of a number of people&#10;&#10;AI-generated content may be incorrect.">
            <a:extLst>
              <a:ext uri="{FF2B5EF4-FFF2-40B4-BE49-F238E27FC236}">
                <a16:creationId xmlns:a16="http://schemas.microsoft.com/office/drawing/2014/main" id="{296A0AA3-72A0-8496-5C88-ABE25082D5F3}"/>
              </a:ext>
            </a:extLst>
          </p:cNvPr>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a:xfrm>
            <a:off x="8389870" y="3014542"/>
            <a:ext cx="3463252" cy="1955849"/>
          </a:xfrm>
          <a:prstGeom prst="rect">
            <a:avLst/>
          </a:prstGeom>
        </p:spPr>
      </p:pic>
      <p:graphicFrame>
        <p:nvGraphicFramePr>
          <p:cNvPr id="7" name="Table 6">
            <a:extLst>
              <a:ext uri="{FF2B5EF4-FFF2-40B4-BE49-F238E27FC236}">
                <a16:creationId xmlns:a16="http://schemas.microsoft.com/office/drawing/2014/main" id="{3B1543BC-0FBB-B87A-773A-1A574749414E}"/>
              </a:ext>
            </a:extLst>
          </p:cNvPr>
          <p:cNvGraphicFramePr>
            <a:graphicFrameLocks noGrp="1"/>
          </p:cNvGraphicFramePr>
          <p:nvPr/>
        </p:nvGraphicFramePr>
        <p:xfrm>
          <a:off x="8190264" y="1502628"/>
          <a:ext cx="3874238" cy="1482220"/>
        </p:xfrm>
        <a:graphic>
          <a:graphicData uri="http://schemas.openxmlformats.org/drawingml/2006/table">
            <a:tbl>
              <a:tblPr firstRow="1" firstCol="1" bandRow="1">
                <a:tableStyleId>{5C22544A-7EE6-4342-B048-85BDC9FD1C3A}</a:tableStyleId>
              </a:tblPr>
              <a:tblGrid>
                <a:gridCol w="461999">
                  <a:extLst>
                    <a:ext uri="{9D8B030D-6E8A-4147-A177-3AD203B41FA5}">
                      <a16:colId xmlns:a16="http://schemas.microsoft.com/office/drawing/2014/main" val="3434873942"/>
                    </a:ext>
                  </a:extLst>
                </a:gridCol>
                <a:gridCol w="674033">
                  <a:extLst>
                    <a:ext uri="{9D8B030D-6E8A-4147-A177-3AD203B41FA5}">
                      <a16:colId xmlns:a16="http://schemas.microsoft.com/office/drawing/2014/main" val="3613775994"/>
                    </a:ext>
                  </a:extLst>
                </a:gridCol>
                <a:gridCol w="681606">
                  <a:extLst>
                    <a:ext uri="{9D8B030D-6E8A-4147-A177-3AD203B41FA5}">
                      <a16:colId xmlns:a16="http://schemas.microsoft.com/office/drawing/2014/main" val="69097475"/>
                    </a:ext>
                  </a:extLst>
                </a:gridCol>
                <a:gridCol w="696751">
                  <a:extLst>
                    <a:ext uri="{9D8B030D-6E8A-4147-A177-3AD203B41FA5}">
                      <a16:colId xmlns:a16="http://schemas.microsoft.com/office/drawing/2014/main" val="1751632490"/>
                    </a:ext>
                  </a:extLst>
                </a:gridCol>
                <a:gridCol w="674033">
                  <a:extLst>
                    <a:ext uri="{9D8B030D-6E8A-4147-A177-3AD203B41FA5}">
                      <a16:colId xmlns:a16="http://schemas.microsoft.com/office/drawing/2014/main" val="3994252305"/>
                    </a:ext>
                  </a:extLst>
                </a:gridCol>
                <a:gridCol w="685816">
                  <a:extLst>
                    <a:ext uri="{9D8B030D-6E8A-4147-A177-3AD203B41FA5}">
                      <a16:colId xmlns:a16="http://schemas.microsoft.com/office/drawing/2014/main" val="3253769025"/>
                    </a:ext>
                  </a:extLst>
                </a:gridCol>
              </a:tblGrid>
              <a:tr h="472682">
                <a:tc>
                  <a:txBody>
                    <a:bodyPr/>
                    <a:lstStyle/>
                    <a:p>
                      <a:pPr marL="0" marR="0">
                        <a:lnSpc>
                          <a:spcPct val="107000"/>
                        </a:lnSpc>
                        <a:spcAft>
                          <a:spcPts val="800"/>
                        </a:spcAft>
                        <a:buNone/>
                      </a:pPr>
                      <a:r>
                        <a:rPr lang="en-US" sz="1000" kern="100" dirty="0">
                          <a:effectLst/>
                        </a:rPr>
                        <a:t> </a:t>
                      </a:r>
                      <a:endParaRPr lang="en-US" sz="9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Aft>
                          <a:spcPts val="800"/>
                        </a:spcAft>
                        <a:buNone/>
                      </a:pPr>
                      <a:r>
                        <a:rPr lang="en-US" sz="1000" kern="100" dirty="0">
                          <a:effectLst/>
                        </a:rPr>
                        <a:t>Mortality 0-1.5 months</a:t>
                      </a:r>
                      <a:endParaRPr lang="en-US" sz="9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Aft>
                          <a:spcPts val="800"/>
                        </a:spcAft>
                        <a:buNone/>
                      </a:pPr>
                      <a:r>
                        <a:rPr lang="en-US" sz="1000" kern="100" dirty="0">
                          <a:effectLst/>
                        </a:rPr>
                        <a:t>Mortality 1.5-3 months</a:t>
                      </a:r>
                      <a:endParaRPr lang="en-US" sz="9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Aft>
                          <a:spcPts val="800"/>
                        </a:spcAft>
                        <a:buNone/>
                      </a:pPr>
                      <a:r>
                        <a:rPr lang="en-US" sz="1000" kern="100" dirty="0">
                          <a:effectLst/>
                        </a:rPr>
                        <a:t>Mortality 3-6 months</a:t>
                      </a:r>
                      <a:endParaRPr lang="en-US" sz="9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Aft>
                          <a:spcPts val="800"/>
                        </a:spcAft>
                        <a:buNone/>
                      </a:pPr>
                      <a:r>
                        <a:rPr lang="en-US" sz="1000" kern="100" dirty="0">
                          <a:effectLst/>
                        </a:rPr>
                        <a:t>Mortality6-9 months</a:t>
                      </a:r>
                      <a:endParaRPr lang="en-US" sz="9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Aft>
                          <a:spcPts val="800"/>
                        </a:spcAft>
                        <a:buNone/>
                      </a:pPr>
                      <a:r>
                        <a:rPr lang="en-US" sz="1000" kern="100" dirty="0">
                          <a:effectLst/>
                        </a:rPr>
                        <a:t>Mortality 9-12 months</a:t>
                      </a:r>
                      <a:endParaRPr lang="en-US" sz="9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77017755"/>
                  </a:ext>
                </a:extLst>
              </a:tr>
              <a:tr h="148783">
                <a:tc>
                  <a:txBody>
                    <a:bodyPr/>
                    <a:lstStyle/>
                    <a:p>
                      <a:pPr marL="0" marR="0">
                        <a:lnSpc>
                          <a:spcPct val="107000"/>
                        </a:lnSpc>
                        <a:spcAft>
                          <a:spcPts val="800"/>
                        </a:spcAft>
                        <a:buNone/>
                      </a:pPr>
                      <a:r>
                        <a:rPr lang="en-US" sz="1000" kern="100">
                          <a:effectLst/>
                        </a:rPr>
                        <a:t>6-14</a:t>
                      </a:r>
                      <a:endParaRPr lang="en-US"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Aft>
                          <a:spcPts val="800"/>
                        </a:spcAft>
                        <a:buNone/>
                      </a:pPr>
                      <a:r>
                        <a:rPr lang="en-US" sz="1000" kern="100" dirty="0">
                          <a:effectLst/>
                        </a:rPr>
                        <a:t>1.9</a:t>
                      </a:r>
                      <a:endParaRPr lang="en-US" sz="9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Aft>
                          <a:spcPts val="800"/>
                        </a:spcAft>
                        <a:buNone/>
                      </a:pPr>
                      <a:r>
                        <a:rPr lang="en-US" sz="1000" kern="100" dirty="0">
                          <a:effectLst/>
                        </a:rPr>
                        <a:t>2.1</a:t>
                      </a:r>
                      <a:endParaRPr lang="en-US" sz="9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Aft>
                          <a:spcPts val="800"/>
                        </a:spcAft>
                        <a:buNone/>
                      </a:pPr>
                      <a:r>
                        <a:rPr lang="en-US" sz="1000" kern="100" dirty="0">
                          <a:effectLst/>
                        </a:rPr>
                        <a:t>3.6</a:t>
                      </a:r>
                      <a:endParaRPr lang="en-US" sz="9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Aft>
                          <a:spcPts val="800"/>
                        </a:spcAft>
                        <a:buNone/>
                      </a:pPr>
                      <a:r>
                        <a:rPr lang="en-US" sz="1000" kern="100" dirty="0">
                          <a:effectLst/>
                        </a:rPr>
                        <a:t>3.8</a:t>
                      </a:r>
                      <a:endParaRPr lang="en-US" sz="9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Aft>
                          <a:spcPts val="800"/>
                        </a:spcAft>
                        <a:buNone/>
                      </a:pPr>
                      <a:r>
                        <a:rPr lang="en-US" sz="1000" kern="100" dirty="0">
                          <a:effectLst/>
                        </a:rPr>
                        <a:t>3.5</a:t>
                      </a:r>
                      <a:endParaRPr lang="en-US" sz="9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54847697"/>
                  </a:ext>
                </a:extLst>
              </a:tr>
              <a:tr h="148783">
                <a:tc>
                  <a:txBody>
                    <a:bodyPr/>
                    <a:lstStyle/>
                    <a:p>
                      <a:pPr marL="0" marR="0">
                        <a:lnSpc>
                          <a:spcPct val="107000"/>
                        </a:lnSpc>
                        <a:spcAft>
                          <a:spcPts val="800"/>
                        </a:spcAft>
                        <a:buNone/>
                      </a:pPr>
                      <a:r>
                        <a:rPr lang="en-US" sz="1000" kern="100" dirty="0">
                          <a:effectLst/>
                        </a:rPr>
                        <a:t>39+</a:t>
                      </a:r>
                      <a:endParaRPr lang="en-US" sz="9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Aft>
                          <a:spcPts val="800"/>
                        </a:spcAft>
                        <a:buNone/>
                      </a:pPr>
                      <a:r>
                        <a:rPr lang="en-US" sz="1000" kern="100" dirty="0">
                          <a:effectLst/>
                        </a:rPr>
                        <a:t>32</a:t>
                      </a:r>
                      <a:endParaRPr lang="en-US" sz="9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Aft>
                          <a:spcPts val="800"/>
                        </a:spcAft>
                        <a:buNone/>
                      </a:pPr>
                      <a:r>
                        <a:rPr lang="en-US" sz="1000" kern="100" dirty="0">
                          <a:effectLst/>
                        </a:rPr>
                        <a:t>21</a:t>
                      </a:r>
                      <a:endParaRPr lang="en-US" sz="9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Aft>
                          <a:spcPts val="800"/>
                        </a:spcAft>
                        <a:buNone/>
                      </a:pPr>
                      <a:r>
                        <a:rPr lang="en-US" sz="1000" kern="100" dirty="0">
                          <a:effectLst/>
                        </a:rPr>
                        <a:t>9.8</a:t>
                      </a:r>
                      <a:endParaRPr lang="en-US" sz="9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Aft>
                          <a:spcPts val="800"/>
                        </a:spcAft>
                        <a:buNone/>
                      </a:pPr>
                      <a:r>
                        <a:rPr lang="en-US" sz="1000" kern="100" dirty="0">
                          <a:effectLst/>
                        </a:rPr>
                        <a:t>6.3</a:t>
                      </a:r>
                      <a:endParaRPr lang="en-US" sz="9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Aft>
                          <a:spcPts val="800"/>
                        </a:spcAft>
                        <a:buNone/>
                      </a:pPr>
                      <a:r>
                        <a:rPr lang="en-US" sz="1000" kern="100" dirty="0">
                          <a:effectLst/>
                        </a:rPr>
                        <a:t>3.9</a:t>
                      </a:r>
                      <a:endParaRPr lang="en-US" sz="9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2048831"/>
                  </a:ext>
                </a:extLst>
              </a:tr>
              <a:tr h="303025">
                <a:tc>
                  <a:txBody>
                    <a:bodyPr/>
                    <a:lstStyle/>
                    <a:p>
                      <a:pPr marL="0" marR="0">
                        <a:lnSpc>
                          <a:spcPct val="107000"/>
                        </a:lnSpc>
                        <a:spcAft>
                          <a:spcPts val="800"/>
                        </a:spcAft>
                        <a:buNone/>
                      </a:pPr>
                      <a:r>
                        <a:rPr lang="en-US" sz="900" kern="100" dirty="0">
                          <a:effectLst/>
                        </a:rPr>
                        <a:t>p-value</a:t>
                      </a:r>
                      <a:endParaRPr lang="en-US"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Aft>
                          <a:spcPts val="800"/>
                        </a:spcAft>
                        <a:buNone/>
                      </a:pPr>
                      <a:r>
                        <a:rPr lang="en-US" sz="1000" kern="100">
                          <a:effectLst/>
                        </a:rPr>
                        <a:t>&lt;0.05</a:t>
                      </a:r>
                      <a:endParaRPr lang="en-US"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Aft>
                          <a:spcPts val="800"/>
                        </a:spcAft>
                        <a:buNone/>
                      </a:pPr>
                      <a:r>
                        <a:rPr lang="en-US" sz="1000" kern="100">
                          <a:effectLst/>
                        </a:rPr>
                        <a:t>&lt;0.05</a:t>
                      </a:r>
                      <a:endParaRPr lang="en-US"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Aft>
                          <a:spcPts val="800"/>
                        </a:spcAft>
                        <a:buNone/>
                      </a:pPr>
                      <a:r>
                        <a:rPr lang="en-US" sz="1000" kern="100">
                          <a:effectLst/>
                        </a:rPr>
                        <a:t>&lt;0.05</a:t>
                      </a:r>
                      <a:endParaRPr lang="en-US"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Aft>
                          <a:spcPts val="800"/>
                        </a:spcAft>
                        <a:buNone/>
                      </a:pPr>
                      <a:r>
                        <a:rPr lang="en-US" sz="1000" kern="100">
                          <a:effectLst/>
                        </a:rPr>
                        <a:t>&lt;0.05</a:t>
                      </a:r>
                      <a:endParaRPr lang="en-US"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Aft>
                          <a:spcPts val="800"/>
                        </a:spcAft>
                        <a:buNone/>
                      </a:pPr>
                      <a:r>
                        <a:rPr lang="en-US" sz="1000" kern="100">
                          <a:effectLst/>
                        </a:rPr>
                        <a:t>&gt;0.05</a:t>
                      </a:r>
                      <a:endParaRPr lang="en-US"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25192881"/>
                  </a:ext>
                </a:extLst>
              </a:tr>
              <a:tr h="261130">
                <a:tc>
                  <a:txBody>
                    <a:bodyPr/>
                    <a:lstStyle/>
                    <a:p>
                      <a:pPr marL="0" marR="0">
                        <a:lnSpc>
                          <a:spcPct val="107000"/>
                        </a:lnSpc>
                        <a:spcAft>
                          <a:spcPts val="800"/>
                        </a:spcAft>
                        <a:buNone/>
                      </a:pPr>
                      <a:r>
                        <a:rPr lang="en-US" sz="800" kern="100" dirty="0">
                          <a:effectLst/>
                        </a:rPr>
                        <a:t>c-statistic</a:t>
                      </a:r>
                      <a:endParaRPr lang="en-US" sz="7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Aft>
                          <a:spcPts val="800"/>
                        </a:spcAft>
                        <a:buNone/>
                      </a:pPr>
                      <a:r>
                        <a:rPr lang="en-US" sz="1000" kern="100" dirty="0">
                          <a:effectLst/>
                        </a:rPr>
                        <a:t>0.83</a:t>
                      </a:r>
                      <a:endParaRPr lang="en-US" sz="9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Aft>
                          <a:spcPts val="800"/>
                        </a:spcAft>
                        <a:buNone/>
                      </a:pPr>
                      <a:r>
                        <a:rPr lang="en-US" sz="1000" kern="100" dirty="0">
                          <a:effectLst/>
                        </a:rPr>
                        <a:t>0.82</a:t>
                      </a:r>
                      <a:endParaRPr lang="en-US" sz="9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Aft>
                          <a:spcPts val="800"/>
                        </a:spcAft>
                        <a:buNone/>
                      </a:pPr>
                      <a:r>
                        <a:rPr lang="en-US" sz="1000" kern="100" dirty="0">
                          <a:effectLst/>
                        </a:rPr>
                        <a:t>0.77</a:t>
                      </a:r>
                      <a:endParaRPr lang="en-US" sz="9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Aft>
                          <a:spcPts val="800"/>
                        </a:spcAft>
                        <a:buNone/>
                      </a:pPr>
                      <a:r>
                        <a:rPr lang="en-US" sz="1000" kern="100" dirty="0">
                          <a:effectLst/>
                        </a:rPr>
                        <a:t>0.70</a:t>
                      </a:r>
                      <a:endParaRPr lang="en-US" sz="9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Aft>
                          <a:spcPts val="800"/>
                        </a:spcAft>
                        <a:buNone/>
                      </a:pPr>
                      <a:r>
                        <a:rPr lang="en-US" sz="1000" kern="100" dirty="0">
                          <a:effectLst/>
                        </a:rPr>
                        <a:t>0.64</a:t>
                      </a:r>
                      <a:endParaRPr lang="en-US" sz="9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23022203"/>
                  </a:ext>
                </a:extLst>
              </a:tr>
            </a:tbl>
          </a:graphicData>
        </a:graphic>
      </p:graphicFrame>
      <p:pic>
        <p:nvPicPr>
          <p:cNvPr id="8" name="Picture 7">
            <a:extLst>
              <a:ext uri="{FF2B5EF4-FFF2-40B4-BE49-F238E27FC236}">
                <a16:creationId xmlns:a16="http://schemas.microsoft.com/office/drawing/2014/main" id="{C82236D5-4EF7-4F2F-65D5-C6112D6BD95D}"/>
              </a:ext>
            </a:extLst>
          </p:cNvPr>
          <p:cNvPicPr>
            <a:picLocks/>
          </p:cNvPicPr>
          <p:nvPr/>
        </p:nvPicPr>
        <p:blipFill>
          <a:blip r:embed="rId5" cstate="email">
            <a:extLst>
              <a:ext uri="{28A0092B-C50C-407E-A947-70E740481C1C}">
                <a14:useLocalDpi xmlns:a14="http://schemas.microsoft.com/office/drawing/2010/main"/>
              </a:ext>
            </a:extLst>
          </a:blip>
          <a:stretch>
            <a:fillRect/>
          </a:stretch>
        </p:blipFill>
        <p:spPr>
          <a:xfrm>
            <a:off x="329850" y="1411835"/>
            <a:ext cx="826699" cy="826699"/>
          </a:xfrm>
          <a:prstGeom prst="rect">
            <a:avLst/>
          </a:prstGeom>
        </p:spPr>
      </p:pic>
      <p:pic>
        <p:nvPicPr>
          <p:cNvPr id="9" name="Picture 8">
            <a:extLst>
              <a:ext uri="{FF2B5EF4-FFF2-40B4-BE49-F238E27FC236}">
                <a16:creationId xmlns:a16="http://schemas.microsoft.com/office/drawing/2014/main" id="{D332C769-10CC-909B-504B-4702EB6F3024}"/>
              </a:ext>
            </a:extLst>
          </p:cNvPr>
          <p:cNvPicPr>
            <a:picLocks/>
          </p:cNvPicPr>
          <p:nvPr/>
        </p:nvPicPr>
        <p:blipFill>
          <a:blip r:embed="rId6" cstate="email">
            <a:extLst>
              <a:ext uri="{28A0092B-C50C-407E-A947-70E740481C1C}">
                <a14:useLocalDpi xmlns:a14="http://schemas.microsoft.com/office/drawing/2010/main"/>
              </a:ext>
            </a:extLst>
          </a:blip>
          <a:stretch>
            <a:fillRect/>
          </a:stretch>
        </p:blipFill>
        <p:spPr>
          <a:xfrm>
            <a:off x="329850" y="2846028"/>
            <a:ext cx="826699" cy="826699"/>
          </a:xfrm>
          <a:prstGeom prst="rect">
            <a:avLst/>
          </a:prstGeom>
        </p:spPr>
      </p:pic>
      <p:sp>
        <p:nvSpPr>
          <p:cNvPr id="10" name="TextBox 9">
            <a:extLst>
              <a:ext uri="{FF2B5EF4-FFF2-40B4-BE49-F238E27FC236}">
                <a16:creationId xmlns:a16="http://schemas.microsoft.com/office/drawing/2014/main" id="{BE803CFA-5A7A-2BBD-12DE-FF60E2354A8A}"/>
              </a:ext>
            </a:extLst>
          </p:cNvPr>
          <p:cNvSpPr txBox="1"/>
          <p:nvPr/>
        </p:nvSpPr>
        <p:spPr>
          <a:xfrm>
            <a:off x="1186968" y="1288845"/>
            <a:ext cx="2098623" cy="1200329"/>
          </a:xfrm>
          <a:prstGeom prst="rect">
            <a:avLst/>
          </a:prstGeom>
          <a:noFill/>
        </p:spPr>
        <p:txBody>
          <a:bodyPr wrap="square" rtlCol="0">
            <a:spAutoFit/>
          </a:bodyPr>
          <a:lstStyle/>
          <a:p>
            <a:r>
              <a:rPr lang="en-AU" b="1" dirty="0"/>
              <a:t>National </a:t>
            </a:r>
            <a:r>
              <a:rPr lang="en-US" b="1" dirty="0"/>
              <a:t>Scientific Registry of Transplant Recipients</a:t>
            </a:r>
            <a:r>
              <a:rPr lang="en-AU" b="1" dirty="0"/>
              <a:t> Database</a:t>
            </a:r>
          </a:p>
        </p:txBody>
      </p:sp>
      <p:sp>
        <p:nvSpPr>
          <p:cNvPr id="12" name="TextBox 11">
            <a:extLst>
              <a:ext uri="{FF2B5EF4-FFF2-40B4-BE49-F238E27FC236}">
                <a16:creationId xmlns:a16="http://schemas.microsoft.com/office/drawing/2014/main" id="{5B444008-4342-D565-6E4E-EE0347F1D091}"/>
              </a:ext>
            </a:extLst>
          </p:cNvPr>
          <p:cNvSpPr txBox="1"/>
          <p:nvPr/>
        </p:nvSpPr>
        <p:spPr>
          <a:xfrm>
            <a:off x="1259905" y="2797712"/>
            <a:ext cx="2098623" cy="923330"/>
          </a:xfrm>
          <a:prstGeom prst="rect">
            <a:avLst/>
          </a:prstGeom>
          <a:noFill/>
        </p:spPr>
        <p:txBody>
          <a:bodyPr wrap="square" rtlCol="0">
            <a:spAutoFit/>
          </a:bodyPr>
          <a:lstStyle/>
          <a:p>
            <a:r>
              <a:rPr lang="en-US" b="1" dirty="0"/>
              <a:t>89,085 patients listed for liver transplant</a:t>
            </a:r>
            <a:endParaRPr lang="en-AU" b="1" dirty="0"/>
          </a:p>
        </p:txBody>
      </p:sp>
      <p:pic>
        <p:nvPicPr>
          <p:cNvPr id="14" name="Picture 2" descr="Human Liver - Free medical icons">
            <a:extLst>
              <a:ext uri="{FF2B5EF4-FFF2-40B4-BE49-F238E27FC236}">
                <a16:creationId xmlns:a16="http://schemas.microsoft.com/office/drawing/2014/main" id="{2B204BCE-7B8A-DDCC-43BE-343D2EA168AE}"/>
              </a:ext>
            </a:extLst>
          </p:cNvPr>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320824" y="4244332"/>
            <a:ext cx="844753" cy="844753"/>
          </a:xfrm>
          <a:prstGeom prst="rect">
            <a:avLst/>
          </a:prstGeom>
          <a:noFill/>
          <a:extLst>
            <a:ext uri="{909E8E84-426E-40DD-AFC4-6F175D3DCCD1}">
              <a14:hiddenFill xmlns:a14="http://schemas.microsoft.com/office/drawing/2010/main">
                <a:solidFill>
                  <a:srgbClr val="FFFFFF"/>
                </a:solidFill>
              </a14:hiddenFill>
            </a:ext>
          </a:extLst>
        </p:spPr>
      </p:pic>
      <p:sp>
        <p:nvSpPr>
          <p:cNvPr id="23" name="TextBox 22">
            <a:extLst>
              <a:ext uri="{FF2B5EF4-FFF2-40B4-BE49-F238E27FC236}">
                <a16:creationId xmlns:a16="http://schemas.microsoft.com/office/drawing/2014/main" id="{A930E856-1944-572C-0523-AE3437F72575}"/>
              </a:ext>
            </a:extLst>
          </p:cNvPr>
          <p:cNvSpPr txBox="1"/>
          <p:nvPr/>
        </p:nvSpPr>
        <p:spPr>
          <a:xfrm>
            <a:off x="1294615" y="3942669"/>
            <a:ext cx="2098623" cy="1477328"/>
          </a:xfrm>
          <a:prstGeom prst="rect">
            <a:avLst/>
          </a:prstGeom>
          <a:noFill/>
        </p:spPr>
        <p:txBody>
          <a:bodyPr wrap="square" rtlCol="0">
            <a:spAutoFit/>
          </a:bodyPr>
          <a:lstStyle/>
          <a:p>
            <a:r>
              <a:rPr lang="en-US" b="1" dirty="0"/>
              <a:t>Case-Control Study</a:t>
            </a:r>
          </a:p>
          <a:p>
            <a:r>
              <a:rPr lang="en-US" b="1" dirty="0"/>
              <a:t>examining waitlist mortality and accuracy of MELD over time</a:t>
            </a:r>
            <a:endParaRPr lang="en-AU" b="1" dirty="0"/>
          </a:p>
        </p:txBody>
      </p:sp>
      <p:sp>
        <p:nvSpPr>
          <p:cNvPr id="24" name="Title 3">
            <a:extLst>
              <a:ext uri="{FF2B5EF4-FFF2-40B4-BE49-F238E27FC236}">
                <a16:creationId xmlns:a16="http://schemas.microsoft.com/office/drawing/2014/main" id="{6FD7CDBF-4284-9B88-5CC1-6AC4A3DDDCC0}"/>
              </a:ext>
            </a:extLst>
          </p:cNvPr>
          <p:cNvSpPr txBox="1">
            <a:spLocks/>
          </p:cNvSpPr>
          <p:nvPr/>
        </p:nvSpPr>
        <p:spPr>
          <a:xfrm>
            <a:off x="3924092" y="1164430"/>
            <a:ext cx="4161351" cy="26946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lgn="ctr">
              <a:defRPr/>
            </a:pPr>
            <a:r>
              <a:rPr lang="en-US" sz="1800" b="1" dirty="0">
                <a:solidFill>
                  <a:schemeClr val="bg1"/>
                </a:solidFill>
              </a:rPr>
              <a:t>One-Year Waitlist Mortality</a:t>
            </a:r>
          </a:p>
        </p:txBody>
      </p:sp>
      <p:sp>
        <p:nvSpPr>
          <p:cNvPr id="25" name="Title 3">
            <a:extLst>
              <a:ext uri="{FF2B5EF4-FFF2-40B4-BE49-F238E27FC236}">
                <a16:creationId xmlns:a16="http://schemas.microsoft.com/office/drawing/2014/main" id="{90065A73-BD71-40B8-43FC-B51A033B7A0C}"/>
              </a:ext>
            </a:extLst>
          </p:cNvPr>
          <p:cNvSpPr txBox="1">
            <a:spLocks/>
          </p:cNvSpPr>
          <p:nvPr/>
        </p:nvSpPr>
        <p:spPr>
          <a:xfrm>
            <a:off x="8095278" y="1176565"/>
            <a:ext cx="4053718" cy="26946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lgn="ctr">
              <a:defRPr/>
            </a:pPr>
            <a:r>
              <a:rPr lang="en-US" sz="1800" b="1" dirty="0">
                <a:solidFill>
                  <a:schemeClr val="bg1"/>
                </a:solidFill>
              </a:rPr>
              <a:t>Discriminative ability of MELD over Time</a:t>
            </a:r>
          </a:p>
        </p:txBody>
      </p:sp>
    </p:spTree>
    <p:extLst>
      <p:ext uri="{BB962C8B-B14F-4D97-AF65-F5344CB8AC3E}">
        <p14:creationId xmlns:p14="http://schemas.microsoft.com/office/powerpoint/2010/main" val="39806278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D5F5E2D5-BC3B-8C19-446E-5149D7622531}"/>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4304829" y="0"/>
            <a:ext cx="7468071" cy="6858000"/>
          </a:xfrm>
          <a:prstGeom prst="rect">
            <a:avLst/>
          </a:prstGeom>
        </p:spPr>
      </p:pic>
      <p:sp>
        <p:nvSpPr>
          <p:cNvPr id="9" name="Title 8">
            <a:extLst>
              <a:ext uri="{FF2B5EF4-FFF2-40B4-BE49-F238E27FC236}">
                <a16:creationId xmlns:a16="http://schemas.microsoft.com/office/drawing/2014/main" id="{BF65DC83-8BD5-2ED6-5290-9CE265DB85A5}"/>
              </a:ext>
            </a:extLst>
          </p:cNvPr>
          <p:cNvSpPr>
            <a:spLocks noGrp="1"/>
          </p:cNvSpPr>
          <p:nvPr>
            <p:ph type="title"/>
          </p:nvPr>
        </p:nvSpPr>
        <p:spPr>
          <a:xfrm>
            <a:off x="249382" y="2002631"/>
            <a:ext cx="5985164" cy="2852737"/>
          </a:xfrm>
        </p:spPr>
        <p:txBody>
          <a:bodyPr>
            <a:normAutofit fontScale="90000"/>
          </a:bodyPr>
          <a:lstStyle/>
          <a:p>
            <a:r>
              <a:rPr lang="en-US" dirty="0"/>
              <a:t>Early Liver Transplantation for Severe Alcoholic Hepatitis</a:t>
            </a:r>
          </a:p>
        </p:txBody>
      </p:sp>
    </p:spTree>
    <p:extLst>
      <p:ext uri="{BB962C8B-B14F-4D97-AF65-F5344CB8AC3E}">
        <p14:creationId xmlns:p14="http://schemas.microsoft.com/office/powerpoint/2010/main" val="20439590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87F5BCD7-A966-4DC5-7F96-D0A8B44FE29F}"/>
              </a:ext>
            </a:extLst>
          </p:cNvPr>
          <p:cNvSpPr>
            <a:spLocks noGrp="1"/>
          </p:cNvSpPr>
          <p:nvPr>
            <p:ph sz="half" idx="1"/>
          </p:nvPr>
        </p:nvSpPr>
        <p:spPr>
          <a:xfrm>
            <a:off x="311727" y="228600"/>
            <a:ext cx="5316681" cy="5948363"/>
          </a:xfrm>
        </p:spPr>
        <p:txBody>
          <a:bodyPr>
            <a:normAutofit/>
          </a:bodyPr>
          <a:lstStyle/>
          <a:p>
            <a:pPr marL="0" indent="0">
              <a:buNone/>
            </a:pPr>
            <a:r>
              <a:rPr lang="en-US" b="1" dirty="0"/>
              <a:t>A multicenter study comparing 26 transplanted patients with matched controls.</a:t>
            </a:r>
          </a:p>
          <a:p>
            <a:pPr lvl="1"/>
            <a:r>
              <a:rPr lang="en-US" dirty="0"/>
              <a:t>LT performed at a median of 13 days.</a:t>
            </a:r>
          </a:p>
          <a:p>
            <a:pPr lvl="1"/>
            <a:r>
              <a:rPr lang="en-US" dirty="0"/>
              <a:t>6-month survival: 77% (LT) vs. 23% (Controls).</a:t>
            </a:r>
          </a:p>
          <a:p>
            <a:pPr lvl="1"/>
            <a:endParaRPr lang="en-US" dirty="0"/>
          </a:p>
          <a:p>
            <a:pPr marL="0" indent="0">
              <a:buNone/>
            </a:pPr>
            <a:r>
              <a:rPr lang="en-US" b="1" dirty="0"/>
              <a:t>A US cohort study focusing on strict psychosocial selection.</a:t>
            </a:r>
          </a:p>
          <a:p>
            <a:pPr lvl="1"/>
            <a:r>
              <a:rPr lang="en-US" dirty="0"/>
              <a:t>1-year survival: 94%</a:t>
            </a:r>
          </a:p>
          <a:p>
            <a:pPr lvl="1"/>
            <a:r>
              <a:rPr lang="en-US" dirty="0"/>
              <a:t>3-year survival: 84%</a:t>
            </a:r>
          </a:p>
          <a:p>
            <a:pPr lvl="1"/>
            <a:r>
              <a:rPr lang="en-US" dirty="0"/>
              <a:t>Harmful drinking recurrence was 10-25%, with severe relapse being lower.</a:t>
            </a:r>
          </a:p>
        </p:txBody>
      </p:sp>
      <p:pic>
        <p:nvPicPr>
          <p:cNvPr id="7" name="Picture 6">
            <a:extLst>
              <a:ext uri="{FF2B5EF4-FFF2-40B4-BE49-F238E27FC236}">
                <a16:creationId xmlns:a16="http://schemas.microsoft.com/office/drawing/2014/main" id="{7DB7E5F9-9F75-BB8D-D758-540E91688E96}"/>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982454" y="78923"/>
            <a:ext cx="5769733" cy="4094998"/>
          </a:xfrm>
          <a:prstGeom prst="rect">
            <a:avLst/>
          </a:prstGeom>
        </p:spPr>
      </p:pic>
      <p:sp>
        <p:nvSpPr>
          <p:cNvPr id="9" name="TextBox 8">
            <a:extLst>
              <a:ext uri="{FF2B5EF4-FFF2-40B4-BE49-F238E27FC236}">
                <a16:creationId xmlns:a16="http://schemas.microsoft.com/office/drawing/2014/main" id="{25227ADC-DB64-D26E-F0B7-51C2AED9C0E4}"/>
              </a:ext>
            </a:extLst>
          </p:cNvPr>
          <p:cNvSpPr txBox="1"/>
          <p:nvPr/>
        </p:nvSpPr>
        <p:spPr>
          <a:xfrm>
            <a:off x="0" y="6208339"/>
            <a:ext cx="12191999" cy="646331"/>
          </a:xfrm>
          <a:prstGeom prst="rect">
            <a:avLst/>
          </a:prstGeom>
          <a:noFill/>
        </p:spPr>
        <p:txBody>
          <a:bodyPr wrap="square">
            <a:spAutoFit/>
          </a:bodyPr>
          <a:lstStyle/>
          <a:p>
            <a:r>
              <a:rPr lang="en-US" b="0" i="0" u="none" strike="noStrike" dirty="0">
                <a:solidFill>
                  <a:srgbClr val="212121"/>
                </a:solidFill>
                <a:effectLst/>
                <a:latin typeface="BlinkMacSystemFont"/>
              </a:rPr>
              <a:t>N Engl J Med. 2011 Nov 10;365(19):1790-800</a:t>
            </a:r>
          </a:p>
          <a:p>
            <a:r>
              <a:rPr lang="en-US" dirty="0"/>
              <a:t>Gastroenterology. 2018 Aug;155(2):422-430.e1</a:t>
            </a:r>
          </a:p>
        </p:txBody>
      </p:sp>
      <p:pic>
        <p:nvPicPr>
          <p:cNvPr id="2050" name="Picture 2">
            <a:extLst>
              <a:ext uri="{FF2B5EF4-FFF2-40B4-BE49-F238E27FC236}">
                <a16:creationId xmlns:a16="http://schemas.microsoft.com/office/drawing/2014/main" id="{15382D73-DC40-734E-7F7F-C0278765946B}"/>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5976284" y="4226079"/>
            <a:ext cx="6007899" cy="24407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75839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273BD4F-EB73-C40C-531C-C806B60C977B}"/>
              </a:ext>
            </a:extLst>
          </p:cNvPr>
          <p:cNvSpPr>
            <a:spLocks noGrp="1"/>
          </p:cNvSpPr>
          <p:nvPr>
            <p:ph type="title"/>
          </p:nvPr>
        </p:nvSpPr>
        <p:spPr>
          <a:xfrm>
            <a:off x="145473" y="18255"/>
            <a:ext cx="11599718" cy="1325563"/>
          </a:xfrm>
        </p:spPr>
        <p:txBody>
          <a:bodyPr>
            <a:normAutofit/>
          </a:bodyPr>
          <a:lstStyle/>
          <a:p>
            <a:r>
              <a:rPr lang="en-US" sz="3600" b="1" dirty="0"/>
              <a:t>Early Liver Transplantation for Severe Alcoholic Hepatitis</a:t>
            </a:r>
          </a:p>
        </p:txBody>
      </p:sp>
      <p:sp>
        <p:nvSpPr>
          <p:cNvPr id="5" name="Content Placeholder 4">
            <a:extLst>
              <a:ext uri="{FF2B5EF4-FFF2-40B4-BE49-F238E27FC236}">
                <a16:creationId xmlns:a16="http://schemas.microsoft.com/office/drawing/2014/main" id="{BFF8C4C8-5F55-5F1A-9695-6C0DDA51921C}"/>
              </a:ext>
            </a:extLst>
          </p:cNvPr>
          <p:cNvSpPr>
            <a:spLocks noGrp="1"/>
          </p:cNvSpPr>
          <p:nvPr>
            <p:ph idx="1"/>
          </p:nvPr>
        </p:nvSpPr>
        <p:spPr/>
        <p:txBody>
          <a:bodyPr/>
          <a:lstStyle/>
          <a:p>
            <a:r>
              <a:rPr lang="en-US" dirty="0"/>
              <a:t>6-month rule? </a:t>
            </a:r>
            <a:r>
              <a:rPr lang="en-US" b="1" dirty="0"/>
              <a:t>Not anymore. </a:t>
            </a:r>
          </a:p>
          <a:p>
            <a:endParaRPr lang="en-US" b="1" dirty="0"/>
          </a:p>
          <a:p>
            <a:r>
              <a:rPr lang="en-US" b="1" dirty="0">
                <a:highlight>
                  <a:srgbClr val="FFFF00"/>
                </a:highlight>
              </a:rPr>
              <a:t>We are transplanting patients whose last drink was same day of admission. </a:t>
            </a:r>
          </a:p>
          <a:p>
            <a:endParaRPr lang="en-US" b="1" dirty="0"/>
          </a:p>
          <a:p>
            <a:r>
              <a:rPr lang="en-US" dirty="0"/>
              <a:t>Selection is the most important part</a:t>
            </a:r>
          </a:p>
          <a:p>
            <a:r>
              <a:rPr lang="en-US" dirty="0"/>
              <a:t>Protocolized psychosocial assessment prior to full transplant evaluation</a:t>
            </a:r>
          </a:p>
          <a:p>
            <a:r>
              <a:rPr lang="en-US" dirty="0"/>
              <a:t>Good outcomes (</a:t>
            </a:r>
            <a:r>
              <a:rPr lang="en-US" i="1" dirty="0"/>
              <a:t>data to come soon</a:t>
            </a:r>
            <a:r>
              <a:rPr lang="en-US" dirty="0"/>
              <a:t>)</a:t>
            </a:r>
          </a:p>
        </p:txBody>
      </p:sp>
    </p:spTree>
    <p:extLst>
      <p:ext uri="{BB962C8B-B14F-4D97-AF65-F5344CB8AC3E}">
        <p14:creationId xmlns:p14="http://schemas.microsoft.com/office/powerpoint/2010/main" val="3309336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05FA0992-5E03-D086-AB56-AAEE5B5E541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26590" y="450230"/>
            <a:ext cx="11738820" cy="5957540"/>
          </a:xfrm>
          <a:prstGeom prst="rect">
            <a:avLst/>
          </a:prstGeom>
        </p:spPr>
      </p:pic>
    </p:spTree>
    <p:extLst>
      <p:ext uri="{BB962C8B-B14F-4D97-AF65-F5344CB8AC3E}">
        <p14:creationId xmlns:p14="http://schemas.microsoft.com/office/powerpoint/2010/main" val="29944731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967878-C67F-82E2-717A-492B4A17F6B1}"/>
              </a:ext>
            </a:extLst>
          </p:cNvPr>
          <p:cNvSpPr>
            <a:spLocks noGrp="1"/>
          </p:cNvSpPr>
          <p:nvPr>
            <p:ph type="title"/>
          </p:nvPr>
        </p:nvSpPr>
        <p:spPr>
          <a:xfrm>
            <a:off x="831850" y="2496662"/>
            <a:ext cx="10515600" cy="2852737"/>
          </a:xfrm>
        </p:spPr>
        <p:txBody>
          <a:bodyPr/>
          <a:lstStyle/>
          <a:p>
            <a:r>
              <a:rPr lang="en-US" dirty="0"/>
              <a:t>Transplant Evaluation Process</a:t>
            </a:r>
          </a:p>
        </p:txBody>
      </p:sp>
      <p:sp>
        <p:nvSpPr>
          <p:cNvPr id="5" name="Text Placeholder 4">
            <a:extLst>
              <a:ext uri="{FF2B5EF4-FFF2-40B4-BE49-F238E27FC236}">
                <a16:creationId xmlns:a16="http://schemas.microsoft.com/office/drawing/2014/main" id="{5EB95428-87BF-23A8-DE65-27203A362F45}"/>
              </a:ext>
            </a:extLst>
          </p:cNvPr>
          <p:cNvSpPr>
            <a:spLocks noGrp="1"/>
          </p:cNvSpPr>
          <p:nvPr>
            <p:ph type="body" idx="1"/>
          </p:nvPr>
        </p:nvSpPr>
        <p:spPr>
          <a:xfrm>
            <a:off x="831850" y="5376387"/>
            <a:ext cx="10515600" cy="1084047"/>
          </a:xfrm>
        </p:spPr>
        <p:txBody>
          <a:bodyPr/>
          <a:lstStyle/>
          <a:p>
            <a:r>
              <a:rPr lang="en-US" dirty="0"/>
              <a:t>Recipient (patient) evaluation</a:t>
            </a:r>
          </a:p>
        </p:txBody>
      </p:sp>
      <p:pic>
        <p:nvPicPr>
          <p:cNvPr id="3" name="Picture 2">
            <a:extLst>
              <a:ext uri="{FF2B5EF4-FFF2-40B4-BE49-F238E27FC236}">
                <a16:creationId xmlns:a16="http://schemas.microsoft.com/office/drawing/2014/main" id="{8BEFDF48-9B55-407A-AE01-A3930C437528}"/>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561993" y="269660"/>
            <a:ext cx="5068013" cy="3552134"/>
          </a:xfrm>
          <a:prstGeom prst="rect">
            <a:avLst/>
          </a:prstGeom>
        </p:spPr>
      </p:pic>
    </p:spTree>
    <p:extLst>
      <p:ext uri="{BB962C8B-B14F-4D97-AF65-F5344CB8AC3E}">
        <p14:creationId xmlns:p14="http://schemas.microsoft.com/office/powerpoint/2010/main" val="15123470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46DFBDE-4505-7FDF-75F5-C45E5B75B0E0}"/>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55349" y="292608"/>
            <a:ext cx="4535424" cy="5724144"/>
          </a:xfrm>
          <a:prstGeom prst="rect">
            <a:avLst/>
          </a:prstGeom>
        </p:spPr>
      </p:pic>
      <p:pic>
        <p:nvPicPr>
          <p:cNvPr id="5" name="Picture 4">
            <a:extLst>
              <a:ext uri="{FF2B5EF4-FFF2-40B4-BE49-F238E27FC236}">
                <a16:creationId xmlns:a16="http://schemas.microsoft.com/office/drawing/2014/main" id="{2D60E05C-7B10-DA07-58C9-89EBE138EED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122519" y="1051560"/>
            <a:ext cx="4437860" cy="3767328"/>
          </a:xfrm>
          <a:prstGeom prst="rect">
            <a:avLst/>
          </a:prstGeom>
        </p:spPr>
      </p:pic>
      <p:pic>
        <p:nvPicPr>
          <p:cNvPr id="9" name="Picture 8">
            <a:extLst>
              <a:ext uri="{FF2B5EF4-FFF2-40B4-BE49-F238E27FC236}">
                <a16:creationId xmlns:a16="http://schemas.microsoft.com/office/drawing/2014/main" id="{49BBD0A9-5420-0289-BED4-0BBE2B9D0847}"/>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012565" y="310896"/>
            <a:ext cx="4458795" cy="614085"/>
          </a:xfrm>
          <a:prstGeom prst="rect">
            <a:avLst/>
          </a:prstGeom>
        </p:spPr>
      </p:pic>
      <p:sp>
        <p:nvSpPr>
          <p:cNvPr id="10" name="TextBox 9">
            <a:extLst>
              <a:ext uri="{FF2B5EF4-FFF2-40B4-BE49-F238E27FC236}">
                <a16:creationId xmlns:a16="http://schemas.microsoft.com/office/drawing/2014/main" id="{3ADBCE0C-7E71-6627-EFB1-BBBB5470E64A}"/>
              </a:ext>
            </a:extLst>
          </p:cNvPr>
          <p:cNvSpPr txBox="1"/>
          <p:nvPr/>
        </p:nvSpPr>
        <p:spPr>
          <a:xfrm>
            <a:off x="0" y="6488668"/>
            <a:ext cx="12195048" cy="369332"/>
          </a:xfrm>
          <a:prstGeom prst="rect">
            <a:avLst/>
          </a:prstGeom>
          <a:noFill/>
        </p:spPr>
        <p:txBody>
          <a:bodyPr wrap="square">
            <a:spAutoFit/>
          </a:bodyPr>
          <a:lstStyle/>
          <a:p>
            <a:pPr algn="r"/>
            <a:r>
              <a:rPr lang="en-US" b="0" i="0" u="none" strike="noStrike" dirty="0">
                <a:solidFill>
                  <a:srgbClr val="212121"/>
                </a:solidFill>
                <a:effectLst/>
                <a:latin typeface="BlinkMacSystemFont"/>
              </a:rPr>
              <a:t>O'Leary JG, Lepe R, Davis GL. Indications for liver transplantation. Gastroenterology. 2008 May;134(6):1764-76</a:t>
            </a:r>
            <a:endParaRPr lang="en-US" dirty="0"/>
          </a:p>
        </p:txBody>
      </p:sp>
    </p:spTree>
    <p:extLst>
      <p:ext uri="{BB962C8B-B14F-4D97-AF65-F5344CB8AC3E}">
        <p14:creationId xmlns:p14="http://schemas.microsoft.com/office/powerpoint/2010/main" val="32539812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41ECA71-0E05-AC59-021E-E008FA3AB536}"/>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969205" y="395654"/>
            <a:ext cx="10253590" cy="5380892"/>
          </a:xfrm>
          <a:prstGeom prst="rect">
            <a:avLst/>
          </a:prstGeom>
        </p:spPr>
      </p:pic>
      <p:sp>
        <p:nvSpPr>
          <p:cNvPr id="4" name="TextBox 3">
            <a:extLst>
              <a:ext uri="{FF2B5EF4-FFF2-40B4-BE49-F238E27FC236}">
                <a16:creationId xmlns:a16="http://schemas.microsoft.com/office/drawing/2014/main" id="{1AB7235A-F43F-8983-881E-5D9C95D73C58}"/>
              </a:ext>
            </a:extLst>
          </p:cNvPr>
          <p:cNvSpPr txBox="1"/>
          <p:nvPr/>
        </p:nvSpPr>
        <p:spPr>
          <a:xfrm>
            <a:off x="0" y="6488668"/>
            <a:ext cx="12198096" cy="369332"/>
          </a:xfrm>
          <a:prstGeom prst="rect">
            <a:avLst/>
          </a:prstGeom>
          <a:noFill/>
        </p:spPr>
        <p:txBody>
          <a:bodyPr wrap="square">
            <a:spAutoFit/>
          </a:bodyPr>
          <a:lstStyle/>
          <a:p>
            <a:pPr algn="r"/>
            <a:r>
              <a:rPr lang="en-US" dirty="0"/>
              <a:t>28th Edition of the MGH Department of Medicine </a:t>
            </a:r>
            <a:r>
              <a:rPr lang="en-US" dirty="0" err="1"/>
              <a:t>Housestaff</a:t>
            </a:r>
            <a:r>
              <a:rPr lang="en-US" dirty="0"/>
              <a:t> Manual 2022-2023 </a:t>
            </a:r>
          </a:p>
        </p:txBody>
      </p:sp>
    </p:spTree>
    <p:extLst>
      <p:ext uri="{BB962C8B-B14F-4D97-AF65-F5344CB8AC3E}">
        <p14:creationId xmlns:p14="http://schemas.microsoft.com/office/powerpoint/2010/main" val="3262228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65D8A-F65B-8929-1CA1-CD50CCB7A8E7}"/>
              </a:ext>
            </a:extLst>
          </p:cNvPr>
          <p:cNvSpPr>
            <a:spLocks noGrp="1"/>
          </p:cNvSpPr>
          <p:nvPr>
            <p:ph type="title"/>
          </p:nvPr>
        </p:nvSpPr>
        <p:spPr>
          <a:xfrm>
            <a:off x="831850" y="2728913"/>
            <a:ext cx="10515600" cy="2852737"/>
          </a:xfrm>
        </p:spPr>
        <p:txBody>
          <a:bodyPr>
            <a:normAutofit/>
          </a:bodyPr>
          <a:lstStyle/>
          <a:p>
            <a:r>
              <a:rPr lang="en-US" sz="4800" dirty="0"/>
              <a:t>How do we match donors and recipients?</a:t>
            </a:r>
          </a:p>
        </p:txBody>
      </p:sp>
      <p:pic>
        <p:nvPicPr>
          <p:cNvPr id="5" name="Picture 4" descr="Cartoon of two people sitting at a desk talking to a person&#10;&#10;Description automatically generated">
            <a:extLst>
              <a:ext uri="{FF2B5EF4-FFF2-40B4-BE49-F238E27FC236}">
                <a16:creationId xmlns:a16="http://schemas.microsoft.com/office/drawing/2014/main" id="{D2304F85-AFE8-4B60-B1FD-12EEE54A990F}"/>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208078" y="0"/>
            <a:ext cx="3775844" cy="4485703"/>
          </a:xfrm>
          <a:prstGeom prst="rect">
            <a:avLst/>
          </a:prstGeom>
        </p:spPr>
      </p:pic>
    </p:spTree>
    <p:extLst>
      <p:ext uri="{BB962C8B-B14F-4D97-AF65-F5344CB8AC3E}">
        <p14:creationId xmlns:p14="http://schemas.microsoft.com/office/powerpoint/2010/main" val="17095358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85BCAC-067F-80E3-AA24-02093D41E243}"/>
              </a:ext>
            </a:extLst>
          </p:cNvPr>
          <p:cNvSpPr>
            <a:spLocks noGrp="1"/>
          </p:cNvSpPr>
          <p:nvPr>
            <p:ph type="title"/>
          </p:nvPr>
        </p:nvSpPr>
        <p:spPr/>
        <p:txBody>
          <a:bodyPr/>
          <a:lstStyle/>
          <a:p>
            <a:r>
              <a:rPr lang="en-US" dirty="0"/>
              <a:t>Donor Selection</a:t>
            </a:r>
          </a:p>
        </p:txBody>
      </p:sp>
      <p:sp>
        <p:nvSpPr>
          <p:cNvPr id="3" name="Content Placeholder 2">
            <a:extLst>
              <a:ext uri="{FF2B5EF4-FFF2-40B4-BE49-F238E27FC236}">
                <a16:creationId xmlns:a16="http://schemas.microsoft.com/office/drawing/2014/main" id="{2129585D-78BE-812E-F283-FF62F35813FE}"/>
              </a:ext>
            </a:extLst>
          </p:cNvPr>
          <p:cNvSpPr>
            <a:spLocks noGrp="1"/>
          </p:cNvSpPr>
          <p:nvPr>
            <p:ph idx="1"/>
          </p:nvPr>
        </p:nvSpPr>
        <p:spPr>
          <a:xfrm>
            <a:off x="838200" y="1530036"/>
            <a:ext cx="11163300" cy="4646927"/>
          </a:xfrm>
        </p:spPr>
        <p:txBody>
          <a:bodyPr/>
          <a:lstStyle/>
          <a:p>
            <a:pPr marL="0" indent="0">
              <a:buNone/>
            </a:pPr>
            <a:r>
              <a:rPr lang="en-US" dirty="0"/>
              <a:t>Which of the following are required for matching liver donors to recipients?</a:t>
            </a:r>
          </a:p>
          <a:p>
            <a:pPr marL="514350" indent="-514350">
              <a:buAutoNum type="alphaUcParenR"/>
            </a:pPr>
            <a:r>
              <a:rPr lang="en-US" dirty="0"/>
              <a:t>ABO compatibility</a:t>
            </a:r>
          </a:p>
          <a:p>
            <a:pPr marL="514350" indent="-514350">
              <a:buAutoNum type="alphaUcParenR"/>
            </a:pPr>
            <a:r>
              <a:rPr lang="en-US" dirty="0"/>
              <a:t>Rh antigen compatibility</a:t>
            </a:r>
          </a:p>
          <a:p>
            <a:pPr marL="514350" indent="-514350">
              <a:buAutoNum type="alphaUcParenR"/>
            </a:pPr>
            <a:r>
              <a:rPr lang="en-US" dirty="0"/>
              <a:t>HLA typing compatibility &gt; 20%</a:t>
            </a:r>
          </a:p>
          <a:p>
            <a:pPr marL="514350" indent="-514350">
              <a:buAutoNum type="alphaUcParenR"/>
            </a:pPr>
            <a:r>
              <a:rPr lang="en-US" dirty="0"/>
              <a:t>Size Compatibility</a:t>
            </a:r>
          </a:p>
        </p:txBody>
      </p:sp>
    </p:spTree>
    <p:extLst>
      <p:ext uri="{BB962C8B-B14F-4D97-AF65-F5344CB8AC3E}">
        <p14:creationId xmlns:p14="http://schemas.microsoft.com/office/powerpoint/2010/main" val="20326338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85BCAC-067F-80E3-AA24-02093D41E243}"/>
              </a:ext>
            </a:extLst>
          </p:cNvPr>
          <p:cNvSpPr>
            <a:spLocks noGrp="1"/>
          </p:cNvSpPr>
          <p:nvPr>
            <p:ph type="title"/>
          </p:nvPr>
        </p:nvSpPr>
        <p:spPr/>
        <p:txBody>
          <a:bodyPr/>
          <a:lstStyle/>
          <a:p>
            <a:r>
              <a:rPr lang="en-US" dirty="0"/>
              <a:t>Donor Selection</a:t>
            </a:r>
          </a:p>
        </p:txBody>
      </p:sp>
      <p:sp>
        <p:nvSpPr>
          <p:cNvPr id="3" name="Content Placeholder 2">
            <a:extLst>
              <a:ext uri="{FF2B5EF4-FFF2-40B4-BE49-F238E27FC236}">
                <a16:creationId xmlns:a16="http://schemas.microsoft.com/office/drawing/2014/main" id="{2129585D-78BE-812E-F283-FF62F35813FE}"/>
              </a:ext>
            </a:extLst>
          </p:cNvPr>
          <p:cNvSpPr>
            <a:spLocks noGrp="1"/>
          </p:cNvSpPr>
          <p:nvPr>
            <p:ph idx="1"/>
          </p:nvPr>
        </p:nvSpPr>
        <p:spPr>
          <a:xfrm>
            <a:off x="838200" y="1530036"/>
            <a:ext cx="11216054" cy="4646927"/>
          </a:xfrm>
        </p:spPr>
        <p:txBody>
          <a:bodyPr/>
          <a:lstStyle/>
          <a:p>
            <a:pPr marL="0" indent="0">
              <a:buNone/>
            </a:pPr>
            <a:r>
              <a:rPr lang="en-US" dirty="0"/>
              <a:t>Which of the following are required for matching liver donors to recipients?</a:t>
            </a:r>
          </a:p>
          <a:p>
            <a:pPr marL="514350" indent="-514350">
              <a:buAutoNum type="alphaUcParenR"/>
            </a:pPr>
            <a:r>
              <a:rPr lang="en-US" b="1" dirty="0"/>
              <a:t>ABO compatibility -&gt; preferred, but not required</a:t>
            </a:r>
          </a:p>
          <a:p>
            <a:pPr marL="514350" indent="-514350">
              <a:buAutoNum type="alphaUcParenR"/>
            </a:pPr>
            <a:r>
              <a:rPr lang="en-US" strike="sngStrike" dirty="0"/>
              <a:t>Rh antigen compatibility -&gt; not required</a:t>
            </a:r>
          </a:p>
          <a:p>
            <a:pPr marL="514350" indent="-514350">
              <a:buAutoNum type="alphaUcParenR"/>
            </a:pPr>
            <a:r>
              <a:rPr lang="en-US" strike="sngStrike" dirty="0"/>
              <a:t>HLA typing compatibility &gt; 20% -&gt; not required</a:t>
            </a:r>
          </a:p>
          <a:p>
            <a:pPr marL="514350" indent="-514350">
              <a:buAutoNum type="alphaUcParenR"/>
            </a:pPr>
            <a:r>
              <a:rPr lang="en-US" b="1" dirty="0">
                <a:highlight>
                  <a:srgbClr val="FFFF00"/>
                </a:highlight>
              </a:rPr>
              <a:t>Size Compatibility -&gt; MOST IMPORTANT</a:t>
            </a:r>
          </a:p>
        </p:txBody>
      </p:sp>
    </p:spTree>
    <p:extLst>
      <p:ext uri="{BB962C8B-B14F-4D97-AF65-F5344CB8AC3E}">
        <p14:creationId xmlns:p14="http://schemas.microsoft.com/office/powerpoint/2010/main" val="35453035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087A2-4B37-BCC6-1DCB-FC58A01AE106}"/>
              </a:ext>
            </a:extLst>
          </p:cNvPr>
          <p:cNvSpPr>
            <a:spLocks noGrp="1"/>
          </p:cNvSpPr>
          <p:nvPr>
            <p:ph type="title"/>
          </p:nvPr>
        </p:nvSpPr>
        <p:spPr/>
        <p:txBody>
          <a:bodyPr/>
          <a:lstStyle/>
          <a:p>
            <a:r>
              <a:rPr lang="en-US" dirty="0"/>
              <a:t>Transplant Shop Talk</a:t>
            </a:r>
          </a:p>
        </p:txBody>
      </p:sp>
      <p:sp>
        <p:nvSpPr>
          <p:cNvPr id="3" name="Content Placeholder 2">
            <a:extLst>
              <a:ext uri="{FF2B5EF4-FFF2-40B4-BE49-F238E27FC236}">
                <a16:creationId xmlns:a16="http://schemas.microsoft.com/office/drawing/2014/main" id="{36DE3B5F-B37B-21FA-4B21-30C9A0347AE1}"/>
              </a:ext>
            </a:extLst>
          </p:cNvPr>
          <p:cNvSpPr>
            <a:spLocks noGrp="1"/>
          </p:cNvSpPr>
          <p:nvPr>
            <p:ph idx="1"/>
          </p:nvPr>
        </p:nvSpPr>
        <p:spPr/>
        <p:txBody>
          <a:bodyPr>
            <a:normAutofit fontScale="92500" lnSpcReduction="10000"/>
          </a:bodyPr>
          <a:lstStyle/>
          <a:p>
            <a:pPr lvl="1"/>
            <a:r>
              <a:rPr lang="en-US" b="1" dirty="0"/>
              <a:t>Expanded donor criteria (sometimes called marginal livers) </a:t>
            </a:r>
          </a:p>
          <a:p>
            <a:pPr lvl="2"/>
            <a:r>
              <a:rPr lang="en-US" dirty="0"/>
              <a:t>Donor over 60 years old.</a:t>
            </a:r>
          </a:p>
          <a:p>
            <a:pPr lvl="2"/>
            <a:r>
              <a:rPr lang="en-US" dirty="0"/>
              <a:t>Donor over 50 years old with two of the following: </a:t>
            </a:r>
          </a:p>
          <a:p>
            <a:pPr marL="1828800" lvl="3" indent="-457200">
              <a:buAutoNum type="alphaLcPeriod"/>
            </a:pPr>
            <a:r>
              <a:rPr lang="en-US" dirty="0"/>
              <a:t>HTN</a:t>
            </a:r>
          </a:p>
          <a:p>
            <a:pPr marL="1828800" lvl="3" indent="-457200">
              <a:buAutoNum type="alphaLcPeriod"/>
            </a:pPr>
            <a:r>
              <a:rPr lang="en-US" dirty="0"/>
              <a:t>Creatinine &gt; 1.5</a:t>
            </a:r>
          </a:p>
          <a:p>
            <a:pPr marL="1828800" lvl="3" indent="-457200">
              <a:buAutoNum type="alphaLcPeriod"/>
            </a:pPr>
            <a:r>
              <a:rPr lang="en-US" dirty="0"/>
              <a:t>Death from stroke</a:t>
            </a:r>
          </a:p>
          <a:p>
            <a:pPr lvl="1"/>
            <a:endParaRPr lang="en-US" dirty="0"/>
          </a:p>
          <a:p>
            <a:pPr lvl="1"/>
            <a:r>
              <a:rPr lang="en-US" b="1" dirty="0"/>
              <a:t>Hepatitis C positive livers</a:t>
            </a:r>
          </a:p>
          <a:p>
            <a:pPr lvl="1"/>
            <a:r>
              <a:rPr lang="en-US" b="1" dirty="0"/>
              <a:t>Hepatitis B </a:t>
            </a:r>
            <a:r>
              <a:rPr lang="en-US" b="1" dirty="0" err="1"/>
              <a:t>cAb</a:t>
            </a:r>
            <a:r>
              <a:rPr lang="en-US" b="1" dirty="0"/>
              <a:t>+ livers</a:t>
            </a:r>
          </a:p>
          <a:p>
            <a:pPr lvl="1"/>
            <a:r>
              <a:rPr lang="en-US" b="1" dirty="0"/>
              <a:t>Hepatitis B NAT+ livers</a:t>
            </a:r>
          </a:p>
          <a:p>
            <a:endParaRPr lang="en-US" dirty="0"/>
          </a:p>
          <a:p>
            <a:r>
              <a:rPr lang="en-US" dirty="0"/>
              <a:t>Patients who agree to receive livers from the above criteria will have access to a wider pool of livers </a:t>
            </a:r>
          </a:p>
        </p:txBody>
      </p:sp>
    </p:spTree>
    <p:extLst>
      <p:ext uri="{BB962C8B-B14F-4D97-AF65-F5344CB8AC3E}">
        <p14:creationId xmlns:p14="http://schemas.microsoft.com/office/powerpoint/2010/main" val="36293700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22645C-77E5-BE1D-9E11-4B31E296BF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225643-A2AD-ABE7-8BCB-B6741F1AD183}"/>
              </a:ext>
            </a:extLst>
          </p:cNvPr>
          <p:cNvSpPr>
            <a:spLocks noGrp="1"/>
          </p:cNvSpPr>
          <p:nvPr>
            <p:ph type="title"/>
          </p:nvPr>
        </p:nvSpPr>
        <p:spPr/>
        <p:txBody>
          <a:bodyPr/>
          <a:lstStyle/>
          <a:p>
            <a:r>
              <a:rPr lang="en-US" dirty="0"/>
              <a:t>Transplant Shop Talk</a:t>
            </a:r>
          </a:p>
        </p:txBody>
      </p:sp>
      <p:sp>
        <p:nvSpPr>
          <p:cNvPr id="3" name="Content Placeholder 2">
            <a:extLst>
              <a:ext uri="{FF2B5EF4-FFF2-40B4-BE49-F238E27FC236}">
                <a16:creationId xmlns:a16="http://schemas.microsoft.com/office/drawing/2014/main" id="{4889E39D-58B4-B55B-FEF7-60C68B241778}"/>
              </a:ext>
            </a:extLst>
          </p:cNvPr>
          <p:cNvSpPr>
            <a:spLocks noGrp="1"/>
          </p:cNvSpPr>
          <p:nvPr>
            <p:ph idx="1"/>
          </p:nvPr>
        </p:nvSpPr>
        <p:spPr/>
        <p:txBody>
          <a:bodyPr>
            <a:normAutofit fontScale="92500" lnSpcReduction="10000"/>
          </a:bodyPr>
          <a:lstStyle/>
          <a:p>
            <a:pPr lvl="1"/>
            <a:r>
              <a:rPr lang="en-US" b="1" dirty="0">
                <a:solidFill>
                  <a:schemeClr val="bg2">
                    <a:lumMod val="75000"/>
                  </a:schemeClr>
                </a:solidFill>
              </a:rPr>
              <a:t>Expanded donor criteria (sometimes called marginal livers) </a:t>
            </a:r>
          </a:p>
          <a:p>
            <a:pPr lvl="2"/>
            <a:r>
              <a:rPr lang="en-US" dirty="0">
                <a:solidFill>
                  <a:schemeClr val="bg2">
                    <a:lumMod val="75000"/>
                  </a:schemeClr>
                </a:solidFill>
              </a:rPr>
              <a:t>Donor over 60 years old.</a:t>
            </a:r>
          </a:p>
          <a:p>
            <a:pPr lvl="2"/>
            <a:r>
              <a:rPr lang="en-US" dirty="0">
                <a:solidFill>
                  <a:schemeClr val="bg2">
                    <a:lumMod val="75000"/>
                  </a:schemeClr>
                </a:solidFill>
              </a:rPr>
              <a:t>Donor over 50 years old with two of the following: </a:t>
            </a:r>
          </a:p>
          <a:p>
            <a:pPr marL="1828800" lvl="3" indent="-457200">
              <a:buAutoNum type="alphaLcPeriod"/>
            </a:pPr>
            <a:r>
              <a:rPr lang="en-US" dirty="0">
                <a:solidFill>
                  <a:schemeClr val="bg2">
                    <a:lumMod val="75000"/>
                  </a:schemeClr>
                </a:solidFill>
              </a:rPr>
              <a:t>HTN</a:t>
            </a:r>
          </a:p>
          <a:p>
            <a:pPr marL="1828800" lvl="3" indent="-457200">
              <a:buAutoNum type="alphaLcPeriod"/>
            </a:pPr>
            <a:r>
              <a:rPr lang="en-US" dirty="0">
                <a:solidFill>
                  <a:schemeClr val="bg2">
                    <a:lumMod val="75000"/>
                  </a:schemeClr>
                </a:solidFill>
              </a:rPr>
              <a:t>Creatinine &gt; 1.5</a:t>
            </a:r>
          </a:p>
          <a:p>
            <a:pPr marL="1828800" lvl="3" indent="-457200">
              <a:buAutoNum type="alphaLcPeriod"/>
            </a:pPr>
            <a:r>
              <a:rPr lang="en-US" dirty="0">
                <a:solidFill>
                  <a:schemeClr val="bg2">
                    <a:lumMod val="75000"/>
                  </a:schemeClr>
                </a:solidFill>
              </a:rPr>
              <a:t>Death from stroke</a:t>
            </a:r>
          </a:p>
          <a:p>
            <a:pPr lvl="1"/>
            <a:endParaRPr lang="en-US" dirty="0"/>
          </a:p>
          <a:p>
            <a:pPr lvl="1"/>
            <a:r>
              <a:rPr lang="en-US" b="1" dirty="0"/>
              <a:t>Hepatitis C positive livers</a:t>
            </a:r>
          </a:p>
          <a:p>
            <a:pPr lvl="1"/>
            <a:r>
              <a:rPr lang="en-US" b="1" dirty="0"/>
              <a:t>Hepatitis B </a:t>
            </a:r>
            <a:r>
              <a:rPr lang="en-US" b="1" dirty="0" err="1"/>
              <a:t>cAb</a:t>
            </a:r>
            <a:r>
              <a:rPr lang="en-US" b="1" dirty="0"/>
              <a:t>+ livers</a:t>
            </a:r>
          </a:p>
          <a:p>
            <a:pPr lvl="1"/>
            <a:r>
              <a:rPr lang="en-US" b="1" dirty="0"/>
              <a:t>Hepatitis B NAT+ livers</a:t>
            </a:r>
          </a:p>
          <a:p>
            <a:endParaRPr lang="en-US" dirty="0"/>
          </a:p>
          <a:p>
            <a:r>
              <a:rPr lang="en-US" dirty="0"/>
              <a:t>Patients who agree to receive livers from the above criteria will have access to a wider pool of livers </a:t>
            </a:r>
          </a:p>
        </p:txBody>
      </p:sp>
      <p:sp>
        <p:nvSpPr>
          <p:cNvPr id="4" name="Rounded Rectangle 3">
            <a:extLst>
              <a:ext uri="{FF2B5EF4-FFF2-40B4-BE49-F238E27FC236}">
                <a16:creationId xmlns:a16="http://schemas.microsoft.com/office/drawing/2014/main" id="{68C457B0-393A-DCCD-2E9D-15B9CF6601AD}"/>
              </a:ext>
            </a:extLst>
          </p:cNvPr>
          <p:cNvSpPr/>
          <p:nvPr/>
        </p:nvSpPr>
        <p:spPr>
          <a:xfrm rot="21133233">
            <a:off x="1486501" y="1584688"/>
            <a:ext cx="6763006" cy="1393000"/>
          </a:xfrm>
          <a:prstGeom prst="roundRect">
            <a:avLst>
              <a:gd name="adj" fmla="val 25796"/>
            </a:avLst>
          </a:prstGeom>
          <a:solidFill>
            <a:schemeClr val="bg1">
              <a:alpha val="69000"/>
            </a:schemeClr>
          </a:solidFill>
          <a:ln w="76200" cmpd="dbl">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solidFill>
                  <a:srgbClr val="FF0000"/>
                </a:solidFill>
                <a:latin typeface="Impact" panose="020B0806030902050204" pitchFamily="34" charset="0"/>
                <a:cs typeface="Broadway" panose="020F0502020204030204" pitchFamily="34" charset="0"/>
              </a:rPr>
              <a:t>OLD CONCEPT</a:t>
            </a:r>
          </a:p>
        </p:txBody>
      </p:sp>
      <p:cxnSp>
        <p:nvCxnSpPr>
          <p:cNvPr id="5" name="Straight Arrow Connector 4">
            <a:extLst>
              <a:ext uri="{FF2B5EF4-FFF2-40B4-BE49-F238E27FC236}">
                <a16:creationId xmlns:a16="http://schemas.microsoft.com/office/drawing/2014/main" id="{DDCFB909-387A-DBF1-9D7A-4C9AD4F35F7E}"/>
              </a:ext>
            </a:extLst>
          </p:cNvPr>
          <p:cNvCxnSpPr>
            <a:cxnSpLocks/>
          </p:cNvCxnSpPr>
          <p:nvPr/>
        </p:nvCxnSpPr>
        <p:spPr>
          <a:xfrm flipH="1">
            <a:off x="8393095" y="2194246"/>
            <a:ext cx="759531"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6" name="TextBox 5">
            <a:extLst>
              <a:ext uri="{FF2B5EF4-FFF2-40B4-BE49-F238E27FC236}">
                <a16:creationId xmlns:a16="http://schemas.microsoft.com/office/drawing/2014/main" id="{10A866C1-3A41-92F8-1C26-CAD7FFE14848}"/>
              </a:ext>
            </a:extLst>
          </p:cNvPr>
          <p:cNvSpPr txBox="1"/>
          <p:nvPr/>
        </p:nvSpPr>
        <p:spPr>
          <a:xfrm>
            <a:off x="9233057" y="1778747"/>
            <a:ext cx="2391745" cy="830997"/>
          </a:xfrm>
          <a:prstGeom prst="rect">
            <a:avLst/>
          </a:prstGeom>
          <a:noFill/>
        </p:spPr>
        <p:txBody>
          <a:bodyPr wrap="none" rtlCol="0">
            <a:spAutoFit/>
          </a:bodyPr>
          <a:lstStyle/>
          <a:p>
            <a:pPr algn="ctr"/>
            <a:r>
              <a:rPr lang="en-US" sz="2400" b="1" dirty="0"/>
              <a:t>Good Livers with </a:t>
            </a:r>
          </a:p>
          <a:p>
            <a:pPr algn="ctr"/>
            <a:r>
              <a:rPr lang="en-US" sz="2400" b="1" dirty="0"/>
              <a:t>Bad Reputation!</a:t>
            </a:r>
          </a:p>
        </p:txBody>
      </p:sp>
    </p:spTree>
    <p:extLst>
      <p:ext uri="{BB962C8B-B14F-4D97-AF65-F5344CB8AC3E}">
        <p14:creationId xmlns:p14="http://schemas.microsoft.com/office/powerpoint/2010/main" val="42642166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7CF3C95-CA53-AFF5-1B44-EEDE8B4D4C13}"/>
              </a:ext>
            </a:extLst>
          </p:cNvPr>
          <p:cNvSpPr>
            <a:spLocks noGrp="1"/>
          </p:cNvSpPr>
          <p:nvPr>
            <p:ph type="title"/>
          </p:nvPr>
        </p:nvSpPr>
        <p:spPr/>
        <p:txBody>
          <a:bodyPr/>
          <a:lstStyle/>
          <a:p>
            <a:r>
              <a:rPr lang="en-US" dirty="0"/>
              <a:t>MELD Exceptions Points</a:t>
            </a:r>
          </a:p>
        </p:txBody>
      </p:sp>
      <p:sp>
        <p:nvSpPr>
          <p:cNvPr id="5" name="Content Placeholder 4">
            <a:extLst>
              <a:ext uri="{FF2B5EF4-FFF2-40B4-BE49-F238E27FC236}">
                <a16:creationId xmlns:a16="http://schemas.microsoft.com/office/drawing/2014/main" id="{4D59CB39-D768-FCEB-DD68-AB139A06E43C}"/>
              </a:ext>
            </a:extLst>
          </p:cNvPr>
          <p:cNvSpPr>
            <a:spLocks noGrp="1"/>
          </p:cNvSpPr>
          <p:nvPr>
            <p:ph idx="1"/>
          </p:nvPr>
        </p:nvSpPr>
        <p:spPr/>
        <p:txBody>
          <a:bodyPr/>
          <a:lstStyle/>
          <a:p>
            <a:r>
              <a:rPr lang="en-US" dirty="0"/>
              <a:t>Sometimes MELD score does not reflect the severity of liver disease and the impact on patient’s quality of life and survival</a:t>
            </a:r>
          </a:p>
          <a:p>
            <a:r>
              <a:rPr lang="en-US" dirty="0"/>
              <a:t>As such, </a:t>
            </a:r>
            <a:r>
              <a:rPr lang="en-US" b="1" dirty="0"/>
              <a:t>typical exception point system</a:t>
            </a:r>
            <a:r>
              <a:rPr lang="en-US" dirty="0"/>
              <a:t> exists to get the patient to a higher status while listed</a:t>
            </a:r>
          </a:p>
        </p:txBody>
      </p:sp>
    </p:spTree>
    <p:extLst>
      <p:ext uri="{BB962C8B-B14F-4D97-AF65-F5344CB8AC3E}">
        <p14:creationId xmlns:p14="http://schemas.microsoft.com/office/powerpoint/2010/main" val="314947228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23CC7-FD3B-1394-212B-3C022E9615EE}"/>
              </a:ext>
            </a:extLst>
          </p:cNvPr>
          <p:cNvSpPr>
            <a:spLocks noGrp="1"/>
          </p:cNvSpPr>
          <p:nvPr>
            <p:ph type="title"/>
          </p:nvPr>
        </p:nvSpPr>
        <p:spPr/>
        <p:txBody>
          <a:bodyPr/>
          <a:lstStyle/>
          <a:p>
            <a:r>
              <a:rPr lang="en-US" dirty="0"/>
              <a:t>Standard MELD Exception Points</a:t>
            </a:r>
          </a:p>
        </p:txBody>
      </p:sp>
      <p:sp>
        <p:nvSpPr>
          <p:cNvPr id="3" name="Content Placeholder 2">
            <a:extLst>
              <a:ext uri="{FF2B5EF4-FFF2-40B4-BE49-F238E27FC236}">
                <a16:creationId xmlns:a16="http://schemas.microsoft.com/office/drawing/2014/main" id="{817A9890-6886-69EC-0374-5C9C19D6FB6B}"/>
              </a:ext>
            </a:extLst>
          </p:cNvPr>
          <p:cNvSpPr>
            <a:spLocks noGrp="1"/>
          </p:cNvSpPr>
          <p:nvPr>
            <p:ph idx="1"/>
          </p:nvPr>
        </p:nvSpPr>
        <p:spPr>
          <a:xfrm>
            <a:off x="838200" y="1825625"/>
            <a:ext cx="10515600" cy="4765180"/>
          </a:xfrm>
        </p:spPr>
        <p:txBody>
          <a:bodyPr>
            <a:normAutofit lnSpcReduction="10000"/>
          </a:bodyPr>
          <a:lstStyle/>
          <a:p>
            <a:r>
              <a:rPr lang="en-US" dirty="0"/>
              <a:t>Hepatopulmonary Syndrome </a:t>
            </a:r>
          </a:p>
          <a:p>
            <a:pPr lvl="1"/>
            <a:r>
              <a:rPr lang="en-US" dirty="0"/>
              <a:t>RA ABG &lt; 60 mmHg AND echo w/ late bubbles</a:t>
            </a:r>
          </a:p>
          <a:p>
            <a:r>
              <a:rPr lang="en-US" dirty="0" err="1"/>
              <a:t>Portopulmonary</a:t>
            </a:r>
            <a:r>
              <a:rPr lang="en-US" dirty="0"/>
              <a:t> Hypertension </a:t>
            </a:r>
          </a:p>
          <a:p>
            <a:pPr lvl="1"/>
            <a:r>
              <a:rPr lang="en-US" dirty="0"/>
              <a:t>MPAP &gt; 35 + PVR &gt; 240 AND MPAP &lt; 35 post Rx</a:t>
            </a:r>
          </a:p>
          <a:p>
            <a:r>
              <a:rPr lang="en-US" dirty="0"/>
              <a:t>HCC</a:t>
            </a:r>
          </a:p>
          <a:p>
            <a:pPr lvl="1"/>
            <a:r>
              <a:rPr lang="en-US" dirty="0"/>
              <a:t>Within Milan criteria (or </a:t>
            </a:r>
            <a:r>
              <a:rPr lang="en-US" dirty="0" err="1"/>
              <a:t>downstaged</a:t>
            </a:r>
            <a:r>
              <a:rPr lang="en-US" dirty="0"/>
              <a:t>)</a:t>
            </a:r>
          </a:p>
          <a:p>
            <a:pPr lvl="1"/>
            <a:r>
              <a:rPr lang="en-US" dirty="0"/>
              <a:t>AFP &lt; 1000</a:t>
            </a:r>
          </a:p>
          <a:p>
            <a:pPr lvl="1"/>
            <a:r>
              <a:rPr lang="en-US" dirty="0"/>
              <a:t>ONE LESION between 2-5 cm</a:t>
            </a:r>
          </a:p>
          <a:p>
            <a:pPr lvl="1"/>
            <a:r>
              <a:rPr lang="en-US" dirty="0"/>
              <a:t>TWO/THREE LESIONS EACH between 1-3 cm</a:t>
            </a:r>
          </a:p>
          <a:p>
            <a:r>
              <a:rPr lang="en-US" dirty="0"/>
              <a:t>Cholangiocarcinoma</a:t>
            </a:r>
          </a:p>
          <a:p>
            <a:pPr lvl="1"/>
            <a:r>
              <a:rPr lang="en-US" dirty="0"/>
              <a:t>Hilar mass &lt; 3 cm</a:t>
            </a:r>
          </a:p>
          <a:p>
            <a:pPr lvl="1"/>
            <a:r>
              <a:rPr lang="en-US" dirty="0"/>
              <a:t>CA19-9&gt;100</a:t>
            </a:r>
          </a:p>
          <a:p>
            <a:endParaRPr lang="en-US" dirty="0"/>
          </a:p>
        </p:txBody>
      </p:sp>
    </p:spTree>
    <p:extLst>
      <p:ext uri="{BB962C8B-B14F-4D97-AF65-F5344CB8AC3E}">
        <p14:creationId xmlns:p14="http://schemas.microsoft.com/office/powerpoint/2010/main" val="47352552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6AE4A-6881-225A-99B3-7C33BA87A8B3}"/>
              </a:ext>
            </a:extLst>
          </p:cNvPr>
          <p:cNvSpPr>
            <a:spLocks noGrp="1"/>
          </p:cNvSpPr>
          <p:nvPr>
            <p:ph type="title"/>
          </p:nvPr>
        </p:nvSpPr>
        <p:spPr/>
        <p:txBody>
          <a:bodyPr/>
          <a:lstStyle/>
          <a:p>
            <a:r>
              <a:rPr lang="en-US" dirty="0"/>
              <a:t>Median MELD At Transplant (</a:t>
            </a:r>
            <a:r>
              <a:rPr lang="en-US" dirty="0" err="1"/>
              <a:t>MMaT</a:t>
            </a:r>
            <a:r>
              <a:rPr lang="en-US" dirty="0"/>
              <a:t>)</a:t>
            </a:r>
          </a:p>
        </p:txBody>
      </p:sp>
      <p:pic>
        <p:nvPicPr>
          <p:cNvPr id="8" name="Content Placeholder 7">
            <a:extLst>
              <a:ext uri="{FF2B5EF4-FFF2-40B4-BE49-F238E27FC236}">
                <a16:creationId xmlns:a16="http://schemas.microsoft.com/office/drawing/2014/main" id="{CFD2CE2D-A1C0-37C9-C3A7-6214DE0C22DC}"/>
              </a:ext>
            </a:extLst>
          </p:cNvPr>
          <p:cNvPicPr>
            <a:picLocks noGrp="1" noChangeAspect="1"/>
          </p:cNvPicPr>
          <p:nvPr>
            <p:ph idx="1"/>
          </p:nvPr>
        </p:nvPicPr>
        <p:blipFill>
          <a:blip r:embed="rId2" cstate="email">
            <a:extLst>
              <a:ext uri="{28A0092B-C50C-407E-A947-70E740481C1C}">
                <a14:useLocalDpi xmlns:a14="http://schemas.microsoft.com/office/drawing/2010/main"/>
              </a:ext>
            </a:extLst>
          </a:blip>
          <a:stretch>
            <a:fillRect/>
          </a:stretch>
        </p:blipFill>
        <p:spPr>
          <a:xfrm>
            <a:off x="1954234" y="1069664"/>
            <a:ext cx="8283531" cy="5770081"/>
          </a:xfrm>
          <a:prstGeom prst="rect">
            <a:avLst/>
          </a:prstGeom>
        </p:spPr>
      </p:pic>
    </p:spTree>
    <p:extLst>
      <p:ext uri="{BB962C8B-B14F-4D97-AF65-F5344CB8AC3E}">
        <p14:creationId xmlns:p14="http://schemas.microsoft.com/office/powerpoint/2010/main" val="263411667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C5412-D8F2-83A4-627B-94B4E6E3B096}"/>
              </a:ext>
            </a:extLst>
          </p:cNvPr>
          <p:cNvSpPr>
            <a:spLocks noGrp="1"/>
          </p:cNvSpPr>
          <p:nvPr>
            <p:ph type="title"/>
          </p:nvPr>
        </p:nvSpPr>
        <p:spPr/>
        <p:txBody>
          <a:bodyPr/>
          <a:lstStyle/>
          <a:p>
            <a:r>
              <a:rPr lang="en-US" dirty="0"/>
              <a:t>How do we use </a:t>
            </a:r>
            <a:r>
              <a:rPr lang="en-US" dirty="0" err="1"/>
              <a:t>MMaT</a:t>
            </a:r>
            <a:r>
              <a:rPr lang="en-US" dirty="0"/>
              <a:t>?</a:t>
            </a:r>
          </a:p>
        </p:txBody>
      </p:sp>
      <p:sp>
        <p:nvSpPr>
          <p:cNvPr id="3" name="Content Placeholder 2">
            <a:extLst>
              <a:ext uri="{FF2B5EF4-FFF2-40B4-BE49-F238E27FC236}">
                <a16:creationId xmlns:a16="http://schemas.microsoft.com/office/drawing/2014/main" id="{A9D9D5A1-1D06-AB5F-752B-9F1BE27FF554}"/>
              </a:ext>
            </a:extLst>
          </p:cNvPr>
          <p:cNvSpPr>
            <a:spLocks noGrp="1"/>
          </p:cNvSpPr>
          <p:nvPr>
            <p:ph idx="1"/>
          </p:nvPr>
        </p:nvSpPr>
        <p:spPr/>
        <p:txBody>
          <a:bodyPr>
            <a:normAutofit/>
          </a:bodyPr>
          <a:lstStyle/>
          <a:p>
            <a:r>
              <a:rPr lang="en-US" sz="3000" dirty="0"/>
              <a:t>Once patient qualifies for standard exception, most (adult) patients get a MELD score equal to </a:t>
            </a:r>
            <a:r>
              <a:rPr lang="en-US" sz="3000" dirty="0" err="1"/>
              <a:t>MMaT</a:t>
            </a:r>
            <a:r>
              <a:rPr lang="en-US" sz="3000" dirty="0"/>
              <a:t> at </a:t>
            </a:r>
            <a:r>
              <a:rPr lang="en-US" sz="3000" b="1" dirty="0"/>
              <a:t>donor hospital </a:t>
            </a:r>
            <a:r>
              <a:rPr lang="en-US" sz="3000" dirty="0"/>
              <a:t>minus 3 (</a:t>
            </a:r>
            <a:r>
              <a:rPr lang="en-US" sz="3000" i="1" dirty="0" err="1"/>
              <a:t>MMaT</a:t>
            </a:r>
            <a:r>
              <a:rPr lang="en-US" sz="3000" i="1" dirty="0"/>
              <a:t> -3</a:t>
            </a:r>
            <a:r>
              <a:rPr lang="en-US" sz="3000" dirty="0"/>
              <a:t>)</a:t>
            </a:r>
          </a:p>
          <a:p>
            <a:endParaRPr lang="en-US" sz="3000" dirty="0"/>
          </a:p>
        </p:txBody>
      </p:sp>
    </p:spTree>
    <p:extLst>
      <p:ext uri="{BB962C8B-B14F-4D97-AF65-F5344CB8AC3E}">
        <p14:creationId xmlns:p14="http://schemas.microsoft.com/office/powerpoint/2010/main" val="426969808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08B29AA-A578-F57B-D7EC-A196E42494EA}"/>
              </a:ext>
            </a:extLst>
          </p:cNvPr>
          <p:cNvSpPr>
            <a:spLocks noGrp="1"/>
          </p:cNvSpPr>
          <p:nvPr>
            <p:ph type="title"/>
          </p:nvPr>
        </p:nvSpPr>
        <p:spPr/>
        <p:txBody>
          <a:bodyPr/>
          <a:lstStyle/>
          <a:p>
            <a:r>
              <a:rPr lang="en-US" dirty="0"/>
              <a:t>So how do we allocate the deceased donor livers?</a:t>
            </a:r>
          </a:p>
        </p:txBody>
      </p:sp>
      <p:sp>
        <p:nvSpPr>
          <p:cNvPr id="5" name="Text Placeholder 4">
            <a:extLst>
              <a:ext uri="{FF2B5EF4-FFF2-40B4-BE49-F238E27FC236}">
                <a16:creationId xmlns:a16="http://schemas.microsoft.com/office/drawing/2014/main" id="{A2C67470-DF1D-C582-DC60-9E512E4DE25E}"/>
              </a:ext>
            </a:extLst>
          </p:cNvPr>
          <p:cNvSpPr>
            <a:spLocks noGrp="1"/>
          </p:cNvSpPr>
          <p:nvPr>
            <p:ph type="body" idx="1"/>
          </p:nvPr>
        </p:nvSpPr>
        <p:spPr/>
        <p:txBody>
          <a:bodyPr/>
          <a:lstStyle/>
          <a:p>
            <a:r>
              <a:rPr lang="en-US" i="1" dirty="0"/>
              <a:t>“we” is UNOS currently</a:t>
            </a:r>
          </a:p>
        </p:txBody>
      </p:sp>
    </p:spTree>
    <p:extLst>
      <p:ext uri="{BB962C8B-B14F-4D97-AF65-F5344CB8AC3E}">
        <p14:creationId xmlns:p14="http://schemas.microsoft.com/office/powerpoint/2010/main" val="154247809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5D23951-9339-2A01-AFBB-E852ECD876AB}"/>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1986147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liver allocation OPTN">
            <a:hlinkClick r:id="" action="ppaction://media"/>
            <a:extLst>
              <a:ext uri="{FF2B5EF4-FFF2-40B4-BE49-F238E27FC236}">
                <a16:creationId xmlns:a16="http://schemas.microsoft.com/office/drawing/2014/main" id="{FDB3D71F-530B-F68C-26F8-3756D849DE07}"/>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6350" y="3175"/>
            <a:ext cx="12192000" cy="6858000"/>
          </a:xfrm>
          <a:prstGeom prst="rect">
            <a:avLst/>
          </a:prstGeom>
        </p:spPr>
      </p:pic>
    </p:spTree>
    <p:extLst>
      <p:ext uri="{BB962C8B-B14F-4D97-AF65-F5344CB8AC3E}">
        <p14:creationId xmlns:p14="http://schemas.microsoft.com/office/powerpoint/2010/main" val="3902866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7499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28E8E3A-AF06-2BD5-3750-37211CE36F1A}"/>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274018" y="425200"/>
            <a:ext cx="5643963" cy="6007599"/>
          </a:xfrm>
          <a:prstGeom prst="rect">
            <a:avLst/>
          </a:prstGeom>
        </p:spPr>
      </p:pic>
      <p:sp>
        <p:nvSpPr>
          <p:cNvPr id="4" name="TextBox 3">
            <a:extLst>
              <a:ext uri="{FF2B5EF4-FFF2-40B4-BE49-F238E27FC236}">
                <a16:creationId xmlns:a16="http://schemas.microsoft.com/office/drawing/2014/main" id="{AF46E3B2-B5EC-1DA9-7F52-0982F7780096}"/>
              </a:ext>
            </a:extLst>
          </p:cNvPr>
          <p:cNvSpPr txBox="1"/>
          <p:nvPr/>
        </p:nvSpPr>
        <p:spPr>
          <a:xfrm>
            <a:off x="0" y="6488668"/>
            <a:ext cx="12192000" cy="369332"/>
          </a:xfrm>
          <a:prstGeom prst="rect">
            <a:avLst/>
          </a:prstGeom>
          <a:noFill/>
        </p:spPr>
        <p:txBody>
          <a:bodyPr wrap="square" anchor="ctr">
            <a:spAutoFit/>
          </a:bodyPr>
          <a:lstStyle/>
          <a:p>
            <a:pPr algn="r"/>
            <a:r>
              <a:rPr lang="en-US" dirty="0"/>
              <a:t>N </a:t>
            </a:r>
            <a:r>
              <a:rPr lang="en-US" dirty="0" err="1"/>
              <a:t>Engl</a:t>
            </a:r>
            <a:r>
              <a:rPr lang="en-US" dirty="0"/>
              <a:t> J Med. 2002 Apr 4;346(14):1074-82</a:t>
            </a:r>
          </a:p>
        </p:txBody>
      </p:sp>
    </p:spTree>
    <p:extLst>
      <p:ext uri="{BB962C8B-B14F-4D97-AF65-F5344CB8AC3E}">
        <p14:creationId xmlns:p14="http://schemas.microsoft.com/office/powerpoint/2010/main" val="400320846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66F6B46-8389-77DE-93FF-49E4AEF11F83}"/>
              </a:ext>
            </a:extLst>
          </p:cNvPr>
          <p:cNvSpPr>
            <a:spLocks noGrp="1"/>
          </p:cNvSpPr>
          <p:nvPr>
            <p:ph type="title"/>
          </p:nvPr>
        </p:nvSpPr>
        <p:spPr>
          <a:xfrm>
            <a:off x="831850" y="2743408"/>
            <a:ext cx="10515600" cy="2852737"/>
          </a:xfrm>
        </p:spPr>
        <p:txBody>
          <a:bodyPr/>
          <a:lstStyle/>
          <a:p>
            <a:r>
              <a:rPr lang="en-US" dirty="0"/>
              <a:t>Types of Liver Donors</a:t>
            </a:r>
          </a:p>
        </p:txBody>
      </p:sp>
      <p:pic>
        <p:nvPicPr>
          <p:cNvPr id="2050" name="Picture 2" descr="Surgical chicken liver. (For transplants)">
            <a:extLst>
              <a:ext uri="{FF2B5EF4-FFF2-40B4-BE49-F238E27FC236}">
                <a16:creationId xmlns:a16="http://schemas.microsoft.com/office/drawing/2014/main" id="{2892B4E9-83B5-9CAB-43D2-C3B1845CCAA2}"/>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3558435" y="735289"/>
            <a:ext cx="5075129" cy="31059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252062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ources of livers donated for transplantation. DBD, donor after brain... |  Download Scientific Diagram">
            <a:extLst>
              <a:ext uri="{FF2B5EF4-FFF2-40B4-BE49-F238E27FC236}">
                <a16:creationId xmlns:a16="http://schemas.microsoft.com/office/drawing/2014/main" id="{B989A22A-ACB0-E52D-05E0-42DA804EA31E}"/>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2312596" y="439418"/>
            <a:ext cx="6801586" cy="530567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10A6A03-D5F7-4A6A-0380-4CE7B8735093}"/>
              </a:ext>
            </a:extLst>
          </p:cNvPr>
          <p:cNvSpPr txBox="1"/>
          <p:nvPr/>
        </p:nvSpPr>
        <p:spPr>
          <a:xfrm>
            <a:off x="9098" y="6488668"/>
            <a:ext cx="12182902" cy="369332"/>
          </a:xfrm>
          <a:prstGeom prst="rect">
            <a:avLst/>
          </a:prstGeom>
          <a:noFill/>
        </p:spPr>
        <p:txBody>
          <a:bodyPr wrap="square">
            <a:spAutoFit/>
          </a:bodyPr>
          <a:lstStyle/>
          <a:p>
            <a:pPr algn="r"/>
            <a:r>
              <a:rPr lang="en-US" dirty="0"/>
              <a:t>Gastroenterol. 2020 Feb 25;11(5):385-396</a:t>
            </a:r>
          </a:p>
        </p:txBody>
      </p:sp>
    </p:spTree>
    <p:extLst>
      <p:ext uri="{BB962C8B-B14F-4D97-AF65-F5344CB8AC3E}">
        <p14:creationId xmlns:p14="http://schemas.microsoft.com/office/powerpoint/2010/main" val="178071232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DC9D2103-1933-ADFB-F5D1-CE29D4BC0C77}"/>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385823" y="977639"/>
            <a:ext cx="11420354" cy="4902722"/>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C7FD02FD-2D34-567A-C45B-69EC1B5F32E1}"/>
              </a:ext>
            </a:extLst>
          </p:cNvPr>
          <p:cNvSpPr txBox="1"/>
          <p:nvPr/>
        </p:nvSpPr>
        <p:spPr>
          <a:xfrm>
            <a:off x="7716" y="6488668"/>
            <a:ext cx="12184284" cy="369332"/>
          </a:xfrm>
          <a:prstGeom prst="rect">
            <a:avLst/>
          </a:prstGeom>
          <a:noFill/>
        </p:spPr>
        <p:txBody>
          <a:bodyPr wrap="square">
            <a:spAutoFit/>
          </a:bodyPr>
          <a:lstStyle/>
          <a:p>
            <a:pPr algn="r"/>
            <a:r>
              <a:rPr lang="en-US" b="0" i="0" u="none" strike="noStrike" dirty="0" err="1">
                <a:solidFill>
                  <a:srgbClr val="212121"/>
                </a:solidFill>
                <a:effectLst/>
                <a:latin typeface="BlinkMacSystemFont"/>
              </a:rPr>
              <a:t>Cureus</a:t>
            </a:r>
            <a:r>
              <a:rPr lang="en-US" b="0" i="0" u="none" strike="noStrike" dirty="0">
                <a:solidFill>
                  <a:srgbClr val="212121"/>
                </a:solidFill>
                <a:effectLst/>
                <a:latin typeface="BlinkMacSystemFont"/>
              </a:rPr>
              <a:t>. 2022 Jun 29;14(6):e26437</a:t>
            </a:r>
            <a:endParaRPr lang="en-US" dirty="0"/>
          </a:p>
        </p:txBody>
      </p:sp>
    </p:spTree>
    <p:extLst>
      <p:ext uri="{BB962C8B-B14F-4D97-AF65-F5344CB8AC3E}">
        <p14:creationId xmlns:p14="http://schemas.microsoft.com/office/powerpoint/2010/main" val="323193724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BF6E5"/>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DF7E517-E84B-BEE6-732C-26153841E362}"/>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950259" y="427412"/>
            <a:ext cx="10291482" cy="5296594"/>
          </a:xfrm>
          <a:prstGeom prst="rect">
            <a:avLst/>
          </a:prstGeom>
        </p:spPr>
      </p:pic>
      <p:sp>
        <p:nvSpPr>
          <p:cNvPr id="4" name="TextBox 3">
            <a:extLst>
              <a:ext uri="{FF2B5EF4-FFF2-40B4-BE49-F238E27FC236}">
                <a16:creationId xmlns:a16="http://schemas.microsoft.com/office/drawing/2014/main" id="{DF9E95CC-59BF-FD89-5828-9BA149FB9C47}"/>
              </a:ext>
            </a:extLst>
          </p:cNvPr>
          <p:cNvSpPr txBox="1"/>
          <p:nvPr/>
        </p:nvSpPr>
        <p:spPr>
          <a:xfrm>
            <a:off x="0" y="6488668"/>
            <a:ext cx="12192000" cy="369332"/>
          </a:xfrm>
          <a:prstGeom prst="rect">
            <a:avLst/>
          </a:prstGeom>
          <a:noFill/>
        </p:spPr>
        <p:txBody>
          <a:bodyPr wrap="square">
            <a:spAutoFit/>
          </a:bodyPr>
          <a:lstStyle/>
          <a:p>
            <a:pPr algn="r"/>
            <a:r>
              <a:rPr lang="en-US" b="0" i="0" u="none" strike="noStrike" dirty="0">
                <a:solidFill>
                  <a:srgbClr val="212121"/>
                </a:solidFill>
                <a:effectLst/>
                <a:latin typeface="BlinkMacSystemFont"/>
              </a:rPr>
              <a:t>Schneeberger S. Life of a liver awaiting transplantation. Nature. 2018 May;557(7703):40-41</a:t>
            </a:r>
            <a:endParaRPr lang="en-US" dirty="0"/>
          </a:p>
        </p:txBody>
      </p:sp>
    </p:spTree>
    <p:extLst>
      <p:ext uri="{BB962C8B-B14F-4D97-AF65-F5344CB8AC3E}">
        <p14:creationId xmlns:p14="http://schemas.microsoft.com/office/powerpoint/2010/main" val="167677972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101B3CC-B49F-4CE0-B198-228D1D4285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 name="Picture 1">
            <a:extLst>
              <a:ext uri="{FF2B5EF4-FFF2-40B4-BE49-F238E27FC236}">
                <a16:creationId xmlns:a16="http://schemas.microsoft.com/office/drawing/2014/main" id="{F4D7123C-D4A8-EBDC-74B9-6D5C8A49F8F1}"/>
              </a:ext>
            </a:extLst>
          </p:cNvPr>
          <p:cNvPicPr>
            <a:picLocks noChangeAspect="1"/>
          </p:cNvPicPr>
          <p:nvPr/>
        </p:nvPicPr>
        <p:blipFill>
          <a:blip r:embed="rId2" cstate="email">
            <a:extLst>
              <a:ext uri="{28A0092B-C50C-407E-A947-70E740481C1C}">
                <a14:useLocalDpi xmlns:a14="http://schemas.microsoft.com/office/drawing/2010/main"/>
              </a:ext>
            </a:extLst>
          </a:blip>
          <a:srcRect r="-1" b="-1"/>
          <a:stretch/>
        </p:blipFill>
        <p:spPr>
          <a:xfrm>
            <a:off x="321734" y="1072820"/>
            <a:ext cx="4276956" cy="5743616"/>
          </a:xfrm>
          <a:prstGeom prst="rect">
            <a:avLst/>
          </a:prstGeom>
        </p:spPr>
      </p:pic>
      <p:pic>
        <p:nvPicPr>
          <p:cNvPr id="3" name="Picture 2">
            <a:extLst>
              <a:ext uri="{FF2B5EF4-FFF2-40B4-BE49-F238E27FC236}">
                <a16:creationId xmlns:a16="http://schemas.microsoft.com/office/drawing/2014/main" id="{5BD2AF58-E905-ACED-D85F-CA48878517A0}"/>
              </a:ext>
            </a:extLst>
          </p:cNvPr>
          <p:cNvPicPr>
            <a:picLocks noChangeAspect="1"/>
          </p:cNvPicPr>
          <p:nvPr/>
        </p:nvPicPr>
        <p:blipFill>
          <a:blip r:embed="rId3" cstate="email">
            <a:extLst>
              <a:ext uri="{28A0092B-C50C-407E-A947-70E740481C1C}">
                <a14:useLocalDpi xmlns:a14="http://schemas.microsoft.com/office/drawing/2010/main"/>
              </a:ext>
            </a:extLst>
          </a:blip>
          <a:srcRect b="-1"/>
          <a:stretch/>
        </p:blipFill>
        <p:spPr>
          <a:xfrm>
            <a:off x="4772525" y="1072820"/>
            <a:ext cx="7097742" cy="5743616"/>
          </a:xfrm>
          <a:prstGeom prst="rect">
            <a:avLst/>
          </a:prstGeom>
        </p:spPr>
      </p:pic>
      <p:sp>
        <p:nvSpPr>
          <p:cNvPr id="4" name="TextBox 3">
            <a:extLst>
              <a:ext uri="{FF2B5EF4-FFF2-40B4-BE49-F238E27FC236}">
                <a16:creationId xmlns:a16="http://schemas.microsoft.com/office/drawing/2014/main" id="{1F6F7569-761A-0A9B-35AD-8332B97DFAA9}"/>
              </a:ext>
            </a:extLst>
          </p:cNvPr>
          <p:cNvSpPr txBox="1"/>
          <p:nvPr/>
        </p:nvSpPr>
        <p:spPr>
          <a:xfrm>
            <a:off x="1761319" y="167078"/>
            <a:ext cx="8669361" cy="369332"/>
          </a:xfrm>
          <a:prstGeom prst="rect">
            <a:avLst/>
          </a:prstGeom>
          <a:noFill/>
        </p:spPr>
        <p:txBody>
          <a:bodyPr wrap="none" rtlCol="0">
            <a:spAutoFit/>
          </a:bodyPr>
          <a:lstStyle/>
          <a:p>
            <a:pPr algn="ctr"/>
            <a:r>
              <a:rPr lang="en-US" b="1" dirty="0" err="1">
                <a:latin typeface="Georgia" panose="02040502050405020303" pitchFamily="18" charset="0"/>
              </a:rPr>
              <a:t>TransMedics</a:t>
            </a:r>
            <a:r>
              <a:rPr lang="en-US" b="1" dirty="0">
                <a:latin typeface="Georgia" panose="02040502050405020303" pitchFamily="18" charset="0"/>
              </a:rPr>
              <a:t> and </a:t>
            </a:r>
            <a:r>
              <a:rPr lang="en-US" b="1" dirty="0" err="1">
                <a:latin typeface="Georgia" panose="02040502050405020303" pitchFamily="18" charset="0"/>
              </a:rPr>
              <a:t>Organox</a:t>
            </a:r>
            <a:r>
              <a:rPr lang="en-US" b="1" dirty="0">
                <a:latin typeface="Georgia" panose="02040502050405020303" pitchFamily="18" charset="0"/>
              </a:rPr>
              <a:t> Normothermic Machine Perfusion Machines</a:t>
            </a:r>
          </a:p>
        </p:txBody>
      </p:sp>
    </p:spTree>
    <p:extLst>
      <p:ext uri="{BB962C8B-B14F-4D97-AF65-F5344CB8AC3E}">
        <p14:creationId xmlns:p14="http://schemas.microsoft.com/office/powerpoint/2010/main" val="379759594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4AF86C2A-F9DB-0102-3F07-8C812EE19023}"/>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950976" y="229201"/>
            <a:ext cx="10290048" cy="598290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827C6964-A4D4-DF67-C88D-73B524E50D9D}"/>
              </a:ext>
            </a:extLst>
          </p:cNvPr>
          <p:cNvSpPr txBox="1"/>
          <p:nvPr/>
        </p:nvSpPr>
        <p:spPr>
          <a:xfrm>
            <a:off x="0" y="6488668"/>
            <a:ext cx="12192000" cy="369332"/>
          </a:xfrm>
          <a:prstGeom prst="rect">
            <a:avLst/>
          </a:prstGeom>
          <a:noFill/>
        </p:spPr>
        <p:txBody>
          <a:bodyPr wrap="square">
            <a:spAutoFit/>
          </a:bodyPr>
          <a:lstStyle/>
          <a:p>
            <a:pPr algn="r"/>
            <a:r>
              <a:rPr lang="en-US" b="0" i="0" u="none" strike="noStrike" dirty="0">
                <a:solidFill>
                  <a:srgbClr val="212121"/>
                </a:solidFill>
                <a:effectLst/>
                <a:latin typeface="BlinkMacSystemFont"/>
              </a:rPr>
              <a:t>J Clin Exp Hepatol. 2024 Mar-Apr;14(2):101309</a:t>
            </a:r>
            <a:endParaRPr lang="en-US" dirty="0"/>
          </a:p>
        </p:txBody>
      </p:sp>
    </p:spTree>
    <p:extLst>
      <p:ext uri="{BB962C8B-B14F-4D97-AF65-F5344CB8AC3E}">
        <p14:creationId xmlns:p14="http://schemas.microsoft.com/office/powerpoint/2010/main" val="17385604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E70B46-7395-109B-91B8-F4CA0CF94C3A}"/>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004884" y="152639"/>
            <a:ext cx="8182232" cy="6336029"/>
          </a:xfrm>
          <a:prstGeom prst="rect">
            <a:avLst/>
          </a:prstGeom>
        </p:spPr>
      </p:pic>
      <p:sp>
        <p:nvSpPr>
          <p:cNvPr id="3" name="TextBox 2">
            <a:extLst>
              <a:ext uri="{FF2B5EF4-FFF2-40B4-BE49-F238E27FC236}">
                <a16:creationId xmlns:a16="http://schemas.microsoft.com/office/drawing/2014/main" id="{A44E77A1-3C8F-F62B-91E4-73316759003D}"/>
              </a:ext>
            </a:extLst>
          </p:cNvPr>
          <p:cNvSpPr txBox="1"/>
          <p:nvPr/>
        </p:nvSpPr>
        <p:spPr>
          <a:xfrm>
            <a:off x="0" y="6488668"/>
            <a:ext cx="12196118" cy="369332"/>
          </a:xfrm>
          <a:prstGeom prst="rect">
            <a:avLst/>
          </a:prstGeom>
          <a:noFill/>
        </p:spPr>
        <p:txBody>
          <a:bodyPr wrap="square">
            <a:spAutoFit/>
          </a:bodyPr>
          <a:lstStyle/>
          <a:p>
            <a:pPr algn="r"/>
            <a:r>
              <a:rPr lang="en-US" b="0" i="0" u="none" strike="noStrike" dirty="0">
                <a:solidFill>
                  <a:srgbClr val="212121"/>
                </a:solidFill>
                <a:effectLst/>
                <a:latin typeface="BlinkMacSystemFont"/>
              </a:rPr>
              <a:t>Feng S, Roll GR, Rouhani FJ, Sanchez </a:t>
            </a:r>
            <a:r>
              <a:rPr lang="en-US" b="0" i="0" u="none" strike="noStrike" dirty="0" err="1">
                <a:solidFill>
                  <a:srgbClr val="212121"/>
                </a:solidFill>
                <a:effectLst/>
                <a:latin typeface="BlinkMacSystemFont"/>
              </a:rPr>
              <a:t>Fueyo</a:t>
            </a:r>
            <a:r>
              <a:rPr lang="en-US" b="0" i="0" u="none" strike="noStrike" dirty="0">
                <a:solidFill>
                  <a:srgbClr val="212121"/>
                </a:solidFill>
                <a:effectLst/>
                <a:latin typeface="BlinkMacSystemFont"/>
              </a:rPr>
              <a:t> A. The future of liver transplantation. Hepatology. 2024 Sep 1;80(3):674-697</a:t>
            </a:r>
            <a:endParaRPr lang="en-US" dirty="0"/>
          </a:p>
        </p:txBody>
      </p:sp>
    </p:spTree>
    <p:extLst>
      <p:ext uri="{BB962C8B-B14F-4D97-AF65-F5344CB8AC3E}">
        <p14:creationId xmlns:p14="http://schemas.microsoft.com/office/powerpoint/2010/main" val="156399442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LIVING DONOR LIVER TRANSPLANT – LiverTransplantsIndia.in">
            <a:extLst>
              <a:ext uri="{FF2B5EF4-FFF2-40B4-BE49-F238E27FC236}">
                <a16:creationId xmlns:a16="http://schemas.microsoft.com/office/drawing/2014/main" id="{703EFA42-2EBE-EE44-FC2C-2621E8886BFA}"/>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1014484" y="41323"/>
            <a:ext cx="10163032" cy="67753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471565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F512372-2A03-1654-F7FE-B9C8B062DAB8}"/>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209800" y="479294"/>
            <a:ext cx="7772400" cy="5899411"/>
          </a:xfrm>
          <a:prstGeom prst="rect">
            <a:avLst/>
          </a:prstGeom>
        </p:spPr>
      </p:pic>
      <p:sp>
        <p:nvSpPr>
          <p:cNvPr id="3" name="TextBox 2">
            <a:extLst>
              <a:ext uri="{FF2B5EF4-FFF2-40B4-BE49-F238E27FC236}">
                <a16:creationId xmlns:a16="http://schemas.microsoft.com/office/drawing/2014/main" id="{4D5C670B-AFB1-1D6D-16B5-8A0014C190F4}"/>
              </a:ext>
            </a:extLst>
          </p:cNvPr>
          <p:cNvSpPr txBox="1"/>
          <p:nvPr/>
        </p:nvSpPr>
        <p:spPr>
          <a:xfrm>
            <a:off x="0" y="6488668"/>
            <a:ext cx="12192000" cy="369332"/>
          </a:xfrm>
          <a:prstGeom prst="rect">
            <a:avLst/>
          </a:prstGeom>
          <a:noFill/>
        </p:spPr>
        <p:txBody>
          <a:bodyPr wrap="square" anchor="ctr">
            <a:spAutoFit/>
          </a:bodyPr>
          <a:lstStyle/>
          <a:p>
            <a:pPr algn="r"/>
            <a:r>
              <a:rPr lang="en-US" dirty="0"/>
              <a:t>N </a:t>
            </a:r>
            <a:r>
              <a:rPr lang="en-US" dirty="0" err="1"/>
              <a:t>Engl</a:t>
            </a:r>
            <a:r>
              <a:rPr lang="en-US" dirty="0"/>
              <a:t> J Med. 2002 Apr 4;346(14):1074-82</a:t>
            </a:r>
          </a:p>
        </p:txBody>
      </p:sp>
    </p:spTree>
    <p:extLst>
      <p:ext uri="{BB962C8B-B14F-4D97-AF65-F5344CB8AC3E}">
        <p14:creationId xmlns:p14="http://schemas.microsoft.com/office/powerpoint/2010/main" val="97637468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5BE8989-31FC-D5DB-A75B-47A67648A716}"/>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887816" y="152399"/>
            <a:ext cx="6416368" cy="6091382"/>
          </a:xfrm>
          <a:prstGeom prst="rect">
            <a:avLst/>
          </a:prstGeom>
        </p:spPr>
      </p:pic>
      <p:sp>
        <p:nvSpPr>
          <p:cNvPr id="3" name="TextBox 2">
            <a:extLst>
              <a:ext uri="{FF2B5EF4-FFF2-40B4-BE49-F238E27FC236}">
                <a16:creationId xmlns:a16="http://schemas.microsoft.com/office/drawing/2014/main" id="{9EB33A0A-9866-84B8-F352-8D18EFF2F3F1}"/>
              </a:ext>
            </a:extLst>
          </p:cNvPr>
          <p:cNvSpPr txBox="1"/>
          <p:nvPr/>
        </p:nvSpPr>
        <p:spPr>
          <a:xfrm>
            <a:off x="0" y="6488668"/>
            <a:ext cx="12192000" cy="369332"/>
          </a:xfrm>
          <a:prstGeom prst="rect">
            <a:avLst/>
          </a:prstGeom>
          <a:noFill/>
        </p:spPr>
        <p:txBody>
          <a:bodyPr wrap="square" anchor="ctr">
            <a:spAutoFit/>
          </a:bodyPr>
          <a:lstStyle/>
          <a:p>
            <a:pPr algn="r"/>
            <a:r>
              <a:rPr lang="en-US" dirty="0"/>
              <a:t>N </a:t>
            </a:r>
            <a:r>
              <a:rPr lang="en-US" dirty="0" err="1"/>
              <a:t>Engl</a:t>
            </a:r>
            <a:r>
              <a:rPr lang="en-US" dirty="0"/>
              <a:t> J Med. 2002 Apr 4;346(14):1074-82</a:t>
            </a:r>
          </a:p>
        </p:txBody>
      </p:sp>
    </p:spTree>
    <p:extLst>
      <p:ext uri="{BB962C8B-B14F-4D97-AF65-F5344CB8AC3E}">
        <p14:creationId xmlns:p14="http://schemas.microsoft.com/office/powerpoint/2010/main" val="132212188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Translate to English:] MeVis Liver Suite">
            <a:extLst>
              <a:ext uri="{FF2B5EF4-FFF2-40B4-BE49-F238E27FC236}">
                <a16:creationId xmlns:a16="http://schemas.microsoft.com/office/drawing/2014/main" id="{9B6C85F0-848C-660C-FDD4-A092760EAC66}"/>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0" y="3175"/>
            <a:ext cx="12192000" cy="685165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51A47355-0069-D45C-8405-113C87FD6F18}"/>
              </a:ext>
            </a:extLst>
          </p:cNvPr>
          <p:cNvSpPr txBox="1"/>
          <p:nvPr/>
        </p:nvSpPr>
        <p:spPr>
          <a:xfrm>
            <a:off x="0" y="6488668"/>
            <a:ext cx="12192000" cy="369332"/>
          </a:xfrm>
          <a:prstGeom prst="rect">
            <a:avLst/>
          </a:prstGeom>
          <a:noFill/>
        </p:spPr>
        <p:txBody>
          <a:bodyPr wrap="square">
            <a:spAutoFit/>
          </a:bodyPr>
          <a:lstStyle/>
          <a:p>
            <a:pPr algn="r"/>
            <a:r>
              <a:rPr lang="en-US" b="0" i="0" u="none" strike="noStrike" dirty="0" err="1">
                <a:solidFill>
                  <a:srgbClr val="FFFFFF"/>
                </a:solidFill>
                <a:effectLst/>
                <a:latin typeface="Rokkitt"/>
              </a:rPr>
              <a:t>MeVis</a:t>
            </a:r>
            <a:r>
              <a:rPr lang="en-US" b="0" i="0" u="none" strike="noStrike" dirty="0">
                <a:solidFill>
                  <a:srgbClr val="FFFFFF"/>
                </a:solidFill>
                <a:effectLst/>
                <a:latin typeface="Rokkitt"/>
              </a:rPr>
              <a:t> Liver Suite</a:t>
            </a:r>
          </a:p>
        </p:txBody>
      </p:sp>
    </p:spTree>
    <p:extLst>
      <p:ext uri="{BB962C8B-B14F-4D97-AF65-F5344CB8AC3E}">
        <p14:creationId xmlns:p14="http://schemas.microsoft.com/office/powerpoint/2010/main" val="260110986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picture containing indoor, art, collection, cartoon&#10;&#10;Description automatically generated">
            <a:extLst>
              <a:ext uri="{FF2B5EF4-FFF2-40B4-BE49-F238E27FC236}">
                <a16:creationId xmlns:a16="http://schemas.microsoft.com/office/drawing/2014/main" id="{CCC995B4-5698-5833-454E-D7AF7FE1B50A}"/>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rot="5400000">
            <a:off x="2667000" y="857250"/>
            <a:ext cx="6858000" cy="5143500"/>
          </a:xfrm>
          <a:prstGeom prst="rect">
            <a:avLst/>
          </a:prstGeom>
        </p:spPr>
      </p:pic>
    </p:spTree>
    <p:extLst>
      <p:ext uri="{BB962C8B-B14F-4D97-AF65-F5344CB8AC3E}">
        <p14:creationId xmlns:p14="http://schemas.microsoft.com/office/powerpoint/2010/main" val="365058051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BE6EA06-0E61-B653-51B8-A88D5E46159F}"/>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966402" y="1335024"/>
            <a:ext cx="10259196" cy="4187952"/>
          </a:xfrm>
          <a:prstGeom prst="rect">
            <a:avLst/>
          </a:prstGeom>
        </p:spPr>
      </p:pic>
      <p:sp>
        <p:nvSpPr>
          <p:cNvPr id="6" name="TextBox 5">
            <a:extLst>
              <a:ext uri="{FF2B5EF4-FFF2-40B4-BE49-F238E27FC236}">
                <a16:creationId xmlns:a16="http://schemas.microsoft.com/office/drawing/2014/main" id="{68166468-A3FA-D5D6-87AE-D59AA63EF17F}"/>
              </a:ext>
            </a:extLst>
          </p:cNvPr>
          <p:cNvSpPr txBox="1"/>
          <p:nvPr/>
        </p:nvSpPr>
        <p:spPr>
          <a:xfrm>
            <a:off x="6092952" y="6488668"/>
            <a:ext cx="6099048" cy="369332"/>
          </a:xfrm>
          <a:prstGeom prst="rect">
            <a:avLst/>
          </a:prstGeom>
          <a:noFill/>
        </p:spPr>
        <p:txBody>
          <a:bodyPr wrap="square">
            <a:spAutoFit/>
          </a:bodyPr>
          <a:lstStyle/>
          <a:p>
            <a:pPr algn="r"/>
            <a:r>
              <a:rPr lang="en-US" dirty="0" err="1"/>
              <a:t>Pediatr</a:t>
            </a:r>
            <a:r>
              <a:rPr lang="en-US" dirty="0"/>
              <a:t> </a:t>
            </a:r>
            <a:r>
              <a:rPr lang="en-US" dirty="0" err="1"/>
              <a:t>Radiol</a:t>
            </a:r>
            <a:r>
              <a:rPr lang="en-US" dirty="0"/>
              <a:t>. 2022 Mar;52(3):570-586</a:t>
            </a:r>
          </a:p>
        </p:txBody>
      </p:sp>
      <p:sp>
        <p:nvSpPr>
          <p:cNvPr id="2" name="Title 1">
            <a:extLst>
              <a:ext uri="{FF2B5EF4-FFF2-40B4-BE49-F238E27FC236}">
                <a16:creationId xmlns:a16="http://schemas.microsoft.com/office/drawing/2014/main" id="{305F2CC3-CF24-0C4A-4682-FDDE04F812B3}"/>
              </a:ext>
            </a:extLst>
          </p:cNvPr>
          <p:cNvSpPr>
            <a:spLocks noGrp="1"/>
          </p:cNvSpPr>
          <p:nvPr>
            <p:ph type="title"/>
          </p:nvPr>
        </p:nvSpPr>
        <p:spPr/>
        <p:txBody>
          <a:bodyPr/>
          <a:lstStyle/>
          <a:p>
            <a:r>
              <a:rPr lang="en-US" dirty="0"/>
              <a:t>Post Transplant Anatomy</a:t>
            </a:r>
          </a:p>
        </p:txBody>
      </p:sp>
    </p:spTree>
    <p:extLst>
      <p:ext uri="{BB962C8B-B14F-4D97-AF65-F5344CB8AC3E}">
        <p14:creationId xmlns:p14="http://schemas.microsoft.com/office/powerpoint/2010/main" val="389265229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2BE1C24-016B-E1DA-E448-4FB8D9FE5F1E}"/>
              </a:ext>
            </a:extLst>
          </p:cNvPr>
          <p:cNvSpPr>
            <a:spLocks noGrp="1"/>
          </p:cNvSpPr>
          <p:nvPr>
            <p:ph type="title"/>
          </p:nvPr>
        </p:nvSpPr>
        <p:spPr>
          <a:xfrm>
            <a:off x="342900" y="1709738"/>
            <a:ext cx="11493500" cy="2852737"/>
          </a:xfrm>
        </p:spPr>
        <p:txBody>
          <a:bodyPr/>
          <a:lstStyle/>
          <a:p>
            <a:r>
              <a:rPr lang="en-US" dirty="0"/>
              <a:t>Transplant Immunology 101</a:t>
            </a:r>
          </a:p>
        </p:txBody>
      </p:sp>
      <p:sp>
        <p:nvSpPr>
          <p:cNvPr id="5" name="Text Placeholder 4">
            <a:extLst>
              <a:ext uri="{FF2B5EF4-FFF2-40B4-BE49-F238E27FC236}">
                <a16:creationId xmlns:a16="http://schemas.microsoft.com/office/drawing/2014/main" id="{282D6FCF-62BC-C498-6F04-5A1C68326661}"/>
              </a:ext>
            </a:extLst>
          </p:cNvPr>
          <p:cNvSpPr>
            <a:spLocks noGrp="1"/>
          </p:cNvSpPr>
          <p:nvPr>
            <p:ph type="body" idx="1"/>
          </p:nvPr>
        </p:nvSpPr>
        <p:spPr/>
        <p:txBody>
          <a:bodyPr/>
          <a:lstStyle/>
          <a:p>
            <a:endParaRPr lang="en-US" dirty="0"/>
          </a:p>
        </p:txBody>
      </p:sp>
      <p:pic>
        <p:nvPicPr>
          <p:cNvPr id="3074" name="Picture 2" descr="2557: Immunity - explain xkcd">
            <a:extLst>
              <a:ext uri="{FF2B5EF4-FFF2-40B4-BE49-F238E27FC236}">
                <a16:creationId xmlns:a16="http://schemas.microsoft.com/office/drawing/2014/main" id="{C5CE0C55-88A3-3225-0C2F-988DC4B889B4}"/>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3612564" y="489709"/>
            <a:ext cx="4966872" cy="24400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182029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EE901914-38C9-AED1-39B5-DA3A507D5C48}"/>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1281114" y="281156"/>
            <a:ext cx="8630396" cy="614627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ECD6F036-9963-B3E8-690D-D97CAC6FC703}"/>
              </a:ext>
            </a:extLst>
          </p:cNvPr>
          <p:cNvSpPr txBox="1"/>
          <p:nvPr/>
        </p:nvSpPr>
        <p:spPr>
          <a:xfrm>
            <a:off x="0" y="6488668"/>
            <a:ext cx="12192000" cy="369332"/>
          </a:xfrm>
          <a:prstGeom prst="rect">
            <a:avLst/>
          </a:prstGeom>
          <a:noFill/>
        </p:spPr>
        <p:txBody>
          <a:bodyPr wrap="square">
            <a:spAutoFit/>
          </a:bodyPr>
          <a:lstStyle/>
          <a:p>
            <a:pPr algn="r"/>
            <a:r>
              <a:rPr lang="en-US" b="0" i="0" u="none" strike="noStrike" dirty="0">
                <a:solidFill>
                  <a:srgbClr val="212121"/>
                </a:solidFill>
                <a:effectLst/>
                <a:latin typeface="BlinkMacSystemFont"/>
              </a:rPr>
              <a:t>Front Immunol. 2020 Sep 2;11:2155</a:t>
            </a:r>
            <a:endParaRPr lang="en-US" dirty="0"/>
          </a:p>
        </p:txBody>
      </p:sp>
    </p:spTree>
    <p:extLst>
      <p:ext uri="{BB962C8B-B14F-4D97-AF65-F5344CB8AC3E}">
        <p14:creationId xmlns:p14="http://schemas.microsoft.com/office/powerpoint/2010/main" val="91389020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1730D1C-8F1B-422A-F6D1-3DD05943A85F}"/>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209800" y="355474"/>
            <a:ext cx="7772400" cy="5807688"/>
          </a:xfrm>
          <a:prstGeom prst="rect">
            <a:avLst/>
          </a:prstGeom>
        </p:spPr>
      </p:pic>
      <p:sp>
        <p:nvSpPr>
          <p:cNvPr id="9" name="TextBox 8">
            <a:extLst>
              <a:ext uri="{FF2B5EF4-FFF2-40B4-BE49-F238E27FC236}">
                <a16:creationId xmlns:a16="http://schemas.microsoft.com/office/drawing/2014/main" id="{88A16A04-F897-7212-E962-4C5A0973F969}"/>
              </a:ext>
            </a:extLst>
          </p:cNvPr>
          <p:cNvSpPr txBox="1"/>
          <p:nvPr/>
        </p:nvSpPr>
        <p:spPr>
          <a:xfrm>
            <a:off x="0" y="6502526"/>
            <a:ext cx="12192000" cy="369332"/>
          </a:xfrm>
          <a:prstGeom prst="rect">
            <a:avLst/>
          </a:prstGeom>
          <a:noFill/>
        </p:spPr>
        <p:txBody>
          <a:bodyPr wrap="square" rtlCol="0">
            <a:spAutoFit/>
          </a:bodyPr>
          <a:lstStyle/>
          <a:p>
            <a:pPr algn="r"/>
            <a:r>
              <a:rPr lang="en-US" b="0" u="none" strike="noStrike" dirty="0">
                <a:solidFill>
                  <a:srgbClr val="000000"/>
                </a:solidFill>
                <a:effectLst/>
                <a:latin typeface="Arial" panose="020B0604020202020204" pitchFamily="34" charset="0"/>
                <a:cs typeface="Arial" panose="020B0604020202020204" pitchFamily="34" charset="0"/>
              </a:rPr>
              <a:t>Immunotherapy 2012 4(8), 793–805.</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786717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7D326F9-C360-F829-B18B-0CC29C4104EE}"/>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870200" y="4052217"/>
            <a:ext cx="6451600" cy="2336800"/>
          </a:xfrm>
          <a:prstGeom prst="rect">
            <a:avLst/>
          </a:prstGeom>
        </p:spPr>
      </p:pic>
      <p:pic>
        <p:nvPicPr>
          <p:cNvPr id="2050" name="Picture 2" descr="Lymphocytes – Cell Cartoons">
            <a:extLst>
              <a:ext uri="{FF2B5EF4-FFF2-40B4-BE49-F238E27FC236}">
                <a16:creationId xmlns:a16="http://schemas.microsoft.com/office/drawing/2014/main" id="{6F30495E-DABC-43E6-4158-B9042461CE27}"/>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3091437" y="468983"/>
            <a:ext cx="6009126" cy="33394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36981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61BC404-3918-22AA-36CE-3EB3F3BD72B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56727" y="0"/>
            <a:ext cx="11078546" cy="6853586"/>
          </a:xfrm>
          <a:prstGeom prst="rect">
            <a:avLst/>
          </a:prstGeom>
        </p:spPr>
      </p:pic>
    </p:spTree>
    <p:extLst>
      <p:ext uri="{BB962C8B-B14F-4D97-AF65-F5344CB8AC3E}">
        <p14:creationId xmlns:p14="http://schemas.microsoft.com/office/powerpoint/2010/main" val="214308462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5C33B-9AA8-0119-8EF0-3B0D0D8F32D4}"/>
              </a:ext>
            </a:extLst>
          </p:cNvPr>
          <p:cNvSpPr>
            <a:spLocks noGrp="1"/>
          </p:cNvSpPr>
          <p:nvPr>
            <p:ph type="title"/>
          </p:nvPr>
        </p:nvSpPr>
        <p:spPr/>
        <p:txBody>
          <a:bodyPr/>
          <a:lstStyle/>
          <a:p>
            <a:r>
              <a:rPr lang="en-US" dirty="0"/>
              <a:t>Case Presentation</a:t>
            </a:r>
          </a:p>
        </p:txBody>
      </p:sp>
      <p:sp>
        <p:nvSpPr>
          <p:cNvPr id="3" name="Text Placeholder 2">
            <a:extLst>
              <a:ext uri="{FF2B5EF4-FFF2-40B4-BE49-F238E27FC236}">
                <a16:creationId xmlns:a16="http://schemas.microsoft.com/office/drawing/2014/main" id="{F6EA3B04-B697-C452-7E5D-AD775838176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81139756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FD67CE-01A9-F796-DBF4-2B6F54E7765B}"/>
              </a:ext>
            </a:extLst>
          </p:cNvPr>
          <p:cNvSpPr>
            <a:spLocks noGrp="1"/>
          </p:cNvSpPr>
          <p:nvPr>
            <p:ph type="title"/>
          </p:nvPr>
        </p:nvSpPr>
        <p:spPr/>
        <p:txBody>
          <a:bodyPr/>
          <a:lstStyle/>
          <a:p>
            <a:r>
              <a:rPr lang="en-US" dirty="0"/>
              <a:t>Case</a:t>
            </a:r>
          </a:p>
        </p:txBody>
      </p:sp>
      <p:sp>
        <p:nvSpPr>
          <p:cNvPr id="3" name="Content Placeholder 2">
            <a:extLst>
              <a:ext uri="{FF2B5EF4-FFF2-40B4-BE49-F238E27FC236}">
                <a16:creationId xmlns:a16="http://schemas.microsoft.com/office/drawing/2014/main" id="{0932A552-AAFD-C105-84B0-1F79D8CA2422}"/>
              </a:ext>
            </a:extLst>
          </p:cNvPr>
          <p:cNvSpPr>
            <a:spLocks noGrp="1"/>
          </p:cNvSpPr>
          <p:nvPr>
            <p:ph idx="1"/>
          </p:nvPr>
        </p:nvSpPr>
        <p:spPr>
          <a:xfrm>
            <a:off x="838200" y="1252728"/>
            <a:ext cx="10515600" cy="4924235"/>
          </a:xfrm>
        </p:spPr>
        <p:txBody>
          <a:bodyPr/>
          <a:lstStyle/>
          <a:p>
            <a:r>
              <a:rPr lang="en-US" dirty="0"/>
              <a:t>A 50-year-old patient with a history of </a:t>
            </a:r>
            <a:r>
              <a:rPr lang="en-US" b="1" dirty="0"/>
              <a:t>autoimmune hepatitis </a:t>
            </a:r>
            <a:r>
              <a:rPr lang="en-US" dirty="0"/>
              <a:t>status-post liver transplantation approximately </a:t>
            </a:r>
            <a:r>
              <a:rPr lang="en-US" b="1" dirty="0"/>
              <a:t>four months ago </a:t>
            </a:r>
            <a:r>
              <a:rPr lang="en-US" dirty="0"/>
              <a:t>demonstrated the laboratory results in the table below after reporting fatigue and abdominal pain. A liver ultrasound shows </a:t>
            </a:r>
            <a:r>
              <a:rPr lang="en-US" i="1" dirty="0"/>
              <a:t>patent hepatic vasculature, no thrombus formation, and no biliary strictures</a:t>
            </a:r>
            <a:r>
              <a:rPr lang="en-US" dirty="0"/>
              <a:t>.</a:t>
            </a:r>
          </a:p>
        </p:txBody>
      </p:sp>
      <p:pic>
        <p:nvPicPr>
          <p:cNvPr id="4" name="Picture 3">
            <a:extLst>
              <a:ext uri="{FF2B5EF4-FFF2-40B4-BE49-F238E27FC236}">
                <a16:creationId xmlns:a16="http://schemas.microsoft.com/office/drawing/2014/main" id="{16DCE956-5D53-A67F-AF8E-C3B2A5852719}"/>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716166" y="3429000"/>
            <a:ext cx="4759667" cy="3162300"/>
          </a:xfrm>
          <a:prstGeom prst="rect">
            <a:avLst/>
          </a:prstGeom>
        </p:spPr>
      </p:pic>
    </p:spTree>
    <p:extLst>
      <p:ext uri="{BB962C8B-B14F-4D97-AF65-F5344CB8AC3E}">
        <p14:creationId xmlns:p14="http://schemas.microsoft.com/office/powerpoint/2010/main" val="322136081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a:extLst>
              <a:ext uri="{FF2B5EF4-FFF2-40B4-BE49-F238E27FC236}">
                <a16:creationId xmlns:a16="http://schemas.microsoft.com/office/drawing/2014/main" id="{838BE4D0-6941-19CB-34E9-B3A1FD5F8338}"/>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1524000" y="0"/>
            <a:ext cx="9144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273292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C7D48CD4-E6BA-930B-7FC3-20D72469874F}"/>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1524000" y="0"/>
            <a:ext cx="9144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059812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96124B70-61B9-419E-F698-CE18073037AD}"/>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1062038" y="0"/>
            <a:ext cx="10066337"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303650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6DB3A6C-57B5-7651-D3EC-6BBD75985F1D}"/>
              </a:ext>
            </a:extLst>
          </p:cNvPr>
          <p:cNvSpPr>
            <a:spLocks noGrp="1"/>
          </p:cNvSpPr>
          <p:nvPr>
            <p:ph type="title"/>
          </p:nvPr>
        </p:nvSpPr>
        <p:spPr/>
        <p:txBody>
          <a:bodyPr/>
          <a:lstStyle/>
          <a:p>
            <a:r>
              <a:rPr lang="en-US" dirty="0"/>
              <a:t>Rejection</a:t>
            </a:r>
          </a:p>
        </p:txBody>
      </p:sp>
      <p:sp>
        <p:nvSpPr>
          <p:cNvPr id="5" name="Text Placeholder 4">
            <a:extLst>
              <a:ext uri="{FF2B5EF4-FFF2-40B4-BE49-F238E27FC236}">
                <a16:creationId xmlns:a16="http://schemas.microsoft.com/office/drawing/2014/main" id="{3817B392-CD7C-8ADA-879E-C6EB04BB356F}"/>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28979627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442E89-9BAF-D3EE-B7FE-D6C6224FF48A}"/>
              </a:ext>
            </a:extLst>
          </p:cNvPr>
          <p:cNvSpPr>
            <a:spLocks noGrp="1"/>
          </p:cNvSpPr>
          <p:nvPr>
            <p:ph type="title"/>
          </p:nvPr>
        </p:nvSpPr>
        <p:spPr/>
        <p:txBody>
          <a:bodyPr/>
          <a:lstStyle/>
          <a:p>
            <a:r>
              <a:rPr lang="en-US" dirty="0"/>
              <a:t>Liver Transplant Rejection</a:t>
            </a:r>
          </a:p>
        </p:txBody>
      </p:sp>
      <p:sp>
        <p:nvSpPr>
          <p:cNvPr id="5" name="Content Placeholder 4">
            <a:extLst>
              <a:ext uri="{FF2B5EF4-FFF2-40B4-BE49-F238E27FC236}">
                <a16:creationId xmlns:a16="http://schemas.microsoft.com/office/drawing/2014/main" id="{131D3F4F-9BF3-67A8-43C4-8866D005CF5E}"/>
              </a:ext>
            </a:extLst>
          </p:cNvPr>
          <p:cNvSpPr>
            <a:spLocks noGrp="1"/>
          </p:cNvSpPr>
          <p:nvPr>
            <p:ph idx="1"/>
          </p:nvPr>
        </p:nvSpPr>
        <p:spPr/>
        <p:txBody>
          <a:bodyPr/>
          <a:lstStyle/>
          <a:p>
            <a:r>
              <a:rPr lang="en-US" dirty="0"/>
              <a:t>Acute cellular rejection</a:t>
            </a:r>
          </a:p>
          <a:p>
            <a:r>
              <a:rPr lang="en-US" dirty="0"/>
              <a:t>Acute antibody-mediated rejection</a:t>
            </a:r>
          </a:p>
          <a:p>
            <a:r>
              <a:rPr lang="en-US" dirty="0"/>
              <a:t>Chronic rejection</a:t>
            </a:r>
          </a:p>
        </p:txBody>
      </p:sp>
    </p:spTree>
    <p:extLst>
      <p:ext uri="{BB962C8B-B14F-4D97-AF65-F5344CB8AC3E}">
        <p14:creationId xmlns:p14="http://schemas.microsoft.com/office/powerpoint/2010/main" val="309997113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F559B7-D34D-6D8E-C59D-1A3C03A3C1C9}"/>
              </a:ext>
            </a:extLst>
          </p:cNvPr>
          <p:cNvSpPr>
            <a:spLocks noGrp="1"/>
          </p:cNvSpPr>
          <p:nvPr>
            <p:ph type="title"/>
          </p:nvPr>
        </p:nvSpPr>
        <p:spPr/>
        <p:txBody>
          <a:bodyPr/>
          <a:lstStyle/>
          <a:p>
            <a:r>
              <a:rPr lang="en-US" dirty="0"/>
              <a:t>Acute Cellular Rejection</a:t>
            </a:r>
          </a:p>
        </p:txBody>
      </p:sp>
      <p:sp>
        <p:nvSpPr>
          <p:cNvPr id="3" name="Content Placeholder 2">
            <a:extLst>
              <a:ext uri="{FF2B5EF4-FFF2-40B4-BE49-F238E27FC236}">
                <a16:creationId xmlns:a16="http://schemas.microsoft.com/office/drawing/2014/main" id="{8D1801AD-46E5-83B1-C3B9-3A830BD89FE8}"/>
              </a:ext>
            </a:extLst>
          </p:cNvPr>
          <p:cNvSpPr>
            <a:spLocks noGrp="1"/>
          </p:cNvSpPr>
          <p:nvPr>
            <p:ph idx="1"/>
          </p:nvPr>
        </p:nvSpPr>
        <p:spPr/>
        <p:txBody>
          <a:bodyPr/>
          <a:lstStyle/>
          <a:p>
            <a:r>
              <a:rPr lang="en-US" dirty="0"/>
              <a:t>Called T cell-mediated rejection CMR as well</a:t>
            </a:r>
          </a:p>
          <a:p>
            <a:r>
              <a:rPr lang="en-US" dirty="0"/>
              <a:t>Involves T lymphocytes reacting to the antigenic areas of the graft</a:t>
            </a:r>
          </a:p>
          <a:p>
            <a:r>
              <a:rPr lang="en-US" dirty="0"/>
              <a:t>Characteristic findings are </a:t>
            </a:r>
            <a:r>
              <a:rPr lang="en-US" b="1" dirty="0" err="1"/>
              <a:t>endothelitis</a:t>
            </a:r>
            <a:r>
              <a:rPr lang="en-US" b="1" dirty="0"/>
              <a:t> </a:t>
            </a:r>
            <a:r>
              <a:rPr lang="en-US" dirty="0"/>
              <a:t>and </a:t>
            </a:r>
            <a:r>
              <a:rPr lang="en-US" b="1" dirty="0" err="1"/>
              <a:t>ductulitis</a:t>
            </a:r>
            <a:endParaRPr lang="en-US" dirty="0"/>
          </a:p>
        </p:txBody>
      </p:sp>
      <p:pic>
        <p:nvPicPr>
          <p:cNvPr id="4098" name="Picture 2" descr="Acute rejection: parenchymal cell damage and endotheliitis | Download  Scientific Diagram">
            <a:extLst>
              <a:ext uri="{FF2B5EF4-FFF2-40B4-BE49-F238E27FC236}">
                <a16:creationId xmlns:a16="http://schemas.microsoft.com/office/drawing/2014/main" id="{774AD347-8F7D-CA42-7A79-2E9473050CC6}"/>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825750" y="3289781"/>
            <a:ext cx="6540500" cy="30734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1F80984-E601-83A2-16DC-19D49C26358F}"/>
              </a:ext>
            </a:extLst>
          </p:cNvPr>
          <p:cNvSpPr txBox="1"/>
          <p:nvPr/>
        </p:nvSpPr>
        <p:spPr>
          <a:xfrm>
            <a:off x="0" y="6488668"/>
            <a:ext cx="12192000" cy="369332"/>
          </a:xfrm>
          <a:prstGeom prst="rect">
            <a:avLst/>
          </a:prstGeom>
          <a:noFill/>
        </p:spPr>
        <p:txBody>
          <a:bodyPr wrap="square">
            <a:spAutoFit/>
          </a:bodyPr>
          <a:lstStyle/>
          <a:p>
            <a:pPr algn="r"/>
            <a:r>
              <a:rPr lang="en-US" b="0" i="0" u="none" strike="noStrike" dirty="0">
                <a:solidFill>
                  <a:srgbClr val="000000"/>
                </a:solidFill>
                <a:effectLst/>
                <a:latin typeface="Relative Book"/>
              </a:rPr>
              <a:t> Lu, Ling, et al. ‘Immunology of Liver Transplantation’. Liver Transplantation - Basic Issues, </a:t>
            </a:r>
            <a:r>
              <a:rPr lang="en-US" b="0" i="0" u="none" strike="noStrike" dirty="0" err="1">
                <a:solidFill>
                  <a:srgbClr val="000000"/>
                </a:solidFill>
                <a:effectLst/>
                <a:latin typeface="Relative Book"/>
              </a:rPr>
              <a:t>InTech</a:t>
            </a:r>
            <a:r>
              <a:rPr lang="en-US" b="0" i="0" u="none" strike="noStrike" dirty="0">
                <a:solidFill>
                  <a:srgbClr val="000000"/>
                </a:solidFill>
                <a:effectLst/>
                <a:latin typeface="Relative Book"/>
              </a:rPr>
              <a:t>, 15 Feb. 2012</a:t>
            </a:r>
            <a:endParaRPr lang="en-US" dirty="0"/>
          </a:p>
        </p:txBody>
      </p:sp>
    </p:spTree>
    <p:extLst>
      <p:ext uri="{BB962C8B-B14F-4D97-AF65-F5344CB8AC3E}">
        <p14:creationId xmlns:p14="http://schemas.microsoft.com/office/powerpoint/2010/main" val="148194018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C401CFE-ABA4-DF51-6C06-436588349418}"/>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487643" y="112238"/>
            <a:ext cx="7772400" cy="6376430"/>
          </a:xfrm>
          <a:prstGeom prst="rect">
            <a:avLst/>
          </a:prstGeom>
        </p:spPr>
      </p:pic>
      <p:sp>
        <p:nvSpPr>
          <p:cNvPr id="4" name="TextBox 3">
            <a:extLst>
              <a:ext uri="{FF2B5EF4-FFF2-40B4-BE49-F238E27FC236}">
                <a16:creationId xmlns:a16="http://schemas.microsoft.com/office/drawing/2014/main" id="{4BF1371C-33C9-BC0D-3DB1-0C3BCA472DAA}"/>
              </a:ext>
            </a:extLst>
          </p:cNvPr>
          <p:cNvSpPr txBox="1"/>
          <p:nvPr/>
        </p:nvSpPr>
        <p:spPr>
          <a:xfrm>
            <a:off x="0" y="6488668"/>
            <a:ext cx="12198096" cy="369332"/>
          </a:xfrm>
          <a:prstGeom prst="rect">
            <a:avLst/>
          </a:prstGeom>
          <a:noFill/>
        </p:spPr>
        <p:txBody>
          <a:bodyPr wrap="square">
            <a:spAutoFit/>
          </a:bodyPr>
          <a:lstStyle/>
          <a:p>
            <a:pPr algn="r"/>
            <a:r>
              <a:rPr lang="en-US" dirty="0"/>
              <a:t>Thomson M, Lake JR. CAQ Corner: Immune-mediated complications. Liver </a:t>
            </a:r>
            <a:r>
              <a:rPr lang="en-US" dirty="0" err="1"/>
              <a:t>Transpl</a:t>
            </a:r>
            <a:r>
              <a:rPr lang="en-US" dirty="0"/>
              <a:t>. 2022 Jun 24</a:t>
            </a:r>
          </a:p>
        </p:txBody>
      </p:sp>
    </p:spTree>
    <p:extLst>
      <p:ext uri="{BB962C8B-B14F-4D97-AF65-F5344CB8AC3E}">
        <p14:creationId xmlns:p14="http://schemas.microsoft.com/office/powerpoint/2010/main" val="6460755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566CBC8-00C2-8F87-A5D6-DEC56B15969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209800" y="113152"/>
            <a:ext cx="7772400" cy="6375516"/>
          </a:xfrm>
          <a:prstGeom prst="rect">
            <a:avLst/>
          </a:prstGeom>
        </p:spPr>
      </p:pic>
      <p:sp>
        <p:nvSpPr>
          <p:cNvPr id="4" name="TextBox 3">
            <a:extLst>
              <a:ext uri="{FF2B5EF4-FFF2-40B4-BE49-F238E27FC236}">
                <a16:creationId xmlns:a16="http://schemas.microsoft.com/office/drawing/2014/main" id="{3FDFD19C-B38F-97F3-DC1D-849306294543}"/>
              </a:ext>
            </a:extLst>
          </p:cNvPr>
          <p:cNvSpPr txBox="1"/>
          <p:nvPr/>
        </p:nvSpPr>
        <p:spPr>
          <a:xfrm>
            <a:off x="0" y="6488668"/>
            <a:ext cx="12198096" cy="369332"/>
          </a:xfrm>
          <a:prstGeom prst="rect">
            <a:avLst/>
          </a:prstGeom>
          <a:noFill/>
        </p:spPr>
        <p:txBody>
          <a:bodyPr wrap="square" anchor="ctr">
            <a:spAutoFit/>
          </a:bodyPr>
          <a:lstStyle/>
          <a:p>
            <a:pPr algn="r"/>
            <a:r>
              <a:rPr lang="en-US" dirty="0"/>
              <a:t>Gastroenterol Clin N Am 40 (2011) 659–681 </a:t>
            </a:r>
          </a:p>
        </p:txBody>
      </p:sp>
    </p:spTree>
    <p:extLst>
      <p:ext uri="{BB962C8B-B14F-4D97-AF65-F5344CB8AC3E}">
        <p14:creationId xmlns:p14="http://schemas.microsoft.com/office/powerpoint/2010/main" val="211441582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500F6B-155D-30CC-72E9-2C0B1B980A38}"/>
              </a:ext>
            </a:extLst>
          </p:cNvPr>
          <p:cNvSpPr>
            <a:spLocks noGrp="1"/>
          </p:cNvSpPr>
          <p:nvPr>
            <p:ph type="title"/>
          </p:nvPr>
        </p:nvSpPr>
        <p:spPr>
          <a:xfrm>
            <a:off x="838200" y="18255"/>
            <a:ext cx="10515600" cy="826697"/>
          </a:xfrm>
        </p:spPr>
        <p:txBody>
          <a:bodyPr/>
          <a:lstStyle/>
          <a:p>
            <a:r>
              <a:rPr lang="en-US" dirty="0"/>
              <a:t>Quiz</a:t>
            </a:r>
          </a:p>
        </p:txBody>
      </p:sp>
      <p:sp>
        <p:nvSpPr>
          <p:cNvPr id="3" name="Content Placeholder 2">
            <a:extLst>
              <a:ext uri="{FF2B5EF4-FFF2-40B4-BE49-F238E27FC236}">
                <a16:creationId xmlns:a16="http://schemas.microsoft.com/office/drawing/2014/main" id="{92B02D92-5902-2DEE-306B-BA2566634591}"/>
              </a:ext>
            </a:extLst>
          </p:cNvPr>
          <p:cNvSpPr>
            <a:spLocks noGrp="1"/>
          </p:cNvSpPr>
          <p:nvPr>
            <p:ph idx="1"/>
          </p:nvPr>
        </p:nvSpPr>
        <p:spPr>
          <a:xfrm>
            <a:off x="420547" y="844952"/>
            <a:ext cx="11350906" cy="6013048"/>
          </a:xfrm>
        </p:spPr>
        <p:txBody>
          <a:bodyPr>
            <a:normAutofit lnSpcReduction="10000"/>
          </a:bodyPr>
          <a:lstStyle/>
          <a:p>
            <a:pPr marL="0" indent="0">
              <a:buNone/>
            </a:pPr>
            <a:r>
              <a:rPr lang="en-US" dirty="0"/>
              <a:t>A 65-year-old man with history of PSC-related cirrhosis complicated by ascites s/p </a:t>
            </a:r>
            <a:r>
              <a:rPr lang="en-US" dirty="0" err="1"/>
              <a:t>DDLTx</a:t>
            </a:r>
            <a:r>
              <a:rPr lang="en-US" dirty="0"/>
              <a:t> from a DCD ~8 months ago, noted for </a:t>
            </a:r>
            <a:r>
              <a:rPr lang="en-US" u="sng" dirty="0"/>
              <a:t>prolonged cold ischemia time</a:t>
            </a:r>
            <a:r>
              <a:rPr lang="en-US" dirty="0"/>
              <a:t>, now presenting with asymptomatic elevation in liver enzymes.</a:t>
            </a:r>
          </a:p>
          <a:p>
            <a:pPr marL="457200" lvl="1" indent="0">
              <a:buNone/>
            </a:pPr>
            <a:r>
              <a:rPr lang="en-US" b="1" dirty="0"/>
              <a:t>AST 56</a:t>
            </a:r>
          </a:p>
          <a:p>
            <a:pPr marL="457200" lvl="1" indent="0">
              <a:buNone/>
            </a:pPr>
            <a:r>
              <a:rPr lang="en-US" b="1" dirty="0"/>
              <a:t>ALT 43</a:t>
            </a:r>
          </a:p>
          <a:p>
            <a:pPr marL="457200" lvl="1" indent="0">
              <a:buNone/>
            </a:pPr>
            <a:r>
              <a:rPr lang="en-US" b="1" dirty="0"/>
              <a:t>ALP 342			</a:t>
            </a:r>
            <a:r>
              <a:rPr lang="en-US" b="1" i="1" dirty="0"/>
              <a:t>(</a:t>
            </a:r>
            <a:r>
              <a:rPr lang="en-US" i="1" dirty="0"/>
              <a:t>Previously, liver enzymes were normal)</a:t>
            </a:r>
            <a:endParaRPr lang="en-US" b="1" i="1" dirty="0"/>
          </a:p>
          <a:p>
            <a:pPr marL="457200" lvl="1" indent="0">
              <a:buNone/>
            </a:pPr>
            <a:r>
              <a:rPr lang="en-US" b="1" dirty="0" err="1"/>
              <a:t>Tbili</a:t>
            </a:r>
            <a:r>
              <a:rPr lang="en-US" b="1" dirty="0"/>
              <a:t> 3.6</a:t>
            </a:r>
          </a:p>
          <a:p>
            <a:pPr marL="457200" lvl="1" indent="0">
              <a:buNone/>
            </a:pPr>
            <a:r>
              <a:rPr lang="en-US" b="1" dirty="0" err="1"/>
              <a:t>Dbili</a:t>
            </a:r>
            <a:r>
              <a:rPr lang="en-US" b="1" dirty="0"/>
              <a:t> 2.8</a:t>
            </a:r>
            <a:endParaRPr lang="en-US" dirty="0"/>
          </a:p>
          <a:p>
            <a:pPr marL="0" indent="0">
              <a:buNone/>
            </a:pPr>
            <a:r>
              <a:rPr lang="en-US" dirty="0"/>
              <a:t>What is the next step in management?</a:t>
            </a:r>
          </a:p>
          <a:p>
            <a:pPr marL="971550" lvl="1" indent="-514350">
              <a:buAutoNum type="alphaUcParenR"/>
            </a:pPr>
            <a:r>
              <a:rPr lang="en-US" dirty="0"/>
              <a:t>Liver biopsy</a:t>
            </a:r>
          </a:p>
          <a:p>
            <a:pPr marL="971550" lvl="1" indent="-514350">
              <a:buAutoNum type="alphaUcParenR"/>
            </a:pPr>
            <a:r>
              <a:rPr lang="en-US" dirty="0"/>
              <a:t>MRI/MRCP</a:t>
            </a:r>
          </a:p>
          <a:p>
            <a:pPr marL="971550" lvl="1" indent="-514350">
              <a:buAutoNum type="alphaUcParenR"/>
            </a:pPr>
            <a:r>
              <a:rPr lang="en-US" dirty="0"/>
              <a:t>ERCP</a:t>
            </a:r>
          </a:p>
          <a:p>
            <a:pPr marL="971550" lvl="1" indent="-514350">
              <a:buAutoNum type="alphaUcParenR"/>
            </a:pPr>
            <a:r>
              <a:rPr lang="en-US" dirty="0"/>
              <a:t>PTC</a:t>
            </a:r>
          </a:p>
          <a:p>
            <a:pPr marL="971550" lvl="1" indent="-514350">
              <a:buAutoNum type="alphaUcParenR"/>
            </a:pPr>
            <a:r>
              <a:rPr lang="en-US" dirty="0"/>
              <a:t>RUQ US</a:t>
            </a:r>
          </a:p>
          <a:p>
            <a:pPr marL="971550" lvl="1" indent="-514350">
              <a:buAutoNum type="alphaUcParenR"/>
            </a:pPr>
            <a:r>
              <a:rPr lang="en-US" dirty="0"/>
              <a:t>Increase immunosuppression</a:t>
            </a:r>
          </a:p>
          <a:p>
            <a:pPr marL="457200" lvl="1" indent="0">
              <a:buNone/>
            </a:pPr>
            <a:endParaRPr lang="en-US" dirty="0"/>
          </a:p>
        </p:txBody>
      </p:sp>
    </p:spTree>
    <p:extLst>
      <p:ext uri="{BB962C8B-B14F-4D97-AF65-F5344CB8AC3E}">
        <p14:creationId xmlns:p14="http://schemas.microsoft.com/office/powerpoint/2010/main" val="181519794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D4A18-3E2B-CAA1-1C73-72125BBA1808}"/>
              </a:ext>
            </a:extLst>
          </p:cNvPr>
          <p:cNvSpPr>
            <a:spLocks noGrp="1"/>
          </p:cNvSpPr>
          <p:nvPr>
            <p:ph type="title"/>
          </p:nvPr>
        </p:nvSpPr>
        <p:spPr/>
        <p:txBody>
          <a:bodyPr/>
          <a:lstStyle/>
          <a:p>
            <a:r>
              <a:rPr lang="en-US" dirty="0"/>
              <a:t>Post Liver Transplant Biliary Complications</a:t>
            </a:r>
          </a:p>
        </p:txBody>
      </p:sp>
      <p:sp>
        <p:nvSpPr>
          <p:cNvPr id="3" name="Content Placeholder 2">
            <a:extLst>
              <a:ext uri="{FF2B5EF4-FFF2-40B4-BE49-F238E27FC236}">
                <a16:creationId xmlns:a16="http://schemas.microsoft.com/office/drawing/2014/main" id="{BCFC0251-7C3D-732B-1839-F68ECD29225B}"/>
              </a:ext>
            </a:extLst>
          </p:cNvPr>
          <p:cNvSpPr>
            <a:spLocks noGrp="1"/>
          </p:cNvSpPr>
          <p:nvPr>
            <p:ph idx="1"/>
          </p:nvPr>
        </p:nvSpPr>
        <p:spPr/>
        <p:txBody>
          <a:bodyPr/>
          <a:lstStyle/>
          <a:p>
            <a:r>
              <a:rPr lang="en-US" dirty="0"/>
              <a:t>Early on</a:t>
            </a:r>
          </a:p>
          <a:p>
            <a:pPr lvl="1"/>
            <a:r>
              <a:rPr lang="en-US" dirty="0"/>
              <a:t>Bile leak</a:t>
            </a:r>
          </a:p>
          <a:p>
            <a:pPr lvl="1"/>
            <a:r>
              <a:rPr lang="en-US" dirty="0"/>
              <a:t>Size mismatch</a:t>
            </a:r>
          </a:p>
          <a:p>
            <a:pPr lvl="1"/>
            <a:r>
              <a:rPr lang="en-US" dirty="0"/>
              <a:t>Anastomotic stricture (edema)</a:t>
            </a:r>
          </a:p>
          <a:p>
            <a:pPr lvl="1"/>
            <a:endParaRPr lang="en-US" dirty="0"/>
          </a:p>
          <a:p>
            <a:r>
              <a:rPr lang="en-US" dirty="0"/>
              <a:t>Later</a:t>
            </a:r>
          </a:p>
          <a:p>
            <a:pPr lvl="1"/>
            <a:r>
              <a:rPr lang="en-US" dirty="0"/>
              <a:t>Ischemic cholangiopathy</a:t>
            </a:r>
          </a:p>
          <a:p>
            <a:pPr lvl="1"/>
            <a:r>
              <a:rPr lang="en-US" dirty="0"/>
              <a:t>Recurrent PSC (if original disease)</a:t>
            </a:r>
          </a:p>
          <a:p>
            <a:pPr lvl="2"/>
            <a:r>
              <a:rPr lang="en-US" dirty="0"/>
              <a:t>De novo PSC! Can happen…</a:t>
            </a:r>
          </a:p>
          <a:p>
            <a:pPr lvl="1"/>
            <a:r>
              <a:rPr lang="en-US" dirty="0"/>
              <a:t>Anastomotic stricture (true stricture)</a:t>
            </a:r>
          </a:p>
        </p:txBody>
      </p:sp>
    </p:spTree>
    <p:extLst>
      <p:ext uri="{BB962C8B-B14F-4D97-AF65-F5344CB8AC3E}">
        <p14:creationId xmlns:p14="http://schemas.microsoft.com/office/powerpoint/2010/main" val="50987631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3108AA3-8DCA-BCB9-6469-0EF447D85F76}"/>
              </a:ext>
            </a:extLst>
          </p:cNvPr>
          <p:cNvSpPr>
            <a:spLocks noGrp="1"/>
          </p:cNvSpPr>
          <p:nvPr>
            <p:ph type="title"/>
          </p:nvPr>
        </p:nvSpPr>
        <p:spPr/>
        <p:txBody>
          <a:bodyPr/>
          <a:lstStyle/>
          <a:p>
            <a:r>
              <a:rPr lang="en-US" dirty="0"/>
              <a:t>Why does ischemic cholangiopathy happen?</a:t>
            </a:r>
          </a:p>
        </p:txBody>
      </p:sp>
      <p:sp>
        <p:nvSpPr>
          <p:cNvPr id="5" name="Text Placeholder 4">
            <a:extLst>
              <a:ext uri="{FF2B5EF4-FFF2-40B4-BE49-F238E27FC236}">
                <a16:creationId xmlns:a16="http://schemas.microsoft.com/office/drawing/2014/main" id="{6E21B64D-06C9-2D91-90BE-14C39F5346A8}"/>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66627403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42F33F3F-BF4A-D909-F1B4-55743DF867EF}"/>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1864582" y="263410"/>
            <a:ext cx="8462836" cy="612283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727C5105-A604-B2FC-E47E-C0340818544D}"/>
              </a:ext>
            </a:extLst>
          </p:cNvPr>
          <p:cNvSpPr txBox="1"/>
          <p:nvPr/>
        </p:nvSpPr>
        <p:spPr>
          <a:xfrm>
            <a:off x="7716" y="6490417"/>
            <a:ext cx="12184284" cy="369332"/>
          </a:xfrm>
          <a:prstGeom prst="rect">
            <a:avLst/>
          </a:prstGeom>
          <a:noFill/>
        </p:spPr>
        <p:txBody>
          <a:bodyPr wrap="square">
            <a:spAutoFit/>
          </a:bodyPr>
          <a:lstStyle/>
          <a:p>
            <a:pPr algn="r"/>
            <a:r>
              <a:rPr lang="en-US" b="0" i="0" u="none" strike="noStrike" dirty="0">
                <a:solidFill>
                  <a:srgbClr val="212121"/>
                </a:solidFill>
                <a:effectLst/>
                <a:latin typeface="BlinkMacSystemFont"/>
              </a:rPr>
              <a:t>Am J Transplant. 2013 Feb;13(2):253-65</a:t>
            </a:r>
            <a:endParaRPr lang="en-US" dirty="0"/>
          </a:p>
        </p:txBody>
      </p:sp>
    </p:spTree>
    <p:extLst>
      <p:ext uri="{BB962C8B-B14F-4D97-AF65-F5344CB8AC3E}">
        <p14:creationId xmlns:p14="http://schemas.microsoft.com/office/powerpoint/2010/main" val="120194067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237160-3357-6C62-0021-0E641C1499F2}"/>
              </a:ext>
            </a:extLst>
          </p:cNvPr>
          <p:cNvSpPr>
            <a:spLocks noGrp="1"/>
          </p:cNvSpPr>
          <p:nvPr>
            <p:ph type="title"/>
          </p:nvPr>
        </p:nvSpPr>
        <p:spPr/>
        <p:txBody>
          <a:bodyPr/>
          <a:lstStyle/>
          <a:p>
            <a:r>
              <a:rPr lang="en-US" dirty="0"/>
              <a:t>Biliary Complications</a:t>
            </a:r>
          </a:p>
        </p:txBody>
      </p:sp>
      <p:sp>
        <p:nvSpPr>
          <p:cNvPr id="3" name="Content Placeholder 2">
            <a:extLst>
              <a:ext uri="{FF2B5EF4-FFF2-40B4-BE49-F238E27FC236}">
                <a16:creationId xmlns:a16="http://schemas.microsoft.com/office/drawing/2014/main" id="{35693430-E50F-8663-EB6E-61CB25ACAC05}"/>
              </a:ext>
            </a:extLst>
          </p:cNvPr>
          <p:cNvSpPr>
            <a:spLocks noGrp="1"/>
          </p:cNvSpPr>
          <p:nvPr>
            <p:ph idx="1"/>
          </p:nvPr>
        </p:nvSpPr>
        <p:spPr/>
        <p:txBody>
          <a:bodyPr/>
          <a:lstStyle/>
          <a:p>
            <a:r>
              <a:rPr lang="en-US" dirty="0"/>
              <a:t>MRI/MRCP may have reduced sensitivity due to the “rigidity” of the biliary tree of a liver graft</a:t>
            </a:r>
          </a:p>
          <a:p>
            <a:r>
              <a:rPr lang="en-US" dirty="0"/>
              <a:t>ERCP +/- liver biopsy as a first step is sometimes acceptable (even with a normal MRCP)</a:t>
            </a:r>
          </a:p>
          <a:p>
            <a:endParaRPr lang="en-US" dirty="0"/>
          </a:p>
          <a:p>
            <a:r>
              <a:rPr lang="en-US" b="1" dirty="0"/>
              <a:t>MRCP remains the initial diagnostic test of choice (for exam purposes and guideline purposes) </a:t>
            </a:r>
          </a:p>
        </p:txBody>
      </p:sp>
    </p:spTree>
    <p:extLst>
      <p:ext uri="{BB962C8B-B14F-4D97-AF65-F5344CB8AC3E}">
        <p14:creationId xmlns:p14="http://schemas.microsoft.com/office/powerpoint/2010/main" val="292824635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2EB3156-97B7-8104-AAEE-F71C9E03F3F4}"/>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45477" y="3783539"/>
            <a:ext cx="11701044" cy="1408178"/>
          </a:xfrm>
          <a:prstGeom prst="rect">
            <a:avLst/>
          </a:prstGeom>
        </p:spPr>
      </p:pic>
      <p:pic>
        <p:nvPicPr>
          <p:cNvPr id="7" name="Picture 6">
            <a:extLst>
              <a:ext uri="{FF2B5EF4-FFF2-40B4-BE49-F238E27FC236}">
                <a16:creationId xmlns:a16="http://schemas.microsoft.com/office/drawing/2014/main" id="{408EF541-B5C3-A5A0-03D0-56BB042C165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23018" y="0"/>
            <a:ext cx="10545963" cy="2486589"/>
          </a:xfrm>
          <a:prstGeom prst="rect">
            <a:avLst/>
          </a:prstGeom>
        </p:spPr>
      </p:pic>
      <p:sp>
        <p:nvSpPr>
          <p:cNvPr id="8" name="TextBox 7">
            <a:extLst>
              <a:ext uri="{FF2B5EF4-FFF2-40B4-BE49-F238E27FC236}">
                <a16:creationId xmlns:a16="http://schemas.microsoft.com/office/drawing/2014/main" id="{88A60704-9F34-9692-A63E-056DB269F914}"/>
              </a:ext>
            </a:extLst>
          </p:cNvPr>
          <p:cNvSpPr txBox="1"/>
          <p:nvPr/>
        </p:nvSpPr>
        <p:spPr>
          <a:xfrm>
            <a:off x="0" y="6488668"/>
            <a:ext cx="12199716" cy="369332"/>
          </a:xfrm>
          <a:prstGeom prst="rect">
            <a:avLst/>
          </a:prstGeom>
          <a:noFill/>
        </p:spPr>
        <p:txBody>
          <a:bodyPr wrap="square">
            <a:spAutoFit/>
          </a:bodyPr>
          <a:lstStyle/>
          <a:p>
            <a:pPr algn="r"/>
            <a:r>
              <a:rPr lang="en-US" b="0" i="0" u="none" strike="noStrike" dirty="0" err="1">
                <a:solidFill>
                  <a:srgbClr val="212121"/>
                </a:solidFill>
                <a:effectLst/>
                <a:latin typeface="BlinkMacSystemFont"/>
              </a:rPr>
              <a:t>Gastrointest</a:t>
            </a:r>
            <a:r>
              <a:rPr lang="en-US" b="0" i="0" u="none" strike="noStrike" dirty="0">
                <a:solidFill>
                  <a:srgbClr val="212121"/>
                </a:solidFill>
                <a:effectLst/>
                <a:latin typeface="BlinkMacSystemFont"/>
              </a:rPr>
              <a:t> </a:t>
            </a:r>
            <a:r>
              <a:rPr lang="en-US" b="0" i="0" u="none" strike="noStrike" dirty="0" err="1">
                <a:solidFill>
                  <a:srgbClr val="212121"/>
                </a:solidFill>
                <a:effectLst/>
                <a:latin typeface="BlinkMacSystemFont"/>
              </a:rPr>
              <a:t>Endosc</a:t>
            </a:r>
            <a:r>
              <a:rPr lang="en-US" b="0" i="0" u="none" strike="noStrike" dirty="0">
                <a:solidFill>
                  <a:srgbClr val="212121"/>
                </a:solidFill>
                <a:effectLst/>
                <a:latin typeface="BlinkMacSystemFont"/>
              </a:rPr>
              <a:t>. 2023 Apr;97(4):607-614</a:t>
            </a:r>
            <a:endParaRPr lang="en-US" dirty="0"/>
          </a:p>
        </p:txBody>
      </p:sp>
    </p:spTree>
    <p:extLst>
      <p:ext uri="{BB962C8B-B14F-4D97-AF65-F5344CB8AC3E}">
        <p14:creationId xmlns:p14="http://schemas.microsoft.com/office/powerpoint/2010/main" val="223342134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D8328F-CC34-2715-19F4-4F3FAE799268}"/>
              </a:ext>
            </a:extLst>
          </p:cNvPr>
          <p:cNvSpPr>
            <a:spLocks noGrp="1"/>
          </p:cNvSpPr>
          <p:nvPr>
            <p:ph type="title"/>
          </p:nvPr>
        </p:nvSpPr>
        <p:spPr/>
        <p:txBody>
          <a:bodyPr/>
          <a:lstStyle/>
          <a:p>
            <a:r>
              <a:rPr lang="en-US" dirty="0"/>
              <a:t>Long-term Complications</a:t>
            </a:r>
          </a:p>
        </p:txBody>
      </p:sp>
      <p:sp>
        <p:nvSpPr>
          <p:cNvPr id="3" name="Text Placeholder 2">
            <a:extLst>
              <a:ext uri="{FF2B5EF4-FFF2-40B4-BE49-F238E27FC236}">
                <a16:creationId xmlns:a16="http://schemas.microsoft.com/office/drawing/2014/main" id="{18A7A30D-F9B9-1FA6-D6AA-C75B2542ADB3}"/>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23254447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8E76C19-24F8-CA95-55AF-C893B512FCC8}"/>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16676" y="225188"/>
            <a:ext cx="10758648" cy="6080078"/>
          </a:xfrm>
          <a:prstGeom prst="rect">
            <a:avLst/>
          </a:prstGeom>
        </p:spPr>
      </p:pic>
      <p:sp>
        <p:nvSpPr>
          <p:cNvPr id="5" name="TextBox 4">
            <a:extLst>
              <a:ext uri="{FF2B5EF4-FFF2-40B4-BE49-F238E27FC236}">
                <a16:creationId xmlns:a16="http://schemas.microsoft.com/office/drawing/2014/main" id="{2D6F80BF-9BFD-880D-A85C-039C12BBB321}"/>
              </a:ext>
            </a:extLst>
          </p:cNvPr>
          <p:cNvSpPr txBox="1"/>
          <p:nvPr/>
        </p:nvSpPr>
        <p:spPr>
          <a:xfrm>
            <a:off x="0" y="6488668"/>
            <a:ext cx="12201098" cy="369332"/>
          </a:xfrm>
          <a:prstGeom prst="rect">
            <a:avLst/>
          </a:prstGeom>
          <a:noFill/>
        </p:spPr>
        <p:txBody>
          <a:bodyPr wrap="square">
            <a:spAutoFit/>
          </a:bodyPr>
          <a:lstStyle/>
          <a:p>
            <a:pPr algn="r"/>
            <a:r>
              <a:rPr lang="en-US" dirty="0" err="1"/>
              <a:t>Tincopa</a:t>
            </a:r>
            <a:r>
              <a:rPr lang="en-US" dirty="0"/>
              <a:t> M. CAQ Corner: Long-term medical complications of liver transplantation. Liver </a:t>
            </a:r>
            <a:r>
              <a:rPr lang="en-US" dirty="0" err="1"/>
              <a:t>Transpl</a:t>
            </a:r>
            <a:r>
              <a:rPr lang="en-US" dirty="0"/>
              <a:t>. 2022;00:1–7 </a:t>
            </a:r>
          </a:p>
        </p:txBody>
      </p:sp>
    </p:spTree>
    <p:extLst>
      <p:ext uri="{BB962C8B-B14F-4D97-AF65-F5344CB8AC3E}">
        <p14:creationId xmlns:p14="http://schemas.microsoft.com/office/powerpoint/2010/main" val="274772032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4B3083B-B3A6-ABDE-106A-69B95AD0024E}"/>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031176" y="0"/>
            <a:ext cx="6129648" cy="6437376"/>
          </a:xfrm>
          <a:prstGeom prst="rect">
            <a:avLst/>
          </a:prstGeom>
        </p:spPr>
      </p:pic>
      <p:sp>
        <p:nvSpPr>
          <p:cNvPr id="4" name="TextBox 3">
            <a:extLst>
              <a:ext uri="{FF2B5EF4-FFF2-40B4-BE49-F238E27FC236}">
                <a16:creationId xmlns:a16="http://schemas.microsoft.com/office/drawing/2014/main" id="{2A36B4D3-7822-4937-6865-C03A48EDFA79}"/>
              </a:ext>
            </a:extLst>
          </p:cNvPr>
          <p:cNvSpPr txBox="1"/>
          <p:nvPr/>
        </p:nvSpPr>
        <p:spPr>
          <a:xfrm>
            <a:off x="0" y="6550223"/>
            <a:ext cx="12192000" cy="307777"/>
          </a:xfrm>
          <a:prstGeom prst="rect">
            <a:avLst/>
          </a:prstGeom>
          <a:noFill/>
        </p:spPr>
        <p:txBody>
          <a:bodyPr wrap="square">
            <a:spAutoFit/>
          </a:bodyPr>
          <a:lstStyle/>
          <a:p>
            <a:pPr algn="r"/>
            <a:r>
              <a:rPr lang="en-US" sz="1400" dirty="0"/>
              <a:t>Issa DH, </a:t>
            </a:r>
            <a:r>
              <a:rPr lang="en-US" sz="1400" dirty="0" err="1"/>
              <a:t>Alkhouri</a:t>
            </a:r>
            <a:r>
              <a:rPr lang="en-US" sz="1400" dirty="0"/>
              <a:t> N. Long-term management of liver transplant recipients: A review for the internist. Cleve Clin J Med. 2015 Jun;82(6):361-72</a:t>
            </a:r>
          </a:p>
        </p:txBody>
      </p:sp>
    </p:spTree>
    <p:extLst>
      <p:ext uri="{BB962C8B-B14F-4D97-AF65-F5344CB8AC3E}">
        <p14:creationId xmlns:p14="http://schemas.microsoft.com/office/powerpoint/2010/main" val="365280411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9C82EA7-557F-34FA-E4D3-4A8A15C60CA8}"/>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996287" y="0"/>
            <a:ext cx="10199426" cy="5998410"/>
          </a:xfrm>
          <a:prstGeom prst="rect">
            <a:avLst/>
          </a:prstGeom>
        </p:spPr>
      </p:pic>
      <p:sp>
        <p:nvSpPr>
          <p:cNvPr id="7" name="TextBox 6">
            <a:extLst>
              <a:ext uri="{FF2B5EF4-FFF2-40B4-BE49-F238E27FC236}">
                <a16:creationId xmlns:a16="http://schemas.microsoft.com/office/drawing/2014/main" id="{2319579C-99D8-4920-A07C-E668480A5D33}"/>
              </a:ext>
            </a:extLst>
          </p:cNvPr>
          <p:cNvSpPr txBox="1"/>
          <p:nvPr/>
        </p:nvSpPr>
        <p:spPr>
          <a:xfrm>
            <a:off x="0" y="6488668"/>
            <a:ext cx="12201098" cy="369332"/>
          </a:xfrm>
          <a:prstGeom prst="rect">
            <a:avLst/>
          </a:prstGeom>
          <a:noFill/>
        </p:spPr>
        <p:txBody>
          <a:bodyPr wrap="square">
            <a:spAutoFit/>
          </a:bodyPr>
          <a:lstStyle/>
          <a:p>
            <a:pPr algn="r"/>
            <a:r>
              <a:rPr lang="en-US" dirty="0" err="1"/>
              <a:t>Tincopa</a:t>
            </a:r>
            <a:r>
              <a:rPr lang="en-US" dirty="0"/>
              <a:t> M. CAQ Corner: Long-term medical complications of liver transplantation. Liver </a:t>
            </a:r>
            <a:r>
              <a:rPr lang="en-US" dirty="0" err="1"/>
              <a:t>Transpl</a:t>
            </a:r>
            <a:r>
              <a:rPr lang="en-US" dirty="0"/>
              <a:t>. 2022;00:1–7 </a:t>
            </a:r>
          </a:p>
        </p:txBody>
      </p:sp>
    </p:spTree>
    <p:extLst>
      <p:ext uri="{BB962C8B-B14F-4D97-AF65-F5344CB8AC3E}">
        <p14:creationId xmlns:p14="http://schemas.microsoft.com/office/powerpoint/2010/main" val="172804064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F2082-D34C-13EF-3F8E-E03E5DE1FD51}"/>
              </a:ext>
            </a:extLst>
          </p:cNvPr>
          <p:cNvSpPr>
            <a:spLocks noGrp="1"/>
          </p:cNvSpPr>
          <p:nvPr>
            <p:ph type="title"/>
          </p:nvPr>
        </p:nvSpPr>
        <p:spPr/>
        <p:txBody>
          <a:bodyPr/>
          <a:lstStyle/>
          <a:p>
            <a:r>
              <a:rPr lang="en-US" dirty="0"/>
              <a:t>Take-home Points</a:t>
            </a:r>
          </a:p>
        </p:txBody>
      </p:sp>
      <p:sp>
        <p:nvSpPr>
          <p:cNvPr id="3" name="Content Placeholder 2">
            <a:extLst>
              <a:ext uri="{FF2B5EF4-FFF2-40B4-BE49-F238E27FC236}">
                <a16:creationId xmlns:a16="http://schemas.microsoft.com/office/drawing/2014/main" id="{35D85ABB-5A14-75CD-750A-107E4BB428CE}"/>
              </a:ext>
            </a:extLst>
          </p:cNvPr>
          <p:cNvSpPr>
            <a:spLocks noGrp="1"/>
          </p:cNvSpPr>
          <p:nvPr>
            <p:ph idx="1"/>
          </p:nvPr>
        </p:nvSpPr>
        <p:spPr/>
        <p:txBody>
          <a:bodyPr>
            <a:normAutofit lnSpcReduction="10000"/>
          </a:bodyPr>
          <a:lstStyle/>
          <a:p>
            <a:r>
              <a:rPr lang="en-US" dirty="0"/>
              <a:t>Liver transplant is worth it! (75%+ </a:t>
            </a:r>
            <a:r>
              <a:rPr lang="en-US" dirty="0" err="1"/>
              <a:t>surv</a:t>
            </a:r>
            <a:r>
              <a:rPr lang="en-US" dirty="0"/>
              <a:t>. 5y regardless of MELD)</a:t>
            </a:r>
          </a:p>
          <a:p>
            <a:r>
              <a:rPr lang="en-US" dirty="0"/>
              <a:t>Refer any decompensated or MELD&gt;15 (or LESS? 13?)</a:t>
            </a:r>
          </a:p>
          <a:p>
            <a:pPr lvl="1"/>
            <a:r>
              <a:rPr lang="en-US" dirty="0"/>
              <a:t>Don’t forget liver donor for low </a:t>
            </a:r>
            <a:r>
              <a:rPr lang="en-US" dirty="0" err="1"/>
              <a:t>MELDers</a:t>
            </a:r>
            <a:r>
              <a:rPr lang="en-US" dirty="0"/>
              <a:t> and Exception points</a:t>
            </a:r>
          </a:p>
          <a:p>
            <a:r>
              <a:rPr lang="en-US" dirty="0">
                <a:highlight>
                  <a:srgbClr val="FFFF00"/>
                </a:highlight>
              </a:rPr>
              <a:t>Last drink being one day ago, </a:t>
            </a:r>
            <a:r>
              <a:rPr lang="en-US" b="1" dirty="0">
                <a:highlight>
                  <a:srgbClr val="FFFF00"/>
                </a:highlight>
              </a:rPr>
              <a:t>does not</a:t>
            </a:r>
            <a:r>
              <a:rPr lang="en-US" dirty="0">
                <a:highlight>
                  <a:srgbClr val="FFFF00"/>
                </a:highlight>
              </a:rPr>
              <a:t> preclude transplant. </a:t>
            </a:r>
          </a:p>
          <a:p>
            <a:r>
              <a:rPr lang="en-US" dirty="0"/>
              <a:t>If the transplant thought comes to your mind… just refer!</a:t>
            </a:r>
          </a:p>
          <a:p>
            <a:r>
              <a:rPr lang="en-US" dirty="0"/>
              <a:t>Don’t let tacrolimus scare you (especially 10-20 years post </a:t>
            </a:r>
            <a:r>
              <a:rPr lang="en-US" dirty="0" err="1"/>
              <a:t>txp</a:t>
            </a:r>
            <a:r>
              <a:rPr lang="en-US" dirty="0"/>
              <a:t>)</a:t>
            </a:r>
          </a:p>
          <a:p>
            <a:r>
              <a:rPr lang="en-US" dirty="0"/>
              <a:t>“Elevated LFTs” in post </a:t>
            </a:r>
            <a:r>
              <a:rPr lang="en-US" dirty="0" err="1"/>
              <a:t>Txp</a:t>
            </a:r>
            <a:r>
              <a:rPr lang="en-US" dirty="0"/>
              <a:t> = rejection until proven otherwise</a:t>
            </a:r>
          </a:p>
          <a:p>
            <a:r>
              <a:rPr lang="en-US" dirty="0"/>
              <a:t>Biliary strictures are common! ERCP+/-Bx but </a:t>
            </a:r>
            <a:r>
              <a:rPr lang="en-US" i="1" dirty="0"/>
              <a:t>get MRCP anyways</a:t>
            </a:r>
          </a:p>
          <a:p>
            <a:r>
              <a:rPr lang="en-US" dirty="0"/>
              <a:t>Metabolic syndrome and CKD are major problems long term immunosuppression</a:t>
            </a:r>
          </a:p>
          <a:p>
            <a:endParaRPr lang="en-US" dirty="0"/>
          </a:p>
        </p:txBody>
      </p:sp>
    </p:spTree>
    <p:extLst>
      <p:ext uri="{BB962C8B-B14F-4D97-AF65-F5344CB8AC3E}">
        <p14:creationId xmlns:p14="http://schemas.microsoft.com/office/powerpoint/2010/main" val="247417796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94FEC71-71A3-113A-D34D-634B97A5666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209800" y="160259"/>
            <a:ext cx="7772400" cy="167161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grpSp>
        <p:nvGrpSpPr>
          <p:cNvPr id="10" name="Group 9">
            <a:extLst>
              <a:ext uri="{FF2B5EF4-FFF2-40B4-BE49-F238E27FC236}">
                <a16:creationId xmlns:a16="http://schemas.microsoft.com/office/drawing/2014/main" id="{A0C1A767-4D1D-0E41-E4F2-3A8F92F223DF}"/>
              </a:ext>
            </a:extLst>
          </p:cNvPr>
          <p:cNvGrpSpPr/>
          <p:nvPr/>
        </p:nvGrpSpPr>
        <p:grpSpPr>
          <a:xfrm>
            <a:off x="168228" y="2228622"/>
            <a:ext cx="5498553" cy="3773362"/>
            <a:chOff x="137055" y="2187058"/>
            <a:chExt cx="5498553" cy="3773362"/>
          </a:xfrm>
        </p:grpSpPr>
        <p:pic>
          <p:nvPicPr>
            <p:cNvPr id="6" name="Picture 5">
              <a:extLst>
                <a:ext uri="{FF2B5EF4-FFF2-40B4-BE49-F238E27FC236}">
                  <a16:creationId xmlns:a16="http://schemas.microsoft.com/office/drawing/2014/main" id="{F9F81D89-EF0A-F8E3-8E00-FE7520E087E2}"/>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37055" y="2187058"/>
              <a:ext cx="2584322" cy="3595303"/>
            </a:xfrm>
            <a:prstGeom prst="rect">
              <a:avLst/>
            </a:prstGeom>
          </p:spPr>
        </p:pic>
        <p:pic>
          <p:nvPicPr>
            <p:cNvPr id="7" name="Picture 6">
              <a:extLst>
                <a:ext uri="{FF2B5EF4-FFF2-40B4-BE49-F238E27FC236}">
                  <a16:creationId xmlns:a16="http://schemas.microsoft.com/office/drawing/2014/main" id="{081A5963-DAFA-02BD-7C58-89C8DBA4477F}"/>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2603632" y="2401426"/>
              <a:ext cx="3031976" cy="3558994"/>
            </a:xfrm>
            <a:prstGeom prst="rect">
              <a:avLst/>
            </a:prstGeom>
          </p:spPr>
        </p:pic>
      </p:grpSp>
      <p:grpSp>
        <p:nvGrpSpPr>
          <p:cNvPr id="11" name="Group 10">
            <a:extLst>
              <a:ext uri="{FF2B5EF4-FFF2-40B4-BE49-F238E27FC236}">
                <a16:creationId xmlns:a16="http://schemas.microsoft.com/office/drawing/2014/main" id="{EC5B04FE-F93C-9F9A-3446-44309E34DED9}"/>
              </a:ext>
            </a:extLst>
          </p:cNvPr>
          <p:cNvGrpSpPr/>
          <p:nvPr/>
        </p:nvGrpSpPr>
        <p:grpSpPr>
          <a:xfrm>
            <a:off x="5635608" y="2325661"/>
            <a:ext cx="6206665" cy="3814434"/>
            <a:chOff x="5773468" y="2325662"/>
            <a:chExt cx="6206665" cy="3814434"/>
          </a:xfrm>
        </p:grpSpPr>
        <p:pic>
          <p:nvPicPr>
            <p:cNvPr id="8" name="Picture 7">
              <a:extLst>
                <a:ext uri="{FF2B5EF4-FFF2-40B4-BE49-F238E27FC236}">
                  <a16:creationId xmlns:a16="http://schemas.microsoft.com/office/drawing/2014/main" id="{BCD2D77B-628D-01E0-7D19-4668B8C44B1B}"/>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5773468" y="2325663"/>
              <a:ext cx="3567132" cy="3814433"/>
            </a:xfrm>
            <a:prstGeom prst="rect">
              <a:avLst/>
            </a:prstGeom>
          </p:spPr>
        </p:pic>
        <p:pic>
          <p:nvPicPr>
            <p:cNvPr id="9" name="Picture 8">
              <a:extLst>
                <a:ext uri="{FF2B5EF4-FFF2-40B4-BE49-F238E27FC236}">
                  <a16:creationId xmlns:a16="http://schemas.microsoft.com/office/drawing/2014/main" id="{8CD28756-862B-6F25-0D3B-5A6C2761B841}"/>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9081164" y="2325662"/>
              <a:ext cx="2898969" cy="3814433"/>
            </a:xfrm>
            <a:prstGeom prst="rect">
              <a:avLst/>
            </a:prstGeom>
          </p:spPr>
        </p:pic>
      </p:grpSp>
    </p:spTree>
    <p:extLst>
      <p:ext uri="{BB962C8B-B14F-4D97-AF65-F5344CB8AC3E}">
        <p14:creationId xmlns:p14="http://schemas.microsoft.com/office/powerpoint/2010/main" val="256452235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BCCD3A7-2055-70C0-7C9B-827707889D05}"/>
              </a:ext>
            </a:extLst>
          </p:cNvPr>
          <p:cNvSpPr>
            <a:spLocks noGrp="1"/>
          </p:cNvSpPr>
          <p:nvPr>
            <p:ph type="title"/>
          </p:nvPr>
        </p:nvSpPr>
        <p:spPr>
          <a:xfrm>
            <a:off x="831850" y="3728562"/>
            <a:ext cx="10515600" cy="2050912"/>
          </a:xfrm>
        </p:spPr>
        <p:txBody>
          <a:bodyPr/>
          <a:lstStyle/>
          <a:p>
            <a:r>
              <a:rPr lang="en-US" dirty="0"/>
              <a:t>Thank you</a:t>
            </a:r>
          </a:p>
        </p:txBody>
      </p:sp>
      <p:sp>
        <p:nvSpPr>
          <p:cNvPr id="5" name="Text Placeholder 4">
            <a:extLst>
              <a:ext uri="{FF2B5EF4-FFF2-40B4-BE49-F238E27FC236}">
                <a16:creationId xmlns:a16="http://schemas.microsoft.com/office/drawing/2014/main" id="{A5D7B696-E0D3-42CE-A461-9CAAAC5C4E50}"/>
              </a:ext>
            </a:extLst>
          </p:cNvPr>
          <p:cNvSpPr>
            <a:spLocks noGrp="1"/>
          </p:cNvSpPr>
          <p:nvPr>
            <p:ph type="body" idx="1"/>
          </p:nvPr>
        </p:nvSpPr>
        <p:spPr>
          <a:xfrm>
            <a:off x="831850" y="5779474"/>
            <a:ext cx="10515600" cy="1078526"/>
          </a:xfrm>
        </p:spPr>
        <p:txBody>
          <a:bodyPr/>
          <a:lstStyle/>
          <a:p>
            <a:r>
              <a:rPr lang="en-US" i="1" dirty="0"/>
              <a:t>Questions?</a:t>
            </a:r>
          </a:p>
        </p:txBody>
      </p:sp>
      <p:pic>
        <p:nvPicPr>
          <p:cNvPr id="5122" name="Picture 2" descr="&quot;I'm recommending a transplant. I'm transplanting you to another hospital.&quot;">
            <a:extLst>
              <a:ext uri="{FF2B5EF4-FFF2-40B4-BE49-F238E27FC236}">
                <a16:creationId xmlns:a16="http://schemas.microsoft.com/office/drawing/2014/main" id="{84578546-4554-B09A-BB64-F635DE289C1B}"/>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4182006" y="149070"/>
            <a:ext cx="3827988" cy="45096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64449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1785</TotalTime>
  <Words>1953</Words>
  <Application>Microsoft Macintosh PowerPoint</Application>
  <PresentationFormat>Widescreen</PresentationFormat>
  <Paragraphs>257</Paragraphs>
  <Slides>86</Slides>
  <Notes>1</Notes>
  <HiddenSlides>0</HiddenSlides>
  <MMClips>1</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86</vt:i4>
      </vt:variant>
    </vt:vector>
  </HeadingPairs>
  <TitlesOfParts>
    <vt:vector size="96" baseType="lpstr">
      <vt:lpstr>Arial</vt:lpstr>
      <vt:lpstr>BlinkMacSystemFont</vt:lpstr>
      <vt:lpstr>Calibri</vt:lpstr>
      <vt:lpstr>Calibri Light</vt:lpstr>
      <vt:lpstr>Georgia</vt:lpstr>
      <vt:lpstr>Impact</vt:lpstr>
      <vt:lpstr>Relative Book</vt:lpstr>
      <vt:lpstr>Rokkitt</vt:lpstr>
      <vt:lpstr>Times New Roman</vt:lpstr>
      <vt:lpstr>Office Theme</vt:lpstr>
      <vt:lpstr>Liver Transplantation Basics</vt:lpstr>
      <vt:lpstr>PowerPoint Presentation</vt:lpstr>
      <vt:lpstr>PowerPoint Presentation</vt:lpstr>
      <vt:lpstr>PowerPoint Presentation</vt:lpstr>
      <vt:lpstr>PowerPoint Presentation</vt:lpstr>
      <vt:lpstr>PowerPoint Presentation</vt:lpstr>
      <vt:lpstr>PowerPoint Presentation</vt:lpstr>
      <vt:lpstr>Indications and Contraindications</vt:lpstr>
      <vt:lpstr>PowerPoint Presentation</vt:lpstr>
      <vt:lpstr>PowerPoint Presentation</vt:lpstr>
      <vt:lpstr>PowerPoint Presentation</vt:lpstr>
      <vt:lpstr>Is liver transplant worth all the trouble?</vt:lpstr>
      <vt:lpstr>PowerPoint Presentation</vt:lpstr>
      <vt:lpstr>PowerPoint Presentation</vt:lpstr>
      <vt:lpstr>PowerPoint Presentation</vt:lpstr>
      <vt:lpstr>PowerPoint Presentation</vt:lpstr>
      <vt:lpstr>PowerPoint Presentation</vt:lpstr>
      <vt:lpstr>Overall survival after adult liver transplantation  </vt:lpstr>
      <vt:lpstr>How does a patient end up with a liver transplant?</vt:lpstr>
      <vt:lpstr>Whom to refer?</vt:lpstr>
      <vt:lpstr>Why MELD of 15 Became Dogma?</vt:lpstr>
      <vt:lpstr>Benefit below MELD 15?</vt:lpstr>
      <vt:lpstr>PowerPoint Presentation</vt:lpstr>
      <vt:lpstr>PowerPoint Presentation</vt:lpstr>
      <vt:lpstr>The High Burden of Mortality in Low MELD Patients  with Cirrhosis on the Wait List </vt:lpstr>
      <vt:lpstr>Early Liver Transplantation for Severe Alcoholic Hepatitis</vt:lpstr>
      <vt:lpstr>PowerPoint Presentation</vt:lpstr>
      <vt:lpstr>Early Liver Transplantation for Severe Alcoholic Hepatitis</vt:lpstr>
      <vt:lpstr>PowerPoint Presentation</vt:lpstr>
      <vt:lpstr>Transplant Evaluation Process</vt:lpstr>
      <vt:lpstr>PowerPoint Presentation</vt:lpstr>
      <vt:lpstr>PowerPoint Presentation</vt:lpstr>
      <vt:lpstr>How do we match donors and recipients?</vt:lpstr>
      <vt:lpstr>Donor Selection</vt:lpstr>
      <vt:lpstr>Donor Selection</vt:lpstr>
      <vt:lpstr>Transplant Shop Talk</vt:lpstr>
      <vt:lpstr>Transplant Shop Talk</vt:lpstr>
      <vt:lpstr>MELD Exceptions Points</vt:lpstr>
      <vt:lpstr>Standard MELD Exception Points</vt:lpstr>
      <vt:lpstr>Median MELD At Transplant (MMaT)</vt:lpstr>
      <vt:lpstr>How do we use MMaT?</vt:lpstr>
      <vt:lpstr>So how do we allocate the deceased donor livers?</vt:lpstr>
      <vt:lpstr>PowerPoint Presentation</vt:lpstr>
      <vt:lpstr>PowerPoint Presentation</vt:lpstr>
      <vt:lpstr>PowerPoint Presentation</vt:lpstr>
      <vt:lpstr>Types of Liver Donors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Post Transplant Anatomy</vt:lpstr>
      <vt:lpstr>Transplant Immunology 101</vt:lpstr>
      <vt:lpstr>PowerPoint Presentation</vt:lpstr>
      <vt:lpstr>PowerPoint Presentation</vt:lpstr>
      <vt:lpstr>PowerPoint Presentation</vt:lpstr>
      <vt:lpstr>PowerPoint Presentation</vt:lpstr>
      <vt:lpstr>Case Presentation</vt:lpstr>
      <vt:lpstr>Case</vt:lpstr>
      <vt:lpstr>PowerPoint Presentation</vt:lpstr>
      <vt:lpstr>PowerPoint Presentation</vt:lpstr>
      <vt:lpstr>PowerPoint Presentation</vt:lpstr>
      <vt:lpstr>Rejection</vt:lpstr>
      <vt:lpstr>Liver Transplant Rejection</vt:lpstr>
      <vt:lpstr>Acute Cellular Rejection</vt:lpstr>
      <vt:lpstr>PowerPoint Presentation</vt:lpstr>
      <vt:lpstr>PowerPoint Presentation</vt:lpstr>
      <vt:lpstr>Quiz</vt:lpstr>
      <vt:lpstr>Post Liver Transplant Biliary Complications</vt:lpstr>
      <vt:lpstr>Why does ischemic cholangiopathy happen?</vt:lpstr>
      <vt:lpstr>PowerPoint Presentation</vt:lpstr>
      <vt:lpstr>Biliary Complications</vt:lpstr>
      <vt:lpstr>PowerPoint Presentation</vt:lpstr>
      <vt:lpstr>Long-term Complications</vt:lpstr>
      <vt:lpstr>PowerPoint Presentation</vt:lpstr>
      <vt:lpstr>PowerPoint Presentation</vt:lpstr>
      <vt:lpstr>PowerPoint Presentation</vt:lpstr>
      <vt:lpstr>Take-home Points</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Liver Transplantation Basics for the General Gastroenterologist</dc:title>
  <dc:creator>Mohammad Almeqdadi</dc:creator>
  <cp:lastModifiedBy>Almeqdadi, Mohammad</cp:lastModifiedBy>
  <cp:revision>387</cp:revision>
  <dcterms:created xsi:type="dcterms:W3CDTF">2023-05-26T18:12:59Z</dcterms:created>
  <dcterms:modified xsi:type="dcterms:W3CDTF">2026-09-22T19:02:38Z</dcterms:modified>
</cp:coreProperties>
</file>