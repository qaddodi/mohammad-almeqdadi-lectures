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3.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4.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7.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f1c235-0dc4-297a-35a2-b9c6ee9136e3}">
          <p14:sldIdLst>
            <p14:sldId id="256"/>
            <p14:sldId id="257"/>
          </p14:sldIdLst>
        </p14:section>
        <p14:section name="History" id="{b2746405-71f0-b184-4ab7-96d2a83aaead}">
          <p14:sldIdLst>
            <p14:sldId id="258"/>
            <p14:sldId id="259"/>
            <p14:sldId id="260"/>
            <p14:sldId id="261"/>
            <p14:sldId id="262"/>
            <p14:sldId id="263"/>
          </p14:sldIdLst>
        </p14:section>
        <p14:section name="Testing" id="{f1827230-c2b6-c618-0995-f6b8ae8a4810}">
          <p14:sldIdLst>
            <p14:sldId id="264"/>
            <p14:sldId id="265"/>
            <p14:sldId id="266"/>
            <p14:sldId id="267"/>
            <p14:sldId id="268"/>
            <p14:sldId id="269"/>
            <p14:sldId id="270"/>
          </p14:sldIdLst>
        </p14:section>
        <p14:section name="Serology" id="{04e34461-24eb-a0c7-23d8-e19f51633613}">
          <p14:sldIdLst>
            <p14:sldId id="271"/>
            <p14:sldId id="272"/>
            <p14:sldId id="273"/>
            <p14:sldId id="274"/>
          </p14:sldIdLst>
        </p14:section>
        <p14:section name="Phases" id="{6f378f1a-66e8-4dca-b47b-565aeff4d3ce}">
          <p14:sldIdLst>
            <p14:sldId id="275"/>
            <p14:sldId id="276"/>
            <p14:sldId id="277"/>
            <p14:sldId id="278"/>
            <p14:sldId id="279"/>
            <p14:sldId id="280"/>
            <p14:sldId id="281"/>
            <p14:sldId id="282"/>
          </p14:sldIdLst>
        </p14:section>
        <p14:section name="Who to treat" id="{dbf16785-0cf5-d7a1-e87a-46517b1d4c12}">
          <p14:sldIdLst>
            <p14:sldId id="283"/>
            <p14:sldId id="284"/>
            <p14:sldId id="285"/>
            <p14:sldId id="286"/>
            <p14:sldId id="287"/>
            <p14:sldId id="288"/>
            <p14:sldId id="289"/>
            <p14:sldId id="290"/>
            <p14:sldId id="291"/>
            <p14:sldId id="292"/>
            <p14:sldId id="293"/>
            <p14:sldId id="294"/>
            <p14:sldId id="295"/>
          </p14:sldIdLst>
        </p14:section>
        <p14:section name="Drugs" id="{6a0d5e1d-c5ed-b236-0bd0-e07c89fb5613}">
          <p14:sldIdLst>
            <p14:sldId id="296"/>
            <p14:sldId id="297"/>
            <p14:sldId id="298"/>
            <p14:sldId id="299"/>
            <p14:sldId id="300"/>
            <p14:sldId id="301"/>
            <p14:sldId id="302"/>
          </p14:sldIdLst>
        </p14:section>
        <p14:section name="HCC risk" id="{3d83a6a9-ca9f-af18-1b08-38b0ab7dc7e7}">
          <p14:sldIdLst>
            <p14:sldId id="303"/>
            <p14:sldId id="304"/>
            <p14:sldId id="305"/>
            <p14:sldId id="306"/>
            <p14:sldId id="307"/>
            <p14:sldId id="308"/>
            <p14:sldId id="309"/>
            <p14:sldId id="310"/>
          </p14:sldIdLst>
        </p14:section>
        <p14:section name="Special situations" id="{1ca46cad-77e2-4e2e-4d92-c57a6767b003}">
          <p14:sldIdLst>
            <p14:sldId id="311"/>
            <p14:sldId id="312"/>
            <p14:sldId id="313"/>
            <p14:sldId id="314"/>
            <p14:sldId id="315"/>
            <p14:sldId id="316"/>
            <p14:sldId id="317"/>
            <p14:sldId id="318"/>
            <p14:sldId id="319"/>
            <p14:sldId id="320"/>
            <p14:sldId id="321"/>
            <p14:sldId id="322"/>
            <p14:sldId id="323"/>
            <p14:sldId id="324"/>
            <p14:sldId id="325"/>
          </p14:sldIdLst>
        </p14:section>
        <p14:section name="Stopping and what is new" id="{a57a5cb8-2ab2-4152-5268-39f298f1c385}">
          <p14:sldIdLst>
            <p14:sldId id="326"/>
            <p14:sldId id="327"/>
            <p14:sldId id="328"/>
            <p14:sldId id="329"/>
            <p14:sldId id="330"/>
            <p14:sldId id="331"/>
            <p14:sldId id="332"/>
          </p14:sldIdLst>
        </p14:section>
        <p14:section name="Close" id="{24173b20-2f95-dca8-125a-53e112cbf2aa}">
          <p14:sldIdLst>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reviewer's comparison (dossier A5). ACR 2021 (rheumatoid arthritis): strong recommendation for prophylaxis in anti-HBc-positive patients starting rituximab regardless of HBsAg, and in HBsAg-positive patients starting any biologic or targeted synthetic DMARD; monitoring is conditionally preferred for HBsAg-negative anti-HBc-positive patients on other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8138160" cy="914400"/>
        </p:xfrm>
        <a:graphic>
          <a:graphicData uri="http://schemas.openxmlformats.org/drawingml/2006/table">
            <a:tbl>
              <a:tblPr/>
              <a:tblGrid>
                <a:gridCol w="2606040"/>
                <a:gridCol w="1645920"/>
                <a:gridCol w="3886200"/>
              </a:tblGrid>
              <a:tr h="8229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9052560" y="1371600"/>
            <a:ext cx="2743200" cy="2743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895344"/>
                <a:gridCol w="3355848"/>
                <a:gridCol w="3474720"/>
              </a:tblGrid>
              <a:tr h="8229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HCC, tenofovir vs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Lee 2020, propensity 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3,022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HR 1.03 (0.70 to 1.51)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Choi 2023, individual patient meta-analysis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42,939 in 11 studies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Adjusted HR 0.77 (0.61 to 0.98)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Yoo 2025, TAF vs TDF, Korea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17,537 in each matched group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12.38 vs 15.39 per 1,000 person-years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Prophylaxis: the guidelines compared</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697480"/>
                <a:gridCol w="2249424"/>
                <a:gridCol w="1892808"/>
                <a:gridCol w="2615184"/>
                <a:gridCol w="1271016"/>
              </a:tblGrid>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AGA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AASLD 2018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EASL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ASCO 2020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Anti-CD20, anti-HBc positive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Drug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After the last dose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anti-CD20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to 12 months, 18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12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If monitoring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ALT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Every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By regimen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PMID 39863345; AASLD PMID 29405329; EASL PMID 40348683; ASCO 2020 PMID 32716741; ACR 2021 PMID 34101387.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6" name="Body"/>
          <p:cNvSpPr txBox="1"/>
          <p:nvPr/>
        </p:nvSpPr>
        <p:spPr>
          <a:xfrm>
            <a:off x="1097280" y="3566160"/>
            <a:ext cx="7498080" cy="21945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318504"/>
                <a:gridCol w="1956816"/>
                <a:gridCol w="2450592"/>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399032"/>
                <a:gridCol w="9326880"/>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2026-10-28T14:17:55Z</dcterms:created>
  <dcterms:modified xsi:type="dcterms:W3CDTF">2026-10-28T14:17:55Z</dcterms:modified>
</cp:coreProperties>
</file>