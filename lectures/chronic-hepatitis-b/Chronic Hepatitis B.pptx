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charts/chart4.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charts/chart6.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charts/chart7.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ff9b56-bbc0-23e3-bf02-6cd72cd96935}">
          <p14:sldIdLst>
            <p14:sldId id="256"/>
            <p14:sldId id="257"/>
          </p14:sldIdLst>
        </p14:section>
        <p14:section name="History" id="{59f2978c-e209-723a-f1f6-ca2f988479f4}">
          <p14:sldIdLst>
            <p14:sldId id="258"/>
            <p14:sldId id="259"/>
            <p14:sldId id="260"/>
            <p14:sldId id="261"/>
            <p14:sldId id="262"/>
            <p14:sldId id="263"/>
          </p14:sldIdLst>
        </p14:section>
        <p14:section name="Testing" id="{ab99338c-a09a-fa2e-d014-ffdc12dab189}">
          <p14:sldIdLst>
            <p14:sldId id="264"/>
            <p14:sldId id="265"/>
            <p14:sldId id="266"/>
            <p14:sldId id="267"/>
            <p14:sldId id="268"/>
            <p14:sldId id="269"/>
            <p14:sldId id="270"/>
          </p14:sldIdLst>
        </p14:section>
        <p14:section name="Serology" id="{8de5c590-b9ac-c6bc-1913-2ba7dea2d856}">
          <p14:sldIdLst>
            <p14:sldId id="271"/>
            <p14:sldId id="272"/>
            <p14:sldId id="273"/>
            <p14:sldId id="274"/>
          </p14:sldIdLst>
        </p14:section>
        <p14:section name="Phases" id="{a9c176e4-2fe6-a4f7-3222-948977445cb3}">
          <p14:sldIdLst>
            <p14:sldId id="275"/>
            <p14:sldId id="276"/>
            <p14:sldId id="277"/>
            <p14:sldId id="278"/>
            <p14:sldId id="279"/>
            <p14:sldId id="280"/>
            <p14:sldId id="281"/>
            <p14:sldId id="282"/>
          </p14:sldIdLst>
        </p14:section>
        <p14:section name="Who to treat" id="{864b53e7-2c1d-7b90-99d5-818bd023382b}">
          <p14:sldIdLst>
            <p14:sldId id="283"/>
            <p14:sldId id="284"/>
            <p14:sldId id="285"/>
            <p14:sldId id="286"/>
            <p14:sldId id="287"/>
            <p14:sldId id="288"/>
            <p14:sldId id="289"/>
            <p14:sldId id="290"/>
            <p14:sldId id="291"/>
            <p14:sldId id="292"/>
            <p14:sldId id="293"/>
            <p14:sldId id="294"/>
            <p14:sldId id="295"/>
          </p14:sldIdLst>
        </p14:section>
        <p14:section name="Drugs" id="{7a1c6e79-d07e-7532-3e19-43c478be5987}">
          <p14:sldIdLst>
            <p14:sldId id="296"/>
            <p14:sldId id="297"/>
            <p14:sldId id="298"/>
            <p14:sldId id="299"/>
            <p14:sldId id="300"/>
            <p14:sldId id="301"/>
            <p14:sldId id="302"/>
          </p14:sldIdLst>
        </p14:section>
        <p14:section name="HCC risk" id="{435232cd-a984-6daa-f619-04de18c84cd4}">
          <p14:sldIdLst>
            <p14:sldId id="303"/>
            <p14:sldId id="304"/>
            <p14:sldId id="305"/>
            <p14:sldId id="306"/>
            <p14:sldId id="307"/>
            <p14:sldId id="308"/>
            <p14:sldId id="309"/>
            <p14:sldId id="310"/>
          </p14:sldIdLst>
        </p14:section>
        <p14:section name="Special situations" id="{3784153e-f5fc-215c-8888-500634031c61}">
          <p14:sldIdLst>
            <p14:sldId id="311"/>
            <p14:sldId id="312"/>
            <p14:sldId id="313"/>
            <p14:sldId id="314"/>
            <p14:sldId id="315"/>
            <p14:sldId id="316"/>
            <p14:sldId id="317"/>
            <p14:sldId id="318"/>
            <p14:sldId id="319"/>
            <p14:sldId id="320"/>
            <p14:sldId id="321"/>
            <p14:sldId id="322"/>
            <p14:sldId id="323"/>
            <p14:sldId id="324"/>
            <p14:sldId id="325"/>
          </p14:sldIdLst>
        </p14:section>
        <p14:section name="Stopping and what is new" id="{340baf4f-e83a-a653-a650-816fca350477}">
          <p14:sldIdLst>
            <p14:sldId id="326"/>
            <p14:sldId id="327"/>
            <p14:sldId id="328"/>
            <p14:sldId id="329"/>
            <p14:sldId id="330"/>
            <p14:sldId id="331"/>
            <p14:sldId id="332"/>
          </p14:sldIdLst>
        </p14:section>
        <p14:section name="Close" id="{001693e3-de07-5178-6941-a21cddb0b311}">
          <p14:sldIdLst>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Treated</c:v>
                </c:pt>
              </c:strCache>
            </c:strRef>
          </c:tx>
          <c:spPr>
            <a:solidFill>
              <a:srgbClr val="1F4E79"/>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 years</c:v>
                  </c:pt>
                  <c:pt idx="1">
                    <c:v>10 years</c:v>
                  </c:pt>
                  <c:pt idx="2">
                    <c:v>15 years</c:v>
                  </c:pt>
                </c:lvl>
              </c:multiLvlStrCache>
            </c:multiLvlStrRef>
          </c:cat>
          <c:val>
            <c:numRef>
              <c:f>Sheet1!$B$2:$B$4</c:f>
              <c:numCache>
                <c:formatCode>General</c:formatCode>
                <c:ptCount val="3"/>
                <c:pt idx="0">
                  <c:v>3</c:v>
                </c:pt>
                <c:pt idx="1">
                  <c:v>4</c:v>
                </c:pt>
                <c:pt idx="2">
                  <c:v>9</c:v>
                </c:pt>
              </c:numCache>
            </c:numRef>
          </c:val>
        </c:ser>
        <c:ser>
          <c:idx val="1"/>
          <c:order val="1"/>
          <c:tx>
            <c:strRef>
              <c:f>Sheet1!$C$1</c:f>
              <c:strCache>
                <c:ptCount val="1"/>
                <c:pt idx="0">
                  <c:v>Untreated</c:v>
                </c:pt>
              </c:strCache>
            </c:strRef>
          </c:tx>
          <c:spPr>
            <a:solidFill>
              <a:srgbClr val="9DB4CA"/>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 years</c:v>
                  </c:pt>
                  <c:pt idx="1">
                    <c:v>10 years</c:v>
                  </c:pt>
                  <c:pt idx="2">
                    <c:v>15 years</c:v>
                  </c:pt>
                </c:lvl>
              </c:multiLvlStrCache>
            </c:multiLvlStrRef>
          </c:cat>
          <c:val>
            <c:numRef>
              <c:f>Sheet1!$C$2:$C$4</c:f>
              <c:numCache>
                <c:formatCode>General</c:formatCode>
                <c:ptCount val="3"/>
                <c:pt idx="0">
                  <c:v>3</c:v>
                </c:pt>
                <c:pt idx="1">
                  <c:v>15</c:v>
                </c:pt>
                <c:pt idx="2">
                  <c:v>19</c:v>
                </c:pt>
              </c:numCache>
            </c:numRef>
          </c:val>
        </c:ser>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TDF</c:v>
                </c:pt>
              </c:strCache>
            </c:strRef>
          </c:tx>
          <c:spPr>
            <a:solidFill>
              <a:srgbClr val="1F4E79"/>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Progression of 1 or more Ishak stage</c:v>
                  </c:pt>
                </c:lvl>
              </c:multiLvlStrCache>
            </c:multiLvlStrRef>
          </c:cat>
          <c:val>
            <c:numRef>
              <c:f>Sheet1!$B$2:$B$2</c:f>
              <c:numCache>
                <c:formatCode>General</c:formatCode>
                <c:ptCount val="1"/>
                <c:pt idx="0">
                  <c:v>26</c:v>
                </c:pt>
              </c:numCache>
            </c:numRef>
          </c:val>
        </c:ser>
        <c:ser>
          <c:idx val="1"/>
          <c:order val="1"/>
          <c:tx>
            <c:strRef>
              <c:f>Sheet1!$C$1</c:f>
              <c:strCache>
                <c:ptCount val="1"/>
                <c:pt idx="0">
                  <c:v>Placebo</c:v>
                </c:pt>
              </c:strCache>
            </c:strRef>
          </c:tx>
          <c:spPr>
            <a:solidFill>
              <a:srgbClr val="9DB4CA"/>
            </a:solidFill>
            <a:effectLst/>
          </c:spPr>
          <c:invertIfNegative val="0"/>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Progression of 1 or more Ishak stage</c:v>
                  </c:pt>
                </c:lvl>
              </c:multiLvlStrCache>
            </c:multiLvlStrRef>
          </c:cat>
          <c:val>
            <c:numRef>
              <c:f>Sheet1!$C$2:$C$2</c:f>
              <c:numCache>
                <c:formatCode>General</c:formatCode>
                <c:ptCount val="1"/>
                <c:pt idx="0">
                  <c:v>47</c:v>
                </c:pt>
              </c:numCache>
            </c:numRef>
          </c:val>
        </c:ser>
        <c:dLbls>
          <c:numFmt formatCode="0&quot;%&quot;" sourceLinked="0"/>
          <c:txPr>
            <a:bodyPr/>
            <a:lstStyle/>
            <a:p>
              <a:pPr>
                <a:defRPr b="1" i="0" strike="noStrike" sz="14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TAF</c:v>
                </c:pt>
              </c:strCache>
            </c:strRef>
          </c:tx>
          <c:spPr>
            <a:solidFill>
              <a:srgbClr val="1F4E79"/>
            </a:solidFill>
            <a:effectLst/>
          </c:spPr>
          <c:invertIfNegative val="0"/>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Hip, HBeAg-neg</c:v>
                  </c:pt>
                  <c:pt idx="1">
                    <c:v>Spine, HBeAg-neg</c:v>
                  </c:pt>
                  <c:pt idx="2">
                    <c:v>Hip, HBeAg-pos</c:v>
                  </c:pt>
                  <c:pt idx="3">
                    <c:v>Spine, HBeAg-pos</c:v>
                  </c:pt>
                </c:lvl>
              </c:multiLvlStrCache>
            </c:multiLvlStrRef>
          </c:cat>
          <c:val>
            <c:numRef>
              <c:f>Sheet1!$B$2:$B$5</c:f>
              <c:numCache>
                <c:formatCode>General</c:formatCode>
                <c:ptCount val="4"/>
                <c:pt idx="0">
                  <c:v>-0.29</c:v>
                </c:pt>
                <c:pt idx="1">
                  <c:v>-0.88</c:v>
                </c:pt>
                <c:pt idx="2">
                  <c:v>-0.1</c:v>
                </c:pt>
                <c:pt idx="3">
                  <c:v>-0.42</c:v>
                </c:pt>
              </c:numCache>
            </c:numRef>
          </c:val>
        </c:ser>
        <c:ser>
          <c:idx val="1"/>
          <c:order val="1"/>
          <c:tx>
            <c:strRef>
              <c:f>Sheet1!$C$1</c:f>
              <c:strCache>
                <c:ptCount val="1"/>
                <c:pt idx="0">
                  <c:v>TDF</c:v>
                </c:pt>
              </c:strCache>
            </c:strRef>
          </c:tx>
          <c:spPr>
            <a:solidFill>
              <a:srgbClr val="9DB4CA"/>
            </a:solidFill>
            <a:effectLst/>
          </c:spPr>
          <c:invertIfNegative val="0"/>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Hip, HBeAg-neg</c:v>
                  </c:pt>
                  <c:pt idx="1">
                    <c:v>Spine, HBeAg-neg</c:v>
                  </c:pt>
                  <c:pt idx="2">
                    <c:v>Hip, HBeAg-pos</c:v>
                  </c:pt>
                  <c:pt idx="3">
                    <c:v>Spine, HBeAg-pos</c:v>
                  </c:pt>
                </c:lvl>
              </c:multiLvlStrCache>
            </c:multiLvlStrRef>
          </c:cat>
          <c:val>
            <c:numRef>
              <c:f>Sheet1!$C$2:$C$5</c:f>
              <c:numCache>
                <c:formatCode>General</c:formatCode>
                <c:ptCount val="4"/>
                <c:pt idx="0">
                  <c:v>-2.16</c:v>
                </c:pt>
                <c:pt idx="1">
                  <c:v>-2.51</c:v>
                </c:pt>
                <c:pt idx="2">
                  <c:v>-1.72</c:v>
                </c:pt>
                <c:pt idx="3">
                  <c:v>-2.29</c:v>
                </c:pt>
              </c:numCache>
            </c:numRef>
          </c:val>
        </c:ser>
        <c:dLbls>
          <c:numFmt formatCode="0.00&quot;%&quot;" sourceLinked="0"/>
          <c:txPr>
            <a:bodyPr/>
            <a:lstStyle/>
            <a:p>
              <a:pPr>
                <a:defRPr b="1" i="0" strike="noStrike" sz="13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0"/>
          <c:min val="-3"/>
        </c:scaling>
        <c:delete val="0"/>
        <c:axPos val="l"/>
        <c:majorGridlines>
          <c:spPr>
            <a:ln w="6350" cap="flat">
              <a:solidFill>
                <a:srgbClr val="E3E3E3"/>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TDF</c:v>
                </c:pt>
              </c:strCache>
            </c:strRef>
          </c:tx>
          <c:spPr>
            <a:solidFill>
              <a:srgbClr val="1F4E79"/>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Pan 2016, intention to treat</c:v>
                  </c:pt>
                  <c:pt idx="1">
                    <c:v>Pan 2016, per protocol</c:v>
                  </c:pt>
                </c:lvl>
              </c:multiLvlStrCache>
            </c:multiLvlStrRef>
          </c:cat>
          <c:val>
            <c:numRef>
              <c:f>Sheet1!$B$2:$B$3</c:f>
              <c:numCache>
                <c:formatCode>General</c:formatCode>
                <c:ptCount val="2"/>
                <c:pt idx="0">
                  <c:v>5</c:v>
                </c:pt>
                <c:pt idx="1">
                  <c:v>0</c:v>
                </c:pt>
              </c:numCache>
            </c:numRef>
          </c:val>
        </c:ser>
        <c:ser>
          <c:idx val="1"/>
          <c:order val="1"/>
          <c:tx>
            <c:strRef>
              <c:f>Sheet1!$C$1</c:f>
              <c:strCache>
                <c:ptCount val="1"/>
                <c:pt idx="0">
                  <c:v>Usual care</c:v>
                </c:pt>
              </c:strCache>
            </c:strRef>
          </c:tx>
          <c:spPr>
            <a:solidFill>
              <a:srgbClr val="9DB4CA"/>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Pan 2016, intention to treat</c:v>
                  </c:pt>
                  <c:pt idx="1">
                    <c:v>Pan 2016, per protocol</c:v>
                  </c:pt>
                </c:lvl>
              </c:multiLvlStrCache>
            </c:multiLvlStrRef>
          </c:cat>
          <c:val>
            <c:numRef>
              <c:f>Sheet1!$C$2:$C$3</c:f>
              <c:numCache>
                <c:formatCode>General</c:formatCode>
                <c:ptCount val="2"/>
                <c:pt idx="0">
                  <c:v>18</c:v>
                </c:pt>
                <c:pt idx="1">
                  <c:v>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Bulevirtide</c:v>
                </c:pt>
              </c:strCache>
            </c:strRef>
          </c:tx>
          <c:spPr>
            <a:solidFill>
              <a:srgbClr val="1F4E79"/>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Combined response</c:v>
                  </c:pt>
                  <c:pt idx="1">
                    <c:v>HDV RNA undetectable</c:v>
                  </c:pt>
                </c:lvl>
              </c:multiLvlStrCache>
            </c:multiLvlStrRef>
          </c:cat>
          <c:val>
            <c:numRef>
              <c:f>Sheet1!$B$2:$B$3</c:f>
              <c:numCache>
                <c:formatCode>General</c:formatCode>
                <c:ptCount val="2"/>
                <c:pt idx="0">
                  <c:v>48</c:v>
                </c:pt>
                <c:pt idx="1">
                  <c:v>20</c:v>
                </c:pt>
              </c:numCache>
            </c:numRef>
          </c:val>
        </c:ser>
        <c:ser>
          <c:idx val="1"/>
          <c:order val="1"/>
          <c:tx>
            <c:strRef>
              <c:f>Sheet1!$C$1</c:f>
              <c:strCache>
                <c:ptCount val="1"/>
                <c:pt idx="0">
                  <c:v>Delayed treatment</c:v>
                </c:pt>
              </c:strCache>
            </c:strRef>
          </c:tx>
          <c:spPr>
            <a:solidFill>
              <a:srgbClr val="9DB4CA"/>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Combined response</c:v>
                  </c:pt>
                  <c:pt idx="1">
                    <c:v>HDV RNA undetectable</c:v>
                  </c:pt>
                </c:lvl>
              </c:multiLvlStrCache>
            </c:multiLvlStrRef>
          </c:cat>
          <c:val>
            <c:numRef>
              <c:f>Sheet1!$C$2:$C$3</c:f>
              <c:numCache>
                <c:formatCode>General</c:formatCode>
                <c:ptCount val="2"/>
                <c:pt idx="0">
                  <c:v>2</c:v>
                </c:pt>
                <c:pt idx="1">
                  <c:v>0</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 novo HBV</c:v>
                </c:pt>
              </c:strCache>
            </c:strRef>
          </c:tx>
          <c:spPr>
            <a:solidFill>
              <a:srgbClr val="1F4E79"/>
            </a:solidFill>
            <a:effectLst/>
          </c:spPr>
          <c:invertIfNegative val="0"/>
          <c:dLbls>
            <c:numFmt formatCode="0.0&quot;%&quot;" sourceLinked="0"/>
            <c:txPr>
              <a:bodyPr/>
              <a:lstStyle/>
              <a:p>
                <a:pPr>
                  <a:defRPr b="1" i="0" strike="noStrike" sz="1500" u="none">
                    <a:solidFill>
                      <a:srgbClr val="00000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No prophylaxis</c:v>
                  </c:pt>
                  <c:pt idx="1">
                    <c:v>Any prophylaxis</c:v>
                  </c:pt>
                  <c:pt idx="2">
                    <c:v>HBIG alone</c:v>
                  </c:pt>
                  <c:pt idx="3">
                    <c:v>Lamivudine alone</c:v>
                  </c:pt>
                  <c:pt idx="4">
                    <c:v>HBIG plus lamivudine</c:v>
                  </c:pt>
                </c:lvl>
              </c:multiLvlStrCache>
            </c:multiLvlStrRef>
          </c:cat>
          <c:val>
            <c:numRef>
              <c:f>Sheet1!$B$2:$B$6</c:f>
              <c:numCache>
                <c:formatCode>General</c:formatCode>
                <c:ptCount val="5"/>
                <c:pt idx="0">
                  <c:v>48</c:v>
                </c:pt>
                <c:pt idx="1">
                  <c:v>12</c:v>
                </c:pt>
                <c:pt idx="2">
                  <c:v>19</c:v>
                </c:pt>
                <c:pt idx="3">
                  <c:v>2.6</c:v>
                </c:pt>
                <c:pt idx="4">
                  <c:v>2.8</c:v>
                </c:pt>
              </c:numCache>
            </c:numRef>
          </c:val>
        </c:ser>
        <c:dLbls>
          <c:numFmt formatCode="0.0&quot;%&quot;" sourceLinked="0"/>
          <c:txPr>
            <a:bodyPr/>
            <a:lstStyle/>
            <a:p>
              <a:pPr>
                <a:defRPr b="1" i="0" strike="noStrike" sz="15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Bepirovirsen</c:v>
                </c:pt>
              </c:strCache>
            </c:strRef>
          </c:tx>
          <c:spPr>
            <a:solidFill>
              <a:srgbClr val="1F4E79"/>
            </a:solidFill>
            <a:effectLst/>
          </c:spPr>
          <c:invertIfNegative val="0"/>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B-Well 1</c:v>
                  </c:pt>
                  <c:pt idx="1">
                    <c:v>B-Well 2</c:v>
                  </c:pt>
                </c:lvl>
              </c:multiLvlStrCache>
            </c:multiLvlStrRef>
          </c:cat>
          <c:val>
            <c:numRef>
              <c:f>Sheet1!$B$2:$B$3</c:f>
              <c:numCache>
                <c:formatCode>General</c:formatCode>
                <c:ptCount val="2"/>
                <c:pt idx="0">
                  <c:v>20</c:v>
                </c:pt>
                <c:pt idx="1">
                  <c:v>19</c:v>
                </c:pt>
              </c:numCache>
            </c:numRef>
          </c:val>
        </c:ser>
        <c:ser>
          <c:idx val="1"/>
          <c:order val="1"/>
          <c:tx>
            <c:strRef>
              <c:f>Sheet1!$C$1</c:f>
              <c:strCache>
                <c:ptCount val="1"/>
                <c:pt idx="0">
                  <c:v>Placebo</c:v>
                </c:pt>
              </c:strCache>
            </c:strRef>
          </c:tx>
          <c:spPr>
            <a:solidFill>
              <a:srgbClr val="9DB4CA"/>
            </a:solidFill>
            <a:effectLst/>
          </c:spPr>
          <c:invertIfNegative val="0"/>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B-Well 1</c:v>
                  </c:pt>
                  <c:pt idx="1">
                    <c:v>B-Well 2</c:v>
                  </c:pt>
                </c:lvl>
              </c:multiLvlStrCache>
            </c:multiLvlStrRef>
          </c:cat>
          <c:val>
            <c:numRef>
              <c:f>Sheet1!$C$2:$C$3</c:f>
              <c:numCache>
                <c:formatCode>General</c:formatCode>
                <c:ptCount val="2"/>
                <c:pt idx="0">
                  <c:v>0</c:v>
                </c:pt>
                <c:pt idx="1">
                  <c:v>0</c:v>
                </c:pt>
              </c:numCache>
            </c:numRef>
          </c:val>
        </c:ser>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cases is made up for teaching; none of it is a real patient. Three patients carry the talk: a man we follow from age 34 to 57, a woman about to start rituximab, and a pregnant woman.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 recommendations changed in the last two years: AASLD/IDSA 2025, EASL 2025, WHO 2024. Where the guidelines disagree I show them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the way you like to. In 1963 the Philadelphia group tested sera from transfused hemophilia patients against a panel of 24 normal sera, including sera from foreign populations. Two hemophilia sera made a precipitin line with one panel serum, from an Australian aborigine. That is where the name comes from. The 1965 paper was about leukemia; the link to hepatitis came later. The Nobel citation reads: 'for their discoveries concerning new mechanisms for the origin and dissemination of infectious diseases' (NIH Nobel page). Source for the slide text is the paper itself (your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short in the 30-minute version. Dane 1970 Lancet 1:695-698. Maupas 1976 Lancet 1:1367-1370. Szmuness 1980 NEJM 303:833-841. Beasley 1981 Lancet 2:1129-1133. The vaccine came before there was a screening test for liver cancer. A recombinant yeast vaccine was reported in 1984 (McAleer, Nature 307:178-180).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Prince detected the antigen in blood during the incubation period of serum hepatitis, which tied it to post-transfusion hepatitis and made screening of blood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42 nm particle is the whole virion; the numerous 22 nm particles and long forms are surface antigen only. This is why HBsAg circulates in huge excess over virions. The figure is from the paper in your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22,707 Chinese men, civil servants in Taiwan, followed prospectively. All numbers are from the paper's summary (your PDF). The 95% CI of 28 to 1,479 for the relative risk is quoted from a 2018 historical review (Koshiol, Cancer Epidemiol), not from the 1981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 double-blind, placebo-controlled, 1,083 men at high risk. Infection in only 1.4 to 3.4% of vaccinees versus 18 to 27% with placebo. The plasma-derived vaccine of Maupas (Lancet 1976) was the first human immunization; a recombinant yeast vaccine followed (McAleer, Nature 1984). Licensure in 1986 was not confirmed from a primary record, so say 'mid-1980s'.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Answer: about 13% diagnosed and about 3% treated. WHO 2022 estimates: 254 million living with chronic HBV, 1.2 million new infections a year, 1.3 million deaths from HBV and HCV combined, 83% of them HBV. The rounded WHO release is the source; the full report PDF was not opened. In the US, CDC estimates 580,000 to 2.4 million people living with chronic HBV, about two-thirds unaware (CDC 2023, PMID 36893044).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Answer: about 13% diagnosed and about 3% treated. WHO 2022 estimates: 254 million living with chronic HBV, 1.2 million new infections a year, 1.3 million deaths from HBV and HCV combined, 83% of them HBV. The rounded WHO release is the source; the full report PDF was not opened. In the US, CDC estimates 580,000 to 2.4 million people living with chronic HBV, about two-thirds unaware (CDC 2023, PMID 36893044).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risk once infected, not the risk that an exposed infant becomes infected. The bar for adults is drawn at 5% for scale; the figure is 'under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risk once infected, not the risk that an exposed infant becomes infected. The bar for adults is drawn at 5% for scale; the figure is 'under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estimates differ because the survey misses many immigrants. Do not combine one study's prevalence with another study's diagnosed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2023: screen every adult 18 and older at least once with the triple panel, regardless of disclosed risk, and screen in each pregnancy. HBsAg alone misses anti-HBc-only patients, who are the ones at risk of reactivation. Vaccination: all adults 19 to 59 (ACIP 2022); Heplisav-B, Engerix-B and Recombivax HB are in use. PreHevbrio was withdrawn in November 2024 because the company closed, not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 2023: screen every adult 18 and older at least once with the triple panel, regardless of disclosed risk, and screen in each pregnancy. HBsAg alone misses anti-HBc-only patients, who are the ones at risk of reactivation. Vaccination: all adults 19 to 59 (ACIP 2022); Heplisav-B, Engerix-B and Recombivax HB are in use. PreHevbrio was withdrawn in November 2024 because the company closed, not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 means HBsAg present for more than 6 months, so panel 4 needs a repeat. IgM anti-HBc also turns positive during a flare of chronic hepatitis B or a reactivation, so IgM plus a high ALT is not always acute infection: look at the history and the DNA. Resolved infection can reactivate under immunosuppression, which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 means HBsAg present for more than 6 months, so panel 4 needs a repeat. IgM anti-HBc also turns positive during a flare of chronic hepatitis B or a reactivation, so IgM plus a high ALT is not always acute infection: look at the history and the DNA. Resolved infection can reactivate under immunosuppression, which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Isolated anti-HBc is not the same as occult infection: occult needs detectable HBV DNA with a negative HBsAg. Order HBV DNA and repeat the panel. Whatever the answer, a patient who is anti-HBc positive and about to get an anti-CD20 drug needs prophylaxis (we come back to this). Wording of the last row, 'repeat testing', is my summary of the CDC table;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Isolated anti-HBc is not the same as occult infection: occult needs detectable HBV DNA with a negative HBsAg. Order HBV DNA and repeat the panel. Whatever the answer, a patient who is anti-HBc positive and about to get an anti-CD20 drug needs prophylaxis (we come back to this). Wording of the last row, 'repeat testing', is my summary of the CDC table;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it with the room: three panels, age in decades along the bottom. This is the figure from your sketch. Schematic,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HBV DNA first. Very high in early life, falls in the third and fourth decades, then either stays low or rises again. The dashed lines are 20,000 and 2,000 IU/mL.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ALT. Normal for decades, then flares when the immune system finally attacks. Each flare can cause fibrosis.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antigens. HBsAg stays positive. HBeAg is lost and anti-HBe appears when the patient seroconverts, around the fourth decade in this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name the phases. New names above, old names below. The shaded phases are the hepatitis phases. Not every patient goes through all four, and the age axis 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phases in the published form. Credit GESA 2022 (ASHM attributes Figure 3.1 to them). The reviewer could not confirm the original artist or the reuse licence, so check before putting this in anything you distribute.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names: immune tolerant, immune clearance (immune-active), inactive carrier or immune control, immune escape. AASLD 2018 uses immune-tolerant, HBeAg-positive immune-active, inactive and HBeAg-negative immune-active CHB. These are descriptions of phases, not treatment criteria. A patient can move between phases, and HBsAg loss is a fifth state (HBsAg-negative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names: immune tolerant, immune clearance (immune-active), inactive carrier or immune control, immune escape. AASLD 2018 uses immune-tolerant, HBeAg-positive immune-active, inactive and HBeAg-negative immune-active CHB. These are descriptions of phases, not treatment criteria. A patient can move between phases, and HBsAg loss is a fifth state (HBsAg-negative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HBsAg found at a blood donation, asymptomatic, ALT normal on two checks six months apart. This is the HBeAg-positive chronic infection (immune tolerant) phase. AASLD/IDSA 2025 R3 defines it as HBeAg positive, DNA above 10,000,000 IU/mL and persistently normal ALT on at least two measurements 6 months apart. At 34, no fibrosis, the recommendation is to monitor. AASLD 2018 R2A: against antiviral therapy in immune-tolerant adults. Stiffness 5.1 kPa is below the EASL F2 cut-off of 7 kPa. All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HBsAg found at a blood donation, asymptomatic, ALT normal on two checks six months apart. This is the HBeAg-positive chronic infection (immune tolerant) phase. AASLD/IDSA 2025 R3 defines it as HBeAg positive, DNA above 10,000,000 IU/mL and persistently normal ALT on at least two measurements 6 months apart. At 34, no fibrosis, the recommendation is to monitor. AASLD 2018 R2A: against antiviral therapy in immune-tolerant adults. Stiffness 5.1 kPa is below the EASL F2 cut-off of 7 kPa. All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R3 (conditional, very low certainty): for immune-tolerant adults, antiviral therapy is supported if over 40 or with grade 2 / stage 2 or worse disease. The recommendation text says 'over 40' and the guideline's algorithm says '40 or more'. The evidence is observational and the AASLD technical review calls it very uncertain, so this is a shared decision. EASL 2025 and WHO 2024 reach treatment through other pathways (fibrosis, family history of HCC); they do not use this age rule in the same way. The same labs at 34 and 41 make the point about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AASLD/IDSA 2025 R3 (conditional, very low certainty): for immune-tolerant adults, antiviral therapy is supported if over 40 or with grade 2 / stage 2 or worse disease. The recommendation text says 'over 40' and the guideline's algorithm says '40 or more'. The evidence is observational and the AASLD technical review calls it very uncertain, so this is a shared decision. EASL 2025 and WHO 2024 reach treatment through other pathways (fibrosis, family history of HCC); they do not use this age rule in the same way. The same labs at 34 and 41 make the point about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lost HBeAg and seroconverted in his late 40s. DNA 8,000, ALT 48 (1.4 times the AASLD upper limit of 35), no advanced fibrosis. Let the room commit. The next slide shows what each guideline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reference ranges included people with fatty liver, which is why the blood-donor data gave lower limits (30 for men and 19 for women in the ASHM chapter). Whichever limit you use, 48 is raised. Next slide: what each guideline does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AASLD 2018 treats HBeAg-negative patients with DNA above 2,000 and ALT at least 2 times the upper limit (70 for a man) or significant histology, so he is observed. AASLD/IDSA 2025 R4 suggests treatment by shared decision in the indeterminate group. EASL 2025: DNA at least 2,000 with ALT above the upper limit or at least F2: treat. WHO 2024: DNA above 2,000 and ALT above the upper limit: treat. Rows 2 and 3 are the cirrhosis rows: AASLD 2018 R7A and R7B, AASLD/IDSA 2025 Figure 5, EASL (detectable DNA, any DNA if decompensated), WHO (treat regardless of DNA and ALT). The reviewer's dossier (section B1) has the full matrix. APASL 2026 criteria were not opened, so they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AASLD 2018 treats HBeAg-negative patients with DNA above 2,000 and ALT at least 2 times the upper limit (70 for a man) or significant histology, so he is observed. AASLD/IDSA 2025 R4 suggests treatment by shared decision in the indeterminate group. EASL 2025: DNA at least 2,000 with ALT above the upper limit or at least F2: treat. WHO 2024: DNA above 2,000 and ALT above the upper limit: treat. Rows 2 and 3 are the cirrhosis rows: AASLD 2018 R7A and R7B, AASLD/IDSA 2025 Figure 5, EASL (detectable DNA, any DNA if decompensated), WHO (treat regardless of DNA and ALT). The reviewer's dossier (section B1) has the full matrix. APASL 2026 criteria were not opened, so they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855 patients in the indeterminate phase without advanced fibrosis; weighted analysis, adjusted HR for HCC 0.30 (0.10 to 0.60). Treated 3, 4 and 9% at 5, 10 and 15 years, untreated 3, 15 and 19%. Observational, so residual confounding remains. TORCH-B: 160 Taiwanese patients, TDF 300 mg for 3 years versus placebo, paired biopsies: progression of at least one Ishak stage 19/73 (26%) versus 34/73 (47%), RR 0.56 (0.35 to 0.88). Randomized, but small and not powered for HCC. ATTENTION (interim, Lancet Gastroenterol Hepatol 2025, 734 patients, TAF versus observation): primary composite events 2 versus 9, HR 0.21, 97.5% CI 0.04 to 1.20, did not cross its stopping boundary. None of these randomized treatment against HCC. Mention the counterweight (Jeon 2021: no HCC at 5 years in biomarker-defined immune tolerance with FIB-4 under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855 patients in the indeterminate phase without advanced fibrosis; weighted analysis, adjusted HR for HCC 0.30 (0.10 to 0.60). Treated 3, 4 and 9% at 5, 10 and 15 years, untreated 3, 15 and 19%. Observational, so residual confounding remains. TORCH-B: 160 Taiwanese patients, TDF 300 mg for 3 years versus placebo, paired biopsies: progression of at least one Ishak stage 19/73 (26%) versus 34/73 (47%), RR 0.56 (0.35 to 0.88). Randomized, but small and not powered for HCC. ATTENTION (interim, Lancet Gastroenterol Hepatol 2025, 734 patients, TAF versus observation): primary composite events 2 versus 9, HR 0.21, 97.5% CI 0.04 to 1.20, did not cross its stopping boundary. None of these randomized treatment against HCC. Mention the counterweight (Jeon 2021: no HCC at 5 years in biomarker-defined immune tolerance with FIB-4 under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EASL 2025 Table 6 lists F2 above 7 kPa, F3 above 8 and F4 above 11. WHO 2024 uses APRI above 0.5 or elastography above 7 kPa as a treatment pathway, with no DNA threshold. Do not teach a single FibroScan cut-off of 8 for every purpose. The WHO cirrhosis row is from the 2015 guideline as described in the reviewer's dossier; check the 2024 text before using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studies that point in opposite directions. Kim: Korean retrospective cohort; death or transplant 9.7% vs 3.4% at 10 years, HR 3.38 (1.85 to 6.16). The untreated group used a broad definition (DNA at least 20,000), broader than strict immune tolerance. Jeon found essentially no HCC in carefully defined immune-tolerant patients with low FIB-4. The AASLD technical review grades the evidence for clinical benefit in immune tolerance as very uncertain. Nothing here proves that treating every young, strictly immune-tolerant patient lowers lifetime HCC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2025: heterogeneity was high (I2 85.7% for HCC) and the definitions of the grey zone varied. ATTENTION: TAF 369 vs observation 365, DNA 10,000 to 100,000,000 IU/mL, ALT below 70 for men and below 50 for women, noncirrhotic, ages 40 to 80, median follow-up 17.7 months. Promising, not definitive.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renal rows are from the US labels. Entecavir: for CrCl 30 to 49, 0.25 mg daily or 0.5 mg every 48 hours; use the oral solution for the daily fractions. TDF: CrCl 30 to 49, 300 mg every 48 hours. TAF: no adjustment at CrCl 15 or above. TAF is not recommended in Child-Pugh B or C in the US label, and the old statement that TAF cannot be used on dialysis is out of date. The answer line is my teaching summary, based on the TAF versus TDF trial data on the next slide; confirm it is how you would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renal rows are from the US labels. Entecavir: for CrCl 30 to 49, 0.25 mg daily or 0.5 mg every 48 hours; use the oral solution for the daily fractions. TDF: CrCl 30 to 49, 300 mg every 48 hours. TAF: no adjustment at CrCl 15 or above. TAF is not recommended in Child-Pugh B or C in the US label, and the old statement that TAF cannot be used on dialysis is out of date. The answer line is my teaching summary, based on the TAF versus TDF trial data on the next slide; confirm it is how you would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 3 noninferiority trials, 875 HBeAg-positive and 426 HBeAg-negative patients, double-blind. Antiviral efficacy was the same. Bone loss was smaller on TAF at the hip (-0.10% vs -1.72% and -0.29% vs -2.16%) and spine (-0.42% vs -2.29% and -0.88% vs -2.51%). The 96-week pooled analysis (Agarwal, J Hepatol 2018) held up. The 8-year report (Buti, Aliment Pharmacol Ther 2024) switched the TDF arm to TAF at year 2 or 3, so it is not a randomized 8-year comparison. Observational data do not settle entecavir versus tenofovir for HCC (Choi 2023 individual patient meta-analysis HR 0.77, 0.61 to 0.98; Lee 2020 HR 1.03, 0.70 to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 3 noninferiority trials, 875 HBeAg-positive and 426 HBeAg-negative patients, double-blind. Antiviral efficacy was the same. Bone loss was smaller on TAF at the hip (-0.10% vs -1.72% and -0.29% vs -2.16%) and spine (-0.42% vs -2.29% and -0.88% vs -2.51%). The 96-week pooled analysis (Agarwal, J Hepatol 2018) held up. The 8-year report (Buti, Aliment Pharmacol Ther 2024) switched the TDF arm to TAF at year 2 or 3, so it is not a randomized 8-year comparison. Observational data do not settle entecavir versus tenofovir for HCC (Choi 2023 individual patient meta-analysis HR 0.77, 0.61 to 0.98; Lee 2020 HR 1.03, 0.70 to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observational data are inconsistent and sensitive to design, including different start dates and follow-up. No randomized trial compares HCC. The 2019 Choi cohort in Korea has a retraction-and-replacement notice, so do not quote its original estimate. Yoo 2025 (J Hepatol Reports): TDF/TAF incidence rate ratio 1.24, entecavir/TAF 1.08 (p = 0.219); abstract only. Renal function, bone disease, resistance, pregnancy, adherence and access still decide the drug.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finite course for selected compensated patients who accept the side effects: higher ALT, lower DNA, favorable genotype and early qHBsAg decline help selection. Avoid in decompensated cirrhosis and pregnancy. These are selected populations, not general cure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AASLD 2018 and the reviewer's dossier (section C5). EASL 2025 uses 3 to 6 months initially, then 6 to 12 months after response. AASLD 2018 finds insufficient evidence to mandate routine bone density testing in people without other risk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 was derived in 1,815 White European adults treated with entecavir or tenofovir (1,325 derivation, 490 validation) and has three groups: 9 or less, 10 to 17 and 18 or more. Five-year HCC was 0, 3 and 17% in derivation and 0, 4 and 16% in validation. Platelet boundary: EASL prints 'above 200' and the calculator uses 200 or more; the original paper's boundary at exactly 200 is not yet checked. The PAGE-B column and strata come from the dossier (section E1). He was started on TAF when he was 52, so PAGE-B applies. In a US veterans cohort of 3,101 treated patients (39.5% White, 36.3% Black), PAGE-B had a 3-year AUC of 0.73.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PAGE-B was derived in 1,815 White European adults treated with entecavir or tenofovir (1,325 derivation, 490 validation) and has three groups: 9 or less, 10 to 17 and 18 or more. Five-year HCC was 0, 3 and 17% in derivation and 0, 4 and 16% in validation. Platelet boundary: EASL prints 'above 200' and the calculator uses 200 or more; the original paper's boundary at exactly 200 is not yet checked. The PAGE-B column and strata come from the dossier (section E1). He was started on TAF when he was 52, so PAGE-B applies. In a US veterans cohort of 3,101 treated patients (39.5% White, 36.3% Black), PAGE-B had a 3-year AUC of 0.73.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calculator. PAGE-B matches the published table. The second model (HBsAg-HCC, Guo 2026, 1,190 training and 506 validation patients, abstract only) could not be checked against the paper, so say it is a research model, not validated. Do not call it externally verified. The calculator does not include REACH-B, aMAP or REAL-B.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2023 Table 1: noncirrhotic HBV: men over 40 and women over 50 from endemic regions; people of African origin earlier (the wording is origin-based, not an instruction to start every Black American at 20); family history of HCC; PAGE-B 10 or more (the table prints 'over 10' while the score's own intermediate group starts at 10). Ultrasound plus AFP every 6 months (level 2, strong). The thresholds behind these groups are about 0.2% a year for noncirrhotic HBV and 1.0% for cirrhosis. These are model-based decision thresholds, not biological cut-offs. Continue surveillance after HBsAg loss in cirrhosis, family history, men who lost HBsAg after 40 and women after 50 (AASLD/IDSA 2025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2023 Table 1: noncirrhotic HBV: men over 40 and women over 50 from endemic regions; people of African origin earlier (the wording is origin-based, not an instruction to start every Black American at 20); family history of HCC; PAGE-B 10 or more (the table prints 'over 10' while the score's own intermediate group starts at 10). Ultrasound plus AFP every 6 months (level 2, strong). The thresholds behind these groups are about 0.2% a year for noncirrhotic HBV and 1.0% for cirrhosis. These are model-based decision thresholds, not biological cut-offs. Continue surveillance after HBsAg loss in cirrhosis, family history, men who lost HBsAg after 40 and women after 50 (AASLD/IDSA 2025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3,101 treated US veterans (39.5% White, 36.3% Black, 13.6% Asian; 113 HCC over 4.5 years) the 3-year AUC was 0.73 for PAGE-B and 0.57 for REACH-B; REAL-B and some AFP-containing models were above 0.80. REACH-B does poorly when moved from untreated noncirrhotic patients into treated ones, including those with cirrhosis. In HIV/HBV on tenofovir (2,963 patients), PAGE-B had a C-index of 0.77 and a negative predictive value of 99.4% below 10 at 5 years. Full formulas for mPAGE-B, aMAP and REAL-B were not confirmed, so do not reproduce their point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flowchart you sent: it had a Gemini watermark and no source. What the literature supports: a high HBsAg in an HBeAg-negative patient with low DNA predicts HCC, and the best studied cut-off is 1,000 IU/mL. Not supported: that qHBsAg adds nothing in F3 to F4, a universal cut-off of 100, and any reading of qHBsAg as an integration-burden meter. The Tseng 2013 Hepatology paper is about hepatitis events (HR 1.5), and the 13.2 hazard ratio in the 2012 Hepatology paper is for HBsAg loss, not HCC.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Biology, not an outcome trial. It explains why HBsAg can persist when DNA is undetectable and why 'immune tolerant' is not a safe phase. It does not show that early treatment prevents HCC. Small tissue studies; abstract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patient from earlier: anti-HBc positive, HBsAg negative, starting rituximab. AGA risk categories: high above 10%, moderate 1 to 10%, low below 1%. The risk depends on the drug and on serostatus: for HBsAg-positive patients, most of these drugs are high risk (anti-TNF, anthracyclines, JAK inhibitors). EASL 2025 Table 14 differs on several assignments (for example anti-TNF moderate and anthracyclines high in resolved infection), so do not mix the tables. There is no separate current ASH guideline; do not cite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patient from earlier: anti-HBc positive, HBsAg negative, starting rituximab. AGA risk categories: high above 10%, moderate 1 to 10%, low below 1%. The risk depends on the drug and on serostatus: for HBsAg-positive patients, most of these drugs are high risk (anti-TNF, anthracyclines, JAK inhibitors). EASL 2025 Table 14 differs on several assignments (for example anti-TNF moderate and anthracyclines high in resolved infection), so do not mix the tables. There is no separate current ASH guideline; do not cite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High-risk exposure with anti-HBc positive: prophylaxis rather than monitoring (AGA R1, strong). Use a high-barrier drug: entecavir, TDF or TAF. Continue at least 6 months after the immunosuppression ends and at least 12 months for B-cell-depleting therapy (AGA and AASLD 2018); EASL 2025 says 6 to 12 months and at least 18 months after B-cell depletion. For a moderate-risk exposure in a DNA-negative resolved infection, AGA favors prophylaxis but accepts monitoring. ACR 2021 and ASCO 2020 give the rheumatology and oncology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High-risk exposure with anti-HBc positive: prophylaxis rather than monitoring (AGA R1, strong). Use a high-barrier drug: entecavir, TDF or TAF. Continue at least 6 months after the immunosuppression ends and at least 12 months for B-cell-depleting therapy (AGA and AASLD 2018); EASL 2025 says 6 to 12 months and at least 18 months after B-cell depletion. For a moderate-risk exposure in a DNA-negative resolved infection, AGA favors prophylaxis but accepts monitoring. ACR 2021 and ASCO 2020 give the rheumatology and oncology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reviewer's comparison (dossier A5). ACR 2021 (rheumatoid arthritis): strong recommendation for prophylaxis in anti-HBc-positive patients starting rituximab regardless of HBsAg, and in HBsAg-positive patients starting any biologic or targeted synthetic DMARD; monitoring is conditionally preferred for HBsAg-negative anti-HBc-positive patients on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 in Ethiopia, HBeAg positive, all values made up. AASLD/IDSA 2025 R1 (strong, moderate certainty): DNA above 200,000 at any point, start TDF or TAF at week 28 (consider week 16 when infant HBIG is not available). WHO 2024 also treats HBeAg-positive mothers regardless of DNA. Mother's ALT is normal, so this is prophylaxis to prevent transmission; stopping at delivery is allowed when treatment was only for that purpose, with DNA and ALT every 1 to 3 months for 6 months. Infant: single-antigen hepatitis B vaccine plus HBIG within 12 hours at separate sites, then complete the series. Breastfeeding is not prohibited.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 in Ethiopia, HBeAg positive, all values made up. AASLD/IDSA 2025 R1 (strong, moderate certainty): DNA above 200,000 at any point, start TDF or TAF at week 28 (consider week 16 when infant HBIG is not available). WHO 2024 also treats HBeAg-positive mothers regardless of DNA. Mother's ALT is normal, so this is prophylaxis to prevent transmission; stopping at delivery is allowed when treatment was only for that purpose, with DNA and ALT every 1 to 3 months for 6 months. Infant: single-antigen hepatitis B vaccine plus HBIG within 12 hours at separate sites, then complete the series. Breastfeeding is not prohibited.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AASLD/IDSA 2025 recommendation and the CDC infant schedule. Infant testing is HBsAg and anti-HBs at 9 to 12 months, or 1 to 2 months after a delayed final dose. Do not use anti-HBc for infant testing after vaccination. Evidence: Pan, NEJM 2016 (200 HBeAg-positive mothers; transmission 5% vs 18% by intention to treat) and Jourdain, NEJM 2018 (331 women; 0 vs 3 infected infants, p = 0.12, not superior because infant prophylaxis was already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 200 HBeAg-positive mothers with DNA above 200,000, TDF from week 30 to 32 to 4 weeks postpartum versus usual care: infant infection 5/97 (5%) vs 18/100 (18%) by intention to treat, 0 vs 6/88 (7%) per protocol. Post-withdrawal ALT elevations in mothers 45% vs 30%. Jourdain: 331 women, TDF from week 28 to 2 months postpartum: infant infection 0/147 vs 3/147 (2%), p = 0.12. A 2025 randomized trial (Pan, JAMA) starting TDF at week 16 without HBIG was noninferior to week 28 plus HBIG: 1/131 vs 0/142.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AASLD 2018 guidance statements (ungraded). Current HIV guidance and drug interactions still need review before choosing the ART regimen.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anti-HDV for exposure, HDV RNA for current infection. A nucleos(t)ide analogue suppresses HBV but does not treat HDV. In the core version, give this one line only: test every HBsAg-positive patient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MYR301 as described by FDA: immediate treatment with 8.5 mg once daily for 144 weeks versus delayed treatment (48 weeks observation, then treatment). Week 48 combined response 48% vs 2%; undetectable HDV RNA 20% vs 0%; at weeks 96 and 144 undetectable RNA 36% and 50%. Accelerated approval rests on this surrogate response; clinical benefit needs confirmation. Side effects: hypersensitivity, injection site reactions, headache, abdominal pain, fatigue, itching. The dossier's published MYR301 numbers (2 mg 45%, 10 mg 48%) are from the NEJM paper; the slide uses FDA's numbers for the approved dose. Gilead is the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randomized, and the antivirals were those of that era. Do not promise one-third delisting to every patient today. AASLD 2018 R7B: treat decompensated disease indefinitely regardless of DNA, ALT or HBeAg, and assess for transplant. PegIFN is contraindicated. The US TAF label does not recommend Child-Pugh B or C. Call transplant hepatology.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Cholongitas: 39 studies, 903 recipients, regimens of that time, so the rates are not contemporary entecavir or tenofovir rates. AASLD 2018 supports indefinite high-barrier NA after transplant for HBV; selected low-risk patients may get no HBIG or 5 to 7 days plus NA, higher-risk patients (HIV, HDV, adherence concerns) HBIG plus NA. HBIG alone is not appropriate. The AST 2019 wording was not opened, so quote AASLD 2018 here. Fung 2017: nine-year survival 85%, no fatal HBV recurrence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ages are approval ages, not indications to treat. WHO's noninvasive fibrosis cut-offs are not validated in children and adolescents.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HBeAg negative, started on TAF at 52. AASLD/IDSA 2025 R5 (conditional, very low certainty) suggests continuing until HBsAg loss; stopping only in exceptions: no advanced complications, DNA undetectable at least 2 years, qHBsAg under 100, no HIV or HDV, reliable follow-up. If HBeAg-positive at the start, seroconverted at least 1 year. The text says 2 years and the guideline's Figure 4 legend says 3, so quote 2 to 3. If you do stop: DNA and ALT every 1 to 3 months for 6 months, then every 3 months for 6 to 12 months, then every 3 to 6 months. Retreat for DNA 10,000 or more, ALT above 5 times ULN, bilirubin above 2.5 or decompensation (Table 3). Evidence in the extended version.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HBeAg negative, started on TAF at 52. AASLD/IDSA 2025 R5 (conditional, very low certainty) suggests continuing until HBsAg loss; stopping only in exceptions: no advanced complications, DNA undetectable at least 2 years, qHBsAg under 100, no HIV or HDV, reliable follow-up. If HBeAg-positive at the start, seroconverted at least 1 year. The text says 2 years and the guideline's Figure 4 legend says 3, so quote 2 to 3. If you do stop: DNA and ALT every 1 to 3 months for 6 months, then every 3 months for 6 to 12 months, then every 3 to 6 months. Retreat for DNA 10,000 or more, ALT above 5 times ULN, bilirubin above 2.5 or decompensation (Table 3). Evidence in the extended version. Values are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RETRACT-B: end-of-treatment HBsAg under 100 predicted loss (subdistribution HR 22.5, 13.1 to 38.7); loss was much more likely in White than Asian patients (HR 6.8). STOP-NUC: 79 per arm, DNA undetectable at least 4 years; in those with HBsAg under 1,000, loss was 7 of 25 (28%). Loss, relapse, retreatment and sustained remission are different endpoints and cannot be subtracted from each other. Severe flares can happen: a case of HBV-induced liver failure requiring emergency transplant after a finite-treatment strategy (REEF-2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2022 AASLD/EASL endpoint conference report (published 2023). Standard nucleos(t)ide therapy rarely gives HBsAg loss. Functional cure does not show that cccDNA or integrated DNA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FDA pages. Bepirovirsen is an antisense oligonucleotide given under the skin for up to 24 weeks, together with the existing antiviral, which continues for at least 24 weeks after the last injection; some patients can then stop it. Across the two trials 24% met the criteria to stop their existing medicine versus none on placebo, and 19% still had suppressed virus with undetectable HBsAg 24 weeks after stopping all hepatitis B treatment. The FDA also authorized a Roche qHBsAg assay as a companion diagnostic. Boxed warning for serious liver reactions and low platelets; warnings include worsening kidney function and vasculitis. Hepcludex: accelerated approval, boxed warning for severe exacerbations of HDV and HBV on discontinuation.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sponsor's phase 3 trials: 978 and 856 participants. The FDA pooled figure is 19%. The earlier phase 2b B-Clear (Yuen, NEJM 2022, 457 participants): 300 mg for 24 weeks gave sustained response in 9% on NA and 10% off NA. Eligibility is narrow (noncirrhotic, suppressed, low HBsAg), so this is not a cure rate for all patients with hepatitis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endpoints matter: HBsAg decline on NA, HBsAg loss with NA continuing, and sustained functional cure off all therapy are not the same. Xalnesiran (Hou 2024 NEJM, 159 participants; all HBsAg loss was at baseline HBsAg under 1,000). Elebsiran (ENSURE, Wong, Nat Med 2026): part 1 N = 55. JNJ-3989 REEF-1 (Yuen 2023, 470 randomized). Imdusiran (Yuen 2026). Check each paper before quoting; most are abstract-level in the dossier. Checkpoint inhibitor trials: an imdusiran plus durvalumab registry entry was withdrawn with no enrollment, which says nothing about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three patients.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QR code opens the slides PDF. The HBV HCC risk calculator is at qaddodi.github.io/chb-hcc-risk.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png"/><Relationship Id="rId3" Type="http://schemas.openxmlformats.org/officeDocument/2006/relationships/slideLayout" Target="../slideLayouts/slideLayout4.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cover illustration">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600200"/>
            <a:ext cx="5287975" cy="1325880"/>
          </a:xfrm>
          <a:prstGeom prst="rect">
            <a:avLst/>
          </a:prstGeom>
          <a:noFill/>
          <a:ln/>
        </p:spPr>
        <p:txBody>
          <a:bodyPr wrap="square" lIns="0" tIns="0" rIns="0" bIns="0" rtlCol="0" anchor="ctr"/>
          <a:lstStyle/>
          <a:p>
            <a:pPr algn="ctr" indent="0" marL="0">
              <a:buNone/>
            </a:pPr>
            <a:r>
              <a:rPr lang="en-US" sz="4400" b="1" dirty="0">
                <a:solidFill>
                  <a:srgbClr val="000000"/>
                </a:solidFill>
                <a:latin typeface="Georgia" pitchFamily="34" charset="0"/>
                <a:ea typeface="Georgia" pitchFamily="34" charset="-122"/>
                <a:cs typeface="Georgia" pitchFamily="34" charset="-120"/>
              </a:rPr>
              <a:t>Chronic Hepatitis B</a:t>
            </a:r>
            <a:endParaRPr lang="en-US" sz="4400" dirty="0"/>
          </a:p>
        </p:txBody>
      </p:sp>
      <p:sp>
        <p:nvSpPr>
          <p:cNvPr id="4" name="Shape 1"/>
          <p:cNvSpPr/>
          <p:nvPr/>
        </p:nvSpPr>
        <p:spPr>
          <a:xfrm>
            <a:off x="7589520" y="3291840"/>
            <a:ext cx="3093415" cy="0"/>
          </a:xfrm>
          <a:prstGeom prst="line">
            <a:avLst/>
          </a:prstGeom>
          <a:noFill/>
          <a:ln w="12700">
            <a:solidFill>
              <a:srgbClr val="A6A6A6"/>
            </a:solidFill>
            <a:prstDash val="solid"/>
          </a:ln>
        </p:spPr>
      </p:sp>
      <p:sp>
        <p:nvSpPr>
          <p:cNvPr id="5" name="Text 2"/>
          <p:cNvSpPr txBox="1"/>
          <p:nvPr/>
        </p:nvSpPr>
        <p:spPr>
          <a:xfrm>
            <a:off x="6492240" y="3657600"/>
            <a:ext cx="5287975" cy="146304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and Gastroenterologist</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6629400" y="5349240"/>
            <a:ext cx="3465576" cy="704088"/>
          </a:xfrm>
          <a:prstGeom prst="rect">
            <a:avLst/>
          </a:prstGeom>
        </p:spPr>
      </p:pic>
      <p:pic>
        <p:nvPicPr>
          <p:cNvPr id="7" name="Image 2" descr="QR code linking to the slides PDF">    </p:cNvPr>
          <p:cNvPicPr>
            <a:picLocks noChangeAspect="1"/>
          </p:cNvPicPr>
          <p:nvPr/>
        </p:nvPicPr>
        <p:blipFill>
          <a:blip r:embed="rId3"/>
          <a:stretch>
            <a:fillRect/>
          </a:stretch>
        </p:blipFill>
        <p:spPr>
          <a:xfrm>
            <a:off x="10637215" y="4846320"/>
            <a:ext cx="1188720" cy="1188720"/>
          </a:xfrm>
          <a:prstGeom prst="rect">
            <a:avLst/>
          </a:prstGeom>
        </p:spPr>
      </p:pic>
      <p:sp>
        <p:nvSpPr>
          <p:cNvPr id="8" name="Text 3"/>
          <p:cNvSpPr txBox="1"/>
          <p:nvPr/>
        </p:nvSpPr>
        <p:spPr>
          <a:xfrm>
            <a:off x="10518343" y="6080760"/>
            <a:ext cx="141732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Georgia" pitchFamily="34" charset="0"/>
                <a:ea typeface="Georgia" pitchFamily="34" charset="-122"/>
                <a:cs typeface="Georgia" pitchFamily="34" charset="-120"/>
              </a:rPr>
              <a:t>Slides (PDF)</a:t>
            </a:r>
            <a:endParaRPr lang="en-US" sz="1100" dirty="0"/>
          </a:p>
        </p:txBody>
      </p:sp>
      <p:sp>
        <p:nvSpPr>
          <p:cNvPr id="9" name="Text 4"/>
          <p:cNvSpPr txBox="1"/>
          <p:nvPr/>
        </p:nvSpPr>
        <p:spPr>
          <a:xfrm>
            <a:off x="365760" y="6400800"/>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sp>
        <p:nvSpPr>
          <p:cNvPr id="3" name="Body"/>
          <p:cNvSpPr txBox="1"/>
          <p:nvPr/>
        </p:nvSpPr>
        <p:spPr>
          <a:xfrm>
            <a:off x="640080" y="1234440"/>
            <a:ext cx="6949440" cy="457200"/>
          </a:xfrm>
          <a:prstGeom prst="rect">
            <a:avLst/>
          </a:prstGeom>
          <a:noFill/>
          <a:ln/>
        </p:spPr>
        <p:txBody>
          <a:bodyPr wrap="square" lIns="50800" tIns="50800" rIns="50800" bIns="50800" rtlCol="0" anchor="t"/>
          <a:lstStyle/>
          <a:p>
            <a:pPr indent="0" marL="0">
              <a:spcBef>
                <a:spcPts val="800"/>
              </a:spcBef>
              <a:buNone/>
            </a:pPr>
            <a:r>
              <a:rPr lang="en-US" sz="2200" i="1" dirty="0">
                <a:solidFill>
                  <a:srgbClr val="000000"/>
                </a:solidFill>
                <a:latin typeface="Georgia" pitchFamily="34" charset="0"/>
                <a:ea typeface="Georgia" pitchFamily="34" charset="-122"/>
                <a:cs typeface="Georgia" pitchFamily="34" charset="-120"/>
              </a:rPr>
              <a:t>By the end of this talk you should be able to:</a:t>
            </a:r>
            <a:endParaRPr lang="en-US" sz="2200" dirty="0"/>
          </a:p>
        </p:txBody>
      </p:sp>
      <p:sp>
        <p:nvSpPr>
          <p:cNvPr id="4" name="Body"/>
          <p:cNvSpPr txBox="1"/>
          <p:nvPr/>
        </p:nvSpPr>
        <p:spPr>
          <a:xfrm>
            <a:off x="640080" y="1874520"/>
            <a:ext cx="6766560" cy="4389120"/>
          </a:xfrm>
          <a:prstGeom prst="rect">
            <a:avLst/>
          </a:prstGeom>
          <a:noFill/>
          <a:ln/>
        </p:spPr>
        <p:txBody>
          <a:bodyPr wrap="square" lIns="50800" tIns="50800" rIns="50800" bIns="50800" rtlCol="0" anchor="t"/>
          <a:lstStyle/>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Read a hepatitis B serology panel</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Place a patient in the right phase</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Decide who to treat, using the current guidelines</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Estimate HCC risk and set up surveillance</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Prevent reactivation and transmission to the baby</a:t>
            </a:r>
            <a:endParaRPr lang="en-US" sz="2200" dirty="0"/>
          </a:p>
        </p:txBody>
      </p:sp>
      <p:pic>
        <p:nvPicPr>
          <p:cNvPr id="5" name="Image 0" descr="Watercolor of blood collection tubes in a rack">    </p:cNvPr>
          <p:cNvPicPr>
            <a:picLocks noChangeAspect="1"/>
          </p:cNvPicPr>
          <p:nvPr/>
        </p:nvPicPr>
        <p:blipFill>
          <a:blip r:embed="rId1"/>
          <a:stretch>
            <a:fillRect/>
          </a:stretch>
        </p:blipFill>
        <p:spPr>
          <a:xfrm>
            <a:off x="7589520" y="1097280"/>
            <a:ext cx="4389120" cy="438912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Australia antigen</a:t>
            </a:r>
            <a:endParaRPr lang="en-US" sz="3000" dirty="0"/>
          </a:p>
        </p:txBody>
      </p:sp>
      <p:pic>
        <p:nvPicPr>
          <p:cNvPr id="3" name="Image 0" descr="Title and summary of Blumberg, Alter and Visnich, JAMA 1965">    </p:cNvPr>
          <p:cNvPicPr>
            <a:picLocks noChangeAspect="1"/>
          </p:cNvPicPr>
          <p:nvPr/>
        </p:nvPicPr>
        <p:blipFill>
          <a:blip r:embed="rId1"/>
          <a:stretch>
            <a:fillRect/>
          </a:stretch>
        </p:blipFill>
        <p:spPr>
          <a:xfrm>
            <a:off x="548640" y="1188720"/>
            <a:ext cx="6675120" cy="2226715"/>
          </a:xfrm>
          <a:prstGeom prst="rect">
            <a:avLst/>
          </a:prstGeom>
        </p:spPr>
      </p:pic>
      <p:pic>
        <p:nvPicPr>
          <p:cNvPr id="4" name="Image 1" descr="Paragraph describing the serum from an Australian aborigine">    </p:cNvPr>
          <p:cNvPicPr>
            <a:picLocks noChangeAspect="1"/>
          </p:cNvPicPr>
          <p:nvPr/>
        </p:nvPicPr>
        <p:blipFill>
          <a:blip r:embed="rId2"/>
          <a:stretch>
            <a:fillRect/>
          </a:stretch>
        </p:blipFill>
        <p:spPr>
          <a:xfrm>
            <a:off x="548640" y="3794760"/>
            <a:ext cx="6675120" cy="1811211"/>
          </a:xfrm>
          <a:prstGeom prst="rect">
            <a:avLst/>
          </a:prstGeom>
        </p:spPr>
      </p:pic>
      <p:sp>
        <p:nvSpPr>
          <p:cNvPr id="5" name="Body"/>
          <p:cNvSpPr txBox="1"/>
          <p:nvPr/>
        </p:nvSpPr>
        <p:spPr>
          <a:xfrm>
            <a:off x="7498080" y="1554480"/>
            <a:ext cx="4297680" cy="4937760"/>
          </a:xfrm>
          <a:prstGeom prst="rect">
            <a:avLst/>
          </a:prstGeom>
          <a:noFill/>
          <a:ln/>
        </p:spPr>
        <p:txBody>
          <a:bodyPr wrap="square" lIns="50800" tIns="50800" rIns="50800" bIns="50800" rtlCol="0" anchor="t"/>
          <a:lstStyle/>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Found in the serum of some normal people from foreign populations, and in none of the normal US subjects</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Frequent in acute leukemia, which is why the paper is about leukemia</a:t>
            </a:r>
            <a:endParaRPr lang="en-US" sz="2100" dirty="0"/>
          </a:p>
          <a:p>
            <a:pPr marL="228600" indent="-228600">
              <a:spcBef>
                <a:spcPts val="1600"/>
              </a:spcBef>
              <a:buSzPct val="100000"/>
              <a:buChar char="–"/>
            </a:pPr>
            <a:r>
              <a:rPr lang="en-US" sz="2100" dirty="0">
                <a:solidFill>
                  <a:srgbClr val="000000"/>
                </a:solidFill>
                <a:latin typeface="Georgia" pitchFamily="34" charset="0"/>
                <a:ea typeface="Georgia" pitchFamily="34" charset="-122"/>
                <a:cs typeface="Georgia" pitchFamily="34" charset="-120"/>
              </a:rPr>
              <a:t>Blumberg shared the 1976 Nobel Prize with Carleton Gajdusek</a:t>
            </a:r>
            <a:endParaRPr lang="en-US" sz="21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Blumberg BS, Alter HJ, Visnich S. JAMA 1965;191:541-546. PMID 14239025.</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From antigen to vaccine</a:t>
            </a:r>
            <a:endParaRPr lang="en-US" sz="3000" dirty="0"/>
          </a:p>
        </p:txBody>
      </p:sp>
      <p:sp>
        <p:nvSpPr>
          <p:cNvPr id="3" name="Shape 1"/>
          <p:cNvSpPr/>
          <p:nvPr/>
        </p:nvSpPr>
        <p:spPr>
          <a:xfrm>
            <a:off x="274320" y="2377440"/>
            <a:ext cx="7498080" cy="0"/>
          </a:xfrm>
          <a:prstGeom prst="line">
            <a:avLst/>
          </a:prstGeom>
          <a:noFill/>
          <a:ln w="25400">
            <a:solidFill>
              <a:srgbClr val="595959"/>
            </a:solidFill>
            <a:prstDash val="solid"/>
          </a:ln>
        </p:spPr>
      </p:sp>
      <p:sp>
        <p:nvSpPr>
          <p:cNvPr id="4" name="Shape 2"/>
          <p:cNvSpPr/>
          <p:nvPr/>
        </p:nvSpPr>
        <p:spPr>
          <a:xfrm>
            <a:off x="941832" y="2295144"/>
            <a:ext cx="164592" cy="164592"/>
          </a:xfrm>
          <a:prstGeom prst="ellipse">
            <a:avLst/>
          </a:prstGeom>
          <a:solidFill>
            <a:srgbClr val="1F4E79"/>
          </a:solidFill>
          <a:ln w="12700">
            <a:solidFill>
              <a:srgbClr val="1F4E79"/>
            </a:solidFill>
            <a:prstDash val="solid"/>
          </a:ln>
        </p:spPr>
      </p:sp>
      <p:sp>
        <p:nvSpPr>
          <p:cNvPr id="5" name="Text 3"/>
          <p:cNvSpPr txBox="1"/>
          <p:nvPr/>
        </p:nvSpPr>
        <p:spPr>
          <a:xfrm>
            <a:off x="274320"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1965</a:t>
            </a:r>
            <a:endParaRPr lang="en-US" sz="2800" dirty="0"/>
          </a:p>
        </p:txBody>
      </p:sp>
      <p:sp>
        <p:nvSpPr>
          <p:cNvPr id="6" name="Text 4"/>
          <p:cNvSpPr txBox="1"/>
          <p:nvPr/>
        </p:nvSpPr>
        <p:spPr>
          <a:xfrm>
            <a:off x="347472"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Blumberg, Alter and Visnich describe the Australia antigen</a:t>
            </a:r>
            <a:endParaRPr lang="en-US" sz="1500" dirty="0"/>
          </a:p>
        </p:txBody>
      </p:sp>
      <p:sp>
        <p:nvSpPr>
          <p:cNvPr id="7" name="Shape 5"/>
          <p:cNvSpPr/>
          <p:nvPr/>
        </p:nvSpPr>
        <p:spPr>
          <a:xfrm>
            <a:off x="2441448" y="2295144"/>
            <a:ext cx="164592" cy="164592"/>
          </a:xfrm>
          <a:prstGeom prst="ellipse">
            <a:avLst/>
          </a:prstGeom>
          <a:solidFill>
            <a:srgbClr val="1F4E79"/>
          </a:solidFill>
          <a:ln w="12700">
            <a:solidFill>
              <a:srgbClr val="1F4E79"/>
            </a:solidFill>
            <a:prstDash val="solid"/>
          </a:ln>
        </p:spPr>
      </p:sp>
      <p:sp>
        <p:nvSpPr>
          <p:cNvPr id="8" name="Text 6"/>
          <p:cNvSpPr txBox="1"/>
          <p:nvPr/>
        </p:nvSpPr>
        <p:spPr>
          <a:xfrm>
            <a:off x="1773936"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1970</a:t>
            </a:r>
            <a:endParaRPr lang="en-US" sz="2800" dirty="0"/>
          </a:p>
        </p:txBody>
      </p:sp>
      <p:sp>
        <p:nvSpPr>
          <p:cNvPr id="9" name="Text 7"/>
          <p:cNvSpPr txBox="1"/>
          <p:nvPr/>
        </p:nvSpPr>
        <p:spPr>
          <a:xfrm>
            <a:off x="1847088"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Dane, Cameron and Briggs see the virus particle in serum</a:t>
            </a:r>
            <a:endParaRPr lang="en-US" sz="1500" dirty="0"/>
          </a:p>
        </p:txBody>
      </p:sp>
      <p:sp>
        <p:nvSpPr>
          <p:cNvPr id="10" name="Shape 8"/>
          <p:cNvSpPr/>
          <p:nvPr/>
        </p:nvSpPr>
        <p:spPr>
          <a:xfrm>
            <a:off x="3941064" y="2295144"/>
            <a:ext cx="164592" cy="164592"/>
          </a:xfrm>
          <a:prstGeom prst="ellipse">
            <a:avLst/>
          </a:prstGeom>
          <a:solidFill>
            <a:srgbClr val="1F4E79"/>
          </a:solidFill>
          <a:ln w="12700">
            <a:solidFill>
              <a:srgbClr val="1F4E79"/>
            </a:solidFill>
            <a:prstDash val="solid"/>
          </a:ln>
        </p:spPr>
      </p:sp>
      <p:sp>
        <p:nvSpPr>
          <p:cNvPr id="11" name="Text 9"/>
          <p:cNvSpPr txBox="1"/>
          <p:nvPr/>
        </p:nvSpPr>
        <p:spPr>
          <a:xfrm>
            <a:off x="3273552"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1976</a:t>
            </a:r>
            <a:endParaRPr lang="en-US" sz="2800" dirty="0"/>
          </a:p>
        </p:txBody>
      </p:sp>
      <p:sp>
        <p:nvSpPr>
          <p:cNvPr id="12" name="Text 10"/>
          <p:cNvSpPr txBox="1"/>
          <p:nvPr/>
        </p:nvSpPr>
        <p:spPr>
          <a:xfrm>
            <a:off x="3346704"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Blumberg and Gajdusek receive the Nobel Prize. First immunization of people with plasma-derived vaccine (Maupas)</a:t>
            </a:r>
            <a:endParaRPr lang="en-US" sz="1500" dirty="0"/>
          </a:p>
        </p:txBody>
      </p:sp>
      <p:sp>
        <p:nvSpPr>
          <p:cNvPr id="13" name="Shape 11"/>
          <p:cNvSpPr/>
          <p:nvPr/>
        </p:nvSpPr>
        <p:spPr>
          <a:xfrm>
            <a:off x="5440680" y="2295144"/>
            <a:ext cx="164592" cy="164592"/>
          </a:xfrm>
          <a:prstGeom prst="ellipse">
            <a:avLst/>
          </a:prstGeom>
          <a:solidFill>
            <a:srgbClr val="1F4E79"/>
          </a:solidFill>
          <a:ln w="12700">
            <a:solidFill>
              <a:srgbClr val="1F4E79"/>
            </a:solidFill>
            <a:prstDash val="solid"/>
          </a:ln>
        </p:spPr>
      </p:sp>
      <p:sp>
        <p:nvSpPr>
          <p:cNvPr id="14" name="Text 12"/>
          <p:cNvSpPr txBox="1"/>
          <p:nvPr/>
        </p:nvSpPr>
        <p:spPr>
          <a:xfrm>
            <a:off x="4773168"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1980</a:t>
            </a:r>
            <a:endParaRPr lang="en-US" sz="2800" dirty="0"/>
          </a:p>
        </p:txBody>
      </p:sp>
      <p:sp>
        <p:nvSpPr>
          <p:cNvPr id="15" name="Text 13"/>
          <p:cNvSpPr txBox="1"/>
          <p:nvPr/>
        </p:nvSpPr>
        <p:spPr>
          <a:xfrm>
            <a:off x="4846320"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Szmuness: the vaccine works in a controlled trial of 1,083 men</a:t>
            </a:r>
            <a:endParaRPr lang="en-US" sz="1500" dirty="0"/>
          </a:p>
        </p:txBody>
      </p:sp>
      <p:sp>
        <p:nvSpPr>
          <p:cNvPr id="16" name="Shape 14"/>
          <p:cNvSpPr/>
          <p:nvPr/>
        </p:nvSpPr>
        <p:spPr>
          <a:xfrm>
            <a:off x="6940296" y="2295144"/>
            <a:ext cx="164592" cy="164592"/>
          </a:xfrm>
          <a:prstGeom prst="ellipse">
            <a:avLst/>
          </a:prstGeom>
          <a:solidFill>
            <a:srgbClr val="1F4E79"/>
          </a:solidFill>
          <a:ln w="12700">
            <a:solidFill>
              <a:srgbClr val="1F4E79"/>
            </a:solidFill>
            <a:prstDash val="solid"/>
          </a:ln>
        </p:spPr>
      </p:sp>
      <p:sp>
        <p:nvSpPr>
          <p:cNvPr id="17" name="Text 15"/>
          <p:cNvSpPr txBox="1"/>
          <p:nvPr/>
        </p:nvSpPr>
        <p:spPr>
          <a:xfrm>
            <a:off x="6272784" y="1600200"/>
            <a:ext cx="1499616" cy="548640"/>
          </a:xfrm>
          <a:prstGeom prst="rect">
            <a:avLst/>
          </a:prstGeom>
          <a:noFill/>
          <a:ln/>
        </p:spPr>
        <p:txBody>
          <a:bodyPr wrap="square" lIns="0" tIns="0" rIns="0" bIns="0" rtlCol="0" anchor="b"/>
          <a:lstStyle/>
          <a:p>
            <a:pPr algn="ctr" indent="0" marL="0">
              <a:buNone/>
            </a:pPr>
            <a:r>
              <a:rPr lang="en-US" sz="2800" b="1" dirty="0">
                <a:solidFill>
                  <a:srgbClr val="000000"/>
                </a:solidFill>
                <a:latin typeface="Georgia" pitchFamily="34" charset="0"/>
                <a:ea typeface="Georgia" pitchFamily="34" charset="-122"/>
                <a:cs typeface="Georgia" pitchFamily="34" charset="-120"/>
              </a:rPr>
              <a:t>1981</a:t>
            </a:r>
            <a:endParaRPr lang="en-US" sz="2800" dirty="0"/>
          </a:p>
        </p:txBody>
      </p:sp>
      <p:sp>
        <p:nvSpPr>
          <p:cNvPr id="18" name="Text 16"/>
          <p:cNvSpPr txBox="1"/>
          <p:nvPr/>
        </p:nvSpPr>
        <p:spPr>
          <a:xfrm>
            <a:off x="6345936" y="2651760"/>
            <a:ext cx="1353312" cy="3108960"/>
          </a:xfrm>
          <a:prstGeom prst="rect">
            <a:avLst/>
          </a:prstGeom>
          <a:noFill/>
          <a:ln/>
        </p:spPr>
        <p:txBody>
          <a:bodyPr wrap="square" lIns="0" tIns="0" rIns="0" bIns="0" rtlCol="0" anchor="t"/>
          <a:lstStyle/>
          <a:p>
            <a:pPr algn="ctr" indent="0" marL="0">
              <a:buNone/>
            </a:pPr>
            <a:r>
              <a:rPr lang="en-US" sz="1500" dirty="0">
                <a:solidFill>
                  <a:srgbClr val="000000"/>
                </a:solidFill>
                <a:latin typeface="Georgia" pitchFamily="34" charset="0"/>
                <a:ea typeface="Georgia" pitchFamily="34" charset="-122"/>
                <a:cs typeface="Georgia" pitchFamily="34" charset="-120"/>
              </a:rPr>
              <a:t>Beasley: HBsAg carriers in Taiwan get liver cancer at a far higher rate</a:t>
            </a:r>
            <a:endParaRPr lang="en-US" sz="1500" dirty="0"/>
          </a:p>
        </p:txBody>
      </p:sp>
      <p:pic>
        <p:nvPicPr>
          <p:cNvPr id="19" name="Image 0" descr="Watercolor of a glass vaccine vial and a glass syringe">    </p:cNvPr>
          <p:cNvPicPr>
            <a:picLocks noChangeAspect="1"/>
          </p:cNvPicPr>
          <p:nvPr/>
        </p:nvPicPr>
        <p:blipFill>
          <a:blip r:embed="rId1"/>
          <a:stretch>
            <a:fillRect/>
          </a:stretch>
        </p:blipFill>
        <p:spPr>
          <a:xfrm>
            <a:off x="7863840" y="1097280"/>
            <a:ext cx="4206240" cy="4206240"/>
          </a:xfrm>
          <a:prstGeom prst="rect">
            <a:avLst/>
          </a:prstGeom>
        </p:spPr>
      </p:pic>
      <p:sp>
        <p:nvSpPr>
          <p:cNvPr id="2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PMIDs: Dane 4190997; Maupas 59012; Szmuness 6997738; Beasley 6118576.</a:t>
            </a:r>
            <a:endParaRPr lang="en-US" sz="1000" dirty="0"/>
          </a:p>
        </p:txBody>
      </p:sp>
      <p:sp>
        <p:nvSpPr>
          <p:cNvPr id="22"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4/57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Prince, 1968</a:t>
            </a:r>
            <a:endParaRPr lang="en-US" sz="3000" dirty="0"/>
          </a:p>
        </p:txBody>
      </p:sp>
      <p:pic>
        <p:nvPicPr>
          <p:cNvPr id="3" name="Image 0" descr="Title and first paragraph of Prince, PNAS 1968">    </p:cNvPr>
          <p:cNvPicPr>
            <a:picLocks noChangeAspect="1"/>
          </p:cNvPicPr>
          <p:nvPr/>
        </p:nvPicPr>
        <p:blipFill>
          <a:blip r:embed="rId1"/>
          <a:stretch>
            <a:fillRect/>
          </a:stretch>
        </p:blipFill>
        <p:spPr>
          <a:xfrm>
            <a:off x="1225177" y="1234440"/>
            <a:ext cx="9741342" cy="4114800"/>
          </a:xfrm>
          <a:prstGeom prst="rect">
            <a:avLst/>
          </a:prstGeom>
        </p:spPr>
      </p:pic>
      <p:sp>
        <p:nvSpPr>
          <p:cNvPr id="4" name="Body"/>
          <p:cNvSpPr txBox="1"/>
          <p:nvPr/>
        </p:nvSpPr>
        <p:spPr>
          <a:xfrm>
            <a:off x="1097280" y="5486400"/>
            <a:ext cx="9997135" cy="6400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Okochi and Murakami reported the antigen in Japanese the same year</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Prince AM. PNAS 1968;60:814-821, PMID 4970112. Okochi K, Murakami S. Vox Sang 1968;15:374-385, PMID 5749015.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Dane, 1970</a:t>
            </a:r>
            <a:endParaRPr lang="en-US" sz="3000" dirty="0"/>
          </a:p>
        </p:txBody>
      </p:sp>
      <p:pic>
        <p:nvPicPr>
          <p:cNvPr id="3" name="Image 0" descr="Title and summary of Dane, Cameron and Briggs, Lancet 1970">    </p:cNvPr>
          <p:cNvPicPr>
            <a:picLocks noChangeAspect="1"/>
          </p:cNvPicPr>
          <p:nvPr/>
        </p:nvPicPr>
        <p:blipFill>
          <a:blip r:embed="rId1"/>
          <a:stretch>
            <a:fillRect/>
          </a:stretch>
        </p:blipFill>
        <p:spPr>
          <a:xfrm>
            <a:off x="548640" y="1280160"/>
            <a:ext cx="5760720" cy="3933133"/>
          </a:xfrm>
          <a:prstGeom prst="rect">
            <a:avLst/>
          </a:prstGeom>
        </p:spPr>
      </p:pic>
      <p:pic>
        <p:nvPicPr>
          <p:cNvPr id="4" name="Image 1" descr="Electron micrograph, Figure 1 of the paper">    </p:cNvPr>
          <p:cNvPicPr>
            <a:picLocks noChangeAspect="1"/>
          </p:cNvPicPr>
          <p:nvPr/>
        </p:nvPicPr>
        <p:blipFill>
          <a:blip r:embed="rId2"/>
          <a:stretch>
            <a:fillRect/>
          </a:stretch>
        </p:blipFill>
        <p:spPr>
          <a:xfrm>
            <a:off x="6994232" y="1188720"/>
            <a:ext cx="4390977" cy="502920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Dane DS, Cameron CH, Briggs M. Lancet 1970;1:695-698. PMID 4190997.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6/57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Beasley, Taiwan, 1981</a:t>
            </a:r>
            <a:endParaRPr lang="en-US" sz="3000" dirty="0"/>
          </a:p>
        </p:txBody>
      </p:sp>
      <p:pic>
        <p:nvPicPr>
          <p:cNvPr id="3" name="Image 0" descr="Title and summary of Beasley et al., Lancet 1981">    </p:cNvPr>
          <p:cNvPicPr>
            <a:picLocks noChangeAspect="1"/>
          </p:cNvPicPr>
          <p:nvPr/>
        </p:nvPicPr>
        <p:blipFill>
          <a:blip r:embed="rId1"/>
          <a:stretch>
            <a:fillRect/>
          </a:stretch>
        </p:blipFill>
        <p:spPr>
          <a:xfrm>
            <a:off x="548640" y="1234440"/>
            <a:ext cx="5652522" cy="4937760"/>
          </a:xfrm>
          <a:prstGeom prst="rect">
            <a:avLst/>
          </a:prstGeom>
        </p:spPr>
      </p:pic>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858000" y="2011680"/>
          <a:ext cx="4937760" cy="914400"/>
        </p:xfrm>
        <a:graphic>
          <a:graphicData uri="http://schemas.openxmlformats.org/drawingml/2006/table">
            <a:tbl>
              <a:tblPr/>
              <a:tblGrid>
                <a:gridCol w="2084832"/>
                <a:gridCol w="1517904"/>
                <a:gridCol w="1335024"/>
              </a:tblGrid>
              <a:tr h="404165">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HBsAg carriers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Non-carriers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54812">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HCC incidence per 100,000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1,158</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54812">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Deaths from HCC or cirrhosis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54.3% of 105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1.5% of 202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858000" y="4023360"/>
            <a:ext cx="49377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Relative risk 223</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Beasley RP et al. Lancet 1981;2:1129-1133. PMID 6118576.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7/57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Szmuness, 1980</a:t>
            </a:r>
            <a:endParaRPr lang="en-US" sz="3000" dirty="0"/>
          </a:p>
        </p:txBody>
      </p:sp>
      <p:pic>
        <p:nvPicPr>
          <p:cNvPr id="3" name="Image 0" descr="Title and abstract of Szmuness et al., NEJM 1980">    </p:cNvPr>
          <p:cNvPicPr>
            <a:picLocks noChangeAspect="1"/>
          </p:cNvPicPr>
          <p:nvPr/>
        </p:nvPicPr>
        <p:blipFill>
          <a:blip r:embed="rId1"/>
          <a:stretch>
            <a:fillRect/>
          </a:stretch>
        </p:blipFill>
        <p:spPr>
          <a:xfrm>
            <a:off x="1222156" y="1188720"/>
            <a:ext cx="9747384" cy="502920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Szmuness W et al. N Engl J Med 1980;303:833-841. PMID 6997738.</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8/57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B worldwide</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How many people with chronic hepatitis B know it?</a:t>
            </a:r>
            <a:endParaRPr lang="en-US" sz="26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Shape 3"/>
          <p:cNvSpPr/>
          <p:nvPr/>
        </p:nvSpPr>
        <p:spPr>
          <a:xfrm>
            <a:off x="2641549" y="2194560"/>
            <a:ext cx="1463040" cy="3200400"/>
          </a:xfrm>
          <a:prstGeom prst="rect">
            <a:avLst/>
          </a:prstGeom>
          <a:solidFill>
            <a:srgbClr val="9DB4CA"/>
          </a:solidFill>
          <a:ln w="6350">
            <a:solidFill>
              <a:srgbClr val="9DB4CA"/>
            </a:solidFill>
            <a:prstDash val="solid"/>
          </a:ln>
        </p:spPr>
      </p:sp>
      <p:sp>
        <p:nvSpPr>
          <p:cNvPr id="6" name="Text 4"/>
          <p:cNvSpPr txBox="1"/>
          <p:nvPr/>
        </p:nvSpPr>
        <p:spPr>
          <a:xfrm>
            <a:off x="2011680" y="173736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100%</a:t>
            </a:r>
            <a:endParaRPr lang="en-US" sz="2200" dirty="0"/>
          </a:p>
        </p:txBody>
      </p:sp>
      <p:sp>
        <p:nvSpPr>
          <p:cNvPr id="7" name="Text 5"/>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Living with chronic hepatitis B (254 million)</a:t>
            </a:r>
            <a:endParaRPr lang="en-US" sz="1800" dirty="0"/>
          </a:p>
        </p:txBody>
      </p:sp>
      <p:sp>
        <p:nvSpPr>
          <p:cNvPr id="8" name="Text 6"/>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Diagnosed</a:t>
            </a:r>
            <a:endParaRPr lang="en-US" sz="1800" dirty="0"/>
          </a:p>
        </p:txBody>
      </p:sp>
      <p:sp>
        <p:nvSpPr>
          <p:cNvPr id="9" name="Text 7"/>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Treated (about 7 million)</a:t>
            </a:r>
            <a:endParaRPr lang="en-US" sz="1800" dirty="0"/>
          </a:p>
        </p:txBody>
      </p:sp>
      <p:sp>
        <p:nvSpPr>
          <p:cNvPr id="1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news release 9 April 2024 (2022 estimates), rounded. WHO Global hepatitis report 2024.</a:t>
            </a:r>
            <a:endParaRPr lang="en-US" sz="1000" dirty="0"/>
          </a:p>
        </p:txBody>
      </p:sp>
      <p:sp>
        <p:nvSpPr>
          <p:cNvPr id="12"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9/57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B worldwide</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How many people with chronic hepatitis B know it?</a:t>
            </a:r>
            <a:endParaRPr lang="en-US" sz="26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Shape 3"/>
          <p:cNvSpPr/>
          <p:nvPr/>
        </p:nvSpPr>
        <p:spPr>
          <a:xfrm>
            <a:off x="2641549" y="2194560"/>
            <a:ext cx="1463040" cy="3200400"/>
          </a:xfrm>
          <a:prstGeom prst="rect">
            <a:avLst/>
          </a:prstGeom>
          <a:solidFill>
            <a:srgbClr val="9DB4CA"/>
          </a:solidFill>
          <a:ln w="6350">
            <a:solidFill>
              <a:srgbClr val="9DB4CA"/>
            </a:solidFill>
            <a:prstDash val="solid"/>
          </a:ln>
        </p:spPr>
      </p:sp>
      <p:sp>
        <p:nvSpPr>
          <p:cNvPr id="6" name="Text 4"/>
          <p:cNvSpPr txBox="1"/>
          <p:nvPr/>
        </p:nvSpPr>
        <p:spPr>
          <a:xfrm>
            <a:off x="2011680" y="173736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100%</a:t>
            </a:r>
            <a:endParaRPr lang="en-US" sz="2200" dirty="0"/>
          </a:p>
        </p:txBody>
      </p:sp>
      <p:sp>
        <p:nvSpPr>
          <p:cNvPr id="7" name="Text 5"/>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Living with chronic hepatitis B (254 million)</a:t>
            </a:r>
            <a:endParaRPr lang="en-US" sz="1800" dirty="0"/>
          </a:p>
        </p:txBody>
      </p:sp>
      <p:sp>
        <p:nvSpPr>
          <p:cNvPr id="8" name="Shape 6"/>
          <p:cNvSpPr/>
          <p:nvPr/>
        </p:nvSpPr>
        <p:spPr>
          <a:xfrm>
            <a:off x="5364328" y="4978908"/>
            <a:ext cx="1463040" cy="416052"/>
          </a:xfrm>
          <a:prstGeom prst="rect">
            <a:avLst/>
          </a:prstGeom>
          <a:solidFill>
            <a:srgbClr val="1F4E79"/>
          </a:solidFill>
          <a:ln w="6350">
            <a:solidFill>
              <a:srgbClr val="1F4E79"/>
            </a:solidFill>
            <a:prstDash val="solid"/>
          </a:ln>
        </p:spPr>
      </p:sp>
      <p:sp>
        <p:nvSpPr>
          <p:cNvPr id="9" name="Text 7"/>
          <p:cNvSpPr txBox="1"/>
          <p:nvPr/>
        </p:nvSpPr>
        <p:spPr>
          <a:xfrm>
            <a:off x="4734458" y="4521708"/>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13%</a:t>
            </a:r>
            <a:endParaRPr lang="en-US" sz="2200" dirty="0"/>
          </a:p>
        </p:txBody>
      </p:sp>
      <p:sp>
        <p:nvSpPr>
          <p:cNvPr id="10" name="Text 8"/>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Diagnosed</a:t>
            </a:r>
            <a:endParaRPr lang="en-US" sz="1800" dirty="0"/>
          </a:p>
        </p:txBody>
      </p:sp>
      <p:sp>
        <p:nvSpPr>
          <p:cNvPr id="11" name="Shape 9"/>
          <p:cNvSpPr/>
          <p:nvPr/>
        </p:nvSpPr>
        <p:spPr>
          <a:xfrm>
            <a:off x="8087106" y="5298948"/>
            <a:ext cx="1463040" cy="96012"/>
          </a:xfrm>
          <a:prstGeom prst="rect">
            <a:avLst/>
          </a:prstGeom>
          <a:solidFill>
            <a:srgbClr val="1F4E79"/>
          </a:solidFill>
          <a:ln w="6350">
            <a:solidFill>
              <a:srgbClr val="1F4E79"/>
            </a:solidFill>
            <a:prstDash val="solid"/>
          </a:ln>
        </p:spPr>
      </p:sp>
      <p:sp>
        <p:nvSpPr>
          <p:cNvPr id="12" name="Text 10"/>
          <p:cNvSpPr txBox="1"/>
          <p:nvPr/>
        </p:nvSpPr>
        <p:spPr>
          <a:xfrm>
            <a:off x="7457237" y="4841748"/>
            <a:ext cx="2722778" cy="411480"/>
          </a:xfrm>
          <a:prstGeom prst="rect">
            <a:avLst/>
          </a:prstGeom>
          <a:noFill/>
          <a:ln/>
        </p:spPr>
        <p:txBody>
          <a:bodyPr wrap="square" lIns="0" tIns="0" rIns="0" bIns="0" rtlCol="0" anchor="b"/>
          <a:lstStyle/>
          <a:p>
            <a:pPr algn="ctr" indent="0" marL="0">
              <a:buNone/>
            </a:pPr>
            <a:r>
              <a:rPr lang="en-US" sz="2200" b="1" dirty="0">
                <a:solidFill>
                  <a:srgbClr val="C00000"/>
                </a:solidFill>
                <a:latin typeface="Calibri" pitchFamily="34" charset="0"/>
                <a:ea typeface="Calibri" pitchFamily="34" charset="-122"/>
                <a:cs typeface="Calibri" pitchFamily="34" charset="-120"/>
              </a:rPr>
              <a:t>3%</a:t>
            </a:r>
            <a:endParaRPr lang="en-US" sz="2200" dirty="0"/>
          </a:p>
        </p:txBody>
      </p:sp>
      <p:sp>
        <p:nvSpPr>
          <p:cNvPr id="13" name="Text 11"/>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Treated (about 7 million)</a:t>
            </a:r>
            <a:endParaRPr lang="en-US" sz="1800" dirty="0"/>
          </a:p>
        </p:txBody>
      </p:sp>
      <p:sp>
        <p:nvSpPr>
          <p:cNvPr id="1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news release 9 April 2024 (2022 estimates), rounded. WHO Global hepatitis report 2024.</a:t>
            </a:r>
            <a:endParaRPr lang="en-US" sz="1000" dirty="0"/>
          </a:p>
        </p:txBody>
      </p:sp>
      <p:sp>
        <p:nvSpPr>
          <p:cNvPr id="1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9/57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becomes chronic?</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How often does infection become chronic, by age at infection?</a:t>
            </a:r>
            <a:endParaRPr lang="en-US" sz="24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Text 3"/>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at birth</a:t>
            </a:r>
            <a:endParaRPr lang="en-US" sz="1800" dirty="0"/>
          </a:p>
        </p:txBody>
      </p:sp>
      <p:sp>
        <p:nvSpPr>
          <p:cNvPr id="6" name="Text 4"/>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at age 1 to 4</a:t>
            </a:r>
            <a:endParaRPr lang="en-US" sz="1800" dirty="0"/>
          </a:p>
        </p:txBody>
      </p:sp>
      <p:sp>
        <p:nvSpPr>
          <p:cNvPr id="7" name="Text 5"/>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as an adult</a:t>
            </a:r>
            <a:endParaRPr lang="en-US" sz="18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guidelines for chronic hepatitis B, 2024. CDC perinatal hepatitis B overview, 2025.</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10/57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becomes chronic?</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How often does infection become chronic, by age at infection?</a:t>
            </a:r>
            <a:endParaRPr lang="en-US" sz="2400" dirty="0"/>
          </a:p>
        </p:txBody>
      </p:sp>
      <p:sp>
        <p:nvSpPr>
          <p:cNvPr id="4" name="Shape 2"/>
          <p:cNvSpPr/>
          <p:nvPr/>
        </p:nvSpPr>
        <p:spPr>
          <a:xfrm>
            <a:off x="2011680" y="5394960"/>
            <a:ext cx="8168335" cy="0"/>
          </a:xfrm>
          <a:prstGeom prst="line">
            <a:avLst/>
          </a:prstGeom>
          <a:noFill/>
          <a:ln w="19050">
            <a:solidFill>
              <a:srgbClr val="595959"/>
            </a:solidFill>
            <a:prstDash val="solid"/>
          </a:ln>
        </p:spPr>
      </p:sp>
      <p:sp>
        <p:nvSpPr>
          <p:cNvPr id="5" name="Shape 3"/>
          <p:cNvSpPr/>
          <p:nvPr/>
        </p:nvSpPr>
        <p:spPr>
          <a:xfrm>
            <a:off x="2641549" y="2514600"/>
            <a:ext cx="1463040" cy="2880360"/>
          </a:xfrm>
          <a:prstGeom prst="rect">
            <a:avLst/>
          </a:prstGeom>
          <a:solidFill>
            <a:srgbClr val="1F4E79"/>
          </a:solidFill>
          <a:ln w="6350">
            <a:solidFill>
              <a:srgbClr val="1F4E79"/>
            </a:solidFill>
            <a:prstDash val="solid"/>
          </a:ln>
        </p:spPr>
      </p:sp>
      <p:sp>
        <p:nvSpPr>
          <p:cNvPr id="6" name="Text 4"/>
          <p:cNvSpPr txBox="1"/>
          <p:nvPr/>
        </p:nvSpPr>
        <p:spPr>
          <a:xfrm>
            <a:off x="2011680" y="205740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About 90%</a:t>
            </a:r>
            <a:endParaRPr lang="en-US" sz="2200" dirty="0"/>
          </a:p>
        </p:txBody>
      </p:sp>
      <p:sp>
        <p:nvSpPr>
          <p:cNvPr id="7" name="Text 5"/>
          <p:cNvSpPr txBox="1"/>
          <p:nvPr/>
        </p:nvSpPr>
        <p:spPr>
          <a:xfrm>
            <a:off x="2057400"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at birth</a:t>
            </a:r>
            <a:endParaRPr lang="en-US" sz="1800" dirty="0"/>
          </a:p>
        </p:txBody>
      </p:sp>
      <p:sp>
        <p:nvSpPr>
          <p:cNvPr id="8" name="Shape 6"/>
          <p:cNvSpPr/>
          <p:nvPr/>
        </p:nvSpPr>
        <p:spPr>
          <a:xfrm>
            <a:off x="5364328" y="4434840"/>
            <a:ext cx="1463040" cy="960120"/>
          </a:xfrm>
          <a:prstGeom prst="rect">
            <a:avLst/>
          </a:prstGeom>
          <a:solidFill>
            <a:srgbClr val="1F4E79"/>
          </a:solidFill>
          <a:ln w="6350">
            <a:solidFill>
              <a:srgbClr val="1F4E79"/>
            </a:solidFill>
            <a:prstDash val="solid"/>
          </a:ln>
        </p:spPr>
      </p:sp>
      <p:sp>
        <p:nvSpPr>
          <p:cNvPr id="9" name="Text 7"/>
          <p:cNvSpPr txBox="1"/>
          <p:nvPr/>
        </p:nvSpPr>
        <p:spPr>
          <a:xfrm>
            <a:off x="4734458" y="397764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About 30%</a:t>
            </a:r>
            <a:endParaRPr lang="en-US" sz="2200" dirty="0"/>
          </a:p>
        </p:txBody>
      </p:sp>
      <p:sp>
        <p:nvSpPr>
          <p:cNvPr id="10" name="Text 8"/>
          <p:cNvSpPr txBox="1"/>
          <p:nvPr/>
        </p:nvSpPr>
        <p:spPr>
          <a:xfrm>
            <a:off x="4780178"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at age 1 to 4</a:t>
            </a:r>
            <a:endParaRPr lang="en-US" sz="1800" dirty="0"/>
          </a:p>
        </p:txBody>
      </p:sp>
      <p:sp>
        <p:nvSpPr>
          <p:cNvPr id="11" name="Shape 9"/>
          <p:cNvSpPr/>
          <p:nvPr/>
        </p:nvSpPr>
        <p:spPr>
          <a:xfrm>
            <a:off x="8087106" y="5234940"/>
            <a:ext cx="1463040" cy="160020"/>
          </a:xfrm>
          <a:prstGeom prst="rect">
            <a:avLst/>
          </a:prstGeom>
          <a:solidFill>
            <a:srgbClr val="1F4E79"/>
          </a:solidFill>
          <a:ln w="6350">
            <a:solidFill>
              <a:srgbClr val="1F4E79"/>
            </a:solidFill>
            <a:prstDash val="solid"/>
          </a:ln>
        </p:spPr>
      </p:sp>
      <p:sp>
        <p:nvSpPr>
          <p:cNvPr id="12" name="Text 10"/>
          <p:cNvSpPr txBox="1"/>
          <p:nvPr/>
        </p:nvSpPr>
        <p:spPr>
          <a:xfrm>
            <a:off x="7457237" y="4777740"/>
            <a:ext cx="2722778" cy="411480"/>
          </a:xfrm>
          <a:prstGeom prst="rect">
            <a:avLst/>
          </a:prstGeom>
          <a:noFill/>
          <a:ln/>
        </p:spPr>
        <p:txBody>
          <a:bodyPr wrap="square" lIns="0" tIns="0" rIns="0" bIns="0" rtlCol="0" anchor="b"/>
          <a:lstStyle/>
          <a:p>
            <a:pPr algn="ctr" indent="0" marL="0">
              <a:buNone/>
            </a:pPr>
            <a:r>
              <a:rPr lang="en-US" sz="2200" b="1" dirty="0">
                <a:solidFill>
                  <a:srgbClr val="000000"/>
                </a:solidFill>
                <a:latin typeface="Calibri" pitchFamily="34" charset="0"/>
                <a:ea typeface="Calibri" pitchFamily="34" charset="-122"/>
                <a:cs typeface="Calibri" pitchFamily="34" charset="-120"/>
              </a:rPr>
              <a:t>Under 5%</a:t>
            </a:r>
            <a:endParaRPr lang="en-US" sz="2200" dirty="0"/>
          </a:p>
        </p:txBody>
      </p:sp>
      <p:sp>
        <p:nvSpPr>
          <p:cNvPr id="13" name="Text 11"/>
          <p:cNvSpPr txBox="1"/>
          <p:nvPr/>
        </p:nvSpPr>
        <p:spPr>
          <a:xfrm>
            <a:off x="7502957" y="5468112"/>
            <a:ext cx="2631338" cy="731520"/>
          </a:xfrm>
          <a:prstGeom prst="rect">
            <a:avLst/>
          </a:prstGeom>
          <a:noFill/>
          <a:ln/>
        </p:spPr>
        <p:txBody>
          <a:bodyPr wrap="square" lIns="0" tIns="0" rIns="0" bIns="0" rtlCol="0" anchor="t"/>
          <a:lstStyle/>
          <a:p>
            <a:pPr algn="ctr" indent="0" marL="0">
              <a:buNone/>
            </a:pPr>
            <a:r>
              <a:rPr lang="en-US" sz="1800" dirty="0">
                <a:solidFill>
                  <a:srgbClr val="000000"/>
                </a:solidFill>
                <a:latin typeface="Calibri" pitchFamily="34" charset="0"/>
                <a:ea typeface="Calibri" pitchFamily="34" charset="-122"/>
                <a:cs typeface="Calibri" pitchFamily="34" charset="-120"/>
              </a:rPr>
              <a:t>Infected as an adult</a:t>
            </a:r>
            <a:endParaRPr lang="en-US" sz="1800" dirty="0"/>
          </a:p>
        </p:txBody>
      </p:sp>
      <p:sp>
        <p:nvSpPr>
          <p:cNvPr id="1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WHO guidelines for chronic hepatitis B, 2024. CDC perinatal hepatitis B overview, 2025.</a:t>
            </a:r>
            <a:endParaRPr lang="en-US" sz="1000" dirty="0"/>
          </a:p>
        </p:txBody>
      </p:sp>
      <p:sp>
        <p:nvSpPr>
          <p:cNvPr id="1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10/57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B in the United States</a:t>
            </a:r>
            <a:endParaRPr lang="en-US" sz="30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731520" y="1554480"/>
          <a:ext cx="10728655" cy="914400"/>
        </p:xfrm>
        <a:graphic>
          <a:graphicData uri="http://schemas.openxmlformats.org/drawingml/2006/table">
            <a:tbl>
              <a:tblPr/>
              <a:tblGrid>
                <a:gridCol w="4242816"/>
                <a:gridCol w="3465576"/>
                <a:gridCol w="3017520"/>
              </a:tblGrid>
              <a:tr h="523037">
                <a:tc>
                  <a:txBody>
                    <a:bodyPr/>
                    <a:lstStyle/>
                    <a:p>
                      <a:pPr algn="l" indent="0" marL="0">
                        <a:buNone/>
                      </a:pPr>
                      <a:r>
                        <a:rPr lang="en-US" sz="2200" b="1" dirty="0">
                          <a:solidFill>
                            <a:srgbClr val="000000"/>
                          </a:solidFill>
                          <a:latin typeface="Calibri" pitchFamily="34" charset="0"/>
                          <a:ea typeface="Calibri" pitchFamily="34" charset="-122"/>
                          <a:cs typeface="Calibri" pitchFamily="34" charset="-120"/>
                        </a:rPr>
                        <a:t>Estimate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People with chronic HBV</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Source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0975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NHANES 2013 to 2018</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880,000 (580,000 to 1.17 million)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Household survey</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0975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Meta-analysis including immigrants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1.89 million (1.49 to 2.4 million)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1.47 million are foreign-born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23037">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Not aware of the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About two-thirds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CDC 2023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23037">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Born outside the US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About 69%</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CDC 2023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Conners EE et al. MMWR Recomm Rep 2023;72(1):1-25. PMID 36893044.</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11/57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Screening an adult for hepatitis B</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three tests make up the screening panel?</a:t>
            </a:r>
            <a:endParaRPr lang="en-US" sz="24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1463040" y="2011680"/>
          <a:ext cx="9265615" cy="914400"/>
        </p:xfrm>
        <a:graphic>
          <a:graphicData uri="http://schemas.openxmlformats.org/drawingml/2006/table">
            <a:tbl>
              <a:tblPr/>
              <a:tblGrid>
                <a:gridCol w="6519672"/>
                <a:gridCol w="2743200"/>
              </a:tblGrid>
              <a:tr h="777240">
                <a:tc>
                  <a:txBody>
                    <a:bodyPr/>
                    <a:lstStyle/>
                    <a:p>
                      <a:pPr algn="l" indent="0" marL="0">
                        <a:buNone/>
                      </a:pPr>
                      <a:r>
                        <a:rPr lang="en-US" sz="2400" b="1" dirty="0">
                          <a:solidFill>
                            <a:srgbClr val="000000"/>
                          </a:solidFill>
                          <a:latin typeface="Calibri" pitchFamily="34" charset="0"/>
                          <a:ea typeface="Calibri" pitchFamily="34" charset="-122"/>
                          <a:cs typeface="Calibri" pitchFamily="34" charset="-120"/>
                        </a:rPr>
                        <a:t>Question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400" b="1" dirty="0">
                          <a:solidFill>
                            <a:srgbClr val="000000"/>
                          </a:solidFill>
                          <a:latin typeface="Calibri" pitchFamily="34" charset="0"/>
                          <a:ea typeface="Calibri" pitchFamily="34" charset="-122"/>
                          <a:cs typeface="Calibri" pitchFamily="34" charset="-120"/>
                        </a:rPr>
                        <a:t>Test</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there a current infection?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 patient immune?</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Has the patient ever been exposed?</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recommendations, MMWR Recomm Rep 2023;72(1):1-25, PMID 36893044.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12/57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Screening an adult for hepatitis B</a:t>
            </a:r>
            <a:endParaRPr lang="en-US" sz="3000" dirty="0"/>
          </a:p>
        </p:txBody>
      </p:sp>
      <p:sp>
        <p:nvSpPr>
          <p:cNvPr id="3" name="Question"/>
          <p:cNvSpPr txBox="1"/>
          <p:nvPr/>
        </p:nvSpPr>
        <p:spPr>
          <a:xfrm>
            <a:off x="822960" y="11887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three tests make up the screening panel?</a:t>
            </a:r>
            <a:endParaRPr lang="en-US" sz="2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1463040" y="2011680"/>
          <a:ext cx="9265615" cy="914400"/>
        </p:xfrm>
        <a:graphic>
          <a:graphicData uri="http://schemas.openxmlformats.org/drawingml/2006/table">
            <a:tbl>
              <a:tblPr/>
              <a:tblGrid>
                <a:gridCol w="6519672"/>
                <a:gridCol w="2743200"/>
              </a:tblGrid>
              <a:tr h="777240">
                <a:tc>
                  <a:txBody>
                    <a:bodyPr/>
                    <a:lstStyle/>
                    <a:p>
                      <a:pPr algn="l" indent="0" marL="0">
                        <a:buNone/>
                      </a:pPr>
                      <a:r>
                        <a:rPr lang="en-US" sz="2400" b="1" dirty="0">
                          <a:solidFill>
                            <a:srgbClr val="000000"/>
                          </a:solidFill>
                          <a:latin typeface="Calibri" pitchFamily="34" charset="0"/>
                          <a:ea typeface="Calibri" pitchFamily="34" charset="-122"/>
                          <a:cs typeface="Calibri" pitchFamily="34" charset="-120"/>
                        </a:rPr>
                        <a:t>Question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400" b="1" dirty="0">
                          <a:solidFill>
                            <a:srgbClr val="000000"/>
                          </a:solidFill>
                          <a:latin typeface="Calibri" pitchFamily="34" charset="0"/>
                          <a:ea typeface="Calibri" pitchFamily="34" charset="-122"/>
                          <a:cs typeface="Calibri" pitchFamily="34" charset="-120"/>
                        </a:rPr>
                        <a:t>Test</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there a current infection?</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HBsAg</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Is the patient immune?</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Anti-HBs</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400" dirty="0">
                          <a:solidFill>
                            <a:srgbClr val="000000"/>
                          </a:solidFill>
                          <a:latin typeface="Calibri" pitchFamily="34" charset="0"/>
                          <a:ea typeface="Calibri" pitchFamily="34" charset="-122"/>
                          <a:cs typeface="Calibri" pitchFamily="34" charset="-120"/>
                        </a:rPr>
                        <a:t>Has the patient ever been exposed?</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000000"/>
                          </a:solidFill>
                          <a:latin typeface="Calibri" pitchFamily="34" charset="0"/>
                          <a:ea typeface="Calibri" pitchFamily="34" charset="-122"/>
                          <a:cs typeface="Calibri" pitchFamily="34" charset="-120"/>
                        </a:rPr>
                        <a:t>Total anti-HBc</a:t>
                      </a:r>
                      <a:endParaRPr lang="en-US" sz="2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Once for every adult 18 and older, and in every pregnancy</a:t>
            </a:r>
            <a:endParaRPr lang="en-US" sz="22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recommendations, MMWR Recomm Rep 2023;72(1):1-25, PMID 36893044.</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12/57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Five panels</a:t>
            </a:r>
            <a:endParaRPr lang="en-US" sz="3000" dirty="0"/>
          </a:p>
        </p:txBody>
      </p:sp>
      <p:sp>
        <p:nvSpPr>
          <p:cNvPr id="3" name="Question"/>
          <p:cNvSpPr txBox="1"/>
          <p:nvPr/>
        </p:nvSpPr>
        <p:spPr>
          <a:xfrm>
            <a:off x="822960" y="1143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does each panel mean?</a:t>
            </a:r>
            <a:endParaRPr lang="en-US" sz="2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731520" y="1783080"/>
          <a:ext cx="10728655" cy="914400"/>
        </p:xfrm>
        <a:graphic>
          <a:graphicData uri="http://schemas.openxmlformats.org/drawingml/2006/table">
            <a:tbl>
              <a:tblPr/>
              <a:tblGrid>
                <a:gridCol w="1234440"/>
                <a:gridCol w="1133856"/>
                <a:gridCol w="2185416"/>
                <a:gridCol w="2020824"/>
                <a:gridCol w="1444752"/>
                <a:gridCol w="2706624"/>
              </a:tblGrid>
              <a:tr h="713232">
                <a:tc>
                  <a:txBody>
                    <a:bodyPr/>
                    <a:lstStyle/>
                    <a:p>
                      <a:pPr algn="l"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IgM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1</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2</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4</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Interpretation per CDC 2023 (Table 1), MMWR Recomm Rep 2023;72(1):1-25.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13/57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Five panels</a:t>
            </a:r>
            <a:endParaRPr lang="en-US" sz="3000" dirty="0"/>
          </a:p>
        </p:txBody>
      </p:sp>
      <p:sp>
        <p:nvSpPr>
          <p:cNvPr id="3" name="Question"/>
          <p:cNvSpPr txBox="1"/>
          <p:nvPr/>
        </p:nvSpPr>
        <p:spPr>
          <a:xfrm>
            <a:off x="822960" y="1143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does each panel mean?</a:t>
            </a:r>
            <a:endParaRPr lang="en-US" sz="24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731520" y="1783080"/>
          <a:ext cx="10728655" cy="914400"/>
        </p:xfrm>
        <a:graphic>
          <a:graphicData uri="http://schemas.openxmlformats.org/drawingml/2006/table">
            <a:tbl>
              <a:tblPr/>
              <a:tblGrid>
                <a:gridCol w="1234440"/>
                <a:gridCol w="1133856"/>
                <a:gridCol w="2185416"/>
                <a:gridCol w="2020824"/>
                <a:gridCol w="1444752"/>
                <a:gridCol w="2706624"/>
              </a:tblGrid>
              <a:tr h="713232">
                <a:tc>
                  <a:txBody>
                    <a:bodyPr/>
                    <a:lstStyle/>
                    <a:p>
                      <a:pPr algn="l"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IgM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1</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Susceptible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2</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Vaccinated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3</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Resolved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4</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13232">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Panel 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Acute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Interpretation per CDC 2023 (Table 1), MMWR Recomm Rep 2023;72(1):1-25.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13/57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61-year-old woman starting rituximab</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1097280" y="1234440"/>
          <a:ext cx="9997135" cy="914400"/>
        </p:xfrm>
        <a:graphic>
          <a:graphicData uri="http://schemas.openxmlformats.org/drawingml/2006/table">
            <a:tbl>
              <a:tblPr/>
              <a:tblGrid>
                <a:gridCol w="1517904"/>
                <a:gridCol w="2935224"/>
                <a:gridCol w="1947672"/>
                <a:gridCol w="2066544"/>
                <a:gridCol w="1527048"/>
              </a:tblGrid>
              <a:tr h="548640">
                <a:tc>
                  <a:txBody>
                    <a:bodyPr/>
                    <a:lstStyle/>
                    <a:p>
                      <a:pPr algn="l"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Not done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28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26517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could this be, and what do you order?</a:t>
            </a:r>
            <a:endParaRPr lang="en-US" sz="24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1097280" y="3246120"/>
          <a:ext cx="9997135" cy="914400"/>
        </p:xfrm>
        <a:graphic>
          <a:graphicData uri="http://schemas.openxmlformats.org/drawingml/2006/table">
            <a:tbl>
              <a:tblPr/>
              <a:tblGrid>
                <a:gridCol w="5340096"/>
                <a:gridCol w="4654296"/>
              </a:tblGrid>
              <a:tr h="56692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Possibility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How you sort it out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2023 (Table 1), PMID 36893044; AASLD 2018 hepatitis B guidance, PMID 29405329.</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14/57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61-year-old woman starting rituximab</a:t>
            </a:r>
            <a:endParaRPr lang="en-US" sz="3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1097280" y="1234440"/>
          <a:ext cx="9997135" cy="914400"/>
        </p:xfrm>
        <a:graphic>
          <a:graphicData uri="http://schemas.openxmlformats.org/drawingml/2006/table">
            <a:tbl>
              <a:tblPr/>
              <a:tblGrid>
                <a:gridCol w="1517904"/>
                <a:gridCol w="2935224"/>
                <a:gridCol w="1947672"/>
                <a:gridCol w="2066544"/>
                <a:gridCol w="1527048"/>
              </a:tblGrid>
              <a:tr h="548640">
                <a:tc>
                  <a:txBody>
                    <a:bodyPr/>
                    <a:lstStyle/>
                    <a:p>
                      <a:pPr algn="l" indent="0" marL="0">
                        <a:buNone/>
                      </a:pPr>
                      <a:r>
                        <a:rPr lang="en-US" sz="2200" b="1"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Total anti-HBc</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Anti-HBs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Not done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28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26517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could this be, and what do you order?</a:t>
            </a:r>
            <a:endParaRPr lang="en-US" sz="24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1097280" y="3246120"/>
          <a:ext cx="9997135" cy="914400"/>
        </p:xfrm>
        <a:graphic>
          <a:graphicData uri="http://schemas.openxmlformats.org/drawingml/2006/table">
            <a:tbl>
              <a:tblPr/>
              <a:tblGrid>
                <a:gridCol w="5340096"/>
                <a:gridCol w="4654296"/>
              </a:tblGrid>
              <a:tr h="566928">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Possibility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How you sort it out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Resolved infection, anti-HBs has waned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HBV DNA undetectable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Occult infection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HBV DNA 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Window period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IgM anti-HBc 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False-positive anti-HBc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Repeat testing, DNA undetectable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CDC 2023 (Table 1), PMID 36893044; AASLD 2018 hepatitis B guidance, PMID 29405329.</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14/57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sp>
        <p:nvSpPr>
          <p:cNvPr id="3" name="Question"/>
          <p:cNvSpPr txBox="1"/>
          <p:nvPr/>
        </p:nvSpPr>
        <p:spPr>
          <a:xfrm>
            <a:off x="822960" y="1051560"/>
            <a:ext cx="10545775" cy="45720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Where do HBV DNA, ALT and the antigens go over a lifetime?</a:t>
            </a:r>
            <a:endParaRPr lang="en-US" sz="2200" dirty="0"/>
          </a:p>
        </p:txBody>
      </p:sp>
      <p:pic>
        <p:nvPicPr>
          <p:cNvPr id="4"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Natural history of chronic hepatitis B</a:t>
            </a:r>
            <a:endParaRPr lang="en-US" sz="3000" dirty="0"/>
          </a:p>
        </p:txBody>
      </p:sp>
      <p:pic>
        <p:nvPicPr>
          <p:cNvPr id="3" name="Image 0" descr="Layered natural history figure">    </p:cNvPr>
          <p:cNvPicPr>
            <a:picLocks noChangeAspect="1"/>
          </p:cNvPicPr>
          <p:nvPr/>
        </p:nvPicPr>
        <p:blipFill>
          <a:blip r:embed="rId1"/>
          <a:stretch>
            <a:fillRect/>
          </a:stretch>
        </p:blipFill>
        <p:spPr>
          <a:xfrm>
            <a:off x="1895323" y="1508760"/>
            <a:ext cx="8401050" cy="4800600"/>
          </a:xfrm>
          <a:prstGeom prst="rect">
            <a:avLst/>
          </a:prstGeom>
        </p:spPr>
      </p:pic>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15/57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published version</a:t>
            </a:r>
            <a:endParaRPr lang="en-US" sz="3000" dirty="0"/>
          </a:p>
        </p:txBody>
      </p:sp>
      <p:pic>
        <p:nvPicPr>
          <p:cNvPr id="3" name="Image 0" descr="GESA 2022 natural history figure">    </p:cNvPr>
          <p:cNvPicPr>
            <a:picLocks noChangeAspect="1"/>
          </p:cNvPicPr>
          <p:nvPr/>
        </p:nvPicPr>
        <p:blipFill>
          <a:blip r:embed="rId1"/>
          <a:stretch>
            <a:fillRect/>
          </a:stretch>
        </p:blipFill>
        <p:spPr>
          <a:xfrm>
            <a:off x="2815726" y="1188720"/>
            <a:ext cx="6530068" cy="507492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GESA Australian consensus recommendations for the management of hepatitis B infection, 2022, Figure 3.1 (as shown in the ASHM B Positive chapter).</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16/57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Match the labs to the phase</a:t>
            </a:r>
            <a:endParaRPr lang="en-US" sz="30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731520" y="1463040"/>
          <a:ext cx="10728655" cy="914400"/>
        </p:xfrm>
        <a:graphic>
          <a:graphicData uri="http://schemas.openxmlformats.org/drawingml/2006/table">
            <a:tbl>
              <a:tblPr/>
              <a:tblGrid>
                <a:gridCol w="1472184"/>
                <a:gridCol w="3163824"/>
                <a:gridCol w="1280160"/>
                <a:gridCol w="4809744"/>
              </a:tblGrid>
              <a:tr h="82296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Phase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10,000,000 or more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 to 10,000,000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Below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Above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Clinical Practice Guidelines on hepatitis B 2025, Table 4. J Hepatol 2025;83:502-583, PMID 40348683. Values are 'usually'.</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17/57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Match the labs to the phase</a:t>
            </a:r>
            <a:endParaRPr lang="en-US" sz="30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731520" y="1463040"/>
          <a:ext cx="10728655" cy="914400"/>
        </p:xfrm>
        <a:graphic>
          <a:graphicData uri="http://schemas.openxmlformats.org/drawingml/2006/table">
            <a:tbl>
              <a:tblPr/>
              <a:tblGrid>
                <a:gridCol w="1472184"/>
                <a:gridCol w="3163824"/>
                <a:gridCol w="1280160"/>
                <a:gridCol w="4809744"/>
              </a:tblGrid>
              <a:tr h="82296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HBV DNA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ALT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Phase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10,000,000 or more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HBeAg-positive 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10,000 to 10,000,000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HBeAg-positive chronic hepatitis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Below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Normal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HBeAg-negative chronic infection</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Above 2,000</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Raised</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HBeAg-negative chronic hepatitis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Clinical Practice Guidelines on hepatitis B 2025, Table 4. J Hepatol 2025;83:502-583, PMID 40348683. Values are 'usually'.</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17/57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34-year-old man, born in Vietnam</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60,000,000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18/57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34-year-old man, born in Vietnam</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60,000,000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6" name="Question"/>
          <p:cNvSpPr txBox="1"/>
          <p:nvPr/>
        </p:nvSpPr>
        <p:spPr>
          <a:xfrm>
            <a:off x="274320" y="5897880"/>
            <a:ext cx="7040880"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No. Monitor ALT and DNA every 3 to 6 months</a:t>
            </a:r>
            <a:endParaRPr lang="en-US" sz="2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18/57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41 years old</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55,000,000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26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Does the answer change?</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19/57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41 years old</a:t>
            </a:r>
            <a:endParaRPr lang="en-US" sz="30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457200" y="1188720"/>
          <a:ext cx="6675120" cy="914400"/>
        </p:xfrm>
        <a:graphic>
          <a:graphicData uri="http://schemas.openxmlformats.org/drawingml/2006/table">
            <a:tbl>
              <a:tblPr/>
              <a:tblGrid>
                <a:gridCol w="2935224"/>
                <a:gridCol w="3739896"/>
              </a:tblGrid>
              <a:tr h="502920">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Test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HBsAg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HBeAg</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Positive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Anti-HBe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Negative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HBV DNA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C00000"/>
                          </a:solidFill>
                          <a:latin typeface="Calibri" pitchFamily="34" charset="0"/>
                          <a:ea typeface="Calibri" pitchFamily="34" charset="-122"/>
                          <a:cs typeface="Calibri" pitchFamily="34" charset="-120"/>
                        </a:rPr>
                        <a:t>55,000,000 IU/mL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ALT (ULN 35)</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26 U/L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Platelets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245 x 10^9/L</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Liver stiffness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5.1 kPa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man in his thirties seated in clinic">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34924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Does the answer change?</a:t>
            </a:r>
            <a:endParaRPr lang="en-US" sz="2600" dirty="0"/>
          </a:p>
        </p:txBody>
      </p:sp>
      <p:sp>
        <p:nvSpPr>
          <p:cNvPr id="6" name="Question"/>
          <p:cNvSpPr txBox="1"/>
          <p:nvPr/>
        </p:nvSpPr>
        <p:spPr>
          <a:xfrm>
            <a:off x="274320" y="5897880"/>
            <a:ext cx="7040880"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AASLD/IDSA 2025: over age 40 supports treatment</a:t>
            </a:r>
            <a:endParaRPr lang="en-US" sz="2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19/57</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now 52 years old</a:t>
            </a:r>
            <a:endParaRPr lang="en-US" sz="30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457200" y="1097280"/>
          <a:ext cx="6675120" cy="914400"/>
        </p:xfrm>
        <a:graphic>
          <a:graphicData uri="http://schemas.openxmlformats.org/drawingml/2006/table">
            <a:tbl>
              <a:tblPr/>
              <a:tblGrid>
                <a:gridCol w="3419856"/>
                <a:gridCol w="3255264"/>
              </a:tblGrid>
              <a:tr h="475488">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Test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Result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HBsAg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Positive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HBeAg</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Negative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Anti-HBe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Positive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HBV DNA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C00000"/>
                          </a:solidFill>
                          <a:latin typeface="Calibri" pitchFamily="34" charset="0"/>
                          <a:ea typeface="Calibri" pitchFamily="34" charset="-122"/>
                          <a:cs typeface="Calibri" pitchFamily="34" charset="-120"/>
                        </a:rPr>
                        <a:t>8,000 IU/mL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ALT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C00000"/>
                          </a:solidFill>
                          <a:latin typeface="Calibri" pitchFamily="34" charset="0"/>
                          <a:ea typeface="Calibri" pitchFamily="34" charset="-122"/>
                          <a:cs typeface="Calibri" pitchFamily="34" charset="-120"/>
                        </a:rPr>
                        <a:t>48 U/L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Platelets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190 x 10^9/L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FIB-4</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1.8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Liver stiffness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6.8 kPa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the same man in his fifties, gray at the temples, with reading glasses">    </p:cNvPr>
          <p:cNvPicPr>
            <a:picLocks noChangeAspect="1"/>
          </p:cNvPicPr>
          <p:nvPr/>
        </p:nvPicPr>
        <p:blipFill>
          <a:blip r:embed="rId1"/>
          <a:stretch>
            <a:fillRect/>
          </a:stretch>
        </p:blipFill>
        <p:spPr>
          <a:xfrm>
            <a:off x="7315200" y="1051560"/>
            <a:ext cx="4754880" cy="4754880"/>
          </a:xfrm>
          <a:prstGeom prst="rect">
            <a:avLst/>
          </a:prstGeom>
        </p:spPr>
      </p:pic>
      <p:sp>
        <p:nvSpPr>
          <p:cNvPr id="5" name="Question"/>
          <p:cNvSpPr txBox="1"/>
          <p:nvPr/>
        </p:nvSpPr>
        <p:spPr>
          <a:xfrm>
            <a:off x="457200" y="5623560"/>
            <a:ext cx="667512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Do you treat him?</a:t>
            </a:r>
            <a:endParaRPr lang="en-US" sz="26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20/57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counts as a normal ALT?</a:t>
            </a:r>
            <a:endParaRPr lang="en-US" sz="3000" dirty="0"/>
          </a:p>
        </p:txBody>
      </p:sp>
      <p:graphicFrame>
        <p:nvGraphicFramePr>
          <p:cNvPr id="34" name="Table"/>
          <p:cNvGraphicFramePr>
            <a:graphicFrameLocks noGrp="1"/>
          </p:cNvGraphicFramePr>
          <p:nvPr>
            <p:extLst>
              <p:ext uri="{D42A27DB-BD31-4B8C-83A1-F6EECF244321}">
                <p14:modId xmlns:p14="http://schemas.microsoft.com/office/powerpoint/2010/main" val="1579011935"/>
              </p:ext>
            </p:extLst>
          </p:nvPr>
        </p:nvGraphicFramePr>
        <p:xfrm>
          <a:off x="2834640" y="1645920"/>
          <a:ext cx="6492240" cy="914400"/>
        </p:xfrm>
        <a:graphic>
          <a:graphicData uri="http://schemas.openxmlformats.org/drawingml/2006/table">
            <a:tbl>
              <a:tblPr/>
              <a:tblGrid>
                <a:gridCol w="2660904"/>
                <a:gridCol w="1755648"/>
                <a:gridCol w="2075688"/>
              </a:tblGrid>
              <a:tr h="777240">
                <a:tc>
                  <a:txBody>
                    <a:bodyPr/>
                    <a:lstStyle/>
                    <a:p>
                      <a:pPr algn="l" indent="0" marL="0">
                        <a:buNone/>
                      </a:pP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600" b="1" dirty="0">
                          <a:solidFill>
                            <a:srgbClr val="000000"/>
                          </a:solidFill>
                          <a:latin typeface="Calibri" pitchFamily="34" charset="0"/>
                          <a:ea typeface="Calibri" pitchFamily="34" charset="-122"/>
                          <a:cs typeface="Calibri" pitchFamily="34" charset="-120"/>
                        </a:rPr>
                        <a:t>Men</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600" b="1" dirty="0">
                          <a:solidFill>
                            <a:srgbClr val="000000"/>
                          </a:solidFill>
                          <a:latin typeface="Calibri" pitchFamily="34" charset="0"/>
                          <a:ea typeface="Calibri" pitchFamily="34" charset="-122"/>
                          <a:cs typeface="Calibri" pitchFamily="34" charset="-120"/>
                        </a:rPr>
                        <a:t>Women</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600" dirty="0">
                          <a:solidFill>
                            <a:srgbClr val="000000"/>
                          </a:solidFill>
                          <a:latin typeface="Calibri" pitchFamily="34" charset="0"/>
                          <a:ea typeface="Calibri" pitchFamily="34" charset="-122"/>
                          <a:cs typeface="Calibri" pitchFamily="34" charset="-120"/>
                        </a:rPr>
                        <a:t>AASLD</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35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25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600" dirty="0">
                          <a:solidFill>
                            <a:srgbClr val="000000"/>
                          </a:solidFill>
                          <a:latin typeface="Calibri" pitchFamily="34" charset="0"/>
                          <a:ea typeface="Calibri" pitchFamily="34" charset="-122"/>
                          <a:cs typeface="Calibri" pitchFamily="34" charset="-120"/>
                        </a:rPr>
                        <a:t>WHO 2024</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30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19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600" dirty="0">
                          <a:solidFill>
                            <a:srgbClr val="000000"/>
                          </a:solidFill>
                          <a:latin typeface="Calibri" pitchFamily="34" charset="0"/>
                          <a:ea typeface="Calibri" pitchFamily="34" charset="-122"/>
                          <a:cs typeface="Calibri" pitchFamily="34" charset="-120"/>
                        </a:rPr>
                        <a:t>EASL 2025</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40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600" dirty="0">
                          <a:solidFill>
                            <a:srgbClr val="000000"/>
                          </a:solidFill>
                          <a:latin typeface="Calibri" pitchFamily="34" charset="0"/>
                          <a:ea typeface="Calibri" pitchFamily="34" charset="-122"/>
                          <a:cs typeface="Calibri" pitchFamily="34" charset="-120"/>
                        </a:rPr>
                        <a:t>40 U/L</a:t>
                      </a:r>
                      <a:endParaRPr lang="en-US" sz="2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200" dirty="0">
                <a:solidFill>
                  <a:srgbClr val="000000"/>
                </a:solidFill>
                <a:latin typeface="Georgia" pitchFamily="34" charset="0"/>
                <a:ea typeface="Georgia" pitchFamily="34" charset="-122"/>
                <a:cs typeface="Georgia" pitchFamily="34" charset="-120"/>
              </a:rPr>
              <a:t>His ALT of 48 U/L is above all three limits</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Upper limits of normal as listed in the guidelines. AASLD 2018 PMID 29405329; WHO 2024; EASL 2025 PMID 40348683.</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21/57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labs, four guidelines</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Treat or not?</a:t>
            </a:r>
            <a:endParaRPr lang="en-US" sz="24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626864"/>
                <a:gridCol w="1545336"/>
                <a:gridCol w="2176272"/>
                <a:gridCol w="1344168"/>
                <a:gridCol w="1399032"/>
              </a:tblGrid>
              <a:tr h="86868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 2018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AASLD/IDSA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WHO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52 y, HBeAg-negative, DNA 8,000, ALT 48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DNA 500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Decompensated cirrhosis, any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Hepatology 2026;83:974-997 PMID 41186418; EASL 2025 PMID 40348683; WHO 2024 (NBK614987).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22/57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labs, four guidelines</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Treat or not?</a:t>
            </a:r>
            <a:endParaRPr lang="en-US" sz="24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626864"/>
                <a:gridCol w="1545336"/>
                <a:gridCol w="2176272"/>
                <a:gridCol w="1344168"/>
                <a:gridCol w="1399032"/>
              </a:tblGrid>
              <a:tr h="86868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 2018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AASLD/IDSA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WHO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52 y, HBeAg-negative, DNA 8,000, ALT 48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Observe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Shared decision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DNA 500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Decompensated cirrhosis, any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Treat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AASLD/IDSA 2025 Hepatology 2026;83:974-997 PMID 41186418; EASL 2025 PMID 40348683; WHO 2024 (NBK614987).</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22/57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treating this group help?</a:t>
            </a:r>
            <a:endParaRPr lang="en-US" sz="30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03704"/>
                <a:gridCol w="2121408"/>
                <a:gridCol w="3611880"/>
                <a:gridCol w="3154680"/>
              </a:tblGrid>
              <a:tr h="5029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Huang 2023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Observational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855, no advanced fibrosis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HCC, 5 to 15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TORCH-B 2021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Randomized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160, ALT 1 to 2 x ULN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Progression at 3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02336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What do you expect?</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Huang DQ et al. Hepatology 2023;78:1558-1568, PMID 37184202. Hsu YC et al. Lancet Infect Dis 2021;21:823-833, PMID 33524314.</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23/57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treating this group help?</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203704"/>
                <a:gridCol w="2121408"/>
                <a:gridCol w="3611880"/>
                <a:gridCol w="3154680"/>
              </a:tblGrid>
              <a:tr h="5029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Outcome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Huang 2023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Observational</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855, no advanced fibrosis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HCC, 5 to 15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TORCH-B 2021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Randomized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160, ALT 1 to 2 x ULN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Progression at 3 years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548640" y="3337560"/>
          <a:ext cx="60350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766560" y="3337560"/>
          <a:ext cx="4937760" cy="292608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3017520"/>
            <a:ext cx="6035040" cy="274320"/>
          </a:xfrm>
          <a:prstGeom prst="rect">
            <a:avLst/>
          </a:prstGeom>
          <a:noFill/>
          <a:ln/>
        </p:spPr>
        <p:txBody>
          <a:bodyPr wrap="square" lIns="0" tIns="0" rIns="0" bIns="0" rtlCol="0" anchor="ctr"/>
          <a:lstStyle/>
          <a:p>
            <a:pPr algn="ctr" indent="0" marL="0">
              <a:buNone/>
            </a:pPr>
            <a:r>
              <a:rPr lang="en-US" sz="1500" dirty="0">
                <a:solidFill>
                  <a:srgbClr val="595959"/>
                </a:solidFill>
                <a:latin typeface="Calibri" pitchFamily="34" charset="0"/>
                <a:ea typeface="Calibri" pitchFamily="34" charset="-122"/>
                <a:cs typeface="Calibri" pitchFamily="34" charset="-120"/>
              </a:rPr>
              <a:t>Cumulative HCC risk, %</a:t>
            </a:r>
            <a:endParaRPr lang="en-US" sz="1500" dirty="0"/>
          </a:p>
        </p:txBody>
      </p:sp>
      <p:sp>
        <p:nvSpPr>
          <p:cNvPr id="7" name="Text 2"/>
          <p:cNvSpPr txBox="1"/>
          <p:nvPr/>
        </p:nvSpPr>
        <p:spPr>
          <a:xfrm>
            <a:off x="6766560" y="3017520"/>
            <a:ext cx="4937760" cy="274320"/>
          </a:xfrm>
          <a:prstGeom prst="rect">
            <a:avLst/>
          </a:prstGeom>
          <a:noFill/>
          <a:ln/>
        </p:spPr>
        <p:txBody>
          <a:bodyPr wrap="square" lIns="0" tIns="0" rIns="0" bIns="0" rtlCol="0" anchor="ctr"/>
          <a:lstStyle/>
          <a:p>
            <a:pPr algn="ctr" indent="0" marL="0">
              <a:buNone/>
            </a:pPr>
            <a:r>
              <a:rPr lang="en-US" sz="1500" dirty="0">
                <a:solidFill>
                  <a:srgbClr val="595959"/>
                </a:solidFill>
                <a:latin typeface="Calibri" pitchFamily="34" charset="0"/>
                <a:ea typeface="Calibri" pitchFamily="34" charset="-122"/>
                <a:cs typeface="Calibri" pitchFamily="34" charset="-120"/>
              </a:rPr>
              <a:t>Histologic progression, %</a:t>
            </a:r>
            <a:endParaRPr lang="en-US" sz="15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Huang DQ et al. Hepatology 2023;78:1558-1568, PMID 37184202. Hsu YC et al. Lancet Infect Dis 2021;21:823-833, PMID 33524314.</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23/57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Fibrosis staging by elastography</a:t>
            </a:r>
            <a:endParaRPr lang="en-US" sz="30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6949440" cy="914400"/>
        </p:xfrm>
        <a:graphic>
          <a:graphicData uri="http://schemas.openxmlformats.org/drawingml/2006/table">
            <a:tbl>
              <a:tblPr/>
              <a:tblGrid>
                <a:gridCol w="2551176"/>
                <a:gridCol w="1618488"/>
                <a:gridCol w="2779776"/>
              </a:tblGrid>
              <a:tr h="91440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EASL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WHO 2024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Significant fibrosis (F2)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Above 7 kPa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Above 7 kPa, or APRI above 0.5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Advanced fibrosis (F3)</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Above 8 kPa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Cirrhosis (F4)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Above 11 kPa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APRI above 2 in the 2015 guideline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transient elastography probe">    </p:cNvPr>
          <p:cNvPicPr>
            <a:picLocks noChangeAspect="1"/>
          </p:cNvPicPr>
          <p:nvPr/>
        </p:nvPicPr>
        <p:blipFill>
          <a:blip r:embed="rId1"/>
          <a:stretch>
            <a:fillRect/>
          </a:stretch>
        </p:blipFill>
        <p:spPr>
          <a:xfrm>
            <a:off x="7680960" y="1188720"/>
            <a:ext cx="4206240" cy="420624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2025 PMID 40348683; WHO 2024 chapter 5.</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24/57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Treat everyone with high DNA and normal ALT?</a:t>
            </a:r>
            <a:endParaRPr lang="en-US" sz="3000" dirty="0"/>
          </a:p>
        </p:txBody>
      </p:sp>
      <p:graphicFrame>
        <p:nvGraphicFramePr>
          <p:cNvPr id="40"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978408"/>
                <a:gridCol w="4764024"/>
                <a:gridCol w="4983480"/>
              </a:tblGrid>
              <a:tr h="822960">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Kim, Gut 2018</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Jeon, Clin Mol Hepatol 2021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413 untreated immune-tolerant, 1,497 treated immune-active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Biomarker-defined immune tolerance, FIB-4 under 1.45 subgroup</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10-year HCC 12.7% vs 6.1%; adjusted HR 2.54 (1.54 to 4.18)</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HCC 0% at 1, 3 and 5 years vs 0.2, 0.6 and 1.4% in comparators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Limit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Different phases, selected treatment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Small low-risk sample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Kim GA et al. Gut 2018;67:945-952, PMID 29055908. Jeon MY et al. Clin Mol Hepatol 2021;27:295-304, PMID 33317247.</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25/57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indeterminate phase</a:t>
            </a:r>
            <a:endParaRPr lang="en-US" sz="3000" dirty="0"/>
          </a:p>
        </p:txBody>
      </p:sp>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5102352"/>
                <a:gridCol w="5623560"/>
              </a:tblGrid>
              <a:tr h="91440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Result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Meta-analysis, 103 studies (Lai, J Hepatol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Significant fibrosis in 39.7%; HCC 0.32% a year; treatment IRR 0.38 (0.18 to 0.79)</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ATTENTION interim, 734 patients (Lim,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Events 2 vs 9, HR 0.21, 97.5% CI 0.04 to 1.20; stopping boundary not crossed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Lai JC et al. J Hepatol 2025;82:992-1003, PMID 39577468. Lim YS et al. Lancet Gastroenterol Hepatol 2025;10:295-305, PMID 39914435.</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26/57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58-year-old man, eGFR 45</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nucleos(t)ide analogue?</a:t>
            </a:r>
            <a:endParaRPr lang="en-US" sz="2400" dirty="0"/>
          </a:p>
        </p:txBody>
      </p:sp>
      <p:graphicFrame>
        <p:nvGraphicFramePr>
          <p:cNvPr id="42"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71016"/>
                <a:gridCol w="2651760"/>
                <a:gridCol w="2788920"/>
                <a:gridCol w="4379976"/>
              </a:tblGrid>
              <a:tr h="868680">
                <a:tc>
                  <a:txBody>
                    <a:bodyPr/>
                    <a:lstStyle/>
                    <a:p>
                      <a:pPr algn="l"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Dose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At eGFR 30 to 49</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Entecavir</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TDF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TAF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 with food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US prescribing information: Baraclude, Viread, Vemlidy (DailyMed). Renal doses use creatinine clearance.</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27/57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58-year-old man, eGFR 45</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nucleos(t)ide analogue?</a:t>
            </a:r>
            <a:endParaRPr lang="en-US" sz="2400" dirty="0"/>
          </a:p>
        </p:txBody>
      </p:sp>
      <p:graphicFrame>
        <p:nvGraphicFramePr>
          <p:cNvPr id="43"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71016"/>
                <a:gridCol w="2651760"/>
                <a:gridCol w="2788920"/>
                <a:gridCol w="4379976"/>
              </a:tblGrid>
              <a:tr h="868680">
                <a:tc>
                  <a:txBody>
                    <a:bodyPr/>
                    <a:lstStyle/>
                    <a:p>
                      <a:pPr algn="l"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Dose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At eGFR 30 to 49</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Entecavir</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0.5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Dose-adjust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TDF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300 mg every 48 hours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Dose-adjust, kidney and bone effects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TAF</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 with food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25 mg daily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No adjustment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5778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TAF, or entecavir with the dose adjusted</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US prescribing information: Baraclude, Viread, Vemlidy (DailyMed). Renal doses use creatinine clearance.</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27/57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TAF versus TDF at week 48</a:t>
            </a:r>
            <a:endParaRPr lang="en-US" sz="3000" dirty="0"/>
          </a:p>
        </p:txBody>
      </p:sp>
      <p:graphicFrame>
        <p:nvGraphicFramePr>
          <p:cNvPr id="44"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3209544"/>
                <a:gridCol w="768096"/>
                <a:gridCol w="777240"/>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HBV DNA below 29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TAF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TDF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HBeAg-positive (Chan)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HBeAg-negative (Buti)</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548640" y="4206240"/>
            <a:ext cx="10972800"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What differs?</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Chan HLY et al. Lancet Gastroenterol Hepatol 2016;1:185-195 (PMID 28404091). Buti M et al. 2016;1:196-206 (PMID 28404092).</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28/57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TAF versus TDF at week 48</a:t>
            </a:r>
            <a:endParaRPr lang="en-US" sz="3000" dirty="0"/>
          </a:p>
        </p:txBody>
      </p:sp>
      <p:graphicFrame>
        <p:nvGraphicFramePr>
          <p:cNvPr id="4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3209544"/>
                <a:gridCol w="768096"/>
                <a:gridCol w="777240"/>
              </a:tblGrid>
              <a:tr h="5486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HBV DNA below 29 IU/mL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TAF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TDF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HBeAg-positive (Chan)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67%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HBeAg-negative (Buti)</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93%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5486400" y="1188720"/>
          <a:ext cx="630936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0" y="914400"/>
            <a:ext cx="6309360" cy="274320"/>
          </a:xfrm>
          <a:prstGeom prst="rect">
            <a:avLst/>
          </a:prstGeom>
          <a:noFill/>
          <a:ln/>
        </p:spPr>
        <p:txBody>
          <a:bodyPr wrap="square" lIns="0" tIns="0" rIns="0" bIns="0" rtlCol="0" anchor="ctr"/>
          <a:lstStyle/>
          <a:p>
            <a:pPr algn="ctr" indent="0" marL="0">
              <a:buNone/>
            </a:pPr>
            <a:r>
              <a:rPr lang="en-US" sz="1400" dirty="0">
                <a:solidFill>
                  <a:srgbClr val="595959"/>
                </a:solidFill>
                <a:latin typeface="Calibri" pitchFamily="34" charset="0"/>
                <a:ea typeface="Calibri" pitchFamily="34" charset="-122"/>
                <a:cs typeface="Calibri" pitchFamily="34" charset="-120"/>
              </a:rPr>
              <a:t>Change in bone mineral density, %</a:t>
            </a:r>
            <a:endParaRPr lang="en-US" sz="1400" dirty="0"/>
          </a:p>
        </p:txBody>
      </p:sp>
      <p:sp>
        <p:nvSpPr>
          <p:cNvPr id="6" name="Text 2"/>
          <p:cNvSpPr txBox="1"/>
          <p:nvPr/>
        </p:nvSpPr>
        <p:spPr>
          <a:xfrm>
            <a:off x="548640" y="3291840"/>
            <a:ext cx="4754880" cy="914400"/>
          </a:xfrm>
          <a:prstGeom prst="rect">
            <a:avLst/>
          </a:prstGeom>
          <a:noFill/>
          <a:ln/>
        </p:spPr>
        <p:txBody>
          <a:bodyPr wrap="square" lIns="0" tIns="0" rIns="0" bIns="0" rtlCol="0" anchor="ctr"/>
          <a:lstStyle/>
          <a:p>
            <a:pPr indent="0" marL="0">
              <a:buNone/>
            </a:pPr>
            <a:r>
              <a:rPr lang="en-US" sz="1700" dirty="0">
                <a:solidFill>
                  <a:srgbClr val="000000"/>
                </a:solidFill>
                <a:latin typeface="Georgia" pitchFamily="34" charset="0"/>
                <a:ea typeface="Georgia" pitchFamily="34" charset="-122"/>
                <a:cs typeface="Georgia" pitchFamily="34" charset="-120"/>
              </a:rPr>
              <a:t>Median eGFR change in the HBeAg-negative trial: -1.8 (TAF) vs -4.8 mL/min (TDF)</a:t>
            </a:r>
            <a:endParaRPr lang="en-US" sz="17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Chan HLY et al. Lancet Gastroenterol Hepatol 2016;1:185-195 (PMID 28404091). Buti M et al. 2016;1:196-206 (PMID 28404092).</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28/57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Entecavir or tenofovir for HCC?</a:t>
            </a:r>
            <a:endParaRPr lang="en-US" sz="3000" dirty="0"/>
          </a:p>
        </p:txBody>
      </p:sp>
      <p:graphicFrame>
        <p:nvGraphicFramePr>
          <p:cNvPr id="46"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895344"/>
                <a:gridCol w="3355848"/>
                <a:gridCol w="3474720"/>
              </a:tblGrid>
              <a:tr h="8229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Study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Patients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HCC, tenofovir vs entecavir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Lee 2020, propensity analysis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3,022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HR 1.03 (0.70 to 1.51)</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Choi 2023, individual patient meta-analysis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42,939 in 11 studies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Adjusted HR 0.77 (0.61 to 0.98)</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Yoo 2025, TAF vs TDF, Korea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17,537 in each matched group</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12.38 vs 15.39 per 1,000 person-years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SW 2020 (PMID in dossier ref 31); Choi J et al. 2023 (dossier ref 32); Yoo 2025 (dossier ref 28).</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29/57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Pegylated interferon</a:t>
            </a:r>
            <a:endParaRPr lang="en-US" sz="3000" dirty="0"/>
          </a:p>
        </p:txBody>
      </p:sp>
      <p:graphicFrame>
        <p:nvGraphicFramePr>
          <p:cNvPr id="47"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977640"/>
                <a:gridCol w="2478024"/>
                <a:gridCol w="4270248"/>
              </a:tblGrid>
              <a:tr h="91440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Strategy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Trial</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Result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Switch from entecavir, HBeAg-positive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OSST, 200 patients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HBsAg loss 8.5% vs 0% at week 48</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11174">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Add to TDF for 48 weeks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Marcellin, 740 patients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HBsAg loss 9.1% (48 weeks), 2.8% (16 weeks), 0% (TDF alone), 2.8% (PegIFN alone) at week 72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Ning Q et al. 2014 (dossier ref 34); Marcellin P et al. 2016 (dossier ref 35).</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30/57</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Monitoring</a:t>
            </a:r>
            <a:endParaRPr lang="en-US" sz="3000" dirty="0"/>
          </a:p>
        </p:txBody>
      </p:sp>
      <p:graphicFrame>
        <p:nvGraphicFramePr>
          <p:cNvPr id="48"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648456"/>
                <a:gridCol w="7077456"/>
              </a:tblGrid>
              <a:tr h="77724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Setting</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On a nucleos(t)ide analogue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DNA every 3 months until undetectable, then every 3 to 6 months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On TDF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Creatinine, phosphate, urine glucose and protein at baseline and at least yearly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Untreated, HBeAg-negative infection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ALT every 3 months in year 1, then every 6 to 12 months; HBsAg yearly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HCC surveillance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Ultrasound plus AFP every 6 months when eligible, also with suppressed DNA</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EASL 2025, PMID 40348683.</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31/57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Calculating PAGE-B</a:t>
            </a:r>
            <a:endParaRPr lang="en-US" sz="30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548640" y="1143000"/>
          <a:ext cx="5852160" cy="914400"/>
        </p:xfrm>
        <a:graphic>
          <a:graphicData uri="http://schemas.openxmlformats.org/drawingml/2006/table">
            <a:tbl>
              <a:tblPr/>
              <a:tblGrid>
                <a:gridCol w="2734056"/>
                <a:gridCol w="1947672"/>
                <a:gridCol w="1170432"/>
              </a:tblGrid>
              <a:tr h="393192">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Variable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Points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Age, years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16 to 29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30 to 39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40 to 49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50 to 59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60 to 69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70 or older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Platelets, x 10^9/L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200 or more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100 to 199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100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6858000" y="1371600"/>
            <a:ext cx="4754880" cy="1737360"/>
          </a:xfrm>
          <a:prstGeom prst="rect">
            <a:avLst/>
          </a:prstGeom>
          <a:noFill/>
          <a:ln/>
        </p:spPr>
        <p:txBody>
          <a:bodyPr wrap="square" lIns="50800" tIns="50800" rIns="50800" bIns="50800" rtlCol="0" anchor="t"/>
          <a:lstStyle/>
          <a:p>
            <a:pPr indent="0" marL="0">
              <a:spcBef>
                <a:spcPts val="600"/>
              </a:spcBef>
              <a:buNone/>
            </a:pPr>
            <a:r>
              <a:rPr lang="en-US" sz="2200" b="1" dirty="0">
                <a:solidFill>
                  <a:srgbClr val="000000"/>
                </a:solidFill>
                <a:latin typeface="Georgia" pitchFamily="34" charset="0"/>
                <a:ea typeface="Georgia" pitchFamily="34" charset="-122"/>
                <a:cs typeface="Georgia" pitchFamily="34" charset="-120"/>
              </a:rPr>
              <a:t>52-year-old man</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Started on TAF</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Platelets 190</a:t>
            </a:r>
            <a:endParaRPr lang="en-US" sz="2200" dirty="0"/>
          </a:p>
        </p:txBody>
      </p:sp>
      <p:sp>
        <p:nvSpPr>
          <p:cNvPr id="5" name="Question"/>
          <p:cNvSpPr txBox="1"/>
          <p:nvPr/>
        </p:nvSpPr>
        <p:spPr>
          <a:xfrm>
            <a:off x="6858000" y="3931920"/>
            <a:ext cx="4754880" cy="91440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is his PAGE-B score?</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Points as printed in EASL 2025 Table 13. PAGE-B: Papatheodoridis GV et al. J Hepatol 2016.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32/57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Calculating PAGE-B</a:t>
            </a:r>
            <a:endParaRPr lang="en-US" sz="3000" dirty="0"/>
          </a:p>
        </p:txBody>
      </p:sp>
      <p:graphicFrame>
        <p:nvGraphicFramePr>
          <p:cNvPr id="50" name="Table"/>
          <p:cNvGraphicFramePr>
            <a:graphicFrameLocks noGrp="1"/>
          </p:cNvGraphicFramePr>
          <p:nvPr>
            <p:extLst>
              <p:ext uri="{D42A27DB-BD31-4B8C-83A1-F6EECF244321}">
                <p14:modId xmlns:p14="http://schemas.microsoft.com/office/powerpoint/2010/main" val="1579011935"/>
              </p:ext>
            </p:extLst>
          </p:nvPr>
        </p:nvGraphicFramePr>
        <p:xfrm>
          <a:off x="548640" y="1143000"/>
          <a:ext cx="5852160" cy="914400"/>
        </p:xfrm>
        <a:graphic>
          <a:graphicData uri="http://schemas.openxmlformats.org/drawingml/2006/table">
            <a:tbl>
              <a:tblPr/>
              <a:tblGrid>
                <a:gridCol w="2734056"/>
                <a:gridCol w="1947672"/>
                <a:gridCol w="1170432"/>
              </a:tblGrid>
              <a:tr h="393192">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Variable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Points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Age, years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16 to 29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30 to 39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40 to 49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50 to 59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60 to 69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70 or older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Sex</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Female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Male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Platelets, x 10^9/L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200 or more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100 to 199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highlight>
                            <a:srgbClr val="FFFF00"/>
                          </a:highlight>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93192">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Under 100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6858000" y="1371600"/>
            <a:ext cx="4754880" cy="1737360"/>
          </a:xfrm>
          <a:prstGeom prst="rect">
            <a:avLst/>
          </a:prstGeom>
          <a:noFill/>
          <a:ln/>
        </p:spPr>
        <p:txBody>
          <a:bodyPr wrap="square" lIns="50800" tIns="50800" rIns="50800" bIns="50800" rtlCol="0" anchor="t"/>
          <a:lstStyle/>
          <a:p>
            <a:pPr indent="0" marL="0">
              <a:spcBef>
                <a:spcPts val="600"/>
              </a:spcBef>
              <a:buNone/>
            </a:pPr>
            <a:r>
              <a:rPr lang="en-US" sz="2200" b="1" dirty="0">
                <a:solidFill>
                  <a:srgbClr val="000000"/>
                </a:solidFill>
                <a:latin typeface="Georgia" pitchFamily="34" charset="0"/>
                <a:ea typeface="Georgia" pitchFamily="34" charset="-122"/>
                <a:cs typeface="Georgia" pitchFamily="34" charset="-120"/>
              </a:rPr>
              <a:t>52-year-old man</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Started on TAF</a:t>
            </a:r>
            <a:endParaRPr lang="en-US" sz="2200" dirty="0"/>
          </a:p>
          <a:p>
            <a:pPr indent="0" marL="0">
              <a:spcBef>
                <a:spcPts val="600"/>
              </a:spcBef>
              <a:buNone/>
            </a:pPr>
            <a:r>
              <a:rPr lang="en-US" sz="2200" dirty="0">
                <a:solidFill>
                  <a:srgbClr val="000000"/>
                </a:solidFill>
                <a:latin typeface="Georgia" pitchFamily="34" charset="0"/>
                <a:ea typeface="Georgia" pitchFamily="34" charset="-122"/>
                <a:cs typeface="Georgia" pitchFamily="34" charset="-120"/>
              </a:rPr>
              <a:t>Platelets 190</a:t>
            </a:r>
            <a:endParaRPr lang="en-US" sz="2200" dirty="0"/>
          </a:p>
        </p:txBody>
      </p:sp>
      <p:sp>
        <p:nvSpPr>
          <p:cNvPr id="5" name="Question"/>
          <p:cNvSpPr txBox="1"/>
          <p:nvPr/>
        </p:nvSpPr>
        <p:spPr>
          <a:xfrm>
            <a:off x="6858000" y="3474720"/>
            <a:ext cx="4754880" cy="548640"/>
          </a:xfrm>
          <a:prstGeom prst="rect">
            <a:avLst/>
          </a:prstGeom>
          <a:noFill/>
          <a:ln/>
        </p:spPr>
        <p:txBody>
          <a:bodyPr wrap="square" lIns="0" tIns="0" rIns="0" bIns="0" rtlCol="0" anchor="ctr"/>
          <a:lstStyle/>
          <a:p>
            <a:pPr algn="ctr" indent="0" marL="0">
              <a:buNone/>
            </a:pPr>
            <a:r>
              <a:rPr lang="en-US" sz="2800" b="1" dirty="0">
                <a:solidFill>
                  <a:srgbClr val="000000"/>
                </a:solidFill>
                <a:highlight>
                  <a:srgbClr val="FFFF00"/>
                </a:highlight>
                <a:latin typeface="Georgia" pitchFamily="34" charset="0"/>
                <a:ea typeface="Georgia" pitchFamily="34" charset="-122"/>
                <a:cs typeface="Georgia" pitchFamily="34" charset="-120"/>
              </a:rPr>
              <a:t>6 + 6 + 6 = 18</a:t>
            </a:r>
            <a:endParaRPr lang="en-US" sz="2800" dirty="0"/>
          </a:p>
        </p:txBody>
      </p:sp>
      <p:sp>
        <p:nvSpPr>
          <p:cNvPr id="6" name="Body"/>
          <p:cNvSpPr txBox="1"/>
          <p:nvPr/>
        </p:nvSpPr>
        <p:spPr>
          <a:xfrm>
            <a:off x="6858000" y="4297680"/>
            <a:ext cx="4754880" cy="1280160"/>
          </a:xfrm>
          <a:prstGeom prst="rect">
            <a:avLst/>
          </a:prstGeom>
          <a:noFill/>
          <a:ln/>
        </p:spPr>
        <p:txBody>
          <a:bodyPr wrap="square" lIns="50800" tIns="50800" rIns="50800" bIns="50800" rtlCol="0" anchor="t"/>
          <a:lstStyle/>
          <a:p>
            <a:pPr indent="0" marL="0">
              <a:spcBef>
                <a:spcPts val="800"/>
              </a:spcBef>
              <a:buNone/>
            </a:pPr>
            <a:r>
              <a:rPr lang="en-US" sz="2100" dirty="0">
                <a:solidFill>
                  <a:srgbClr val="000000"/>
                </a:solidFill>
                <a:latin typeface="Georgia" pitchFamily="34" charset="0"/>
                <a:ea typeface="Georgia" pitchFamily="34" charset="-122"/>
                <a:cs typeface="Georgia" pitchFamily="34" charset="-120"/>
              </a:rPr>
              <a:t>High risk: 18 or more</a:t>
            </a:r>
            <a:endParaRPr lang="en-US" sz="2100" dirty="0"/>
          </a:p>
          <a:p>
            <a:pPr indent="0" marL="0">
              <a:spcBef>
                <a:spcPts val="800"/>
              </a:spcBef>
              <a:buNone/>
            </a:pPr>
            <a:r>
              <a:rPr lang="en-US" sz="2100" dirty="0">
                <a:solidFill>
                  <a:srgbClr val="000000"/>
                </a:solidFill>
                <a:latin typeface="Georgia" pitchFamily="34" charset="0"/>
                <a:ea typeface="Georgia" pitchFamily="34" charset="-122"/>
                <a:cs typeface="Georgia" pitchFamily="34" charset="-120"/>
              </a:rPr>
              <a:t>5-year HCC about 16 to 17%</a:t>
            </a:r>
            <a:endParaRPr lang="en-US" sz="21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Points as printed in EASL 2025 Table 13. PAGE-B: Papatheodoridis GV et al. J Hepatol 2016.</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32/57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Calculate it yourself</a:t>
            </a:r>
            <a:endParaRPr lang="en-US" sz="3000" dirty="0"/>
          </a:p>
        </p:txBody>
      </p:sp>
      <p:graphicFrame>
        <p:nvGraphicFramePr>
          <p:cNvPr id="5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380744"/>
                <a:gridCol w="2615184"/>
                <a:gridCol w="2587752"/>
              </a:tblGrid>
              <a:tr h="68580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PAGE-B</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5-year HCC, derivation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5-year HCC, validation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858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9 or less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10 to 17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18 or more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QR code to the HBV HCC risk calculator">    </p:cNvPr>
          <p:cNvPicPr>
            <a:picLocks noChangeAspect="1"/>
          </p:cNvPicPr>
          <p:nvPr/>
        </p:nvPicPr>
        <p:blipFill>
          <a:blip r:embed="rId1"/>
          <a:stretch>
            <a:fillRect/>
          </a:stretch>
        </p:blipFill>
        <p:spPr>
          <a:xfrm>
            <a:off x="8412480" y="1371600"/>
            <a:ext cx="2743200" cy="2743200"/>
          </a:xfrm>
          <a:prstGeom prst="rect">
            <a:avLst/>
          </a:prstGeom>
        </p:spPr>
      </p:pic>
      <p:sp>
        <p:nvSpPr>
          <p:cNvPr id="5" name="Text 1"/>
          <p:cNvSpPr txBox="1"/>
          <p:nvPr/>
        </p:nvSpPr>
        <p:spPr>
          <a:xfrm>
            <a:off x="7498080" y="4160520"/>
            <a:ext cx="4572000" cy="365760"/>
          </a:xfrm>
          <a:prstGeom prst="rect">
            <a:avLst/>
          </a:prstGeom>
          <a:noFill/>
          <a:ln/>
        </p:spPr>
        <p:txBody>
          <a:bodyPr wrap="square" lIns="0" tIns="0" rIns="0" bIns="0" rtlCol="0" anchor="ctr"/>
          <a:lstStyle/>
          <a:p>
            <a:pPr algn="ctr" indent="0" marL="0">
              <a:buNone/>
            </a:pPr>
            <a:r>
              <a:rPr lang="en-US" sz="1700" dirty="0">
                <a:solidFill>
                  <a:srgbClr val="000000"/>
                </a:solidFill>
                <a:latin typeface="Georgia" pitchFamily="34" charset="0"/>
                <a:ea typeface="Georgia" pitchFamily="34" charset="-122"/>
                <a:cs typeface="Georgia" pitchFamily="34" charset="-120"/>
              </a:rPr>
              <a:t>qaddodi.github.io/chb-hcc-risk</a:t>
            </a:r>
            <a:endParaRPr lang="en-US" sz="1700" dirty="0"/>
          </a:p>
        </p:txBody>
      </p:sp>
      <p:sp>
        <p:nvSpPr>
          <p:cNvPr id="6" name="Body"/>
          <p:cNvSpPr txBox="1"/>
          <p:nvPr/>
        </p:nvSpPr>
        <p:spPr>
          <a:xfrm>
            <a:off x="548640" y="4114800"/>
            <a:ext cx="6675120" cy="201168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PAGE-B was built in treated patients; REACH-B was built in untreated patients</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The HBsAg-based model on the site is a 2026 research model, not validated</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PAGE-B: Papatheodoridis GV et al. J Hepatol 2016. VA validation: Kim 2022.</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33/57</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gets surveillance?</a:t>
            </a:r>
            <a:endParaRPr lang="en-US" sz="3000" dirty="0"/>
          </a:p>
        </p:txBody>
      </p:sp>
      <p:sp>
        <p:nvSpPr>
          <p:cNvPr id="3" name="Question"/>
          <p:cNvSpPr txBox="1"/>
          <p:nvPr/>
        </p:nvSpPr>
        <p:spPr>
          <a:xfrm>
            <a:off x="36576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Ultrasound and AFP every 6 months?</a:t>
            </a:r>
            <a:endParaRPr lang="en-US" sz="2400" dirty="0"/>
          </a:p>
        </p:txBody>
      </p:sp>
      <p:pic>
        <p:nvPicPr>
          <p:cNvPr id="4" name="Image 0" descr="Watercolor of an abdominal ultrasound probe">    </p:cNvPr>
          <p:cNvPicPr>
            <a:picLocks noChangeAspect="1"/>
          </p:cNvPicPr>
          <p:nvPr/>
        </p:nvPicPr>
        <p:blipFill>
          <a:blip r:embed="rId1"/>
          <a:stretch>
            <a:fillRect/>
          </a:stretch>
        </p:blipFill>
        <p:spPr>
          <a:xfrm>
            <a:off x="8046720" y="1188720"/>
            <a:ext cx="4023360" cy="4023360"/>
          </a:xfrm>
          <a:prstGeom prst="rect">
            <a:avLst/>
          </a:prstGeom>
        </p:spPr>
      </p:pic>
      <p:graphicFrame>
        <p:nvGraphicFramePr>
          <p:cNvPr id="52" name="Table"/>
          <p:cNvGraphicFramePr>
            <a:graphicFrameLocks noGrp="1"/>
          </p:cNvGraphicFramePr>
          <p:nvPr>
            <p:extLst>
              <p:ext uri="{D42A27DB-BD31-4B8C-83A1-F6EECF244321}">
                <p14:modId xmlns:p14="http://schemas.microsoft.com/office/powerpoint/2010/main" val="1579011935"/>
              </p:ext>
            </p:extLst>
          </p:nvPr>
        </p:nvGraphicFramePr>
        <p:xfrm>
          <a:off x="365760" y="1737360"/>
          <a:ext cx="7680960" cy="914400"/>
        </p:xfrm>
        <a:graphic>
          <a:graphicData uri="http://schemas.openxmlformats.org/drawingml/2006/table">
            <a:tbl>
              <a:tblPr/>
              <a:tblGrid>
                <a:gridCol w="6080760"/>
                <a:gridCol w="1600200"/>
              </a:tblGrid>
              <a:tr h="566928">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Surveillance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Child-Pugh 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38,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Woman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Family history of HCC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PAGE-B score of 12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HCC practice guidance 2023, Table 1. Hepatology 2023;78:1922-1965, PMID 37199193.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34/57</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Who gets surveillance?</a:t>
            </a:r>
            <a:endParaRPr lang="en-US" sz="3000" dirty="0"/>
          </a:p>
        </p:txBody>
      </p:sp>
      <p:sp>
        <p:nvSpPr>
          <p:cNvPr id="3" name="Question"/>
          <p:cNvSpPr txBox="1"/>
          <p:nvPr/>
        </p:nvSpPr>
        <p:spPr>
          <a:xfrm>
            <a:off x="36576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Ultrasound and AFP every 6 months?</a:t>
            </a:r>
            <a:endParaRPr lang="en-US" sz="2400" dirty="0"/>
          </a:p>
        </p:txBody>
      </p:sp>
      <p:pic>
        <p:nvPicPr>
          <p:cNvPr id="4" name="Image 0" descr="Watercolor of an abdominal ultrasound probe">    </p:cNvPr>
          <p:cNvPicPr>
            <a:picLocks noChangeAspect="1"/>
          </p:cNvPicPr>
          <p:nvPr/>
        </p:nvPicPr>
        <p:blipFill>
          <a:blip r:embed="rId1"/>
          <a:stretch>
            <a:fillRect/>
          </a:stretch>
        </p:blipFill>
        <p:spPr>
          <a:xfrm>
            <a:off x="8046720" y="1188720"/>
            <a:ext cx="4023360" cy="4023360"/>
          </a:xfrm>
          <a:prstGeom prst="rect">
            <a:avLst/>
          </a:prstGeom>
        </p:spPr>
      </p:pic>
      <p:graphicFrame>
        <p:nvGraphicFramePr>
          <p:cNvPr id="53" name="Table"/>
          <p:cNvGraphicFramePr>
            <a:graphicFrameLocks noGrp="1"/>
          </p:cNvGraphicFramePr>
          <p:nvPr>
            <p:extLst>
              <p:ext uri="{D42A27DB-BD31-4B8C-83A1-F6EECF244321}">
                <p14:modId xmlns:p14="http://schemas.microsoft.com/office/powerpoint/2010/main" val="1579011935"/>
              </p:ext>
            </p:extLst>
          </p:nvPr>
        </p:nvGraphicFramePr>
        <p:xfrm>
          <a:off x="365760" y="1737360"/>
          <a:ext cx="7680960" cy="914400"/>
        </p:xfrm>
        <a:graphic>
          <a:graphicData uri="http://schemas.openxmlformats.org/drawingml/2006/table">
            <a:tbl>
              <a:tblPr/>
              <a:tblGrid>
                <a:gridCol w="6080760"/>
                <a:gridCol w="1600200"/>
              </a:tblGrid>
              <a:tr h="566928">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Surveillance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Compensated cirrhosis, Child-Pugh 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38,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Woman from an endemic region, age 46, no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Family history of HCC</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6692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PAGE-B score of 12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HCC practice guidance 2023, Table 1. Hepatology 2023;78:1922-1965, PMID 37199193.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34/57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HCC score for which patient</a:t>
            </a:r>
            <a:endParaRPr lang="en-US" sz="3000" dirty="0"/>
          </a:p>
        </p:txBody>
      </p:sp>
      <p:graphicFrame>
        <p:nvGraphicFramePr>
          <p:cNvPr id="54"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1170432"/>
                <a:gridCol w="4279392"/>
                <a:gridCol w="5276088"/>
              </a:tblGrid>
              <a:tr h="73152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Score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Built 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Variables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PAGE-B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1,815 treated White Europeans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Age, sex, platelets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mPAGE-B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3,001 treated Asian patients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Age, sex, platelets, albumin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REACH-B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3,584 untreated Taiwanese, noncirrhotic</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Sex, age, ALT, HBeAg, DNA</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aMAP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17,374, mostly treated Asian HBV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Age, sex, albumin-bilirubin, platelets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REAL-B</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8,048 treated Asian patients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Sex, age, alcohol, diabetes, cirrhosis, platelets, AFP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Papatheodoridis 2016; Kim 2018; Yang 2011; Fan 2020; Yang 2020; Kim 2022 (dossier refs 38-42, 46).</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35/57</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qHBsAg refine HCC risk?</a:t>
            </a:r>
            <a:endParaRPr lang="en-US" sz="300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657600"/>
                <a:gridCol w="7068312"/>
              </a:tblGrid>
              <a:tr h="100584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Tseng, Gastroenterology 2012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Result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0058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2,688 noncirrhotic Taiwanese, 191 HCC, mean 14.7 years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HBeAg-negative with DNA under 2,000: HBsAg 1,000 or more vs under 1,000 gave adjusted HR 13.7 (4.8 to 39.3)</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Whole cohort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DNA was the stronger predictor; HBsAg alone did not add independently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Tseng TC et al. Gastroenterology 2012 (dossier ref 48).</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36/57</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Integration of HBV DNA</a:t>
            </a:r>
            <a:endParaRPr lang="en-US" sz="3000" dirty="0"/>
          </a:p>
        </p:txBody>
      </p:sp>
      <p:graphicFrame>
        <p:nvGraphicFramePr>
          <p:cNvPr id="56"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4242816"/>
                <a:gridCol w="6483096"/>
              </a:tblGrid>
              <a:tr h="109728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Study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Finding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0972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Mason 2016, 26 patients aged 14 to 39</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Integration and clonal hepatocyte expansion found in immune-tolerant patients as well, before ALT rises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9728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Grudda 2022, 16 HIV/HBV patients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Integrated DNA keeps producing HBsAg despite antiviral therapy</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Mason WS et al. Gastroenterology 2016 (dossier ref 50); Grudda T et al. 2022 (ref 51).</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37/57</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Risk of HBV reactivation</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How risky is each drug if HBsAg is negative and anti-HBc is positive?</a:t>
            </a:r>
            <a:endParaRPr lang="en-US" sz="2200" dirty="0"/>
          </a:p>
        </p:txBody>
      </p:sp>
      <p:graphicFrame>
        <p:nvGraphicFramePr>
          <p:cNvPr id="57" name="Table"/>
          <p:cNvGraphicFramePr>
            <a:graphicFrameLocks noGrp="1"/>
          </p:cNvGraphicFramePr>
          <p:nvPr>
            <p:extLst>
              <p:ext uri="{D42A27DB-BD31-4B8C-83A1-F6EECF244321}">
                <p14:modId xmlns:p14="http://schemas.microsoft.com/office/powerpoint/2010/main" val="1579011935"/>
              </p:ext>
            </p:extLst>
          </p:nvPr>
        </p:nvGraphicFramePr>
        <p:xfrm>
          <a:off x="1097280" y="1691640"/>
          <a:ext cx="9997135" cy="914400"/>
        </p:xfrm>
        <a:graphic>
          <a:graphicData uri="http://schemas.openxmlformats.org/drawingml/2006/table">
            <a:tbl>
              <a:tblPr/>
              <a:tblGrid>
                <a:gridCol w="7251192"/>
                <a:gridCol w="274320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Drug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Reactivation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Rituximab or other anti-CD20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Anthracyclines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JAK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Prednisone 20 mg or more for 4 weeks or longer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Anti-TNF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Immune checkpoint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Methotrexate, azathioprine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guideline 2025, Table 6. Gastroenterology 2025;168:267-284, PMID 39863345. High above 10%, moderate 1 to 10%, low below 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38/57</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Risk of HBV reactivation</a:t>
            </a:r>
            <a:endParaRPr lang="en-US" sz="3000" dirty="0"/>
          </a:p>
        </p:txBody>
      </p:sp>
      <p:sp>
        <p:nvSpPr>
          <p:cNvPr id="3" name="Question"/>
          <p:cNvSpPr txBox="1"/>
          <p:nvPr/>
        </p:nvSpPr>
        <p:spPr>
          <a:xfrm>
            <a:off x="822960" y="10972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How risky is each drug if HBsAg is negative and anti-HBc is positive?</a:t>
            </a:r>
            <a:endParaRPr lang="en-US" sz="2200" dirty="0"/>
          </a:p>
        </p:txBody>
      </p:sp>
      <p:graphicFrame>
        <p:nvGraphicFramePr>
          <p:cNvPr id="58" name="Table"/>
          <p:cNvGraphicFramePr>
            <a:graphicFrameLocks noGrp="1"/>
          </p:cNvGraphicFramePr>
          <p:nvPr>
            <p:extLst>
              <p:ext uri="{D42A27DB-BD31-4B8C-83A1-F6EECF244321}">
                <p14:modId xmlns:p14="http://schemas.microsoft.com/office/powerpoint/2010/main" val="1579011935"/>
              </p:ext>
            </p:extLst>
          </p:nvPr>
        </p:nvGraphicFramePr>
        <p:xfrm>
          <a:off x="1097280" y="1691640"/>
          <a:ext cx="9997135" cy="914400"/>
        </p:xfrm>
        <a:graphic>
          <a:graphicData uri="http://schemas.openxmlformats.org/drawingml/2006/table">
            <a:tbl>
              <a:tblPr/>
              <a:tblGrid>
                <a:gridCol w="7251192"/>
                <a:gridCol w="2743200"/>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Drug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Reactivation risk</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Rituximab or other anti-CD20</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00000"/>
                          </a:solidFill>
                          <a:latin typeface="Calibri" pitchFamily="34" charset="0"/>
                          <a:ea typeface="Calibri" pitchFamily="34" charset="-122"/>
                          <a:cs typeface="Calibri" pitchFamily="34" charset="-120"/>
                        </a:rPr>
                        <a:t>High</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Anthracyclines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JAK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Prednisone 20 mg or more for 4 weeks or longer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Anti-TNF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Immune checkpoint inhibitors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Methotrexate, azathioprine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Low</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guideline 2025, Table 6. Gastroenterology 2025;168:267-284, PMID 39863345. High above 10%, moderate 1 to 10%, low below 1%.</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38/57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Rituximab, six cycles</a:t>
            </a:r>
            <a:endParaRPr lang="en-US" sz="3000" dirty="0"/>
          </a:p>
        </p:txBody>
      </p:sp>
      <p:sp>
        <p:nvSpPr>
          <p:cNvPr id="3" name="Question"/>
          <p:cNvSpPr txBox="1"/>
          <p:nvPr/>
        </p:nvSpPr>
        <p:spPr>
          <a:xfrm>
            <a:off x="27432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give, and for how long?</a:t>
            </a:r>
            <a:endParaRPr lang="en-US" sz="2400" dirty="0"/>
          </a:p>
        </p:txBody>
      </p:sp>
      <p:pic>
        <p:nvPicPr>
          <p:cNvPr id="4" name="Image 0" descr="Watercolor of an IV bag and infusion pump on a pole">    </p:cNvPr>
          <p:cNvPicPr>
            <a:picLocks noChangeAspect="1"/>
          </p:cNvPicPr>
          <p:nvPr/>
        </p:nvPicPr>
        <p:blipFill>
          <a:blip r:embed="rId1"/>
          <a:stretch>
            <a:fillRect/>
          </a:stretch>
        </p:blipFill>
        <p:spPr>
          <a:xfrm>
            <a:off x="7772400" y="1005840"/>
            <a:ext cx="4297680" cy="4297680"/>
          </a:xfrm>
          <a:prstGeom prst="rect">
            <a:avLst/>
          </a:prstGeom>
        </p:spPr>
      </p:pic>
      <p:sp>
        <p:nvSpPr>
          <p:cNvPr id="5" name="Shape 2"/>
          <p:cNvSpPr/>
          <p:nvPr/>
        </p:nvSpPr>
        <p:spPr>
          <a:xfrm>
            <a:off x="2468880" y="2011680"/>
            <a:ext cx="0" cy="1737360"/>
          </a:xfrm>
          <a:prstGeom prst="line">
            <a:avLst/>
          </a:prstGeom>
          <a:noFill/>
          <a:ln w="9525">
            <a:solidFill>
              <a:srgbClr val="D9D9D9"/>
            </a:solidFill>
            <a:prstDash val="solid"/>
          </a:ln>
        </p:spPr>
      </p:sp>
      <p:sp>
        <p:nvSpPr>
          <p:cNvPr id="6" name="Text 3"/>
          <p:cNvSpPr txBox="1"/>
          <p:nvPr/>
        </p:nvSpPr>
        <p:spPr>
          <a:xfrm>
            <a:off x="156972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Start</a:t>
            </a:r>
            <a:endParaRPr lang="en-US" sz="1600" dirty="0"/>
          </a:p>
        </p:txBody>
      </p:sp>
      <p:sp>
        <p:nvSpPr>
          <p:cNvPr id="7" name="Shape 4"/>
          <p:cNvSpPr/>
          <p:nvPr/>
        </p:nvSpPr>
        <p:spPr>
          <a:xfrm>
            <a:off x="4267200" y="2011680"/>
            <a:ext cx="0" cy="1737360"/>
          </a:xfrm>
          <a:prstGeom prst="line">
            <a:avLst/>
          </a:prstGeom>
          <a:noFill/>
          <a:ln w="9525">
            <a:solidFill>
              <a:srgbClr val="D9D9D9"/>
            </a:solidFill>
            <a:prstDash val="solid"/>
          </a:ln>
        </p:spPr>
      </p:sp>
      <p:sp>
        <p:nvSpPr>
          <p:cNvPr id="8" name="Text 5"/>
          <p:cNvSpPr txBox="1"/>
          <p:nvPr/>
        </p:nvSpPr>
        <p:spPr>
          <a:xfrm>
            <a:off x="336804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9" name="Shape 6"/>
          <p:cNvSpPr/>
          <p:nvPr/>
        </p:nvSpPr>
        <p:spPr>
          <a:xfrm>
            <a:off x="6065520" y="2011680"/>
            <a:ext cx="0" cy="1737360"/>
          </a:xfrm>
          <a:prstGeom prst="line">
            <a:avLst/>
          </a:prstGeom>
          <a:noFill/>
          <a:ln w="9525">
            <a:solidFill>
              <a:srgbClr val="D9D9D9"/>
            </a:solidFill>
            <a:prstDash val="solid"/>
          </a:ln>
        </p:spPr>
      </p:sp>
      <p:sp>
        <p:nvSpPr>
          <p:cNvPr id="10" name="Text 7"/>
          <p:cNvSpPr txBox="1"/>
          <p:nvPr/>
        </p:nvSpPr>
        <p:spPr>
          <a:xfrm>
            <a:off x="516636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1" name="Shape 8"/>
          <p:cNvSpPr/>
          <p:nvPr/>
        </p:nvSpPr>
        <p:spPr>
          <a:xfrm>
            <a:off x="7863840" y="2011680"/>
            <a:ext cx="0" cy="1737360"/>
          </a:xfrm>
          <a:prstGeom prst="line">
            <a:avLst/>
          </a:prstGeom>
          <a:noFill/>
          <a:ln w="9525">
            <a:solidFill>
              <a:srgbClr val="D9D9D9"/>
            </a:solidFill>
            <a:prstDash val="solid"/>
          </a:ln>
        </p:spPr>
      </p:sp>
      <p:sp>
        <p:nvSpPr>
          <p:cNvPr id="12" name="Text 9"/>
          <p:cNvSpPr txBox="1"/>
          <p:nvPr/>
        </p:nvSpPr>
        <p:spPr>
          <a:xfrm>
            <a:off x="696468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18</a:t>
            </a:r>
            <a:endParaRPr lang="en-US" sz="1600" dirty="0"/>
          </a:p>
        </p:txBody>
      </p:sp>
      <p:sp>
        <p:nvSpPr>
          <p:cNvPr id="13" name="Text 10"/>
          <p:cNvSpPr txBox="1"/>
          <p:nvPr/>
        </p:nvSpPr>
        <p:spPr>
          <a:xfrm>
            <a:off x="182880" y="208483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Rituximab</a:t>
            </a:r>
            <a:endParaRPr lang="en-US" sz="1600" dirty="0"/>
          </a:p>
        </p:txBody>
      </p:sp>
      <p:sp>
        <p:nvSpPr>
          <p:cNvPr id="14" name="Shape 11"/>
          <p:cNvSpPr/>
          <p:nvPr/>
        </p:nvSpPr>
        <p:spPr>
          <a:xfrm>
            <a:off x="2468880" y="2084832"/>
            <a:ext cx="1708404" cy="676656"/>
          </a:xfrm>
          <a:prstGeom prst="rect">
            <a:avLst/>
          </a:prstGeom>
          <a:solidFill>
            <a:srgbClr val="9DB4CA"/>
          </a:solidFill>
          <a:ln w="6350">
            <a:solidFill>
              <a:srgbClr val="9DB4CA"/>
            </a:solidFill>
            <a:prstDash val="solid"/>
          </a:ln>
        </p:spPr>
      </p:sp>
      <p:sp>
        <p:nvSpPr>
          <p:cNvPr id="15" name="Text 12"/>
          <p:cNvSpPr txBox="1"/>
          <p:nvPr/>
        </p:nvSpPr>
        <p:spPr>
          <a:xfrm>
            <a:off x="182880" y="290779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Entecavir, TDF or TAF</a:t>
            </a:r>
            <a:endParaRPr lang="en-US" sz="1600" dirty="0"/>
          </a:p>
        </p:txBody>
      </p:sp>
      <p:sp>
        <p:nvSpPr>
          <p:cNvPr id="1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2025 (PMID 39863345); AASLD 2018 (PMID 29405329); EASL 2025 (PMID 40348683).</a:t>
            </a:r>
            <a:endParaRPr lang="en-US" sz="1000" dirty="0"/>
          </a:p>
        </p:txBody>
      </p:sp>
      <p:sp>
        <p:nvSpPr>
          <p:cNvPr id="1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39/57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Rituximab, six cycles</a:t>
            </a:r>
            <a:endParaRPr lang="en-US" sz="3000" dirty="0"/>
          </a:p>
        </p:txBody>
      </p:sp>
      <p:sp>
        <p:nvSpPr>
          <p:cNvPr id="3" name="Question"/>
          <p:cNvSpPr txBox="1"/>
          <p:nvPr/>
        </p:nvSpPr>
        <p:spPr>
          <a:xfrm>
            <a:off x="274320" y="1097280"/>
            <a:ext cx="768096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give, and for how long?</a:t>
            </a:r>
            <a:endParaRPr lang="en-US" sz="2400" dirty="0"/>
          </a:p>
        </p:txBody>
      </p:sp>
      <p:pic>
        <p:nvPicPr>
          <p:cNvPr id="4" name="Image 0" descr="Watercolor of an IV bag and infusion pump on a pole">    </p:cNvPr>
          <p:cNvPicPr>
            <a:picLocks noChangeAspect="1"/>
          </p:cNvPicPr>
          <p:nvPr/>
        </p:nvPicPr>
        <p:blipFill>
          <a:blip r:embed="rId1"/>
          <a:stretch>
            <a:fillRect/>
          </a:stretch>
        </p:blipFill>
        <p:spPr>
          <a:xfrm>
            <a:off x="7772400" y="1005840"/>
            <a:ext cx="4297680" cy="4297680"/>
          </a:xfrm>
          <a:prstGeom prst="rect">
            <a:avLst/>
          </a:prstGeom>
        </p:spPr>
      </p:pic>
      <p:sp>
        <p:nvSpPr>
          <p:cNvPr id="5" name="Shape 2"/>
          <p:cNvSpPr/>
          <p:nvPr/>
        </p:nvSpPr>
        <p:spPr>
          <a:xfrm>
            <a:off x="2468880" y="2011680"/>
            <a:ext cx="0" cy="1737360"/>
          </a:xfrm>
          <a:prstGeom prst="line">
            <a:avLst/>
          </a:prstGeom>
          <a:noFill/>
          <a:ln w="9525">
            <a:solidFill>
              <a:srgbClr val="D9D9D9"/>
            </a:solidFill>
            <a:prstDash val="solid"/>
          </a:ln>
        </p:spPr>
      </p:sp>
      <p:sp>
        <p:nvSpPr>
          <p:cNvPr id="6" name="Text 3"/>
          <p:cNvSpPr txBox="1"/>
          <p:nvPr/>
        </p:nvSpPr>
        <p:spPr>
          <a:xfrm>
            <a:off x="156972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Start</a:t>
            </a:r>
            <a:endParaRPr lang="en-US" sz="1600" dirty="0"/>
          </a:p>
        </p:txBody>
      </p:sp>
      <p:sp>
        <p:nvSpPr>
          <p:cNvPr id="7" name="Shape 4"/>
          <p:cNvSpPr/>
          <p:nvPr/>
        </p:nvSpPr>
        <p:spPr>
          <a:xfrm>
            <a:off x="4267200" y="2011680"/>
            <a:ext cx="0" cy="1737360"/>
          </a:xfrm>
          <a:prstGeom prst="line">
            <a:avLst/>
          </a:prstGeom>
          <a:noFill/>
          <a:ln w="9525">
            <a:solidFill>
              <a:srgbClr val="D9D9D9"/>
            </a:solidFill>
            <a:prstDash val="solid"/>
          </a:ln>
        </p:spPr>
      </p:sp>
      <p:sp>
        <p:nvSpPr>
          <p:cNvPr id="8" name="Text 5"/>
          <p:cNvSpPr txBox="1"/>
          <p:nvPr/>
        </p:nvSpPr>
        <p:spPr>
          <a:xfrm>
            <a:off x="336804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9" name="Shape 6"/>
          <p:cNvSpPr/>
          <p:nvPr/>
        </p:nvSpPr>
        <p:spPr>
          <a:xfrm>
            <a:off x="6065520" y="2011680"/>
            <a:ext cx="0" cy="1737360"/>
          </a:xfrm>
          <a:prstGeom prst="line">
            <a:avLst/>
          </a:prstGeom>
          <a:noFill/>
          <a:ln w="9525">
            <a:solidFill>
              <a:srgbClr val="D9D9D9"/>
            </a:solidFill>
            <a:prstDash val="solid"/>
          </a:ln>
        </p:spPr>
      </p:sp>
      <p:sp>
        <p:nvSpPr>
          <p:cNvPr id="10" name="Text 7"/>
          <p:cNvSpPr txBox="1"/>
          <p:nvPr/>
        </p:nvSpPr>
        <p:spPr>
          <a:xfrm>
            <a:off x="516636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1" name="Shape 8"/>
          <p:cNvSpPr/>
          <p:nvPr/>
        </p:nvSpPr>
        <p:spPr>
          <a:xfrm>
            <a:off x="7863840" y="2011680"/>
            <a:ext cx="0" cy="1737360"/>
          </a:xfrm>
          <a:prstGeom prst="line">
            <a:avLst/>
          </a:prstGeom>
          <a:noFill/>
          <a:ln w="9525">
            <a:solidFill>
              <a:srgbClr val="D9D9D9"/>
            </a:solidFill>
            <a:prstDash val="solid"/>
          </a:ln>
        </p:spPr>
      </p:sp>
      <p:sp>
        <p:nvSpPr>
          <p:cNvPr id="12" name="Text 9"/>
          <p:cNvSpPr txBox="1"/>
          <p:nvPr/>
        </p:nvSpPr>
        <p:spPr>
          <a:xfrm>
            <a:off x="6964680" y="3794760"/>
            <a:ext cx="179832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18</a:t>
            </a:r>
            <a:endParaRPr lang="en-US" sz="1600" dirty="0"/>
          </a:p>
        </p:txBody>
      </p:sp>
      <p:sp>
        <p:nvSpPr>
          <p:cNvPr id="13" name="Text 10"/>
          <p:cNvSpPr txBox="1"/>
          <p:nvPr/>
        </p:nvSpPr>
        <p:spPr>
          <a:xfrm>
            <a:off x="182880" y="208483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Rituximab</a:t>
            </a:r>
            <a:endParaRPr lang="en-US" sz="1600" dirty="0"/>
          </a:p>
        </p:txBody>
      </p:sp>
      <p:sp>
        <p:nvSpPr>
          <p:cNvPr id="14" name="Shape 11"/>
          <p:cNvSpPr/>
          <p:nvPr/>
        </p:nvSpPr>
        <p:spPr>
          <a:xfrm>
            <a:off x="2468880" y="2084832"/>
            <a:ext cx="1708404" cy="676656"/>
          </a:xfrm>
          <a:prstGeom prst="rect">
            <a:avLst/>
          </a:prstGeom>
          <a:solidFill>
            <a:srgbClr val="9DB4CA"/>
          </a:solidFill>
          <a:ln w="6350">
            <a:solidFill>
              <a:srgbClr val="9DB4CA"/>
            </a:solidFill>
            <a:prstDash val="solid"/>
          </a:ln>
        </p:spPr>
      </p:sp>
      <p:sp>
        <p:nvSpPr>
          <p:cNvPr id="15" name="Text 12"/>
          <p:cNvSpPr txBox="1"/>
          <p:nvPr/>
        </p:nvSpPr>
        <p:spPr>
          <a:xfrm>
            <a:off x="182880" y="2907792"/>
            <a:ext cx="2148840" cy="67665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Entecavir, TDF or TAF</a:t>
            </a:r>
            <a:endParaRPr lang="en-US" sz="1600" dirty="0"/>
          </a:p>
        </p:txBody>
      </p:sp>
      <p:sp>
        <p:nvSpPr>
          <p:cNvPr id="16" name="Shape 13"/>
          <p:cNvSpPr/>
          <p:nvPr/>
        </p:nvSpPr>
        <p:spPr>
          <a:xfrm>
            <a:off x="2468880" y="2907792"/>
            <a:ext cx="5394960" cy="676656"/>
          </a:xfrm>
          <a:prstGeom prst="rect">
            <a:avLst/>
          </a:prstGeom>
          <a:solidFill>
            <a:srgbClr val="1F4E79"/>
          </a:solidFill>
          <a:ln w="6350">
            <a:solidFill>
              <a:srgbClr val="1F4E79"/>
            </a:solidFill>
            <a:prstDash val="solid"/>
          </a:ln>
        </p:spPr>
      </p:sp>
      <p:sp>
        <p:nvSpPr>
          <p:cNvPr id="17" name="Text 14"/>
          <p:cNvSpPr txBox="1"/>
          <p:nvPr/>
        </p:nvSpPr>
        <p:spPr>
          <a:xfrm>
            <a:off x="2468880" y="2907792"/>
            <a:ext cx="539496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Continue 12 months after the last dose</a:t>
            </a:r>
            <a:endParaRPr lang="en-US" sz="1500" dirty="0"/>
          </a:p>
        </p:txBody>
      </p:sp>
      <p:sp>
        <p:nvSpPr>
          <p:cNvPr id="18" name="Question"/>
          <p:cNvSpPr txBox="1"/>
          <p:nvPr/>
        </p:nvSpPr>
        <p:spPr>
          <a:xfrm>
            <a:off x="365760" y="4480560"/>
            <a:ext cx="7315200" cy="91440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Start before the first dose. If you only monitor: DNA and ALT every 1 to 3 months</a:t>
            </a:r>
            <a:endParaRPr lang="en-US" sz="2000" dirty="0"/>
          </a:p>
        </p:txBody>
      </p:sp>
      <p:sp>
        <p:nvSpPr>
          <p:cNvPr id="1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2025 (PMID 39863345); AASLD 2018 (PMID 29405329); EASL 2025 (PMID 40348683).</a:t>
            </a:r>
            <a:endParaRPr lang="en-US" sz="1000" dirty="0"/>
          </a:p>
        </p:txBody>
      </p:sp>
      <p:sp>
        <p:nvSpPr>
          <p:cNvPr id="21"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39/57</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Prophylaxis: the guidelines compared</a:t>
            </a:r>
            <a:endParaRPr lang="en-US" sz="3000" dirty="0"/>
          </a:p>
        </p:txBody>
      </p:sp>
      <p:graphicFrame>
        <p:nvGraphicFramePr>
          <p:cNvPr id="61"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2697480"/>
                <a:gridCol w="2249424"/>
                <a:gridCol w="1892808"/>
                <a:gridCol w="2615184"/>
                <a:gridCol w="1271016"/>
              </a:tblGrid>
              <a:tr h="7772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AGA 2025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AASLD 2018</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EASL 2025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700" b="1" dirty="0">
                          <a:solidFill>
                            <a:srgbClr val="000000"/>
                          </a:solidFill>
                          <a:latin typeface="Calibri" pitchFamily="34" charset="0"/>
                          <a:ea typeface="Calibri" pitchFamily="34" charset="-122"/>
                          <a:cs typeface="Calibri" pitchFamily="34" charset="-120"/>
                        </a:rPr>
                        <a:t>ASCO 2020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Anti-CD20, anti-HBc positive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Prophylaxis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Prophylaxis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Prophylaxis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Prophylaxis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Drug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High barrier</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ETV, TDF or TAF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ETV, TDF or TAF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High barrier</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After the last dose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6 months, 12 for B-cell depletion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6 months, 12 for anti-CD20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6 to 12 months, 18 for B-cell depletion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12 months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If monitoring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DNA, ALT every 1 to 3 months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DNA every 1 to 3 months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Every 3 months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By regimen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AGA PMID 39863345; AASLD PMID 29405329; EASL PMID 40348683; ASCO 2020 PMID 32716741; ACR 2021 PMID 34101387.</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40/57</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29-year-old woman, 20 weeks pregnant</a:t>
            </a:r>
            <a:endParaRPr lang="en-US" sz="3000" dirty="0"/>
          </a:p>
        </p:txBody>
      </p:sp>
      <p:graphicFrame>
        <p:nvGraphicFramePr>
          <p:cNvPr id="62"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6583680" cy="914400"/>
        </p:xfrm>
        <a:graphic>
          <a:graphicData uri="http://schemas.openxmlformats.org/drawingml/2006/table">
            <a:tbl>
              <a:tblPr/>
              <a:tblGrid>
                <a:gridCol w="1380744"/>
                <a:gridCol w="1380744"/>
                <a:gridCol w="2606040"/>
                <a:gridCol w="1216152"/>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HBsAg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HBeAg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HBV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0000"/>
                          </a:solidFill>
                          <a:latin typeface="Calibri" pitchFamily="34" charset="0"/>
                          <a:ea typeface="Calibri" pitchFamily="34" charset="-122"/>
                          <a:cs typeface="Calibri" pitchFamily="34" charset="-120"/>
                        </a:rPr>
                        <a:t>5,000,000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22 U/L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514600"/>
            <a:ext cx="658368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do for her and for the baby?</a:t>
            </a:r>
            <a:endParaRPr lang="en-US" sz="2400" dirty="0"/>
          </a:p>
        </p:txBody>
      </p:sp>
      <p:pic>
        <p:nvPicPr>
          <p:cNvPr id="5" name="Image 0" descr="Watercolor of a seated pregnant woman in profile">    </p:cNvPr>
          <p:cNvPicPr>
            <a:picLocks noChangeAspect="1"/>
          </p:cNvPicPr>
          <p:nvPr/>
        </p:nvPicPr>
        <p:blipFill>
          <a:blip r:embed="rId1"/>
          <a:stretch>
            <a:fillRect/>
          </a:stretch>
        </p:blipFill>
        <p:spPr>
          <a:xfrm>
            <a:off x="7040880" y="1097280"/>
            <a:ext cx="5029200" cy="5029200"/>
          </a:xfrm>
          <a:prstGeom prst="rect">
            <a:avLst/>
          </a:prstGeom>
        </p:spPr>
      </p:pic>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41/57</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29-year-old woman, 20 weeks pregnant</a:t>
            </a:r>
            <a:endParaRPr lang="en-US" sz="3000" dirty="0"/>
          </a:p>
        </p:txBody>
      </p:sp>
      <p:graphicFrame>
        <p:nvGraphicFramePr>
          <p:cNvPr id="63"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6583680" cy="914400"/>
        </p:xfrm>
        <a:graphic>
          <a:graphicData uri="http://schemas.openxmlformats.org/drawingml/2006/table">
            <a:tbl>
              <a:tblPr/>
              <a:tblGrid>
                <a:gridCol w="1380744"/>
                <a:gridCol w="1380744"/>
                <a:gridCol w="2606040"/>
                <a:gridCol w="1216152"/>
              </a:tblGrid>
              <a:tr h="54864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HBsAg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HBeAg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HBV DNA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ALT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Positive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C00000"/>
                          </a:solidFill>
                          <a:latin typeface="Calibri" pitchFamily="34" charset="0"/>
                          <a:ea typeface="Calibri" pitchFamily="34" charset="-122"/>
                          <a:cs typeface="Calibri" pitchFamily="34" charset="-120"/>
                        </a:rPr>
                        <a:t>5,000,000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22 U/L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2514600"/>
            <a:ext cx="658368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do for her and for the baby?</a:t>
            </a:r>
            <a:endParaRPr lang="en-US" sz="2400" dirty="0"/>
          </a:p>
        </p:txBody>
      </p:sp>
      <p:pic>
        <p:nvPicPr>
          <p:cNvPr id="5" name="Image 0" descr="Watercolor of a seated pregnant woman in profile">    </p:cNvPr>
          <p:cNvPicPr>
            <a:picLocks noChangeAspect="1"/>
          </p:cNvPicPr>
          <p:nvPr/>
        </p:nvPicPr>
        <p:blipFill>
          <a:blip r:embed="rId1"/>
          <a:stretch>
            <a:fillRect/>
          </a:stretch>
        </p:blipFill>
        <p:spPr>
          <a:xfrm>
            <a:off x="7040880" y="1097280"/>
            <a:ext cx="5029200" cy="5029200"/>
          </a:xfrm>
          <a:prstGeom prst="rect">
            <a:avLst/>
          </a:prstGeom>
        </p:spPr>
      </p:pic>
      <p:sp>
        <p:nvSpPr>
          <p:cNvPr id="6" name="Body"/>
          <p:cNvSpPr txBox="1"/>
          <p:nvPr/>
        </p:nvSpPr>
        <p:spPr>
          <a:xfrm>
            <a:off x="548640" y="3383280"/>
            <a:ext cx="6400800" cy="2560320"/>
          </a:xfrm>
          <a:prstGeom prst="rect">
            <a:avLst/>
          </a:prstGeom>
          <a:noFill/>
          <a:ln/>
        </p:spPr>
        <p:txBody>
          <a:bodyPr wrap="square" lIns="50800" tIns="50800" rIns="50800" bIns="50800" rtlCol="0" anchor="t"/>
          <a:lstStyle/>
          <a:p>
            <a:pPr marL="228600" indent="-228600">
              <a:spcBef>
                <a:spcPts val="1600"/>
              </a:spcBef>
              <a:buSzPct val="100000"/>
              <a:buChar char="–"/>
            </a:pPr>
            <a:r>
              <a:rPr lang="en-US" sz="2400" dirty="0">
                <a:solidFill>
                  <a:srgbClr val="000000"/>
                </a:solidFill>
                <a:latin typeface="Georgia" pitchFamily="34" charset="0"/>
                <a:ea typeface="Georgia" pitchFamily="34" charset="-122"/>
                <a:cs typeface="Georgia" pitchFamily="34" charset="-120"/>
              </a:rPr>
              <a:t>TDF or TAF from week 28, because DNA is above 200,000 IU/mL</a:t>
            </a:r>
            <a:endParaRPr lang="en-US" sz="2400" dirty="0"/>
          </a:p>
          <a:p>
            <a:pPr marL="228600" indent="-228600">
              <a:spcBef>
                <a:spcPts val="1600"/>
              </a:spcBef>
              <a:buSzPct val="100000"/>
              <a:buChar char="–"/>
            </a:pPr>
            <a:r>
              <a:rPr lang="en-US" sz="2400" dirty="0">
                <a:solidFill>
                  <a:srgbClr val="000000"/>
                </a:solidFill>
                <a:latin typeface="Georgia" pitchFamily="34" charset="0"/>
                <a:ea typeface="Georgia" pitchFamily="34" charset="-122"/>
                <a:cs typeface="Georgia" pitchFamily="34" charset="-120"/>
              </a:rPr>
              <a:t>Baby: hepatitis B vaccine and HBIG within 12 hours of birth</a:t>
            </a:r>
            <a:endParaRPr lang="en-US" sz="2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41/57</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Her pregnancy and the baby's first year</a:t>
            </a:r>
            <a:endParaRPr lang="en-US" sz="3000" dirty="0"/>
          </a:p>
        </p:txBody>
      </p:sp>
      <p:sp>
        <p:nvSpPr>
          <p:cNvPr id="3" name="Shape 1"/>
          <p:cNvSpPr/>
          <p:nvPr/>
        </p:nvSpPr>
        <p:spPr>
          <a:xfrm>
            <a:off x="4023360" y="1463040"/>
            <a:ext cx="0" cy="3200400"/>
          </a:xfrm>
          <a:prstGeom prst="line">
            <a:avLst/>
          </a:prstGeom>
          <a:noFill/>
          <a:ln w="9525">
            <a:solidFill>
              <a:srgbClr val="D9D9D9"/>
            </a:solidFill>
            <a:prstDash val="solid"/>
          </a:ln>
        </p:spPr>
      </p:sp>
      <p:sp>
        <p:nvSpPr>
          <p:cNvPr id="4" name="Text 2"/>
          <p:cNvSpPr txBox="1"/>
          <p:nvPr/>
        </p:nvSpPr>
        <p:spPr>
          <a:xfrm>
            <a:off x="3070898"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Week 20</a:t>
            </a:r>
            <a:endParaRPr lang="en-US" sz="1600" dirty="0"/>
          </a:p>
        </p:txBody>
      </p:sp>
      <p:sp>
        <p:nvSpPr>
          <p:cNvPr id="5" name="Shape 3"/>
          <p:cNvSpPr/>
          <p:nvPr/>
        </p:nvSpPr>
        <p:spPr>
          <a:xfrm>
            <a:off x="5928284" y="1463040"/>
            <a:ext cx="0" cy="3200400"/>
          </a:xfrm>
          <a:prstGeom prst="line">
            <a:avLst/>
          </a:prstGeom>
          <a:noFill/>
          <a:ln w="9525">
            <a:solidFill>
              <a:srgbClr val="D9D9D9"/>
            </a:solidFill>
            <a:prstDash val="solid"/>
          </a:ln>
        </p:spPr>
      </p:sp>
      <p:sp>
        <p:nvSpPr>
          <p:cNvPr id="6" name="Text 4"/>
          <p:cNvSpPr txBox="1"/>
          <p:nvPr/>
        </p:nvSpPr>
        <p:spPr>
          <a:xfrm>
            <a:off x="4975822"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Week 28</a:t>
            </a:r>
            <a:endParaRPr lang="en-US" sz="1600" dirty="0"/>
          </a:p>
        </p:txBody>
      </p:sp>
      <p:sp>
        <p:nvSpPr>
          <p:cNvPr id="7" name="Shape 5"/>
          <p:cNvSpPr/>
          <p:nvPr/>
        </p:nvSpPr>
        <p:spPr>
          <a:xfrm>
            <a:off x="7833208" y="1463040"/>
            <a:ext cx="0" cy="3200400"/>
          </a:xfrm>
          <a:prstGeom prst="line">
            <a:avLst/>
          </a:prstGeom>
          <a:noFill/>
          <a:ln w="9525">
            <a:solidFill>
              <a:srgbClr val="D9D9D9"/>
            </a:solidFill>
            <a:prstDash val="solid"/>
          </a:ln>
        </p:spPr>
      </p:sp>
      <p:sp>
        <p:nvSpPr>
          <p:cNvPr id="8" name="Text 6"/>
          <p:cNvSpPr txBox="1"/>
          <p:nvPr/>
        </p:nvSpPr>
        <p:spPr>
          <a:xfrm>
            <a:off x="6880746"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Delivery</a:t>
            </a:r>
            <a:endParaRPr lang="en-US" sz="1600" dirty="0"/>
          </a:p>
        </p:txBody>
      </p:sp>
      <p:sp>
        <p:nvSpPr>
          <p:cNvPr id="9" name="Shape 7"/>
          <p:cNvSpPr/>
          <p:nvPr/>
        </p:nvSpPr>
        <p:spPr>
          <a:xfrm>
            <a:off x="9738131" y="1463040"/>
            <a:ext cx="0" cy="3200400"/>
          </a:xfrm>
          <a:prstGeom prst="line">
            <a:avLst/>
          </a:prstGeom>
          <a:noFill/>
          <a:ln w="9525">
            <a:solidFill>
              <a:srgbClr val="D9D9D9"/>
            </a:solidFill>
            <a:prstDash val="solid"/>
          </a:ln>
        </p:spPr>
      </p:sp>
      <p:sp>
        <p:nvSpPr>
          <p:cNvPr id="10" name="Text 8"/>
          <p:cNvSpPr txBox="1"/>
          <p:nvPr/>
        </p:nvSpPr>
        <p:spPr>
          <a:xfrm>
            <a:off x="8785670"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6</a:t>
            </a:r>
            <a:endParaRPr lang="en-US" sz="1600" dirty="0"/>
          </a:p>
        </p:txBody>
      </p:sp>
      <p:sp>
        <p:nvSpPr>
          <p:cNvPr id="11" name="Shape 9"/>
          <p:cNvSpPr/>
          <p:nvPr/>
        </p:nvSpPr>
        <p:spPr>
          <a:xfrm>
            <a:off x="11643055" y="1463040"/>
            <a:ext cx="0" cy="3200400"/>
          </a:xfrm>
          <a:prstGeom prst="line">
            <a:avLst/>
          </a:prstGeom>
          <a:noFill/>
          <a:ln w="9525">
            <a:solidFill>
              <a:srgbClr val="D9D9D9"/>
            </a:solidFill>
            <a:prstDash val="solid"/>
          </a:ln>
        </p:spPr>
      </p:sp>
      <p:sp>
        <p:nvSpPr>
          <p:cNvPr id="12" name="Text 10"/>
          <p:cNvSpPr txBox="1"/>
          <p:nvPr/>
        </p:nvSpPr>
        <p:spPr>
          <a:xfrm>
            <a:off x="10690593" y="4709160"/>
            <a:ext cx="1904924" cy="365760"/>
          </a:xfrm>
          <a:prstGeom prst="rect">
            <a:avLst/>
          </a:prstGeom>
          <a:noFill/>
          <a:ln/>
        </p:spPr>
        <p:txBody>
          <a:bodyPr wrap="square" lIns="0" tIns="0" rIns="0" bIns="0" rtlCol="0" anchor="ctr"/>
          <a:lstStyle/>
          <a:p>
            <a:pPr algn="ctr" indent="0" marL="0">
              <a:buNone/>
            </a:pPr>
            <a:r>
              <a:rPr lang="en-US" sz="1600" dirty="0">
                <a:solidFill>
                  <a:srgbClr val="595959"/>
                </a:solidFill>
                <a:latin typeface="Calibri" pitchFamily="34" charset="0"/>
                <a:ea typeface="Calibri" pitchFamily="34" charset="-122"/>
                <a:cs typeface="Calibri" pitchFamily="34" charset="-120"/>
              </a:rPr>
              <a:t>Month 12</a:t>
            </a:r>
            <a:endParaRPr lang="en-US" sz="1600" dirty="0"/>
          </a:p>
        </p:txBody>
      </p:sp>
      <p:sp>
        <p:nvSpPr>
          <p:cNvPr id="13" name="Text 11"/>
          <p:cNvSpPr txBox="1"/>
          <p:nvPr/>
        </p:nvSpPr>
        <p:spPr>
          <a:xfrm>
            <a:off x="548640" y="153619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Mother: TDF or TAF</a:t>
            </a:r>
            <a:endParaRPr lang="en-US" sz="1600" dirty="0"/>
          </a:p>
        </p:txBody>
      </p:sp>
      <p:sp>
        <p:nvSpPr>
          <p:cNvPr id="14" name="Shape 12"/>
          <p:cNvSpPr/>
          <p:nvPr/>
        </p:nvSpPr>
        <p:spPr>
          <a:xfrm>
            <a:off x="5928284" y="1536192"/>
            <a:ext cx="1904924" cy="630936"/>
          </a:xfrm>
          <a:prstGeom prst="rect">
            <a:avLst/>
          </a:prstGeom>
          <a:solidFill>
            <a:srgbClr val="1F4E79"/>
          </a:solidFill>
          <a:ln w="6350">
            <a:solidFill>
              <a:srgbClr val="1F4E79"/>
            </a:solidFill>
            <a:prstDash val="solid"/>
          </a:ln>
        </p:spPr>
      </p:sp>
      <p:sp>
        <p:nvSpPr>
          <p:cNvPr id="15" name="Text 13"/>
          <p:cNvSpPr txBox="1"/>
          <p:nvPr/>
        </p:nvSpPr>
        <p:spPr>
          <a:xfrm>
            <a:off x="5928284" y="1536192"/>
            <a:ext cx="2011680" cy="630936"/>
          </a:xfrm>
          <a:prstGeom prst="rect">
            <a:avLst/>
          </a:prstGeom>
          <a:noFill/>
          <a:ln/>
        </p:spPr>
        <p:txBody>
          <a:bodyPr wrap="square" lIns="0" tIns="27473"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Stop at delivery is allowed</a:t>
            </a:r>
            <a:endParaRPr lang="en-US" sz="1500" dirty="0"/>
          </a:p>
        </p:txBody>
      </p:sp>
      <p:sp>
        <p:nvSpPr>
          <p:cNvPr id="16" name="Text 14"/>
          <p:cNvSpPr txBox="1"/>
          <p:nvPr/>
        </p:nvSpPr>
        <p:spPr>
          <a:xfrm>
            <a:off x="548640" y="231343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Mother: DNA and ALT</a:t>
            </a:r>
            <a:endParaRPr lang="en-US" sz="1600" dirty="0"/>
          </a:p>
        </p:txBody>
      </p:sp>
      <p:sp>
        <p:nvSpPr>
          <p:cNvPr id="17" name="Shape 15"/>
          <p:cNvSpPr/>
          <p:nvPr/>
        </p:nvSpPr>
        <p:spPr>
          <a:xfrm>
            <a:off x="7833208" y="2313432"/>
            <a:ext cx="1904924" cy="630936"/>
          </a:xfrm>
          <a:prstGeom prst="rect">
            <a:avLst/>
          </a:prstGeom>
          <a:solidFill>
            <a:srgbClr val="2E7D8C"/>
          </a:solidFill>
          <a:ln w="6350">
            <a:solidFill>
              <a:srgbClr val="2E7D8C"/>
            </a:solidFill>
            <a:prstDash val="solid"/>
          </a:ln>
        </p:spPr>
      </p:sp>
      <p:sp>
        <p:nvSpPr>
          <p:cNvPr id="18" name="Text 16"/>
          <p:cNvSpPr txBox="1"/>
          <p:nvPr/>
        </p:nvSpPr>
        <p:spPr>
          <a:xfrm>
            <a:off x="7833208" y="2313432"/>
            <a:ext cx="2011680" cy="630936"/>
          </a:xfrm>
          <a:prstGeom prst="rect">
            <a:avLst/>
          </a:prstGeom>
          <a:noFill/>
          <a:ln/>
        </p:spPr>
        <p:txBody>
          <a:bodyPr wrap="square" lIns="0" tIns="27473"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Every 1 to 3 months</a:t>
            </a:r>
            <a:endParaRPr lang="en-US" sz="1500" dirty="0"/>
          </a:p>
        </p:txBody>
      </p:sp>
      <p:sp>
        <p:nvSpPr>
          <p:cNvPr id="19" name="Text 17"/>
          <p:cNvSpPr txBox="1"/>
          <p:nvPr/>
        </p:nvSpPr>
        <p:spPr>
          <a:xfrm>
            <a:off x="548640" y="309067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Baby: vaccine and HBIG</a:t>
            </a:r>
            <a:endParaRPr lang="en-US" sz="1600" dirty="0"/>
          </a:p>
        </p:txBody>
      </p:sp>
      <p:sp>
        <p:nvSpPr>
          <p:cNvPr id="20" name="Shape 18"/>
          <p:cNvSpPr/>
          <p:nvPr/>
        </p:nvSpPr>
        <p:spPr>
          <a:xfrm>
            <a:off x="7833208" y="3090672"/>
            <a:ext cx="228591" cy="630936"/>
          </a:xfrm>
          <a:prstGeom prst="rect">
            <a:avLst/>
          </a:prstGeom>
          <a:solidFill>
            <a:srgbClr val="C08A3E"/>
          </a:solidFill>
          <a:ln w="6350">
            <a:solidFill>
              <a:srgbClr val="C08A3E"/>
            </a:solidFill>
            <a:prstDash val="solid"/>
          </a:ln>
        </p:spPr>
      </p:sp>
      <p:sp>
        <p:nvSpPr>
          <p:cNvPr id="21" name="Text 19"/>
          <p:cNvSpPr txBox="1"/>
          <p:nvPr/>
        </p:nvSpPr>
        <p:spPr>
          <a:xfrm>
            <a:off x="7833208" y="3090672"/>
            <a:ext cx="2011680" cy="630936"/>
          </a:xfrm>
          <a:prstGeom prst="rect">
            <a:avLst/>
          </a:prstGeom>
          <a:noFill/>
          <a:ln/>
        </p:spPr>
        <p:txBody>
          <a:bodyPr wrap="square" lIns="0" tIns="4191" rIns="0" bIns="0" rtlCol="0" anchor="ctr"/>
          <a:lstStyle/>
          <a:p>
            <a:pPr algn="l" indent="0" marL="0">
              <a:buNone/>
            </a:pPr>
            <a:r>
              <a:rPr lang="en-US" sz="1500" b="1" dirty="0">
                <a:solidFill>
                  <a:srgbClr val="000000"/>
                </a:solidFill>
                <a:latin typeface="Calibri" pitchFamily="34" charset="0"/>
                <a:ea typeface="Calibri" pitchFamily="34" charset="-122"/>
                <a:cs typeface="Calibri" pitchFamily="34" charset="-120"/>
              </a:rPr>
              <a:t>Within 12 hours</a:t>
            </a:r>
            <a:endParaRPr lang="en-US" sz="1500" dirty="0"/>
          </a:p>
        </p:txBody>
      </p:sp>
      <p:sp>
        <p:nvSpPr>
          <p:cNvPr id="22" name="Text 20"/>
          <p:cNvSpPr txBox="1"/>
          <p:nvPr/>
        </p:nvSpPr>
        <p:spPr>
          <a:xfrm>
            <a:off x="548640" y="3867912"/>
            <a:ext cx="3337560" cy="630936"/>
          </a:xfrm>
          <a:prstGeom prst="rect">
            <a:avLst/>
          </a:prstGeom>
          <a:noFill/>
          <a:ln/>
        </p:spPr>
        <p:txBody>
          <a:bodyPr wrap="square" lIns="0" tIns="0" rIns="0" bIns="0" rtlCol="0" anchor="ctr"/>
          <a:lstStyle/>
          <a:p>
            <a:pPr algn="r" indent="0" marL="0">
              <a:buNone/>
            </a:pPr>
            <a:r>
              <a:rPr lang="en-US" sz="1600" dirty="0">
                <a:solidFill>
                  <a:srgbClr val="000000"/>
                </a:solidFill>
                <a:latin typeface="Georgia" pitchFamily="34" charset="0"/>
                <a:ea typeface="Georgia" pitchFamily="34" charset="-122"/>
                <a:cs typeface="Georgia" pitchFamily="34" charset="-120"/>
              </a:rPr>
              <a:t>Baby: HBsAg and anti-HBs</a:t>
            </a:r>
            <a:endParaRPr lang="en-US" sz="1600" dirty="0"/>
          </a:p>
        </p:txBody>
      </p:sp>
      <p:sp>
        <p:nvSpPr>
          <p:cNvPr id="23" name="Shape 21"/>
          <p:cNvSpPr/>
          <p:nvPr/>
        </p:nvSpPr>
        <p:spPr>
          <a:xfrm>
            <a:off x="10690593" y="3867912"/>
            <a:ext cx="952462" cy="630936"/>
          </a:xfrm>
          <a:prstGeom prst="rect">
            <a:avLst/>
          </a:prstGeom>
          <a:solidFill>
            <a:srgbClr val="9DB4CA"/>
          </a:solidFill>
          <a:ln w="6350">
            <a:solidFill>
              <a:srgbClr val="9DB4CA"/>
            </a:solidFill>
            <a:prstDash val="solid"/>
          </a:ln>
        </p:spPr>
      </p:sp>
      <p:sp>
        <p:nvSpPr>
          <p:cNvPr id="24" name="Text 22"/>
          <p:cNvSpPr txBox="1"/>
          <p:nvPr/>
        </p:nvSpPr>
        <p:spPr>
          <a:xfrm>
            <a:off x="10690593" y="3867912"/>
            <a:ext cx="2011680" cy="630936"/>
          </a:xfrm>
          <a:prstGeom prst="rect">
            <a:avLst/>
          </a:prstGeom>
          <a:noFill/>
          <a:ln/>
        </p:spPr>
        <p:txBody>
          <a:bodyPr wrap="square" lIns="0" tIns="14245" rIns="0" bIns="0" rtlCol="0" anchor="ctr"/>
          <a:lstStyle/>
          <a:p>
            <a:pPr algn="l" indent="0" marL="0">
              <a:buNone/>
            </a:pPr>
            <a:r>
              <a:rPr lang="en-US" sz="1500" b="1" dirty="0">
                <a:solidFill>
                  <a:srgbClr val="000000"/>
                </a:solidFill>
                <a:latin typeface="Calibri" pitchFamily="34" charset="0"/>
                <a:ea typeface="Calibri" pitchFamily="34" charset="-122"/>
                <a:cs typeface="Calibri" pitchFamily="34" charset="-120"/>
              </a:rPr>
              <a:t>Month 9 to 12</a:t>
            </a:r>
            <a:endParaRPr lang="en-US" sz="1500" dirty="0"/>
          </a:p>
        </p:txBody>
      </p:sp>
      <p:sp>
        <p:nvSpPr>
          <p:cNvPr id="2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R1 (PMID 41186418); CDC perinatal hepatitis B overview, 2025.</a:t>
            </a:r>
            <a:endParaRPr lang="en-US" sz="1000" dirty="0"/>
          </a:p>
        </p:txBody>
      </p:sp>
      <p:sp>
        <p:nvSpPr>
          <p:cNvPr id="2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42/57</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Tenofovir in pregnancy: the trials</a:t>
            </a:r>
            <a:endParaRPr lang="en-US" sz="3000" dirty="0"/>
          </a:p>
        </p:txBody>
      </p:sp>
      <p:graphicFrame>
        <p:nvGraphicFramePr>
          <p:cNvPr id="3" name="Chart 0" descr=""/>
          <p:cNvGraphicFramePr/>
          <p:nvPr/>
        </p:nvGraphicFramePr>
        <p:xfrm>
          <a:off x="548640" y="1188720"/>
          <a:ext cx="60350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65" name="Table"/>
          <p:cNvGraphicFramePr>
            <a:graphicFrameLocks noGrp="1"/>
          </p:cNvGraphicFramePr>
          <p:nvPr>
            <p:extLst>
              <p:ext uri="{D42A27DB-BD31-4B8C-83A1-F6EECF244321}">
                <p14:modId xmlns:p14="http://schemas.microsoft.com/office/powerpoint/2010/main" val="1579011935"/>
              </p:ext>
            </p:extLst>
          </p:nvPr>
        </p:nvGraphicFramePr>
        <p:xfrm>
          <a:off x="6949440" y="1828800"/>
          <a:ext cx="4754880" cy="914400"/>
        </p:xfrm>
        <a:graphic>
          <a:graphicData uri="http://schemas.openxmlformats.org/drawingml/2006/table">
            <a:tbl>
              <a:tblPr/>
              <a:tblGrid>
                <a:gridCol w="2203704"/>
                <a:gridCol w="1280160"/>
                <a:gridCol w="1271016"/>
              </a:tblGrid>
              <a:tr h="64008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Jourdain 2018</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TDF</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Placebo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4008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Infected infants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0 of 147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3 of 147</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p</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0.12</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949440" y="4023360"/>
            <a:ext cx="4754880" cy="914400"/>
          </a:xfrm>
          <a:prstGeom prst="rect">
            <a:avLst/>
          </a:prstGeom>
          <a:noFill/>
          <a:ln/>
        </p:spPr>
        <p:txBody>
          <a:bodyPr wrap="square" lIns="0" tIns="0" rIns="0" bIns="0" rtlCol="0" anchor="ctr"/>
          <a:lstStyle/>
          <a:p>
            <a:pPr indent="0" marL="0">
              <a:buNone/>
            </a:pPr>
            <a:r>
              <a:rPr lang="en-US" sz="1700" dirty="0">
                <a:solidFill>
                  <a:srgbClr val="000000"/>
                </a:solidFill>
                <a:latin typeface="Georgia" pitchFamily="34" charset="0"/>
                <a:ea typeface="Georgia" pitchFamily="34" charset="-122"/>
                <a:cs typeface="Georgia" pitchFamily="34" charset="-120"/>
              </a:rPr>
              <a:t>Infant HBIG and vaccine were given about an hour after birth in Thailand</a:t>
            </a:r>
            <a:endParaRPr lang="en-US" sz="17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Pan CQ et al. NEJM 2016 (PMID in dossier ref 52). Jourdain G et al. NEJM 2018 (ref 53).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43/57</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Coinfection with HIV or HCV</a:t>
            </a:r>
            <a:endParaRPr lang="en-US" sz="3000" dirty="0"/>
          </a:p>
        </p:txBody>
      </p:sp>
      <p:graphicFrame>
        <p:nvGraphicFramePr>
          <p:cNvPr id="66"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4416552"/>
                <a:gridCol w="6309360"/>
              </a:tblGrid>
              <a:tr h="914400">
                <a:tc>
                  <a:txBody>
                    <a:bodyPr/>
                    <a:lstStyle/>
                    <a:p>
                      <a:pPr algn="l" indent="0" marL="0">
                        <a:buNone/>
                      </a:pPr>
                      <a:r>
                        <a:rPr lang="en-US" sz="1900" b="1" dirty="0">
                          <a:solidFill>
                            <a:srgbClr val="000000"/>
                          </a:solidFill>
                          <a:latin typeface="Calibri" pitchFamily="34" charset="0"/>
                          <a:ea typeface="Calibri" pitchFamily="34" charset="-122"/>
                          <a:cs typeface="Calibri" pitchFamily="34" charset="-120"/>
                        </a:rPr>
                        <a:t>Coinfection</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What to do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HIV</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ART must include TDF or TAF plus emtricitabine or lamivudine. Entecavir alone is not HIV treatment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HCV, HBsAg positive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DNA every 4 to 8 weeks during direct-acting antivirals and for 3 months after</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HCV, HBsAg negative and anti-HBc positive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Much lower risk. Check DNA and HBsAg if the ALT rises unexpectedly</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44/57</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Hepatitis D: who to test</a:t>
            </a:r>
            <a:endParaRPr lang="en-US" sz="3000" dirty="0"/>
          </a:p>
        </p:txBody>
      </p:sp>
      <p:graphicFrame>
        <p:nvGraphicFramePr>
          <p:cNvPr id="67"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685800"/>
                <a:gridCol w="5632704"/>
                <a:gridCol w="4407408"/>
              </a:tblGrid>
              <a:tr h="1097280">
                <a:tc>
                  <a:txBody>
                    <a:bodyPr/>
                    <a:lstStyle/>
                    <a:p>
                      <a:pPr algn="l"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AASLD 2018</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EASL 2025</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09728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Who</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Risk-based: endemic origin, HIV, injection drug use, high ALT with low DNA</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Every HBsAg-positive patient, at least once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9728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How</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Total anti-HDV, then HDV RNA if positive</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000000"/>
                          </a:solidFill>
                          <a:latin typeface="Calibri" pitchFamily="34" charset="0"/>
                          <a:ea typeface="Calibri" pitchFamily="34" charset="-122"/>
                          <a:cs typeface="Calibri" pitchFamily="34" charset="-120"/>
                        </a:rPr>
                        <a:t>Total anti-HDV, then HDV RNA</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PMID 29405329; EASL 2025, PMID 40348683.</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45/57</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Bulevirtide for hepatitis D</a:t>
            </a:r>
            <a:endParaRPr lang="en-US" sz="3000" dirty="0"/>
          </a:p>
        </p:txBody>
      </p:sp>
      <p:graphicFrame>
        <p:nvGraphicFramePr>
          <p:cNvPr id="3" name="Chart 0" descr=""/>
          <p:cNvGraphicFramePr/>
          <p:nvPr/>
        </p:nvGraphicFramePr>
        <p:xfrm>
          <a:off x="548640" y="1188720"/>
          <a:ext cx="6400800" cy="402336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223760" y="1554480"/>
            <a:ext cx="4572000" cy="4114800"/>
          </a:xfrm>
          <a:prstGeom prst="rect">
            <a:avLst/>
          </a:prstGeom>
          <a:noFill/>
          <a:ln/>
        </p:spPr>
        <p:txBody>
          <a:bodyPr wrap="square" lIns="50800" tIns="50800" rIns="50800" bIns="50800" rtlCol="0" anchor="t"/>
          <a:lstStyle/>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FDA accelerated approval 22 May 2026</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8.5 mg subcutaneously, once a day</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Adults without cirrhosis or with compensated cirrhosis</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Boxed warning: stopping can cause severe exacerbations</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FDA news release 22 May 2026. MYR301, week 48. Combined response: HDV RNA undetectable or 2 log decline, and normal ALT.</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46/57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Cirrhosis and decompensation</a:t>
            </a:r>
            <a:endParaRPr lang="en-US" sz="3000" dirty="0"/>
          </a:p>
        </p:txBody>
      </p:sp>
      <p:graphicFrame>
        <p:nvGraphicFramePr>
          <p:cNvPr id="69"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7040880" cy="914400"/>
        </p:xfrm>
        <a:graphic>
          <a:graphicData uri="http://schemas.openxmlformats.org/drawingml/2006/table">
            <a:tbl>
              <a:tblPr/>
              <a:tblGrid>
                <a:gridCol w="4142232"/>
                <a:gridCol w="1280160"/>
                <a:gridCol w="1618488"/>
              </a:tblGrid>
              <a:tr h="777240">
                <a:tc>
                  <a:txBody>
                    <a:bodyPr/>
                    <a:lstStyle/>
                    <a:p>
                      <a:pPr algn="l" indent="0" marL="0">
                        <a:buNone/>
                      </a:pPr>
                      <a:r>
                        <a:rPr lang="en-US" sz="2100" b="1" dirty="0">
                          <a:solidFill>
                            <a:srgbClr val="000000"/>
                          </a:solidFill>
                          <a:latin typeface="Calibri" pitchFamily="34" charset="0"/>
                          <a:ea typeface="Calibri" pitchFamily="34" charset="-122"/>
                          <a:cs typeface="Calibri" pitchFamily="34" charset="-120"/>
                        </a:rPr>
                        <a:t>Jang, observational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Treated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Untreated</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First decompensation, n = 707</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423</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284</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5-year transplant-free survival</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59.7%</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46.0%</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Delisted on treatment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33.9%</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small nodular cirrhotic liver">    </p:cNvPr>
          <p:cNvPicPr>
            <a:picLocks noChangeAspect="1"/>
          </p:cNvPicPr>
          <p:nvPr/>
        </p:nvPicPr>
        <p:blipFill>
          <a:blip r:embed="rId1"/>
          <a:stretch>
            <a:fillRect/>
          </a:stretch>
        </p:blipFill>
        <p:spPr>
          <a:xfrm>
            <a:off x="7680960" y="1097280"/>
            <a:ext cx="4297680" cy="429768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Jang JW et al. 2015 (dossier ref 56).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47/57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HBV and liver transplant</a:t>
            </a:r>
            <a:endParaRPr lang="en-US" sz="3000" dirty="0"/>
          </a:p>
        </p:txBody>
      </p:sp>
      <p:graphicFrame>
        <p:nvGraphicFramePr>
          <p:cNvPr id="3" name="Chart 0" descr=""/>
          <p:cNvGraphicFramePr/>
          <p:nvPr/>
        </p:nvGraphicFramePr>
        <p:xfrm>
          <a:off x="548640" y="118872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589520" y="1371600"/>
            <a:ext cx="4297680" cy="4572000"/>
          </a:xfrm>
          <a:prstGeom prst="rect">
            <a:avLst/>
          </a:prstGeom>
          <a:noFill/>
          <a:ln/>
        </p:spPr>
        <p:txBody>
          <a:bodyPr wrap="square" lIns="50800" tIns="50800" rIns="50800" bIns="50800" rtlCol="0" anchor="t"/>
          <a:lstStyle/>
          <a:p>
            <a:pPr marL="228600" indent="-228600">
              <a:spcBef>
                <a:spcPts val="1200"/>
              </a:spcBef>
              <a:buSzPct val="100000"/>
              <a:buChar char="–"/>
            </a:pPr>
            <a:r>
              <a:rPr lang="en-US" sz="1700" dirty="0">
                <a:solidFill>
                  <a:srgbClr val="000000"/>
                </a:solidFill>
                <a:latin typeface="Georgia" pitchFamily="34" charset="0"/>
                <a:ea typeface="Georgia" pitchFamily="34" charset="-122"/>
                <a:cs typeface="Georgia" pitchFamily="34" charset="-120"/>
              </a:rPr>
              <a:t>Anti-HBc positive donor, HBV-naive recipient (Cholongitas, older regimens)</a:t>
            </a:r>
            <a:endParaRPr lang="en-US" sz="1700" dirty="0"/>
          </a:p>
          <a:p>
            <a:pPr marL="228600" indent="-228600">
              <a:spcBef>
                <a:spcPts val="1200"/>
              </a:spcBef>
              <a:buSzPct val="100000"/>
              <a:buChar char="–"/>
            </a:pPr>
            <a:r>
              <a:rPr lang="en-US" sz="1700" dirty="0">
                <a:solidFill>
                  <a:srgbClr val="000000"/>
                </a:solidFill>
                <a:latin typeface="Georgia" pitchFamily="34" charset="0"/>
                <a:ea typeface="Georgia" pitchFamily="34" charset="-122"/>
                <a:cs typeface="Georgia" pitchFamily="34" charset="-120"/>
              </a:rPr>
              <a:t>Entecavir alone without HBIG: 265 recipients, 92% HBsAg negative and 100% DNA undetectable at 8 years (Fung)</a:t>
            </a:r>
            <a:endParaRPr lang="en-US" sz="1700" dirty="0"/>
          </a:p>
          <a:p>
            <a:pPr marL="228600" indent="-228600">
              <a:spcBef>
                <a:spcPts val="1200"/>
              </a:spcBef>
              <a:buSzPct val="100000"/>
              <a:buChar char="–"/>
            </a:pPr>
            <a:r>
              <a:rPr lang="en-US" sz="1700" dirty="0">
                <a:solidFill>
                  <a:srgbClr val="000000"/>
                </a:solidFill>
                <a:latin typeface="Georgia" pitchFamily="34" charset="0"/>
                <a:ea typeface="Georgia" pitchFamily="34" charset="-122"/>
                <a:cs typeface="Georgia" pitchFamily="34" charset="-120"/>
              </a:rPr>
              <a:t>Long-term nucleos(t)ide analogue for HBsAg-negative recipients of anti-HBc-positive grafts</a:t>
            </a:r>
            <a:endParaRPr lang="en-US" sz="17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Cholongitas E et al. 2010 (dossier ref 59). Fung J et al. 2017 (ref 57). AASLD 2018 section 6H.</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48/57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Children and adolescents</a:t>
            </a:r>
            <a:endParaRPr lang="en-US" sz="3000" dirty="0"/>
          </a:p>
        </p:txBody>
      </p:sp>
      <p:graphicFrame>
        <p:nvGraphicFramePr>
          <p:cNvPr id="71" name="Table"/>
          <p:cNvGraphicFramePr>
            <a:graphicFrameLocks noGrp="1"/>
          </p:cNvGraphicFramePr>
          <p:nvPr>
            <p:extLst>
              <p:ext uri="{D42A27DB-BD31-4B8C-83A1-F6EECF244321}">
                <p14:modId xmlns:p14="http://schemas.microsoft.com/office/powerpoint/2010/main" val="1579011935"/>
              </p:ext>
            </p:extLst>
          </p:nvPr>
        </p:nvGraphicFramePr>
        <p:xfrm>
          <a:off x="457200" y="1371600"/>
          <a:ext cx="7040880" cy="914400"/>
        </p:xfrm>
        <a:graphic>
          <a:graphicData uri="http://schemas.openxmlformats.org/drawingml/2006/table">
            <a:tbl>
              <a:tblPr/>
              <a:tblGrid>
                <a:gridCol w="1399032"/>
                <a:gridCol w="5641848"/>
              </a:tblGrid>
              <a:tr h="914400">
                <a:tc>
                  <a:txBody>
                    <a:bodyPr/>
                    <a:lstStyle/>
                    <a:p>
                      <a:pPr algn="l" indent="0" marL="0">
                        <a:buNone/>
                      </a:pP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900" b="1" dirty="0">
                          <a:solidFill>
                            <a:srgbClr val="000000"/>
                          </a:solidFill>
                          <a:latin typeface="Calibri" pitchFamily="34" charset="0"/>
                          <a:ea typeface="Calibri" pitchFamily="34" charset="-122"/>
                          <a:cs typeface="Calibri" pitchFamily="34" charset="-120"/>
                        </a:rPr>
                        <a:t>Who is treated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AASLD 2018</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HBeAg-positive, age 2 to under 18, raised ALT and measurable DNA. Normal ALT: no routine treatment</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WHO 2024</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Adolescents 12 and older use the adult pathways. Younger children are individualized</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US labels</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000000"/>
                          </a:solidFill>
                          <a:latin typeface="Calibri" pitchFamily="34" charset="0"/>
                          <a:ea typeface="Calibri" pitchFamily="34" charset="-122"/>
                          <a:cs typeface="Calibri" pitchFamily="34" charset="-120"/>
                        </a:rPr>
                        <a:t>Entecavir and TDF from age 2. TAF from age 6 and 25 kg</a:t>
                      </a:r>
                      <a:endParaRPr lang="en-US" sz="19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pic>
        <p:nvPicPr>
          <p:cNvPr id="4" name="Image 0" descr="Watercolor of a sleeping swaddled newborn beside a vaccine syringe on a tray">    </p:cNvPr>
          <p:cNvPicPr>
            <a:picLocks noChangeAspect="1"/>
          </p:cNvPicPr>
          <p:nvPr/>
        </p:nvPicPr>
        <p:blipFill>
          <a:blip r:embed="rId1"/>
          <a:stretch>
            <a:fillRect/>
          </a:stretch>
        </p:blipFill>
        <p:spPr>
          <a:xfrm>
            <a:off x="7680960" y="1097280"/>
            <a:ext cx="4297680" cy="429768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2018 R9A and R9B; WHO 2024 chapter 8; DailyMed labels.</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49/57</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57 years old, five years on TAF</a:t>
            </a:r>
            <a:endParaRPr lang="en-US" sz="3000" dirty="0"/>
          </a:p>
        </p:txBody>
      </p:sp>
      <p:graphicFrame>
        <p:nvGraphicFramePr>
          <p:cNvPr id="72"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914400"/>
        </p:xfrm>
        <a:graphic>
          <a:graphicData uri="http://schemas.openxmlformats.org/drawingml/2006/table">
            <a:tbl>
              <a:tblPr/>
              <a:tblGrid>
                <a:gridCol w="6089904"/>
                <a:gridCol w="3630168"/>
                <a:gridCol w="1005840"/>
              </a:tblGrid>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Condition for stopping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Our 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Met?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No cirrhosis or advanced disease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Stiffness 5.9 kPa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HBV DNA undetectable for 2 years or more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Undetectable for 5 years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HBsAg under 100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400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No HIV or HDV</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Both negative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Reliable follow-up</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2920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Can he stop?</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R5. Hepatology 2026;83:974-997, PMID 41186418.</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50/57</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Same man, 57 years old, five years on TAF</a:t>
            </a:r>
            <a:endParaRPr lang="en-US" sz="3000" dirty="0"/>
          </a:p>
        </p:txBody>
      </p:sp>
      <p:graphicFrame>
        <p:nvGraphicFramePr>
          <p:cNvPr id="73"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728655" cy="914400"/>
        </p:xfrm>
        <a:graphic>
          <a:graphicData uri="http://schemas.openxmlformats.org/drawingml/2006/table">
            <a:tbl>
              <a:tblPr/>
              <a:tblGrid>
                <a:gridCol w="6089904"/>
                <a:gridCol w="3630168"/>
                <a:gridCol w="1005840"/>
              </a:tblGrid>
              <a:tr h="59436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Condition for stopping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Our patient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Met?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No cirrhosis or advanced disease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Stiffness 5.9 kPa</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HBV DNA undetectable for 2 years or more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Undetectable for 5 years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HBsAg under 100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400 IU/mL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00000"/>
                          </a:solidFill>
                          <a:latin typeface="Calibri" pitchFamily="34" charset="0"/>
                          <a:ea typeface="Calibri" pitchFamily="34" charset="-122"/>
                          <a:cs typeface="Calibri" pitchFamily="34" charset="-120"/>
                        </a:rPr>
                        <a:t>No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No HIV or HDV</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Both negative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Reliable follow-up</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Yes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2920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Can he stop?</a:t>
            </a:r>
            <a:endParaRPr lang="en-US" sz="2600" dirty="0"/>
          </a:p>
        </p:txBody>
      </p:sp>
      <p:sp>
        <p:nvSpPr>
          <p:cNvPr id="5" name="Question"/>
          <p:cNvSpPr txBox="1"/>
          <p:nvPr/>
        </p:nvSpPr>
        <p:spPr>
          <a:xfrm>
            <a:off x="822960" y="55778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No. Continue until HBsAg is lost</a:t>
            </a:r>
            <a:endParaRPr lang="en-US" sz="22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AASLD/IDSA 2025 R5. Hepatology 2026;83:974-997, PMID 41186418.</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50/57</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happens when you stop</a:t>
            </a:r>
            <a:endParaRPr lang="en-US" sz="3000" dirty="0"/>
          </a:p>
        </p:txBody>
      </p:sp>
      <p:graphicFrame>
        <p:nvGraphicFramePr>
          <p:cNvPr id="74"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3547872"/>
                <a:gridCol w="996696"/>
                <a:gridCol w="3456432"/>
                <a:gridCol w="2724912"/>
              </a:tblGrid>
              <a:tr h="82296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HBsAg loss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800" b="1" dirty="0">
                          <a:solidFill>
                            <a:srgbClr val="000000"/>
                          </a:solidFill>
                          <a:latin typeface="Calibri" pitchFamily="34" charset="0"/>
                          <a:ea typeface="Calibri" pitchFamily="34" charset="-122"/>
                          <a:cs typeface="Calibri" pitchFamily="34" charset="-120"/>
                        </a:rPr>
                        <a:t>Retreatment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STOP-NUC, randomized (Van Bommel 2023)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166</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10.1% vs 0% at 96 weeks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13.9%</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RETRACT-B, cohort (Hirode 2022)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1,552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3.2% at 12 months, 13.0% at 48 months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See paper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FINITE, randomized (Berg 2017)</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4 of 21 (19%) in the stop arm at 144 weeks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000000"/>
                          </a:solidFill>
                          <a:latin typeface="Calibri" pitchFamily="34" charset="0"/>
                          <a:ea typeface="Calibri" pitchFamily="34" charset="-122"/>
                          <a:cs typeface="Calibri" pitchFamily="34" charset="-120"/>
                        </a:rPr>
                        <a:t>13 of 21 stayed off therapy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Van Bommel F et al. J Hepatol 2023 (dossier ref 61); Hirode G et al. Gastroenterology 2022 (ref 60); Berg T et al. J Hepatol 2017 (ref 62).</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51/57</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Definitions of cure</a:t>
            </a:r>
            <a:endParaRPr lang="en-US" sz="3000" dirty="0"/>
          </a:p>
        </p:txBody>
      </p:sp>
      <p:graphicFrame>
        <p:nvGraphicFramePr>
          <p:cNvPr id="75"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1947672"/>
                <a:gridCol w="8778240"/>
              </a:tblGrid>
              <a:tr h="914400">
                <a:tc>
                  <a:txBody>
                    <a:bodyPr/>
                    <a:lstStyle/>
                    <a:p>
                      <a:pPr algn="l" indent="0" marL="0">
                        <a:buNone/>
                      </a:pPr>
                      <a:r>
                        <a:rPr lang="en-US" sz="2100" b="1" dirty="0">
                          <a:solidFill>
                            <a:srgbClr val="000000"/>
                          </a:solidFill>
                          <a:latin typeface="Calibri" pitchFamily="34" charset="0"/>
                          <a:ea typeface="Calibri" pitchFamily="34" charset="-122"/>
                          <a:cs typeface="Calibri" pitchFamily="34" charset="-120"/>
                        </a:rPr>
                        <a:t>Endpoint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Definition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1440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Functional cure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HBsAg loss and HBV DNA below quantification, 24 weeks off therapy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Partial cure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HBsAg under 100 IU/mL and DNA below quantification, 24 weeks off therapy</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Sterilizing cure</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100" dirty="0">
                          <a:solidFill>
                            <a:srgbClr val="000000"/>
                          </a:solidFill>
                          <a:latin typeface="Calibri" pitchFamily="34" charset="0"/>
                          <a:ea typeface="Calibri" pitchFamily="34" charset="-122"/>
                          <a:cs typeface="Calibri" pitchFamily="34" charset="-120"/>
                        </a:rPr>
                        <a:t>Elimination of the viral templates (cccDNA and integrated DNA)</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Ghany MG et al. 2023 (dossier ref 65).</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52/57</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Approved in 2026</a:t>
            </a:r>
            <a:endParaRPr lang="en-US" sz="3000" dirty="0"/>
          </a:p>
        </p:txBody>
      </p:sp>
      <p:graphicFrame>
        <p:nvGraphicFramePr>
          <p:cNvPr id="76"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554480"/>
                <a:gridCol w="4800600"/>
                <a:gridCol w="4800600"/>
              </a:tblGrid>
              <a:tr h="731520">
                <a:tc>
                  <a:txBody>
                    <a:bodyPr/>
                    <a:lstStyle/>
                    <a:p>
                      <a:pPr algn="l" indent="0" marL="0">
                        <a:buNone/>
                      </a:pP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Bepirovirsen (Hibsago)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Bulevirtide (Hepcludex)</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For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Chronic hepatitis B</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Chronic hepatitis 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FDA approval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20 October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22 May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57656">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Who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Adults without cirrhosis, on a nucleos(t)ide analogue 6 months or more, DNA suppressed, HBsAg 3,000 IU/mL or lower</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Adults without cirrhosis or with compensated cirrhosis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47776">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Result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19% had HBsAg undetectable 24 weeks after stopping all treatment; 0% on placebo</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Week 48: combined response 48% vs 2%</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Warning</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Liver reactions, low platelets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Severe exacerbation if stopped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FDA news releases 20 October 2026 (bepirovirsen) and 22 May 2026 (bulevirtide). B-Well 1 and 2, Hou, NEJM 2026.</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53/57</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Bepirovirsen: B-Well 1 and 2</a:t>
            </a:r>
            <a:endParaRPr lang="en-US" sz="3000" dirty="0"/>
          </a:p>
        </p:txBody>
      </p:sp>
      <p:graphicFrame>
        <p:nvGraphicFramePr>
          <p:cNvPr id="3" name="Chart 0" descr=""/>
          <p:cNvGraphicFramePr/>
          <p:nvPr/>
        </p:nvGraphicFramePr>
        <p:xfrm>
          <a:off x="548640" y="118872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223760" y="1371600"/>
            <a:ext cx="4572000" cy="4754880"/>
          </a:xfrm>
          <a:prstGeom prst="rect">
            <a:avLst/>
          </a:prstGeom>
          <a:noFill/>
          <a:ln/>
        </p:spPr>
        <p:txBody>
          <a:bodyPr wrap="square" lIns="50800" tIns="50800" rIns="50800" bIns="50800" rtlCol="0" anchor="t"/>
          <a:lstStyle/>
          <a:p>
            <a:pPr marL="228600" indent="-228600">
              <a:spcBef>
                <a:spcPts val="1000"/>
              </a:spcBef>
              <a:buSzPct val="100000"/>
              <a:buChar char="–"/>
            </a:pPr>
            <a:r>
              <a:rPr lang="en-US" sz="1700" dirty="0">
                <a:solidFill>
                  <a:srgbClr val="000000"/>
                </a:solidFill>
                <a:latin typeface="Georgia" pitchFamily="34" charset="0"/>
                <a:ea typeface="Georgia" pitchFamily="34" charset="-122"/>
                <a:cs typeface="Georgia" pitchFamily="34" charset="-120"/>
              </a:rPr>
              <a:t>Functional cure at week 72: HBsAg loss and DNA below quantification at least 24 weeks off all therapy</a:t>
            </a:r>
            <a:endParaRPr lang="en-US" sz="1700" dirty="0"/>
          </a:p>
          <a:p>
            <a:pPr marL="228600" indent="-228600">
              <a:spcBef>
                <a:spcPts val="1000"/>
              </a:spcBef>
              <a:buSzPct val="100000"/>
              <a:buChar char="–"/>
            </a:pPr>
            <a:r>
              <a:rPr lang="en-US" sz="1700" dirty="0">
                <a:solidFill>
                  <a:srgbClr val="000000"/>
                </a:solidFill>
                <a:latin typeface="Georgia" pitchFamily="34" charset="0"/>
                <a:ea typeface="Georgia" pitchFamily="34" charset="-122"/>
                <a:cs typeface="Georgia" pitchFamily="34" charset="-120"/>
              </a:rPr>
              <a:t>127 of 650 vs 0 of 328, and 106 of 570 vs 0 of 286</a:t>
            </a:r>
            <a:endParaRPr lang="en-US" sz="1700" dirty="0"/>
          </a:p>
          <a:p>
            <a:pPr marL="228600" indent="-228600">
              <a:spcBef>
                <a:spcPts val="1000"/>
              </a:spcBef>
              <a:buSzPct val="100000"/>
              <a:buChar char="–"/>
            </a:pPr>
            <a:r>
              <a:rPr lang="en-US" sz="1700" dirty="0">
                <a:solidFill>
                  <a:srgbClr val="000000"/>
                </a:solidFill>
                <a:latin typeface="Georgia" pitchFamily="34" charset="0"/>
                <a:ea typeface="Georgia" pitchFamily="34" charset="-122"/>
                <a:cs typeface="Georgia" pitchFamily="34" charset="-120"/>
              </a:rPr>
              <a:t>Noncirrhotic, stable NA, HBsAg 100 to 3,000 IU/mL</a:t>
            </a:r>
            <a:endParaRPr lang="en-US" sz="1700" dirty="0"/>
          </a:p>
          <a:p>
            <a:pPr marL="228600" indent="-228600">
              <a:spcBef>
                <a:spcPts val="1000"/>
              </a:spcBef>
              <a:buSzPct val="100000"/>
              <a:buChar char="–"/>
            </a:pPr>
            <a:r>
              <a:rPr lang="en-US" sz="1700" dirty="0">
                <a:solidFill>
                  <a:srgbClr val="000000"/>
                </a:solidFill>
                <a:latin typeface="Georgia" pitchFamily="34" charset="0"/>
                <a:ea typeface="Georgia" pitchFamily="34" charset="-122"/>
                <a:cs typeface="Georgia" pitchFamily="34" charset="-120"/>
              </a:rPr>
              <a:t>Grade 3 or higher adverse events 16% vs 3%</a:t>
            </a:r>
            <a:endParaRPr lang="en-US" sz="17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Hou J et al. N Engl J Med 2026 (B-Well 1 and 2, dossier ref 67). Final issue 25 June 2026.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54/57</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 the pipeline</a:t>
            </a:r>
            <a:endParaRPr lang="en-US" sz="3000" dirty="0"/>
          </a:p>
        </p:txBody>
      </p:sp>
      <p:graphicFrame>
        <p:nvGraphicFramePr>
          <p:cNvPr id="78"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2011680"/>
                <a:gridCol w="5934456"/>
                <a:gridCol w="2779776"/>
              </a:tblGrid>
              <a:tr h="82296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Agent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Phase 2 result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Caution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Xalnesiran (siRNA)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HBsAg loss at 24 weeks after treatment 7% (100 mg), 3% (200 mg), 12% with ruzotolimod, 23% with PegIFN, 0% NA alone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Background NA continued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Elebsiran with PegIFN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HBsAg loss 21% (200 mg) and 33% (100 mg) vs 6% with PegIFN alone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NA stopping follow-up ongoing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JNJ-3989 (siRNA)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Met NA-stopping criteria at week 48 in 5, 16 and 19% (40, 100, 200 mg) vs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Stopping eligibility, not cure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Imdusiran (siRNA)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Phase 1a/b, safety primary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cure rate yet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Dossier refs 66 to 71 and registry entries NCT04225715 and NCT06245291.</a:t>
            </a:r>
            <a:endParaRPr lang="en-US" sz="1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55/57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our patients</a:t>
            </a:r>
            <a:endParaRPr lang="en-US" sz="3000" dirty="0"/>
          </a:p>
        </p:txBody>
      </p:sp>
      <p:graphicFrame>
        <p:nvGraphicFramePr>
          <p:cNvPr id="79"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676656"/>
                <a:gridCol w="4526280"/>
                <a:gridCol w="5888736"/>
              </a:tblGrid>
              <a:tr h="1280160">
                <a:tc>
                  <a:txBody>
                    <a:bodyPr/>
                    <a:lstStyle/>
                    <a:p>
                      <a:pPr algn="l" indent="0" marL="0">
                        <a:buNone/>
                      </a:pP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Patient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100" b="1" dirty="0">
                          <a:solidFill>
                            <a:srgbClr val="000000"/>
                          </a:solidFill>
                          <a:latin typeface="Calibri" pitchFamily="34" charset="0"/>
                          <a:ea typeface="Calibri" pitchFamily="34" charset="-122"/>
                          <a:cs typeface="Calibri" pitchFamily="34" charset="-120"/>
                        </a:rPr>
                        <a:t>Decision</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28016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Man, 34 to 57. HBeAg-positive, then HBeAg-negative with DNA 8,000 and ALT 48</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Monitor at 34. Treat at 41 (age) or at 52 (grey zone). PAGE-B 18, surveillance. Do not stop with HBsAg 400</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Woman, 61. Anti-HBc positive, HBsAg negative, rituximab</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Entecavir, TDF or TAF before the first dose and for 12 months after the last</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Woman, 29, 20 weeks pregnant. DNA 5,000,000</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100" dirty="0">
                          <a:solidFill>
                            <a:srgbClr val="000000"/>
                          </a:solidFill>
                          <a:latin typeface="Calibri" pitchFamily="34" charset="0"/>
                          <a:ea typeface="Calibri" pitchFamily="34" charset="-122"/>
                          <a:cs typeface="Calibri" pitchFamily="34" charset="-120"/>
                        </a:rPr>
                        <a:t>TDF or TAF from week 28. Vaccine and HBIG within 12 hours. Test the baby at 9 to 12 months</a:t>
                      </a:r>
                      <a:endParaRPr lang="en-US" sz="21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56/57</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Watercolor of a liver in warm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188720"/>
            <a:ext cx="5212080" cy="118872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sp>
        <p:nvSpPr>
          <p:cNvPr id="4" name="Text 1"/>
          <p:cNvSpPr txBox="1"/>
          <p:nvPr/>
        </p:nvSpPr>
        <p:spPr>
          <a:xfrm>
            <a:off x="6492240" y="2514600"/>
            <a:ext cx="5212080" cy="457200"/>
          </a:xfrm>
          <a:prstGeom prst="rect">
            <a:avLst/>
          </a:prstGeom>
          <a:noFill/>
          <a:ln/>
        </p:spPr>
        <p:txBody>
          <a:bodyPr wrap="square" lIns="0" tIns="0" rIns="0" bIns="0" rtlCol="0" anchor="ctr"/>
          <a:lstStyle/>
          <a:p>
            <a:pPr algn="ctr" indent="0" marL="0">
              <a:buNone/>
            </a:pPr>
            <a:r>
              <a:rPr lang="en-US" sz="20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5" name="Image 1" descr="QR code linking to the slides PDF">    </p:cNvPr>
          <p:cNvPicPr>
            <a:picLocks noChangeAspect="1"/>
          </p:cNvPicPr>
          <p:nvPr/>
        </p:nvPicPr>
        <p:blipFill>
          <a:blip r:embed="rId2"/>
          <a:stretch>
            <a:fillRect/>
          </a:stretch>
        </p:blipFill>
        <p:spPr>
          <a:xfrm>
            <a:off x="7955280" y="3200400"/>
            <a:ext cx="2286000" cy="2286000"/>
          </a:xfrm>
          <a:prstGeom prst="rect">
            <a:avLst/>
          </a:prstGeom>
        </p:spPr>
      </p:pic>
      <p:sp>
        <p:nvSpPr>
          <p:cNvPr id="6" name="Text 2"/>
          <p:cNvSpPr txBox="1"/>
          <p:nvPr/>
        </p:nvSpPr>
        <p:spPr>
          <a:xfrm>
            <a:off x="6492240" y="5577840"/>
            <a:ext cx="5212080" cy="320040"/>
          </a:xfrm>
          <a:prstGeom prst="rect">
            <a:avLst/>
          </a:prstGeom>
          <a:noFill/>
          <a:ln/>
        </p:spPr>
        <p:txBody>
          <a:bodyPr wrap="square" lIns="0" tIns="0" rIns="0" bIns="0" rtlCol="0" anchor="ctr"/>
          <a:lstStyle/>
          <a:p>
            <a:pPr algn="ctr" indent="0" marL="0">
              <a:buNone/>
            </a:pPr>
            <a:r>
              <a:rPr lang="en-US" sz="1400" dirty="0">
                <a:solidFill>
                  <a:srgbClr val="595959"/>
                </a:solidFill>
                <a:latin typeface="Georgia" pitchFamily="34" charset="0"/>
                <a:ea typeface="Georgia" pitchFamily="34" charset="-122"/>
                <a:cs typeface="Georgia" pitchFamily="34" charset="-120"/>
              </a:rPr>
              <a:t>Slides (PDF)</a:t>
            </a:r>
            <a:endParaRPr lang="en-US" sz="1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57/57</a:t>
            </a:r>
            <a:endParaRPr lang="en-US" sz="9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Hepatitis B</dc:title>
  <dc:subject>PptxGenJS Presentation</dc:subject>
  <dc:creator>Mohammad Almeqdadi, MD</dc:creator>
  <cp:lastModifiedBy>Mohammad Almeqdadi, MD</cp:lastModifiedBy>
  <cp:revision>1</cp:revision>
  <dcterms:created xsi:type="dcterms:W3CDTF">2026-10-28T14:28:04Z</dcterms:created>
  <dcterms:modified xsi:type="dcterms:W3CDTF">2026-10-28T14:28:04Z</dcterms:modified>
</cp:coreProperties>
</file>