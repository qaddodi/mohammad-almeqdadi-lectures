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6.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charts/chart7.xml" ContentType="application/vnd.openxmlformats-officedocument.drawingml.chart+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8.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charts/chart9.xml" ContentType="application/vnd.openxmlformats-officedocument.drawingml.chart+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charts/chart10.xml" ContentType="application/vnd.openxmlformats-officedocument.drawingml.chart+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Lst>
  <p:notesMasterIdLst>
    <p:notesMasterId r:id="rId8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9e6af23-819c-1200-7ccc-be964f2a8c5d}">
          <p14:sldIdLst>
            <p14:sldId id="256"/>
            <p14:sldId id="257"/>
          </p14:sldIdLst>
        </p14:section>
        <p14:section name="History" id="{097f3e54-aa22-e78b-75b9-a3f449b8507b}">
          <p14:sldIdLst>
            <p14:sldId id="258"/>
            <p14:sldId id="259"/>
            <p14:sldId id="260"/>
            <p14:sldId id="261"/>
            <p14:sldId id="262"/>
          </p14:sldIdLst>
        </p14:section>
        <p14:section name="Testing" id="{80da69bf-6f8f-8678-aca3-4ed5b35bb485}">
          <p14:sldIdLst>
            <p14:sldId id="263"/>
            <p14:sldId id="264"/>
            <p14:sldId id="265"/>
            <p14:sldId id="266"/>
            <p14:sldId id="267"/>
            <p14:sldId id="268"/>
          </p14:sldIdLst>
        </p14:section>
        <p14:section name="Serology" id="{ce5a7e40-9ebe-0bd4-b5a9-4b5670de3259}">
          <p14:sldIdLst>
            <p14:sldId id="269"/>
            <p14:sldId id="270"/>
            <p14:sldId id="271"/>
            <p14:sldId id="272"/>
          </p14:sldIdLst>
        </p14:section>
        <p14:section name="Phases" id="{167f4fcb-b54d-dd82-1476-7f6982f89285}">
          <p14:sldIdLst>
            <p14:sldId id="273"/>
            <p14:sldId id="274"/>
            <p14:sldId id="275"/>
            <p14:sldId id="276"/>
            <p14:sldId id="277"/>
            <p14:sldId id="278"/>
            <p14:sldId id="279"/>
          </p14:sldIdLst>
        </p14:section>
        <p14:section name="Who to treat" id="{f6c7174f-1183-1fd9-8f9b-39337636dab9}">
          <p14:sldIdLst>
            <p14:sldId id="280"/>
            <p14:sldId id="281"/>
            <p14:sldId id="282"/>
            <p14:sldId id="283"/>
            <p14:sldId id="284"/>
            <p14:sldId id="285"/>
            <p14:sldId id="286"/>
            <p14:sldId id="287"/>
            <p14:sldId id="288"/>
            <p14:sldId id="289"/>
            <p14:sldId id="290"/>
            <p14:sldId id="291"/>
            <p14:sldId id="292"/>
          </p14:sldIdLst>
        </p14:section>
        <p14:section name="Drugs" id="{ba2934e4-e55d-dc23-f68e-81d6c4427500}">
          <p14:sldIdLst>
            <p14:sldId id="293"/>
            <p14:sldId id="294"/>
            <p14:sldId id="295"/>
            <p14:sldId id="296"/>
            <p14:sldId id="297"/>
            <p14:sldId id="298"/>
            <p14:sldId id="299"/>
          </p14:sldIdLst>
        </p14:section>
        <p14:section name="HCC risk" id="{7364717b-5f9a-1e64-0be9-d95cc74ae43f}">
          <p14:sldIdLst>
            <p14:sldId id="300"/>
            <p14:sldId id="301"/>
            <p14:sldId id="302"/>
            <p14:sldId id="303"/>
            <p14:sldId id="304"/>
            <p14:sldId id="305"/>
            <p14:sldId id="306"/>
            <p14:sldId id="307"/>
          </p14:sldIdLst>
        </p14:section>
        <p14:section name="Special situations" id="{148a005c-05c3-8541-05ed-c2082488c6a7}">
          <p14:sldIdLst>
            <p14:sldId id="308"/>
            <p14:sldId id="309"/>
            <p14:sldId id="310"/>
            <p14:sldId id="311"/>
            <p14:sldId id="312"/>
            <p14:sldId id="313"/>
            <p14:sldId id="314"/>
            <p14:sldId id="315"/>
            <p14:sldId id="316"/>
            <p14:sldId id="317"/>
            <p14:sldId id="318"/>
          </p14:sldIdLst>
        </p14:section>
        <p14:section name="Stopping and what is new" id="{bf9b91b8-4e32-2d5c-1864-d87ca8bfc896}">
          <p14:sldIdLst>
            <p14:sldId id="319"/>
            <p14:sldId id="320"/>
            <p14:sldId id="321"/>
            <p14:sldId id="322"/>
            <p14:sldId id="323"/>
            <p14:sldId id="324"/>
            <p14:sldId id="325"/>
            <p14:sldId id="326"/>
            <p14:sldId id="327"/>
            <p14:sldId id="328"/>
          </p14:sldIdLst>
        </p14:section>
        <p14:section name="Other situations" id="{6231797d-a1e8-18b1-cd56-cae9c4362e3e}">
          <p14:sldIdLst>
            <p14:sldId id="329"/>
            <p14:sldId id="330"/>
            <p14:sldId id="331"/>
            <p14:sldId id="332"/>
            <p14:sldId id="333"/>
            <p14:sldId id="334"/>
            <p14:sldId id="335"/>
          </p14:sldIdLst>
        </p14:section>
        <p14:section name="Close" id="{01bfc12c-9149-df5c-0b47-16c3553e1e83}">
          <p14:sldIdLst>
            <p14:sldId id="336"/>
            <p14:sldId id="33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notesMaster" Target="notesMasters/notesMaster1.xml"/><Relationship Id="rId85" Type="http://schemas.openxmlformats.org/officeDocument/2006/relationships/presProps" Target="presProps.xml"/><Relationship Id="rId86" Type="http://schemas.openxmlformats.org/officeDocument/2006/relationships/viewProps" Target="viewProps.xml"/><Relationship Id="rId87" Type="http://schemas.openxmlformats.org/officeDocument/2006/relationships/theme" Target="theme/theme1.xml"/><Relationship Id="rId8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Kim, Gut 2018</a:t>
            </a:r>
          </a:p>
        </c:rich>
      </c:tx>
      <c:layout/>
      <c:overlay val="0"/>
    </c:title>
    <c:autoTitleDeleted val="0"/>
    <c:plotArea>
      <c:layout/>
      <c:barChart>
        <c:barDir val="col"/>
        <c:grouping val="clustered"/>
        <c:varyColors val="0"/>
        <c:ser>
          <c:idx val="0"/>
          <c:order val="0"/>
          <c:tx>
            <c:strRef>
              <c:f>Sheet1!$B$1</c:f>
              <c:strCache>
                <c:ptCount val="1"/>
                <c:pt idx="0">
                  <c:v>Immune tolerant, untreated</c:v>
                </c:pt>
              </c:strCache>
            </c:strRef>
          </c:tx>
          <c:spPr>
            <a:solidFill>
              <a:srgbClr val="9DB4CA"/>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10-year HCC</c:v>
                  </c:pt>
                </c:lvl>
              </c:multiLvlStrCache>
            </c:multiLvlStrRef>
          </c:cat>
          <c:val>
            <c:numRef>
              <c:f>Sheet1!$B$2:$B$2</c:f>
              <c:numCache>
                <c:formatCode>General</c:formatCode>
                <c:ptCount val="1"/>
                <c:pt idx="0">
                  <c:v>12.7</c:v>
                </c:pt>
              </c:numCache>
            </c:numRef>
          </c:val>
        </c:ser>
        <c:ser>
          <c:idx val="1"/>
          <c:order val="1"/>
          <c:tx>
            <c:strRef>
              <c:f>Sheet1!$C$1</c:f>
              <c:strCache>
                <c:ptCount val="1"/>
                <c:pt idx="0">
                  <c:v>Immune active, treated</c:v>
                </c:pt>
              </c:strCache>
            </c:strRef>
          </c:tx>
          <c:spPr>
            <a:solidFill>
              <a:srgbClr val="1F4E79"/>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10-year HCC</c:v>
                  </c:pt>
                </c:lvl>
              </c:multiLvlStrCache>
            </c:multiLvlStrRef>
          </c:cat>
          <c:val>
            <c:numRef>
              <c:f>Sheet1!$C$2:$C$2</c:f>
              <c:numCache>
                <c:formatCode>General</c:formatCode>
                <c:ptCount val="1"/>
                <c:pt idx="0">
                  <c:v>6.1</c:v>
                </c:pt>
              </c:numCache>
            </c:numRef>
          </c:val>
        </c:ser>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Jeon, Clin Mol Hepatol 2021</a:t>
            </a:r>
          </a:p>
        </c:rich>
      </c:tx>
      <c:layout/>
      <c:overlay val="0"/>
    </c:title>
    <c:autoTitleDeleted val="0"/>
    <c:plotArea>
      <c:layout/>
      <c:barChart>
        <c:barDir val="col"/>
        <c:grouping val="clustered"/>
        <c:varyColors val="0"/>
        <c:ser>
          <c:idx val="0"/>
          <c:order val="0"/>
          <c:tx>
            <c:strRef>
              <c:f>Sheet1!$B$1</c:f>
              <c:strCache>
                <c:ptCount val="1"/>
                <c:pt idx="0">
                  <c:v>Immune tolerant, FIB-4 under 1.45</c:v>
                </c:pt>
              </c:strCache>
            </c:strRef>
          </c:tx>
          <c:spPr>
            <a:solidFill>
              <a:srgbClr val="9DB4CA"/>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5-year HCC</c:v>
                  </c:pt>
                </c:lvl>
              </c:multiLvlStrCache>
            </c:multiLvlStrRef>
          </c:cat>
          <c:val>
            <c:numRef>
              <c:f>Sheet1!$B$2:$B$2</c:f>
              <c:numCache>
                <c:formatCode>General</c:formatCode>
                <c:ptCount val="1"/>
                <c:pt idx="0">
                  <c:v>0</c:v>
                </c:pt>
              </c:numCache>
            </c:numRef>
          </c:val>
        </c:ser>
        <c:ser>
          <c:idx val="1"/>
          <c:order val="1"/>
          <c:tx>
            <c:strRef>
              <c:f>Sheet1!$C$1</c:f>
              <c:strCache>
                <c:ptCount val="1"/>
                <c:pt idx="0">
                  <c:v>Comparators</c:v>
                </c:pt>
              </c:strCache>
            </c:strRef>
          </c:tx>
          <c:spPr>
            <a:solidFill>
              <a:srgbClr val="1F4E79"/>
            </a:solidFill>
            <a:effectLst/>
          </c:spPr>
          <c:invertIfNegative val="0"/>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5-year HCC</c:v>
                  </c:pt>
                </c:lvl>
              </c:multiLvlStrCache>
            </c:multiLvlStrRef>
          </c:cat>
          <c:val>
            <c:numRef>
              <c:f>Sheet1!$C$2:$C$2</c:f>
              <c:numCache>
                <c:formatCode>General</c:formatCode>
                <c:ptCount val="1"/>
                <c:pt idx="0">
                  <c:v>1.4</c:v>
                </c:pt>
              </c:numCache>
            </c:numRef>
          </c:val>
        </c:ser>
        <c:dLbls>
          <c:numFmt formatCode="0.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De novo HBV after an anti-HBc-positive liver, %</a:t>
            </a:r>
          </a:p>
        </c:rich>
      </c:tx>
      <c:layout/>
      <c:overlay val="0"/>
    </c:title>
    <c:autoTitleDeleted val="0"/>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Then one sentence for the rest: Dane saw the virus particle in 1970, Maupas gave the first plasma-derived vaccine in 1976, Szmuness proved it worked in 1980, and Beasley tied the carrier state to liver cancer in 1981. A vaccine against a cancer came before any cancer screening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Say 'licensed in the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 Hepatitis D: EASL 2025 tests every HBsAg-positive patient once with total anti-HDV, then HDV RNA if positive; AASLD 2018 tests by risk. A nucleos(t)ide analogue does not treat HDV. Bulevirtide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patient you are about to meet has 5.1 kPa.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with no fibrosis, the US recommendation is to monitor (AASLD 2018 R2A: against antiviral therapy in immune-tolerant adults). EASL 2025 observes HBeAg-positive chronic infection only in people under 30 at low risk, so in Europe he could already be offered treatment.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now a man from an endemic region over 40, so HCC surveillance starts here (AASLD 2023), whatever he decides about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In our story he hears the options and chooses to keep monitoring, which is why he is untreated at 52. He is now a man from an endemic region over 40, so HCC surveillance starts here (AASLD 2023), whatever he decides about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413 untreated immune-tolerant versus 1,497 treated immune-active patients; 10-year HCC 12.7% vs 6.1%, adjusted HR 2.54 (1.54 to 4.18); death or transplant 9.7% vs 3.4%. The untreated group used a broad definition (DNA at least 20,000), broader than strict immune tolerance, and the groups are different phases. Jeon found no HCC at 1, 3 and 5 years in biomarker-defined immune tolerance with FIB-4 under 1.45, versus 0.2, 0.6 and 1.4% in the comparators. Integration of HBV DNA and clonal expansion are already seen in young immune-tolerant patients (Mason, Gastroenterology 2016, 26 patients), which is biology, not proof that early treatment prevents HCC. The AASLD technical review grades the evidence for clinical benefit in immune tolerance as very uncertain.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His eGFR is 45 from diabetic kidney disease, which matters for the drug. Let the room commit. The next slides show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34: the US guidelines monitor; EASL 2025 observes HBeAg-positive chronic infection only under 30 at low risk; WHO 2024 has no pathway for him without fibrosis, raised ALT or a family history. At 41: AASLD/IDSA 2025 R3 suggests treatment over 40. At 52: AASLD 2018 treats HBeAg-negative patients with DNA above 2,000 and ALT at least 2 times the upper limit (70 for a man), and otherwise asks you to assess fibrosis or inflammation and weigh age and family history; his stiffness is 6.8, so by 2018 rules he is not treated, but for that reason. AASLD/IDSA 2025 R4 suggests treatment by shared decision in the indeterminate group. EASL 2025: DNA at least 2,000 with ALT above the upper limit: treat. WHO 2024: DNA above 2,000 and ALT above the upper limit: treat. Cirrhosis is treated by all four, at any DNA level (summary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Lai 2025: significant fibrosis in 39.7%, HCC 0.32% a year, treatment IRR 0.38 (0.18 to 0.79), heterogeneity high (I2 85.7% for HCC). ATTENTION interim: TAF 369 vs observation 365, ages 40 to 80, noncirrhotic, median 17.7 months; HR 0.21, 97.5% CI 0.04 to 1.20, did not cross its stopping boundary. Promising, not definitive. None of these randomized treatment against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Lai 2025: significant fibrosis in 39.7%, HCC 0.32% a year, treatment IRR 0.38 (0.18 to 0.79), heterogeneity high (I2 85.7% for HCC). ATTENTION interim: TAF 369 vs observation 365, ages 40 to 80, noncirrhotic, median 17.7 months; HR 0.21, 97.5% CI 0.04 to 1.20, did not cross its stopping boundary. Promising, not definitive. None of these randomized treatment against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which is not limited to HBeAg-negative patients, is a shared decision. Cirrhosis: AASLD 2018 R7A treats compensated cirrhosis with low viremia regardless of ALT, R7B treats decompensated cirrhosis regardless of DNA, ALT or HBeAg, and the 2025 Figure 5 treats both regardless of DNA or ALT. EASL 2025 asks for detectable DNA in compensated cirrhosis.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Bone and kidney data for TAF versus TDF are in the extended version. He started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Bone and kidney data for TAF versus TDF are in the extended version. He started TAF.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entecavir, TDF and TAF are first line. Entecavir or TAF are preferred over TDF with renal dysfunction or bone disease, or risk of them. Lamivudine resistance confers cross-resistance to entecavir, so use tenofovir. Entecavir alone is not adequate in HIV: it selects HIV M184V. Pregnancy is on its own slide later: TDF has the randomized data; AASLD/IDSA 2025 R1 accepts TDF or TAF. Decompensated cirrhosis: entecavir is 1 mg daily, not 0.5 mg (Baraclude label); the 2025 Figure 5 lists TAF, but the US label does not recommend it in Child-Pugh B or C, so say that. PegIFN is contraindicated in decompensated cirrhosis and in pregnancy. Monitoring on treatment: DNA every 3 months until undetectable, then every 3 to 6 months; on TDF, creatinine, phosphate, urine glucose and protein at least yearly (AASLD 2018). EASL 2025 uses 3 to 6 months at first, then 6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calculator is mine. PAGE-B matches the published table. The second model (HBsAg-HCC, Guo 2026, 1,190 training and 506 validation patients) is a research model, not externally validated.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 Mother on drug only for prevention and stops after delivery: DNA and ALT every 1 to 3 months for 6 months. Infant testing is at 9 to 12 months, or 1 to 2 months after a delayed final dose. Evidence: Pan, NEJM 2016 (transmission 5% vs 18% by intention to treat) and Jourdain, NEJM 2018 (0 vs 3 infected infants, p = 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RETRACT-B retreatment: the overall rate is not in the abstract, so the cell is left empty.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Bepirovirsen (Hibsago)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FDA also authorized a Roche qHBsAg assay as a companion diagnostic. Boxed warning for serious liver reactions and low platelets; warnings include worsening kidney function and vasculitis. For hepatitis D, bulevirtide (Hepcludex) got FDA accelerated approval on 22 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US label dose is 8.5 mg; MYR301 tested 2 and 10 mg (NEJM: 45% and 48%), and the EU dose is 2 mg.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is phase 1.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slideLayout" Target="../slideLayouts/slideLayout2.xml"/><Relationship Id="rId5"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455954" cy="2377440"/>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5718609" cy="1920240"/>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457200" y="1188720"/>
            <a:ext cx="7315200" cy="3774305"/>
          </a:xfrm>
          <a:prstGeom prst="rect">
            <a:avLst/>
          </a:prstGeom>
        </p:spPr>
      </p:pic>
      <p:sp>
        <p:nvSpPr>
          <p:cNvPr id="4" name="Text 1"/>
          <p:cNvSpPr txBox="1"/>
          <p:nvPr/>
        </p:nvSpPr>
        <p:spPr>
          <a:xfrm>
            <a:off x="8046720" y="1463040"/>
            <a:ext cx="3840480" cy="4206240"/>
          </a:xfrm>
          <a:prstGeom prst="rect">
            <a:avLst/>
          </a:prstGeom>
          <a:noFill/>
          <a:ln/>
        </p:spPr>
        <p:txBody>
          <a:bodyPr wrap="square" lIns="0" tIns="0" rIns="0" bIns="0" rtlCol="0" anchor="ctr"/>
          <a:lstStyle/>
          <a:p>
            <a:pPr algn="ctr" indent="0" marL="0">
              <a:buNone/>
            </a:pPr>
            <a:r>
              <a:rPr lang="en-US" sz="2200" dirty="0">
                <a:solidFill>
                  <a:srgbClr val="000000"/>
                </a:solidFill>
                <a:latin typeface="Georgia" pitchFamily="34" charset="0"/>
                <a:ea typeface="Georgia" pitchFamily="34" charset="-122"/>
                <a:cs typeface="Georgia" pitchFamily="34" charset="-120"/>
              </a:rPr>
              <a:t>Infected</a:t>
            </a:r>
            <a:endParaRPr lang="en-US" sz="2200" dirty="0"/>
          </a:p>
          <a:p>
            <a:pPr algn="ctr" indent="0" marL="0">
              <a:buNone/>
            </a:pPr>
            <a:r>
              <a:rPr lang="en-US" sz="4000" b="1" dirty="0">
                <a:solidFill>
                  <a:srgbClr val="1F4E79"/>
                </a:solidFill>
                <a:latin typeface="Georgia" pitchFamily="34" charset="0"/>
                <a:ea typeface="Georgia" pitchFamily="34" charset="-122"/>
                <a:cs typeface="Georgia" pitchFamily="34" charset="-120"/>
              </a:rPr>
              <a:t>1.4 to 3.4%</a:t>
            </a:r>
            <a:endParaRPr lang="en-US" sz="2200" dirty="0"/>
          </a:p>
          <a:p>
            <a:pPr algn="ctr" indent="0" marL="0">
              <a:buNone/>
            </a:pPr>
            <a:r>
              <a:rPr lang="en-US" sz="2000" dirty="0">
                <a:solidFill>
                  <a:srgbClr val="595959"/>
                </a:solidFill>
                <a:latin typeface="Georgia" pitchFamily="34" charset="0"/>
                <a:ea typeface="Georgia" pitchFamily="34" charset="-122"/>
                <a:cs typeface="Georgia" pitchFamily="34" charset="-120"/>
              </a:rPr>
              <a:t>vaccine</a:t>
            </a:r>
            <a:endParaRPr lang="en-US" sz="2200" dirty="0"/>
          </a:p>
          <a:p>
            <a:pPr algn="ctr" indent="0" marL="0">
              <a:buNone/>
            </a:pPr>
            <a:r>
              <a:rPr lang="en-US" sz="1400" dirty="0">
                <a:solidFill>
                  <a:srgbClr val="000000"/>
                </a:solidFill>
                <a:latin typeface="Georgia" pitchFamily="34" charset="0"/>
                <a:ea typeface="Georgia" pitchFamily="34" charset="-122"/>
                <a:cs typeface="Georgia" pitchFamily="34" charset="-120"/>
              </a:rPr>
              <a:t> </a:t>
            </a:r>
            <a:endParaRPr lang="en-US" sz="2200" dirty="0"/>
          </a:p>
          <a:p>
            <a:pPr algn="ctr" indent="0" marL="0">
              <a:buNone/>
            </a:pPr>
            <a:r>
              <a:rPr lang="en-US" sz="4000" b="1" dirty="0">
                <a:solidFill>
                  <a:srgbClr val="C00000"/>
                </a:solidFill>
                <a:latin typeface="Georgia" pitchFamily="34" charset="0"/>
                <a:ea typeface="Georgia" pitchFamily="34" charset="-122"/>
                <a:cs typeface="Georgia" pitchFamily="34" charset="-120"/>
              </a:rPr>
              <a:t>18 to 27%</a:t>
            </a:r>
            <a:endParaRPr lang="en-US" sz="2200" dirty="0"/>
          </a:p>
          <a:p>
            <a:pPr algn="ctr" indent="0" marL="0">
              <a:buNone/>
            </a:pPr>
            <a:r>
              <a:rPr lang="en-US" sz="2000" dirty="0">
                <a:solidFill>
                  <a:srgbClr val="595959"/>
                </a:solidFill>
                <a:latin typeface="Georgia" pitchFamily="34" charset="0"/>
                <a:ea typeface="Georgia" pitchFamily="34" charset="-122"/>
                <a:cs typeface="Georgia" pitchFamily="34" charset="-120"/>
              </a:rPr>
              <a:t>placebo</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per 100,000 person-years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8/57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9/57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02920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Question"/>
          <p:cNvSpPr txBox="1"/>
          <p:nvPr/>
        </p:nvSpPr>
        <p:spPr>
          <a:xfrm>
            <a:off x="822960" y="5623560"/>
            <a:ext cx="10545775" cy="50292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HBsAg positive: test anti-HDV once</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 Anti-HDV: EASL 2025, PMID 40348683.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10/57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11/57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12/57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13/57</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Typical values.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Typical values.</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14/57</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15/57</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AASLD: no, monitor every 3 to 6 months. EASL 2025 would consider treatment over 30</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16/57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×10⁹/L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25780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715000"/>
            <a:ext cx="7040880" cy="731520"/>
          </a:xfrm>
          <a:prstGeom prst="rect">
            <a:avLst/>
          </a:prstGeom>
          <a:noFill/>
          <a:ln/>
        </p:spPr>
        <p:txBody>
          <a:bodyPr wrap="square" lIns="0" tIns="0" rIns="0" bIns="0" rtlCol="0" anchor="ctr"/>
          <a:lstStyle/>
          <a:p>
            <a:pPr algn="ctr" indent="0" marL="0">
              <a:buNone/>
            </a:pPr>
            <a:r>
              <a:rPr lang="en-US" sz="1900" b="1" dirty="0">
                <a:solidFill>
                  <a:srgbClr val="000000"/>
                </a:solidFill>
                <a:highlight>
                  <a:srgbClr val="FFFF00"/>
                </a:highlight>
                <a:latin typeface="Georgia" pitchFamily="34" charset="0"/>
                <a:ea typeface="Georgia" pitchFamily="34" charset="-122"/>
                <a:cs typeface="Georgia" pitchFamily="34" charset="-120"/>
              </a:rPr>
              <a:t>Over 40: treatment is suggested. He chose to wait. Start ultrasound and AFP every 6 months</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17/57</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3" name="Chart 0" descr=""/>
          <p:cNvGraphicFramePr/>
          <p:nvPr/>
        </p:nvGraphicFramePr>
        <p:xfrm>
          <a:off x="457200" y="1371600"/>
          <a:ext cx="548640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371600"/>
          <a:ext cx="5486400" cy="4206240"/>
        </p:xfrm>
        <a:graphic xmlns:a="http://schemas.openxmlformats.org/drawingml/2006/main">
          <a:graphicData uri="http://schemas.openxmlformats.org/drawingml/2006/chart">
            <c:chart xmlns:c="http://schemas.openxmlformats.org/drawingml/2006/chart" r:id="rId2"/>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18/57</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83864"/>
                <a:gridCol w="3191256"/>
              </a:tblGrid>
              <a:tr h="437896">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Test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Anti-HBe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8,000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48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190 ×10⁹/L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FIB-4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stiffness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37896">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eGFR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45 mL/min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6928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19/57</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20/57</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One patient,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Hands up if you would treat him</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2944368"/>
                <a:gridCol w="1810512"/>
                <a:gridCol w="2651760"/>
                <a:gridCol w="2203704"/>
                <a:gridCol w="1481328"/>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34, HBeAg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41, same labs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Treatment suggested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Consider treating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Monitor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Age 52, HBeAg negative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Check fibrosis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At 52 he chose to start treatment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21/57</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11094415" cy="914400"/>
        </p:xfrm>
        <a:graphic>
          <a:graphicData uri="http://schemas.openxmlformats.org/drawingml/2006/table">
            <a:tbl>
              <a:tblPr/>
              <a:tblGrid>
                <a:gridCol w="1911096"/>
                <a:gridCol w="2807208"/>
                <a:gridCol w="2706624"/>
                <a:gridCol w="3666744"/>
              </a:tblGrid>
              <a:tr h="41148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Study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Outcome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Huang 2023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855, no advanced fibrosis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HCC, 5 to 15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TORCH-B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160, ALT 1 to 2 x ULN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Progression at 3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Lai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Meta-analysis, 103 studies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Grey zone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Treatment IRR 0.38 for HCC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ATTENTION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 interim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734, TAF vs observation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Events 2 vs 9, HR 0.21 (CI crosses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Hepatology 2023, PMID 37184202. Hsu YC, Lancet Infect Dis 2021, PMID 33524314. Lai JC, J Hepatol 2025, PMID 39577468. Lim YS, Lancet Gastroenterol Hepatol 2025, PMID 39914435.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11094415" cy="914400"/>
        </p:xfrm>
        <a:graphic>
          <a:graphicData uri="http://schemas.openxmlformats.org/drawingml/2006/table">
            <a:tbl>
              <a:tblPr/>
              <a:tblGrid>
                <a:gridCol w="1911096"/>
                <a:gridCol w="2807208"/>
                <a:gridCol w="2706624"/>
                <a:gridCol w="3666744"/>
              </a:tblGrid>
              <a:tr h="41148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Study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Outcome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Huang 2023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855, no advanced fibrosis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HCC, 5 to 15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TORCH-B 2021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160, ALT 1 to 2 x ULN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Progression at 3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Lai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Meta-analysis, 103 studies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Grey zone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Treatment IRR 0.38 for HCC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1148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ATTENTION 2025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Randomized, interim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734, TAF vs observation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Events 2 vs 9, HR 0.21 (CI crosses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749040"/>
          <a:ext cx="6035040" cy="25603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749040"/>
          <a:ext cx="4937760" cy="256032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42900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Huang: cumulative HCC risk, %</a:t>
            </a:r>
            <a:endParaRPr lang="en-US" sz="1500" dirty="0"/>
          </a:p>
        </p:txBody>
      </p:sp>
      <p:sp>
        <p:nvSpPr>
          <p:cNvPr id="7" name="Text 2"/>
          <p:cNvSpPr txBox="1"/>
          <p:nvPr/>
        </p:nvSpPr>
        <p:spPr>
          <a:xfrm>
            <a:off x="6766560" y="342900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TORCH-B: 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Hepatology 2023, PMID 37184202. Hsu YC, Lancet Infect Dis 2021, PMID 33524314. Lai JC, J Hepatol 2025, PMID 39577468. Lim YS, Lancet Gastroenterol Hepatol 2025, PMID 39914435.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22/57</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 (US)</a:t>
            </a:r>
            <a:endParaRPr lang="en-US" sz="3000" dirty="0"/>
          </a:p>
        </p:txBody>
      </p:sp>
      <p:sp>
        <p:nvSpPr>
          <p:cNvPr id="3" name="Text 1"/>
          <p:cNvSpPr/>
          <p:nvPr/>
        </p:nvSpPr>
        <p:spPr>
          <a:xfrm>
            <a:off x="4251960" y="1051560"/>
            <a:ext cx="36576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508760"/>
            <a:ext cx="0" cy="228600"/>
          </a:xfrm>
          <a:prstGeom prst="line">
            <a:avLst/>
          </a:prstGeom>
          <a:noFill/>
          <a:ln w="19050">
            <a:solidFill>
              <a:srgbClr val="595959"/>
            </a:solidFill>
            <a:prstDash val="solid"/>
            <a:tailEnd type="triangle"/>
          </a:ln>
        </p:spPr>
      </p:sp>
      <p:sp>
        <p:nvSpPr>
          <p:cNvPr id="5" name="Text 3"/>
          <p:cNvSpPr/>
          <p:nvPr/>
        </p:nvSpPr>
        <p:spPr>
          <a:xfrm>
            <a:off x="4480560" y="1737360"/>
            <a:ext cx="320040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1965960"/>
            <a:ext cx="1188720" cy="0"/>
          </a:xfrm>
          <a:prstGeom prst="line">
            <a:avLst/>
          </a:prstGeom>
          <a:noFill/>
          <a:ln w="19050">
            <a:solidFill>
              <a:srgbClr val="595959"/>
            </a:solidFill>
            <a:prstDash val="solid"/>
            <a:tailEnd type="triangle"/>
          </a:ln>
        </p:spPr>
      </p:sp>
      <p:sp>
        <p:nvSpPr>
          <p:cNvPr id="7" name="Text 5"/>
          <p:cNvSpPr txBox="1"/>
          <p:nvPr/>
        </p:nvSpPr>
        <p:spPr>
          <a:xfrm>
            <a:off x="7680960" y="1673352"/>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737360"/>
            <a:ext cx="2926080" cy="4572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 level</a:t>
            </a:r>
            <a:endParaRPr lang="en-US" sz="1800" dirty="0"/>
          </a:p>
        </p:txBody>
      </p:sp>
      <p:sp>
        <p:nvSpPr>
          <p:cNvPr id="9" name="Shape 7"/>
          <p:cNvSpPr/>
          <p:nvPr/>
        </p:nvSpPr>
        <p:spPr>
          <a:xfrm>
            <a:off x="6080760" y="2194560"/>
            <a:ext cx="0" cy="182880"/>
          </a:xfrm>
          <a:prstGeom prst="line">
            <a:avLst/>
          </a:prstGeom>
          <a:noFill/>
          <a:ln w="19050">
            <a:solidFill>
              <a:srgbClr val="595959"/>
            </a:solidFill>
            <a:prstDash val="solid"/>
          </a:ln>
        </p:spPr>
      </p:sp>
      <p:sp>
        <p:nvSpPr>
          <p:cNvPr id="10" name="Shape 8"/>
          <p:cNvSpPr/>
          <p:nvPr/>
        </p:nvSpPr>
        <p:spPr>
          <a:xfrm>
            <a:off x="2194560" y="2377440"/>
            <a:ext cx="6126480" cy="0"/>
          </a:xfrm>
          <a:prstGeom prst="line">
            <a:avLst/>
          </a:prstGeom>
          <a:noFill/>
          <a:ln w="19050">
            <a:solidFill>
              <a:srgbClr val="595959"/>
            </a:solidFill>
            <a:prstDash val="solid"/>
          </a:ln>
        </p:spPr>
      </p:sp>
      <p:sp>
        <p:nvSpPr>
          <p:cNvPr id="11" name="Text 9"/>
          <p:cNvSpPr txBox="1"/>
          <p:nvPr/>
        </p:nvSpPr>
        <p:spPr>
          <a:xfrm>
            <a:off x="6172200" y="2130552"/>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377440"/>
            <a:ext cx="0" cy="182880"/>
          </a:xfrm>
          <a:prstGeom prst="line">
            <a:avLst/>
          </a:prstGeom>
          <a:noFill/>
          <a:ln w="19050">
            <a:solidFill>
              <a:srgbClr val="595959"/>
            </a:solidFill>
            <a:prstDash val="solid"/>
            <a:tailEnd type="triangle"/>
          </a:ln>
        </p:spPr>
      </p:sp>
      <p:sp>
        <p:nvSpPr>
          <p:cNvPr id="13" name="Shape 11"/>
          <p:cNvSpPr/>
          <p:nvPr/>
        </p:nvSpPr>
        <p:spPr>
          <a:xfrm>
            <a:off x="8321040" y="2377440"/>
            <a:ext cx="0" cy="182880"/>
          </a:xfrm>
          <a:prstGeom prst="line">
            <a:avLst/>
          </a:prstGeom>
          <a:noFill/>
          <a:ln w="19050">
            <a:solidFill>
              <a:srgbClr val="595959"/>
            </a:solidFill>
            <a:prstDash val="solid"/>
            <a:tailEnd type="triangle"/>
          </a:ln>
        </p:spPr>
      </p:sp>
      <p:sp>
        <p:nvSpPr>
          <p:cNvPr id="14" name="Text 12"/>
          <p:cNvSpPr/>
          <p:nvPr/>
        </p:nvSpPr>
        <p:spPr>
          <a:xfrm>
            <a:off x="45720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56032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20,000 and ALT 2 times ULN or more</a:t>
            </a:r>
            <a:endParaRPr lang="en-US" sz="1600" dirty="0"/>
          </a:p>
        </p:txBody>
      </p:sp>
      <p:sp>
        <p:nvSpPr>
          <p:cNvPr id="17" name="Shape 15"/>
          <p:cNvSpPr/>
          <p:nvPr/>
        </p:nvSpPr>
        <p:spPr>
          <a:xfrm>
            <a:off x="4114800" y="3538728"/>
            <a:ext cx="320040" cy="0"/>
          </a:xfrm>
          <a:prstGeom prst="line">
            <a:avLst/>
          </a:prstGeom>
          <a:noFill/>
          <a:ln w="19050">
            <a:solidFill>
              <a:srgbClr val="595959"/>
            </a:solidFill>
            <a:prstDash val="solid"/>
            <a:tailEnd type="triangle"/>
          </a:ln>
        </p:spPr>
      </p:sp>
      <p:sp>
        <p:nvSpPr>
          <p:cNvPr id="18" name="Text 16"/>
          <p:cNvSpPr/>
          <p:nvPr/>
        </p:nvSpPr>
        <p:spPr>
          <a:xfrm>
            <a:off x="4434840" y="3200400"/>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over 40 or F2 or worse</a:t>
            </a:r>
            <a:endParaRPr lang="en-US" sz="1600" dirty="0"/>
          </a:p>
        </p:txBody>
      </p:sp>
      <p:sp>
        <p:nvSpPr>
          <p:cNvPr id="20" name="Shape 18"/>
          <p:cNvSpPr/>
          <p:nvPr/>
        </p:nvSpPr>
        <p:spPr>
          <a:xfrm>
            <a:off x="4114800" y="4297680"/>
            <a:ext cx="320040" cy="0"/>
          </a:xfrm>
          <a:prstGeom prst="line">
            <a:avLst/>
          </a:prstGeom>
          <a:noFill/>
          <a:ln w="19050">
            <a:solidFill>
              <a:srgbClr val="595959"/>
            </a:solidFill>
            <a:prstDash val="solid"/>
            <a:tailEnd type="triangle"/>
          </a:ln>
        </p:spPr>
      </p:sp>
      <p:sp>
        <p:nvSpPr>
          <p:cNvPr id="21" name="Text 19"/>
          <p:cNvSpPr/>
          <p:nvPr/>
        </p:nvSpPr>
        <p:spPr>
          <a:xfrm>
            <a:off x="4434840" y="3959352"/>
            <a:ext cx="169164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3" name="Shape 21"/>
          <p:cNvSpPr/>
          <p:nvPr/>
        </p:nvSpPr>
        <p:spPr>
          <a:xfrm>
            <a:off x="4114800" y="5056632"/>
            <a:ext cx="320040" cy="0"/>
          </a:xfrm>
          <a:prstGeom prst="line">
            <a:avLst/>
          </a:prstGeom>
          <a:noFill/>
          <a:ln w="19050">
            <a:solidFill>
              <a:srgbClr val="595959"/>
            </a:solidFill>
            <a:prstDash val="solid"/>
            <a:tailEnd type="triangle"/>
          </a:ln>
        </p:spPr>
      </p:sp>
      <p:sp>
        <p:nvSpPr>
          <p:cNvPr id="24" name="Text 22"/>
          <p:cNvSpPr/>
          <p:nvPr/>
        </p:nvSpPr>
        <p:spPr>
          <a:xfrm>
            <a:off x="4434840" y="4718304"/>
            <a:ext cx="169164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25" name="Text 23"/>
          <p:cNvSpPr/>
          <p:nvPr/>
        </p:nvSpPr>
        <p:spPr>
          <a:xfrm>
            <a:off x="274320" y="5477256"/>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40 or younger, no fibrosis</a:t>
            </a:r>
            <a:endParaRPr lang="en-US" sz="1600" dirty="0"/>
          </a:p>
        </p:txBody>
      </p:sp>
      <p:sp>
        <p:nvSpPr>
          <p:cNvPr id="26" name="Shape 24"/>
          <p:cNvSpPr/>
          <p:nvPr/>
        </p:nvSpPr>
        <p:spPr>
          <a:xfrm>
            <a:off x="4114800" y="5815584"/>
            <a:ext cx="320040" cy="0"/>
          </a:xfrm>
          <a:prstGeom prst="line">
            <a:avLst/>
          </a:prstGeom>
          <a:noFill/>
          <a:ln w="19050">
            <a:solidFill>
              <a:srgbClr val="595959"/>
            </a:solidFill>
            <a:prstDash val="solid"/>
            <a:tailEnd type="triangle"/>
          </a:ln>
        </p:spPr>
      </p:sp>
      <p:sp>
        <p:nvSpPr>
          <p:cNvPr id="27" name="Text 25"/>
          <p:cNvSpPr/>
          <p:nvPr/>
        </p:nvSpPr>
        <p:spPr>
          <a:xfrm>
            <a:off x="4434840" y="5477256"/>
            <a:ext cx="169164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8" name="Text 26"/>
          <p:cNvSpPr/>
          <p:nvPr/>
        </p:nvSpPr>
        <p:spPr>
          <a:xfrm>
            <a:off x="6400800" y="3200400"/>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 and ALT 2 times ULN or more</a:t>
            </a:r>
            <a:endParaRPr lang="en-US" sz="1600" dirty="0"/>
          </a:p>
        </p:txBody>
      </p:sp>
      <p:sp>
        <p:nvSpPr>
          <p:cNvPr id="29" name="Shape 27"/>
          <p:cNvSpPr/>
          <p:nvPr/>
        </p:nvSpPr>
        <p:spPr>
          <a:xfrm>
            <a:off x="10241280" y="3538728"/>
            <a:ext cx="320040" cy="0"/>
          </a:xfrm>
          <a:prstGeom prst="line">
            <a:avLst/>
          </a:prstGeom>
          <a:noFill/>
          <a:ln w="19050">
            <a:solidFill>
              <a:srgbClr val="595959"/>
            </a:solidFill>
            <a:prstDash val="solid"/>
            <a:tailEnd type="triangle"/>
          </a:ln>
        </p:spPr>
      </p:sp>
      <p:sp>
        <p:nvSpPr>
          <p:cNvPr id="30" name="Text 28"/>
          <p:cNvSpPr/>
          <p:nvPr/>
        </p:nvSpPr>
        <p:spPr>
          <a:xfrm>
            <a:off x="10561320" y="3200400"/>
            <a:ext cx="1371600" cy="676656"/>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31" name="Text 29"/>
          <p:cNvSpPr/>
          <p:nvPr/>
        </p:nvSpPr>
        <p:spPr>
          <a:xfrm>
            <a:off x="6400800" y="3959352"/>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32" name="Shape 30"/>
          <p:cNvSpPr/>
          <p:nvPr/>
        </p:nvSpPr>
        <p:spPr>
          <a:xfrm>
            <a:off x="10241280" y="4297680"/>
            <a:ext cx="320040" cy="0"/>
          </a:xfrm>
          <a:prstGeom prst="line">
            <a:avLst/>
          </a:prstGeom>
          <a:noFill/>
          <a:ln w="19050">
            <a:solidFill>
              <a:srgbClr val="595959"/>
            </a:solidFill>
            <a:prstDash val="solid"/>
            <a:tailEnd type="triangle"/>
          </a:ln>
        </p:spPr>
      </p:sp>
      <p:sp>
        <p:nvSpPr>
          <p:cNvPr id="33" name="Text 31"/>
          <p:cNvSpPr/>
          <p:nvPr/>
        </p:nvSpPr>
        <p:spPr>
          <a:xfrm>
            <a:off x="10561320" y="3959352"/>
            <a:ext cx="1371600" cy="676656"/>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4" name="Text 32"/>
          <p:cNvSpPr/>
          <p:nvPr/>
        </p:nvSpPr>
        <p:spPr>
          <a:xfrm>
            <a:off x="6400800" y="4718304"/>
            <a:ext cx="3840480" cy="676656"/>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below 2,000, normal ALT</a:t>
            </a:r>
            <a:endParaRPr lang="en-US" sz="1600" dirty="0"/>
          </a:p>
        </p:txBody>
      </p:sp>
      <p:sp>
        <p:nvSpPr>
          <p:cNvPr id="35" name="Shape 33"/>
          <p:cNvSpPr/>
          <p:nvPr/>
        </p:nvSpPr>
        <p:spPr>
          <a:xfrm>
            <a:off x="10241280" y="5056632"/>
            <a:ext cx="320040" cy="0"/>
          </a:xfrm>
          <a:prstGeom prst="line">
            <a:avLst/>
          </a:prstGeom>
          <a:noFill/>
          <a:ln w="19050">
            <a:solidFill>
              <a:srgbClr val="595959"/>
            </a:solidFill>
            <a:prstDash val="solid"/>
            <a:tailEnd type="triangle"/>
          </a:ln>
        </p:spPr>
      </p:sp>
      <p:sp>
        <p:nvSpPr>
          <p:cNvPr id="36" name="Text 34"/>
          <p:cNvSpPr/>
          <p:nvPr/>
        </p:nvSpPr>
        <p:spPr>
          <a:xfrm>
            <a:off x="10561320" y="4718304"/>
            <a:ext cx="1371600" cy="676656"/>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ALT ULN 35 men, 25 women.</a:t>
            </a:r>
            <a:endParaRPr lang="en-US" sz="1000" dirty="0"/>
          </a:p>
        </p:txBody>
      </p:sp>
      <p:sp>
        <p:nvSpPr>
          <p:cNvPr id="3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23/57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52,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 for him?</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52,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 for him?</a:t>
            </a:r>
            <a:endParaRPr lang="en-US" sz="24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24/57</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365760" y="1280160"/>
          <a:ext cx="5120640" cy="914400"/>
        </p:xfrm>
        <a:graphic>
          <a:graphicData uri="http://schemas.openxmlformats.org/drawingml/2006/table">
            <a:tbl>
              <a:tblPr/>
              <a:tblGrid>
                <a:gridCol w="3511296"/>
                <a:gridCol w="804672"/>
                <a:gridCol w="804672"/>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HBV DNA below 29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TDF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HBeAg-positive (Chan)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HBeAg-negative (Buti)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365760" y="1280160"/>
          <a:ext cx="5120640" cy="914400"/>
        </p:xfrm>
        <a:graphic>
          <a:graphicData uri="http://schemas.openxmlformats.org/drawingml/2006/table">
            <a:tbl>
              <a:tblPr/>
              <a:tblGrid>
                <a:gridCol w="3511296"/>
                <a:gridCol w="804672"/>
                <a:gridCol w="804672"/>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HBV DNA below 29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TDF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HBeAg-positive (Chan)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67%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HBeAg-negative (Buti)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25/57</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sp>
        <p:nvSpPr>
          <p:cNvPr id="3" name="Shape 1"/>
          <p:cNvSpPr/>
          <p:nvPr/>
        </p:nvSpPr>
        <p:spPr>
          <a:xfrm>
            <a:off x="6675120" y="1371600"/>
            <a:ext cx="0" cy="2377440"/>
          </a:xfrm>
          <a:prstGeom prst="line">
            <a:avLst/>
          </a:prstGeom>
          <a:noFill/>
          <a:ln w="12700">
            <a:solidFill>
              <a:srgbClr val="7F7F7F"/>
            </a:solidFill>
            <a:prstDash val="dash"/>
          </a:ln>
        </p:spPr>
      </p:sp>
      <p:sp>
        <p:nvSpPr>
          <p:cNvPr id="4" name="Shape 2"/>
          <p:cNvSpPr/>
          <p:nvPr/>
        </p:nvSpPr>
        <p:spPr>
          <a:xfrm>
            <a:off x="4389120" y="3749040"/>
            <a:ext cx="5029200" cy="0"/>
          </a:xfrm>
          <a:prstGeom prst="line">
            <a:avLst/>
          </a:prstGeom>
          <a:noFill/>
          <a:ln w="12700">
            <a:solidFill>
              <a:srgbClr val="595959"/>
            </a:solidFill>
            <a:prstDash val="solid"/>
          </a:ln>
        </p:spPr>
      </p:sp>
      <p:sp>
        <p:nvSpPr>
          <p:cNvPr id="5" name="Text 3"/>
          <p:cNvSpPr txBox="1"/>
          <p:nvPr/>
        </p:nvSpPr>
        <p:spPr>
          <a:xfrm>
            <a:off x="4023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0.5</a:t>
            </a:r>
            <a:endParaRPr lang="en-US" sz="1400" dirty="0"/>
          </a:p>
        </p:txBody>
      </p:sp>
      <p:sp>
        <p:nvSpPr>
          <p:cNvPr id="6" name="Text 4"/>
          <p:cNvSpPr txBox="1"/>
          <p:nvPr/>
        </p:nvSpPr>
        <p:spPr>
          <a:xfrm>
            <a:off x="5166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0.75</a:t>
            </a:r>
            <a:endParaRPr lang="en-US" sz="1400" dirty="0"/>
          </a:p>
        </p:txBody>
      </p:sp>
      <p:sp>
        <p:nvSpPr>
          <p:cNvPr id="7" name="Text 5"/>
          <p:cNvSpPr txBox="1"/>
          <p:nvPr/>
        </p:nvSpPr>
        <p:spPr>
          <a:xfrm>
            <a:off x="6309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452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1.25</a:t>
            </a:r>
            <a:endParaRPr lang="en-US" sz="1400" dirty="0"/>
          </a:p>
        </p:txBody>
      </p:sp>
      <p:sp>
        <p:nvSpPr>
          <p:cNvPr id="9" name="Text 7"/>
          <p:cNvSpPr txBox="1"/>
          <p:nvPr/>
        </p:nvSpPr>
        <p:spPr>
          <a:xfrm>
            <a:off x="8595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1.5</a:t>
            </a:r>
            <a:endParaRPr lang="en-US" sz="1400" dirty="0"/>
          </a:p>
        </p:txBody>
      </p:sp>
      <p:sp>
        <p:nvSpPr>
          <p:cNvPr id="10" name="Text 8"/>
          <p:cNvSpPr txBox="1"/>
          <p:nvPr/>
        </p:nvSpPr>
        <p:spPr>
          <a:xfrm>
            <a:off x="4389120" y="4114800"/>
            <a:ext cx="22860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tenofovir</a:t>
            </a:r>
            <a:endParaRPr lang="en-US" sz="1400" dirty="0"/>
          </a:p>
        </p:txBody>
      </p:sp>
      <p:sp>
        <p:nvSpPr>
          <p:cNvPr id="11" name="Text 9"/>
          <p:cNvSpPr txBox="1"/>
          <p:nvPr/>
        </p:nvSpPr>
        <p:spPr>
          <a:xfrm>
            <a:off x="6675120" y="4114800"/>
            <a:ext cx="27432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entecavir</a:t>
            </a:r>
            <a:endParaRPr lang="en-US" sz="1400" dirty="0"/>
          </a:p>
        </p:txBody>
      </p:sp>
      <p:sp>
        <p:nvSpPr>
          <p:cNvPr id="12" name="Text 10"/>
          <p:cNvSpPr txBox="1"/>
          <p:nvPr/>
        </p:nvSpPr>
        <p:spPr>
          <a:xfrm>
            <a:off x="365760" y="146304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Lee 2020, propensity analysis, 3,022 patients</a:t>
            </a:r>
            <a:endParaRPr lang="en-US" sz="1700" dirty="0"/>
          </a:p>
        </p:txBody>
      </p:sp>
      <p:sp>
        <p:nvSpPr>
          <p:cNvPr id="13" name="Shape 11"/>
          <p:cNvSpPr/>
          <p:nvPr/>
        </p:nvSpPr>
        <p:spPr>
          <a:xfrm>
            <a:off x="5303520" y="2011680"/>
            <a:ext cx="3703320" cy="0"/>
          </a:xfrm>
          <a:prstGeom prst="line">
            <a:avLst/>
          </a:prstGeom>
          <a:noFill/>
          <a:ln w="31750">
            <a:solidFill>
              <a:srgbClr val="1F4E79"/>
            </a:solidFill>
            <a:prstDash val="solid"/>
          </a:ln>
        </p:spPr>
      </p:sp>
      <p:sp>
        <p:nvSpPr>
          <p:cNvPr id="14" name="Shape 12"/>
          <p:cNvSpPr/>
          <p:nvPr/>
        </p:nvSpPr>
        <p:spPr>
          <a:xfrm>
            <a:off x="6711696" y="1911096"/>
            <a:ext cx="201168" cy="201168"/>
          </a:xfrm>
          <a:prstGeom prst="rect">
            <a:avLst/>
          </a:prstGeom>
          <a:solidFill>
            <a:srgbClr val="1F4E79"/>
          </a:solidFill>
          <a:ln w="12700">
            <a:solidFill>
              <a:srgbClr val="1F4E79"/>
            </a:solidFill>
            <a:prstDash val="solid"/>
          </a:ln>
        </p:spPr>
      </p:sp>
      <p:sp>
        <p:nvSpPr>
          <p:cNvPr id="15" name="Text 13"/>
          <p:cNvSpPr txBox="1"/>
          <p:nvPr/>
        </p:nvSpPr>
        <p:spPr>
          <a:xfrm>
            <a:off x="9555480" y="178308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1.03 (0.70 to 1.51)</a:t>
            </a:r>
            <a:endParaRPr lang="en-US" sz="1600" dirty="0"/>
          </a:p>
        </p:txBody>
      </p:sp>
      <p:sp>
        <p:nvSpPr>
          <p:cNvPr id="16" name="Text 14"/>
          <p:cNvSpPr txBox="1"/>
          <p:nvPr/>
        </p:nvSpPr>
        <p:spPr>
          <a:xfrm>
            <a:off x="365760" y="256032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Choi 2023, individual patient meta-analysis, 42,939 patients</a:t>
            </a:r>
            <a:endParaRPr lang="en-US" sz="1700" dirty="0"/>
          </a:p>
        </p:txBody>
      </p:sp>
      <p:sp>
        <p:nvSpPr>
          <p:cNvPr id="17" name="Shape 15"/>
          <p:cNvSpPr/>
          <p:nvPr/>
        </p:nvSpPr>
        <p:spPr>
          <a:xfrm>
            <a:off x="4892040" y="3108960"/>
            <a:ext cx="1691640" cy="0"/>
          </a:xfrm>
          <a:prstGeom prst="line">
            <a:avLst/>
          </a:prstGeom>
          <a:noFill/>
          <a:ln w="31750">
            <a:solidFill>
              <a:srgbClr val="1F4E79"/>
            </a:solidFill>
            <a:prstDash val="solid"/>
          </a:ln>
        </p:spPr>
      </p:sp>
      <p:sp>
        <p:nvSpPr>
          <p:cNvPr id="18" name="Shape 16"/>
          <p:cNvSpPr/>
          <p:nvPr/>
        </p:nvSpPr>
        <p:spPr>
          <a:xfrm>
            <a:off x="5522976" y="3008376"/>
            <a:ext cx="201168" cy="201168"/>
          </a:xfrm>
          <a:prstGeom prst="rect">
            <a:avLst/>
          </a:prstGeom>
          <a:solidFill>
            <a:srgbClr val="1F4E79"/>
          </a:solidFill>
          <a:ln w="12700">
            <a:solidFill>
              <a:srgbClr val="1F4E79"/>
            </a:solidFill>
            <a:prstDash val="solid"/>
          </a:ln>
        </p:spPr>
      </p:sp>
      <p:sp>
        <p:nvSpPr>
          <p:cNvPr id="19" name="Text 17"/>
          <p:cNvSpPr txBox="1"/>
          <p:nvPr/>
        </p:nvSpPr>
        <p:spPr>
          <a:xfrm>
            <a:off x="9555480" y="288036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0.77 (0.61 to 0.98)</a:t>
            </a:r>
            <a:endParaRPr lang="en-US" sz="1600" dirty="0"/>
          </a:p>
        </p:txBody>
      </p:sp>
      <p:sp>
        <p:nvSpPr>
          <p:cNvPr id="20" name="Text 18"/>
          <p:cNvSpPr txBox="1"/>
          <p:nvPr/>
        </p:nvSpPr>
        <p:spPr>
          <a:xfrm>
            <a:off x="4389120" y="960120"/>
            <a:ext cx="502920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Hazard ratio for HCC, tenofovir vs entecavir</a:t>
            </a:r>
            <a:endParaRPr lang="en-US" sz="1600" dirty="0"/>
          </a:p>
        </p:txBody>
      </p:sp>
      <p:sp>
        <p:nvSpPr>
          <p:cNvPr id="21" name="Text 19"/>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Yoo 2025, Korea, TAF vs TDF: 12.38 vs 15.39 HCC per 1,000 person-years, 17,537 in each matched group</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et al. Gut 2020;69:1301-1308, PMID 31672838. Choi WM et al. J Hepatol 2023;78:534-542, PMID 36572349. Yoo HJ et al. JHEP Rep 2025;7:101268, PMID 39867683.</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26/57</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J Hepatol 2014;61:777-784, PMID 24915612. Marcellin P et al. Gastroenterology 2016;150:134-144, PMID 26453773.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27/57</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Choosing the drug: summary</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728655" cy="914400"/>
        </p:xfrm>
        <a:graphic>
          <a:graphicData uri="http://schemas.openxmlformats.org/drawingml/2006/table">
            <a:tbl>
              <a:tblPr/>
              <a:tblGrid>
                <a:gridCol w="4325112"/>
                <a:gridCol w="6400800"/>
              </a:tblGrid>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Situation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Most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TDF or TAF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Kidney or bone disease, or at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TAF, or entecavir with the dose adjusted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Prior lamivudine resistance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not entecavir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TDF or TAF as part of ART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Entecavir 1 mg or TDF (no TAF in Child-Pugh B or 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Wants a finite course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Pegylated interferon, selected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03504">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On treatment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DNA every 3 months, then every 3 to 6 months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28/57</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47" name="Table"/>
          <p:cNvGraphicFramePr>
            <a:graphicFrameLocks noGrp="1"/>
          </p:cNvGraphicFramePr>
          <p:nvPr>
            <p:extLst>
              <p:ext uri="{D42A27DB-BD31-4B8C-83A1-F6EECF244321}">
                <p14:modId xmlns:p14="http://schemas.microsoft.com/office/powerpoint/2010/main" val="1579011935"/>
              </p:ext>
            </p:extLst>
          </p:nvPr>
        </p:nvGraphicFramePr>
        <p:xfrm>
          <a:off x="548640" y="1097280"/>
          <a:ext cx="6035040" cy="914400"/>
        </p:xfrm>
        <a:graphic>
          <a:graphicData uri="http://schemas.openxmlformats.org/drawingml/2006/table">
            <a:tbl>
              <a:tblPr/>
              <a:tblGrid>
                <a:gridCol w="2715768"/>
                <a:gridCol w="2075688"/>
                <a:gridCol w="1243584"/>
              </a:tblGrid>
              <a:tr h="42062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Variable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Category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Points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Age,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 to 29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30 to 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 to 49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50 to 59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60 to 69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70 or older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Sex</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Female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Male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Platelets, ×10⁹/L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100 to 199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highlight>
                            <a:srgbClr val="FFFF00"/>
                          </a:highlight>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0624">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Under 100</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20040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3794760"/>
            <a:ext cx="4754880" cy="914400"/>
          </a:xfrm>
          <a:prstGeom prst="rect">
            <a:avLst/>
          </a:prstGeom>
          <a:noFill/>
          <a:ln/>
        </p:spPr>
        <p:txBody>
          <a:bodyPr wrap="square" lIns="50800" tIns="50800" rIns="50800" bIns="50800" rtlCol="0" anchor="t"/>
          <a:lstStyle/>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High risk: 18 or more</a:t>
            </a:r>
            <a:endParaRPr lang="en-US" sz="2000" dirty="0"/>
          </a:p>
          <a:p>
            <a:pPr indent="0" marL="0">
              <a:spcBef>
                <a:spcPts val="800"/>
              </a:spcBef>
              <a:buNone/>
            </a:pPr>
            <a:r>
              <a:rPr lang="en-US" sz="2000" dirty="0">
                <a:solidFill>
                  <a:srgbClr val="000000"/>
                </a:solidFill>
                <a:latin typeface="Georgia" pitchFamily="34" charset="0"/>
                <a:ea typeface="Georgia" pitchFamily="34" charset="-122"/>
                <a:cs typeface="Georgia" pitchFamily="34" charset="-120"/>
              </a:rPr>
              <a:t>5-year HCC about 16 to 17%</a:t>
            </a:r>
            <a:endParaRPr lang="en-US" sz="2000" dirty="0"/>
          </a:p>
        </p:txBody>
      </p:sp>
      <p:pic>
        <p:nvPicPr>
          <p:cNvPr id="7" name="Image 0" descr="QR code to the HBV HCC risk calculator">    </p:cNvPr>
          <p:cNvPicPr>
            <a:picLocks noChangeAspect="1"/>
          </p:cNvPicPr>
          <p:nvPr/>
        </p:nvPicPr>
        <p:blipFill>
          <a:blip r:embed="rId1"/>
          <a:stretch>
            <a:fillRect/>
          </a:stretch>
        </p:blipFill>
        <p:spPr>
          <a:xfrm>
            <a:off x="7040880" y="4846320"/>
            <a:ext cx="1325880" cy="1325880"/>
          </a:xfrm>
          <a:prstGeom prst="rect">
            <a:avLst/>
          </a:prstGeom>
        </p:spPr>
      </p:pic>
      <p:sp>
        <p:nvSpPr>
          <p:cNvPr id="8" name="Text 4"/>
          <p:cNvSpPr txBox="1"/>
          <p:nvPr/>
        </p:nvSpPr>
        <p:spPr>
          <a:xfrm>
            <a:off x="8503920" y="5029200"/>
            <a:ext cx="3383280" cy="914400"/>
          </a:xfrm>
          <a:prstGeom prst="rect">
            <a:avLst/>
          </a:prstGeom>
          <a:noFill/>
          <a:ln/>
        </p:spPr>
        <p:txBody>
          <a:bodyPr wrap="square" lIns="0" tIns="0" rIns="0" bIns="0" rtlCol="0" anchor="ctr"/>
          <a:lstStyle/>
          <a:p>
            <a:pPr indent="0" marL="0">
              <a:buNone/>
            </a:pPr>
            <a:r>
              <a:rPr lang="en-US" sz="1600" dirty="0">
                <a:solidFill>
                  <a:srgbClr val="000000"/>
                </a:solidFill>
                <a:latin typeface="Georgia" pitchFamily="34" charset="0"/>
                <a:ea typeface="Georgia" pitchFamily="34" charset="-122"/>
                <a:cs typeface="Georgia" pitchFamily="34" charset="-120"/>
              </a:rPr>
              <a:t>Calculator: qaddodi.github.io/chb-hcc-risk</a:t>
            </a:r>
            <a:endParaRPr lang="en-US" sz="16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29/57</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30/57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31/57</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PMID 26678008; mPAGE-B PMID 30075230; REACH-B PMID 21497551; aMAP PMID 32707225; REAL-B PMID 31550363; Kim HS, J Hepatol 2022, PMID 34563579.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32/57</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2012;142:1140-1149, PMID 22333950.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33/57</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34/57</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HBsAg negative, anti-HBc positive: how risky is each drug?</a:t>
            </a:r>
            <a:endParaRPr lang="en-US" sz="22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10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35/57</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79451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3817620" y="2011680"/>
            <a:ext cx="0" cy="1737360"/>
          </a:xfrm>
          <a:prstGeom prst="line">
            <a:avLst/>
          </a:prstGeom>
          <a:noFill/>
          <a:ln w="9525">
            <a:solidFill>
              <a:srgbClr val="D9D9D9"/>
            </a:solidFill>
            <a:prstDash val="solid"/>
          </a:ln>
        </p:spPr>
      </p:sp>
      <p:sp>
        <p:nvSpPr>
          <p:cNvPr id="8" name="Text 5"/>
          <p:cNvSpPr txBox="1"/>
          <p:nvPr/>
        </p:nvSpPr>
        <p:spPr>
          <a:xfrm>
            <a:off x="314325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5166360" y="2011680"/>
            <a:ext cx="0" cy="1737360"/>
          </a:xfrm>
          <a:prstGeom prst="line">
            <a:avLst/>
          </a:prstGeom>
          <a:noFill/>
          <a:ln w="9525">
            <a:solidFill>
              <a:srgbClr val="D9D9D9"/>
            </a:solidFill>
            <a:prstDash val="solid"/>
          </a:ln>
        </p:spPr>
      </p:sp>
      <p:sp>
        <p:nvSpPr>
          <p:cNvPr id="10" name="Text 7"/>
          <p:cNvSpPr txBox="1"/>
          <p:nvPr/>
        </p:nvSpPr>
        <p:spPr>
          <a:xfrm>
            <a:off x="449199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6515100" y="2011680"/>
            <a:ext cx="0" cy="1737360"/>
          </a:xfrm>
          <a:prstGeom prst="line">
            <a:avLst/>
          </a:prstGeom>
          <a:noFill/>
          <a:ln w="9525">
            <a:solidFill>
              <a:srgbClr val="D9D9D9"/>
            </a:solidFill>
            <a:prstDash val="solid"/>
          </a:ln>
        </p:spPr>
      </p:sp>
      <p:sp>
        <p:nvSpPr>
          <p:cNvPr id="12" name="Text 9"/>
          <p:cNvSpPr txBox="1"/>
          <p:nvPr/>
        </p:nvSpPr>
        <p:spPr>
          <a:xfrm>
            <a:off x="584073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Shape 10"/>
          <p:cNvSpPr/>
          <p:nvPr/>
        </p:nvSpPr>
        <p:spPr>
          <a:xfrm>
            <a:off x="7863840" y="2011680"/>
            <a:ext cx="0" cy="1737360"/>
          </a:xfrm>
          <a:prstGeom prst="line">
            <a:avLst/>
          </a:prstGeom>
          <a:noFill/>
          <a:ln w="9525">
            <a:solidFill>
              <a:srgbClr val="D9D9D9"/>
            </a:solidFill>
            <a:prstDash val="solid"/>
          </a:ln>
        </p:spPr>
      </p:sp>
      <p:sp>
        <p:nvSpPr>
          <p:cNvPr id="14" name="Text 11"/>
          <p:cNvSpPr txBox="1"/>
          <p:nvPr/>
        </p:nvSpPr>
        <p:spPr>
          <a:xfrm>
            <a:off x="7189470" y="3794760"/>
            <a:ext cx="134874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24</a:t>
            </a:r>
            <a:endParaRPr lang="en-US" sz="1600" dirty="0"/>
          </a:p>
        </p:txBody>
      </p:sp>
      <p:sp>
        <p:nvSpPr>
          <p:cNvPr id="15" name="Text 12"/>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6" name="Shape 13"/>
          <p:cNvSpPr/>
          <p:nvPr/>
        </p:nvSpPr>
        <p:spPr>
          <a:xfrm>
            <a:off x="2468880" y="2084832"/>
            <a:ext cx="1281303" cy="676656"/>
          </a:xfrm>
          <a:prstGeom prst="rect">
            <a:avLst/>
          </a:prstGeom>
          <a:solidFill>
            <a:srgbClr val="9DB4CA"/>
          </a:solidFill>
          <a:ln w="6350">
            <a:solidFill>
              <a:srgbClr val="9DB4CA"/>
            </a:solidFill>
            <a:prstDash val="solid"/>
          </a:ln>
        </p:spPr>
      </p:sp>
      <p:sp>
        <p:nvSpPr>
          <p:cNvPr id="17" name="Text 14"/>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8" name="Shape 15"/>
          <p:cNvSpPr/>
          <p:nvPr/>
        </p:nvSpPr>
        <p:spPr>
          <a:xfrm>
            <a:off x="2468880" y="2907792"/>
            <a:ext cx="4046220" cy="676656"/>
          </a:xfrm>
          <a:prstGeom prst="rect">
            <a:avLst/>
          </a:prstGeom>
          <a:solidFill>
            <a:srgbClr val="1F4E79"/>
          </a:solidFill>
          <a:ln w="6350">
            <a:solidFill>
              <a:srgbClr val="1F4E79"/>
            </a:solidFill>
            <a:prstDash val="solid"/>
          </a:ln>
        </p:spPr>
      </p:sp>
      <p:sp>
        <p:nvSpPr>
          <p:cNvPr id="19" name="Text 16"/>
          <p:cNvSpPr txBox="1"/>
          <p:nvPr/>
        </p:nvSpPr>
        <p:spPr>
          <a:xfrm>
            <a:off x="2468880" y="2907792"/>
            <a:ext cx="404622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20" name="Question"/>
          <p:cNvSpPr txBox="1"/>
          <p:nvPr/>
        </p:nvSpPr>
        <p:spPr>
          <a:xfrm>
            <a:off x="365760" y="4572000"/>
            <a:ext cx="731520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Start before the first dose</a:t>
            </a:r>
            <a:endParaRPr lang="en-US" sz="24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36/57</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6080760" y="2743200"/>
            <a:ext cx="0" cy="320040"/>
          </a:xfrm>
          <a:prstGeom prst="line">
            <a:avLst/>
          </a:prstGeom>
          <a:noFill/>
          <a:ln w="19050">
            <a:solidFill>
              <a:srgbClr val="595959"/>
            </a:solidFill>
            <a:prstDash val="solid"/>
            <a:tailEnd type="triangle"/>
          </a:ln>
        </p:spPr>
      </p:sp>
      <p:sp>
        <p:nvSpPr>
          <p:cNvPr id="15" name="Text 13"/>
          <p:cNvSpPr/>
          <p:nvPr/>
        </p:nvSpPr>
        <p:spPr>
          <a:xfrm>
            <a:off x="4343400" y="3063240"/>
            <a:ext cx="3474720" cy="8686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6" name="Shape 14"/>
          <p:cNvSpPr/>
          <p:nvPr/>
        </p:nvSpPr>
        <p:spPr>
          <a:xfrm>
            <a:off x="6080760" y="3931920"/>
            <a:ext cx="0" cy="182880"/>
          </a:xfrm>
          <a:prstGeom prst="line">
            <a:avLst/>
          </a:prstGeom>
          <a:noFill/>
          <a:ln w="19050">
            <a:solidFill>
              <a:srgbClr val="595959"/>
            </a:solidFill>
            <a:prstDash val="solid"/>
            <a:tailEnd type="triangle"/>
          </a:ln>
        </p:spPr>
      </p:sp>
      <p:sp>
        <p:nvSpPr>
          <p:cNvPr id="17" name="Text 15"/>
          <p:cNvSpPr/>
          <p:nvPr/>
        </p:nvSpPr>
        <p:spPr>
          <a:xfrm>
            <a:off x="4343400" y="4114800"/>
            <a:ext cx="3474720" cy="86868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Moderate risk: prophylaxis preferred, or DNA and ALT every 1 to 3 months</a:t>
            </a:r>
            <a:endParaRPr lang="en-US" sz="1600" dirty="0"/>
          </a:p>
        </p:txBody>
      </p:sp>
      <p:sp>
        <p:nvSpPr>
          <p:cNvPr id="18" name="Shape 16"/>
          <p:cNvSpPr/>
          <p:nvPr/>
        </p:nvSpPr>
        <p:spPr>
          <a:xfrm>
            <a:off x="6080760" y="4983480"/>
            <a:ext cx="0" cy="137160"/>
          </a:xfrm>
          <a:prstGeom prst="line">
            <a:avLst/>
          </a:prstGeom>
          <a:noFill/>
          <a:ln w="19050">
            <a:solidFill>
              <a:srgbClr val="595959"/>
            </a:solidFill>
            <a:prstDash val="solid"/>
            <a:tailEnd type="triangle"/>
          </a:ln>
        </p:spPr>
      </p:sp>
      <p:sp>
        <p:nvSpPr>
          <p:cNvPr id="19" name="Text 17"/>
          <p:cNvSpPr/>
          <p:nvPr/>
        </p:nvSpPr>
        <p:spPr>
          <a:xfrm>
            <a:off x="4343400" y="5120640"/>
            <a:ext cx="3474720" cy="4572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Low risk: monitor</a:t>
            </a:r>
            <a:endParaRPr lang="en-US" sz="16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Text 20"/>
          <p:cNvSpPr/>
          <p:nvPr/>
        </p:nvSpPr>
        <p:spPr>
          <a:xfrm>
            <a:off x="411480" y="5715000"/>
            <a:ext cx="11338560" cy="50292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Prophylaxis: start before the first dose; continue 6 months after the last dose, 12 months after anti-CD20</a:t>
            </a:r>
            <a:endParaRPr lang="en-US" sz="16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37/57</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59"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365760" y="1234440"/>
          <a:ext cx="6309360" cy="914400"/>
        </p:xfrm>
        <a:graphic>
          <a:graphicData uri="http://schemas.openxmlformats.org/drawingml/2006/table">
            <a:tbl>
              <a:tblPr/>
              <a:tblGrid>
                <a:gridCol w="1325880"/>
                <a:gridCol w="1325880"/>
                <a:gridCol w="2496312"/>
                <a:gridCol w="1161288"/>
              </a:tblGrid>
              <a:tr h="54864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365760" y="2514600"/>
            <a:ext cx="6309360"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 do you do for her and the baby?</a:t>
            </a:r>
            <a:endParaRPr lang="en-US" sz="2200" dirty="0"/>
          </a:p>
        </p:txBody>
      </p:sp>
      <p:pic>
        <p:nvPicPr>
          <p:cNvPr id="5" name="Image 0" descr="Watercolor of a seated pregnant woman in profile">    </p:cNvPr>
          <p:cNvPicPr>
            <a:picLocks noChangeAspect="1"/>
          </p:cNvPicPr>
          <p:nvPr/>
        </p:nvPicPr>
        <p:blipFill>
          <a:blip r:embed="rId1"/>
          <a:stretch>
            <a:fillRect/>
          </a:stretch>
        </p:blipFill>
        <p:spPr>
          <a:xfrm>
            <a:off x="694944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Hepatology 2026;83:974-997, PMID 41186418. CDC perinatal hepatitis B guidance.</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38/57</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 Engl J Med 2016;374:2324-2334, PMID 27305192. Jourdain G et al. N Engl J Med 2018;378:911-923, PMID 29514030.</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39/57</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40/57</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41/57</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365760" y="1143000"/>
          <a:ext cx="7863840" cy="914400"/>
        </p:xfrm>
        <a:graphic>
          <a:graphicData uri="http://schemas.openxmlformats.org/drawingml/2006/table">
            <a:tbl>
              <a:tblPr/>
              <a:tblGrid>
                <a:gridCol w="4443984"/>
                <a:gridCol w="2660904"/>
                <a:gridCol w="758952"/>
              </a:tblGrid>
              <a:tr h="512064">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Condition for stopping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Our patient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Met?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cirrhosis or advanced disease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Stiffness 5.9 kPa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HBV DNA undetectable for 2 years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Undetectable for 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HBsAg under 100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400 IU/mL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C00000"/>
                          </a:solidFill>
                          <a:latin typeface="Calibri" pitchFamily="34" charset="0"/>
                          <a:ea typeface="Calibri" pitchFamily="34" charset="-122"/>
                          <a:cs typeface="Calibri" pitchFamily="34" charset="-120"/>
                        </a:rPr>
                        <a:t>No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HBeAg seroconversion 1 year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In his late 40s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HIV or HDV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Both negative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12064">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Reliable follow-up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Yes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12064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66928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42/57</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if he had stopped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the same man in his fifties, gray at the temples, with reading glasses">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43/57</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If HBeAg positive at the start: seroconverted 1 year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or more, ALT above 5 times ULN, bilirubin above 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44/57</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7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Bömmel F et al. J Hepatol 2023;78:926-936, PMID 37062574. Hirode G et al. Gastroenterology 2022;162:757-771, PMID 34762906. Berg T et al. J Hepatol 2017;67:918-924, PMID 28736139.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45/57</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7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J Hepatol 2023;79:1254-1269, PMID 37377088.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46/57</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at 57: a new drug</a:t>
            </a:r>
            <a:endParaRPr lang="en-US" sz="3000" dirty="0"/>
          </a:p>
        </p:txBody>
      </p:sp>
      <p:sp>
        <p:nvSpPr>
          <p:cNvPr id="3" name="Question"/>
          <p:cNvSpPr txBox="1"/>
          <p:nvPr/>
        </p:nvSpPr>
        <p:spPr>
          <a:xfrm>
            <a:off x="365760" y="109728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he a candidate for bepirovirsen?</a:t>
            </a:r>
            <a:endParaRPr lang="en-US" sz="24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863840" cy="914400"/>
        </p:xfrm>
        <a:graphic>
          <a:graphicData uri="http://schemas.openxmlformats.org/drawingml/2006/table">
            <a:tbl>
              <a:tblPr/>
              <a:tblGrid>
                <a:gridCol w="5120640"/>
                <a:gridCol w="1938528"/>
                <a:gridCol w="804672"/>
              </a:tblGrid>
              <a:tr h="566928">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FDA label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Adult, no cirrhosis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On a nucleos(t)ide analogue 6 months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TAF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suppressed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3,000 IU/mL or lower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5"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6" name="Question"/>
          <p:cNvSpPr txBox="1"/>
          <p:nvPr/>
        </p:nvSpPr>
        <p:spPr>
          <a:xfrm>
            <a:off x="365760" y="4800600"/>
            <a:ext cx="7863840"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Yes. FDA approved 20 October 2026</a:t>
            </a:r>
            <a:endParaRPr lang="en-US" sz="2400" dirty="0"/>
          </a:p>
        </p:txBody>
      </p:sp>
      <p:sp>
        <p:nvSpPr>
          <p:cNvPr id="7" name="Text 3"/>
          <p:cNvSpPr txBox="1"/>
          <p:nvPr/>
        </p:nvSpPr>
        <p:spPr>
          <a:xfrm>
            <a:off x="365760" y="5394960"/>
            <a:ext cx="7863840" cy="731520"/>
          </a:xfrm>
          <a:prstGeom prst="rect">
            <a:avLst/>
          </a:prstGeom>
          <a:noFill/>
          <a:ln/>
        </p:spPr>
        <p:txBody>
          <a:bodyPr wrap="square" lIns="0" tIns="0" rIns="0" bIns="0" rtlCol="0" anchor="ctr"/>
          <a:lstStyle/>
          <a:p>
            <a:pPr algn="ctr" indent="0" marL="0">
              <a:buNone/>
            </a:pPr>
            <a:r>
              <a:rPr lang="en-US" sz="1900" dirty="0">
                <a:solidFill>
                  <a:srgbClr val="000000"/>
                </a:solidFill>
                <a:latin typeface="Georgia" pitchFamily="34" charset="0"/>
                <a:ea typeface="Georgia" pitchFamily="34" charset="-122"/>
                <a:cs typeface="Georgia" pitchFamily="34" charset="-120"/>
              </a:rPr>
              <a:t>About 1 in 5 had HBsAg loss 24 weeks after stopping all treatment; none on placebo</a:t>
            </a:r>
            <a:endParaRPr lang="en-US" sz="19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20 October 2026. Hou J et al. N Engl J Med 2026;394:2395-2406, PMID 42206582 (B-Well 1 and 2).</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47/57</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Trial entry: 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2026;394:2395-2406, PMID 42206582 (B-Well 1 and 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48/57</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49/57</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50/57</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51/57</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4142232"/>
                <a:gridCol w="1280160"/>
                <a:gridCol w="1618488"/>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mall nodular cirrhotic liver">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Hepatology 2015;61:1809-1820, PMID 25627342.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52/57</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J Hepatol 2010;52:272-279, PMID 20034693. Fung J et al. Hepatology 2017;66:1036-1044, PMID 28370215. AASLD 2018.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53/57</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1399032"/>
                <a:gridCol w="5641848"/>
              </a:tblGrid>
              <a:tr h="914400">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leeping swaddled newborn beside a vaccine syringe on a tray">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54/57</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459736"/>
                <a:gridCol w="4855464"/>
                <a:gridCol w="3410712"/>
              </a:tblGrid>
              <a:tr h="11887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Agent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Phase 2 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Caution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1887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Xalnesiran (siRNA)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loss 24 weeks off treatment: 3 to 7% alone, 23% with PegIFN, 0% on NA alone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Background NA continued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Elebsiran with PegIFN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 stopping follow-up ongoing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2024;391:2098-2109, PMID 39774313. Wong GLH et al. Nat Med 2026;32:151-159, PMID 41203919.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55/57</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he man in his fifties">    </p:cNvPr>
          <p:cNvPicPr>
            <a:picLocks noChangeAspect="1"/>
          </p:cNvPicPr>
          <p:nvPr/>
        </p:nvPicPr>
        <p:blipFill>
          <a:blip r:embed="rId1"/>
          <a:stretch>
            <a:fillRect/>
          </a:stretch>
        </p:blipFill>
        <p:spPr>
          <a:xfrm>
            <a:off x="594360" y="1143000"/>
            <a:ext cx="3291840" cy="3291840"/>
          </a:xfrm>
          <a:prstGeom prst="rect">
            <a:avLst/>
          </a:prstGeom>
        </p:spPr>
      </p:pic>
      <p:sp>
        <p:nvSpPr>
          <p:cNvPr id="4" name="Text 1"/>
          <p:cNvSpPr txBox="1"/>
          <p:nvPr/>
        </p:nvSpPr>
        <p:spPr>
          <a:xfrm>
            <a:off x="45720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Man, 34 to 57</a:t>
            </a:r>
            <a:endParaRPr lang="en-US" sz="2000" dirty="0"/>
          </a:p>
        </p:txBody>
      </p:sp>
      <p:sp>
        <p:nvSpPr>
          <p:cNvPr id="5" name="Text 2"/>
          <p:cNvSpPr txBox="1"/>
          <p:nvPr/>
        </p:nvSpPr>
        <p:spPr>
          <a:xfrm>
            <a:off x="45720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Monitor, surveillance from 41, TAF at 52. Now a candidate for bepirovirsen</a:t>
            </a:r>
            <a:endParaRPr lang="en-US" sz="1700" dirty="0"/>
          </a:p>
        </p:txBody>
      </p:sp>
      <p:pic>
        <p:nvPicPr>
          <p:cNvPr id="6" name="Image 1" descr="Watercolor of an IV bag and infusion pump">    </p:cNvPr>
          <p:cNvPicPr>
            <a:picLocks noChangeAspect="1"/>
          </p:cNvPicPr>
          <p:nvPr/>
        </p:nvPicPr>
        <p:blipFill>
          <a:blip r:embed="rId2"/>
          <a:stretch>
            <a:fillRect/>
          </a:stretch>
        </p:blipFill>
        <p:spPr>
          <a:xfrm>
            <a:off x="4434840" y="1143000"/>
            <a:ext cx="3291840" cy="3291840"/>
          </a:xfrm>
          <a:prstGeom prst="rect">
            <a:avLst/>
          </a:prstGeom>
        </p:spPr>
      </p:pic>
      <p:sp>
        <p:nvSpPr>
          <p:cNvPr id="7" name="Text 3"/>
          <p:cNvSpPr txBox="1"/>
          <p:nvPr/>
        </p:nvSpPr>
        <p:spPr>
          <a:xfrm>
            <a:off x="429768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61, rituximab</a:t>
            </a:r>
            <a:endParaRPr lang="en-US" sz="2000" dirty="0"/>
          </a:p>
        </p:txBody>
      </p:sp>
      <p:sp>
        <p:nvSpPr>
          <p:cNvPr id="8" name="Text 4"/>
          <p:cNvSpPr txBox="1"/>
          <p:nvPr/>
        </p:nvSpPr>
        <p:spPr>
          <a:xfrm>
            <a:off x="429768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Entecavir, TDF or TAF before the first dose, 12 months after the last</a:t>
            </a:r>
            <a:endParaRPr lang="en-US" sz="1700" dirty="0"/>
          </a:p>
        </p:txBody>
      </p:sp>
      <p:pic>
        <p:nvPicPr>
          <p:cNvPr id="9" name="Image 2" descr="Watercolor of a seated pregnant woman">    </p:cNvPr>
          <p:cNvPicPr>
            <a:picLocks noChangeAspect="1"/>
          </p:cNvPicPr>
          <p:nvPr/>
        </p:nvPicPr>
        <p:blipFill>
          <a:blip r:embed="rId3"/>
          <a:stretch>
            <a:fillRect/>
          </a:stretch>
        </p:blipFill>
        <p:spPr>
          <a:xfrm>
            <a:off x="8275320" y="1143000"/>
            <a:ext cx="3291840" cy="3291840"/>
          </a:xfrm>
          <a:prstGeom prst="rect">
            <a:avLst/>
          </a:prstGeom>
        </p:spPr>
      </p:pic>
      <p:sp>
        <p:nvSpPr>
          <p:cNvPr id="10" name="Text 5"/>
          <p:cNvSpPr txBox="1"/>
          <p:nvPr/>
        </p:nvSpPr>
        <p:spPr>
          <a:xfrm>
            <a:off x="8138160" y="4526280"/>
            <a:ext cx="3566160" cy="45720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Woman, 29, pregnant</a:t>
            </a:r>
            <a:endParaRPr lang="en-US" sz="2000" dirty="0"/>
          </a:p>
        </p:txBody>
      </p:sp>
      <p:sp>
        <p:nvSpPr>
          <p:cNvPr id="11" name="Text 6"/>
          <p:cNvSpPr txBox="1"/>
          <p:nvPr/>
        </p:nvSpPr>
        <p:spPr>
          <a:xfrm>
            <a:off x="8138160" y="4983480"/>
            <a:ext cx="3566160" cy="1188720"/>
          </a:xfrm>
          <a:prstGeom prst="rect">
            <a:avLst/>
          </a:prstGeom>
          <a:noFill/>
          <a:ln/>
        </p:spPr>
        <p:txBody>
          <a:bodyPr wrap="square" lIns="0" tIns="0" rIns="0" bIns="0" rtlCol="0" anchor="t"/>
          <a:lstStyle/>
          <a:p>
            <a:pPr algn="ctr" indent="0" marL="0">
              <a:buNone/>
            </a:pPr>
            <a:r>
              <a:rPr lang="en-US" sz="1700" dirty="0">
                <a:solidFill>
                  <a:srgbClr val="000000"/>
                </a:solidFill>
                <a:latin typeface="Georgia" pitchFamily="34" charset="0"/>
                <a:ea typeface="Georgia" pitchFamily="34" charset="-122"/>
                <a:cs typeface="Georgia" pitchFamily="34" charset="-120"/>
              </a:rPr>
              <a:t>TDF or TAF from week 28. Vaccine and HBIG within 12 hours</a:t>
            </a:r>
            <a:endParaRPr lang="en-US" sz="17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56/57</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82</Slides>
  <Notes>82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82</vt:i4>
      </vt:variant>
    </vt:vector>
  </HeadingPairs>
  <TitlesOfParts>
    <vt:vector size="8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2026-10-28T15:52:38Z</dcterms:created>
  <dcterms:modified xsi:type="dcterms:W3CDTF">2026-10-28T15:52:38Z</dcterms:modified>
</cp:coreProperties>
</file>