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3.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charts/chart4.xml" ContentType="application/vnd.openxmlformats-officedocument.drawingml.chart+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5.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7.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570d77-0a89-e005-96aa-d653dfbffc06}">
          <p14:sldIdLst>
            <p14:sldId id="256"/>
            <p14:sldId id="257"/>
          </p14:sldIdLst>
        </p14:section>
        <p14:section name="History" id="{f06f41ac-77cd-39d3-e9d5-72df07cd27e3}">
          <p14:sldIdLst>
            <p14:sldId id="258"/>
            <p14:sldId id="259"/>
            <p14:sldId id="260"/>
            <p14:sldId id="261"/>
            <p14:sldId id="262"/>
            <p14:sldId id="263"/>
          </p14:sldIdLst>
        </p14:section>
        <p14:section name="Testing" id="{6f117956-b031-60ba-e017-02ad8b622fbd}">
          <p14:sldIdLst>
            <p14:sldId id="264"/>
            <p14:sldId id="265"/>
            <p14:sldId id="266"/>
            <p14:sldId id="267"/>
            <p14:sldId id="268"/>
            <p14:sldId id="269"/>
            <p14:sldId id="270"/>
          </p14:sldIdLst>
        </p14:section>
        <p14:section name="Serology" id="{2b048ba8-3e0d-c7d1-c8be-b83d46f3bce4}">
          <p14:sldIdLst>
            <p14:sldId id="271"/>
            <p14:sldId id="272"/>
            <p14:sldId id="273"/>
            <p14:sldId id="274"/>
          </p14:sldIdLst>
        </p14:section>
        <p14:section name="Phases" id="{35113849-9a23-6a1f-afbb-bc87939ac474}">
          <p14:sldIdLst>
            <p14:sldId id="275"/>
            <p14:sldId id="276"/>
            <p14:sldId id="277"/>
            <p14:sldId id="278"/>
            <p14:sldId id="279"/>
            <p14:sldId id="280"/>
            <p14:sldId id="281"/>
            <p14:sldId id="282"/>
          </p14:sldIdLst>
        </p14:section>
        <p14:section name="Who to treat" id="{70403834-60bb-81a7-cc01-a36bd1347997}">
          <p14:sldIdLst>
            <p14:sldId id="283"/>
            <p14:sldId id="284"/>
            <p14:sldId id="285"/>
            <p14:sldId id="286"/>
            <p14:sldId id="287"/>
            <p14:sldId id="288"/>
            <p14:sldId id="289"/>
            <p14:sldId id="290"/>
            <p14:sldId id="291"/>
            <p14:sldId id="292"/>
            <p14:sldId id="293"/>
            <p14:sldId id="294"/>
            <p14:sldId id="295"/>
          </p14:sldIdLst>
        </p14:section>
        <p14:section name="Drugs" id="{5ab39ac1-a88e-fb0c-04f3-4c71e0921106}">
          <p14:sldIdLst>
            <p14:sldId id="296"/>
            <p14:sldId id="297"/>
            <p14:sldId id="298"/>
            <p14:sldId id="299"/>
            <p14:sldId id="300"/>
            <p14:sldId id="301"/>
            <p14:sldId id="302"/>
          </p14:sldIdLst>
        </p14:section>
        <p14:section name="HCC risk" id="{5861a1c2-3ae8-c224-3f32-13b6ae1fb23f}">
          <p14:sldIdLst>
            <p14:sldId id="303"/>
            <p14:sldId id="304"/>
            <p14:sldId id="305"/>
            <p14:sldId id="306"/>
            <p14:sldId id="307"/>
            <p14:sldId id="308"/>
            <p14:sldId id="309"/>
            <p14:sldId id="310"/>
          </p14:sldIdLst>
        </p14:section>
        <p14:section name="Special situations" id="{c1d2d2c0-41f1-ceda-2cdc-a9bdb3acd17f}">
          <p14:sldIdLst>
            <p14:sldId id="311"/>
            <p14:sldId id="312"/>
            <p14:sldId id="313"/>
            <p14:sldId id="314"/>
            <p14:sldId id="315"/>
            <p14:sldId id="316"/>
            <p14:sldId id="317"/>
            <p14:sldId id="318"/>
            <p14:sldId id="319"/>
            <p14:sldId id="320"/>
            <p14:sldId id="321"/>
            <p14:sldId id="322"/>
            <p14:sldId id="323"/>
            <p14:sldId id="324"/>
            <p14:sldId id="325"/>
          </p14:sldIdLst>
        </p14:section>
        <p14:section name="Stopping and what is new" id="{3e11aa83-2a7d-653c-d340-3544b1a8b501}">
          <p14:sldIdLst>
            <p14:sldId id="326"/>
            <p14:sldId id="327"/>
            <p14:sldId id="328"/>
            <p14:sldId id="329"/>
            <p14:sldId id="330"/>
            <p14:sldId id="331"/>
            <p14:sldId id="332"/>
          </p14:sldIdLst>
        </p14:section>
        <p14:section name="Close" id="{ca4190e2-1dc5-616b-72bf-0fd6ce58abaa}">
          <p14:sldIdLst>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 The figure is from the paper in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All numbers are from the paper's summary (your PDF).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Licensure in 1986 was not confirmed from a primary record, so say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estimates differ because the survey misses many immigrants. Do not combine one study's prevalence with another study's diagnosed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WHO cirrhosis row is from the 2015 guideline as described in the reviewer's dossier; check the 2024 text before using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death or transplant 9.7% vs 3.4% at 10 years, HR 3.38 (1.85 to 6.16). The untreated group used a broad definition (DNA at least 20,000), broader than strict immune tolerance. Jeon found essentially no HCC in carefully defined immune-tolerant patients with low FIB-4. The AASLD technical review grades the evidence for clinical benefit in immune tolerance as very uncertain. Nothing here proves that treating every young, strictly immune-tolerant patient lowers lifetime HCC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2025: heterogeneity was high (I2 85.7% for HCC) and the definitions of the grey zone varied. ATTENTION: TAF 369 vs observation 365, DNA 10,000 to 100,000,000 IU/mL, ALT below 70 for men and below 50 for women, noncirrhotic, ages 40 to 80, median follow-up 17.7 months. Promising, not definitive.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AASLD 2018 and the reviewer's dossier (section C5). EASL 2025 uses 3 to 6 months initially, then 6 to 12 months after response. AASLD 2018 finds insufficient evidence to mandate routine bone density testing in people without other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 Full formulas for mPAGE-B, aMAP and REAL-B were not confirmed, so do not reproduce their point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flowchart you sent: it had a Gemini watermark and no source. 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 not an outcome trial. It explains why HBsAg can persist when DNA is undetectable and why 'immune tolerant' is not a safe phase. It does not show that early treatment prevents HCC. Small tissue studies; abstract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reviewer's comparison (dossier A5). ACR 2021 (rheumatoid arthritis): strong recommendation for prophylaxis in anti-HBc-positive patients starting rituximab regardless of HBsAg, and in HBsAg-positive patients starting any biologic or targeted synthetic DMARD; monitoring is conditionally preferred for HBsAg-negative anti-HBc-positive patients on other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dossier's published MYR301 numbers (2 mg 45%, 10 mg 48%) are from the NEJM paper; the slide uses FDA's numbers for the approved dose.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The AST 2019 wording was not opened, so quote AASLD 2018 here.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Check each paper before quoting; most are abstract-level in the dossier.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incidence per 100,000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1222156" y="1188720"/>
            <a:ext cx="9747384"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in the United States</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554480"/>
          <a:ext cx="10728655" cy="914400"/>
        </p:xfrm>
        <a:graphic>
          <a:graphicData uri="http://schemas.openxmlformats.org/drawingml/2006/table">
            <a:tbl>
              <a:tblPr/>
              <a:tblGrid>
                <a:gridCol w="4242816"/>
                <a:gridCol w="3465576"/>
                <a:gridCol w="3017520"/>
              </a:tblGrid>
              <a:tr h="523037">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Estimate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People with chronic HBV</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NHANES 2013 to 2018</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880,000 (580,000 to 1.17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Household survey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Meta-analysis including immigrants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1.89 million (1.49 to 2.4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1.47 million are foreign-born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Not aware of the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two-thirds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Born outside the US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69%</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Conners EE et al. MMWR Recomm Rep 2023;72(1):1-25. PMID 36893044.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949440" cy="914400"/>
        </p:xfrm>
        <a:graphic>
          <a:graphicData uri="http://schemas.openxmlformats.org/drawingml/2006/table">
            <a:tbl>
              <a:tblPr/>
              <a:tblGrid>
                <a:gridCol w="2551176"/>
                <a:gridCol w="1618488"/>
                <a:gridCol w="2779776"/>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APRI above 2 in the 2015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7680960" y="1188720"/>
            <a:ext cx="4206240" cy="42062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978408"/>
                <a:gridCol w="4764024"/>
                <a:gridCol w="4983480"/>
              </a:tblGrid>
              <a:tr h="82296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Kim, Gut 2018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Jeon, Clin Mol Hepatol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413 untreated immune-tolerant, 1,497 treated immune-active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Biomarker-defined immune tolerance, FIB-4 under 1.45 subgroup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Result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10-year HCC 12.7% vs 6.1%; adjusted HR 2.54 (1.54 to 4.18)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0% at 1, 3 and 5 years vs 0.2, 0.6 and 1.4% in comparators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Limit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Different phases, selected 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Small low-risk sample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indeterminate phase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102352"/>
                <a:gridCol w="5623560"/>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Meta-analysis, 103 studies (Lai, J Hepatol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in 39.7%; HCC 0.32% a year; treatment IRR 0.38 (0.18 to 0.79)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ATTENTION interim, 734 patients (Lim,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Events 2 vs 9, HR 0.21, 97.5% CI 0.04 to 1.20; stopping boundary not crossed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et al. J Hepatol 2025;82:992-1003, PMID 39577468. Lim YS et al. Lancet Gastroenterol Hepatol 2025;10:295-305, PMID 39914435.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895344"/>
                <a:gridCol w="3355848"/>
                <a:gridCol w="3474720"/>
              </a:tblGrid>
              <a:tr h="8229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HCC, tenofovir vs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Lee 2020, propensity 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3,022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HR 1.03 (0.70 to 1.51)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Choi 2023, individual patient meta-analysis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42,939 in 11 studies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Adjusted HR 0.77 (0.61 to 0.98)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Yoo 2025, TAF vs TDF, Korea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17,537 in each matched group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12.38 vs 15.39 per 1,000 person-years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2020 (PMID in dossier ref 31); Choi J et al. 2023 (dossier ref 32); Yoo 2025 (dossier ref 28).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2014 (dossier ref 34); Marcellin P et al. 2016 (dossier ref 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Monitoring</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48456"/>
                <a:gridCol w="7077456"/>
              </a:tblGrid>
              <a:tr h="77724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Setting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a nucleos(t)ide analogue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DNA every 3 months until undetectable, then every 3 to 6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 phosphate, urine glucose and protein at baseline and at least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Untreated, HBeAg-negative infection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ALT every 3 months in year 1, then every 6 to 12 months; HBsAg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surveillance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Ultrasound plus AFP every 6 months when eligible, also with suppressed 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Papatheodoridis 2016; Kim 2018; Yang 2011; Fan 2020; Yang 2020; Kim 2022 (dossier refs 38-42, 46).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 (dossier ref 48).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Integration of HBV DNA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242816"/>
                <a:gridCol w="6483096"/>
              </a:tblGrid>
              <a:tr h="10972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Mason 2016, 26 patients aged 14 to 39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Integration and clonal hepatocyte expansion found in immune-tolerant patients as well, before ALT rises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Grudda 2022, 16 HIV/HBV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Integrated DNA keeps producing HBsAg despite antiviral therapy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Mason WS et al. Gastroenterology 2016 (dossier ref 50); Grudda T et al. 2022 (ref 51).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Prophylaxis: the guidelines compared</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697480"/>
                <a:gridCol w="2249424"/>
                <a:gridCol w="1892808"/>
                <a:gridCol w="2615184"/>
                <a:gridCol w="1271016"/>
              </a:tblGrid>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AGA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AASLD 2018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EASL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ASCO 2020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Anti-CD20, anti-HBc positive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Drug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After the last dose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anti-CD20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to 12 months, 18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12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If monitoring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ALT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Every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By regimen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PMID 39863345; AASLD PMID 29405329; EASL PMID 40348683; ASCO 2020 PMID 32716741; ACR 2021 PMID 34101387.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NEJM 2016 (PMID in dossier ref 52). Jourdain G et al. NEJM 2018 (ref 53).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318504"/>
                <a:gridCol w="1956816"/>
                <a:gridCol w="2450592"/>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2015 (dossier ref 56).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2010 (dossier ref 59). Fung J et al. 2017 (ref 57). AASLD 2018 section 6H.</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399032"/>
                <a:gridCol w="9326880"/>
              </a:tblGrid>
              <a:tr h="91440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See paper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Bommel F et al. J Hepatol 2023 (dossier ref 61); Hirode G et al. Gastroenterology 2022 (ref 60); Berg T et al. J Hepatol 2017 (ref 62).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2023 (dossier ref 65).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 (B-Well 1 and 2, dossier ref 67). Final issue 25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011680"/>
                <a:gridCol w="5934456"/>
                <a:gridCol w="2779776"/>
              </a:tblGrid>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Agent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Phase 2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Caution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Xalnesiran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at 24 weeks after treatment 7% (100 mg), 3% (200 mg), 12% with ruzotolimod, 23% with PegIFN, 0% NA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Background NA continued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Elebsiran with PegIFN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 stopping follow-up ongoing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JNJ-3989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Met NA-stopping criteria at week 48 in 5, 16 and 19% (40, 100, 200 mg) vs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Stopping eligibility, not cure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Imdusiran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Phase 1a/b, safety primary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cure rate yet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Dossier refs 66 to 71 and registry entries NCT04225715 and NCT06245291.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2026-10-28T14:19:53Z</dcterms:created>
  <dcterms:modified xsi:type="dcterms:W3CDTF">2026-10-28T14:19:53Z</dcterms:modified>
</cp:coreProperties>
</file>