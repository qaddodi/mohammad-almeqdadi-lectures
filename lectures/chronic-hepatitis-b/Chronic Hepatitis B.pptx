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6.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7.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8.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9.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10.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217345-6af4-c9cb-dc89-ffba5ecee03d}">
          <p14:sldIdLst>
            <p14:sldId id="256"/>
            <p14:sldId id="257"/>
          </p14:sldIdLst>
        </p14:section>
        <p14:section name="History" id="{fb5bda88-388c-2fe9-a976-e352dc8a0e28}">
          <p14:sldIdLst>
            <p14:sldId id="258"/>
            <p14:sldId id="259"/>
            <p14:sldId id="260"/>
            <p14:sldId id="261"/>
            <p14:sldId id="262"/>
          </p14:sldIdLst>
        </p14:section>
        <p14:section name="Testing" id="{8ddb787a-3b19-e37c-fae0-beca1157dbb6}">
          <p14:sldIdLst>
            <p14:sldId id="263"/>
            <p14:sldId id="264"/>
            <p14:sldId id="265"/>
            <p14:sldId id="266"/>
            <p14:sldId id="267"/>
            <p14:sldId id="268"/>
          </p14:sldIdLst>
        </p14:section>
        <p14:section name="Serology" id="{9fd64d5d-c512-62f7-2f30-58a1751054b7}">
          <p14:sldIdLst>
            <p14:sldId id="269"/>
            <p14:sldId id="270"/>
            <p14:sldId id="271"/>
            <p14:sldId id="272"/>
          </p14:sldIdLst>
        </p14:section>
        <p14:section name="Phases" id="{b22e2b91-2ec3-10b3-c456-befd1936028d}">
          <p14:sldIdLst>
            <p14:sldId id="273"/>
            <p14:sldId id="274"/>
            <p14:sldId id="275"/>
            <p14:sldId id="276"/>
            <p14:sldId id="277"/>
            <p14:sldId id="278"/>
            <p14:sldId id="279"/>
          </p14:sldIdLst>
        </p14:section>
        <p14:section name="Who to treat" id="{83d93514-ea2e-5f97-958a-1d88ff0270a2}">
          <p14:sldIdLst>
            <p14:sldId id="280"/>
            <p14:sldId id="281"/>
            <p14:sldId id="282"/>
            <p14:sldId id="283"/>
            <p14:sldId id="284"/>
            <p14:sldId id="285"/>
            <p14:sldId id="286"/>
            <p14:sldId id="287"/>
            <p14:sldId id="288"/>
            <p14:sldId id="289"/>
            <p14:sldId id="290"/>
            <p14:sldId id="291"/>
            <p14:sldId id="292"/>
          </p14:sldIdLst>
        </p14:section>
        <p14:section name="Drugs" id="{d4138628-1446-383d-4619-8f8116b47d73}">
          <p14:sldIdLst>
            <p14:sldId id="293"/>
            <p14:sldId id="294"/>
            <p14:sldId id="295"/>
            <p14:sldId id="296"/>
            <p14:sldId id="297"/>
            <p14:sldId id="298"/>
          </p14:sldIdLst>
        </p14:section>
        <p14:section name="HCC risk" id="{b51be7fa-5501-4eca-4d02-c09075feff92}">
          <p14:sldIdLst>
            <p14:sldId id="299"/>
            <p14:sldId id="300"/>
            <p14:sldId id="301"/>
            <p14:sldId id="302"/>
            <p14:sldId id="303"/>
            <p14:sldId id="304"/>
            <p14:sldId id="305"/>
            <p14:sldId id="306"/>
          </p14:sldIdLst>
        </p14:section>
        <p14:section name="Special situations" id="{7c4b3e79-bd5b-51d1-61c7-bfcee276c621}">
          <p14:sldIdLst>
            <p14:sldId id="307"/>
            <p14:sldId id="308"/>
            <p14:sldId id="309"/>
            <p14:sldId id="310"/>
            <p14:sldId id="311"/>
            <p14:sldId id="312"/>
            <p14:sldId id="313"/>
            <p14:sldId id="314"/>
            <p14:sldId id="315"/>
            <p14:sldId id="316"/>
            <p14:sldId id="317"/>
          </p14:sldIdLst>
        </p14:section>
        <p14:section name="Stopping and what is new" id="{2c3dcece-292b-f2b6-8c76-cbd0c4ca438b}">
          <p14:sldIdLst>
            <p14:sldId id="318"/>
            <p14:sldId id="319"/>
            <p14:sldId id="320"/>
            <p14:sldId id="321"/>
            <p14:sldId id="322"/>
            <p14:sldId id="323"/>
            <p14:sldId id="324"/>
            <p14:sldId id="325"/>
            <p14:sldId id="326"/>
            <p14:sldId id="327"/>
          </p14:sldIdLst>
        </p14:section>
        <p14:section name="Other situations" id="{7915b746-30ef-a9e0-4b39-8ed69557e87f}">
          <p14:sldIdLst>
            <p14:sldId id="328"/>
            <p14:sldId id="329"/>
            <p14:sldId id="330"/>
            <p14:sldId id="331"/>
            <p14:sldId id="332"/>
            <p14:sldId id="333"/>
            <p14:sldId id="334"/>
          </p14:sldIdLst>
        </p14:section>
        <p14:section name="Close" id="{85cfbcb4-1dcf-b397-0524-dfb6f6ff8591}">
          <p14:sldIdLst>
            <p14:sldId id="335"/>
            <p14:sldId id="336"/>
          </p14:sldIdLst>
        </p14:section>
        <p14:section name="Appendix" id="{f3e197bc-2257-8b0e-7870-1ba21ce2d30a}">
          <p14:sldIdLst>
            <p14:sldId id="3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Kim, Gut 2018</a:t>
            </a:r>
          </a:p>
        </c:rich>
      </c:tx>
      <c:layout/>
      <c:overlay val="0"/>
    </c:title>
    <c:autoTitleDeleted val="0"/>
    <c:plotArea>
      <c:layout/>
      <c:barChart>
        <c:barDir val="col"/>
        <c:grouping val="clustered"/>
        <c:varyColors val="0"/>
        <c:ser>
          <c:idx val="0"/>
          <c:order val="0"/>
          <c:tx>
            <c:strRef>
              <c:f>Sheet1!$B$1</c:f>
              <c:strCache>
                <c:ptCount val="1"/>
                <c:pt idx="0">
                  <c:v>Immune tolerant, untreated</c:v>
                </c:pt>
              </c:strCache>
            </c:strRef>
          </c:tx>
          <c:spPr>
            <a:solidFill>
              <a:srgbClr val="9DB4CA"/>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10-year HCC</c:v>
                  </c:pt>
                </c:lvl>
              </c:multiLvlStrCache>
            </c:multiLvlStrRef>
          </c:cat>
          <c:val>
            <c:numRef>
              <c:f>Sheet1!$B$2:$B$2</c:f>
              <c:numCache>
                <c:formatCode>General</c:formatCode>
                <c:ptCount val="1"/>
                <c:pt idx="0">
                  <c:v>12.7</c:v>
                </c:pt>
              </c:numCache>
            </c:numRef>
          </c:val>
        </c:ser>
        <c:ser>
          <c:idx val="1"/>
          <c:order val="1"/>
          <c:tx>
            <c:strRef>
              <c:f>Sheet1!$C$1</c:f>
              <c:strCache>
                <c:ptCount val="1"/>
                <c:pt idx="0">
                  <c:v>Immune active, treated</c:v>
                </c:pt>
              </c:strCache>
            </c:strRef>
          </c:tx>
          <c:spPr>
            <a:solidFill>
              <a:srgbClr val="1F4E79"/>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10-year HCC</c:v>
                  </c:pt>
                </c:lvl>
              </c:multiLvlStrCache>
            </c:multiLvlStrRef>
          </c:cat>
          <c:val>
            <c:numRef>
              <c:f>Sheet1!$C$2:$C$2</c:f>
              <c:numCache>
                <c:formatCode>General</c:formatCode>
                <c:ptCount val="1"/>
                <c:pt idx="0">
                  <c:v>6.1</c:v>
                </c:pt>
              </c:numCache>
            </c:numRef>
          </c:val>
        </c:ser>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Jeon, Clin Mol Hepatol 2021</a:t>
            </a:r>
          </a:p>
        </c:rich>
      </c:tx>
      <c:layout/>
      <c:overlay val="0"/>
    </c:title>
    <c:autoTitleDeleted val="0"/>
    <c:plotArea>
      <c:layout/>
      <c:barChart>
        <c:barDir val="col"/>
        <c:grouping val="clustered"/>
        <c:varyColors val="0"/>
        <c:ser>
          <c:idx val="0"/>
          <c:order val="0"/>
          <c:tx>
            <c:strRef>
              <c:f>Sheet1!$B$1</c:f>
              <c:strCache>
                <c:ptCount val="1"/>
                <c:pt idx="0">
                  <c:v>Immune tolerant, FIB-4 under 1.45</c:v>
                </c:pt>
              </c:strCache>
            </c:strRef>
          </c:tx>
          <c:spPr>
            <a:solidFill>
              <a:srgbClr val="9DB4CA"/>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5-year HCC</c:v>
                  </c:pt>
                </c:lvl>
              </c:multiLvlStrCache>
            </c:multiLvlStrRef>
          </c:cat>
          <c:val>
            <c:numRef>
              <c:f>Sheet1!$B$2:$B$2</c:f>
              <c:numCache>
                <c:formatCode>General</c:formatCode>
                <c:ptCount val="1"/>
                <c:pt idx="0">
                  <c:v>0</c:v>
                </c:pt>
              </c:numCache>
            </c:numRef>
          </c:val>
        </c:ser>
        <c:ser>
          <c:idx val="1"/>
          <c:order val="1"/>
          <c:tx>
            <c:strRef>
              <c:f>Sheet1!$C$1</c:f>
              <c:strCache>
                <c:ptCount val="1"/>
                <c:pt idx="0">
                  <c:v>Comparators</c:v>
                </c:pt>
              </c:strCache>
            </c:strRef>
          </c:tx>
          <c:spPr>
            <a:solidFill>
              <a:srgbClr val="1F4E79"/>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5-year HCC</c:v>
                  </c:pt>
                </c:lvl>
              </c:multiLvlStrCache>
            </c:multiLvlStrRef>
          </c:cat>
          <c:val>
            <c:numRef>
              <c:f>Sheet1!$C$2:$C$2</c:f>
              <c:numCache>
                <c:formatCode>General</c:formatCode>
                <c:ptCount val="1"/>
                <c:pt idx="0">
                  <c:v>1.4</c:v>
                </c:pt>
              </c:numCache>
            </c:numRef>
          </c:val>
        </c:ser>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De novo HBV after an anti-HBc-positive liver, %</a:t>
            </a:r>
          </a:p>
        </c:rich>
      </c:tx>
      <c:layout/>
      <c:overlay val="0"/>
    </c:title>
    <c:autoTitleDeleted val="0"/>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Then one sentence for the rest: Dane saw the virus particle in 1970, Maupas gave the first plasma-derived vaccine in 1976, Szmuness proved it worked in 1980, and Beasley tied the carrier state to liver cancer in 1981. A vaccine against a cancer came before any cancer screening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Say 'licensed in the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patient you are about to meet has 5.1 kPa.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also now a man from an endemic region over 40, so he qualifies for HCC surveillance (AASLD 2023); that comes up in the HCC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also now a man from an endemic region over 40, so he qualifies for HCC surveillance (AASLD 2023); that comes up in the HCC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413 untreated immune-tolerant versus 1,497 treated immune-active patients; 10-year HCC 12.7% vs 6.1%, adjusted HR 2.54 (1.54 to 4.18); death or transplant 9.7% vs 3.4%. The untreated group used a broad definition (DNA at least 20,000), broader than strict immune tolerance, and the groups are different phases. Jeon found no HCC at 1, 3 and 5 years in biomarker-defined immune tolerance with FIB-4 under 1.45, versus 0.2, 0.6 and 1.4% in the comparators. Integration of HBV DNA and clonal expansion are already seen in young immune-tolerant patients (Mason, Gastroenterology 2016, 26 patients), which is biology, not proof that early treatment prevents HCC. The AASLD technical review grades the evidence for clinical benefit in immune tolerance as very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His eGFR is 45 from diabetic kidney disease, which matters for the drug. Let the room commit. The next slides show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Lai 2025: significant fibrosis in 39.7%, HCC 0.32% a year, treatment IRR 0.38 (0.18 to 0.79), heterogeneity high (I2 85.7% for HCC). ATTENTION interim: TAF 369 vs observation 365, ages 40 to 80, noncirrhotic, median 17.7 months; HR 0.21, 97.5% CI 0.04 to 1.20, did not cross its stopping boundary. Promising, not definitive. None of these randomized treatment against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Lai 2025: significant fibrosis in 39.7%, HCC 0.32% a year, treatment IRR 0.38 (0.18 to 0.79), heterogeneity high (I2 85.7% for HCC). ATTENTION interim: TAF 369 vs observation 365, ages 40 to 80, noncirrhotic, median 17.7 months; HR 0.21, 97.5% CI 0.04 to 1.20, did not cross its stopping boundary. Promising, not definitive. None of these randomized treatment against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which is not limited to HBeAg-negative patients, is a shared decision. Cirrhosis: AASLD 2018 R7A treats compensated cirrhosis with low viremia regardless of ALT, R7B treats decompensated cirrhosis regardless of DNA, ALT or HBeAg, and the 2025 Figure 5 treats both regardless of DNA or ALT. EASL 2025 asks for detectable DNA in compensated cirrhosis.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from the top: the first row that fits decides. His eGFR is 45, so TAF (no dose change down to CrCl 15) or entecavir with the dose adjusted; he started TAF. AASLD 2018: entecavir, TDF and TAF are first line; entecavir or TAF are preferred over TDF with renal dysfunction or bone disease, or risk of them. Lamivudine resistance gives cross-resistance to entecavir, so use tenofovir. Entecavir alone is not adequate in HIV: it selects HIV M184V. Pregnancy: TDF has the randomized data; AASLD/IDSA 2025 R1 accepts TDF or TAF. Decompensated cirrhosis: entecavir 1 mg daily (Baraclude label); the 2025 Figure 5 lists TAF, but the US label does not recommend it in Child-Pugh B or C. PegIFN is contraindicated in decompensated cirrhosis and in pregnancy. Monitoring on treatment: DNA every 3 months until undetectable, then every 3 to 6 months; on TDF, creatinine, phosphate, urine glucose and protein at least yearly (AASLD 2018). Renal dosing table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from the top: the first row that fits decides. His eGFR is 45, so TAF (no dose change down to CrCl 15) or entecavir with the dose adjusted; he started TAF. AASLD 2018: entecavir, TDF and TAF are first line; entecavir or TAF are preferred over TDF with renal dysfunction or bone disease, or risk of them. Lamivudine resistance gives cross-resistance to entecavir, so use tenofovir. Entecavir alone is not adequate in HIV: it selects HIV M184V. Pregnancy: TDF has the randomized data; AASLD/IDSA 2025 R1 accepts TDF or TAF. Decompensated cirrhosis: entecavir 1 mg daily (Baraclude label); the 2025 Figure 5 lists TAF, but the US label does not recommend it in Child-Pugh B or C. PegIFN is contraindicated in decompensated cirrhosis and in pregnancy. Monitoring on treatment: DNA every 3 months until undetectable, then every 3 to 6 months; on TDF, creatinine, phosphate, urine glucose and protein at least yearly (AASLD 2018). Renal dosing table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calculator is mine. PAGE-B matches the published table. The second model (HBsAg-HCC, Guo 2026, 1,190 training and 506 validation patients) is a research model, not externally validated.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 Mother on drug only for prevention and stops after delivery: DNA and ALT every 1 to 3 months for 6 months. Infant testing is at 9 to 12 months, or 1 to 2 months after a delayed final dose. Evidence: Pan, NEJM 2016 (transmission 5% vs 18% by intention to treat) and Jourdain, NEJM 2018 (0 vs 3 infected infants, p = 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RETRACT-B retreatment: the overall rate is not in the abstract, so the cell is left empty.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US label dose is 8.5 mg; MYR301 tested 2 and 10 mg (NEJM: 45% and 48%), and the EU dose is 2 mg.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is phase 1.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Entecavir 0.5 mg doses are for nucleoside-naive patients; double them for lamivudine-refractory or decompensated disease. Entecavir oral solution allows daily fractional doses instead (0.25 mg daily at CrCl 30 to 49). Give entecavir and TDF after hemodialysis on dialysis days. TAF is not recommended at CrCl 15 or below unless on chronic hemodialysis.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slideLayout" Target="../slideLayouts/slideLayout2.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image" Target="../media/image-81-2.png"/><Relationship Id="rId3" Type="http://schemas.openxmlformats.org/officeDocument/2006/relationships/slideLayout" Target="../slideLayouts/slideLayout4.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455954" cy="2377440"/>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5718609" cy="1920240"/>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457200" y="1188720"/>
            <a:ext cx="7315200" cy="3774305"/>
          </a:xfrm>
          <a:prstGeom prst="rect">
            <a:avLst/>
          </a:prstGeom>
        </p:spPr>
      </p:pic>
      <p:sp>
        <p:nvSpPr>
          <p:cNvPr id="4" name="Text 1"/>
          <p:cNvSpPr txBox="1"/>
          <p:nvPr/>
        </p:nvSpPr>
        <p:spPr>
          <a:xfrm>
            <a:off x="8046720" y="1463040"/>
            <a:ext cx="3840480" cy="42062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Infected</a:t>
            </a:r>
            <a:endParaRPr lang="en-US" sz="2200" dirty="0"/>
          </a:p>
          <a:p>
            <a:pPr algn="ctr" indent="0" marL="0">
              <a:buNone/>
            </a:pPr>
            <a:r>
              <a:rPr lang="en-US" sz="4000" b="1" dirty="0">
                <a:solidFill>
                  <a:srgbClr val="1F4E79"/>
                </a:solidFill>
                <a:latin typeface="Georgia" pitchFamily="34" charset="0"/>
                <a:ea typeface="Georgia" pitchFamily="34" charset="-122"/>
                <a:cs typeface="Georgia" pitchFamily="34" charset="-120"/>
              </a:rPr>
              <a:t>1.4 to 3.4%</a:t>
            </a:r>
            <a:endParaRPr lang="en-US" sz="2200" dirty="0"/>
          </a:p>
          <a:p>
            <a:pPr algn="ctr" indent="0" marL="0">
              <a:buNone/>
            </a:pPr>
            <a:r>
              <a:rPr lang="en-US" sz="2000" dirty="0">
                <a:solidFill>
                  <a:srgbClr val="595959"/>
                </a:solidFill>
                <a:latin typeface="Georgia" pitchFamily="34" charset="0"/>
                <a:ea typeface="Georgia" pitchFamily="34" charset="-122"/>
                <a:cs typeface="Georgia" pitchFamily="34" charset="-120"/>
              </a:rPr>
              <a:t>vaccine</a:t>
            </a:r>
            <a:endParaRPr lang="en-US" sz="2200" dirty="0"/>
          </a:p>
          <a:p>
            <a:pPr algn="ctr" indent="0" marL="0">
              <a:buNone/>
            </a:pPr>
            <a:r>
              <a:rPr lang="en-US" sz="1400" dirty="0">
                <a:solidFill>
                  <a:srgbClr val="000000"/>
                </a:solidFill>
                <a:latin typeface="Georgia" pitchFamily="34" charset="0"/>
                <a:ea typeface="Georgia" pitchFamily="34" charset="-122"/>
                <a:cs typeface="Georgia" pitchFamily="34" charset="-120"/>
              </a:rPr>
              <a:t> </a:t>
            </a:r>
            <a:endParaRPr lang="en-US" sz="2200" dirty="0"/>
          </a:p>
          <a:p>
            <a:pPr algn="ctr" indent="0" marL="0">
              <a:buNone/>
            </a:pPr>
            <a:r>
              <a:rPr lang="en-US" sz="4000" b="1" dirty="0">
                <a:solidFill>
                  <a:srgbClr val="C00000"/>
                </a:solidFill>
                <a:latin typeface="Georgia" pitchFamily="34" charset="0"/>
                <a:ea typeface="Georgia" pitchFamily="34" charset="-122"/>
                <a:cs typeface="Georgia" pitchFamily="34" charset="-120"/>
              </a:rPr>
              <a:t>18 to 27%</a:t>
            </a:r>
            <a:endParaRPr lang="en-US" sz="2200" dirty="0"/>
          </a:p>
          <a:p>
            <a:pPr algn="ctr" indent="0" marL="0">
              <a:buNone/>
            </a:pPr>
            <a:r>
              <a:rPr lang="en-US" sz="2000" dirty="0">
                <a:solidFill>
                  <a:srgbClr val="595959"/>
                </a:solidFill>
                <a:latin typeface="Georgia" pitchFamily="34" charset="0"/>
                <a:ea typeface="Georgia" pitchFamily="34" charset="-122"/>
                <a:cs typeface="Georgia" pitchFamily="34" charset="-120"/>
              </a:rPr>
              <a:t>placebo</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per 100,000 person-years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2920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Question"/>
          <p:cNvSpPr txBox="1"/>
          <p:nvPr/>
        </p:nvSpPr>
        <p:spPr>
          <a:xfrm>
            <a:off x="822960" y="562356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HBsAg positive: test anti-HDV once</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Typical values.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Typical values.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949440" cy="914400"/>
        </p:xfrm>
        <a:graphic>
          <a:graphicData uri="http://schemas.openxmlformats.org/drawingml/2006/table">
            <a:tbl>
              <a:tblPr/>
              <a:tblGrid>
                <a:gridCol w="2551176"/>
                <a:gridCol w="1618488"/>
                <a:gridCol w="2779776"/>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7680960" y="1188720"/>
            <a:ext cx="4206240" cy="42062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715000"/>
            <a:ext cx="7040880" cy="73152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AASLD: no, monitor every 3 to 6 months. EASL 2025 would consider treatment over 30</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182880" y="5806440"/>
            <a:ext cx="7223760" cy="54864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Over 40: treatment suggested. He chose to wait</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3" name="Chart 0" descr=""/>
          <p:cNvGraphicFramePr/>
          <p:nvPr/>
        </p:nvGraphicFramePr>
        <p:xfrm>
          <a:off x="457200" y="137160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371600"/>
          <a:ext cx="5486400" cy="4206240"/>
        </p:xfrm>
        <a:graphic xmlns:a="http://schemas.openxmlformats.org/drawingml/2006/main">
          <a:graphicData uri="http://schemas.openxmlformats.org/drawingml/2006/chart">
            <c:chart xmlns:c="http://schemas.openxmlformats.org/drawingml/2006/chart" r:id="rId2"/>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83864"/>
                <a:gridCol w="3191256"/>
              </a:tblGrid>
              <a:tr h="437896">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Test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Anti-HBe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8,000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48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190 ×10⁹/L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FIB-4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stiffness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eGFR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45 mL/min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6928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Treatment suggested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Check fibrosis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At 52 he chose to start treatment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11094415" cy="914400"/>
        </p:xfrm>
        <a:graphic>
          <a:graphicData uri="http://schemas.openxmlformats.org/drawingml/2006/table">
            <a:tbl>
              <a:tblPr/>
              <a:tblGrid>
                <a:gridCol w="1911096"/>
                <a:gridCol w="2807208"/>
                <a:gridCol w="2706624"/>
                <a:gridCol w="3666744"/>
              </a:tblGrid>
              <a:tr h="41148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Study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Outcome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Huang 2023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855, no advanced fibrosis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HCC, 5 to 15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TORCH-B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160, ALT 1 to 2 x ULN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Progression at 3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Lai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Meta-analysis, 103 studies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Grey zone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Treatment IRR 0.38 for HCC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ATTENTION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 interim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734, TAF vs observation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Events 2 vs 9, HR 0.21 (CI crosses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Hepatology 2023, PMID 37184202. Hsu YC, Lancet Infect Dis 2021, PMID 33524314. Lai JC, J Hepatol 2025, PMID 39577468. Lim YS, Lancet Gastroenterol Hepatol 2025, PMID 39914435.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11094415" cy="914400"/>
        </p:xfrm>
        <a:graphic>
          <a:graphicData uri="http://schemas.openxmlformats.org/drawingml/2006/table">
            <a:tbl>
              <a:tblPr/>
              <a:tblGrid>
                <a:gridCol w="1911096"/>
                <a:gridCol w="2807208"/>
                <a:gridCol w="2706624"/>
                <a:gridCol w="3666744"/>
              </a:tblGrid>
              <a:tr h="41148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Study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Outcome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Huang 2023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855, no advanced fibrosis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HCC, 5 to 15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TORCH-B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160, ALT 1 to 2 x ULN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Progression at 3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Lai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Meta-analysis, 103 studies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Grey zone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Treatment IRR 0.38 for HCC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ATTENTION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 interim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734, TAF vs observation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Events 2 vs 9, HR 0.21 (CI crosses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749040"/>
          <a:ext cx="6035040" cy="25603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749040"/>
          <a:ext cx="4937760" cy="256032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42900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Huang: cumulative HCC risk, %</a:t>
            </a:r>
            <a:endParaRPr lang="en-US" sz="1500" dirty="0"/>
          </a:p>
        </p:txBody>
      </p:sp>
      <p:sp>
        <p:nvSpPr>
          <p:cNvPr id="7" name="Text 2"/>
          <p:cNvSpPr txBox="1"/>
          <p:nvPr/>
        </p:nvSpPr>
        <p:spPr>
          <a:xfrm>
            <a:off x="6766560" y="342900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TORCH-B: 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Hepatology 2023, PMID 37184202. Hsu YC, Lancet Infect Dis 2021, PMID 33524314. Lai JC, J Hepatol 2025, PMID 39577468. Lim YS, Lancet Gastroenterol Hepatol 2025, PMID 39914435.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 (US)</a:t>
            </a:r>
            <a:endParaRPr lang="en-US" sz="3000" dirty="0"/>
          </a:p>
        </p:txBody>
      </p:sp>
      <p:sp>
        <p:nvSpPr>
          <p:cNvPr id="3" name="Text 1"/>
          <p:cNvSpPr/>
          <p:nvPr/>
        </p:nvSpPr>
        <p:spPr>
          <a:xfrm>
            <a:off x="4251960" y="1051560"/>
            <a:ext cx="36576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508760"/>
            <a:ext cx="0" cy="228600"/>
          </a:xfrm>
          <a:prstGeom prst="line">
            <a:avLst/>
          </a:prstGeom>
          <a:noFill/>
          <a:ln w="19050">
            <a:solidFill>
              <a:srgbClr val="595959"/>
            </a:solidFill>
            <a:prstDash val="solid"/>
            <a:tailEnd type="triangle"/>
          </a:ln>
        </p:spPr>
      </p:sp>
      <p:sp>
        <p:nvSpPr>
          <p:cNvPr id="5" name="Text 3"/>
          <p:cNvSpPr/>
          <p:nvPr/>
        </p:nvSpPr>
        <p:spPr>
          <a:xfrm>
            <a:off x="4480560" y="1737360"/>
            <a:ext cx="32004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1965960"/>
            <a:ext cx="1188720" cy="0"/>
          </a:xfrm>
          <a:prstGeom prst="line">
            <a:avLst/>
          </a:prstGeom>
          <a:noFill/>
          <a:ln w="19050">
            <a:solidFill>
              <a:srgbClr val="595959"/>
            </a:solidFill>
            <a:prstDash val="solid"/>
            <a:tailEnd type="triangle"/>
          </a:ln>
        </p:spPr>
      </p:sp>
      <p:sp>
        <p:nvSpPr>
          <p:cNvPr id="7" name="Text 5"/>
          <p:cNvSpPr txBox="1"/>
          <p:nvPr/>
        </p:nvSpPr>
        <p:spPr>
          <a:xfrm>
            <a:off x="7680960" y="1673352"/>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737360"/>
            <a:ext cx="2926080" cy="4572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a:t>
            </a:r>
            <a:endParaRPr lang="en-US" sz="1800" dirty="0"/>
          </a:p>
        </p:txBody>
      </p:sp>
      <p:sp>
        <p:nvSpPr>
          <p:cNvPr id="9" name="Shape 7"/>
          <p:cNvSpPr/>
          <p:nvPr/>
        </p:nvSpPr>
        <p:spPr>
          <a:xfrm>
            <a:off x="6080760" y="2194560"/>
            <a:ext cx="0" cy="182880"/>
          </a:xfrm>
          <a:prstGeom prst="line">
            <a:avLst/>
          </a:prstGeom>
          <a:noFill/>
          <a:ln w="19050">
            <a:solidFill>
              <a:srgbClr val="595959"/>
            </a:solidFill>
            <a:prstDash val="solid"/>
          </a:ln>
        </p:spPr>
      </p:sp>
      <p:sp>
        <p:nvSpPr>
          <p:cNvPr id="10" name="Shape 8"/>
          <p:cNvSpPr/>
          <p:nvPr/>
        </p:nvSpPr>
        <p:spPr>
          <a:xfrm>
            <a:off x="2194560" y="2377440"/>
            <a:ext cx="6126480" cy="0"/>
          </a:xfrm>
          <a:prstGeom prst="line">
            <a:avLst/>
          </a:prstGeom>
          <a:noFill/>
          <a:ln w="19050">
            <a:solidFill>
              <a:srgbClr val="595959"/>
            </a:solidFill>
            <a:prstDash val="solid"/>
          </a:ln>
        </p:spPr>
      </p:sp>
      <p:sp>
        <p:nvSpPr>
          <p:cNvPr id="11" name="Text 9"/>
          <p:cNvSpPr txBox="1"/>
          <p:nvPr/>
        </p:nvSpPr>
        <p:spPr>
          <a:xfrm>
            <a:off x="6172200" y="2130552"/>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377440"/>
            <a:ext cx="0" cy="182880"/>
          </a:xfrm>
          <a:prstGeom prst="line">
            <a:avLst/>
          </a:prstGeom>
          <a:noFill/>
          <a:ln w="19050">
            <a:solidFill>
              <a:srgbClr val="595959"/>
            </a:solidFill>
            <a:prstDash val="solid"/>
            <a:tailEnd type="triangle"/>
          </a:ln>
        </p:spPr>
      </p:sp>
      <p:sp>
        <p:nvSpPr>
          <p:cNvPr id="13" name="Shape 11"/>
          <p:cNvSpPr/>
          <p:nvPr/>
        </p:nvSpPr>
        <p:spPr>
          <a:xfrm>
            <a:off x="8321040" y="2377440"/>
            <a:ext cx="0" cy="182880"/>
          </a:xfrm>
          <a:prstGeom prst="line">
            <a:avLst/>
          </a:prstGeom>
          <a:noFill/>
          <a:ln w="19050">
            <a:solidFill>
              <a:srgbClr val="595959"/>
            </a:solidFill>
            <a:prstDash val="solid"/>
            <a:tailEnd type="triangle"/>
          </a:ln>
        </p:spPr>
      </p:sp>
      <p:sp>
        <p:nvSpPr>
          <p:cNvPr id="14" name="Text 12"/>
          <p:cNvSpPr/>
          <p:nvPr/>
        </p:nvSpPr>
        <p:spPr>
          <a:xfrm>
            <a:off x="45720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&gt;20,000 and ALT ≥2× ULN</a:t>
            </a:r>
            <a:endParaRPr lang="en-US" sz="1600" dirty="0"/>
          </a:p>
        </p:txBody>
      </p:sp>
      <p:sp>
        <p:nvSpPr>
          <p:cNvPr id="17" name="Shape 15"/>
          <p:cNvSpPr/>
          <p:nvPr/>
        </p:nvSpPr>
        <p:spPr>
          <a:xfrm>
            <a:off x="4114800" y="3538728"/>
            <a:ext cx="320040" cy="0"/>
          </a:xfrm>
          <a:prstGeom prst="line">
            <a:avLst/>
          </a:prstGeom>
          <a:noFill/>
          <a:ln w="19050">
            <a:solidFill>
              <a:srgbClr val="595959"/>
            </a:solidFill>
            <a:prstDash val="solid"/>
            <a:tailEnd type="triangle"/>
          </a:ln>
        </p:spPr>
      </p:sp>
      <p:sp>
        <p:nvSpPr>
          <p:cNvPr id="18" name="Text 16"/>
          <p:cNvSpPr/>
          <p:nvPr/>
        </p:nvSpPr>
        <p:spPr>
          <a:xfrm>
            <a:off x="4434840" y="3200400"/>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&gt;10⁷, normal ALT, age &gt;40 or ≥F2</a:t>
            </a:r>
            <a:endParaRPr lang="en-US" sz="1600" dirty="0"/>
          </a:p>
        </p:txBody>
      </p:sp>
      <p:sp>
        <p:nvSpPr>
          <p:cNvPr id="20" name="Shape 18"/>
          <p:cNvSpPr/>
          <p:nvPr/>
        </p:nvSpPr>
        <p:spPr>
          <a:xfrm>
            <a:off x="4114800" y="4297680"/>
            <a:ext cx="320040" cy="0"/>
          </a:xfrm>
          <a:prstGeom prst="line">
            <a:avLst/>
          </a:prstGeom>
          <a:noFill/>
          <a:ln w="19050">
            <a:solidFill>
              <a:srgbClr val="595959"/>
            </a:solidFill>
            <a:prstDash val="solid"/>
            <a:tailEnd type="triangle"/>
          </a:ln>
        </p:spPr>
      </p:sp>
      <p:sp>
        <p:nvSpPr>
          <p:cNvPr id="21" name="Text 19"/>
          <p:cNvSpPr/>
          <p:nvPr/>
        </p:nvSpPr>
        <p:spPr>
          <a:xfrm>
            <a:off x="4434840" y="3959352"/>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3" name="Shape 21"/>
          <p:cNvSpPr/>
          <p:nvPr/>
        </p:nvSpPr>
        <p:spPr>
          <a:xfrm>
            <a:off x="4114800" y="5056632"/>
            <a:ext cx="320040" cy="0"/>
          </a:xfrm>
          <a:prstGeom prst="line">
            <a:avLst/>
          </a:prstGeom>
          <a:noFill/>
          <a:ln w="19050">
            <a:solidFill>
              <a:srgbClr val="595959"/>
            </a:solidFill>
            <a:prstDash val="solid"/>
            <a:tailEnd type="triangle"/>
          </a:ln>
        </p:spPr>
      </p:sp>
      <p:sp>
        <p:nvSpPr>
          <p:cNvPr id="24" name="Text 22"/>
          <p:cNvSpPr/>
          <p:nvPr/>
        </p:nvSpPr>
        <p:spPr>
          <a:xfrm>
            <a:off x="4434840" y="4718304"/>
            <a:ext cx="169164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25" name="Text 23"/>
          <p:cNvSpPr/>
          <p:nvPr/>
        </p:nvSpPr>
        <p:spPr>
          <a:xfrm>
            <a:off x="274320" y="5477256"/>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&gt;10⁷, normal ALT, age ≤40, &lt;F2</a:t>
            </a:r>
            <a:endParaRPr lang="en-US" sz="1600" dirty="0"/>
          </a:p>
        </p:txBody>
      </p:sp>
      <p:sp>
        <p:nvSpPr>
          <p:cNvPr id="26" name="Shape 24"/>
          <p:cNvSpPr/>
          <p:nvPr/>
        </p:nvSpPr>
        <p:spPr>
          <a:xfrm>
            <a:off x="4114800" y="5815584"/>
            <a:ext cx="320040" cy="0"/>
          </a:xfrm>
          <a:prstGeom prst="line">
            <a:avLst/>
          </a:prstGeom>
          <a:noFill/>
          <a:ln w="19050">
            <a:solidFill>
              <a:srgbClr val="595959"/>
            </a:solidFill>
            <a:prstDash val="solid"/>
            <a:tailEnd type="triangle"/>
          </a:ln>
        </p:spPr>
      </p:sp>
      <p:sp>
        <p:nvSpPr>
          <p:cNvPr id="27" name="Text 25"/>
          <p:cNvSpPr/>
          <p:nvPr/>
        </p:nvSpPr>
        <p:spPr>
          <a:xfrm>
            <a:off x="4434840" y="5477256"/>
            <a:ext cx="169164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8" name="Text 26"/>
          <p:cNvSpPr/>
          <p:nvPr/>
        </p:nvSpPr>
        <p:spPr>
          <a:xfrm>
            <a:off x="640080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&gt;2,000 and ALT ≥2× ULN</a:t>
            </a:r>
            <a:endParaRPr lang="en-US" sz="1600" dirty="0"/>
          </a:p>
        </p:txBody>
      </p:sp>
      <p:sp>
        <p:nvSpPr>
          <p:cNvPr id="29" name="Shape 27"/>
          <p:cNvSpPr/>
          <p:nvPr/>
        </p:nvSpPr>
        <p:spPr>
          <a:xfrm>
            <a:off x="10241280" y="3538728"/>
            <a:ext cx="320040" cy="0"/>
          </a:xfrm>
          <a:prstGeom prst="line">
            <a:avLst/>
          </a:prstGeom>
          <a:noFill/>
          <a:ln w="19050">
            <a:solidFill>
              <a:srgbClr val="595959"/>
            </a:solidFill>
            <a:prstDash val="solid"/>
            <a:tailEnd type="triangle"/>
          </a:ln>
        </p:spPr>
      </p:sp>
      <p:sp>
        <p:nvSpPr>
          <p:cNvPr id="30" name="Text 28"/>
          <p:cNvSpPr/>
          <p:nvPr/>
        </p:nvSpPr>
        <p:spPr>
          <a:xfrm>
            <a:off x="10561320" y="3200400"/>
            <a:ext cx="137160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31" name="Text 29"/>
          <p:cNvSpPr/>
          <p:nvPr/>
        </p:nvSpPr>
        <p:spPr>
          <a:xfrm>
            <a:off x="640080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32" name="Shape 30"/>
          <p:cNvSpPr/>
          <p:nvPr/>
        </p:nvSpPr>
        <p:spPr>
          <a:xfrm>
            <a:off x="10241280" y="4297680"/>
            <a:ext cx="320040" cy="0"/>
          </a:xfrm>
          <a:prstGeom prst="line">
            <a:avLst/>
          </a:prstGeom>
          <a:noFill/>
          <a:ln w="19050">
            <a:solidFill>
              <a:srgbClr val="595959"/>
            </a:solidFill>
            <a:prstDash val="solid"/>
            <a:tailEnd type="triangle"/>
          </a:ln>
        </p:spPr>
      </p:sp>
      <p:sp>
        <p:nvSpPr>
          <p:cNvPr id="33" name="Text 31"/>
          <p:cNvSpPr/>
          <p:nvPr/>
        </p:nvSpPr>
        <p:spPr>
          <a:xfrm>
            <a:off x="10561320" y="3959352"/>
            <a:ext cx="137160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4" name="Text 32"/>
          <p:cNvSpPr/>
          <p:nvPr/>
        </p:nvSpPr>
        <p:spPr>
          <a:xfrm>
            <a:off x="640080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&lt;2,000, normal ALT</a:t>
            </a:r>
            <a:endParaRPr lang="en-US" sz="1600" dirty="0"/>
          </a:p>
        </p:txBody>
      </p:sp>
      <p:sp>
        <p:nvSpPr>
          <p:cNvPr id="35" name="Shape 33"/>
          <p:cNvSpPr/>
          <p:nvPr/>
        </p:nvSpPr>
        <p:spPr>
          <a:xfrm>
            <a:off x="10241280" y="5056632"/>
            <a:ext cx="320040" cy="0"/>
          </a:xfrm>
          <a:prstGeom prst="line">
            <a:avLst/>
          </a:prstGeom>
          <a:noFill/>
          <a:ln w="19050">
            <a:solidFill>
              <a:srgbClr val="595959"/>
            </a:solidFill>
            <a:prstDash val="solid"/>
            <a:tailEnd type="triangle"/>
          </a:ln>
        </p:spPr>
      </p:sp>
      <p:sp>
        <p:nvSpPr>
          <p:cNvPr id="36" name="Text 34"/>
          <p:cNvSpPr/>
          <p:nvPr/>
        </p:nvSpPr>
        <p:spPr>
          <a:xfrm>
            <a:off x="10561320" y="4718304"/>
            <a:ext cx="137160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DNA in IU/mL. ULN = upper limit of normal ALT: 35 men, 25 women.</a:t>
            </a:r>
            <a:endParaRPr lang="en-US" sz="1000" dirty="0"/>
          </a:p>
        </p:txBody>
      </p:sp>
      <p:sp>
        <p:nvSpPr>
          <p:cNvPr id="3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to choose an antiviral</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Same man, eGFR 45: which drug?</a:t>
            </a:r>
            <a:endParaRPr lang="en-US" sz="2400" dirty="0"/>
          </a:p>
        </p:txBody>
      </p:sp>
      <p:sp>
        <p:nvSpPr>
          <p:cNvPr id="4" name="Shape 2"/>
          <p:cNvSpPr/>
          <p:nvPr/>
        </p:nvSpPr>
        <p:spPr>
          <a:xfrm>
            <a:off x="502920" y="1691640"/>
            <a:ext cx="0" cy="3566160"/>
          </a:xfrm>
          <a:prstGeom prst="line">
            <a:avLst/>
          </a:prstGeom>
          <a:noFill/>
          <a:ln w="19050">
            <a:solidFill>
              <a:srgbClr val="595959"/>
            </a:solidFill>
            <a:prstDash val="solid"/>
          </a:ln>
        </p:spPr>
      </p:sp>
      <p:sp>
        <p:nvSpPr>
          <p:cNvPr id="5" name="Shape 3"/>
          <p:cNvSpPr/>
          <p:nvPr/>
        </p:nvSpPr>
        <p:spPr>
          <a:xfrm>
            <a:off x="502920" y="1965960"/>
            <a:ext cx="228600" cy="0"/>
          </a:xfrm>
          <a:prstGeom prst="line">
            <a:avLst/>
          </a:prstGeom>
          <a:noFill/>
          <a:ln w="19050">
            <a:solidFill>
              <a:srgbClr val="595959"/>
            </a:solidFill>
            <a:prstDash val="solid"/>
            <a:tailEnd type="triangle"/>
          </a:ln>
        </p:spPr>
      </p:sp>
      <p:sp>
        <p:nvSpPr>
          <p:cNvPr id="6" name="Text 4"/>
          <p:cNvSpPr/>
          <p:nvPr/>
        </p:nvSpPr>
        <p:spPr>
          <a:xfrm>
            <a:off x="731520" y="169164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Decompensated cirrhosis</a:t>
            </a:r>
            <a:endParaRPr lang="en-US" sz="1800" dirty="0"/>
          </a:p>
        </p:txBody>
      </p:sp>
      <p:sp>
        <p:nvSpPr>
          <p:cNvPr id="7" name="Shape 5"/>
          <p:cNvSpPr/>
          <p:nvPr/>
        </p:nvSpPr>
        <p:spPr>
          <a:xfrm>
            <a:off x="5577840" y="1965960"/>
            <a:ext cx="457200" cy="0"/>
          </a:xfrm>
          <a:prstGeom prst="line">
            <a:avLst/>
          </a:prstGeom>
          <a:noFill/>
          <a:ln w="19050">
            <a:solidFill>
              <a:srgbClr val="595959"/>
            </a:solidFill>
            <a:prstDash val="solid"/>
            <a:tailEnd type="triangle"/>
          </a:ln>
        </p:spPr>
      </p:sp>
      <p:sp>
        <p:nvSpPr>
          <p:cNvPr id="8" name="Text 6"/>
          <p:cNvSpPr/>
          <p:nvPr/>
        </p:nvSpPr>
        <p:spPr>
          <a:xfrm>
            <a:off x="6035040" y="16916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9" name="Shape 7"/>
          <p:cNvSpPr/>
          <p:nvPr/>
        </p:nvSpPr>
        <p:spPr>
          <a:xfrm>
            <a:off x="502920" y="2624328"/>
            <a:ext cx="228600" cy="0"/>
          </a:xfrm>
          <a:prstGeom prst="line">
            <a:avLst/>
          </a:prstGeom>
          <a:noFill/>
          <a:ln w="19050">
            <a:solidFill>
              <a:srgbClr val="595959"/>
            </a:solidFill>
            <a:prstDash val="solid"/>
            <a:tailEnd type="triangle"/>
          </a:ln>
        </p:spPr>
      </p:sp>
      <p:sp>
        <p:nvSpPr>
          <p:cNvPr id="10" name="Text 8"/>
          <p:cNvSpPr/>
          <p:nvPr/>
        </p:nvSpPr>
        <p:spPr>
          <a:xfrm>
            <a:off x="731520" y="2350008"/>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HIV</a:t>
            </a:r>
            <a:endParaRPr lang="en-US" sz="1800" dirty="0"/>
          </a:p>
        </p:txBody>
      </p:sp>
      <p:sp>
        <p:nvSpPr>
          <p:cNvPr id="11" name="Shape 9"/>
          <p:cNvSpPr/>
          <p:nvPr/>
        </p:nvSpPr>
        <p:spPr>
          <a:xfrm>
            <a:off x="5577840" y="2624328"/>
            <a:ext cx="457200" cy="0"/>
          </a:xfrm>
          <a:prstGeom prst="line">
            <a:avLst/>
          </a:prstGeom>
          <a:noFill/>
          <a:ln w="19050">
            <a:solidFill>
              <a:srgbClr val="595959"/>
            </a:solidFill>
            <a:prstDash val="solid"/>
            <a:tailEnd type="triangle"/>
          </a:ln>
        </p:spPr>
      </p:sp>
      <p:sp>
        <p:nvSpPr>
          <p:cNvPr id="12" name="Text 10"/>
          <p:cNvSpPr/>
          <p:nvPr/>
        </p:nvSpPr>
        <p:spPr>
          <a:xfrm>
            <a:off x="6035040" y="2350008"/>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13" name="Shape 11"/>
          <p:cNvSpPr/>
          <p:nvPr/>
        </p:nvSpPr>
        <p:spPr>
          <a:xfrm>
            <a:off x="502920" y="3282696"/>
            <a:ext cx="228600" cy="0"/>
          </a:xfrm>
          <a:prstGeom prst="line">
            <a:avLst/>
          </a:prstGeom>
          <a:noFill/>
          <a:ln w="19050">
            <a:solidFill>
              <a:srgbClr val="595959"/>
            </a:solidFill>
            <a:prstDash val="solid"/>
            <a:tailEnd type="triangle"/>
          </a:ln>
        </p:spPr>
      </p:sp>
      <p:sp>
        <p:nvSpPr>
          <p:cNvPr id="14" name="Text 12"/>
          <p:cNvSpPr/>
          <p:nvPr/>
        </p:nvSpPr>
        <p:spPr>
          <a:xfrm>
            <a:off x="731520" y="3008376"/>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Prior lamivudine resistance</a:t>
            </a:r>
            <a:endParaRPr lang="en-US" sz="1800" dirty="0"/>
          </a:p>
        </p:txBody>
      </p:sp>
      <p:sp>
        <p:nvSpPr>
          <p:cNvPr id="15" name="Shape 13"/>
          <p:cNvSpPr/>
          <p:nvPr/>
        </p:nvSpPr>
        <p:spPr>
          <a:xfrm>
            <a:off x="5577840" y="3282696"/>
            <a:ext cx="457200" cy="0"/>
          </a:xfrm>
          <a:prstGeom prst="line">
            <a:avLst/>
          </a:prstGeom>
          <a:noFill/>
          <a:ln w="19050">
            <a:solidFill>
              <a:srgbClr val="595959"/>
            </a:solidFill>
            <a:prstDash val="solid"/>
            <a:tailEnd type="triangle"/>
          </a:ln>
        </p:spPr>
      </p:sp>
      <p:sp>
        <p:nvSpPr>
          <p:cNvPr id="16" name="Text 14"/>
          <p:cNvSpPr/>
          <p:nvPr/>
        </p:nvSpPr>
        <p:spPr>
          <a:xfrm>
            <a:off x="6035040" y="3008376"/>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17" name="Shape 15"/>
          <p:cNvSpPr/>
          <p:nvPr/>
        </p:nvSpPr>
        <p:spPr>
          <a:xfrm>
            <a:off x="502920" y="3941064"/>
            <a:ext cx="228600" cy="0"/>
          </a:xfrm>
          <a:prstGeom prst="line">
            <a:avLst/>
          </a:prstGeom>
          <a:noFill/>
          <a:ln w="19050">
            <a:solidFill>
              <a:srgbClr val="595959"/>
            </a:solidFill>
            <a:prstDash val="solid"/>
            <a:tailEnd type="triangle"/>
          </a:ln>
        </p:spPr>
      </p:sp>
      <p:sp>
        <p:nvSpPr>
          <p:cNvPr id="18" name="Text 16"/>
          <p:cNvSpPr/>
          <p:nvPr/>
        </p:nvSpPr>
        <p:spPr>
          <a:xfrm>
            <a:off x="731520" y="3666744"/>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Kidney or bone disease, or at risk</a:t>
            </a:r>
            <a:endParaRPr lang="en-US" sz="1800" dirty="0"/>
          </a:p>
        </p:txBody>
      </p:sp>
      <p:sp>
        <p:nvSpPr>
          <p:cNvPr id="19" name="Shape 17"/>
          <p:cNvSpPr/>
          <p:nvPr/>
        </p:nvSpPr>
        <p:spPr>
          <a:xfrm>
            <a:off x="5577840" y="3941064"/>
            <a:ext cx="457200" cy="0"/>
          </a:xfrm>
          <a:prstGeom prst="line">
            <a:avLst/>
          </a:prstGeom>
          <a:noFill/>
          <a:ln w="19050">
            <a:solidFill>
              <a:srgbClr val="595959"/>
            </a:solidFill>
            <a:prstDash val="solid"/>
            <a:tailEnd type="triangle"/>
          </a:ln>
        </p:spPr>
      </p:sp>
      <p:sp>
        <p:nvSpPr>
          <p:cNvPr id="20" name="Text 18"/>
          <p:cNvSpPr/>
          <p:nvPr/>
        </p:nvSpPr>
        <p:spPr>
          <a:xfrm>
            <a:off x="6035040" y="3666744"/>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21" name="Shape 19"/>
          <p:cNvSpPr/>
          <p:nvPr/>
        </p:nvSpPr>
        <p:spPr>
          <a:xfrm>
            <a:off x="502920" y="4599432"/>
            <a:ext cx="228600" cy="0"/>
          </a:xfrm>
          <a:prstGeom prst="line">
            <a:avLst/>
          </a:prstGeom>
          <a:noFill/>
          <a:ln w="19050">
            <a:solidFill>
              <a:srgbClr val="595959"/>
            </a:solidFill>
            <a:prstDash val="solid"/>
            <a:tailEnd type="triangle"/>
          </a:ln>
        </p:spPr>
      </p:sp>
      <p:sp>
        <p:nvSpPr>
          <p:cNvPr id="22" name="Text 20"/>
          <p:cNvSpPr/>
          <p:nvPr/>
        </p:nvSpPr>
        <p:spPr>
          <a:xfrm>
            <a:off x="731520" y="4325112"/>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Pregnancy</a:t>
            </a:r>
            <a:endParaRPr lang="en-US" sz="1800" dirty="0"/>
          </a:p>
        </p:txBody>
      </p:sp>
      <p:sp>
        <p:nvSpPr>
          <p:cNvPr id="23" name="Shape 21"/>
          <p:cNvSpPr/>
          <p:nvPr/>
        </p:nvSpPr>
        <p:spPr>
          <a:xfrm>
            <a:off x="5577840" y="4599432"/>
            <a:ext cx="457200" cy="0"/>
          </a:xfrm>
          <a:prstGeom prst="line">
            <a:avLst/>
          </a:prstGeom>
          <a:noFill/>
          <a:ln w="19050">
            <a:solidFill>
              <a:srgbClr val="595959"/>
            </a:solidFill>
            <a:prstDash val="solid"/>
            <a:tailEnd type="triangle"/>
          </a:ln>
        </p:spPr>
      </p:sp>
      <p:sp>
        <p:nvSpPr>
          <p:cNvPr id="24" name="Text 22"/>
          <p:cNvSpPr/>
          <p:nvPr/>
        </p:nvSpPr>
        <p:spPr>
          <a:xfrm>
            <a:off x="6035040" y="4325112"/>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25" name="Shape 23"/>
          <p:cNvSpPr/>
          <p:nvPr/>
        </p:nvSpPr>
        <p:spPr>
          <a:xfrm>
            <a:off x="502920" y="5257800"/>
            <a:ext cx="228600" cy="0"/>
          </a:xfrm>
          <a:prstGeom prst="line">
            <a:avLst/>
          </a:prstGeom>
          <a:noFill/>
          <a:ln w="19050">
            <a:solidFill>
              <a:srgbClr val="595959"/>
            </a:solidFill>
            <a:prstDash val="solid"/>
            <a:tailEnd type="triangle"/>
          </a:ln>
        </p:spPr>
      </p:sp>
      <p:sp>
        <p:nvSpPr>
          <p:cNvPr id="26" name="Text 24"/>
          <p:cNvSpPr/>
          <p:nvPr/>
        </p:nvSpPr>
        <p:spPr>
          <a:xfrm>
            <a:off x="731520" y="498348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None of these</a:t>
            </a:r>
            <a:endParaRPr lang="en-US" sz="1800" dirty="0"/>
          </a:p>
        </p:txBody>
      </p:sp>
      <p:sp>
        <p:nvSpPr>
          <p:cNvPr id="27" name="Shape 25"/>
          <p:cNvSpPr/>
          <p:nvPr/>
        </p:nvSpPr>
        <p:spPr>
          <a:xfrm>
            <a:off x="5577840" y="5257800"/>
            <a:ext cx="457200" cy="0"/>
          </a:xfrm>
          <a:prstGeom prst="line">
            <a:avLst/>
          </a:prstGeom>
          <a:noFill/>
          <a:ln w="19050">
            <a:solidFill>
              <a:srgbClr val="595959"/>
            </a:solidFill>
            <a:prstDash val="solid"/>
            <a:tailEnd type="triangle"/>
          </a:ln>
        </p:spPr>
      </p:sp>
      <p:sp>
        <p:nvSpPr>
          <p:cNvPr id="28" name="Text 26"/>
          <p:cNvSpPr/>
          <p:nvPr/>
        </p:nvSpPr>
        <p:spPr>
          <a:xfrm>
            <a:off x="6035040" y="498348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endParaRPr lang="en-US" sz="1800" dirty="0"/>
          </a:p>
        </p:txBody>
      </p:sp>
      <p:sp>
        <p:nvSpPr>
          <p:cNvPr id="29" name="Text 27"/>
          <p:cNvSpPr txBox="1"/>
          <p:nvPr/>
        </p:nvSpPr>
        <p:spPr>
          <a:xfrm>
            <a:off x="731520" y="5715000"/>
            <a:ext cx="10972800" cy="411480"/>
          </a:xfrm>
          <a:prstGeom prst="rect">
            <a:avLst/>
          </a:prstGeom>
          <a:noFill/>
          <a:ln/>
        </p:spPr>
        <p:txBody>
          <a:bodyPr wrap="square" lIns="0" tIns="0" rIns="0" bIns="0" rtlCol="0" anchor="ctr"/>
          <a:lstStyle/>
          <a:p>
            <a:pPr algn="ctr" indent="0" marL="0">
              <a:buNone/>
            </a:pPr>
            <a:r>
              <a:rPr lang="en-US" sz="1700" i="1" dirty="0">
                <a:solidFill>
                  <a:srgbClr val="000000"/>
                </a:solidFill>
                <a:latin typeface="Georgia" pitchFamily="34" charset="0"/>
                <a:ea typeface="Georgia" pitchFamily="34" charset="-122"/>
                <a:cs typeface="Georgia" pitchFamily="34" charset="-120"/>
              </a:rPr>
              <a:t>Wants a finite course and has compensated disease: pegylated interferon, in selected patients</a:t>
            </a:r>
            <a:endParaRPr lang="en-US" sz="1700" dirty="0"/>
          </a:p>
        </p:txBody>
      </p:sp>
      <p:sp>
        <p:nvSpPr>
          <p:cNvPr id="3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 Renal doses: appendix.</a:t>
            </a:r>
            <a:endParaRPr lang="en-US" sz="1000" dirty="0"/>
          </a:p>
        </p:txBody>
      </p:sp>
      <p:sp>
        <p:nvSpPr>
          <p:cNvPr id="3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to choose an antiviral</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Same man, eGFR 45: which drug?</a:t>
            </a:r>
            <a:endParaRPr lang="en-US" sz="2400" dirty="0"/>
          </a:p>
        </p:txBody>
      </p:sp>
      <p:sp>
        <p:nvSpPr>
          <p:cNvPr id="4" name="Shape 2"/>
          <p:cNvSpPr/>
          <p:nvPr/>
        </p:nvSpPr>
        <p:spPr>
          <a:xfrm>
            <a:off x="502920" y="1691640"/>
            <a:ext cx="0" cy="3566160"/>
          </a:xfrm>
          <a:prstGeom prst="line">
            <a:avLst/>
          </a:prstGeom>
          <a:noFill/>
          <a:ln w="19050">
            <a:solidFill>
              <a:srgbClr val="595959"/>
            </a:solidFill>
            <a:prstDash val="solid"/>
          </a:ln>
        </p:spPr>
      </p:sp>
      <p:sp>
        <p:nvSpPr>
          <p:cNvPr id="5" name="Shape 3"/>
          <p:cNvSpPr/>
          <p:nvPr/>
        </p:nvSpPr>
        <p:spPr>
          <a:xfrm>
            <a:off x="502920" y="1965960"/>
            <a:ext cx="228600" cy="0"/>
          </a:xfrm>
          <a:prstGeom prst="line">
            <a:avLst/>
          </a:prstGeom>
          <a:noFill/>
          <a:ln w="19050">
            <a:solidFill>
              <a:srgbClr val="595959"/>
            </a:solidFill>
            <a:prstDash val="solid"/>
            <a:tailEnd type="triangle"/>
          </a:ln>
        </p:spPr>
      </p:sp>
      <p:sp>
        <p:nvSpPr>
          <p:cNvPr id="6" name="Text 4"/>
          <p:cNvSpPr/>
          <p:nvPr/>
        </p:nvSpPr>
        <p:spPr>
          <a:xfrm>
            <a:off x="731520" y="169164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Decompensated cirrhosis</a:t>
            </a:r>
            <a:endParaRPr lang="en-US" sz="1800" dirty="0"/>
          </a:p>
        </p:txBody>
      </p:sp>
      <p:sp>
        <p:nvSpPr>
          <p:cNvPr id="7" name="Shape 5"/>
          <p:cNvSpPr/>
          <p:nvPr/>
        </p:nvSpPr>
        <p:spPr>
          <a:xfrm>
            <a:off x="5577840" y="1965960"/>
            <a:ext cx="457200" cy="0"/>
          </a:xfrm>
          <a:prstGeom prst="line">
            <a:avLst/>
          </a:prstGeom>
          <a:noFill/>
          <a:ln w="19050">
            <a:solidFill>
              <a:srgbClr val="595959"/>
            </a:solidFill>
            <a:prstDash val="solid"/>
            <a:tailEnd type="triangle"/>
          </a:ln>
        </p:spPr>
      </p:sp>
      <p:sp>
        <p:nvSpPr>
          <p:cNvPr id="8" name="Text 6"/>
          <p:cNvSpPr/>
          <p:nvPr/>
        </p:nvSpPr>
        <p:spPr>
          <a:xfrm>
            <a:off x="6035040" y="16916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Entecavir 1 mg or TDF (no TAF)</a:t>
            </a:r>
            <a:endParaRPr lang="en-US" sz="1800" dirty="0"/>
          </a:p>
        </p:txBody>
      </p:sp>
      <p:sp>
        <p:nvSpPr>
          <p:cNvPr id="9" name="Shape 7"/>
          <p:cNvSpPr/>
          <p:nvPr/>
        </p:nvSpPr>
        <p:spPr>
          <a:xfrm>
            <a:off x="502920" y="2624328"/>
            <a:ext cx="228600" cy="0"/>
          </a:xfrm>
          <a:prstGeom prst="line">
            <a:avLst/>
          </a:prstGeom>
          <a:noFill/>
          <a:ln w="19050">
            <a:solidFill>
              <a:srgbClr val="595959"/>
            </a:solidFill>
            <a:prstDash val="solid"/>
            <a:tailEnd type="triangle"/>
          </a:ln>
        </p:spPr>
      </p:sp>
      <p:sp>
        <p:nvSpPr>
          <p:cNvPr id="10" name="Text 8"/>
          <p:cNvSpPr/>
          <p:nvPr/>
        </p:nvSpPr>
        <p:spPr>
          <a:xfrm>
            <a:off x="731520" y="2350008"/>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HIV</a:t>
            </a:r>
            <a:endParaRPr lang="en-US" sz="1800" dirty="0"/>
          </a:p>
        </p:txBody>
      </p:sp>
      <p:sp>
        <p:nvSpPr>
          <p:cNvPr id="11" name="Shape 9"/>
          <p:cNvSpPr/>
          <p:nvPr/>
        </p:nvSpPr>
        <p:spPr>
          <a:xfrm>
            <a:off x="5577840" y="2624328"/>
            <a:ext cx="457200" cy="0"/>
          </a:xfrm>
          <a:prstGeom prst="line">
            <a:avLst/>
          </a:prstGeom>
          <a:noFill/>
          <a:ln w="19050">
            <a:solidFill>
              <a:srgbClr val="595959"/>
            </a:solidFill>
            <a:prstDash val="solid"/>
            <a:tailEnd type="triangle"/>
          </a:ln>
        </p:spPr>
      </p:sp>
      <p:sp>
        <p:nvSpPr>
          <p:cNvPr id="12" name="Text 10"/>
          <p:cNvSpPr/>
          <p:nvPr/>
        </p:nvSpPr>
        <p:spPr>
          <a:xfrm>
            <a:off x="6035040" y="2350008"/>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TDF or TAF as part of ART</a:t>
            </a:r>
            <a:endParaRPr lang="en-US" sz="1800" dirty="0"/>
          </a:p>
        </p:txBody>
      </p:sp>
      <p:sp>
        <p:nvSpPr>
          <p:cNvPr id="13" name="Shape 11"/>
          <p:cNvSpPr/>
          <p:nvPr/>
        </p:nvSpPr>
        <p:spPr>
          <a:xfrm>
            <a:off x="502920" y="3282696"/>
            <a:ext cx="228600" cy="0"/>
          </a:xfrm>
          <a:prstGeom prst="line">
            <a:avLst/>
          </a:prstGeom>
          <a:noFill/>
          <a:ln w="19050">
            <a:solidFill>
              <a:srgbClr val="595959"/>
            </a:solidFill>
            <a:prstDash val="solid"/>
            <a:tailEnd type="triangle"/>
          </a:ln>
        </p:spPr>
      </p:sp>
      <p:sp>
        <p:nvSpPr>
          <p:cNvPr id="14" name="Text 12"/>
          <p:cNvSpPr/>
          <p:nvPr/>
        </p:nvSpPr>
        <p:spPr>
          <a:xfrm>
            <a:off x="731520" y="3008376"/>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Prior lamivudine resistance</a:t>
            </a:r>
            <a:endParaRPr lang="en-US" sz="1800" dirty="0"/>
          </a:p>
        </p:txBody>
      </p:sp>
      <p:sp>
        <p:nvSpPr>
          <p:cNvPr id="15" name="Shape 13"/>
          <p:cNvSpPr/>
          <p:nvPr/>
        </p:nvSpPr>
        <p:spPr>
          <a:xfrm>
            <a:off x="5577840" y="3282696"/>
            <a:ext cx="457200" cy="0"/>
          </a:xfrm>
          <a:prstGeom prst="line">
            <a:avLst/>
          </a:prstGeom>
          <a:noFill/>
          <a:ln w="19050">
            <a:solidFill>
              <a:srgbClr val="595959"/>
            </a:solidFill>
            <a:prstDash val="solid"/>
            <a:tailEnd type="triangle"/>
          </a:ln>
        </p:spPr>
      </p:sp>
      <p:sp>
        <p:nvSpPr>
          <p:cNvPr id="16" name="Text 14"/>
          <p:cNvSpPr/>
          <p:nvPr/>
        </p:nvSpPr>
        <p:spPr>
          <a:xfrm>
            <a:off x="6035040" y="3008376"/>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TDF or TAF (not entecavir)</a:t>
            </a:r>
            <a:endParaRPr lang="en-US" sz="1800" dirty="0"/>
          </a:p>
        </p:txBody>
      </p:sp>
      <p:sp>
        <p:nvSpPr>
          <p:cNvPr id="17" name="Shape 15"/>
          <p:cNvSpPr/>
          <p:nvPr/>
        </p:nvSpPr>
        <p:spPr>
          <a:xfrm>
            <a:off x="502920" y="3941064"/>
            <a:ext cx="228600" cy="0"/>
          </a:xfrm>
          <a:prstGeom prst="line">
            <a:avLst/>
          </a:prstGeom>
          <a:noFill/>
          <a:ln w="19050">
            <a:solidFill>
              <a:srgbClr val="595959"/>
            </a:solidFill>
            <a:prstDash val="solid"/>
            <a:tailEnd type="triangle"/>
          </a:ln>
        </p:spPr>
      </p:sp>
      <p:sp>
        <p:nvSpPr>
          <p:cNvPr id="18" name="Text 16"/>
          <p:cNvSpPr/>
          <p:nvPr/>
        </p:nvSpPr>
        <p:spPr>
          <a:xfrm>
            <a:off x="731520" y="3666744"/>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Kidney or bone disease, or at risk</a:t>
            </a:r>
            <a:endParaRPr lang="en-US" sz="1800" dirty="0"/>
          </a:p>
        </p:txBody>
      </p:sp>
      <p:sp>
        <p:nvSpPr>
          <p:cNvPr id="19" name="Shape 17"/>
          <p:cNvSpPr/>
          <p:nvPr/>
        </p:nvSpPr>
        <p:spPr>
          <a:xfrm>
            <a:off x="5577840" y="3941064"/>
            <a:ext cx="457200" cy="0"/>
          </a:xfrm>
          <a:prstGeom prst="line">
            <a:avLst/>
          </a:prstGeom>
          <a:noFill/>
          <a:ln w="19050">
            <a:solidFill>
              <a:srgbClr val="595959"/>
            </a:solidFill>
            <a:prstDash val="solid"/>
            <a:tailEnd type="triangle"/>
          </a:ln>
        </p:spPr>
      </p:sp>
      <p:sp>
        <p:nvSpPr>
          <p:cNvPr id="20" name="Text 18"/>
          <p:cNvSpPr/>
          <p:nvPr/>
        </p:nvSpPr>
        <p:spPr>
          <a:xfrm>
            <a:off x="6035040" y="3666744"/>
            <a:ext cx="5669280" cy="5486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TAF, or entecavir dose-adjusted</a:t>
            </a:r>
            <a:endParaRPr lang="en-US" sz="1800" dirty="0"/>
          </a:p>
        </p:txBody>
      </p:sp>
      <p:sp>
        <p:nvSpPr>
          <p:cNvPr id="21" name="Shape 19"/>
          <p:cNvSpPr/>
          <p:nvPr/>
        </p:nvSpPr>
        <p:spPr>
          <a:xfrm>
            <a:off x="502920" y="4599432"/>
            <a:ext cx="228600" cy="0"/>
          </a:xfrm>
          <a:prstGeom prst="line">
            <a:avLst/>
          </a:prstGeom>
          <a:noFill/>
          <a:ln w="19050">
            <a:solidFill>
              <a:srgbClr val="595959"/>
            </a:solidFill>
            <a:prstDash val="solid"/>
            <a:tailEnd type="triangle"/>
          </a:ln>
        </p:spPr>
      </p:sp>
      <p:sp>
        <p:nvSpPr>
          <p:cNvPr id="22" name="Text 20"/>
          <p:cNvSpPr/>
          <p:nvPr/>
        </p:nvSpPr>
        <p:spPr>
          <a:xfrm>
            <a:off x="731520" y="4325112"/>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Pregnancy</a:t>
            </a:r>
            <a:endParaRPr lang="en-US" sz="1800" dirty="0"/>
          </a:p>
        </p:txBody>
      </p:sp>
      <p:sp>
        <p:nvSpPr>
          <p:cNvPr id="23" name="Shape 21"/>
          <p:cNvSpPr/>
          <p:nvPr/>
        </p:nvSpPr>
        <p:spPr>
          <a:xfrm>
            <a:off x="5577840" y="4599432"/>
            <a:ext cx="457200" cy="0"/>
          </a:xfrm>
          <a:prstGeom prst="line">
            <a:avLst/>
          </a:prstGeom>
          <a:noFill/>
          <a:ln w="19050">
            <a:solidFill>
              <a:srgbClr val="595959"/>
            </a:solidFill>
            <a:prstDash val="solid"/>
            <a:tailEnd type="triangle"/>
          </a:ln>
        </p:spPr>
      </p:sp>
      <p:sp>
        <p:nvSpPr>
          <p:cNvPr id="24" name="Text 22"/>
          <p:cNvSpPr/>
          <p:nvPr/>
        </p:nvSpPr>
        <p:spPr>
          <a:xfrm>
            <a:off x="6035040" y="4325112"/>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TDF or TAF</a:t>
            </a:r>
            <a:endParaRPr lang="en-US" sz="1800" dirty="0"/>
          </a:p>
        </p:txBody>
      </p:sp>
      <p:sp>
        <p:nvSpPr>
          <p:cNvPr id="25" name="Shape 23"/>
          <p:cNvSpPr/>
          <p:nvPr/>
        </p:nvSpPr>
        <p:spPr>
          <a:xfrm>
            <a:off x="502920" y="5257800"/>
            <a:ext cx="228600" cy="0"/>
          </a:xfrm>
          <a:prstGeom prst="line">
            <a:avLst/>
          </a:prstGeom>
          <a:noFill/>
          <a:ln w="19050">
            <a:solidFill>
              <a:srgbClr val="595959"/>
            </a:solidFill>
            <a:prstDash val="solid"/>
            <a:tailEnd type="triangle"/>
          </a:ln>
        </p:spPr>
      </p:sp>
      <p:sp>
        <p:nvSpPr>
          <p:cNvPr id="26" name="Text 24"/>
          <p:cNvSpPr/>
          <p:nvPr/>
        </p:nvSpPr>
        <p:spPr>
          <a:xfrm>
            <a:off x="731520" y="4983480"/>
            <a:ext cx="48463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None of these</a:t>
            </a:r>
            <a:endParaRPr lang="en-US" sz="1800" dirty="0"/>
          </a:p>
        </p:txBody>
      </p:sp>
      <p:sp>
        <p:nvSpPr>
          <p:cNvPr id="27" name="Shape 25"/>
          <p:cNvSpPr/>
          <p:nvPr/>
        </p:nvSpPr>
        <p:spPr>
          <a:xfrm>
            <a:off x="5577840" y="5257800"/>
            <a:ext cx="457200" cy="0"/>
          </a:xfrm>
          <a:prstGeom prst="line">
            <a:avLst/>
          </a:prstGeom>
          <a:noFill/>
          <a:ln w="19050">
            <a:solidFill>
              <a:srgbClr val="595959"/>
            </a:solidFill>
            <a:prstDash val="solid"/>
            <a:tailEnd type="triangle"/>
          </a:ln>
        </p:spPr>
      </p:sp>
      <p:sp>
        <p:nvSpPr>
          <p:cNvPr id="28" name="Text 26"/>
          <p:cNvSpPr/>
          <p:nvPr/>
        </p:nvSpPr>
        <p:spPr>
          <a:xfrm>
            <a:off x="6035040" y="498348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Entecavir, TDF or TAF</a:t>
            </a:r>
            <a:endParaRPr lang="en-US" sz="1800" dirty="0"/>
          </a:p>
        </p:txBody>
      </p:sp>
      <p:sp>
        <p:nvSpPr>
          <p:cNvPr id="29" name="Text 27"/>
          <p:cNvSpPr txBox="1"/>
          <p:nvPr/>
        </p:nvSpPr>
        <p:spPr>
          <a:xfrm>
            <a:off x="731520" y="5715000"/>
            <a:ext cx="10972800" cy="411480"/>
          </a:xfrm>
          <a:prstGeom prst="rect">
            <a:avLst/>
          </a:prstGeom>
          <a:noFill/>
          <a:ln/>
        </p:spPr>
        <p:txBody>
          <a:bodyPr wrap="square" lIns="0" tIns="0" rIns="0" bIns="0" rtlCol="0" anchor="ctr"/>
          <a:lstStyle/>
          <a:p>
            <a:pPr algn="ctr" indent="0" marL="0">
              <a:buNone/>
            </a:pPr>
            <a:r>
              <a:rPr lang="en-US" sz="1700" i="1" dirty="0">
                <a:solidFill>
                  <a:srgbClr val="000000"/>
                </a:solidFill>
                <a:latin typeface="Georgia" pitchFamily="34" charset="0"/>
                <a:ea typeface="Georgia" pitchFamily="34" charset="-122"/>
                <a:cs typeface="Georgia" pitchFamily="34" charset="-120"/>
              </a:rPr>
              <a:t>Wants a finite course and has compensated disease: pegylated interferon, in selected patients</a:t>
            </a:r>
            <a:endParaRPr lang="en-US" sz="1700" dirty="0"/>
          </a:p>
        </p:txBody>
      </p:sp>
      <p:sp>
        <p:nvSpPr>
          <p:cNvPr id="3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 Renal doses: appendix.</a:t>
            </a:r>
            <a:endParaRPr lang="en-US" sz="1000" dirty="0"/>
          </a:p>
        </p:txBody>
      </p:sp>
      <p:sp>
        <p:nvSpPr>
          <p:cNvPr id="3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280160"/>
          <a:ext cx="5120640" cy="914400"/>
        </p:xfrm>
        <a:graphic>
          <a:graphicData uri="http://schemas.openxmlformats.org/drawingml/2006/table">
            <a:tbl>
              <a:tblPr/>
              <a:tblGrid>
                <a:gridCol w="3511296"/>
                <a:gridCol w="804672"/>
                <a:gridCol w="804672"/>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HBV DNA below 29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TDF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HBeAg-positive (Chan)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HBeAg-negative (Buti)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280160"/>
          <a:ext cx="5120640" cy="914400"/>
        </p:xfrm>
        <a:graphic>
          <a:graphicData uri="http://schemas.openxmlformats.org/drawingml/2006/table">
            <a:tbl>
              <a:tblPr/>
              <a:tblGrid>
                <a:gridCol w="3511296"/>
                <a:gridCol w="804672"/>
                <a:gridCol w="804672"/>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HBV DNA below 29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TDF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HBeAg-positive (Chan)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HBeAg-negative (Buti)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sp>
        <p:nvSpPr>
          <p:cNvPr id="3" name="Shape 1"/>
          <p:cNvSpPr/>
          <p:nvPr/>
        </p:nvSpPr>
        <p:spPr>
          <a:xfrm>
            <a:off x="6675120" y="1371600"/>
            <a:ext cx="0" cy="2377440"/>
          </a:xfrm>
          <a:prstGeom prst="line">
            <a:avLst/>
          </a:prstGeom>
          <a:noFill/>
          <a:ln w="12700">
            <a:solidFill>
              <a:srgbClr val="7F7F7F"/>
            </a:solidFill>
            <a:prstDash val="dash"/>
          </a:ln>
        </p:spPr>
      </p:sp>
      <p:sp>
        <p:nvSpPr>
          <p:cNvPr id="4" name="Shape 2"/>
          <p:cNvSpPr/>
          <p:nvPr/>
        </p:nvSpPr>
        <p:spPr>
          <a:xfrm>
            <a:off x="4389120" y="3749040"/>
            <a:ext cx="5029200" cy="0"/>
          </a:xfrm>
          <a:prstGeom prst="line">
            <a:avLst/>
          </a:prstGeom>
          <a:noFill/>
          <a:ln w="12700">
            <a:solidFill>
              <a:srgbClr val="595959"/>
            </a:solidFill>
            <a:prstDash val="solid"/>
          </a:ln>
        </p:spPr>
      </p:sp>
      <p:sp>
        <p:nvSpPr>
          <p:cNvPr id="5" name="Text 3"/>
          <p:cNvSpPr txBox="1"/>
          <p:nvPr/>
        </p:nvSpPr>
        <p:spPr>
          <a:xfrm>
            <a:off x="4023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0.5</a:t>
            </a:r>
            <a:endParaRPr lang="en-US" sz="1400" dirty="0"/>
          </a:p>
        </p:txBody>
      </p:sp>
      <p:sp>
        <p:nvSpPr>
          <p:cNvPr id="6" name="Text 4"/>
          <p:cNvSpPr txBox="1"/>
          <p:nvPr/>
        </p:nvSpPr>
        <p:spPr>
          <a:xfrm>
            <a:off x="5166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0.75</a:t>
            </a:r>
            <a:endParaRPr lang="en-US" sz="1400" dirty="0"/>
          </a:p>
        </p:txBody>
      </p:sp>
      <p:sp>
        <p:nvSpPr>
          <p:cNvPr id="7" name="Text 5"/>
          <p:cNvSpPr txBox="1"/>
          <p:nvPr/>
        </p:nvSpPr>
        <p:spPr>
          <a:xfrm>
            <a:off x="6309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452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1.25</a:t>
            </a:r>
            <a:endParaRPr lang="en-US" sz="1400" dirty="0"/>
          </a:p>
        </p:txBody>
      </p:sp>
      <p:sp>
        <p:nvSpPr>
          <p:cNvPr id="9" name="Text 7"/>
          <p:cNvSpPr txBox="1"/>
          <p:nvPr/>
        </p:nvSpPr>
        <p:spPr>
          <a:xfrm>
            <a:off x="8595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1.5</a:t>
            </a:r>
            <a:endParaRPr lang="en-US" sz="1400" dirty="0"/>
          </a:p>
        </p:txBody>
      </p:sp>
      <p:sp>
        <p:nvSpPr>
          <p:cNvPr id="10" name="Text 8"/>
          <p:cNvSpPr txBox="1"/>
          <p:nvPr/>
        </p:nvSpPr>
        <p:spPr>
          <a:xfrm>
            <a:off x="4389120" y="4114800"/>
            <a:ext cx="22860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tenofovir</a:t>
            </a:r>
            <a:endParaRPr lang="en-US" sz="1400" dirty="0"/>
          </a:p>
        </p:txBody>
      </p:sp>
      <p:sp>
        <p:nvSpPr>
          <p:cNvPr id="11" name="Text 9"/>
          <p:cNvSpPr txBox="1"/>
          <p:nvPr/>
        </p:nvSpPr>
        <p:spPr>
          <a:xfrm>
            <a:off x="6675120" y="4114800"/>
            <a:ext cx="27432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entecavir</a:t>
            </a:r>
            <a:endParaRPr lang="en-US" sz="1400" dirty="0"/>
          </a:p>
        </p:txBody>
      </p:sp>
      <p:sp>
        <p:nvSpPr>
          <p:cNvPr id="12" name="Text 10"/>
          <p:cNvSpPr txBox="1"/>
          <p:nvPr/>
        </p:nvSpPr>
        <p:spPr>
          <a:xfrm>
            <a:off x="365760" y="146304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Lee 2020, propensity analysis, 3,022 patients</a:t>
            </a:r>
            <a:endParaRPr lang="en-US" sz="1700" dirty="0"/>
          </a:p>
        </p:txBody>
      </p:sp>
      <p:sp>
        <p:nvSpPr>
          <p:cNvPr id="13" name="Shape 11"/>
          <p:cNvSpPr/>
          <p:nvPr/>
        </p:nvSpPr>
        <p:spPr>
          <a:xfrm>
            <a:off x="5303520" y="2011680"/>
            <a:ext cx="3703320" cy="0"/>
          </a:xfrm>
          <a:prstGeom prst="line">
            <a:avLst/>
          </a:prstGeom>
          <a:noFill/>
          <a:ln w="31750">
            <a:solidFill>
              <a:srgbClr val="1F4E79"/>
            </a:solidFill>
            <a:prstDash val="solid"/>
          </a:ln>
        </p:spPr>
      </p:sp>
      <p:sp>
        <p:nvSpPr>
          <p:cNvPr id="14" name="Shape 12"/>
          <p:cNvSpPr/>
          <p:nvPr/>
        </p:nvSpPr>
        <p:spPr>
          <a:xfrm>
            <a:off x="6711696" y="1911096"/>
            <a:ext cx="201168" cy="201168"/>
          </a:xfrm>
          <a:prstGeom prst="rect">
            <a:avLst/>
          </a:prstGeom>
          <a:solidFill>
            <a:srgbClr val="1F4E79"/>
          </a:solidFill>
          <a:ln w="12700">
            <a:solidFill>
              <a:srgbClr val="1F4E79"/>
            </a:solidFill>
            <a:prstDash val="solid"/>
          </a:ln>
        </p:spPr>
      </p:sp>
      <p:sp>
        <p:nvSpPr>
          <p:cNvPr id="15" name="Text 13"/>
          <p:cNvSpPr txBox="1"/>
          <p:nvPr/>
        </p:nvSpPr>
        <p:spPr>
          <a:xfrm>
            <a:off x="9555480" y="178308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1.03 (0.70 to 1.51)</a:t>
            </a:r>
            <a:endParaRPr lang="en-US" sz="1600" dirty="0"/>
          </a:p>
        </p:txBody>
      </p:sp>
      <p:sp>
        <p:nvSpPr>
          <p:cNvPr id="16" name="Text 14"/>
          <p:cNvSpPr txBox="1"/>
          <p:nvPr/>
        </p:nvSpPr>
        <p:spPr>
          <a:xfrm>
            <a:off x="365760" y="256032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Choi 2023, individual patient meta-analysis, 42,939 patients</a:t>
            </a:r>
            <a:endParaRPr lang="en-US" sz="1700" dirty="0"/>
          </a:p>
        </p:txBody>
      </p:sp>
      <p:sp>
        <p:nvSpPr>
          <p:cNvPr id="17" name="Shape 15"/>
          <p:cNvSpPr/>
          <p:nvPr/>
        </p:nvSpPr>
        <p:spPr>
          <a:xfrm>
            <a:off x="4892040" y="3108960"/>
            <a:ext cx="1691640" cy="0"/>
          </a:xfrm>
          <a:prstGeom prst="line">
            <a:avLst/>
          </a:prstGeom>
          <a:noFill/>
          <a:ln w="31750">
            <a:solidFill>
              <a:srgbClr val="1F4E79"/>
            </a:solidFill>
            <a:prstDash val="solid"/>
          </a:ln>
        </p:spPr>
      </p:sp>
      <p:sp>
        <p:nvSpPr>
          <p:cNvPr id="18" name="Shape 16"/>
          <p:cNvSpPr/>
          <p:nvPr/>
        </p:nvSpPr>
        <p:spPr>
          <a:xfrm>
            <a:off x="5522976" y="3008376"/>
            <a:ext cx="201168" cy="201168"/>
          </a:xfrm>
          <a:prstGeom prst="rect">
            <a:avLst/>
          </a:prstGeom>
          <a:solidFill>
            <a:srgbClr val="1F4E79"/>
          </a:solidFill>
          <a:ln w="12700">
            <a:solidFill>
              <a:srgbClr val="1F4E79"/>
            </a:solidFill>
            <a:prstDash val="solid"/>
          </a:ln>
        </p:spPr>
      </p:sp>
      <p:sp>
        <p:nvSpPr>
          <p:cNvPr id="19" name="Text 17"/>
          <p:cNvSpPr txBox="1"/>
          <p:nvPr/>
        </p:nvSpPr>
        <p:spPr>
          <a:xfrm>
            <a:off x="9555480" y="288036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0.77 (0.61 to 0.98)</a:t>
            </a:r>
            <a:endParaRPr lang="en-US" sz="1600" dirty="0"/>
          </a:p>
        </p:txBody>
      </p:sp>
      <p:sp>
        <p:nvSpPr>
          <p:cNvPr id="20" name="Text 18"/>
          <p:cNvSpPr txBox="1"/>
          <p:nvPr/>
        </p:nvSpPr>
        <p:spPr>
          <a:xfrm>
            <a:off x="4389120" y="960120"/>
            <a:ext cx="502920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Hazard ratio for HCC, tenofovir vs entecavir</a:t>
            </a:r>
            <a:endParaRPr lang="en-US" sz="1600" dirty="0"/>
          </a:p>
        </p:txBody>
      </p:sp>
      <p:sp>
        <p:nvSpPr>
          <p:cNvPr id="21" name="Text 19"/>
          <p:cNvSpPr txBox="1"/>
          <p:nvPr/>
        </p:nvSpPr>
        <p:spPr>
          <a:xfrm>
            <a:off x="731520" y="5120640"/>
            <a:ext cx="10728655" cy="6400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Yoo 2025, Korea, TAF vs TDF: 12.38 vs 15.39 HCC per 1,000 person-years, 17,537 in each matched group</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et al. Gut 2020;69:1301-1308, PMID 31672838. Choi WM et al. J Hepatol 2023;78:534-542, PMID 36572349. Yoo HJ et al. JHEP Rep 2025;7:101268, PMID 39867683.</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J Hepatol 2014;61:777-784, PMID 24915612. Marcellin P et al. Gastroenterology 2016;150:134-144, PMID 26453773.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20040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3794760"/>
            <a:ext cx="4754880" cy="914400"/>
          </a:xfrm>
          <a:prstGeom prst="rect">
            <a:avLst/>
          </a:prstGeom>
          <a:noFill/>
          <a:ln/>
        </p:spPr>
        <p:txBody>
          <a:bodyPr wrap="square" lIns="50800" tIns="50800" rIns="50800" bIns="50800" rtlCol="0" anchor="t"/>
          <a:lstStyle/>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High risk: 18 or more</a:t>
            </a:r>
            <a:endParaRPr lang="en-US" sz="2000" dirty="0"/>
          </a:p>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5-year HCC about 16 to 17%</a:t>
            </a:r>
            <a:endParaRPr lang="en-US" sz="2000" dirty="0"/>
          </a:p>
        </p:txBody>
      </p:sp>
      <p:pic>
        <p:nvPicPr>
          <p:cNvPr id="7" name="Image 0" descr="QR code to the HBV HCC risk calculator">    </p:cNvPr>
          <p:cNvPicPr>
            <a:picLocks noChangeAspect="1"/>
          </p:cNvPicPr>
          <p:nvPr/>
        </p:nvPicPr>
        <p:blipFill>
          <a:blip r:embed="rId1"/>
          <a:stretch>
            <a:fillRect/>
          </a:stretch>
        </p:blipFill>
        <p:spPr>
          <a:xfrm>
            <a:off x="7040880" y="4846320"/>
            <a:ext cx="1325880" cy="1325880"/>
          </a:xfrm>
          <a:prstGeom prst="rect">
            <a:avLst/>
          </a:prstGeom>
        </p:spPr>
      </p:pic>
      <p:sp>
        <p:nvSpPr>
          <p:cNvPr id="8" name="Text 4"/>
          <p:cNvSpPr txBox="1"/>
          <p:nvPr/>
        </p:nvSpPr>
        <p:spPr>
          <a:xfrm>
            <a:off x="8503920" y="5029200"/>
            <a:ext cx="3383280" cy="914400"/>
          </a:xfrm>
          <a:prstGeom prst="rect">
            <a:avLst/>
          </a:prstGeom>
          <a:noFill/>
          <a:ln/>
        </p:spPr>
        <p:txBody>
          <a:bodyPr wrap="square" lIns="0" tIns="0" rIns="0" bIns="0" rtlCol="0" anchor="ctr"/>
          <a:lstStyle/>
          <a:p>
            <a:pPr indent="0" marL="0">
              <a:buNone/>
            </a:pPr>
            <a:r>
              <a:rPr lang="en-US" sz="1600" dirty="0">
                <a:solidFill>
                  <a:srgbClr val="000000"/>
                </a:solidFill>
                <a:latin typeface="Georgia" pitchFamily="34" charset="0"/>
                <a:ea typeface="Georgia" pitchFamily="34" charset="-122"/>
                <a:cs typeface="Georgia" pitchFamily="34" charset="-120"/>
              </a:rPr>
              <a:t>Calculator: qaddodi.github.io/chb-hcc-risk</a:t>
            </a:r>
            <a:endParaRPr lang="en-US" sz="16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229600" y="1097280"/>
            <a:ext cx="3657600" cy="3657600"/>
          </a:xfrm>
          <a:prstGeom prst="rect">
            <a:avLst/>
          </a:prstGeom>
        </p:spPr>
      </p:pic>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365760" y="1691640"/>
          <a:ext cx="7680960" cy="914400"/>
        </p:xfrm>
        <a:graphic>
          <a:graphicData uri="http://schemas.openxmlformats.org/drawingml/2006/table">
            <a:tbl>
              <a:tblPr/>
              <a:tblGrid>
                <a:gridCol w="6080760"/>
                <a:gridCol w="1600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Our patient at 41, born in Vietnam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9052560" y="1097280"/>
            <a:ext cx="2011680" cy="2011680"/>
          </a:xfrm>
          <a:prstGeom prst="rect">
            <a:avLst/>
          </a:prstGeom>
        </p:spPr>
      </p:pic>
      <p:sp>
        <p:nvSpPr>
          <p:cNvPr id="5" name="Body"/>
          <p:cNvSpPr txBox="1"/>
          <p:nvPr/>
        </p:nvSpPr>
        <p:spPr>
          <a:xfrm>
            <a:off x="8183880" y="3200400"/>
            <a:ext cx="3840480" cy="3017520"/>
          </a:xfrm>
          <a:prstGeom prst="rect">
            <a:avLst/>
          </a:prstGeom>
          <a:noFill/>
          <a:ln/>
        </p:spPr>
        <p:txBody>
          <a:bodyPr wrap="square" lIns="50800" tIns="50800" rIns="50800" bIns="50800" rtlCol="0" anchor="t"/>
          <a:lstStyle/>
          <a:p>
            <a:pPr indent="0" marL="0">
              <a:spcBef>
                <a:spcPts val="400"/>
              </a:spcBef>
              <a:buNone/>
            </a:pPr>
            <a:r>
              <a:rPr lang="en-US" sz="1800" b="1" dirty="0">
                <a:solidFill>
                  <a:srgbClr val="000000"/>
                </a:solidFill>
                <a:latin typeface="Georgia" pitchFamily="34" charset="0"/>
                <a:ea typeface="Georgia" pitchFamily="34" charset="-122"/>
                <a:cs typeface="Georgia" pitchFamily="34" charset="-120"/>
              </a:rPr>
              <a:t>AASLD 2023 criteria</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Cirrhosis</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Endemic region: men &gt;40, women &gt;50</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African origin: earlier</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Family history of HCC</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PAGE-B ≥10</a:t>
            </a:r>
            <a:endParaRPr lang="en-US" sz="18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365760" y="1691640"/>
          <a:ext cx="7680960" cy="914400"/>
        </p:xfrm>
        <a:graphic>
          <a:graphicData uri="http://schemas.openxmlformats.org/drawingml/2006/table">
            <a:tbl>
              <a:tblPr/>
              <a:tblGrid>
                <a:gridCol w="6080760"/>
                <a:gridCol w="1600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Our patient at 41, born in Vietnam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highlight>
                            <a:srgbClr val="FFFF00"/>
                          </a:highlight>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30/56</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PMID 26678008; mPAGE-B PMID 30075230; REACH-B PMID 21497551; aMAP PMID 32707225; REAL-B PMID 31550363; Kim HS, J Hepatol 2022, PMID 34563579.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31/56</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2012;142:1140-1149, PMID 22333950.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32/56</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34/56</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35/56</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hape 15"/>
          <p:cNvSpPr/>
          <p:nvPr/>
        </p:nvSpPr>
        <p:spPr>
          <a:xfrm>
            <a:off x="2468880" y="2907792"/>
            <a:ext cx="4046220" cy="676656"/>
          </a:xfrm>
          <a:prstGeom prst="rect">
            <a:avLst/>
          </a:prstGeom>
          <a:solidFill>
            <a:srgbClr val="1F4E79"/>
          </a:solidFill>
          <a:ln w="6350">
            <a:solidFill>
              <a:srgbClr val="1F4E79"/>
            </a:solidFill>
            <a:prstDash val="solid"/>
          </a:ln>
        </p:spPr>
      </p:sp>
      <p:sp>
        <p:nvSpPr>
          <p:cNvPr id="19" name="Text 16"/>
          <p:cNvSpPr txBox="1"/>
          <p:nvPr/>
        </p:nvSpPr>
        <p:spPr>
          <a:xfrm>
            <a:off x="2468880" y="2907792"/>
            <a:ext cx="404622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20" name="Question"/>
          <p:cNvSpPr txBox="1"/>
          <p:nvPr/>
        </p:nvSpPr>
        <p:spPr>
          <a:xfrm>
            <a:off x="365760" y="4572000"/>
            <a:ext cx="731520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Start before the first dose</a:t>
            </a:r>
            <a:endParaRPr lang="en-US" sz="24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6080760" y="2743200"/>
            <a:ext cx="0" cy="320040"/>
          </a:xfrm>
          <a:prstGeom prst="line">
            <a:avLst/>
          </a:prstGeom>
          <a:noFill/>
          <a:ln w="19050">
            <a:solidFill>
              <a:srgbClr val="595959"/>
            </a:solidFill>
            <a:prstDash val="solid"/>
            <a:tailEnd type="triangle"/>
          </a:ln>
        </p:spPr>
      </p:sp>
      <p:sp>
        <p:nvSpPr>
          <p:cNvPr id="15" name="Text 13"/>
          <p:cNvSpPr/>
          <p:nvPr/>
        </p:nvSpPr>
        <p:spPr>
          <a:xfrm>
            <a:off x="4343400" y="3063240"/>
            <a:ext cx="3474720" cy="8686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6" name="Shape 14"/>
          <p:cNvSpPr/>
          <p:nvPr/>
        </p:nvSpPr>
        <p:spPr>
          <a:xfrm>
            <a:off x="6080760" y="3931920"/>
            <a:ext cx="0" cy="182880"/>
          </a:xfrm>
          <a:prstGeom prst="line">
            <a:avLst/>
          </a:prstGeom>
          <a:noFill/>
          <a:ln w="19050">
            <a:solidFill>
              <a:srgbClr val="595959"/>
            </a:solidFill>
            <a:prstDash val="solid"/>
            <a:tailEnd type="triangle"/>
          </a:ln>
        </p:spPr>
      </p:sp>
      <p:sp>
        <p:nvSpPr>
          <p:cNvPr id="17" name="Text 15"/>
          <p:cNvSpPr/>
          <p:nvPr/>
        </p:nvSpPr>
        <p:spPr>
          <a:xfrm>
            <a:off x="4343400" y="4114800"/>
            <a:ext cx="3474720" cy="86868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Moderate risk: prophylaxis preferred, or DNA and ALT q1 to 3 months</a:t>
            </a:r>
            <a:endParaRPr lang="en-US" sz="1600" dirty="0"/>
          </a:p>
        </p:txBody>
      </p:sp>
      <p:sp>
        <p:nvSpPr>
          <p:cNvPr id="18" name="Shape 16"/>
          <p:cNvSpPr/>
          <p:nvPr/>
        </p:nvSpPr>
        <p:spPr>
          <a:xfrm>
            <a:off x="6080760" y="4983480"/>
            <a:ext cx="0" cy="137160"/>
          </a:xfrm>
          <a:prstGeom prst="line">
            <a:avLst/>
          </a:prstGeom>
          <a:noFill/>
          <a:ln w="19050">
            <a:solidFill>
              <a:srgbClr val="595959"/>
            </a:solidFill>
            <a:prstDash val="solid"/>
            <a:tailEnd type="triangle"/>
          </a:ln>
        </p:spPr>
      </p:sp>
      <p:sp>
        <p:nvSpPr>
          <p:cNvPr id="19" name="Text 17"/>
          <p:cNvSpPr/>
          <p:nvPr/>
        </p:nvSpPr>
        <p:spPr>
          <a:xfrm>
            <a:off x="4343400" y="5120640"/>
            <a:ext cx="3474720" cy="4572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Low risk: monitor</a:t>
            </a:r>
            <a:endParaRPr lang="en-US" sz="16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Text 20"/>
          <p:cNvSpPr/>
          <p:nvPr/>
        </p:nvSpPr>
        <p:spPr>
          <a:xfrm>
            <a:off x="411480" y="5715000"/>
            <a:ext cx="11338560" cy="50292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Prophylaxis: start before the first dose; continue 6 mo after the last dose, 12 mo after anti-CD20</a:t>
            </a:r>
            <a:endParaRPr lang="en-US" sz="16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37/56</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 Engl J Med 2016;374:2324-2334, PMID 27305192. Jourdain G et al. N Engl J Med 2018;378:911-923, PMID 29514030.</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38/56</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39/56</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39/56</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40/56</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41/56</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66928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42/56</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If HBeAg positive at the start: seroconverted 1 year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ALT &gt;5× ULN, bilirubin &gt;2.5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43/56</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Bömmel F et al. J Hepatol 2023;78:926-936, PMID 37062574. Hirode G et al. Gastroenterology 2022;162:757-771, PMID 34762906. Berg T et al. J Hepatol 2017;67:918-924, PMID 28736139.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44/56</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J Hepatol 2023;79:1254-1269, PMID 37377088.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45/56</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46/56</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Question"/>
          <p:cNvSpPr txBox="1"/>
          <p:nvPr/>
        </p:nvSpPr>
        <p:spPr>
          <a:xfrm>
            <a:off x="365760" y="480060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Yes. FDA approved 20 October 2026</a:t>
            </a:r>
            <a:endParaRPr lang="en-US" sz="2400" dirty="0"/>
          </a:p>
        </p:txBody>
      </p:sp>
      <p:sp>
        <p:nvSpPr>
          <p:cNvPr id="7" name="Text 3"/>
          <p:cNvSpPr txBox="1"/>
          <p:nvPr/>
        </p:nvSpPr>
        <p:spPr>
          <a:xfrm>
            <a:off x="365760" y="5394960"/>
            <a:ext cx="7863840" cy="73152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About 1 in 5 had HBsAg loss 24 weeks after stopping all treatment; none on placebo</a:t>
            </a:r>
            <a:endParaRPr lang="en-US" sz="19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46/56</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Trial entry: 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2026;394:2395-2406, PMID 42206582 (B-Well 1 and 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47/56</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48/56</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49/56</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50/56</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4142232"/>
                <a:gridCol w="1280160"/>
                <a:gridCol w="1618488"/>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mall nodular cirrhotic liver">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Hepatology 2015;61:1809-1820, PMID 25627342.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J Hepatol 2010;52:272-279, PMID 20034693. Fung J et al. Hepatology 2017;66:1036-1044, PMID 28370215. AASLD 2018.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52/56</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1399032"/>
                <a:gridCol w="5641848"/>
              </a:tblGrid>
              <a:tr h="914400">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leeping swaddled newborn beside a vaccine syringe on a tray">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53/56</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459736"/>
                <a:gridCol w="4855464"/>
                <a:gridCol w="3410712"/>
              </a:tblGrid>
              <a:tr h="11887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Agent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Phase 2 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Caution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1887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Xalnesiran (siRNA)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loss 24 weeks off treatment: 3 to 7% alone, 23% with PegIFN, 0% on NA alone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Background NA continued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Elebsiran with PegIFN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 stopping follow-up ongoing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2024;391:2098-2109, PMID 39774313. Wong GLH et al. Nat Med 2026;32:151-159, PMID 41203919.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54/56</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he man in his fifties">    </p:cNvPr>
          <p:cNvPicPr>
            <a:picLocks noChangeAspect="1"/>
          </p:cNvPicPr>
          <p:nvPr/>
        </p:nvPicPr>
        <p:blipFill>
          <a:blip r:embed="rId1"/>
          <a:stretch>
            <a:fillRect/>
          </a:stretch>
        </p:blipFill>
        <p:spPr>
          <a:xfrm>
            <a:off x="594360" y="1143000"/>
            <a:ext cx="3291840" cy="3291840"/>
          </a:xfrm>
          <a:prstGeom prst="rect">
            <a:avLst/>
          </a:prstGeom>
        </p:spPr>
      </p:pic>
      <p:sp>
        <p:nvSpPr>
          <p:cNvPr id="4" name="Text 1"/>
          <p:cNvSpPr txBox="1"/>
          <p:nvPr/>
        </p:nvSpPr>
        <p:spPr>
          <a:xfrm>
            <a:off x="45720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Man, 34 to 57</a:t>
            </a:r>
            <a:endParaRPr lang="en-US" sz="2000" dirty="0"/>
          </a:p>
        </p:txBody>
      </p:sp>
      <p:sp>
        <p:nvSpPr>
          <p:cNvPr id="5" name="Text 2"/>
          <p:cNvSpPr txBox="1"/>
          <p:nvPr/>
        </p:nvSpPr>
        <p:spPr>
          <a:xfrm>
            <a:off x="45720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Monitor, surveillance from 41, TAF at 52. Now a candidate for bepirovirsen</a:t>
            </a:r>
            <a:endParaRPr lang="en-US" sz="1700" dirty="0"/>
          </a:p>
        </p:txBody>
      </p:sp>
      <p:pic>
        <p:nvPicPr>
          <p:cNvPr id="6" name="Image 1" descr="Watercolor of an IV bag and infusion pump">    </p:cNvPr>
          <p:cNvPicPr>
            <a:picLocks noChangeAspect="1"/>
          </p:cNvPicPr>
          <p:nvPr/>
        </p:nvPicPr>
        <p:blipFill>
          <a:blip r:embed="rId2"/>
          <a:stretch>
            <a:fillRect/>
          </a:stretch>
        </p:blipFill>
        <p:spPr>
          <a:xfrm>
            <a:off x="4434840" y="1143000"/>
            <a:ext cx="3291840" cy="3291840"/>
          </a:xfrm>
          <a:prstGeom prst="rect">
            <a:avLst/>
          </a:prstGeom>
        </p:spPr>
      </p:pic>
      <p:sp>
        <p:nvSpPr>
          <p:cNvPr id="7" name="Text 3"/>
          <p:cNvSpPr txBox="1"/>
          <p:nvPr/>
        </p:nvSpPr>
        <p:spPr>
          <a:xfrm>
            <a:off x="429768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61, rituximab</a:t>
            </a:r>
            <a:endParaRPr lang="en-US" sz="2000" dirty="0"/>
          </a:p>
        </p:txBody>
      </p:sp>
      <p:sp>
        <p:nvSpPr>
          <p:cNvPr id="8" name="Text 4"/>
          <p:cNvSpPr txBox="1"/>
          <p:nvPr/>
        </p:nvSpPr>
        <p:spPr>
          <a:xfrm>
            <a:off x="429768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Entecavir, TDF or TAF before the first dose, 12 months after the last</a:t>
            </a:r>
            <a:endParaRPr lang="en-US" sz="1700" dirty="0"/>
          </a:p>
        </p:txBody>
      </p:sp>
      <p:pic>
        <p:nvPicPr>
          <p:cNvPr id="9" name="Image 2" descr="Watercolor of a seated pregnant woman">    </p:cNvPr>
          <p:cNvPicPr>
            <a:picLocks noChangeAspect="1"/>
          </p:cNvPicPr>
          <p:nvPr/>
        </p:nvPicPr>
        <p:blipFill>
          <a:blip r:embed="rId3"/>
          <a:stretch>
            <a:fillRect/>
          </a:stretch>
        </p:blipFill>
        <p:spPr>
          <a:xfrm>
            <a:off x="8275320" y="1143000"/>
            <a:ext cx="3291840" cy="3291840"/>
          </a:xfrm>
          <a:prstGeom prst="rect">
            <a:avLst/>
          </a:prstGeom>
        </p:spPr>
      </p:pic>
      <p:sp>
        <p:nvSpPr>
          <p:cNvPr id="10" name="Text 5"/>
          <p:cNvSpPr txBox="1"/>
          <p:nvPr/>
        </p:nvSpPr>
        <p:spPr>
          <a:xfrm>
            <a:off x="813816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29, pregnant</a:t>
            </a:r>
            <a:endParaRPr lang="en-US" sz="2000" dirty="0"/>
          </a:p>
        </p:txBody>
      </p:sp>
      <p:sp>
        <p:nvSpPr>
          <p:cNvPr id="11" name="Text 6"/>
          <p:cNvSpPr txBox="1"/>
          <p:nvPr/>
        </p:nvSpPr>
        <p:spPr>
          <a:xfrm>
            <a:off x="813816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TDF or TAF from week 28. Vaccine and HBIG within 12 hours</a:t>
            </a:r>
            <a:endParaRPr lang="en-US" sz="17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55/56</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56/56</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Renal dosing</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1097280"/>
                <a:gridCol w="2258568"/>
                <a:gridCol w="2368296"/>
                <a:gridCol w="2962656"/>
                <a:gridCol w="2587752"/>
              </a:tblGrid>
              <a:tr h="822960">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Usual 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CrCl 30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CrCl 10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Dialysis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Entecavir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daily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every 48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every 72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0.5 mg every 7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daily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every 48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every 72 to 96 hours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300 mg every 7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TAF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 with food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 (CrCl 15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25 mg daily, after dialysis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Doses use creatinine clearance, mL/min.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2026-10-28T18:32:00Z</dcterms:created>
  <dcterms:modified xsi:type="dcterms:W3CDTF">2026-10-28T18:32:00Z</dcterms:modified>
</cp:coreProperties>
</file>