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charts/chart4.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charts/chart5.xml" ContentType="application/vnd.openxmlformats-officedocument.drawingml.chart+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charts/chart6.xml" ContentType="application/vnd.openxmlformats-officedocument.drawingml.chart+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charts/chart7.xml" ContentType="application/vnd.openxmlformats-officedocument.drawingml.chart+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charts/chart8.xml" ContentType="application/vnd.openxmlformats-officedocument.drawingml.chart+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Lst>
  <p:notesMasterIdLst>
    <p:notesMasterId r:id="rId9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37bdad7-6b6f-8a68-cfd7-9dbbb375343c}">
          <p14:sldIdLst>
            <p14:sldId id="256"/>
            <p14:sldId id="257"/>
          </p14:sldIdLst>
        </p14:section>
        <p14:section name="History" id="{04e48f43-b399-a4ca-5f0a-03e1c00287dc}">
          <p14:sldIdLst>
            <p14:sldId id="258"/>
            <p14:sldId id="259"/>
            <p14:sldId id="260"/>
            <p14:sldId id="261"/>
            <p14:sldId id="262"/>
            <p14:sldId id="263"/>
          </p14:sldIdLst>
        </p14:section>
        <p14:section name="Testing" id="{1a29e2d1-1289-9277-6faf-a8048edbd049}">
          <p14:sldIdLst>
            <p14:sldId id="264"/>
            <p14:sldId id="265"/>
            <p14:sldId id="266"/>
            <p14:sldId id="267"/>
            <p14:sldId id="268"/>
            <p14:sldId id="269"/>
            <p14:sldId id="270"/>
          </p14:sldIdLst>
        </p14:section>
        <p14:section name="Serology" id="{3ac7cfe9-798c-c626-1a79-ed32eb74948f}">
          <p14:sldIdLst>
            <p14:sldId id="271"/>
            <p14:sldId id="272"/>
            <p14:sldId id="273"/>
            <p14:sldId id="274"/>
          </p14:sldIdLst>
        </p14:section>
        <p14:section name="Phases" id="{37a44ceb-18f2-0990-5c25-53947acc2931}">
          <p14:sldIdLst>
            <p14:sldId id="275"/>
            <p14:sldId id="276"/>
            <p14:sldId id="277"/>
            <p14:sldId id="278"/>
            <p14:sldId id="279"/>
            <p14:sldId id="280"/>
            <p14:sldId id="281"/>
            <p14:sldId id="282"/>
          </p14:sldIdLst>
        </p14:section>
        <p14:section name="Who to treat" id="{85b842ef-3bd9-7515-9653-2da781b7b9e6}">
          <p14:sldIdLst>
            <p14:sldId id="283"/>
            <p14:sldId id="284"/>
            <p14:sldId id="285"/>
            <p14:sldId id="286"/>
            <p14:sldId id="287"/>
            <p14:sldId id="288"/>
            <p14:sldId id="289"/>
            <p14:sldId id="290"/>
            <p14:sldId id="291"/>
            <p14:sldId id="292"/>
            <p14:sldId id="293"/>
            <p14:sldId id="294"/>
            <p14:sldId id="295"/>
            <p14:sldId id="296"/>
          </p14:sldIdLst>
        </p14:section>
        <p14:section name="Drugs" id="{9367aa5a-497a-4cdc-f100-b97e7338f7ac}">
          <p14:sldIdLst>
            <p14:sldId id="297"/>
            <p14:sldId id="298"/>
            <p14:sldId id="299"/>
            <p14:sldId id="300"/>
            <p14:sldId id="301"/>
            <p14:sldId id="302"/>
            <p14:sldId id="303"/>
            <p14:sldId id="304"/>
          </p14:sldIdLst>
        </p14:section>
        <p14:section name="HCC risk" id="{ee7c47bd-0925-8833-c6ca-fa51818c7358}">
          <p14:sldIdLst>
            <p14:sldId id="305"/>
            <p14:sldId id="306"/>
            <p14:sldId id="307"/>
            <p14:sldId id="308"/>
            <p14:sldId id="309"/>
            <p14:sldId id="310"/>
            <p14:sldId id="311"/>
            <p14:sldId id="312"/>
            <p14:sldId id="313"/>
          </p14:sldIdLst>
        </p14:section>
        <p14:section name="Special situations" id="{ba862d39-3e3e-df15-feb2-027b0ac236e1}">
          <p14:sldIdLst>
            <p14:sldId id="314"/>
            <p14:sldId id="315"/>
            <p14:sldId id="316"/>
            <p14:sldId id="317"/>
            <p14:sldId id="318"/>
            <p14:sldId id="319"/>
            <p14:sldId id="320"/>
            <p14:sldId id="321"/>
            <p14:sldId id="322"/>
            <p14:sldId id="323"/>
            <p14:sldId id="324"/>
            <p14:sldId id="325"/>
            <p14:sldId id="326"/>
            <p14:sldId id="327"/>
            <p14:sldId id="328"/>
            <p14:sldId id="329"/>
            <p14:sldId id="330"/>
            <p14:sldId id="331"/>
          </p14:sldIdLst>
        </p14:section>
        <p14:section name="Stopping and what is new" id="{7273a60c-70f3-cd16-5884-b083fe3f27e2}">
          <p14:sldIdLst>
            <p14:sldId id="332"/>
            <p14:sldId id="333"/>
            <p14:sldId id="334"/>
            <p14:sldId id="335"/>
            <p14:sldId id="336"/>
            <p14:sldId id="337"/>
            <p14:sldId id="338"/>
            <p14:sldId id="339"/>
            <p14:sldId id="340"/>
            <p14:sldId id="341"/>
          </p14:sldIdLst>
        </p14:section>
        <p14:section name="Close" id="{6c5f4d30-d2ed-e711-1cd2-5e17c685d369}">
          <p14:sldIdLst>
            <p14:sldId id="342"/>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notesMaster" Target="notesMasters/notesMaster1.xml"/><Relationship Id="rId91" Type="http://schemas.openxmlformats.org/officeDocument/2006/relationships/presProps" Target="presProps.xml"/><Relationship Id="rId92" Type="http://schemas.openxmlformats.org/officeDocument/2006/relationships/viewProps" Target="viewProps.xml"/><Relationship Id="rId93" Type="http://schemas.openxmlformats.org/officeDocument/2006/relationships/theme" Target="theme/theme1.xml"/><Relationship Id="rId9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00000"/>
                </a:solidFill>
                <a:latin typeface="Georgia"/>
              </a:defRPr>
            </a:pPr>
            <a:r>
              <a:rPr sz="1600" b="0" i="0" u="none" strike="noStrike">
                <a:solidFill>
                  <a:srgbClr val="000000"/>
                </a:solidFill>
                <a:latin typeface="Georgia"/>
              </a:rPr>
              <a:t>Upper limit of normal ALT, U/L</a:t>
            </a:r>
          </a:p>
        </c:rich>
      </c:tx>
      <c:layout/>
      <c:overlay val="0"/>
    </c:title>
    <c:autoTitleDeleted val="0"/>
    <c:plotArea>
      <c:layout/>
      <c:barChart>
        <c:barDir val="col"/>
        <c:grouping val="clustered"/>
        <c:varyColors val="0"/>
        <c:ser>
          <c:idx val="0"/>
          <c:order val="0"/>
          <c:tx>
            <c:strRef>
              <c:f>Sheet1!$B$1</c:f>
              <c:strCache>
                <c:ptCount val="1"/>
                <c:pt idx="0">
                  <c:v>Men</c:v>
                </c:pt>
              </c:strCache>
            </c:strRef>
          </c:tx>
          <c:spPr>
            <a:solidFill>
              <a:srgbClr val="1F4E79"/>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Sheet1!$B$2:$B$4</c:f>
              <c:numCache>
                <c:formatCode>General</c:formatCode>
                <c:ptCount val="3"/>
                <c:pt idx="0">
                  <c:v>35</c:v>
                </c:pt>
                <c:pt idx="1">
                  <c:v>30</c:v>
                </c:pt>
                <c:pt idx="2">
                  <c:v>40</c:v>
                </c:pt>
              </c:numCache>
            </c:numRef>
          </c:val>
        </c:ser>
        <c:ser>
          <c:idx val="1"/>
          <c:order val="1"/>
          <c:tx>
            <c:strRef>
              <c:f>Sheet1!$C$1</c:f>
              <c:strCache>
                <c:ptCount val="1"/>
                <c:pt idx="0">
                  <c:v>Women</c:v>
                </c:pt>
              </c:strCache>
            </c:strRef>
          </c:tx>
          <c:spPr>
            <a:solidFill>
              <a:srgbClr val="9DB4CA"/>
            </a:solidFill>
            <a:effectLst/>
          </c:spPr>
          <c:invertIfNegative val="0"/>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AASLD</c:v>
                  </c:pt>
                  <c:pt idx="1">
                    <c:v>WHO 2024</c:v>
                  </c:pt>
                  <c:pt idx="2">
                    <c:v>EASL 2025</c:v>
                  </c:pt>
                </c:lvl>
              </c:multiLvlStrCache>
            </c:multiLvlStrRef>
          </c:cat>
          <c:val>
            <c:numRef>
              <c:f>Sheet1!$C$2:$C$4</c:f>
              <c:numCache>
                <c:formatCode>General</c:formatCode>
                <c:ptCount val="3"/>
                <c:pt idx="0">
                  <c:v>25</c:v>
                </c:pt>
                <c:pt idx="1">
                  <c:v>19</c:v>
                </c:pt>
                <c:pt idx="2">
                  <c:v>40</c:v>
                </c:pt>
              </c:numCache>
            </c:numRef>
          </c:val>
        </c:ser>
        <c:dLbls>
          <c:numFmt formatCode="0"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7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3E3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Treated</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Sheet1!$B$2:$B$4</c:f>
              <c:numCache>
                <c:formatCode>General</c:formatCode>
                <c:ptCount val="3"/>
                <c:pt idx="0">
                  <c:v>3</c:v>
                </c:pt>
                <c:pt idx="1">
                  <c:v>4</c:v>
                </c:pt>
                <c:pt idx="2">
                  <c:v>9</c:v>
                </c:pt>
              </c:numCache>
            </c:numRef>
          </c:val>
        </c:ser>
        <c:ser>
          <c:idx val="1"/>
          <c:order val="1"/>
          <c:tx>
            <c:strRef>
              <c:f>Sheet1!$C$1</c:f>
              <c:strCache>
                <c:ptCount val="1"/>
                <c:pt idx="0">
                  <c:v>Untreated</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Sheet1!$A$2:$A$4</c:f>
              <c:multiLvlStrCache>
                <c:ptCount val="3"/>
                <c:lvl>
                  <c:pt idx="0">
                    <c:v>5 years</c:v>
                  </c:pt>
                  <c:pt idx="1">
                    <c:v>10 years</c:v>
                  </c:pt>
                  <c:pt idx="2">
                    <c:v>15 years</c:v>
                  </c:pt>
                </c:lvl>
              </c:multiLvlStrCache>
            </c:multiLvlStrRef>
          </c:cat>
          <c:val>
            <c:numRef>
              <c:f>Sheet1!$C$2:$C$4</c:f>
              <c:numCache>
                <c:formatCode>General</c:formatCode>
                <c:ptCount val="3"/>
                <c:pt idx="0">
                  <c:v>3</c:v>
                </c:pt>
                <c:pt idx="1">
                  <c:v>15</c:v>
                </c:pt>
                <c:pt idx="2">
                  <c:v>19</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Sheet1!$B$2:$B$2</c:f>
              <c:numCache>
                <c:formatCode>General</c:formatCode>
                <c:ptCount val="1"/>
                <c:pt idx="0">
                  <c:v>26</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cat>
            <c:multiLvlStrRef>
              <c:f>Sheet1!$A$2:$A$2</c:f>
              <c:multiLvlStrCache>
                <c:ptCount val="1"/>
                <c:lvl>
                  <c:pt idx="0">
                    <c:v>Progression of 1 or more Ishak stage</c:v>
                  </c:pt>
                </c:lvl>
              </c:multiLvlStrCache>
            </c:multiLvlStrRef>
          </c:cat>
          <c:val>
            <c:numRef>
              <c:f>Sheet1!$C$2:$C$2</c:f>
              <c:numCache>
                <c:formatCode>General</c:formatCode>
                <c:ptCount val="1"/>
                <c:pt idx="0">
                  <c:v>47</c:v>
                </c:pt>
              </c:numCache>
            </c:numRef>
          </c:val>
        </c:ser>
        <c:dLbls>
          <c:numFmt formatCode="0&quot;%&quot;" sourceLinked="0"/>
          <c:txPr>
            <a:bodyPr/>
            <a:lstStyle/>
            <a:p>
              <a:pPr>
                <a:defRPr b="1" i="0" strike="noStrike" sz="14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TAF</c:v>
                </c:pt>
              </c:strCache>
            </c:strRef>
          </c:tx>
          <c:spPr>
            <a:solidFill>
              <a:srgbClr val="1F4E79"/>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Sheet1!$B$2:$B$5</c:f>
              <c:numCache>
                <c:formatCode>General</c:formatCode>
                <c:ptCount val="4"/>
                <c:pt idx="0">
                  <c:v>-0.29</c:v>
                </c:pt>
                <c:pt idx="1">
                  <c:v>-0.88</c:v>
                </c:pt>
                <c:pt idx="2">
                  <c:v>-0.1</c:v>
                </c:pt>
                <c:pt idx="3">
                  <c:v>-0.42</c:v>
                </c:pt>
              </c:numCache>
            </c:numRef>
          </c:val>
        </c:ser>
        <c:ser>
          <c:idx val="1"/>
          <c:order val="1"/>
          <c:tx>
            <c:strRef>
              <c:f>Sheet1!$C$1</c:f>
              <c:strCache>
                <c:ptCount val="1"/>
                <c:pt idx="0">
                  <c:v>TDF</c:v>
                </c:pt>
              </c:strCache>
            </c:strRef>
          </c:tx>
          <c:spPr>
            <a:solidFill>
              <a:srgbClr val="9DB4CA"/>
            </a:solidFill>
            <a:effectLst/>
          </c:spPr>
          <c:invertIfNegative val="0"/>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Hip, HBeAg-neg</c:v>
                  </c:pt>
                  <c:pt idx="1">
                    <c:v>Spine, HBeAg-neg</c:v>
                  </c:pt>
                  <c:pt idx="2">
                    <c:v>Hip, HBeAg-pos</c:v>
                  </c:pt>
                  <c:pt idx="3">
                    <c:v>Spine, HBeAg-pos</c:v>
                  </c:pt>
                </c:lvl>
              </c:multiLvlStrCache>
            </c:multiLvlStrRef>
          </c:cat>
          <c:val>
            <c:numRef>
              <c:f>Sheet1!$C$2:$C$5</c:f>
              <c:numCache>
                <c:formatCode>General</c:formatCode>
                <c:ptCount val="4"/>
                <c:pt idx="0">
                  <c:v>-2.16</c:v>
                </c:pt>
                <c:pt idx="1">
                  <c:v>-2.51</c:v>
                </c:pt>
                <c:pt idx="2">
                  <c:v>-1.72</c:v>
                </c:pt>
                <c:pt idx="3">
                  <c:v>-2.29</c:v>
                </c:pt>
              </c:numCache>
            </c:numRef>
          </c:val>
        </c:ser>
        <c:dLbls>
          <c:numFmt formatCode="0.00&quot;%&quot;" sourceLinked="0"/>
          <c:txPr>
            <a:bodyPr/>
            <a:lstStyle/>
            <a:p>
              <a:pPr>
                <a:defRPr b="1" i="0" strike="noStrike" sz="13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0"/>
          <c:min val="-3"/>
        </c:scaling>
        <c:delete val="0"/>
        <c:axPos val="l"/>
        <c:majorGridlines>
          <c:spPr>
            <a:ln w="6350" cap="flat">
              <a:solidFill>
                <a:srgbClr val="E3E3E3"/>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TDF</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Sheet1!$B$2:$B$3</c:f>
              <c:numCache>
                <c:formatCode>General</c:formatCode>
                <c:ptCount val="2"/>
                <c:pt idx="0">
                  <c:v>5</c:v>
                </c:pt>
                <c:pt idx="1">
                  <c:v>0</c:v>
                </c:pt>
              </c:numCache>
            </c:numRef>
          </c:val>
        </c:ser>
        <c:ser>
          <c:idx val="1"/>
          <c:order val="1"/>
          <c:tx>
            <c:strRef>
              <c:f>Sheet1!$C$1</c:f>
              <c:strCache>
                <c:ptCount val="1"/>
                <c:pt idx="0">
                  <c:v>Usual care</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Pan 2016, intention to treat</c:v>
                  </c:pt>
                  <c:pt idx="1">
                    <c:v>Pan 2016, per protocol</c:v>
                  </c:pt>
                </c:lvl>
              </c:multiLvlStrCache>
            </c:multiLvlStrRef>
          </c:cat>
          <c:val>
            <c:numRef>
              <c:f>Sheet1!$C$2:$C$3</c:f>
              <c:numCache>
                <c:formatCode>General</c:formatCode>
                <c:ptCount val="2"/>
                <c:pt idx="0">
                  <c:v>18</c:v>
                </c:pt>
                <c:pt idx="1">
                  <c:v>7</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Bulevirtide</c:v>
                </c:pt>
              </c:strCache>
            </c:strRef>
          </c:tx>
          <c:spPr>
            <a:solidFill>
              <a:srgbClr val="1F4E79"/>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Sheet1!$B$2:$B$3</c:f>
              <c:numCache>
                <c:formatCode>General</c:formatCode>
                <c:ptCount val="2"/>
                <c:pt idx="0">
                  <c:v>48</c:v>
                </c:pt>
                <c:pt idx="1">
                  <c:v>20</c:v>
                </c:pt>
              </c:numCache>
            </c:numRef>
          </c:val>
        </c:ser>
        <c:ser>
          <c:idx val="1"/>
          <c:order val="1"/>
          <c:tx>
            <c:strRef>
              <c:f>Sheet1!$C$1</c:f>
              <c:strCache>
                <c:ptCount val="1"/>
                <c:pt idx="0">
                  <c:v>Delayed treatment</c:v>
                </c:pt>
              </c:strCache>
            </c:strRef>
          </c:tx>
          <c:spPr>
            <a:solidFill>
              <a:srgbClr val="9DB4CA"/>
            </a:solidFill>
            <a:effectLst/>
          </c:spPr>
          <c:invertIfNegative val="0"/>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Combined response</c:v>
                  </c:pt>
                  <c:pt idx="1">
                    <c:v>HDV RNA undetectable</c:v>
                  </c:pt>
                </c:lvl>
              </c:multiLvlStrCache>
            </c:multiLvlStrRef>
          </c:cat>
          <c:val>
            <c:numRef>
              <c:f>Sheet1!$C$2:$C$3</c:f>
              <c:numCache>
                <c:formatCode>General</c:formatCode>
                <c:ptCount val="2"/>
                <c:pt idx="0">
                  <c:v>2</c:v>
                </c:pt>
                <c:pt idx="1">
                  <c:v>0</c:v>
                </c:pt>
              </c:numCache>
            </c:numRef>
          </c:val>
        </c:ser>
        <c:dLbls>
          <c:numFmt formatCode="0&quot;%&quot;" sourceLinked="0"/>
          <c:txPr>
            <a:bodyPr/>
            <a:lstStyle/>
            <a:p>
              <a:pPr>
                <a:defRPr b="1" i="0" strike="noStrike" sz="16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 novo HBV</c:v>
                </c:pt>
              </c:strCache>
            </c:strRef>
          </c:tx>
          <c:spPr>
            <a:solidFill>
              <a:srgbClr val="1F4E79"/>
            </a:solidFill>
            <a:effectLst/>
          </c:spPr>
          <c:invertIfNegative val="0"/>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cat>
            <c:multiLvlStrRef>
              <c:f>Sheet1!$A$2:$A$6</c:f>
              <c:multiLvlStrCache>
                <c:ptCount val="5"/>
                <c:lvl>
                  <c:pt idx="0">
                    <c:v>No prophylaxis</c:v>
                  </c:pt>
                  <c:pt idx="1">
                    <c:v>Any prophylaxis</c:v>
                  </c:pt>
                  <c:pt idx="2">
                    <c:v>HBIG alone</c:v>
                  </c:pt>
                  <c:pt idx="3">
                    <c:v>Lamivudine alone</c:v>
                  </c:pt>
                  <c:pt idx="4">
                    <c:v>HBIG plus lamivudine</c:v>
                  </c:pt>
                </c:lvl>
              </c:multiLvlStrCache>
            </c:multiLvlStrRef>
          </c:cat>
          <c:val>
            <c:numRef>
              <c:f>Sheet1!$B$2:$B$6</c:f>
              <c:numCache>
                <c:formatCode>General</c:formatCode>
                <c:ptCount val="5"/>
                <c:pt idx="0">
                  <c:v>48</c:v>
                </c:pt>
                <c:pt idx="1">
                  <c:v>12</c:v>
                </c:pt>
                <c:pt idx="2">
                  <c:v>19</c:v>
                </c:pt>
                <c:pt idx="3">
                  <c:v>2.6</c:v>
                </c:pt>
                <c:pt idx="4">
                  <c:v>2.8</c:v>
                </c:pt>
              </c:numCache>
            </c:numRef>
          </c:val>
        </c:ser>
        <c:dLbls>
          <c:numFmt formatCode="0.0&quot;%&quot;" sourceLinked="0"/>
          <c:txPr>
            <a:bodyPr/>
            <a:lstStyle/>
            <a:p>
              <a:pPr>
                <a:defRPr b="1" i="0" strike="noStrike" sz="15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60"/>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Bepirovirsen</c:v>
                </c:pt>
              </c:strCache>
            </c:strRef>
          </c:tx>
          <c:spPr>
            <a:solidFill>
              <a:srgbClr val="1F4E79"/>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Sheet1!$B$2:$B$3</c:f>
              <c:numCache>
                <c:formatCode>General</c:formatCode>
                <c:ptCount val="2"/>
                <c:pt idx="0">
                  <c:v>20</c:v>
                </c:pt>
                <c:pt idx="1">
                  <c:v>19</c:v>
                </c:pt>
              </c:numCache>
            </c:numRef>
          </c:val>
        </c:ser>
        <c:ser>
          <c:idx val="1"/>
          <c:order val="1"/>
          <c:tx>
            <c:strRef>
              <c:f>Sheet1!$C$1</c:f>
              <c:strCache>
                <c:ptCount val="1"/>
                <c:pt idx="0">
                  <c:v>Placebo</c:v>
                </c:pt>
              </c:strCache>
            </c:strRef>
          </c:tx>
          <c:spPr>
            <a:solidFill>
              <a:srgbClr val="9DB4CA"/>
            </a:solidFill>
            <a:effectLst/>
          </c:spPr>
          <c:invertIfNegative val="0"/>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B-Well 1</c:v>
                  </c:pt>
                  <c:pt idx="1">
                    <c:v>B-Well 2</c:v>
                  </c:pt>
                </c:lvl>
              </c:multiLvlStrCache>
            </c:multiLvlStrRef>
          </c:cat>
          <c:val>
            <c:numRef>
              <c:f>Sheet1!$C$2:$C$3</c:f>
              <c:numCache>
                <c:formatCode>General</c:formatCode>
                <c:ptCount val="2"/>
                <c:pt idx="0">
                  <c:v>0</c:v>
                </c:pt>
                <c:pt idx="1">
                  <c:v>0</c:v>
                </c:pt>
              </c:numCache>
            </c:numRef>
          </c:val>
        </c:ser>
        <c:dLbls>
          <c:numFmt formatCode="0&quot;%&quot;" sourceLinked="0"/>
          <c:txPr>
            <a:bodyPr/>
            <a:lstStyle/>
            <a:p>
              <a:pPr>
                <a:defRPr b="1" i="0" strike="noStrike" sz="1800" u="none">
                  <a:solidFill>
                    <a:srgbClr val="00000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nextTo"/>
        <c:spPr>
          <a:ln w="12700" cap="flat">
            <a:solidFill>
              <a:srgbClr val="888888"/>
            </a:solidFill>
            <a:prstDash val="solid"/>
            <a:round/>
          </a:ln>
        </c:spPr>
        <c:txPr>
          <a:bodyPr/>
          <a:lstStyle/>
          <a:p>
            <a:pPr>
              <a:defRPr sz="1600" b="0" i="0" u="none" strike="noStrike">
                <a:solidFill>
                  <a:srgbClr val="000000"/>
                </a:solidFill>
                <a:latin typeface="Calibri"/>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6350" cap="flat">
              <a:solidFill>
                <a:srgbClr val="E3E3E3"/>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Calibri"/>
              </a:defRPr>
            </a:pPr>
            <a:endParaRPr lang="en-US"/>
          </a:p>
        </c:txPr>
        <c:crossAx val="2094734554"/>
        <c:crosses val="autoZero"/>
        <c:crossBetween val="between"/>
        <c:majorUnit val="5"/>
      </c:valAx>
      <c:spPr>
        <a:noFill/>
        <a:ln>
          <a:noFill/>
        </a:ln>
        <a:effectLst/>
      </c:spPr>
    </c:plotArea>
    <c:legend>
      <c:legendPos val="b"/>
      <c:overlay val="0"/>
      <c:txPr>
        <a:bodyPr/>
        <a:lstStyle/>
        <a:p>
          <a:pPr>
            <a:defRPr sz="14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the cases is made up for teaching; none of it is a real patient. Three patients carry the talk: a man we follow from age 34 to 57, a woman about to start rituximab, and a pregnant woman.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Several of the recommendations changed in the last two years: AASLD/IDSA 2025, EASL 2025, WHO 2024. Where the guidelines disagree I show them side by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story the way you like to. In 1963 the Philadelphia group tested sera from transfused hemophilia patients against a panel of 24 normal sera, including sera from foreign populations. Two hemophilia sera made a precipitin line with one panel serum, from an Australian aborigine. That is where the name comes from. The 1965 paper was about leukemia; the link to hepatitis came later. The Nobel citation reads: 'for their discoveries concerning new mechanisms for the origin and dissemination of infectious diseases' (NIH Nobel page). Source for the slide text is the paper itself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it short in the 30-minute version. Dane 1970 Lancet 1:695-698. Maupas 1976 Lancet 1:1367-1370. Szmuness 1980 NEJM 303:833-841. Beasley 1981 Lancet 2:1129-1133. The vaccine came before there was a screening test for liver cancer. A recombinant yeast vaccine was reported in 1984 (McAleer, Nature 307:178-180).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Prince detected the antigen in blood during the incubation period of serum hepatitis, which tied it to post-transfusion hepatitis and made screening of blood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42 nm particle is the whole virion; the numerous 22 nm particles and long forms are surface antigen only. This is why HBsAg circulates in huge excess over virions. The figure is from the paper in your PDF.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22,707 Chinese men, civil servants in Taiwan, followed prospectively. All numbers are from the paper's summary (your PDF). The 95% CI of 28 to 1,479 for the relative risk is quoted from a 2018 historical review (Koshiol, Cancer Epidemiol), not from the 1981 paper.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Randomized, double-blind, placebo-controlled, 1,083 men at high risk. Infection in only 1.4 to 3.4% of vaccinees versus 18 to 27% with placebo. The plasma-derived vaccine of Maupas (Lancet 1976) was the first human immunization; a recombinant yeast vaccine followed (McAleer, Nature 1984). Licensure in 1986 was not confirmed from a primary record, so say 'mid-1980s'.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them guess. Answer: about 13% diagnosed and about 3% treated. WHO 2022 estimates: 254 million living with chronic HBV, 1.2 million new infections a year, 1.3 million deaths from HBV and HCV combined, 83% of them HBV. The rounded WHO release is the source; the full report PDF was not opened. In the US, CDC estimates 580,000 to 2.4 million people living with chronic HBV, about two-thirds unaware (CDC 2023, PMID 36893044).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Conditional risk once infected, not the risk that an exposed infant becomes infected. The bar for adults is drawn at 5% for scale; the figure is 'under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estimates differ because the survey misses many immigrants. Do not combine one study's prevalence with another study's diagnosed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CDC 2023: screen every adult 18 and older at least once with the triple panel, regardless of disclosed risk, and screen in each pregnancy. HBsAg alone misses anti-HBc-only patients, who are the ones at risk of reactivation. Vaccination: all adults 19 to 59 (ACIP 2022); Heplisav-B, Engerix-B and Recombivax HB are in use. PreHevbrio was withdrawn in November 2024 because the company closed, not for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Chronic means HBsAg present for more than 6 months, so panel 4 needs a repeat. IgM anti-HBc also turns positive during a flare of chronic hepatitis B or a reactivation, so IgM plus a high ALT is not always acute infection: look at the history and the DNA. Resolved infection can reactivate under immunosuppression, which leads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Isolated anti-HBc is not the same as occult infection: occult needs detectable HBV DNA with a negative HBsAg. Order HBV DNA and repeat the panel. Whatever the answer, a patient who is anti-HBc positive and about to get an anti-CD20 drug needs prophylaxis (we come back to this). Wording of the last row, 'repeat testing', is my summary of the CDC table; check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it with the room: three panels, age in decades along the bottom. This is the figure from your sketch. Schematic, not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HBV DNA first. Very high in early life, falls in the third and fourth decades, then either stays low or rises again. The dashed lines are 20,000 and 2,000 IU/mL.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ALT. Normal for decades, then flares when the immune system finally attacks. Each flare can cause fibrosis.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antigens. HBsAg stays positive. HBeAg is lost and anti-HBe appears when the patient seroconverts, around the fourth decade in this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name the phases. New names above, old names below. The shaded phases are the hepatitis phases. Not every patient goes through all four, and the age axis is schematic.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four phases in the published form. Credit GESA 2022 (ASHM attributes Figure 3.1 to them). The reviewer could not confirm the original artist or the reuse licence, so check before putting this in anything you distribute.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Old names: immune tolerant, immune clearance (immune-active), inactive carrier or immune control, immune escape. AASLD 2018 uses immune-tolerant, HBeAg-positive immune-active, inactive and HBeAg-negative immune-active CHB. These are descriptions of phases, not treatment criteria. A patient can move between phases, and HBsAg loss is a fifth state (HBsAg-negative phase).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HBsAg found at a blood donation, asymptomatic, ALT normal on two checks six months apart. This is the HBeAg-positive chronic infection (immune tolerant) phase. AASLD/IDSA 2025 R3 defines it as HBeAg positive, DNA above 10,000,000 IU/mL and persistently normal ALT on at least two measurements 6 months apart. At 34, no fibrosis, the recommendation is to monitor. AASLD 2018 R2A: against antiviral therapy in immune-tolerant adults. Stiffness 5.1 kPa is below the EASL F2 cut-off of 7 kPa. All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R3 (conditional, very low certainty): for immune-tolerant adults, antiviral therapy is supported if over 40 or with grade 2 / stage 2 or worse disease. The recommendation text says 'over 40' and the guideline's algorithm says '40 or more'. The evidence is observational and the AASLD technical review calls it very uncertain, so this is a shared decision. EASL 2025 and WHO 2024 reach treatment through other pathways (fibrosis, family history of HCC); they do not use this age rule in the same way. The same labs at 34 and 41 make the point about 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lost HBeAg and seroconverted in his late 40s. DNA 8,000, ALT 48 (1.4 times the AASLD upper limit of 35), no advanced fibrosis. Let the room commit. The next slide shows what each guideline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old reference ranges included people with fatty liver, which is why the blood-donor data gave lower limits (30 for men and 19 for women in the ASHM chapter). Whichever limit you use, 48 is raised. Next slide: what each guideline does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Row 1: AASLD 2018 treats HBeAg-negative patients with DNA above 2,000 and ALT at least 2 times the upper limit (70 for a man) or significant histology, so he is observed. AASLD/IDSA 2025 R4 suggests treatment by shared decision in the indeterminate group. EASL 2025: DNA at least 2,000 with ALT above the upper limit or at least F2: treat. WHO 2024: DNA above 2,000 and ALT above the upper limit: treat. Rows 2 and 3 are the cirrhosis rows: AASLD 2018 R7A and R7B, AASLD/IDSA 2025 Figure 5, EASL (detectable DNA, any DNA if decompensated), WHO (treat regardless of DNA and ALT). The reviewer's dossier (section B1) has the full matrix. APASL 2026 criteria were not opened, so they are not shown.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Huang: 855 patients in the indeterminate phase without advanced fibrosis; weighted analysis, adjusted HR for HCC 0.30 (0.10 to 0.60). Treated 3, 4 and 9% at 5, 10 and 15 years, untreated 3, 15 and 19%. Observational, so residual confounding remains. TORCH-B: 160 Taiwanese patients, TDF 300 mg for 3 years versus placebo, paired biopsies: progression of at least one Ishak stage 19/73 (26%) versus 34/73 (47%), RR 0.56 (0.35 to 0.88). Randomized, but small and not powered for HCC. ATTENTION (interim, Lancet Gastroenterol Hepatol 2025, 734 patients, TAF versus observation): primary composite events 2 versus 9, HR 0.21, 97.5% CI 0.04 to 1.20, did not cross its stopping boundary. None of these randomized treatment against HCC. Mention the counterweight (Jeon 2021: no HCC at 5 years in biomarker-defined immune tolerance with FIB-4 under 1.45).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EASL 2025 Table 6 lists F2 above 7 kPa, F3 above 8 and F4 above 11. WHO 2024 uses APRI above 0.5 or elastography above 7 kPa as a treatment pathway, with no DNA threshold. Do not teach a single FibroScan cut-off of 8 for every purpose. The WHO cirrhosis row is from the 2015 guideline as described in the reviewer's dossier; check the 2024 text before using that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studies that point in opposite directions. Kim: Korean retrospective cohort; death or transplant 9.7% vs 3.4% at 10 years, HR 3.38 (1.85 to 6.16). The untreated group used a broad definition (DNA at least 20,000), broader than strict immune tolerance. Jeon found essentially no HCC in carefully defined immune-tolerant patients with low FIB-4. The AASLD technical review grades the evidence for clinical benefit in immune tolerance as very uncertain. Nothing here proves that treating every young, strictly immune-tolerant patient lowers lifetime HCC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Lai 2025: heterogeneity was high (I2 85.7% for HCC) and the definitions of the grey zone varied. ATTENTION: TAF 369 vs observation 365, DNA 10,000 to 100,000,000 IU/mL, ALT below 70 for men and below 50 for women, noncirrhotic, ages 40 to 80, median follow-up 17.7 months. Promising, not definitive.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US version: AASLD 2018 thresholds for immune-active disease, with the two AASLD/IDSA 2025 changes. R3 (conditional, very low certainty): immune-tolerant adults over 40, or with grade 2 / stage 2 or worse disease, are suggested for treatment; the text says over 40 and the algorithm says 40 or more. R4: the indeterminate (grey zone) group is a shared decision. Cirrhosis: AASLD 2018 R7A treats compensated cirrhosis with low viremia regardless of ALT, R7B treats decompensated cirrhosis regardless of DNA, ALT or HBeAg, and the 2025 Figure 5 treats both regardless of DNA or ALT. EASL 2025 and WHO 2024 treat more people: DNA above 2,000 with ALT above ULN, or significant fibrosis. Pregnancy and immunosuppression are separate pathways, covered later. 'Monitor' means ALT and DNA every 3 to 6 months and a fibrosis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renal rows are from the US labels. Entecavir: for CrCl 30 to 49, 0.25 mg daily or 0.5 mg every 48 hours; use the oral solution for the daily fractions. TDF: CrCl 30 to 49, 300 mg every 48 hours. TAF: no adjustment at CrCl 15 or above. TAF is not recommended in Child-Pugh B or C in the US label, and the old statement that TAF cannot be used on dialysis is out of date. The answer line is my teaching summary, based on the TAF versus TDF trial data on the next slide; confirm it is how you would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phase 3 noninferiority trials, 875 HBeAg-positive and 426 HBeAg-negative patients, double-blind. Antiviral efficacy was the same. Bone loss was smaller on TAF at the hip (-0.10% vs -1.72% and -0.29% vs -2.16%) and spine (-0.42% vs -2.29% and -0.88% vs -2.51%). The 96-week pooled analysis (Agarwal, J Hepatol 2018) held up. The 8-year report (Buti, Aliment Pharmacol Ther 2024) switched the TDF arm to TAF at year 2 or 3, so it is not a randomized 8-year comparison. Observational data do not settle entecavir versus tenofovir for HCC (Choi 2023 individual patient meta-analysis HR 0.77, 0.61 to 0.98; Lee 2020 HR 1.03, 0.70 to 1.51).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observational data are inconsistent and sensitive to design, including different start dates and follow-up. No randomized trial compares HCC. The 2019 Choi cohort in Korea has a retraction-and-replacement notice, so do not quote its original estimate. Yoo 2025 (J Hepatol Reports): TDF/TAF incidence rate ratio 1.24, entecavir/TAF 1.08 (p = 0.219); abstract only. Renal function, bone disease, resistance, pregnancy, adherence and access still decide the drug.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finite course for selected compensated patients who accept the side effects: higher ALT, lower DNA, favorable genotype and early qHBsAg decline help selection. Avoid in decompensated cirrhosis and pregnancy. These are selected populations, not general cure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AASLD 2018 and the reviewer's dossier (section C5). EASL 2025 uses 3 to 6 months initially, then 6 to 12 months after response. AASLD 2018 finds insufficient evidence to mandate routine bone density testing in people without other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entecavir, TDF and TAF are first line. Entecavir or TAF are preferred over TDF with renal dysfunction or bone disease, or risk of them. Lamivudine resistance confers cross-resistance to entecavir, so use tenofovir. Entecavir alone is not adequate in HIV: it selects HIV M184V. Pregnancy: TDF has the randomized data; AASLD/IDSA 2025 R1 accepts TDF or TAF. Decompensated cirrhosis: the 2025 Figure 5 lists TAF, but the US label does not recommend it in Child-Pugh B or C, so say that. PegIFN is contraindicated in decompensated cirrhosis and in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PAGE-B was derived in 1,815 White European adults treated with entecavir or tenofovir (1,325 derivation, 490 validation) and has three groups: 9 or less, 10 to 17 and 18 or more. Five-year HCC was 0, 3 and 17% in derivation and 0, 4 and 16% in validation. Platelet boundary: EASL prints 'above 200' and the calculator uses 200 or more; the original paper's boundary at exactly 200 is not yet checked. The PAGE-B column and strata come from the dossier (section E1). He was started on TAF when he was 52, so PAGE-B applies. In a US veterans cohort of 3,101 treated patients (39.5% White, 36.3% Black), PAGE-B had a 3-year AUC of 0.73.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calculator. PAGE-B matches the published table. The second model (HBsAg-HCC, Guo 2026, 1,190 training and 506 validation patients, abstract only) could not be checked against the paper, so say it is a research model, not validated. Do not call it externally verified. The calculator does not include REACH-B, aMAP or REAL-B.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noncirrhotic HBV: men over 40 and women over 50 from endemic regions; people of African origin earlier (the wording is origin-based, not an instruction to start every Black American at 20); family history of HCC; PAGE-B 10 or more (the table prints 'over 10' while the score's own intermediate group starts at 10). Ultrasound plus AFP every 6 months (level 2, strong). The thresholds behind these groups are about 0.2% a year for noncirrhotic HBV and 1.0% for cirrhosis. These are model-based decision thresholds, not biological cut-offs. Continue surveillance after HBsAg loss in cirrhosis, family history, men who lost HBsAg after 40 and women after 50 (AASLD/IDSA 2025 R6).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3,101 treated US veterans (39.5% White, 36.3% Black, 13.6% Asian; 113 HCC over 4.5 years) the 3-year AUC was 0.73 for PAGE-B and 0.57 for REACH-B; REAL-B and some AFP-containing models were above 0.80. REACH-B does poorly when moved from untreated noncirrhotic patients into treated ones, including those with cirrhosis. In HIV/HBV on tenofovir (2,963 patients), PAGE-B had a C-index of 0.77 and a negative predictive value of 99.4% below 10 at 5 years. Full formulas for mPAGE-B, aMAP and REAL-B were not confirmed, so do not reproduce their point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replaces the flowchart you sent: it had a Gemini watermark and no source. What the literature supports: a high HBsAg in an HBeAg-negative patient with low DNA predicts HCC, and the best studied cut-off is 1,000 IU/mL. Not supported: that qHBsAg adds nothing in F3 to F4, a universal cut-off of 100, and any reading of qHBsAg as an integration-burden meter. The Tseng 2013 Hepatology paper is about hepatitis events (HR 1.5), and the 13.2 hazard ratio in the 2012 Hepatology paper is for HBsAg loss, not HCC.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Biology, not an outcome trial. It explains why HBsAg can persist when DNA is undetectable and why 'immune tolerant' is not a safe phase. It does not show that early treatment prevents HCC. Small tissue studies; abstract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2023 Table 1 and AASLD/IDSA 2025 R6 to R9 (all conditional, very low certainty). Cirrhosis: Child-Pugh A and B patients who could be treated for HCC; Child C only if a transplant candidate. HIV coinfection: men 18 and older and women 40 and older. HBV and HCV: use the HBV criteria after HCV is treated. Surveillance continues on antivirals even when DNA is suppressed.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patient from earlier: anti-HBc positive, HBsAg negative, starting rituximab. AGA risk categories: high above 10%, moderate 1 to 10%, low below 1%. The risk depends on the drug and on serostatus: for HBsAg-positive patients, most of these drugs are high risk (anti-TNF, anthracyclines, JAK inhibitors). EASL 2025 Table 14 differs on several assignments (for example anti-TNF moderate and anthracyclines high in resolved infection), so do not mix the tables. There is no separate current ASH guideline; do not cite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High-risk exposure with anti-HBc positive: prophylaxis rather than monitoring (AGA R1, strong). Use a high-barrier drug: entecavir, TDF or TAF. Continue at least 6 months after the immunosuppression ends and at least 12 months for B-cell-depleting therapy (AGA and AASLD 2018); EASL 2025 says 6 to 12 months and at least 18 months after B-cell depletion. For a moderate-risk exposure in a DNA-negative resolved infection, AGA favors prophylaxis but accepts monitoring. ACR 2021 and ASCO 2020 give the rheumatology and oncology 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 2025: high risk above 10%, moderate 1 to 10%, low below 1%. HBsAg positive: prophylaxis for high- and moderate-risk drugs and for chemotherapy; AGA does not insist on it for every low-risk drug, so say 'nearly all'. HBsAg negative, anti-HBc positive: prophylaxis for anti-CD20 and stem cell transplant; for moderate risk AGA favors prophylaxis but accepts monitoring; low risk is monitoring. Duration: 6 months after the last dose, 12 after B-cell depleting therapy (AGA, AASLD 2018); EASL 2025 says 18 after B-cell depletion. Anti-HBs does not change the decision for anti-CD20. All negative: vaccinate (ACIP: all adults 19 to 59, and 60 and older with risk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Born in Ethiopia, HBeAg positive, all values made up. AASLD/IDSA 2025 R1 (strong, moderate certainty): DNA above 200,000 at any point, start TDF or TAF at week 28 (consider week 16 when infant HBIG is not available). WHO 2024 also treats HBeAg-positive mothers regardless of DNA. Mother's ALT is normal, so this is prophylaxis to prevent transmission; stopping at delivery is allowed when treatment was only for that purpose, with DNA and ALT every 1 to 3 months for 6 months. Infant: single-antigen hepatitis B vaccine plus HBIG within 12 hours at separate sites, then complete the series. Breastfeeding is not prohibited.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from the AASLD/IDSA 2025 recommendation and the CDC infant schedule. Infant testing is HBsAg and anti-HBs at 9 to 12 months, or 1 to 2 months after a delayed final dose. Do not use anti-HBc for infant testing after vaccination. Evidence: Pan, NEJM 2016 (200 HBeAg-positive mothers; transmission 5% vs 18% by intention to treat) and Jourdain, NEJM 2018 (331 women; 0 vs 3 infected infants, p = 0.12, not superior because infant prophylaxis was already excellent).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Pan: 200 HBeAg-positive mothers with DNA above 200,000, TDF from week 30 to 32 to 4 weeks postpartum versus usual care: infant infection 5/97 (5%) vs 18/100 (18%) by intention to treat, 0 vs 6/88 (7%) per protocol. Post-withdrawal ALT elevations in mothers 45% vs 30%. Jourdain: 331 women, TDF from week 28 to 2 months postpartum: infant infection 0/147 vs 3/147 (2%), p = 0.12. A 2025 randomized trial (Pan, JAMA) starting TDF at week 16 without HBIG was noninferior to week 28 plus HBIG: 1/131 vs 0/142.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Breastfeeding is not prohibited (AASLD 2018 and AASLD/IDSA 2025). Tenofovir levels in breast milk are low, and the baby has had vaccine and HBIG. Let the room vote first; many think the answer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R1 (strong, moderate certainty): DNA above 200,000 at any point, start TDF or TAF at week 28; consider week 16 when infant HBIG is not available. Stopping at delivery is allowed when the drug was only for prevention. WHO 2024 also treats HBeAg-positive mothers regardless of DNA. Infant testing: HBsAg and anti-HBs, not anti-HBc. CDC 2023 screens every pregnancy.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 2018 guidance statements (ungraded). Current HIV guidance and drug interactions still need review before choosing the ART regimen.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anti-HDV for exposure, HDV RNA for current infection. A nucleos(t)ide analogue suppresses HBV but does not treat HDV. In the core version, give this one line only: test every HBsAg-positive patient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MYR301 as described by FDA: immediate treatment with 8.5 mg once daily for 144 weeks versus delayed treatment (48 weeks observation, then treatment). Week 48 combined response 48% vs 2%; undetectable HDV RNA 20% vs 0%; at weeks 96 and 144 undetectable RNA 36% and 50%. Accelerated approval rests on this surrogate response; clinical benefit needs confirmation. Side effects: hypersensitivity, injection site reactions, headache, abdominal pain, fatigue, itching. The dossier's published MYR301 numbers (2 mg 45%, 10 mg 48%) are from the NEJM paper; the slide uses FDA's numbers for the approved dose. Gilead is the sponsor.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randomized, and the antivirals were those of that era. Do not promise one-third delisting to every patient today. AASLD 2018 R7B: treat decompensated disease indefinitely regardless of DNA, ALT or HBeAg, and assess for transplant. PegIFN is contraindicated. The US TAF label does not recommend Child-Pugh B or C. Call transplant hepatology.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Cholongitas: 39 studies, 903 recipients, regimens of that time, so the rates are not contemporary entecavir or tenofovir rates. AASLD 2018 supports indefinite high-barrier NA after transplant for HBV; selected low-risk patients may get no HBIG or 5 to 7 days plus NA, higher-risk patients (HIV, HDV, adherence concerns) HBIG plus NA. HBIG alone is not appropriate. The AST 2019 wording was not opened, so quote AASLD 2018 here. Fung 2017: nine-year survival 85%, no fatal HBV recurrence reported.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Label ages are approval ages, not indications to treat. WHO's noninvasive fibrosis cut-offs are not validated in children and adolescents.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HBeAg negative, started on TAF at 52. AASLD/IDSA 2025 R5 (conditional, very low certainty) suggests continuing until HBsAg loss; stopping only in exceptions: no advanced complications, DNA undetectable at least 2 years, qHBsAg under 100, no HIV or HDV, reliable follow-up. If HBeAg-positive at the start, seroconverted at least 1 year. The text says 2 years and the guideline's Figure 4 legend says 3, so quote 2 to 3. If you do stop: DNA and ALT every 1 to 3 months for 6 months, then every 3 months for 6 to 12 months, then every 3 to 6 months. Retreat for DNA 10,000 or more, ALT above 5 times ULN, bilirubin above 2.5 or decompensation (Table 3). Evidence in the extended version. Values are made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AASLD/IDSA 2025 Table 3: restart at once for DNA 10,000 or more, ALT above 5 times ULN, bilirubin above 2.5 mg/dL, or decompensation. A mild ALT rise after stopping is expected and is watched, not treated straight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R5 is conditional, very low certainty. If HBeAg-positive at the start, also seroconverted for at least 1 year. The text says 2 years of suppression and the Figure 4 legend says 3. Follow-up and retreatment triggers are from Table 3; the table says ALT above 5 times ULN and the prose says 5 times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RETRACT-B: end-of-treatment HBsAg under 100 predicted loss (subdistribution HR 22.5, 13.1 to 38.7); loss was much more likely in White than Asian patients (HR 6.8). STOP-NUC: 79 per arm, DNA undetectable at least 4 years; in those with HBsAg under 1,000, loss was 7 of 25 (28%). Loss, relapse, retreatment and sustained remission are different endpoints and cannot be subtracted from each other. Severe flares can happen: a case of HBV-induced liver failure requiring emergency transplant after a finite-treatment strategy (REEF-2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2022 AASLD/EASL endpoint conference report (published 2023). Standard nucleos(t)ide therapy rarely gives HBsAg loss. Functional cure does not show that cccDNA or integrated DNA are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FDA pages. Bepirovirsen is an antisense oligonucleotide given under the skin for up to 24 weeks, together with the existing antiviral, which continues for at least 24 weeks after the last injection; some patients can then stop it. Across the two trials 24% met the criteria to stop their existing medicine versus none on placebo, and 19% still had suppressed virus with undetectable HBsAg 24 weeks after stopping all hepatitis B treatment. The FDA also authorized a Roche qHBsAg assay as a companion diagnostic. Boxed warning for serious liver reactions and low platelets; warnings include worsening kidney function and vasculitis. Hepcludex: accelerated approval, boxed warning for severe exacerbations of HDV and HBV on discontinuation.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sponsor's phase 3 trials: 978 and 856 participants. The FDA pooled figure is 19%. The earlier phase 2b B-Clear (Yuen, NEJM 2022, 457 participants): 300 mg for 24 weeks gave sustained response in 9% on NA and 10% off NA. Eligibility is narrow (noncirrhotic, suppressed, low HBsAg), so this is not a cure rate for all patients with hepatitis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endpoints matter: HBsAg decline on NA, HBsAg loss with NA continuing, and sustained functional cure off all therapy are not the same. Xalnesiran (Hou 2024 NEJM, 159 participants; all HBsAg loss was at baseline HBsAg under 1,000). Elebsiran (ENSURE, Wong, Nat Med 2026): part 1 N = 55. JNJ-3989 REEF-1 (Yuen 2023, 470 randomized). Imdusiran (Yuen 2026). Check each paper before quoting; most are abstract-level in the dossier. Checkpoint inhibitor trials: an imdusiran plus durvalumab registry entry was withdrawn with no enrollment, which says nothing about the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the loop on the three patients. Then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QR code opens the slides PDF. The HBV HCC risk calculator is at qaddodi.github.io/chb-hcc-risk.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lstStyle>
            <a:lvl1pPr algn="ctr" indent="0" marL="0">
              <a:buNone/>
              <a:defRPr lang="en-US" sz="30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728655" cy="1280160"/>
          </a:xfrm>
          <a:prstGeom prst="rect">
            <a:avLst/>
          </a:prstGeom>
          <a:noFill/>
          <a:ln/>
        </p:spPr>
        <p:txBody>
          <a:bodyPr wrap="square" rtlCol="0"/>
          <a:lstStyle>
            <a:lvl1pPr algn="ctr" indent="0" marL="0">
              <a:buNone/>
              <a:defRPr lang="en-US" sz="4400" dirty="0">
                <a:solidFill>
                  <a:srgbClr val="000000"/>
                </a:solidFill>
                <a:latin typeface="Georgia" pitchFamily="34" charset="0"/>
                <a:ea typeface="Georgia" pitchFamily="34" charset="-122"/>
                <a:cs typeface="Georgia" pitchFamily="34" charset="-120"/>
              </a:defRPr>
            </a:lvl1pPr>
          </a:lstStyle>
          <a:p>
            <a:pPr algn="ctr" indent="0" marL="0">
              <a:buNone/>
            </a:pPr>
            <a:endParaRPr lang="en-US" sz="4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LANK">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4.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2.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2.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jp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Watercolor cover illustration">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600200"/>
            <a:ext cx="5287975" cy="1325880"/>
          </a:xfrm>
          <a:prstGeom prst="rect">
            <a:avLst/>
          </a:prstGeom>
          <a:noFill/>
          <a:ln/>
        </p:spPr>
        <p:txBody>
          <a:bodyPr wrap="square" lIns="0" tIns="0" rIns="0" bIns="0" rtlCol="0" anchor="ctr"/>
          <a:lstStyle/>
          <a:p>
            <a:pPr algn="ctr" indent="0" marL="0">
              <a:buNone/>
            </a:pPr>
            <a:r>
              <a:rPr lang="en-US" sz="4400" b="1" dirty="0">
                <a:solidFill>
                  <a:srgbClr val="000000"/>
                </a:solidFill>
                <a:latin typeface="Georgia" pitchFamily="34" charset="0"/>
                <a:ea typeface="Georgia" pitchFamily="34" charset="-122"/>
                <a:cs typeface="Georgia" pitchFamily="34" charset="-120"/>
              </a:rPr>
              <a:t>Chronic Hepatitis B</a:t>
            </a:r>
            <a:endParaRPr lang="en-US" sz="4400" dirty="0"/>
          </a:p>
        </p:txBody>
      </p:sp>
      <p:sp>
        <p:nvSpPr>
          <p:cNvPr id="4" name="Shape 1"/>
          <p:cNvSpPr/>
          <p:nvPr/>
        </p:nvSpPr>
        <p:spPr>
          <a:xfrm>
            <a:off x="7589520" y="3291840"/>
            <a:ext cx="3093415" cy="0"/>
          </a:xfrm>
          <a:prstGeom prst="line">
            <a:avLst/>
          </a:prstGeom>
          <a:noFill/>
          <a:ln w="12700">
            <a:solidFill>
              <a:srgbClr val="A6A6A6"/>
            </a:solidFill>
            <a:prstDash val="solid"/>
          </a:ln>
        </p:spPr>
      </p:sp>
      <p:sp>
        <p:nvSpPr>
          <p:cNvPr id="5" name="Text 2"/>
          <p:cNvSpPr txBox="1"/>
          <p:nvPr/>
        </p:nvSpPr>
        <p:spPr>
          <a:xfrm>
            <a:off x="6492240" y="3657600"/>
            <a:ext cx="5287975" cy="1463040"/>
          </a:xfrm>
          <a:prstGeom prst="rect">
            <a:avLst/>
          </a:prstGeom>
          <a:noFill/>
          <a:ln/>
        </p:spPr>
        <p:txBody>
          <a:bodyPr wrap="square" lIns="0" tIns="0" rIns="0" bIns="0" rtlCol="0" anchor="t"/>
          <a:lstStyle/>
          <a:p>
            <a:pPr algn="ctr" indent="0" marL="0">
              <a:spcAft>
                <a:spcPts val="400"/>
              </a:spcAft>
              <a:buNone/>
            </a:pPr>
            <a:r>
              <a:rPr lang="en-US" sz="2000" b="1" dirty="0">
                <a:solidFill>
                  <a:srgbClr val="000000"/>
                </a:solidFill>
                <a:latin typeface="Georgia" pitchFamily="34" charset="0"/>
                <a:ea typeface="Georgia" pitchFamily="34" charset="-122"/>
                <a:cs typeface="Georgia" pitchFamily="34" charset="-120"/>
              </a:rPr>
              <a:t>Mohammad Almeqdadi, MD</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Transplant Hepatologist and Gastroenterologist</a:t>
            </a:r>
            <a:endParaRPr lang="en-US" sz="2000" dirty="0"/>
          </a:p>
          <a:p>
            <a:pPr algn="ctr" indent="0" marL="0">
              <a:spcAft>
                <a:spcPts val="400"/>
              </a:spcAft>
              <a:buNone/>
            </a:pPr>
            <a:r>
              <a:rPr lang="en-US" sz="1600" dirty="0">
                <a:solidFill>
                  <a:srgbClr val="000000"/>
                </a:solidFill>
                <a:latin typeface="Georgia" pitchFamily="34" charset="0"/>
                <a:ea typeface="Georgia" pitchFamily="34" charset="-122"/>
                <a:cs typeface="Georgia" pitchFamily="34" charset="-120"/>
              </a:rPr>
              <a:t>Assistant Professor of Medicine and Surgery</a:t>
            </a:r>
            <a:endParaRPr lang="en-US" sz="2000" dirty="0"/>
          </a:p>
          <a:p>
            <a:pPr algn="ctr" indent="0" marL="0">
              <a:spcAft>
                <a:spcPts val="400"/>
              </a:spcAft>
              <a:buNone/>
            </a:pPr>
            <a:r>
              <a:rPr lang="en-US" sz="16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6" name="Image 1" descr="Tufts University School of Medicine">    </p:cNvPr>
          <p:cNvPicPr>
            <a:picLocks noChangeAspect="1"/>
          </p:cNvPicPr>
          <p:nvPr/>
        </p:nvPicPr>
        <p:blipFill>
          <a:blip r:embed="rId2"/>
          <a:stretch>
            <a:fillRect/>
          </a:stretch>
        </p:blipFill>
        <p:spPr>
          <a:xfrm>
            <a:off x="6629400" y="5349240"/>
            <a:ext cx="3465576" cy="704088"/>
          </a:xfrm>
          <a:prstGeom prst="rect">
            <a:avLst/>
          </a:prstGeom>
        </p:spPr>
      </p:pic>
      <p:pic>
        <p:nvPicPr>
          <p:cNvPr id="7" name="Image 2" descr="QR code linking to the slides PDF">    </p:cNvPr>
          <p:cNvPicPr>
            <a:picLocks noChangeAspect="1"/>
          </p:cNvPicPr>
          <p:nvPr/>
        </p:nvPicPr>
        <p:blipFill>
          <a:blip r:embed="rId3"/>
          <a:stretch>
            <a:fillRect/>
          </a:stretch>
        </p:blipFill>
        <p:spPr>
          <a:xfrm>
            <a:off x="10637215" y="4846320"/>
            <a:ext cx="1188720" cy="1188720"/>
          </a:xfrm>
          <a:prstGeom prst="rect">
            <a:avLst/>
          </a:prstGeom>
        </p:spPr>
      </p:pic>
      <p:sp>
        <p:nvSpPr>
          <p:cNvPr id="8" name="Text 3"/>
          <p:cNvSpPr txBox="1"/>
          <p:nvPr/>
        </p:nvSpPr>
        <p:spPr>
          <a:xfrm>
            <a:off x="10518343" y="6080760"/>
            <a:ext cx="1417320" cy="274320"/>
          </a:xfrm>
          <a:prstGeom prst="rect">
            <a:avLst/>
          </a:prstGeom>
          <a:noFill/>
          <a:ln/>
        </p:spPr>
        <p:txBody>
          <a:bodyPr wrap="square" lIns="0" tIns="0" rIns="0" bIns="0" rtlCol="0" anchor="ctr"/>
          <a:lstStyle/>
          <a:p>
            <a:pPr algn="ctr" indent="0" marL="0">
              <a:buNone/>
            </a:pPr>
            <a:r>
              <a:rPr lang="en-US" sz="1100" dirty="0">
                <a:solidFill>
                  <a:srgbClr val="595959"/>
                </a:solidFill>
                <a:latin typeface="Georgia" pitchFamily="34" charset="0"/>
                <a:ea typeface="Georgia" pitchFamily="34" charset="-122"/>
                <a:cs typeface="Georgia" pitchFamily="34" charset="-120"/>
              </a:rPr>
              <a:t>Slides (PDF)</a:t>
            </a:r>
            <a:endParaRPr lang="en-US" sz="1100" dirty="0"/>
          </a:p>
        </p:txBody>
      </p:sp>
      <p:sp>
        <p:nvSpPr>
          <p:cNvPr id="9" name="Text 4"/>
          <p:cNvSpPr txBox="1"/>
          <p:nvPr/>
        </p:nvSpPr>
        <p:spPr>
          <a:xfrm>
            <a:off x="365760" y="6400800"/>
            <a:ext cx="4572000" cy="274320"/>
          </a:xfrm>
          <a:prstGeom prst="rect">
            <a:avLst/>
          </a:prstGeom>
          <a:noFill/>
          <a:ln/>
        </p:spPr>
        <p:txBody>
          <a:bodyPr wrap="square" lIns="0" tIns="0" rIns="0" bIns="0" rtlCol="0" anchor="ctr"/>
          <a:lstStyle/>
          <a:p>
            <a:pPr indent="0" marL="0">
              <a:buNone/>
            </a:pPr>
            <a:r>
              <a:rPr lang="en-US" sz="1100" i="1" dirty="0">
                <a:solidFill>
                  <a:srgbClr val="7F7F7F"/>
                </a:solidFill>
                <a:latin typeface="Georgia" pitchFamily="34" charset="0"/>
                <a:ea typeface="Georgia" pitchFamily="34" charset="-122"/>
                <a:cs typeface="Georgia" pitchFamily="34" charset="-120"/>
              </a:rPr>
              <a:t>Illustrations generated with Google Gemini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Objectives</a:t>
            </a:r>
            <a:endParaRPr lang="en-US" sz="3000" dirty="0"/>
          </a:p>
        </p:txBody>
      </p:sp>
      <p:sp>
        <p:nvSpPr>
          <p:cNvPr id="3" name="Body"/>
          <p:cNvSpPr txBox="1"/>
          <p:nvPr/>
        </p:nvSpPr>
        <p:spPr>
          <a:xfrm>
            <a:off x="640080" y="1234440"/>
            <a:ext cx="6949440" cy="457200"/>
          </a:xfrm>
          <a:prstGeom prst="rect">
            <a:avLst/>
          </a:prstGeom>
          <a:noFill/>
          <a:ln/>
        </p:spPr>
        <p:txBody>
          <a:bodyPr wrap="square" lIns="50800" tIns="50800" rIns="50800" bIns="50800" rtlCol="0" anchor="t"/>
          <a:lstStyle/>
          <a:p>
            <a:pPr indent="0" marL="0">
              <a:spcBef>
                <a:spcPts val="800"/>
              </a:spcBef>
              <a:buNone/>
            </a:pPr>
            <a:r>
              <a:rPr lang="en-US" sz="2200" i="1" dirty="0">
                <a:solidFill>
                  <a:srgbClr val="000000"/>
                </a:solidFill>
                <a:latin typeface="Georgia" pitchFamily="34" charset="0"/>
                <a:ea typeface="Georgia" pitchFamily="34" charset="-122"/>
                <a:cs typeface="Georgia" pitchFamily="34" charset="-120"/>
              </a:rPr>
              <a:t>By the end of this talk you should be able to:</a:t>
            </a:r>
            <a:endParaRPr lang="en-US" sz="2200" dirty="0"/>
          </a:p>
        </p:txBody>
      </p:sp>
      <p:sp>
        <p:nvSpPr>
          <p:cNvPr id="4" name="Body"/>
          <p:cNvSpPr txBox="1"/>
          <p:nvPr/>
        </p:nvSpPr>
        <p:spPr>
          <a:xfrm>
            <a:off x="640080" y="1874520"/>
            <a:ext cx="6766560" cy="4389120"/>
          </a:xfrm>
          <a:prstGeom prst="rect">
            <a:avLst/>
          </a:prstGeom>
          <a:noFill/>
          <a:ln/>
        </p:spPr>
        <p:txBody>
          <a:bodyPr wrap="square" lIns="50800" tIns="50800" rIns="50800" bIns="50800" rtlCol="0" anchor="t"/>
          <a:lstStyle/>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Read a hepatitis B serology panel</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Place a patient in the right phase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Decide who to treat, using the current guidelines</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Estimate HCC risk and set up surveillance</a:t>
            </a:r>
            <a:endParaRPr lang="en-US" sz="2200" dirty="0"/>
          </a:p>
          <a:p>
            <a:pPr marL="228600" indent="-228600">
              <a:spcBef>
                <a:spcPts val="1200"/>
              </a:spcBef>
              <a:buSzPct val="100000"/>
              <a:buChar char="–"/>
            </a:pPr>
            <a:r>
              <a:rPr lang="en-US" sz="2200" dirty="0">
                <a:solidFill>
                  <a:srgbClr val="000000"/>
                </a:solidFill>
                <a:latin typeface="Georgia" pitchFamily="34" charset="0"/>
                <a:ea typeface="Georgia" pitchFamily="34" charset="-122"/>
                <a:cs typeface="Georgia" pitchFamily="34" charset="-120"/>
              </a:rPr>
              <a:t>Prevent reactivation and transmission to the baby</a:t>
            </a:r>
            <a:endParaRPr lang="en-US" sz="2200" dirty="0"/>
          </a:p>
        </p:txBody>
      </p:sp>
      <p:pic>
        <p:nvPicPr>
          <p:cNvPr id="5"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2/64</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Australia antigen</a:t>
            </a:r>
            <a:endParaRPr lang="en-US" sz="3000" dirty="0"/>
          </a:p>
        </p:txBody>
      </p:sp>
      <p:pic>
        <p:nvPicPr>
          <p:cNvPr id="3" name="Image 0" descr="Title and summary of Blumberg, Alter and Visnich, JAMA 1965">    </p:cNvPr>
          <p:cNvPicPr>
            <a:picLocks noChangeAspect="1"/>
          </p:cNvPicPr>
          <p:nvPr/>
        </p:nvPicPr>
        <p:blipFill>
          <a:blip r:embed="rId1"/>
          <a:stretch>
            <a:fillRect/>
          </a:stretch>
        </p:blipFill>
        <p:spPr>
          <a:xfrm>
            <a:off x="548640" y="1188720"/>
            <a:ext cx="6675120" cy="2226715"/>
          </a:xfrm>
          <a:prstGeom prst="rect">
            <a:avLst/>
          </a:prstGeom>
        </p:spPr>
      </p:pic>
      <p:pic>
        <p:nvPicPr>
          <p:cNvPr id="4" name="Image 1" descr="Paragraph describing the serum from an Australian aborigine">    </p:cNvPr>
          <p:cNvPicPr>
            <a:picLocks noChangeAspect="1"/>
          </p:cNvPicPr>
          <p:nvPr/>
        </p:nvPicPr>
        <p:blipFill>
          <a:blip r:embed="rId2"/>
          <a:stretch>
            <a:fillRect/>
          </a:stretch>
        </p:blipFill>
        <p:spPr>
          <a:xfrm>
            <a:off x="548640" y="3794760"/>
            <a:ext cx="6675120" cy="1811211"/>
          </a:xfrm>
          <a:prstGeom prst="rect">
            <a:avLst/>
          </a:prstGeom>
        </p:spPr>
      </p:pic>
      <p:sp>
        <p:nvSpPr>
          <p:cNvPr id="5" name="Body"/>
          <p:cNvSpPr txBox="1"/>
          <p:nvPr/>
        </p:nvSpPr>
        <p:spPr>
          <a:xfrm>
            <a:off x="7498080" y="1554480"/>
            <a:ext cx="4297680" cy="4937760"/>
          </a:xfrm>
          <a:prstGeom prst="rect">
            <a:avLst/>
          </a:prstGeom>
          <a:noFill/>
          <a:ln/>
        </p:spPr>
        <p:txBody>
          <a:bodyPr wrap="square" lIns="50800" tIns="50800" rIns="50800" bIns="50800" rtlCol="0" anchor="t"/>
          <a:lstStyle/>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Found in the serum of some normal people from foreign populations, and in none of the normal US subjects</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Frequent in acute leukemia, which is why the paper is about leukemia</a:t>
            </a:r>
            <a:endParaRPr lang="en-US" sz="2100" dirty="0"/>
          </a:p>
          <a:p>
            <a:pPr marL="228600" indent="-228600">
              <a:spcBef>
                <a:spcPts val="1600"/>
              </a:spcBef>
              <a:buSzPct val="100000"/>
              <a:buChar char="–"/>
            </a:pPr>
            <a:r>
              <a:rPr lang="en-US" sz="2100" dirty="0">
                <a:solidFill>
                  <a:srgbClr val="000000"/>
                </a:solidFill>
                <a:latin typeface="Georgia" pitchFamily="34" charset="0"/>
                <a:ea typeface="Georgia" pitchFamily="34" charset="-122"/>
                <a:cs typeface="Georgia" pitchFamily="34" charset="-120"/>
              </a:rPr>
              <a:t>Blumberg shared the 1976 Nobel Prize with Carleton Gajdusek</a:t>
            </a:r>
            <a:endParaRPr lang="en-US" sz="21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Blumberg BS, Alter HJ, Visnich S. JAMA 1965;191:541-546. PMID 14239025.</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3/64</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From antigen to vaccine</a:t>
            </a:r>
            <a:endParaRPr lang="en-US" sz="3000" dirty="0"/>
          </a:p>
        </p:txBody>
      </p:sp>
      <p:sp>
        <p:nvSpPr>
          <p:cNvPr id="3" name="Shape 1"/>
          <p:cNvSpPr/>
          <p:nvPr/>
        </p:nvSpPr>
        <p:spPr>
          <a:xfrm>
            <a:off x="274320" y="2377440"/>
            <a:ext cx="7498080" cy="0"/>
          </a:xfrm>
          <a:prstGeom prst="line">
            <a:avLst/>
          </a:prstGeom>
          <a:noFill/>
          <a:ln w="25400">
            <a:solidFill>
              <a:srgbClr val="595959"/>
            </a:solidFill>
            <a:prstDash val="solid"/>
          </a:ln>
        </p:spPr>
      </p:sp>
      <p:sp>
        <p:nvSpPr>
          <p:cNvPr id="4" name="Shape 2"/>
          <p:cNvSpPr/>
          <p:nvPr/>
        </p:nvSpPr>
        <p:spPr>
          <a:xfrm>
            <a:off x="941832" y="2295144"/>
            <a:ext cx="164592" cy="164592"/>
          </a:xfrm>
          <a:prstGeom prst="ellipse">
            <a:avLst/>
          </a:prstGeom>
          <a:solidFill>
            <a:srgbClr val="1F4E79"/>
          </a:solidFill>
          <a:ln w="12700">
            <a:solidFill>
              <a:srgbClr val="1F4E79"/>
            </a:solidFill>
            <a:prstDash val="solid"/>
          </a:ln>
        </p:spPr>
      </p:sp>
      <p:sp>
        <p:nvSpPr>
          <p:cNvPr id="5" name="Text 3"/>
          <p:cNvSpPr txBox="1"/>
          <p:nvPr/>
        </p:nvSpPr>
        <p:spPr>
          <a:xfrm>
            <a:off x="274320"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1965</a:t>
            </a:r>
            <a:endParaRPr lang="en-US" sz="2800" dirty="0"/>
          </a:p>
        </p:txBody>
      </p:sp>
      <p:sp>
        <p:nvSpPr>
          <p:cNvPr id="6" name="Text 4"/>
          <p:cNvSpPr txBox="1"/>
          <p:nvPr/>
        </p:nvSpPr>
        <p:spPr>
          <a:xfrm>
            <a:off x="347472"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Alter and Visnich describe the Australia antigen</a:t>
            </a:r>
            <a:endParaRPr lang="en-US" sz="1500" dirty="0"/>
          </a:p>
        </p:txBody>
      </p:sp>
      <p:sp>
        <p:nvSpPr>
          <p:cNvPr id="7" name="Shape 5"/>
          <p:cNvSpPr/>
          <p:nvPr/>
        </p:nvSpPr>
        <p:spPr>
          <a:xfrm>
            <a:off x="2441448" y="2295144"/>
            <a:ext cx="164592" cy="164592"/>
          </a:xfrm>
          <a:prstGeom prst="ellipse">
            <a:avLst/>
          </a:prstGeom>
          <a:solidFill>
            <a:srgbClr val="1F4E79"/>
          </a:solidFill>
          <a:ln w="12700">
            <a:solidFill>
              <a:srgbClr val="1F4E79"/>
            </a:solidFill>
            <a:prstDash val="solid"/>
          </a:ln>
        </p:spPr>
      </p:sp>
      <p:sp>
        <p:nvSpPr>
          <p:cNvPr id="8" name="Text 6"/>
          <p:cNvSpPr txBox="1"/>
          <p:nvPr/>
        </p:nvSpPr>
        <p:spPr>
          <a:xfrm>
            <a:off x="1773936"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1970</a:t>
            </a:r>
            <a:endParaRPr lang="en-US" sz="2800" dirty="0"/>
          </a:p>
        </p:txBody>
      </p:sp>
      <p:sp>
        <p:nvSpPr>
          <p:cNvPr id="9" name="Text 7"/>
          <p:cNvSpPr txBox="1"/>
          <p:nvPr/>
        </p:nvSpPr>
        <p:spPr>
          <a:xfrm>
            <a:off x="1847088"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Dane, Cameron and Briggs see the virus particle in serum</a:t>
            </a:r>
            <a:endParaRPr lang="en-US" sz="1500" dirty="0"/>
          </a:p>
        </p:txBody>
      </p:sp>
      <p:sp>
        <p:nvSpPr>
          <p:cNvPr id="10" name="Shape 8"/>
          <p:cNvSpPr/>
          <p:nvPr/>
        </p:nvSpPr>
        <p:spPr>
          <a:xfrm>
            <a:off x="3941064" y="2295144"/>
            <a:ext cx="164592" cy="164592"/>
          </a:xfrm>
          <a:prstGeom prst="ellipse">
            <a:avLst/>
          </a:prstGeom>
          <a:solidFill>
            <a:srgbClr val="1F4E79"/>
          </a:solidFill>
          <a:ln w="12700">
            <a:solidFill>
              <a:srgbClr val="1F4E79"/>
            </a:solidFill>
            <a:prstDash val="solid"/>
          </a:ln>
        </p:spPr>
      </p:sp>
      <p:sp>
        <p:nvSpPr>
          <p:cNvPr id="11" name="Text 9"/>
          <p:cNvSpPr txBox="1"/>
          <p:nvPr/>
        </p:nvSpPr>
        <p:spPr>
          <a:xfrm>
            <a:off x="3273552"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1976</a:t>
            </a:r>
            <a:endParaRPr lang="en-US" sz="2800" dirty="0"/>
          </a:p>
        </p:txBody>
      </p:sp>
      <p:sp>
        <p:nvSpPr>
          <p:cNvPr id="12" name="Text 10"/>
          <p:cNvSpPr txBox="1"/>
          <p:nvPr/>
        </p:nvSpPr>
        <p:spPr>
          <a:xfrm>
            <a:off x="3346704"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Blumberg and Gajdusek receive the Nobel Prize. First immunization of people with plasma-derived vaccine (Maupas)</a:t>
            </a:r>
            <a:endParaRPr lang="en-US" sz="1500" dirty="0"/>
          </a:p>
        </p:txBody>
      </p:sp>
      <p:sp>
        <p:nvSpPr>
          <p:cNvPr id="13" name="Shape 11"/>
          <p:cNvSpPr/>
          <p:nvPr/>
        </p:nvSpPr>
        <p:spPr>
          <a:xfrm>
            <a:off x="5440680" y="2295144"/>
            <a:ext cx="164592" cy="164592"/>
          </a:xfrm>
          <a:prstGeom prst="ellipse">
            <a:avLst/>
          </a:prstGeom>
          <a:solidFill>
            <a:srgbClr val="1F4E79"/>
          </a:solidFill>
          <a:ln w="12700">
            <a:solidFill>
              <a:srgbClr val="1F4E79"/>
            </a:solidFill>
            <a:prstDash val="solid"/>
          </a:ln>
        </p:spPr>
      </p:sp>
      <p:sp>
        <p:nvSpPr>
          <p:cNvPr id="14" name="Text 12"/>
          <p:cNvSpPr txBox="1"/>
          <p:nvPr/>
        </p:nvSpPr>
        <p:spPr>
          <a:xfrm>
            <a:off x="4773168"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1980</a:t>
            </a:r>
            <a:endParaRPr lang="en-US" sz="2800" dirty="0"/>
          </a:p>
        </p:txBody>
      </p:sp>
      <p:sp>
        <p:nvSpPr>
          <p:cNvPr id="15" name="Text 13"/>
          <p:cNvSpPr txBox="1"/>
          <p:nvPr/>
        </p:nvSpPr>
        <p:spPr>
          <a:xfrm>
            <a:off x="4846320"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Szmuness: the vaccine works in a controlled trial of 1,083 men</a:t>
            </a:r>
            <a:endParaRPr lang="en-US" sz="1500" dirty="0"/>
          </a:p>
        </p:txBody>
      </p:sp>
      <p:sp>
        <p:nvSpPr>
          <p:cNvPr id="16" name="Shape 14"/>
          <p:cNvSpPr/>
          <p:nvPr/>
        </p:nvSpPr>
        <p:spPr>
          <a:xfrm>
            <a:off x="6940296" y="2295144"/>
            <a:ext cx="164592" cy="164592"/>
          </a:xfrm>
          <a:prstGeom prst="ellipse">
            <a:avLst/>
          </a:prstGeom>
          <a:solidFill>
            <a:srgbClr val="1F4E79"/>
          </a:solidFill>
          <a:ln w="12700">
            <a:solidFill>
              <a:srgbClr val="1F4E79"/>
            </a:solidFill>
            <a:prstDash val="solid"/>
          </a:ln>
        </p:spPr>
      </p:sp>
      <p:sp>
        <p:nvSpPr>
          <p:cNvPr id="17" name="Text 15"/>
          <p:cNvSpPr txBox="1"/>
          <p:nvPr/>
        </p:nvSpPr>
        <p:spPr>
          <a:xfrm>
            <a:off x="6272784" y="1600200"/>
            <a:ext cx="1499616" cy="548640"/>
          </a:xfrm>
          <a:prstGeom prst="rect">
            <a:avLst/>
          </a:prstGeom>
          <a:noFill/>
          <a:ln/>
        </p:spPr>
        <p:txBody>
          <a:bodyPr wrap="square" lIns="0" tIns="0" rIns="0" bIns="0" rtlCol="0" anchor="b"/>
          <a:lstStyle/>
          <a:p>
            <a:pPr algn="ctr" indent="0" marL="0">
              <a:buNone/>
            </a:pPr>
            <a:r>
              <a:rPr lang="en-US" sz="2800" b="1" dirty="0">
                <a:solidFill>
                  <a:srgbClr val="000000"/>
                </a:solidFill>
                <a:latin typeface="Georgia" pitchFamily="34" charset="0"/>
                <a:ea typeface="Georgia" pitchFamily="34" charset="-122"/>
                <a:cs typeface="Georgia" pitchFamily="34" charset="-120"/>
              </a:rPr>
              <a:t>1981</a:t>
            </a:r>
            <a:endParaRPr lang="en-US" sz="2800" dirty="0"/>
          </a:p>
        </p:txBody>
      </p:sp>
      <p:sp>
        <p:nvSpPr>
          <p:cNvPr id="18" name="Text 16"/>
          <p:cNvSpPr txBox="1"/>
          <p:nvPr/>
        </p:nvSpPr>
        <p:spPr>
          <a:xfrm>
            <a:off x="6345936" y="2651760"/>
            <a:ext cx="1353312" cy="3108960"/>
          </a:xfrm>
          <a:prstGeom prst="rect">
            <a:avLst/>
          </a:prstGeom>
          <a:noFill/>
          <a:ln/>
        </p:spPr>
        <p:txBody>
          <a:bodyPr wrap="square" lIns="0" tIns="0" rIns="0" bIns="0" rtlCol="0" anchor="t"/>
          <a:lstStyle/>
          <a:p>
            <a:pPr algn="ctr" indent="0" marL="0">
              <a:buNone/>
            </a:pPr>
            <a:r>
              <a:rPr lang="en-US" sz="1500" dirty="0">
                <a:solidFill>
                  <a:srgbClr val="000000"/>
                </a:solidFill>
                <a:latin typeface="Georgia" pitchFamily="34" charset="0"/>
                <a:ea typeface="Georgia" pitchFamily="34" charset="-122"/>
                <a:cs typeface="Georgia" pitchFamily="34" charset="-120"/>
              </a:rPr>
              <a:t>Beasley: HBsAg carriers in Taiwan get liver cancer at a far higher rate</a:t>
            </a:r>
            <a:endParaRPr lang="en-US" sz="1500" dirty="0"/>
          </a:p>
        </p:txBody>
      </p:sp>
      <p:pic>
        <p:nvPicPr>
          <p:cNvPr id="19" name="Image 0" descr="Watercolor of a glass vaccine vial and a glass syringe">    </p:cNvPr>
          <p:cNvPicPr>
            <a:picLocks noChangeAspect="1"/>
          </p:cNvPicPr>
          <p:nvPr/>
        </p:nvPicPr>
        <p:blipFill>
          <a:blip r:embed="rId1"/>
          <a:stretch>
            <a:fillRect/>
          </a:stretch>
        </p:blipFill>
        <p:spPr>
          <a:xfrm>
            <a:off x="7863840" y="1097280"/>
            <a:ext cx="4206240" cy="4206240"/>
          </a:xfrm>
          <a:prstGeom prst="rect">
            <a:avLst/>
          </a:prstGeom>
        </p:spPr>
      </p:pic>
      <p:sp>
        <p:nvSpPr>
          <p:cNvPr id="2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PMIDs: Dane 4190997; Maupas 59012; Szmuness 6997738; Beasley 6118576.</a:t>
            </a:r>
            <a:endParaRPr lang="en-US" sz="1000" dirty="0"/>
          </a:p>
        </p:txBody>
      </p:sp>
      <p:sp>
        <p:nvSpPr>
          <p:cNvPr id="2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Prince, 1968</a:t>
            </a:r>
            <a:endParaRPr lang="en-US" sz="3000" dirty="0"/>
          </a:p>
        </p:txBody>
      </p:sp>
      <p:pic>
        <p:nvPicPr>
          <p:cNvPr id="3" name="Image 0" descr="Title and first paragraph of Prince, PNAS 1968">    </p:cNvPr>
          <p:cNvPicPr>
            <a:picLocks noChangeAspect="1"/>
          </p:cNvPicPr>
          <p:nvPr/>
        </p:nvPicPr>
        <p:blipFill>
          <a:blip r:embed="rId1"/>
          <a:stretch>
            <a:fillRect/>
          </a:stretch>
        </p:blipFill>
        <p:spPr>
          <a:xfrm>
            <a:off x="1225177" y="1234440"/>
            <a:ext cx="9741342" cy="4114800"/>
          </a:xfrm>
          <a:prstGeom prst="rect">
            <a:avLst/>
          </a:prstGeom>
        </p:spPr>
      </p:pic>
      <p:sp>
        <p:nvSpPr>
          <p:cNvPr id="4" name="Body"/>
          <p:cNvSpPr txBox="1"/>
          <p:nvPr/>
        </p:nvSpPr>
        <p:spPr>
          <a:xfrm>
            <a:off x="1097280" y="5486400"/>
            <a:ext cx="9997135" cy="640080"/>
          </a:xfrm>
          <a:prstGeom prst="rect">
            <a:avLst/>
          </a:prstGeom>
          <a:noFill/>
          <a:ln/>
        </p:spPr>
        <p:txBody>
          <a:bodyPr wrap="square" lIns="50800" tIns="50800" rIns="50800" bIns="50800" rtlCol="0" anchor="t"/>
          <a:lstStyle/>
          <a:p>
            <a:pPr marL="228600" indent="-228600">
              <a:spcBef>
                <a:spcPts val="800"/>
              </a:spcBef>
              <a:buSzPct val="100000"/>
              <a:buChar char="–"/>
            </a:pPr>
            <a:r>
              <a:rPr lang="en-US" sz="2000" dirty="0">
                <a:solidFill>
                  <a:srgbClr val="000000"/>
                </a:solidFill>
                <a:latin typeface="Georgia" pitchFamily="34" charset="0"/>
                <a:ea typeface="Georgia" pitchFamily="34" charset="-122"/>
                <a:cs typeface="Georgia" pitchFamily="34" charset="-120"/>
              </a:rPr>
              <a:t>Okochi and Murakami reported the antigen in Japanese the same year</a:t>
            </a:r>
            <a:endParaRPr lang="en-US" sz="20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Prince AM. PNAS 1968;60:814-821, PMID 4970112. Okochi K, Murakami S. Vox Sang 1968;15:374-385, PMID 5749015.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5/64</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Dane, 1970</a:t>
            </a:r>
            <a:endParaRPr lang="en-US" sz="3000" dirty="0"/>
          </a:p>
        </p:txBody>
      </p:sp>
      <p:pic>
        <p:nvPicPr>
          <p:cNvPr id="3" name="Image 0" descr="Title and summary of Dane, Cameron and Briggs, Lancet 1970">    </p:cNvPr>
          <p:cNvPicPr>
            <a:picLocks noChangeAspect="1"/>
          </p:cNvPicPr>
          <p:nvPr/>
        </p:nvPicPr>
        <p:blipFill>
          <a:blip r:embed="rId1"/>
          <a:stretch>
            <a:fillRect/>
          </a:stretch>
        </p:blipFill>
        <p:spPr>
          <a:xfrm>
            <a:off x="548640" y="1280160"/>
            <a:ext cx="5760720" cy="3933133"/>
          </a:xfrm>
          <a:prstGeom prst="rect">
            <a:avLst/>
          </a:prstGeom>
        </p:spPr>
      </p:pic>
      <p:pic>
        <p:nvPicPr>
          <p:cNvPr id="4" name="Image 1" descr="Electron micrograph, Figure 1 of the paper">    </p:cNvPr>
          <p:cNvPicPr>
            <a:picLocks noChangeAspect="1"/>
          </p:cNvPicPr>
          <p:nvPr/>
        </p:nvPicPr>
        <p:blipFill>
          <a:blip r:embed="rId2"/>
          <a:stretch>
            <a:fillRect/>
          </a:stretch>
        </p:blipFill>
        <p:spPr>
          <a:xfrm>
            <a:off x="6994232" y="1188720"/>
            <a:ext cx="4390977" cy="50292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Dane DS, Cameron CH, Briggs M. Lancet 1970;1:695-698. PMID 4190997.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6/64</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Beasley, Taiwan, 1981</a:t>
            </a:r>
            <a:endParaRPr lang="en-US" sz="3000" dirty="0"/>
          </a:p>
        </p:txBody>
      </p:sp>
      <p:pic>
        <p:nvPicPr>
          <p:cNvPr id="3" name="Image 0" descr="Title and summary of Beasley et al., Lancet 1981">    </p:cNvPr>
          <p:cNvPicPr>
            <a:picLocks noChangeAspect="1"/>
          </p:cNvPicPr>
          <p:nvPr/>
        </p:nvPicPr>
        <p:blipFill>
          <a:blip r:embed="rId1"/>
          <a:stretch>
            <a:fillRect/>
          </a:stretch>
        </p:blipFill>
        <p:spPr>
          <a:xfrm>
            <a:off x="548640" y="1234440"/>
            <a:ext cx="5652522" cy="4937760"/>
          </a:xfrm>
          <a:prstGeom prst="rect">
            <a:avLst/>
          </a:prstGeom>
        </p:spPr>
      </p:pic>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6858000" y="2011680"/>
          <a:ext cx="4937760" cy="914400"/>
        </p:xfrm>
        <a:graphic>
          <a:graphicData uri="http://schemas.openxmlformats.org/drawingml/2006/table">
            <a:tbl>
              <a:tblPr/>
              <a:tblGrid>
                <a:gridCol w="2084832"/>
                <a:gridCol w="1517904"/>
                <a:gridCol w="1335024"/>
              </a:tblGrid>
              <a:tr h="404165">
                <a:tc>
                  <a:txBody>
                    <a:bodyPr/>
                    <a:lstStyle/>
                    <a:p>
                      <a:pPr algn="l" indent="0" marL="0">
                        <a:buNone/>
                      </a:pP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HBsAg 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700" b="1" dirty="0">
                          <a:solidFill>
                            <a:srgbClr val="000000"/>
                          </a:solidFill>
                          <a:latin typeface="Calibri" pitchFamily="34" charset="0"/>
                          <a:ea typeface="Calibri" pitchFamily="34" charset="-122"/>
                          <a:cs typeface="Calibri" pitchFamily="34" charset="-120"/>
                        </a:rPr>
                        <a:t>Non-carriers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HCC incidence per 100,000</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1,158</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4812">
                <a:tc>
                  <a:txBody>
                    <a:bodyPr/>
                    <a:lstStyle/>
                    <a:p>
                      <a:pPr algn="l" indent="0" marL="0">
                        <a:buNone/>
                      </a:pPr>
                      <a:r>
                        <a:rPr lang="en-US" sz="1700" dirty="0">
                          <a:solidFill>
                            <a:srgbClr val="000000"/>
                          </a:solidFill>
                          <a:latin typeface="Calibri" pitchFamily="34" charset="0"/>
                          <a:ea typeface="Calibri" pitchFamily="34" charset="-122"/>
                          <a:cs typeface="Calibri" pitchFamily="34" charset="-120"/>
                        </a:rPr>
                        <a:t>Deaths from HCC or cirrhosis</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54.3% of 105</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700" dirty="0">
                          <a:solidFill>
                            <a:srgbClr val="000000"/>
                          </a:solidFill>
                          <a:latin typeface="Calibri" pitchFamily="34" charset="0"/>
                          <a:ea typeface="Calibri" pitchFamily="34" charset="-122"/>
                          <a:cs typeface="Calibri" pitchFamily="34" charset="-120"/>
                        </a:rPr>
                        <a:t>1.5% of 202</a:t>
                      </a:r>
                      <a:endParaRPr lang="en-US" sz="17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858000" y="4023360"/>
            <a:ext cx="49377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Relative risk 223</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Beasley RP et al. Lancet 1981;2:1129-1133. PMID 6118576.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7/64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Szmuness, 1980</a:t>
            </a:r>
            <a:endParaRPr lang="en-US" sz="3000" dirty="0"/>
          </a:p>
        </p:txBody>
      </p:sp>
      <p:pic>
        <p:nvPicPr>
          <p:cNvPr id="3" name="Image 0" descr="Title and abstract of Szmuness et al., NEJM 1980">    </p:cNvPr>
          <p:cNvPicPr>
            <a:picLocks noChangeAspect="1"/>
          </p:cNvPicPr>
          <p:nvPr/>
        </p:nvPicPr>
        <p:blipFill>
          <a:blip r:embed="rId1"/>
          <a:stretch>
            <a:fillRect/>
          </a:stretch>
        </p:blipFill>
        <p:spPr>
          <a:xfrm>
            <a:off x="1222156" y="1188720"/>
            <a:ext cx="9747384" cy="502920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Szmuness W et al. N Engl J Med 1980;303:833-841. PMID 6997738.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8/64</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Text 6"/>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9" name="Text 7"/>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0"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2"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9/64</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worldwide</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How many people with chronic hepatitis B know it?</a:t>
            </a:r>
            <a:endParaRPr lang="en-US" sz="26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194560"/>
            <a:ext cx="1463040" cy="3200400"/>
          </a:xfrm>
          <a:prstGeom prst="rect">
            <a:avLst/>
          </a:prstGeom>
          <a:solidFill>
            <a:srgbClr val="9DB4CA"/>
          </a:solidFill>
          <a:ln w="6350">
            <a:solidFill>
              <a:srgbClr val="9DB4CA"/>
            </a:solidFill>
            <a:prstDash val="solid"/>
          </a:ln>
        </p:spPr>
      </p:sp>
      <p:sp>
        <p:nvSpPr>
          <p:cNvPr id="6" name="Text 4"/>
          <p:cNvSpPr txBox="1"/>
          <p:nvPr/>
        </p:nvSpPr>
        <p:spPr>
          <a:xfrm>
            <a:off x="2011680" y="173736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Living with chronic hepatitis B (254 million)</a:t>
            </a:r>
            <a:endParaRPr lang="en-US" sz="1800" dirty="0"/>
          </a:p>
        </p:txBody>
      </p:sp>
      <p:sp>
        <p:nvSpPr>
          <p:cNvPr id="8" name="Shape 6"/>
          <p:cNvSpPr/>
          <p:nvPr/>
        </p:nvSpPr>
        <p:spPr>
          <a:xfrm>
            <a:off x="5364328" y="4978908"/>
            <a:ext cx="1463040" cy="416052"/>
          </a:xfrm>
          <a:prstGeom prst="rect">
            <a:avLst/>
          </a:prstGeom>
          <a:solidFill>
            <a:srgbClr val="1F4E79"/>
          </a:solidFill>
          <a:ln w="6350">
            <a:solidFill>
              <a:srgbClr val="1F4E79"/>
            </a:solidFill>
            <a:prstDash val="solid"/>
          </a:ln>
        </p:spPr>
      </p:sp>
      <p:sp>
        <p:nvSpPr>
          <p:cNvPr id="9" name="Text 7"/>
          <p:cNvSpPr txBox="1"/>
          <p:nvPr/>
        </p:nvSpPr>
        <p:spPr>
          <a:xfrm>
            <a:off x="4734458" y="4521708"/>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13%</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Diagnosed</a:t>
            </a:r>
            <a:endParaRPr lang="en-US" sz="1800" dirty="0"/>
          </a:p>
        </p:txBody>
      </p:sp>
      <p:sp>
        <p:nvSpPr>
          <p:cNvPr id="11" name="Shape 9"/>
          <p:cNvSpPr/>
          <p:nvPr/>
        </p:nvSpPr>
        <p:spPr>
          <a:xfrm>
            <a:off x="8087106" y="5298948"/>
            <a:ext cx="1463040" cy="96012"/>
          </a:xfrm>
          <a:prstGeom prst="rect">
            <a:avLst/>
          </a:prstGeom>
          <a:solidFill>
            <a:srgbClr val="1F4E79"/>
          </a:solidFill>
          <a:ln w="6350">
            <a:solidFill>
              <a:srgbClr val="1F4E79"/>
            </a:solidFill>
            <a:prstDash val="solid"/>
          </a:ln>
        </p:spPr>
      </p:sp>
      <p:sp>
        <p:nvSpPr>
          <p:cNvPr id="12" name="Text 10"/>
          <p:cNvSpPr txBox="1"/>
          <p:nvPr/>
        </p:nvSpPr>
        <p:spPr>
          <a:xfrm>
            <a:off x="7457237" y="4841748"/>
            <a:ext cx="2722778" cy="411480"/>
          </a:xfrm>
          <a:prstGeom prst="rect">
            <a:avLst/>
          </a:prstGeom>
          <a:noFill/>
          <a:ln/>
        </p:spPr>
        <p:txBody>
          <a:bodyPr wrap="square" lIns="0" tIns="0" rIns="0" bIns="0" rtlCol="0" anchor="b"/>
          <a:lstStyle/>
          <a:p>
            <a:pPr algn="ctr" indent="0" marL="0">
              <a:buNone/>
            </a:pPr>
            <a:r>
              <a:rPr lang="en-US" sz="2200" b="1" dirty="0">
                <a:solidFill>
                  <a:srgbClr val="C00000"/>
                </a:solidFill>
                <a:latin typeface="Calibri" pitchFamily="34" charset="0"/>
                <a:ea typeface="Calibri" pitchFamily="34" charset="-122"/>
                <a:cs typeface="Calibri" pitchFamily="34" charset="-120"/>
              </a:rPr>
              <a:t>3%</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Treated (about 7 million)</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news release 9 April 2024 (2022 estimates), rounded. WHO Global hepatitis report 2024.</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9/64</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Text 3"/>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6" name="Text 4"/>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7" name="Text 5"/>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10/64</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becomes chronic?</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How often does infection become chronic, by age at infection?</a:t>
            </a:r>
            <a:endParaRPr lang="en-US" sz="2400" dirty="0"/>
          </a:p>
        </p:txBody>
      </p:sp>
      <p:sp>
        <p:nvSpPr>
          <p:cNvPr id="4" name="Shape 2"/>
          <p:cNvSpPr/>
          <p:nvPr/>
        </p:nvSpPr>
        <p:spPr>
          <a:xfrm>
            <a:off x="2011680" y="5394960"/>
            <a:ext cx="8168335" cy="0"/>
          </a:xfrm>
          <a:prstGeom prst="line">
            <a:avLst/>
          </a:prstGeom>
          <a:noFill/>
          <a:ln w="19050">
            <a:solidFill>
              <a:srgbClr val="595959"/>
            </a:solidFill>
            <a:prstDash val="solid"/>
          </a:ln>
        </p:spPr>
      </p:sp>
      <p:sp>
        <p:nvSpPr>
          <p:cNvPr id="5" name="Shape 3"/>
          <p:cNvSpPr/>
          <p:nvPr/>
        </p:nvSpPr>
        <p:spPr>
          <a:xfrm>
            <a:off x="2641549" y="2514600"/>
            <a:ext cx="1463040" cy="2880360"/>
          </a:xfrm>
          <a:prstGeom prst="rect">
            <a:avLst/>
          </a:prstGeom>
          <a:solidFill>
            <a:srgbClr val="1F4E79"/>
          </a:solidFill>
          <a:ln w="6350">
            <a:solidFill>
              <a:srgbClr val="1F4E79"/>
            </a:solidFill>
            <a:prstDash val="solid"/>
          </a:ln>
        </p:spPr>
      </p:sp>
      <p:sp>
        <p:nvSpPr>
          <p:cNvPr id="6" name="Text 4"/>
          <p:cNvSpPr txBox="1"/>
          <p:nvPr/>
        </p:nvSpPr>
        <p:spPr>
          <a:xfrm>
            <a:off x="2011680" y="205740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90%</a:t>
            </a:r>
            <a:endParaRPr lang="en-US" sz="2200" dirty="0"/>
          </a:p>
        </p:txBody>
      </p:sp>
      <p:sp>
        <p:nvSpPr>
          <p:cNvPr id="7" name="Text 5"/>
          <p:cNvSpPr txBox="1"/>
          <p:nvPr/>
        </p:nvSpPr>
        <p:spPr>
          <a:xfrm>
            <a:off x="2057400"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birth</a:t>
            </a:r>
            <a:endParaRPr lang="en-US" sz="1800" dirty="0"/>
          </a:p>
        </p:txBody>
      </p:sp>
      <p:sp>
        <p:nvSpPr>
          <p:cNvPr id="8" name="Shape 6"/>
          <p:cNvSpPr/>
          <p:nvPr/>
        </p:nvSpPr>
        <p:spPr>
          <a:xfrm>
            <a:off x="5364328" y="4434840"/>
            <a:ext cx="1463040" cy="960120"/>
          </a:xfrm>
          <a:prstGeom prst="rect">
            <a:avLst/>
          </a:prstGeom>
          <a:solidFill>
            <a:srgbClr val="1F4E79"/>
          </a:solidFill>
          <a:ln w="6350">
            <a:solidFill>
              <a:srgbClr val="1F4E79"/>
            </a:solidFill>
            <a:prstDash val="solid"/>
          </a:ln>
        </p:spPr>
      </p:sp>
      <p:sp>
        <p:nvSpPr>
          <p:cNvPr id="9" name="Text 7"/>
          <p:cNvSpPr txBox="1"/>
          <p:nvPr/>
        </p:nvSpPr>
        <p:spPr>
          <a:xfrm>
            <a:off x="4734458" y="39776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About 30%</a:t>
            </a:r>
            <a:endParaRPr lang="en-US" sz="2200" dirty="0"/>
          </a:p>
        </p:txBody>
      </p:sp>
      <p:sp>
        <p:nvSpPr>
          <p:cNvPr id="10" name="Text 8"/>
          <p:cNvSpPr txBox="1"/>
          <p:nvPr/>
        </p:nvSpPr>
        <p:spPr>
          <a:xfrm>
            <a:off x="4780178"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at age 1 to 4</a:t>
            </a:r>
            <a:endParaRPr lang="en-US" sz="1800" dirty="0"/>
          </a:p>
        </p:txBody>
      </p:sp>
      <p:sp>
        <p:nvSpPr>
          <p:cNvPr id="11" name="Shape 9"/>
          <p:cNvSpPr/>
          <p:nvPr/>
        </p:nvSpPr>
        <p:spPr>
          <a:xfrm>
            <a:off x="8087106" y="5234940"/>
            <a:ext cx="1463040" cy="160020"/>
          </a:xfrm>
          <a:prstGeom prst="rect">
            <a:avLst/>
          </a:prstGeom>
          <a:solidFill>
            <a:srgbClr val="1F4E79"/>
          </a:solidFill>
          <a:ln w="6350">
            <a:solidFill>
              <a:srgbClr val="1F4E79"/>
            </a:solidFill>
            <a:prstDash val="solid"/>
          </a:ln>
        </p:spPr>
      </p:sp>
      <p:sp>
        <p:nvSpPr>
          <p:cNvPr id="12" name="Text 10"/>
          <p:cNvSpPr txBox="1"/>
          <p:nvPr/>
        </p:nvSpPr>
        <p:spPr>
          <a:xfrm>
            <a:off x="7457237" y="4777740"/>
            <a:ext cx="2722778" cy="411480"/>
          </a:xfrm>
          <a:prstGeom prst="rect">
            <a:avLst/>
          </a:prstGeom>
          <a:noFill/>
          <a:ln/>
        </p:spPr>
        <p:txBody>
          <a:bodyPr wrap="square" lIns="0" tIns="0" rIns="0" bIns="0" rtlCol="0" anchor="b"/>
          <a:lstStyle/>
          <a:p>
            <a:pPr algn="ctr" indent="0" marL="0">
              <a:buNone/>
            </a:pPr>
            <a:r>
              <a:rPr lang="en-US" sz="2200" b="1" dirty="0">
                <a:solidFill>
                  <a:srgbClr val="000000"/>
                </a:solidFill>
                <a:latin typeface="Calibri" pitchFamily="34" charset="0"/>
                <a:ea typeface="Calibri" pitchFamily="34" charset="-122"/>
                <a:cs typeface="Calibri" pitchFamily="34" charset="-120"/>
              </a:rPr>
              <a:t>Under 5%</a:t>
            </a:r>
            <a:endParaRPr lang="en-US" sz="2200" dirty="0"/>
          </a:p>
        </p:txBody>
      </p:sp>
      <p:sp>
        <p:nvSpPr>
          <p:cNvPr id="13" name="Text 11"/>
          <p:cNvSpPr txBox="1"/>
          <p:nvPr/>
        </p:nvSpPr>
        <p:spPr>
          <a:xfrm>
            <a:off x="7502957" y="5468112"/>
            <a:ext cx="2631338" cy="731520"/>
          </a:xfrm>
          <a:prstGeom prst="rect">
            <a:avLst/>
          </a:prstGeom>
          <a:noFill/>
          <a:ln/>
        </p:spPr>
        <p:txBody>
          <a:bodyPr wrap="square" lIns="0" tIns="0" rIns="0" bIns="0" rtlCol="0" anchor="t"/>
          <a:lstStyle/>
          <a:p>
            <a:pPr algn="ctr" indent="0" marL="0">
              <a:buNone/>
            </a:pPr>
            <a:r>
              <a:rPr lang="en-US" sz="1800" dirty="0">
                <a:solidFill>
                  <a:srgbClr val="000000"/>
                </a:solidFill>
                <a:latin typeface="Calibri" pitchFamily="34" charset="0"/>
                <a:ea typeface="Calibri" pitchFamily="34" charset="-122"/>
                <a:cs typeface="Calibri" pitchFamily="34" charset="-120"/>
              </a:rPr>
              <a:t>Infected as an adult</a:t>
            </a:r>
            <a:endParaRPr lang="en-US" sz="1800" dirty="0"/>
          </a:p>
        </p:txBody>
      </p:sp>
      <p:sp>
        <p:nvSpPr>
          <p:cNvPr id="1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WHO guidelines for chronic hepatitis B, 2024. CDC perinatal hepatitis B overview, 2025.</a:t>
            </a:r>
            <a:endParaRPr lang="en-US" sz="1000" dirty="0"/>
          </a:p>
        </p:txBody>
      </p:sp>
      <p:sp>
        <p:nvSpPr>
          <p:cNvPr id="1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10/64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B in the United States</a:t>
            </a:r>
            <a:endParaRPr lang="en-US" sz="3000" dirty="0"/>
          </a:p>
        </p:txBody>
      </p:sp>
      <p:graphicFrame>
        <p:nvGraphicFramePr>
          <p:cNvPr id="14" name="Table"/>
          <p:cNvGraphicFramePr>
            <a:graphicFrameLocks noGrp="1"/>
          </p:cNvGraphicFramePr>
          <p:nvPr>
            <p:extLst>
              <p:ext uri="{D42A27DB-BD31-4B8C-83A1-F6EECF244321}">
                <p14:modId xmlns:p14="http://schemas.microsoft.com/office/powerpoint/2010/main" val="1579011935"/>
              </p:ext>
            </p:extLst>
          </p:nvPr>
        </p:nvGraphicFramePr>
        <p:xfrm>
          <a:off x="731520" y="1554480"/>
          <a:ext cx="10728655" cy="914400"/>
        </p:xfrm>
        <a:graphic>
          <a:graphicData uri="http://schemas.openxmlformats.org/drawingml/2006/table">
            <a:tbl>
              <a:tblPr/>
              <a:tblGrid>
                <a:gridCol w="4242816"/>
                <a:gridCol w="3465576"/>
                <a:gridCol w="3017520"/>
              </a:tblGrid>
              <a:tr h="523037">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Estimate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People with chronic HBV</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Source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NHANES 2013 to 2018</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880,000 (580,000 to 1.17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Household survey</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0975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Meta-analysis including immigrants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1.89 million (1.49 to 2.4 million)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1.47 million are foreign-born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Not aware of the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two-thirds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23037">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Born outside the US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About 69%</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CDC 2023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Conners EE et al. MMWR Recomm Rep 2023;72(1):1-25. PMID 36893044.</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11/64</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5"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Screening an adult for hepatitis B</a:t>
            </a:r>
            <a:endParaRPr lang="en-US" sz="3000" dirty="0"/>
          </a:p>
        </p:txBody>
      </p:sp>
      <p:sp>
        <p:nvSpPr>
          <p:cNvPr id="3" name="Question"/>
          <p:cNvSpPr txBox="1"/>
          <p:nvPr/>
        </p:nvSpPr>
        <p:spPr>
          <a:xfrm>
            <a:off x="822960" y="118872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three tests make up the screening panel?</a:t>
            </a:r>
            <a:endParaRPr lang="en-US" sz="2400" dirty="0"/>
          </a:p>
        </p:txBody>
      </p:sp>
      <p:graphicFrame>
        <p:nvGraphicFramePr>
          <p:cNvPr id="16" name="Table"/>
          <p:cNvGraphicFramePr>
            <a:graphicFrameLocks noGrp="1"/>
          </p:cNvGraphicFramePr>
          <p:nvPr>
            <p:extLst>
              <p:ext uri="{D42A27DB-BD31-4B8C-83A1-F6EECF244321}">
                <p14:modId xmlns:p14="http://schemas.microsoft.com/office/powerpoint/2010/main" val="1579011935"/>
              </p:ext>
            </p:extLst>
          </p:nvPr>
        </p:nvGraphicFramePr>
        <p:xfrm>
          <a:off x="1463040" y="2011680"/>
          <a:ext cx="9265615" cy="914400"/>
        </p:xfrm>
        <a:graphic>
          <a:graphicData uri="http://schemas.openxmlformats.org/drawingml/2006/table">
            <a:tbl>
              <a:tblPr/>
              <a:tblGrid>
                <a:gridCol w="6519672"/>
                <a:gridCol w="2743200"/>
              </a:tblGrid>
              <a:tr h="777240">
                <a:tc>
                  <a:txBody>
                    <a:bodyPr/>
                    <a:lstStyle/>
                    <a:p>
                      <a:pPr algn="l" indent="0" marL="0">
                        <a:buNone/>
                      </a:pPr>
                      <a:r>
                        <a:rPr lang="en-US" sz="2400" b="1" dirty="0">
                          <a:solidFill>
                            <a:srgbClr val="000000"/>
                          </a:solidFill>
                          <a:latin typeface="Calibri" pitchFamily="34" charset="0"/>
                          <a:ea typeface="Calibri" pitchFamily="34" charset="-122"/>
                          <a:cs typeface="Calibri" pitchFamily="34" charset="-120"/>
                        </a:rPr>
                        <a:t>Question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400" b="1" dirty="0">
                          <a:solidFill>
                            <a:srgbClr val="000000"/>
                          </a:solidFill>
                          <a:latin typeface="Calibri" pitchFamily="34" charset="0"/>
                          <a:ea typeface="Calibri" pitchFamily="34" charset="-122"/>
                          <a:cs typeface="Calibri" pitchFamily="34" charset="-120"/>
                        </a:rPr>
                        <a:t>Test</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there a current infection?</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HBsAg</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Is the patient immune?</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Anti-HBs</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400" dirty="0">
                          <a:solidFill>
                            <a:srgbClr val="000000"/>
                          </a:solidFill>
                          <a:latin typeface="Calibri" pitchFamily="34" charset="0"/>
                          <a:ea typeface="Calibri" pitchFamily="34" charset="-122"/>
                          <a:cs typeface="Calibri" pitchFamily="34" charset="-120"/>
                        </a:rPr>
                        <a:t>Has the patient ever been exposed?</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400" dirty="0">
                          <a:solidFill>
                            <a:srgbClr val="000000"/>
                          </a:solidFill>
                          <a:latin typeface="Calibri" pitchFamily="34" charset="0"/>
                          <a:ea typeface="Calibri" pitchFamily="34" charset="-122"/>
                          <a:cs typeface="Calibri" pitchFamily="34" charset="-120"/>
                        </a:rPr>
                        <a:t>Total anti-HBc</a:t>
                      </a:r>
                      <a:endParaRPr lang="en-US" sz="24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12064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Once for every adult 18 and older, and in every pregnancy</a:t>
            </a:r>
            <a:endParaRPr lang="en-US" sz="22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recommendations, MMWR Recomm Rep 2023;72(1):1-25, PMID 36893044.</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12/64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13/64</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Five panels</a:t>
            </a:r>
            <a:endParaRPr lang="en-US" sz="3000" dirty="0"/>
          </a:p>
        </p:txBody>
      </p:sp>
      <p:sp>
        <p:nvSpPr>
          <p:cNvPr id="3" name="Question"/>
          <p:cNvSpPr txBox="1"/>
          <p:nvPr/>
        </p:nvSpPr>
        <p:spPr>
          <a:xfrm>
            <a:off x="822960" y="114300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does each panel mean?</a:t>
            </a:r>
            <a:endParaRPr lang="en-US" sz="24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731520" y="1783080"/>
          <a:ext cx="10728655" cy="914400"/>
        </p:xfrm>
        <a:graphic>
          <a:graphicData uri="http://schemas.openxmlformats.org/drawingml/2006/table">
            <a:tbl>
              <a:tblPr/>
              <a:tblGrid>
                <a:gridCol w="1234440"/>
                <a:gridCol w="1133856"/>
                <a:gridCol w="2185416"/>
                <a:gridCol w="2020824"/>
                <a:gridCol w="1444752"/>
                <a:gridCol w="2706624"/>
              </a:tblGrid>
              <a:tr h="713232">
                <a:tc>
                  <a:txBody>
                    <a:bodyPr/>
                    <a:lstStyle/>
                    <a:p>
                      <a:pPr algn="l"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IgM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Interpretation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1</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Susceptible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2</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Vaccinated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3</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Resolved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4</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13232">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Panel 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Acute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Interpretation per CDC 2023 (Table 1), MMWR Recomm Rep 2023;72(1):1-25.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13/64</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19"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14/64</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61-year-old woman starting rituximab</a:t>
            </a:r>
            <a:endParaRPr lang="en-US" sz="3000" dirty="0"/>
          </a:p>
        </p:txBody>
      </p:sp>
      <p:graphicFrame>
        <p:nvGraphicFramePr>
          <p:cNvPr id="20" name="Table"/>
          <p:cNvGraphicFramePr>
            <a:graphicFrameLocks noGrp="1"/>
          </p:cNvGraphicFramePr>
          <p:nvPr>
            <p:extLst>
              <p:ext uri="{D42A27DB-BD31-4B8C-83A1-F6EECF244321}">
                <p14:modId xmlns:p14="http://schemas.microsoft.com/office/powerpoint/2010/main" val="1579011935"/>
              </p:ext>
            </p:extLst>
          </p:nvPr>
        </p:nvGraphicFramePr>
        <p:xfrm>
          <a:off x="1097280" y="1234440"/>
          <a:ext cx="9997135" cy="914400"/>
        </p:xfrm>
        <a:graphic>
          <a:graphicData uri="http://schemas.openxmlformats.org/drawingml/2006/table">
            <a:tbl>
              <a:tblPr/>
              <a:tblGrid>
                <a:gridCol w="1517904"/>
                <a:gridCol w="2935224"/>
                <a:gridCol w="1947672"/>
                <a:gridCol w="2066544"/>
                <a:gridCol w="1527048"/>
              </a:tblGrid>
              <a:tr h="548640">
                <a:tc>
                  <a:txBody>
                    <a:bodyPr/>
                    <a:lstStyle/>
                    <a:p>
                      <a:pPr algn="l" indent="0" marL="0">
                        <a:buNone/>
                      </a:pPr>
                      <a:r>
                        <a:rPr lang="en-US" sz="2200" b="1"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Total anti-HBc</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Anti-HBs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Not done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28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265176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could this be, and what do you order?</a:t>
            </a:r>
            <a:endParaRPr lang="en-US" sz="24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1097280" y="3246120"/>
          <a:ext cx="9997135" cy="914400"/>
        </p:xfrm>
        <a:graphic>
          <a:graphicData uri="http://schemas.openxmlformats.org/drawingml/2006/table">
            <a:tbl>
              <a:tblPr/>
              <a:tblGrid>
                <a:gridCol w="5340096"/>
                <a:gridCol w="4654296"/>
              </a:tblGrid>
              <a:tr h="566928">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Possibility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How you sort it out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Resolved infection, anti-HBs has waned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Occult infection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HBV DNA 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Window period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IgM anti-HBc 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False-positive anti-HBc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Repeat testing, DNA undetectable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CDC 2023 (Table 1), PMID 36893044; AASLD 2018 hepatitis B guidance, PMID 29405329.</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14/64</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sp>
        <p:nvSpPr>
          <p:cNvPr id="3" name="Question"/>
          <p:cNvSpPr txBox="1"/>
          <p:nvPr/>
        </p:nvSpPr>
        <p:spPr>
          <a:xfrm>
            <a:off x="822960" y="1051560"/>
            <a:ext cx="10545775" cy="45720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Where do HBV DNA, ALT and the antigens go over a lifetime?</a:t>
            </a:r>
            <a:endParaRPr lang="en-US" sz="2200" dirty="0"/>
          </a:p>
        </p:txBody>
      </p:sp>
      <p:pic>
        <p:nvPicPr>
          <p:cNvPr id="4"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Natural history of chronic hepatitis B</a:t>
            </a:r>
            <a:endParaRPr lang="en-US" sz="3000" dirty="0"/>
          </a:p>
        </p:txBody>
      </p:sp>
      <p:pic>
        <p:nvPicPr>
          <p:cNvPr id="3" name="Image 0" descr="Layered natural history figure">    </p:cNvPr>
          <p:cNvPicPr>
            <a:picLocks noChangeAspect="1"/>
          </p:cNvPicPr>
          <p:nvPr/>
        </p:nvPicPr>
        <p:blipFill>
          <a:blip r:embed="rId1"/>
          <a:stretch>
            <a:fillRect/>
          </a:stretch>
        </p:blipFill>
        <p:spPr>
          <a:xfrm>
            <a:off x="1895323" y="1508760"/>
            <a:ext cx="8401050" cy="4800600"/>
          </a:xfrm>
          <a:prstGeom prst="rect">
            <a:avLst/>
          </a:prstGeom>
        </p:spPr>
      </p:pic>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15/64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published version</a:t>
            </a:r>
            <a:endParaRPr lang="en-US" sz="3000" dirty="0"/>
          </a:p>
        </p:txBody>
      </p:sp>
      <p:pic>
        <p:nvPicPr>
          <p:cNvPr id="3" name="Image 0" descr="GESA 2022 natural history figure">    </p:cNvPr>
          <p:cNvPicPr>
            <a:picLocks noChangeAspect="1"/>
          </p:cNvPicPr>
          <p:nvPr/>
        </p:nvPicPr>
        <p:blipFill>
          <a:blip r:embed="rId1"/>
          <a:stretch>
            <a:fillRect/>
          </a:stretch>
        </p:blipFill>
        <p:spPr>
          <a:xfrm>
            <a:off x="2815726" y="1188720"/>
            <a:ext cx="6530068" cy="5074920"/>
          </a:xfrm>
          <a:prstGeom prst="rect">
            <a:avLst/>
          </a:prstGeom>
        </p:spPr>
      </p:pic>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GESA Australian consensus recommendations for the management of hepatitis B infection, 2022, Figure 3.1 (as shown in the ASHM B Positive chapter).</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16/64</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7"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17/64</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Match the labs to the phase</a:t>
            </a:r>
            <a:endParaRPr lang="en-US" sz="3000" dirty="0"/>
          </a:p>
        </p:txBody>
      </p:sp>
      <p:graphicFrame>
        <p:nvGraphicFramePr>
          <p:cNvPr id="28" name="Table"/>
          <p:cNvGraphicFramePr>
            <a:graphicFrameLocks noGrp="1"/>
          </p:cNvGraphicFramePr>
          <p:nvPr>
            <p:extLst>
              <p:ext uri="{D42A27DB-BD31-4B8C-83A1-F6EECF244321}">
                <p14:modId xmlns:p14="http://schemas.microsoft.com/office/powerpoint/2010/main" val="1579011935"/>
              </p:ext>
            </p:extLst>
          </p:nvPr>
        </p:nvGraphicFramePr>
        <p:xfrm>
          <a:off x="731520" y="1463040"/>
          <a:ext cx="10728655" cy="914400"/>
        </p:xfrm>
        <a:graphic>
          <a:graphicData uri="http://schemas.openxmlformats.org/drawingml/2006/table">
            <a:tbl>
              <a:tblPr/>
              <a:tblGrid>
                <a:gridCol w="1472184"/>
                <a:gridCol w="3163824"/>
                <a:gridCol w="1280160"/>
                <a:gridCol w="4809744"/>
              </a:tblGrid>
              <a:tr h="82296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HBV DNA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ALT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Phase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10,000,000 or more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10,000 to 10,000,000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HBeAg-positive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Below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Normal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infection</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Above 2,000</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Raised</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HBeAg-negative chronic hepatitis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Clinical Practice Guidelines on hepatitis B 2025, Table 4. J Hepatol 2025;83:502-583, PMID 40348683. Values are 'usually'.</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17/64</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29"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18/64</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34-year-old man, born in Vietnam</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60,000,000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No. Monitor ALT and DNA every 3 to 6 months</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18/64</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19/64</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41 years old</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457200" y="1188720"/>
          <a:ext cx="6675120" cy="914400"/>
        </p:xfrm>
        <a:graphic>
          <a:graphicData uri="http://schemas.openxmlformats.org/drawingml/2006/table">
            <a:tbl>
              <a:tblPr/>
              <a:tblGrid>
                <a:gridCol w="2935224"/>
                <a:gridCol w="3739896"/>
              </a:tblGrid>
              <a:tr h="502920">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Test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200" b="1" dirty="0">
                          <a:solidFill>
                            <a:srgbClr val="000000"/>
                          </a:solidFill>
                          <a:latin typeface="Calibri" pitchFamily="34" charset="0"/>
                          <a:ea typeface="Calibri" pitchFamily="34" charset="-122"/>
                          <a:cs typeface="Calibri" pitchFamily="34" charset="-120"/>
                        </a:rPr>
                        <a:t>Result</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HBsAg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HBeAg</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Positive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Anti-HBe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Negative</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HBV DNA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C00000"/>
                          </a:solidFill>
                          <a:latin typeface="Calibri" pitchFamily="34" charset="0"/>
                          <a:ea typeface="Calibri" pitchFamily="34" charset="-122"/>
                          <a:cs typeface="Calibri" pitchFamily="34" charset="-120"/>
                        </a:rPr>
                        <a:t>55,000,000 IU/mL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ALT (ULN 35)</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26 U/L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Platelets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245 x 10^9/L</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Liver stiffness</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000000"/>
                          </a:solidFill>
                          <a:latin typeface="Calibri" pitchFamily="34" charset="0"/>
                          <a:ea typeface="Calibri" pitchFamily="34" charset="-122"/>
                          <a:cs typeface="Calibri" pitchFamily="34" charset="-120"/>
                        </a:rPr>
                        <a:t>5.1 kPa</a:t>
                      </a:r>
                      <a:endParaRPr lang="en-US" sz="22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man in his thirties seated in clinic">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34924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Does the answer change?</a:t>
            </a:r>
            <a:endParaRPr lang="en-US" sz="2600" dirty="0"/>
          </a:p>
        </p:txBody>
      </p:sp>
      <p:sp>
        <p:nvSpPr>
          <p:cNvPr id="6" name="Question"/>
          <p:cNvSpPr txBox="1"/>
          <p:nvPr/>
        </p:nvSpPr>
        <p:spPr>
          <a:xfrm>
            <a:off x="274320" y="5897880"/>
            <a:ext cx="7040880" cy="54864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AASLD/IDSA 2025: over age 40 supports treatment</a:t>
            </a:r>
            <a:endParaRPr lang="en-US" sz="2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19/64</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now 52 years old</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6675120" cy="914400"/>
        </p:xfrm>
        <a:graphic>
          <a:graphicData uri="http://schemas.openxmlformats.org/drawingml/2006/table">
            <a:tbl>
              <a:tblPr/>
              <a:tblGrid>
                <a:gridCol w="3419856"/>
                <a:gridCol w="3255264"/>
              </a:tblGrid>
              <a:tr h="475488">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Test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Result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HBeAg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Negative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Anti-HBe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Positive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HBV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8,000 IU/mL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ALT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C00000"/>
                          </a:solidFill>
                          <a:latin typeface="Calibri" pitchFamily="34" charset="0"/>
                          <a:ea typeface="Calibri" pitchFamily="34" charset="-122"/>
                          <a:cs typeface="Calibri" pitchFamily="34" charset="-120"/>
                        </a:rPr>
                        <a:t>48 U/L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Platelets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190 x 10^9/L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FIB-4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1.8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475488">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Liver stiffness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6.8 kPa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7315200" y="1051560"/>
            <a:ext cx="4754880" cy="4754880"/>
          </a:xfrm>
          <a:prstGeom prst="rect">
            <a:avLst/>
          </a:prstGeom>
        </p:spPr>
      </p:pic>
      <p:sp>
        <p:nvSpPr>
          <p:cNvPr id="5" name="Question"/>
          <p:cNvSpPr txBox="1"/>
          <p:nvPr/>
        </p:nvSpPr>
        <p:spPr>
          <a:xfrm>
            <a:off x="457200" y="5623560"/>
            <a:ext cx="667512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Do you treat him?</a:t>
            </a:r>
            <a:endParaRPr lang="en-US" sz="26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20/64</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counts as a normal ALT?</a:t>
            </a:r>
            <a:endParaRPr lang="en-US" sz="3000" dirty="0"/>
          </a:p>
        </p:txBody>
      </p:sp>
      <p:graphicFrame>
        <p:nvGraphicFramePr>
          <p:cNvPr id="3" name="Chart 0" descr=""/>
          <p:cNvGraphicFramePr/>
          <p:nvPr/>
        </p:nvGraphicFramePr>
        <p:xfrm>
          <a:off x="548640" y="118872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229600" y="2103120"/>
            <a:ext cx="3566160" cy="2560320"/>
          </a:xfrm>
          <a:prstGeom prst="rect">
            <a:avLst/>
          </a:prstGeom>
          <a:noFill/>
          <a:ln/>
        </p:spPr>
        <p:txBody>
          <a:bodyPr wrap="square" lIns="0" tIns="0" rIns="0" bIns="0" rtlCol="0" anchor="ctr"/>
          <a:lstStyle/>
          <a:p>
            <a:pPr algn="ctr" indent="0" marL="0">
              <a:buNone/>
            </a:pPr>
            <a:r>
              <a:rPr lang="en-US" sz="2400" dirty="0">
                <a:solidFill>
                  <a:srgbClr val="000000"/>
                </a:solidFill>
                <a:latin typeface="Georgia" pitchFamily="34" charset="0"/>
                <a:ea typeface="Georgia" pitchFamily="34" charset="-122"/>
                <a:cs typeface="Georgia" pitchFamily="34" charset="-120"/>
              </a:rPr>
              <a:t>His ALT</a:t>
            </a:r>
            <a:endParaRPr lang="en-US" sz="2400" dirty="0"/>
          </a:p>
          <a:p>
            <a:pPr algn="ctr" indent="0" marL="0">
              <a:buNone/>
            </a:pPr>
            <a:r>
              <a:rPr lang="en-US" sz="5400" b="1" dirty="0">
                <a:solidFill>
                  <a:srgbClr val="C00000"/>
                </a:solidFill>
                <a:latin typeface="Georgia" pitchFamily="34" charset="0"/>
                <a:ea typeface="Georgia" pitchFamily="34" charset="-122"/>
                <a:cs typeface="Georgia" pitchFamily="34" charset="-120"/>
              </a:rPr>
              <a:t>48 U/L</a:t>
            </a:r>
            <a:endParaRPr lang="en-US" sz="2400" dirty="0"/>
          </a:p>
          <a:p>
            <a:pPr algn="ctr" indent="0" marL="0">
              <a:buNone/>
            </a:pPr>
            <a:r>
              <a:rPr lang="en-US" sz="2200" dirty="0">
                <a:solidFill>
                  <a:srgbClr val="000000"/>
                </a:solidFill>
                <a:latin typeface="Georgia" pitchFamily="34" charset="0"/>
                <a:ea typeface="Georgia" pitchFamily="34" charset="-122"/>
                <a:cs typeface="Georgia" pitchFamily="34" charset="-120"/>
              </a:rPr>
              <a:t>Above all three limits</a:t>
            </a:r>
            <a:endParaRPr lang="en-US" sz="24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Upper limits of normal as listed in the guidelines. AASLD 2018 PMID 29405329; WHO 2024; EASL 2025 PMID 40348683.</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21/64</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5"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22/64</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labs, four guidelines</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Treat or not?</a:t>
            </a:r>
            <a:endParaRPr lang="en-US" sz="24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4626864"/>
                <a:gridCol w="1545336"/>
                <a:gridCol w="2176272"/>
                <a:gridCol w="1344168"/>
                <a:gridCol w="1399032"/>
              </a:tblGrid>
              <a:tr h="86868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 2018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AASLD/IDSA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52 y, HBeAg-negative, DNA 8,000, ALT 48</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Observe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Shared decision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DNA 500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Decompensated cirrhosis, any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Treat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Hepatology 2026;83:974-997 PMID 41186418; EASL 2025 PMID 40348683; WHO 2024 (NBK614987).</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22/64</a:t>
            </a:r>
            <a:endParaRPr lang="en-US" sz="9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822960" y="4023360"/>
            <a:ext cx="10545775"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do you expect?</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23/64</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treating this group help?</a:t>
            </a:r>
            <a:endParaRPr lang="en-US" sz="3000" dirty="0"/>
          </a:p>
        </p:txBody>
      </p:sp>
      <p:graphicFrame>
        <p:nvGraphicFramePr>
          <p:cNvPr id="38"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2203704"/>
                <a:gridCol w="2121408"/>
                <a:gridCol w="3611880"/>
                <a:gridCol w="3154680"/>
              </a:tblGrid>
              <a:tr h="50292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Design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Outcome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Huang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Observational</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855, no advanced fibrosis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HCC, 5 to 15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0292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TORCH-B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Randomized</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160, ALT 1 to 2 x ULN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Progression at 3 years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 y="3337560"/>
          <a:ext cx="603504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766560" y="3337560"/>
          <a:ext cx="4937760" cy="292608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3017520"/>
            <a:ext cx="603504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Cumulative HCC risk, %</a:t>
            </a:r>
            <a:endParaRPr lang="en-US" sz="1500" dirty="0"/>
          </a:p>
        </p:txBody>
      </p:sp>
      <p:sp>
        <p:nvSpPr>
          <p:cNvPr id="7" name="Text 2"/>
          <p:cNvSpPr txBox="1"/>
          <p:nvPr/>
        </p:nvSpPr>
        <p:spPr>
          <a:xfrm>
            <a:off x="6766560" y="3017520"/>
            <a:ext cx="4937760" cy="274320"/>
          </a:xfrm>
          <a:prstGeom prst="rect">
            <a:avLst/>
          </a:prstGeom>
          <a:noFill/>
          <a:ln/>
        </p:spPr>
        <p:txBody>
          <a:bodyPr wrap="square" lIns="0" tIns="0" rIns="0" bIns="0" rtlCol="0" anchor="ctr"/>
          <a:lstStyle/>
          <a:p>
            <a:pPr algn="ctr" indent="0" marL="0">
              <a:buNone/>
            </a:pPr>
            <a:r>
              <a:rPr lang="en-US" sz="1500" dirty="0">
                <a:solidFill>
                  <a:srgbClr val="595959"/>
                </a:solidFill>
                <a:latin typeface="Calibri" pitchFamily="34" charset="0"/>
                <a:ea typeface="Calibri" pitchFamily="34" charset="-122"/>
                <a:cs typeface="Calibri" pitchFamily="34" charset="-120"/>
              </a:rPr>
              <a:t>Histologic progression, %</a:t>
            </a:r>
            <a:endParaRPr lang="en-US" sz="1500" dirty="0"/>
          </a:p>
        </p:txBody>
      </p:sp>
      <p:sp>
        <p:nvSpPr>
          <p:cNvPr id="8"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Huang DQ et al. Hepatology 2023;78:1558-1568, PMID 37184202. Hsu YC et al. Lancet Infect Dis 2021;21:823-833, PMID 33524314.</a:t>
            </a:r>
            <a:endParaRPr lang="en-US" sz="1000" dirty="0"/>
          </a:p>
        </p:txBody>
      </p:sp>
      <p:sp>
        <p:nvSpPr>
          <p:cNvPr id="10"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23/64</a:t>
            </a:r>
            <a:endParaRPr lang="en-US" sz="9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Fibrosis staging by elastography</a:t>
            </a:r>
            <a:endParaRPr lang="en-US" sz="3000" dirty="0"/>
          </a:p>
        </p:txBody>
      </p:sp>
      <p:graphicFrame>
        <p:nvGraphicFramePr>
          <p:cNvPr id="39"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6949440" cy="914400"/>
        </p:xfrm>
        <a:graphic>
          <a:graphicData uri="http://schemas.openxmlformats.org/drawingml/2006/table">
            <a:tbl>
              <a:tblPr/>
              <a:tblGrid>
                <a:gridCol w="2551176"/>
                <a:gridCol w="1618488"/>
                <a:gridCol w="2779776"/>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EASL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WHO 2024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(F2)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7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Above 7 kPa, or APRI above 0.5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Advanced fibrosis (F3)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8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Cirrhosis (F4)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Above 11 kPa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APRI above 2 in the 2015 guideline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transient elastography probe">    </p:cNvPr>
          <p:cNvPicPr>
            <a:picLocks noChangeAspect="1"/>
          </p:cNvPicPr>
          <p:nvPr/>
        </p:nvPicPr>
        <p:blipFill>
          <a:blip r:embed="rId1"/>
          <a:stretch>
            <a:fillRect/>
          </a:stretch>
        </p:blipFill>
        <p:spPr>
          <a:xfrm>
            <a:off x="7680960" y="1188720"/>
            <a:ext cx="4206240" cy="420624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EASL 2025 PMID 40348683; WHO 2024 chapter 5.</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24/64</a:t>
            </a:r>
            <a:endParaRPr lang="en-US" sz="9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Treat everyone with high DNA and normal ALT?</a:t>
            </a:r>
            <a:endParaRPr lang="en-US" sz="3000" dirty="0"/>
          </a:p>
        </p:txBody>
      </p:sp>
      <p:graphicFrame>
        <p:nvGraphicFramePr>
          <p:cNvPr id="4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978408"/>
                <a:gridCol w="4764024"/>
                <a:gridCol w="4983480"/>
              </a:tblGrid>
              <a:tr h="822960">
                <a:tc>
                  <a:txBody>
                    <a:bodyPr/>
                    <a:lstStyle/>
                    <a:p>
                      <a:pPr algn="l" indent="0" marL="0">
                        <a:buNone/>
                      </a:pP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Kim, Gut 2018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Jeon, Clin Mol Hepatol 2021</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413 untreated immune-tolerant, 1,497 treated immune-active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Biomarker-defined immune tolerance, FIB-4 under 1.45 subgroup</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Result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10-year HCC 12.7% vs 6.1%; adjusted HR 2.54 (1.54 to 4.18)</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0% at 1, 3 and 5 years vs 0.2, 0.6 and 1.4% in comparators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Limit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Different phases, selected 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Small low-risk sample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Kim GA et al. Gut 2018;67:945-952, PMID 29055908. Jeon MY et al. Clin Mol Hepatol 2021;27:295-304, PMID 33317247.</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25/64</a:t>
            </a:r>
            <a:endParaRPr lang="en-US" sz="9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The indeterminate phase</a:t>
            </a:r>
            <a:endParaRPr lang="en-US" sz="3000" dirty="0"/>
          </a:p>
        </p:txBody>
      </p:sp>
      <p:graphicFrame>
        <p:nvGraphicFramePr>
          <p:cNvPr id="41"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5102352"/>
                <a:gridCol w="5623560"/>
              </a:tblGrid>
              <a:tr h="91440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Meta-analysis, 103 studies (Lai, J Hepatol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Significant fibrosis in 39.7%; HCC 0.32% a year; treatment IRR 0.38 (0.18 to 0.79)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ATTENTION interim, 734 patients (Lim, 2025)</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Events 2 vs 9, HR 0.21, 97.5% CI 0.04 to 1.20; stopping boundary not crossed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Lai JC et al. J Hepatol 2025;82:992-1003, PMID 39577468. Lim YS et al. Lancet Gastroenterol Hepatol 2025;10:295-305, PMID 39914435.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26/64</a:t>
            </a:r>
            <a:endParaRPr lang="en-US" sz="9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to treat: summary</a:t>
            </a:r>
            <a:endParaRPr lang="en-US" sz="3000" dirty="0"/>
          </a:p>
        </p:txBody>
      </p:sp>
      <p:sp>
        <p:nvSpPr>
          <p:cNvPr id="3" name="Text 1"/>
          <p:cNvSpPr/>
          <p:nvPr/>
        </p:nvSpPr>
        <p:spPr>
          <a:xfrm>
            <a:off x="4251960" y="1097280"/>
            <a:ext cx="36576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HBsAg positive</a:t>
            </a:r>
            <a:endParaRPr lang="en-US" sz="1800" dirty="0"/>
          </a:p>
        </p:txBody>
      </p:sp>
      <p:sp>
        <p:nvSpPr>
          <p:cNvPr id="4" name="Shape 2"/>
          <p:cNvSpPr/>
          <p:nvPr/>
        </p:nvSpPr>
        <p:spPr>
          <a:xfrm>
            <a:off x="6080760" y="1600200"/>
            <a:ext cx="0" cy="274320"/>
          </a:xfrm>
          <a:prstGeom prst="line">
            <a:avLst/>
          </a:prstGeom>
          <a:noFill/>
          <a:ln w="19050">
            <a:solidFill>
              <a:srgbClr val="595959"/>
            </a:solidFill>
            <a:prstDash val="solid"/>
            <a:tailEnd type="triangle"/>
          </a:ln>
        </p:spPr>
      </p:sp>
      <p:sp>
        <p:nvSpPr>
          <p:cNvPr id="5" name="Text 3"/>
          <p:cNvSpPr/>
          <p:nvPr/>
        </p:nvSpPr>
        <p:spPr>
          <a:xfrm>
            <a:off x="4480560" y="1874520"/>
            <a:ext cx="3200400" cy="50292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Cirrhosis?</a:t>
            </a:r>
            <a:endParaRPr lang="en-US" sz="1800" dirty="0"/>
          </a:p>
        </p:txBody>
      </p:sp>
      <p:sp>
        <p:nvSpPr>
          <p:cNvPr id="6" name="Shape 4"/>
          <p:cNvSpPr/>
          <p:nvPr/>
        </p:nvSpPr>
        <p:spPr>
          <a:xfrm>
            <a:off x="7680960" y="2130552"/>
            <a:ext cx="1188720" cy="0"/>
          </a:xfrm>
          <a:prstGeom prst="line">
            <a:avLst/>
          </a:prstGeom>
          <a:noFill/>
          <a:ln w="19050">
            <a:solidFill>
              <a:srgbClr val="595959"/>
            </a:solidFill>
            <a:prstDash val="solid"/>
            <a:tailEnd type="triangle"/>
          </a:ln>
        </p:spPr>
      </p:sp>
      <p:sp>
        <p:nvSpPr>
          <p:cNvPr id="7" name="Text 5"/>
          <p:cNvSpPr txBox="1"/>
          <p:nvPr/>
        </p:nvSpPr>
        <p:spPr>
          <a:xfrm>
            <a:off x="7680960" y="1837944"/>
            <a:ext cx="1188720" cy="274320"/>
          </a:xfrm>
          <a:prstGeom prst="rect">
            <a:avLst/>
          </a:prstGeom>
          <a:noFill/>
          <a:ln/>
        </p:spPr>
        <p:txBody>
          <a:bodyPr wrap="square" lIns="0" tIns="0" rIns="0" bIns="0" rtlCol="0" anchor="ctr"/>
          <a:lstStyle/>
          <a:p>
            <a:pPr algn="ctr" indent="0" marL="0">
              <a:buNone/>
            </a:pPr>
            <a:r>
              <a:rPr lang="en-US" sz="1400" b="1" dirty="0">
                <a:solidFill>
                  <a:srgbClr val="595959"/>
                </a:solidFill>
                <a:latin typeface="Calibri" pitchFamily="34" charset="0"/>
                <a:ea typeface="Calibri" pitchFamily="34" charset="-122"/>
                <a:cs typeface="Calibri" pitchFamily="34" charset="-120"/>
              </a:rPr>
              <a:t>Yes</a:t>
            </a:r>
            <a:endParaRPr lang="en-US" sz="1400" dirty="0"/>
          </a:p>
        </p:txBody>
      </p:sp>
      <p:sp>
        <p:nvSpPr>
          <p:cNvPr id="8" name="Text 6"/>
          <p:cNvSpPr/>
          <p:nvPr/>
        </p:nvSpPr>
        <p:spPr>
          <a:xfrm>
            <a:off x="8869680" y="1874520"/>
            <a:ext cx="2926080" cy="50292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Treat, any DNA level</a:t>
            </a:r>
            <a:endParaRPr lang="en-US" sz="1800" dirty="0"/>
          </a:p>
        </p:txBody>
      </p:sp>
      <p:sp>
        <p:nvSpPr>
          <p:cNvPr id="9" name="Shape 7"/>
          <p:cNvSpPr/>
          <p:nvPr/>
        </p:nvSpPr>
        <p:spPr>
          <a:xfrm>
            <a:off x="6080760" y="2377440"/>
            <a:ext cx="0" cy="274320"/>
          </a:xfrm>
          <a:prstGeom prst="line">
            <a:avLst/>
          </a:prstGeom>
          <a:noFill/>
          <a:ln w="19050">
            <a:solidFill>
              <a:srgbClr val="595959"/>
            </a:solidFill>
            <a:prstDash val="solid"/>
          </a:ln>
        </p:spPr>
      </p:sp>
      <p:sp>
        <p:nvSpPr>
          <p:cNvPr id="10" name="Shape 8"/>
          <p:cNvSpPr/>
          <p:nvPr/>
        </p:nvSpPr>
        <p:spPr>
          <a:xfrm>
            <a:off x="2194560" y="2651760"/>
            <a:ext cx="6126480" cy="0"/>
          </a:xfrm>
          <a:prstGeom prst="line">
            <a:avLst/>
          </a:prstGeom>
          <a:noFill/>
          <a:ln w="19050">
            <a:solidFill>
              <a:srgbClr val="595959"/>
            </a:solidFill>
            <a:prstDash val="solid"/>
          </a:ln>
        </p:spPr>
      </p:sp>
      <p:sp>
        <p:nvSpPr>
          <p:cNvPr id="11" name="Text 9"/>
          <p:cNvSpPr txBox="1"/>
          <p:nvPr/>
        </p:nvSpPr>
        <p:spPr>
          <a:xfrm>
            <a:off x="6172200" y="2331720"/>
            <a:ext cx="548640" cy="274320"/>
          </a:xfrm>
          <a:prstGeom prst="rect">
            <a:avLst/>
          </a:prstGeom>
          <a:noFill/>
          <a:ln/>
        </p:spPr>
        <p:txBody>
          <a:bodyPr wrap="square" lIns="0" tIns="0" rIns="0" bIns="0" rtlCol="0" anchor="ctr"/>
          <a:lstStyle/>
          <a:p>
            <a:pPr indent="0" marL="0">
              <a:buNone/>
            </a:pPr>
            <a:r>
              <a:rPr lang="en-US" sz="1400" b="1" dirty="0">
                <a:solidFill>
                  <a:srgbClr val="595959"/>
                </a:solidFill>
                <a:latin typeface="Calibri" pitchFamily="34" charset="0"/>
                <a:ea typeface="Calibri" pitchFamily="34" charset="-122"/>
                <a:cs typeface="Calibri" pitchFamily="34" charset="-120"/>
              </a:rPr>
              <a:t>No</a:t>
            </a:r>
            <a:endParaRPr lang="en-US" sz="1400" dirty="0"/>
          </a:p>
        </p:txBody>
      </p:sp>
      <p:sp>
        <p:nvSpPr>
          <p:cNvPr id="12" name="Shape 10"/>
          <p:cNvSpPr/>
          <p:nvPr/>
        </p:nvSpPr>
        <p:spPr>
          <a:xfrm>
            <a:off x="2194560" y="2651760"/>
            <a:ext cx="0" cy="228600"/>
          </a:xfrm>
          <a:prstGeom prst="line">
            <a:avLst/>
          </a:prstGeom>
          <a:noFill/>
          <a:ln w="19050">
            <a:solidFill>
              <a:srgbClr val="595959"/>
            </a:solidFill>
            <a:prstDash val="solid"/>
            <a:tailEnd type="triangle"/>
          </a:ln>
        </p:spPr>
      </p:sp>
      <p:sp>
        <p:nvSpPr>
          <p:cNvPr id="13" name="Shape 11"/>
          <p:cNvSpPr/>
          <p:nvPr/>
        </p:nvSpPr>
        <p:spPr>
          <a:xfrm>
            <a:off x="8321040" y="2651760"/>
            <a:ext cx="0" cy="228600"/>
          </a:xfrm>
          <a:prstGeom prst="line">
            <a:avLst/>
          </a:prstGeom>
          <a:noFill/>
          <a:ln w="19050">
            <a:solidFill>
              <a:srgbClr val="595959"/>
            </a:solidFill>
            <a:prstDash val="solid"/>
            <a:tailEnd type="triangle"/>
          </a:ln>
        </p:spPr>
      </p:sp>
      <p:sp>
        <p:nvSpPr>
          <p:cNvPr id="14" name="Text 12"/>
          <p:cNvSpPr/>
          <p:nvPr/>
        </p:nvSpPr>
        <p:spPr>
          <a:xfrm>
            <a:off x="45720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positive</a:t>
            </a:r>
            <a:endParaRPr lang="en-US" sz="1700" dirty="0"/>
          </a:p>
        </p:txBody>
      </p:sp>
      <p:sp>
        <p:nvSpPr>
          <p:cNvPr id="15" name="Text 13"/>
          <p:cNvSpPr/>
          <p:nvPr/>
        </p:nvSpPr>
        <p:spPr>
          <a:xfrm>
            <a:off x="6583680" y="2880360"/>
            <a:ext cx="3474720" cy="45720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HBeAg negative</a:t>
            </a:r>
            <a:endParaRPr lang="en-US" sz="1700" dirty="0"/>
          </a:p>
        </p:txBody>
      </p:sp>
      <p:sp>
        <p:nvSpPr>
          <p:cNvPr id="16" name="Text 14"/>
          <p:cNvSpPr/>
          <p:nvPr/>
        </p:nvSpPr>
        <p:spPr>
          <a:xfrm>
            <a:off x="27432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20,000 and ALT 2 times ULN or more</a:t>
            </a:r>
            <a:endParaRPr lang="en-US" sz="1600" dirty="0"/>
          </a:p>
        </p:txBody>
      </p:sp>
      <p:sp>
        <p:nvSpPr>
          <p:cNvPr id="17" name="Shape 15"/>
          <p:cNvSpPr/>
          <p:nvPr/>
        </p:nvSpPr>
        <p:spPr>
          <a:xfrm>
            <a:off x="4114800" y="4000500"/>
            <a:ext cx="320040" cy="0"/>
          </a:xfrm>
          <a:prstGeom prst="line">
            <a:avLst/>
          </a:prstGeom>
          <a:noFill/>
          <a:ln w="19050">
            <a:solidFill>
              <a:srgbClr val="595959"/>
            </a:solidFill>
            <a:prstDash val="solid"/>
            <a:tailEnd type="triangle"/>
          </a:ln>
        </p:spPr>
      </p:sp>
      <p:sp>
        <p:nvSpPr>
          <p:cNvPr id="18" name="Text 16"/>
          <p:cNvSpPr/>
          <p:nvPr/>
        </p:nvSpPr>
        <p:spPr>
          <a:xfrm>
            <a:off x="4434840" y="36118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19" name="Text 17"/>
          <p:cNvSpPr/>
          <p:nvPr/>
        </p:nvSpPr>
        <p:spPr>
          <a:xfrm>
            <a:off x="27432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over 40 or F2 or worse</a:t>
            </a:r>
            <a:endParaRPr lang="en-US" sz="1600" dirty="0"/>
          </a:p>
        </p:txBody>
      </p:sp>
      <p:sp>
        <p:nvSpPr>
          <p:cNvPr id="20" name="Shape 18"/>
          <p:cNvSpPr/>
          <p:nvPr/>
        </p:nvSpPr>
        <p:spPr>
          <a:xfrm>
            <a:off x="4114800" y="4914900"/>
            <a:ext cx="320040" cy="0"/>
          </a:xfrm>
          <a:prstGeom prst="line">
            <a:avLst/>
          </a:prstGeom>
          <a:noFill/>
          <a:ln w="19050">
            <a:solidFill>
              <a:srgbClr val="595959"/>
            </a:solidFill>
            <a:prstDash val="solid"/>
            <a:tailEnd type="triangle"/>
          </a:ln>
        </p:spPr>
      </p:sp>
      <p:sp>
        <p:nvSpPr>
          <p:cNvPr id="21" name="Text 19"/>
          <p:cNvSpPr/>
          <p:nvPr/>
        </p:nvSpPr>
        <p:spPr>
          <a:xfrm>
            <a:off x="4434840" y="4526280"/>
            <a:ext cx="169164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Treatment suggested</a:t>
            </a:r>
            <a:endParaRPr lang="en-US" sz="1600" dirty="0"/>
          </a:p>
        </p:txBody>
      </p:sp>
      <p:sp>
        <p:nvSpPr>
          <p:cNvPr id="22" name="Text 20"/>
          <p:cNvSpPr/>
          <p:nvPr/>
        </p:nvSpPr>
        <p:spPr>
          <a:xfrm>
            <a:off x="27432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10 million, normal ALT, 40 or younger, no fibrosis</a:t>
            </a:r>
            <a:endParaRPr lang="en-US" sz="1600" dirty="0"/>
          </a:p>
        </p:txBody>
      </p:sp>
      <p:sp>
        <p:nvSpPr>
          <p:cNvPr id="23" name="Shape 21"/>
          <p:cNvSpPr/>
          <p:nvPr/>
        </p:nvSpPr>
        <p:spPr>
          <a:xfrm>
            <a:off x="4114800" y="5829300"/>
            <a:ext cx="320040" cy="0"/>
          </a:xfrm>
          <a:prstGeom prst="line">
            <a:avLst/>
          </a:prstGeom>
          <a:noFill/>
          <a:ln w="19050">
            <a:solidFill>
              <a:srgbClr val="595959"/>
            </a:solidFill>
            <a:prstDash val="solid"/>
            <a:tailEnd type="triangle"/>
          </a:ln>
        </p:spPr>
      </p:sp>
      <p:sp>
        <p:nvSpPr>
          <p:cNvPr id="24" name="Text 22"/>
          <p:cNvSpPr/>
          <p:nvPr/>
        </p:nvSpPr>
        <p:spPr>
          <a:xfrm>
            <a:off x="4434840" y="5440680"/>
            <a:ext cx="169164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25" name="Text 23"/>
          <p:cNvSpPr/>
          <p:nvPr/>
        </p:nvSpPr>
        <p:spPr>
          <a:xfrm>
            <a:off x="6400800" y="36118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above 2,000 and ALT 2 times ULN or more</a:t>
            </a:r>
            <a:endParaRPr lang="en-US" sz="1600" dirty="0"/>
          </a:p>
        </p:txBody>
      </p:sp>
      <p:sp>
        <p:nvSpPr>
          <p:cNvPr id="26" name="Shape 24"/>
          <p:cNvSpPr/>
          <p:nvPr/>
        </p:nvSpPr>
        <p:spPr>
          <a:xfrm>
            <a:off x="10241280" y="4000500"/>
            <a:ext cx="320040" cy="0"/>
          </a:xfrm>
          <a:prstGeom prst="line">
            <a:avLst/>
          </a:prstGeom>
          <a:noFill/>
          <a:ln w="19050">
            <a:solidFill>
              <a:srgbClr val="595959"/>
            </a:solidFill>
            <a:prstDash val="solid"/>
            <a:tailEnd type="triangle"/>
          </a:ln>
        </p:spPr>
      </p:sp>
      <p:sp>
        <p:nvSpPr>
          <p:cNvPr id="27" name="Text 25"/>
          <p:cNvSpPr/>
          <p:nvPr/>
        </p:nvSpPr>
        <p:spPr>
          <a:xfrm>
            <a:off x="10561320" y="3611880"/>
            <a:ext cx="1371600" cy="77724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Treat</a:t>
            </a:r>
            <a:endParaRPr lang="en-US" sz="1600" dirty="0"/>
          </a:p>
        </p:txBody>
      </p:sp>
      <p:sp>
        <p:nvSpPr>
          <p:cNvPr id="28" name="Text 26"/>
          <p:cNvSpPr/>
          <p:nvPr/>
        </p:nvSpPr>
        <p:spPr>
          <a:xfrm>
            <a:off x="6400800" y="45262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Between the two: the grey zone</a:t>
            </a:r>
            <a:endParaRPr lang="en-US" sz="1600" dirty="0"/>
          </a:p>
        </p:txBody>
      </p:sp>
      <p:sp>
        <p:nvSpPr>
          <p:cNvPr id="29" name="Shape 27"/>
          <p:cNvSpPr/>
          <p:nvPr/>
        </p:nvSpPr>
        <p:spPr>
          <a:xfrm>
            <a:off x="10241280" y="4914900"/>
            <a:ext cx="320040" cy="0"/>
          </a:xfrm>
          <a:prstGeom prst="line">
            <a:avLst/>
          </a:prstGeom>
          <a:noFill/>
          <a:ln w="19050">
            <a:solidFill>
              <a:srgbClr val="595959"/>
            </a:solidFill>
            <a:prstDash val="solid"/>
            <a:tailEnd type="triangle"/>
          </a:ln>
        </p:spPr>
      </p:sp>
      <p:sp>
        <p:nvSpPr>
          <p:cNvPr id="30" name="Text 28"/>
          <p:cNvSpPr/>
          <p:nvPr/>
        </p:nvSpPr>
        <p:spPr>
          <a:xfrm>
            <a:off x="10561320" y="4526280"/>
            <a:ext cx="1371600" cy="77724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Shared decision</a:t>
            </a:r>
            <a:endParaRPr lang="en-US" sz="1600" dirty="0"/>
          </a:p>
        </p:txBody>
      </p:sp>
      <p:sp>
        <p:nvSpPr>
          <p:cNvPr id="31" name="Text 29"/>
          <p:cNvSpPr/>
          <p:nvPr/>
        </p:nvSpPr>
        <p:spPr>
          <a:xfrm>
            <a:off x="6400800" y="5440680"/>
            <a:ext cx="3840480" cy="777240"/>
          </a:xfrm>
          <a:prstGeom prst="rect">
            <a:avLst/>
          </a:prstGeom>
          <a:solidFill>
            <a:srgbClr val="FFFFFF"/>
          </a:solidFill>
          <a:ln w="12700">
            <a:solidFill>
              <a:srgbClr val="BFBFBF"/>
            </a:solidFill>
          </a:ln>
        </p:spPr>
        <p:txBody>
          <a:bodyPr wrap="square" lIns="50800" tIns="50800" rIns="50800" bIns="50800" rtlCol="0" anchor="ctr"/>
          <a:lstStyle/>
          <a:p>
            <a:pPr algn="ctr" indent="0" marL="0">
              <a:buNone/>
            </a:pPr>
            <a:r>
              <a:rPr lang="en-US" sz="1600" dirty="0">
                <a:solidFill>
                  <a:srgbClr val="000000"/>
                </a:solidFill>
                <a:latin typeface="Calibri" pitchFamily="34" charset="0"/>
                <a:ea typeface="Calibri" pitchFamily="34" charset="-122"/>
                <a:cs typeface="Calibri" pitchFamily="34" charset="-120"/>
              </a:rPr>
              <a:t>DNA below 2,000, normal ALT</a:t>
            </a:r>
            <a:endParaRPr lang="en-US" sz="1600" dirty="0"/>
          </a:p>
        </p:txBody>
      </p:sp>
      <p:sp>
        <p:nvSpPr>
          <p:cNvPr id="32" name="Shape 30"/>
          <p:cNvSpPr/>
          <p:nvPr/>
        </p:nvSpPr>
        <p:spPr>
          <a:xfrm>
            <a:off x="10241280" y="5829300"/>
            <a:ext cx="320040" cy="0"/>
          </a:xfrm>
          <a:prstGeom prst="line">
            <a:avLst/>
          </a:prstGeom>
          <a:noFill/>
          <a:ln w="19050">
            <a:solidFill>
              <a:srgbClr val="595959"/>
            </a:solidFill>
            <a:prstDash val="solid"/>
            <a:tailEnd type="triangle"/>
          </a:ln>
        </p:spPr>
      </p:sp>
      <p:sp>
        <p:nvSpPr>
          <p:cNvPr id="33" name="Text 31"/>
          <p:cNvSpPr/>
          <p:nvPr/>
        </p:nvSpPr>
        <p:spPr>
          <a:xfrm>
            <a:off x="10561320" y="5440680"/>
            <a:ext cx="1371600" cy="7772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Monitor</a:t>
            </a:r>
            <a:endParaRPr lang="en-US" sz="1600" dirty="0"/>
          </a:p>
        </p:txBody>
      </p:sp>
      <p:sp>
        <p:nvSpPr>
          <p:cNvPr id="3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R3, R4 and Figure 5 (PMID 41186418). ALT ULN 35 men, 25 women.</a:t>
            </a:r>
            <a:endParaRPr lang="en-US" sz="1000" dirty="0"/>
          </a:p>
        </p:txBody>
      </p:sp>
      <p:sp>
        <p:nvSpPr>
          <p:cNvPr id="3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27/64</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3"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28/64</a:t>
            </a:r>
            <a:endParaRPr lang="en-US" sz="9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58-year-old man, eGFR 45</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Which nucleos(t)ide analogue?</a:t>
            </a:r>
            <a:endParaRPr lang="en-US" sz="24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548640" y="1737360"/>
          <a:ext cx="11094415" cy="914400"/>
        </p:xfrm>
        <a:graphic>
          <a:graphicData uri="http://schemas.openxmlformats.org/drawingml/2006/table">
            <a:tbl>
              <a:tblPr/>
              <a:tblGrid>
                <a:gridCol w="1271016"/>
                <a:gridCol w="2651760"/>
                <a:gridCol w="2788920"/>
                <a:gridCol w="4379976"/>
              </a:tblGrid>
              <a:tr h="86868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Dose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At eGFR 30 to 49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0.5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300 mg every 48 hours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Dose-adjust, kidney and bone effects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6868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 with food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25 mg daily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No adjustment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Question"/>
          <p:cNvSpPr txBox="1"/>
          <p:nvPr/>
        </p:nvSpPr>
        <p:spPr>
          <a:xfrm>
            <a:off x="822960" y="5577840"/>
            <a:ext cx="10545775" cy="548640"/>
          </a:xfrm>
          <a:prstGeom prst="rect">
            <a:avLst/>
          </a:prstGeom>
          <a:noFill/>
          <a:ln/>
        </p:spPr>
        <p:txBody>
          <a:bodyPr wrap="square" lIns="0" tIns="0" rIns="0" bIns="0" rtlCol="0" anchor="ctr"/>
          <a:lstStyle/>
          <a:p>
            <a:pPr algn="ctr" indent="0" marL="0">
              <a:buNone/>
            </a:pPr>
            <a:r>
              <a:rPr lang="en-US" sz="2400" b="1" dirty="0">
                <a:solidFill>
                  <a:srgbClr val="000000"/>
                </a:solidFill>
                <a:highlight>
                  <a:srgbClr val="FFFF00"/>
                </a:highlight>
                <a:latin typeface="Georgia" pitchFamily="34" charset="0"/>
                <a:ea typeface="Georgia" pitchFamily="34" charset="-122"/>
                <a:cs typeface="Georgia" pitchFamily="34" charset="-120"/>
              </a:rPr>
              <a:t>TAF, or entecavir with the dose adjusted</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US prescribing information: Baraclude, Viread, Vemlidy (DailyMed). Renal doses use creatinine clearance.</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28/64</a:t>
            </a:r>
            <a:endParaRPr lang="en-US" sz="9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5"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Question"/>
          <p:cNvSpPr txBox="1"/>
          <p:nvPr/>
        </p:nvSpPr>
        <p:spPr>
          <a:xfrm>
            <a:off x="548640" y="4206240"/>
            <a:ext cx="1097280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What differs?</a:t>
            </a:r>
            <a:endParaRPr lang="en-US" sz="26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29/64</a:t>
            </a:r>
            <a:endParaRPr lang="en-US" sz="9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TAF versus TDF at week 48</a:t>
            </a:r>
            <a:endParaRPr lang="en-US" sz="3000" dirty="0"/>
          </a:p>
        </p:txBody>
      </p:sp>
      <p:graphicFrame>
        <p:nvGraphicFramePr>
          <p:cNvPr id="46"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4754880" cy="914400"/>
        </p:xfrm>
        <a:graphic>
          <a:graphicData uri="http://schemas.openxmlformats.org/drawingml/2006/table">
            <a:tbl>
              <a:tblPr/>
              <a:tblGrid>
                <a:gridCol w="3209544"/>
                <a:gridCol w="768096"/>
                <a:gridCol w="777240"/>
              </a:tblGrid>
              <a:tr h="5486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HBV DNA below 29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TAF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(Chan)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67%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(Buti)</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graphicFrame>
        <p:nvGraphicFramePr>
          <p:cNvPr id="4" name="Chart 0" descr=""/>
          <p:cNvGraphicFramePr/>
          <p:nvPr/>
        </p:nvGraphicFramePr>
        <p:xfrm>
          <a:off x="5486400" y="1188720"/>
          <a:ext cx="6309360" cy="484632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5486400" y="914400"/>
            <a:ext cx="630936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Change in bone mineral density, %</a:t>
            </a:r>
            <a:endParaRPr lang="en-US" sz="1400" dirty="0"/>
          </a:p>
        </p:txBody>
      </p:sp>
      <p:sp>
        <p:nvSpPr>
          <p:cNvPr id="6" name="Text 2"/>
          <p:cNvSpPr txBox="1"/>
          <p:nvPr/>
        </p:nvSpPr>
        <p:spPr>
          <a:xfrm>
            <a:off x="548640" y="329184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Median eGFR change in the HBeAg-negative trial: -1.8 (TAF) vs -4.8 mL/min (TDF)</a:t>
            </a:r>
            <a:endParaRPr lang="en-US" sz="17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Chan HLY et al. Lancet Gastroenterol Hepatol 2016;1:185-195 (PMID 28404091). Buti M et al. 2016;1:196-206 (PMID 28404092).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29/64</a:t>
            </a:r>
            <a:endParaRPr lang="en-US" sz="9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Entecavir or tenofovir for HCC?</a:t>
            </a:r>
            <a:endParaRPr lang="en-US" sz="3000" dirty="0"/>
          </a:p>
        </p:txBody>
      </p:sp>
      <p:sp>
        <p:nvSpPr>
          <p:cNvPr id="3" name="Shape 1"/>
          <p:cNvSpPr/>
          <p:nvPr/>
        </p:nvSpPr>
        <p:spPr>
          <a:xfrm>
            <a:off x="6675120" y="1371600"/>
            <a:ext cx="0" cy="2377440"/>
          </a:xfrm>
          <a:prstGeom prst="line">
            <a:avLst/>
          </a:prstGeom>
          <a:noFill/>
          <a:ln w="12700">
            <a:solidFill>
              <a:srgbClr val="7F7F7F"/>
            </a:solidFill>
            <a:prstDash val="dash"/>
          </a:ln>
        </p:spPr>
      </p:sp>
      <p:sp>
        <p:nvSpPr>
          <p:cNvPr id="4" name="Shape 2"/>
          <p:cNvSpPr/>
          <p:nvPr/>
        </p:nvSpPr>
        <p:spPr>
          <a:xfrm>
            <a:off x="4389120" y="3749040"/>
            <a:ext cx="5029200" cy="0"/>
          </a:xfrm>
          <a:prstGeom prst="line">
            <a:avLst/>
          </a:prstGeom>
          <a:noFill/>
          <a:ln w="12700">
            <a:solidFill>
              <a:srgbClr val="595959"/>
            </a:solidFill>
            <a:prstDash val="solid"/>
          </a:ln>
        </p:spPr>
      </p:sp>
      <p:sp>
        <p:nvSpPr>
          <p:cNvPr id="5" name="Text 3"/>
          <p:cNvSpPr txBox="1"/>
          <p:nvPr/>
        </p:nvSpPr>
        <p:spPr>
          <a:xfrm>
            <a:off x="4023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0.5</a:t>
            </a:r>
            <a:endParaRPr lang="en-US" sz="1400" dirty="0"/>
          </a:p>
        </p:txBody>
      </p:sp>
      <p:sp>
        <p:nvSpPr>
          <p:cNvPr id="6" name="Text 4"/>
          <p:cNvSpPr txBox="1"/>
          <p:nvPr/>
        </p:nvSpPr>
        <p:spPr>
          <a:xfrm>
            <a:off x="5166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0.75</a:t>
            </a:r>
            <a:endParaRPr lang="en-US" sz="1400" dirty="0"/>
          </a:p>
        </p:txBody>
      </p:sp>
      <p:sp>
        <p:nvSpPr>
          <p:cNvPr id="7" name="Text 5"/>
          <p:cNvSpPr txBox="1"/>
          <p:nvPr/>
        </p:nvSpPr>
        <p:spPr>
          <a:xfrm>
            <a:off x="6309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a:t>
            </a:r>
            <a:endParaRPr lang="en-US" sz="1400" dirty="0"/>
          </a:p>
        </p:txBody>
      </p:sp>
      <p:sp>
        <p:nvSpPr>
          <p:cNvPr id="8" name="Text 6"/>
          <p:cNvSpPr txBox="1"/>
          <p:nvPr/>
        </p:nvSpPr>
        <p:spPr>
          <a:xfrm>
            <a:off x="7452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1.25</a:t>
            </a:r>
            <a:endParaRPr lang="en-US" sz="1400" dirty="0"/>
          </a:p>
        </p:txBody>
      </p:sp>
      <p:sp>
        <p:nvSpPr>
          <p:cNvPr id="9" name="Text 7"/>
          <p:cNvSpPr txBox="1"/>
          <p:nvPr/>
        </p:nvSpPr>
        <p:spPr>
          <a:xfrm>
            <a:off x="8595360" y="3794760"/>
            <a:ext cx="731520" cy="27432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1.5</a:t>
            </a:r>
            <a:endParaRPr lang="en-US" sz="1400" dirty="0"/>
          </a:p>
        </p:txBody>
      </p:sp>
      <p:sp>
        <p:nvSpPr>
          <p:cNvPr id="10" name="Text 8"/>
          <p:cNvSpPr txBox="1"/>
          <p:nvPr/>
        </p:nvSpPr>
        <p:spPr>
          <a:xfrm>
            <a:off x="4389120" y="4114800"/>
            <a:ext cx="22860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tenofovir</a:t>
            </a:r>
            <a:endParaRPr lang="en-US" sz="1400" dirty="0"/>
          </a:p>
        </p:txBody>
      </p:sp>
      <p:sp>
        <p:nvSpPr>
          <p:cNvPr id="11" name="Text 9"/>
          <p:cNvSpPr txBox="1"/>
          <p:nvPr/>
        </p:nvSpPr>
        <p:spPr>
          <a:xfrm>
            <a:off x="6675120" y="4114800"/>
            <a:ext cx="274320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Calibri" pitchFamily="34" charset="0"/>
                <a:ea typeface="Calibri" pitchFamily="34" charset="-122"/>
                <a:cs typeface="Calibri" pitchFamily="34" charset="-120"/>
              </a:rPr>
              <a:t>Favors entecavir</a:t>
            </a:r>
            <a:endParaRPr lang="en-US" sz="1400" dirty="0"/>
          </a:p>
        </p:txBody>
      </p:sp>
      <p:sp>
        <p:nvSpPr>
          <p:cNvPr id="12" name="Text 10"/>
          <p:cNvSpPr txBox="1"/>
          <p:nvPr/>
        </p:nvSpPr>
        <p:spPr>
          <a:xfrm>
            <a:off x="365760" y="146304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Lee 2020, propensity analysis, 3,022 patients</a:t>
            </a:r>
            <a:endParaRPr lang="en-US" sz="1700" dirty="0"/>
          </a:p>
        </p:txBody>
      </p:sp>
      <p:sp>
        <p:nvSpPr>
          <p:cNvPr id="13" name="Shape 11"/>
          <p:cNvSpPr/>
          <p:nvPr/>
        </p:nvSpPr>
        <p:spPr>
          <a:xfrm>
            <a:off x="5303520" y="2011680"/>
            <a:ext cx="3703320" cy="0"/>
          </a:xfrm>
          <a:prstGeom prst="line">
            <a:avLst/>
          </a:prstGeom>
          <a:noFill/>
          <a:ln w="31750">
            <a:solidFill>
              <a:srgbClr val="1F4E79"/>
            </a:solidFill>
            <a:prstDash val="solid"/>
          </a:ln>
        </p:spPr>
      </p:sp>
      <p:sp>
        <p:nvSpPr>
          <p:cNvPr id="14" name="Shape 12"/>
          <p:cNvSpPr/>
          <p:nvPr/>
        </p:nvSpPr>
        <p:spPr>
          <a:xfrm>
            <a:off x="6711696" y="1911096"/>
            <a:ext cx="201168" cy="201168"/>
          </a:xfrm>
          <a:prstGeom prst="rect">
            <a:avLst/>
          </a:prstGeom>
          <a:solidFill>
            <a:srgbClr val="1F4E79"/>
          </a:solidFill>
          <a:ln w="12700">
            <a:solidFill>
              <a:srgbClr val="1F4E79"/>
            </a:solidFill>
            <a:prstDash val="solid"/>
          </a:ln>
        </p:spPr>
      </p:sp>
      <p:sp>
        <p:nvSpPr>
          <p:cNvPr id="15" name="Text 13"/>
          <p:cNvSpPr txBox="1"/>
          <p:nvPr/>
        </p:nvSpPr>
        <p:spPr>
          <a:xfrm>
            <a:off x="9555480" y="178308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1.03 (0.70 to 1.51)</a:t>
            </a:r>
            <a:endParaRPr lang="en-US" sz="1600" dirty="0"/>
          </a:p>
        </p:txBody>
      </p:sp>
      <p:sp>
        <p:nvSpPr>
          <p:cNvPr id="16" name="Text 14"/>
          <p:cNvSpPr txBox="1"/>
          <p:nvPr/>
        </p:nvSpPr>
        <p:spPr>
          <a:xfrm>
            <a:off x="365760" y="2560320"/>
            <a:ext cx="3840480" cy="1097280"/>
          </a:xfrm>
          <a:prstGeom prst="rect">
            <a:avLst/>
          </a:prstGeom>
          <a:noFill/>
          <a:ln/>
        </p:spPr>
        <p:txBody>
          <a:bodyPr wrap="square" lIns="0" tIns="0" rIns="0" bIns="0" rtlCol="0" anchor="ctr"/>
          <a:lstStyle/>
          <a:p>
            <a:pPr algn="r" indent="0" marL="0">
              <a:buNone/>
            </a:pPr>
            <a:r>
              <a:rPr lang="en-US" sz="1700" dirty="0">
                <a:solidFill>
                  <a:srgbClr val="000000"/>
                </a:solidFill>
                <a:latin typeface="Calibri" pitchFamily="34" charset="0"/>
                <a:ea typeface="Calibri" pitchFamily="34" charset="-122"/>
                <a:cs typeface="Calibri" pitchFamily="34" charset="-120"/>
              </a:rPr>
              <a:t>Choi 2023, individual patient meta-analysis, 42,939 patients</a:t>
            </a:r>
            <a:endParaRPr lang="en-US" sz="1700" dirty="0"/>
          </a:p>
        </p:txBody>
      </p:sp>
      <p:sp>
        <p:nvSpPr>
          <p:cNvPr id="17" name="Shape 15"/>
          <p:cNvSpPr/>
          <p:nvPr/>
        </p:nvSpPr>
        <p:spPr>
          <a:xfrm>
            <a:off x="4892040" y="3108960"/>
            <a:ext cx="1691640" cy="0"/>
          </a:xfrm>
          <a:prstGeom prst="line">
            <a:avLst/>
          </a:prstGeom>
          <a:noFill/>
          <a:ln w="31750">
            <a:solidFill>
              <a:srgbClr val="1F4E79"/>
            </a:solidFill>
            <a:prstDash val="solid"/>
          </a:ln>
        </p:spPr>
      </p:sp>
      <p:sp>
        <p:nvSpPr>
          <p:cNvPr id="18" name="Shape 16"/>
          <p:cNvSpPr/>
          <p:nvPr/>
        </p:nvSpPr>
        <p:spPr>
          <a:xfrm>
            <a:off x="5522976" y="3008376"/>
            <a:ext cx="201168" cy="201168"/>
          </a:xfrm>
          <a:prstGeom prst="rect">
            <a:avLst/>
          </a:prstGeom>
          <a:solidFill>
            <a:srgbClr val="1F4E79"/>
          </a:solidFill>
          <a:ln w="12700">
            <a:solidFill>
              <a:srgbClr val="1F4E79"/>
            </a:solidFill>
            <a:prstDash val="solid"/>
          </a:ln>
        </p:spPr>
      </p:sp>
      <p:sp>
        <p:nvSpPr>
          <p:cNvPr id="19" name="Text 17"/>
          <p:cNvSpPr txBox="1"/>
          <p:nvPr/>
        </p:nvSpPr>
        <p:spPr>
          <a:xfrm>
            <a:off x="9555480" y="2880360"/>
            <a:ext cx="2377440" cy="457200"/>
          </a:xfrm>
          <a:prstGeom prst="rect">
            <a:avLst/>
          </a:prstGeom>
          <a:noFill/>
          <a:ln/>
        </p:spPr>
        <p:txBody>
          <a:bodyPr wrap="square" lIns="0" tIns="0" rIns="0" bIns="0" rtlCol="0" anchor="ctr"/>
          <a:lstStyle/>
          <a:p>
            <a:pPr indent="0" marL="0">
              <a:buNone/>
            </a:pPr>
            <a:r>
              <a:rPr lang="en-US" sz="1600" dirty="0">
                <a:solidFill>
                  <a:srgbClr val="000000"/>
                </a:solidFill>
                <a:latin typeface="Calibri" pitchFamily="34" charset="0"/>
                <a:ea typeface="Calibri" pitchFamily="34" charset="-122"/>
                <a:cs typeface="Calibri" pitchFamily="34" charset="-120"/>
              </a:rPr>
              <a:t>0.77 (0.61 to 0.98)</a:t>
            </a:r>
            <a:endParaRPr lang="en-US" sz="1600" dirty="0"/>
          </a:p>
        </p:txBody>
      </p:sp>
      <p:sp>
        <p:nvSpPr>
          <p:cNvPr id="20" name="Text 18"/>
          <p:cNvSpPr txBox="1"/>
          <p:nvPr/>
        </p:nvSpPr>
        <p:spPr>
          <a:xfrm>
            <a:off x="4389120" y="960120"/>
            <a:ext cx="5029200" cy="365760"/>
          </a:xfrm>
          <a:prstGeom prst="rect">
            <a:avLst/>
          </a:prstGeom>
          <a:noFill/>
          <a:ln/>
        </p:spPr>
        <p:txBody>
          <a:bodyPr wrap="square" lIns="0" tIns="0" rIns="0" bIns="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Hazard ratio for HCC, tenofovir vs entecavir</a:t>
            </a:r>
            <a:endParaRPr lang="en-US" sz="1600" dirty="0"/>
          </a:p>
        </p:txBody>
      </p:sp>
      <p:sp>
        <p:nvSpPr>
          <p:cNvPr id="21" name="Text 19"/>
          <p:cNvSpPr txBox="1"/>
          <p:nvPr/>
        </p:nvSpPr>
        <p:spPr>
          <a:xfrm>
            <a:off x="731520" y="5120640"/>
            <a:ext cx="10728655" cy="640080"/>
          </a:xfrm>
          <a:prstGeom prst="rect">
            <a:avLst/>
          </a:prstGeom>
          <a:noFill/>
          <a:ln/>
        </p:spPr>
        <p:txBody>
          <a:bodyPr wrap="square" lIns="0" tIns="0" rIns="0" bIns="0" rtlCol="0" anchor="ctr"/>
          <a:lstStyle/>
          <a:p>
            <a:pPr algn="ctr" indent="0" marL="0">
              <a:buNone/>
            </a:pPr>
            <a:r>
              <a:rPr lang="en-US" sz="1800" dirty="0">
                <a:solidFill>
                  <a:srgbClr val="000000"/>
                </a:solidFill>
                <a:latin typeface="Georgia" pitchFamily="34" charset="0"/>
                <a:ea typeface="Georgia" pitchFamily="34" charset="-122"/>
                <a:cs typeface="Georgia" pitchFamily="34" charset="-120"/>
              </a:rPr>
              <a:t>Yoo 2025, Korea, TAF vs TDF: 12.38 vs 15.39 HCC per 1,000 person-years, 17,537 in each matched group</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Lee SW 2020 (PMID in dossier ref 31); Choi J et al. 2023 (dossier ref 32); Yoo 2025 (dossier ref 28).</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30/64</a:t>
            </a:r>
            <a:endParaRPr lang="en-US" sz="9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Pegylated interferon</a:t>
            </a:r>
            <a:endParaRPr lang="en-US" sz="3000" dirty="0"/>
          </a:p>
        </p:txBody>
      </p:sp>
      <p:graphicFrame>
        <p:nvGraphicFramePr>
          <p:cNvPr id="4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977640"/>
                <a:gridCol w="2478024"/>
                <a:gridCol w="4270248"/>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Strategy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Trial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Switch from entecavir, HBeAg-positive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OSST, 200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8.5% vs 0% at week 48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11174">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Add to TDF for 48 weeks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Marcellin, 740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loss 9.1% (48 weeks), 2.8% (16 weeks), 0% (TDF alone), 2.8% (PegIFN alone) at week 72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Ning Q et al. 2014 (dossier ref 34); Marcellin P et al. 2016 (dossier ref 35).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31/64</a:t>
            </a:r>
            <a:endParaRPr lang="en-US" sz="9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Monitoring</a:t>
            </a:r>
            <a:endParaRPr lang="en-US" sz="3000" dirty="0"/>
          </a:p>
        </p:txBody>
      </p:sp>
      <p:graphicFrame>
        <p:nvGraphicFramePr>
          <p:cNvPr id="49"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48456"/>
                <a:gridCol w="7077456"/>
              </a:tblGrid>
              <a:tr h="77724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Setting</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Schedule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a nucleos(t)ide analogue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DNA every 3 months until undetectable, then every 3 to 6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On TDF</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Creatinine, phosphate, urine glucose and protein at baseline and at least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Untreated, HBeAg-negative infection</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ALT every 3 months in year 1, then every 6 to 12 months; HBsAg yearly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HCC surveillance</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Ultrasound plus AFP every 6 months when eligible, also with suppressed DNA</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32/64</a:t>
            </a:r>
            <a:endParaRPr lang="en-US" sz="9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Choosing the drug: summary</a:t>
            </a:r>
            <a:endParaRPr lang="en-US" sz="3000" dirty="0"/>
          </a:p>
        </p:txBody>
      </p:sp>
      <p:graphicFrame>
        <p:nvGraphicFramePr>
          <p:cNvPr id="50"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197096"/>
                <a:gridCol w="6528816"/>
              </a:tblGrid>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Situation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Drug</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Most patients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Kidney or bone disease, or at risk</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TAF, or entecavir with the dose adjusted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Prior lamivudine resistance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not entecavir</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Pregnancy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(most data) or TAF</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8764">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HIV</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with emtricitabine or lamivudine, inside the ART regimen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8764">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Decompensated cirrhosis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or TDF. The US TAF label does not recommend Child-Pugh B or C</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58368">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Wants a finite course, compensated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Pegylated interferon, in selected patients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 US prescribing information.</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33/64</a:t>
            </a:r>
            <a:endParaRPr lang="en-US" sz="9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1"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931920"/>
            <a:ext cx="4754880" cy="91440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is his PAGE-B score?</a:t>
            </a:r>
            <a:endParaRPr lang="en-US" sz="24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34/64</a:t>
            </a:r>
            <a:endParaRPr lang="en-US" sz="9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Calculating PAGE-B</a:t>
            </a:r>
            <a:endParaRPr lang="en-US" sz="3000" dirty="0"/>
          </a:p>
        </p:txBody>
      </p:sp>
      <p:graphicFrame>
        <p:nvGraphicFramePr>
          <p:cNvPr id="52" name="Table"/>
          <p:cNvGraphicFramePr>
            <a:graphicFrameLocks noGrp="1"/>
          </p:cNvGraphicFramePr>
          <p:nvPr>
            <p:extLst>
              <p:ext uri="{D42A27DB-BD31-4B8C-83A1-F6EECF244321}">
                <p14:modId xmlns:p14="http://schemas.microsoft.com/office/powerpoint/2010/main" val="1579011935"/>
              </p:ext>
            </p:extLst>
          </p:nvPr>
        </p:nvGraphicFramePr>
        <p:xfrm>
          <a:off x="548640" y="1143000"/>
          <a:ext cx="5852160" cy="914400"/>
        </p:xfrm>
        <a:graphic>
          <a:graphicData uri="http://schemas.openxmlformats.org/drawingml/2006/table">
            <a:tbl>
              <a:tblPr/>
              <a:tblGrid>
                <a:gridCol w="2734056"/>
                <a:gridCol w="1947672"/>
                <a:gridCol w="1170432"/>
              </a:tblGrid>
              <a:tr h="393192">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Variable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Category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Points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Age, years</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16 to 29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30 to 39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40 to 49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50 to 59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60 to 69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70 or older</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Sex</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Female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Male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Platelets, x 10^9/L</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200 or more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100 to 199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highlight>
                            <a:srgbClr val="FFFF00"/>
                          </a:highlight>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393192">
                <a:tc>
                  <a:txBody>
                    <a:bodyPr/>
                    <a:lstStyle/>
                    <a:p>
                      <a:pPr algn="l" indent="0" marL="0">
                        <a:buNone/>
                      </a:pP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Under 100</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Body"/>
          <p:cNvSpPr txBox="1"/>
          <p:nvPr/>
        </p:nvSpPr>
        <p:spPr>
          <a:xfrm>
            <a:off x="6858000" y="1371600"/>
            <a:ext cx="4754880" cy="1737360"/>
          </a:xfrm>
          <a:prstGeom prst="rect">
            <a:avLst/>
          </a:prstGeom>
          <a:noFill/>
          <a:ln/>
        </p:spPr>
        <p:txBody>
          <a:bodyPr wrap="square" lIns="50800" tIns="50800" rIns="50800" bIns="50800" rtlCol="0" anchor="t"/>
          <a:lstStyle/>
          <a:p>
            <a:pPr indent="0" marL="0">
              <a:spcBef>
                <a:spcPts val="600"/>
              </a:spcBef>
              <a:buNone/>
            </a:pPr>
            <a:r>
              <a:rPr lang="en-US" sz="2200" b="1" dirty="0">
                <a:solidFill>
                  <a:srgbClr val="000000"/>
                </a:solidFill>
                <a:latin typeface="Georgia" pitchFamily="34" charset="0"/>
                <a:ea typeface="Georgia" pitchFamily="34" charset="-122"/>
                <a:cs typeface="Georgia" pitchFamily="34" charset="-120"/>
              </a:rPr>
              <a:t>52-year-old man</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Started on TAF</a:t>
            </a:r>
            <a:endParaRPr lang="en-US" sz="2200" dirty="0"/>
          </a:p>
          <a:p>
            <a:pPr indent="0" marL="0">
              <a:spcBef>
                <a:spcPts val="600"/>
              </a:spcBef>
              <a:buNone/>
            </a:pPr>
            <a:r>
              <a:rPr lang="en-US" sz="2200" dirty="0">
                <a:solidFill>
                  <a:srgbClr val="000000"/>
                </a:solidFill>
                <a:latin typeface="Georgia" pitchFamily="34" charset="0"/>
                <a:ea typeface="Georgia" pitchFamily="34" charset="-122"/>
                <a:cs typeface="Georgia" pitchFamily="34" charset="-120"/>
              </a:rPr>
              <a:t>Platelets 190</a:t>
            </a:r>
            <a:endParaRPr lang="en-US" sz="2200" dirty="0"/>
          </a:p>
        </p:txBody>
      </p:sp>
      <p:sp>
        <p:nvSpPr>
          <p:cNvPr id="5" name="Question"/>
          <p:cNvSpPr txBox="1"/>
          <p:nvPr/>
        </p:nvSpPr>
        <p:spPr>
          <a:xfrm>
            <a:off x="6858000" y="3474720"/>
            <a:ext cx="4754880" cy="548640"/>
          </a:xfrm>
          <a:prstGeom prst="rect">
            <a:avLst/>
          </a:prstGeom>
          <a:noFill/>
          <a:ln/>
        </p:spPr>
        <p:txBody>
          <a:bodyPr wrap="square" lIns="0" tIns="0" rIns="0" bIns="0" rtlCol="0" anchor="ctr"/>
          <a:lstStyle/>
          <a:p>
            <a:pPr algn="ctr" indent="0" marL="0">
              <a:buNone/>
            </a:pPr>
            <a:r>
              <a:rPr lang="en-US" sz="2800" b="1" dirty="0">
                <a:solidFill>
                  <a:srgbClr val="000000"/>
                </a:solidFill>
                <a:highlight>
                  <a:srgbClr val="FFFF00"/>
                </a:highlight>
                <a:latin typeface="Georgia" pitchFamily="34" charset="0"/>
                <a:ea typeface="Georgia" pitchFamily="34" charset="-122"/>
                <a:cs typeface="Georgia" pitchFamily="34" charset="-120"/>
              </a:rPr>
              <a:t>6 + 6 + 6 = 18</a:t>
            </a:r>
            <a:endParaRPr lang="en-US" sz="2800" dirty="0"/>
          </a:p>
        </p:txBody>
      </p:sp>
      <p:sp>
        <p:nvSpPr>
          <p:cNvPr id="6" name="Body"/>
          <p:cNvSpPr txBox="1"/>
          <p:nvPr/>
        </p:nvSpPr>
        <p:spPr>
          <a:xfrm>
            <a:off x="6858000" y="4297680"/>
            <a:ext cx="4754880" cy="1280160"/>
          </a:xfrm>
          <a:prstGeom prst="rect">
            <a:avLst/>
          </a:prstGeom>
          <a:noFill/>
          <a:ln/>
        </p:spPr>
        <p:txBody>
          <a:bodyPr wrap="square" lIns="50800" tIns="50800" rIns="50800" bIns="50800" rtlCol="0" anchor="t"/>
          <a:lstStyle/>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High risk: 18 or more</a:t>
            </a:r>
            <a:endParaRPr lang="en-US" sz="2100" dirty="0"/>
          </a:p>
          <a:p>
            <a:pPr indent="0" marL="0">
              <a:spcBef>
                <a:spcPts val="800"/>
              </a:spcBef>
              <a:buNone/>
            </a:pPr>
            <a:r>
              <a:rPr lang="en-US" sz="2100" dirty="0">
                <a:solidFill>
                  <a:srgbClr val="000000"/>
                </a:solidFill>
                <a:latin typeface="Georgia" pitchFamily="34" charset="0"/>
                <a:ea typeface="Georgia" pitchFamily="34" charset="-122"/>
                <a:cs typeface="Georgia" pitchFamily="34" charset="-120"/>
              </a:rPr>
              <a:t>5-year HCC about 16 to 17%</a:t>
            </a:r>
            <a:endParaRPr lang="en-US" sz="21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Points as printed in EASL 2025 Table 13. PAGE-B: Papatheodoridis GV et al. J Hepatol 2016.</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34/64</a:t>
            </a:r>
            <a:endParaRPr lang="en-US" sz="9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Calculate it yourself</a:t>
            </a:r>
            <a:endParaRPr lang="en-US" sz="3000" dirty="0"/>
          </a:p>
        </p:txBody>
      </p:sp>
      <p:graphicFrame>
        <p:nvGraphicFramePr>
          <p:cNvPr id="53" name="Table"/>
          <p:cNvGraphicFramePr>
            <a:graphicFrameLocks noGrp="1"/>
          </p:cNvGraphicFramePr>
          <p:nvPr>
            <p:extLst>
              <p:ext uri="{D42A27DB-BD31-4B8C-83A1-F6EECF244321}">
                <p14:modId xmlns:p14="http://schemas.microsoft.com/office/powerpoint/2010/main" val="1579011935"/>
              </p:ext>
            </p:extLst>
          </p:nvPr>
        </p:nvGraphicFramePr>
        <p:xfrm>
          <a:off x="548640" y="1371600"/>
          <a:ext cx="6583680" cy="914400"/>
        </p:xfrm>
        <a:graphic>
          <a:graphicData uri="http://schemas.openxmlformats.org/drawingml/2006/table">
            <a:tbl>
              <a:tblPr/>
              <a:tblGrid>
                <a:gridCol w="1380744"/>
                <a:gridCol w="2615184"/>
                <a:gridCol w="2587752"/>
              </a:tblGrid>
              <a:tr h="68580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PAGE-B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derivation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5-year HCC, validation</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9 or less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10 to 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3%</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4%</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8580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18 or more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17%</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16%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QR code to the HBV HCC risk calculator">    </p:cNvPr>
          <p:cNvPicPr>
            <a:picLocks noChangeAspect="1"/>
          </p:cNvPicPr>
          <p:nvPr/>
        </p:nvPicPr>
        <p:blipFill>
          <a:blip r:embed="rId1"/>
          <a:stretch>
            <a:fillRect/>
          </a:stretch>
        </p:blipFill>
        <p:spPr>
          <a:xfrm>
            <a:off x="8412480" y="1371600"/>
            <a:ext cx="2743200" cy="2743200"/>
          </a:xfrm>
          <a:prstGeom prst="rect">
            <a:avLst/>
          </a:prstGeom>
        </p:spPr>
      </p:pic>
      <p:sp>
        <p:nvSpPr>
          <p:cNvPr id="5" name="Text 1"/>
          <p:cNvSpPr txBox="1"/>
          <p:nvPr/>
        </p:nvSpPr>
        <p:spPr>
          <a:xfrm>
            <a:off x="7498080" y="4160520"/>
            <a:ext cx="4572000" cy="365760"/>
          </a:xfrm>
          <a:prstGeom prst="rect">
            <a:avLst/>
          </a:prstGeom>
          <a:noFill/>
          <a:ln/>
        </p:spPr>
        <p:txBody>
          <a:bodyPr wrap="square" lIns="0" tIns="0" rIns="0" bIns="0" rtlCol="0" anchor="ctr"/>
          <a:lstStyle/>
          <a:p>
            <a:pPr algn="ctr" indent="0" marL="0">
              <a:buNone/>
            </a:pPr>
            <a:r>
              <a:rPr lang="en-US" sz="1700" dirty="0">
                <a:solidFill>
                  <a:srgbClr val="000000"/>
                </a:solidFill>
                <a:latin typeface="Georgia" pitchFamily="34" charset="0"/>
                <a:ea typeface="Georgia" pitchFamily="34" charset="-122"/>
                <a:cs typeface="Georgia" pitchFamily="34" charset="-120"/>
              </a:rPr>
              <a:t>qaddodi.github.io/chb-hcc-risk</a:t>
            </a:r>
            <a:endParaRPr lang="en-US" sz="1700" dirty="0"/>
          </a:p>
        </p:txBody>
      </p:sp>
      <p:sp>
        <p:nvSpPr>
          <p:cNvPr id="6" name="Body"/>
          <p:cNvSpPr txBox="1"/>
          <p:nvPr/>
        </p:nvSpPr>
        <p:spPr>
          <a:xfrm>
            <a:off x="548640" y="4114800"/>
            <a:ext cx="6675120" cy="2011680"/>
          </a:xfrm>
          <a:prstGeom prst="rect">
            <a:avLst/>
          </a:prstGeom>
          <a:noFill/>
          <a:ln/>
        </p:spPr>
        <p:txBody>
          <a:bodyPr wrap="square" lIns="50800" tIns="50800" rIns="50800" bIns="50800" rtlCol="0" anchor="t"/>
          <a:lstStyle/>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PAGE-B was built in treated patients; REACH-B was built in untreated patients</a:t>
            </a:r>
            <a:endParaRPr lang="en-US" sz="1900" dirty="0"/>
          </a:p>
          <a:p>
            <a:pPr marL="228600" indent="-228600">
              <a:spcBef>
                <a:spcPts val="1000"/>
              </a:spcBef>
              <a:buSzPct val="100000"/>
              <a:buChar char="–"/>
            </a:pPr>
            <a:r>
              <a:rPr lang="en-US" sz="1900" dirty="0">
                <a:solidFill>
                  <a:srgbClr val="000000"/>
                </a:solidFill>
                <a:latin typeface="Georgia" pitchFamily="34" charset="0"/>
                <a:ea typeface="Georgia" pitchFamily="34" charset="-122"/>
                <a:cs typeface="Georgia" pitchFamily="34" charset="-120"/>
              </a:rPr>
              <a:t>The HBsAg-based model on the site is a 2026 research model, not validated</a:t>
            </a:r>
            <a:endParaRPr lang="en-US" sz="19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PAGE-B: Papatheodoridis GV et al. J Hepatol 2016. VA validation: Kim 2022.</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35/64</a:t>
            </a:r>
            <a:endParaRPr lang="en-US" sz="9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4"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36/64</a:t>
            </a:r>
            <a:endParaRPr lang="en-US" sz="9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Who gets surveillance?</a:t>
            </a:r>
            <a:endParaRPr lang="en-US" sz="3000" dirty="0"/>
          </a:p>
        </p:txBody>
      </p:sp>
      <p:sp>
        <p:nvSpPr>
          <p:cNvPr id="3" name="Question"/>
          <p:cNvSpPr txBox="1"/>
          <p:nvPr/>
        </p:nvSpPr>
        <p:spPr>
          <a:xfrm>
            <a:off x="36576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Ultrasound and AFP every 6 months?</a:t>
            </a:r>
            <a:endParaRPr lang="en-US" sz="2400" dirty="0"/>
          </a:p>
        </p:txBody>
      </p:sp>
      <p:pic>
        <p:nvPicPr>
          <p:cNvPr id="4" name="Image 0" descr="Watercolor of an abdominal ultrasound probe">    </p:cNvPr>
          <p:cNvPicPr>
            <a:picLocks noChangeAspect="1"/>
          </p:cNvPicPr>
          <p:nvPr/>
        </p:nvPicPr>
        <p:blipFill>
          <a:blip r:embed="rId1"/>
          <a:stretch>
            <a:fillRect/>
          </a:stretch>
        </p:blipFill>
        <p:spPr>
          <a:xfrm>
            <a:off x="8046720" y="1188720"/>
            <a:ext cx="4023360" cy="4023360"/>
          </a:xfrm>
          <a:prstGeom prst="rect">
            <a:avLst/>
          </a:prstGeom>
        </p:spPr>
      </p:pic>
      <p:graphicFrame>
        <p:nvGraphicFramePr>
          <p:cNvPr id="55" name="Table"/>
          <p:cNvGraphicFramePr>
            <a:graphicFrameLocks noGrp="1"/>
          </p:cNvGraphicFramePr>
          <p:nvPr>
            <p:extLst>
              <p:ext uri="{D42A27DB-BD31-4B8C-83A1-F6EECF244321}">
                <p14:modId xmlns:p14="http://schemas.microsoft.com/office/powerpoint/2010/main" val="1579011935"/>
              </p:ext>
            </p:extLst>
          </p:nvPr>
        </p:nvGraphicFramePr>
        <p:xfrm>
          <a:off x="365760" y="1737360"/>
          <a:ext cx="7680960" cy="914400"/>
        </p:xfrm>
        <a:graphic>
          <a:graphicData uri="http://schemas.openxmlformats.org/drawingml/2006/table">
            <a:tbl>
              <a:tblPr/>
              <a:tblGrid>
                <a:gridCol w="6080760"/>
                <a:gridCol w="1600200"/>
              </a:tblGrid>
              <a:tr h="566928">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Patient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Surveillance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Compensated cirrhosis, Child-Pugh 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38,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Woman from an endemic region, age 46, no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No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Family history of HCC</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66928">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PAGE-B score of 12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Yes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practice guidance 2023, Table 1. Hepatology 2023;78:1922-1965, PMID 37199193.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36/64</a:t>
            </a:r>
            <a:endParaRPr lang="en-US" sz="9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Which HCC score for which patient</a:t>
            </a:r>
            <a:endParaRPr lang="en-US" sz="3000" dirty="0"/>
          </a:p>
        </p:txBody>
      </p:sp>
      <p:graphicFrame>
        <p:nvGraphicFramePr>
          <p:cNvPr id="56"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170432"/>
                <a:gridCol w="4279392"/>
                <a:gridCol w="5276088"/>
              </a:tblGrid>
              <a:tr h="73152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Score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Built 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Variables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1,815 treated White Europeans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mPAGE-B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3,001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platelets, albumin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REACH-B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3,584 untreated Taiwanese, noncirrhotic</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ALT, HBeAg,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aMAP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17,374, mostly treated Asian HBV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Age, sex, albumin-bilirubin, platelets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REAL-B</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8,048 treated Asian patients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Sex, age, alcohol, diabetes, cirrhosis, platelets, AFP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Papatheodoridis 2016; Kim 2018; Yang 2011; Fan 2020; Yang 2020; Kim 2022 (dossier refs 38-42, 46).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37/64</a:t>
            </a:r>
            <a:endParaRPr lang="en-US" sz="90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Does qHBsAg refine HCC risk?</a:t>
            </a:r>
            <a:endParaRPr lang="en-US" sz="3000" dirty="0"/>
          </a:p>
        </p:txBody>
      </p:sp>
      <p:graphicFrame>
        <p:nvGraphicFramePr>
          <p:cNvPr id="5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657600"/>
                <a:gridCol w="7068312"/>
              </a:tblGrid>
              <a:tr h="100584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Tseng, Gastroenterology 2012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Result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2,688 noncirrhotic Taiwanese, 191 HCC, mean 14.7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HBeAg-negative with DNA under 2,000: HBsAg 1,000 or more vs under 1,000 gave adjusted HR 13.7 (4.8 to 39.3)</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0584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Whole cohort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was the stronger predictor; HBsAg alone did not add independently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Tseng TC et al. Gastroenterology 2012 (dossier ref 48).</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38/64</a:t>
            </a:r>
            <a:endParaRPr lang="en-US" sz="9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Integration of HBV DNA</a:t>
            </a:r>
            <a:endParaRPr lang="en-US" sz="3000" dirty="0"/>
          </a:p>
        </p:txBody>
      </p:sp>
      <p:graphicFrame>
        <p:nvGraphicFramePr>
          <p:cNvPr id="58"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242816"/>
                <a:gridCol w="6483096"/>
              </a:tblGrid>
              <a:tr h="109728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Study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Finding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Mason 2016, 26 patients aged 14 to 39</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Integration and clonal hepatocyte expansion found in immune-tolerant patients as well, before ALT rises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Grudda 2022, 16 HIV/HBV patients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Integrated DNA keeps producing HBsAg despite antiviral therapy</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Mason WS et al. Gastroenterology 2016 (dossier ref 50); Grudda T et al. 2022 (ref 51).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39/64</a:t>
            </a:r>
            <a:endParaRPr lang="en-US" sz="9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HCC surveillance: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Ultrasound and AFP every 6 months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 from an endemic region: men over 40, women over 50; people of African origin earlier</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Family history of HCC</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PAGE-B 10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Hepatitis D coinfection</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Keep going after HBsAg loss if:</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Cirrhosis or a family history of HCC, or HBsAg lost after 40 in men and after 50 in women</a:t>
            </a:r>
            <a:endParaRPr lang="en-US" sz="2100" dirty="0"/>
          </a:p>
        </p:txBody>
      </p:sp>
      <p:pic>
        <p:nvPicPr>
          <p:cNvPr id="4" name="Image 0" descr="Watercolor of an abdominal ultrasound probe">    </p:cNvPr>
          <p:cNvPicPr>
            <a:picLocks noChangeAspect="1"/>
          </p:cNvPicPr>
          <p:nvPr/>
        </p:nvPicPr>
        <p:blipFill>
          <a:blip r:embed="rId1"/>
          <a:stretch>
            <a:fillRect/>
          </a:stretch>
        </p:blipFill>
        <p:spPr>
          <a:xfrm>
            <a:off x="7772400" y="128016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HCC guidance 2023, Table 1 (PMID 37199193); AASLD/IDSA 2025 R6 to R9 (PMID 41186418).</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40/64</a:t>
            </a:r>
            <a:endParaRPr lang="en-US" sz="9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60"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41/64</a:t>
            </a:r>
            <a:endParaRPr lang="en-US" sz="90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Risk of HBV reactivation</a:t>
            </a:r>
            <a:endParaRPr lang="en-US" sz="3000" dirty="0"/>
          </a:p>
        </p:txBody>
      </p:sp>
      <p:sp>
        <p:nvSpPr>
          <p:cNvPr id="3" name="Question"/>
          <p:cNvSpPr txBox="1"/>
          <p:nvPr/>
        </p:nvSpPr>
        <p:spPr>
          <a:xfrm>
            <a:off x="822960" y="1097280"/>
            <a:ext cx="10545775" cy="548640"/>
          </a:xfrm>
          <a:prstGeom prst="rect">
            <a:avLst/>
          </a:prstGeom>
          <a:noFill/>
          <a:ln/>
        </p:spPr>
        <p:txBody>
          <a:bodyPr wrap="square" lIns="0" tIns="0" rIns="0" bIns="0" rtlCol="0" anchor="ctr"/>
          <a:lstStyle/>
          <a:p>
            <a:pPr algn="ctr" indent="0" marL="0">
              <a:buNone/>
            </a:pPr>
            <a:r>
              <a:rPr lang="en-US" sz="2200" b="1" dirty="0">
                <a:solidFill>
                  <a:srgbClr val="000000"/>
                </a:solidFill>
                <a:latin typeface="Georgia" pitchFamily="34" charset="0"/>
                <a:ea typeface="Georgia" pitchFamily="34" charset="-122"/>
                <a:cs typeface="Georgia" pitchFamily="34" charset="-120"/>
              </a:rPr>
              <a:t>How risky is each drug if HBsAg is negative and anti-HBc is positive?</a:t>
            </a:r>
            <a:endParaRPr lang="en-US" sz="2200" dirty="0"/>
          </a:p>
        </p:txBody>
      </p:sp>
      <p:graphicFrame>
        <p:nvGraphicFramePr>
          <p:cNvPr id="61" name="Table"/>
          <p:cNvGraphicFramePr>
            <a:graphicFrameLocks noGrp="1"/>
          </p:cNvGraphicFramePr>
          <p:nvPr>
            <p:extLst>
              <p:ext uri="{D42A27DB-BD31-4B8C-83A1-F6EECF244321}">
                <p14:modId xmlns:p14="http://schemas.microsoft.com/office/powerpoint/2010/main" val="1579011935"/>
              </p:ext>
            </p:extLst>
          </p:nvPr>
        </p:nvGraphicFramePr>
        <p:xfrm>
          <a:off x="1097280" y="1691640"/>
          <a:ext cx="9997135" cy="914400"/>
        </p:xfrm>
        <a:graphic>
          <a:graphicData uri="http://schemas.openxmlformats.org/drawingml/2006/table">
            <a:tbl>
              <a:tblPr/>
              <a:tblGrid>
                <a:gridCol w="7251192"/>
                <a:gridCol w="2743200"/>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Drug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Reactivation risk</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Rituximab or other anti-CD20</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b="1" dirty="0">
                          <a:solidFill>
                            <a:srgbClr val="C00000"/>
                          </a:solidFill>
                          <a:latin typeface="Calibri" pitchFamily="34" charset="0"/>
                          <a:ea typeface="Calibri" pitchFamily="34" charset="-122"/>
                          <a:cs typeface="Calibri" pitchFamily="34" charset="-120"/>
                        </a:rPr>
                        <a:t>High</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Anthracyclines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JAK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Prednisone 20 mg or more for 4 weeks or longer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Moderate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Anti-TNF</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Immune checkpoint inhibitors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Methotrexate, azathioprine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Low</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guideline 2025, Table 6. Gastroenterology 2025;168:267-284, PMID 39863345. High above 10%, moderate 1 to 10%, low below 1%.</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41/64</a:t>
            </a:r>
            <a:endParaRPr lang="en-US" sz="90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1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42/64</a:t>
            </a:r>
            <a:endParaRPr lang="en-US" sz="9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Rituximab, six cycles</a:t>
            </a:r>
            <a:endParaRPr lang="en-US" sz="3000" dirty="0"/>
          </a:p>
        </p:txBody>
      </p:sp>
      <p:sp>
        <p:nvSpPr>
          <p:cNvPr id="3" name="Question"/>
          <p:cNvSpPr txBox="1"/>
          <p:nvPr/>
        </p:nvSpPr>
        <p:spPr>
          <a:xfrm>
            <a:off x="274320" y="1097280"/>
            <a:ext cx="768096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give, and for how long?</a:t>
            </a:r>
            <a:endParaRPr lang="en-US" sz="2400" dirty="0"/>
          </a:p>
        </p:txBody>
      </p:sp>
      <p:pic>
        <p:nvPicPr>
          <p:cNvPr id="4" name="Image 0" descr="Watercolor of an IV bag and infusion pump on a pole">    </p:cNvPr>
          <p:cNvPicPr>
            <a:picLocks noChangeAspect="1"/>
          </p:cNvPicPr>
          <p:nvPr/>
        </p:nvPicPr>
        <p:blipFill>
          <a:blip r:embed="rId1"/>
          <a:stretch>
            <a:fillRect/>
          </a:stretch>
        </p:blipFill>
        <p:spPr>
          <a:xfrm>
            <a:off x="7772400" y="1005840"/>
            <a:ext cx="4297680" cy="4297680"/>
          </a:xfrm>
          <a:prstGeom prst="rect">
            <a:avLst/>
          </a:prstGeom>
        </p:spPr>
      </p:pic>
      <p:sp>
        <p:nvSpPr>
          <p:cNvPr id="5" name="Shape 2"/>
          <p:cNvSpPr/>
          <p:nvPr/>
        </p:nvSpPr>
        <p:spPr>
          <a:xfrm>
            <a:off x="2468880" y="2011680"/>
            <a:ext cx="0" cy="1737360"/>
          </a:xfrm>
          <a:prstGeom prst="line">
            <a:avLst/>
          </a:prstGeom>
          <a:noFill/>
          <a:ln w="9525">
            <a:solidFill>
              <a:srgbClr val="D9D9D9"/>
            </a:solidFill>
            <a:prstDash val="solid"/>
          </a:ln>
        </p:spPr>
      </p:sp>
      <p:sp>
        <p:nvSpPr>
          <p:cNvPr id="6" name="Text 3"/>
          <p:cNvSpPr txBox="1"/>
          <p:nvPr/>
        </p:nvSpPr>
        <p:spPr>
          <a:xfrm>
            <a:off x="156972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Start</a:t>
            </a:r>
            <a:endParaRPr lang="en-US" sz="1600" dirty="0"/>
          </a:p>
        </p:txBody>
      </p:sp>
      <p:sp>
        <p:nvSpPr>
          <p:cNvPr id="7" name="Shape 4"/>
          <p:cNvSpPr/>
          <p:nvPr/>
        </p:nvSpPr>
        <p:spPr>
          <a:xfrm>
            <a:off x="4267200" y="2011680"/>
            <a:ext cx="0" cy="1737360"/>
          </a:xfrm>
          <a:prstGeom prst="line">
            <a:avLst/>
          </a:prstGeom>
          <a:noFill/>
          <a:ln w="9525">
            <a:solidFill>
              <a:srgbClr val="D9D9D9"/>
            </a:solidFill>
            <a:prstDash val="solid"/>
          </a:ln>
        </p:spPr>
      </p:sp>
      <p:sp>
        <p:nvSpPr>
          <p:cNvPr id="8" name="Text 5"/>
          <p:cNvSpPr txBox="1"/>
          <p:nvPr/>
        </p:nvSpPr>
        <p:spPr>
          <a:xfrm>
            <a:off x="336804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9" name="Shape 6"/>
          <p:cNvSpPr/>
          <p:nvPr/>
        </p:nvSpPr>
        <p:spPr>
          <a:xfrm>
            <a:off x="6065520" y="2011680"/>
            <a:ext cx="0" cy="1737360"/>
          </a:xfrm>
          <a:prstGeom prst="line">
            <a:avLst/>
          </a:prstGeom>
          <a:noFill/>
          <a:ln w="9525">
            <a:solidFill>
              <a:srgbClr val="D9D9D9"/>
            </a:solidFill>
            <a:prstDash val="solid"/>
          </a:ln>
        </p:spPr>
      </p:sp>
      <p:sp>
        <p:nvSpPr>
          <p:cNvPr id="10" name="Text 7"/>
          <p:cNvSpPr txBox="1"/>
          <p:nvPr/>
        </p:nvSpPr>
        <p:spPr>
          <a:xfrm>
            <a:off x="516636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1" name="Shape 8"/>
          <p:cNvSpPr/>
          <p:nvPr/>
        </p:nvSpPr>
        <p:spPr>
          <a:xfrm>
            <a:off x="7863840" y="2011680"/>
            <a:ext cx="0" cy="1737360"/>
          </a:xfrm>
          <a:prstGeom prst="line">
            <a:avLst/>
          </a:prstGeom>
          <a:noFill/>
          <a:ln w="9525">
            <a:solidFill>
              <a:srgbClr val="D9D9D9"/>
            </a:solidFill>
            <a:prstDash val="solid"/>
          </a:ln>
        </p:spPr>
      </p:sp>
      <p:sp>
        <p:nvSpPr>
          <p:cNvPr id="12" name="Text 9"/>
          <p:cNvSpPr txBox="1"/>
          <p:nvPr/>
        </p:nvSpPr>
        <p:spPr>
          <a:xfrm>
            <a:off x="6964680" y="3794760"/>
            <a:ext cx="1798320"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18</a:t>
            </a:r>
            <a:endParaRPr lang="en-US" sz="1600" dirty="0"/>
          </a:p>
        </p:txBody>
      </p:sp>
      <p:sp>
        <p:nvSpPr>
          <p:cNvPr id="13" name="Text 10"/>
          <p:cNvSpPr txBox="1"/>
          <p:nvPr/>
        </p:nvSpPr>
        <p:spPr>
          <a:xfrm>
            <a:off x="182880" y="208483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Rituximab</a:t>
            </a:r>
            <a:endParaRPr lang="en-US" sz="1600" dirty="0"/>
          </a:p>
        </p:txBody>
      </p:sp>
      <p:sp>
        <p:nvSpPr>
          <p:cNvPr id="14" name="Shape 11"/>
          <p:cNvSpPr/>
          <p:nvPr/>
        </p:nvSpPr>
        <p:spPr>
          <a:xfrm>
            <a:off x="2468880" y="2084832"/>
            <a:ext cx="1708404" cy="676656"/>
          </a:xfrm>
          <a:prstGeom prst="rect">
            <a:avLst/>
          </a:prstGeom>
          <a:solidFill>
            <a:srgbClr val="9DB4CA"/>
          </a:solidFill>
          <a:ln w="6350">
            <a:solidFill>
              <a:srgbClr val="9DB4CA"/>
            </a:solidFill>
            <a:prstDash val="solid"/>
          </a:ln>
        </p:spPr>
      </p:sp>
      <p:sp>
        <p:nvSpPr>
          <p:cNvPr id="15" name="Text 12"/>
          <p:cNvSpPr txBox="1"/>
          <p:nvPr/>
        </p:nvSpPr>
        <p:spPr>
          <a:xfrm>
            <a:off x="182880" y="2907792"/>
            <a:ext cx="2148840" cy="67665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Entecavir, TDF or TAF</a:t>
            </a:r>
            <a:endParaRPr lang="en-US" sz="1600" dirty="0"/>
          </a:p>
        </p:txBody>
      </p:sp>
      <p:sp>
        <p:nvSpPr>
          <p:cNvPr id="16" name="Shape 13"/>
          <p:cNvSpPr/>
          <p:nvPr/>
        </p:nvSpPr>
        <p:spPr>
          <a:xfrm>
            <a:off x="2468880" y="2907792"/>
            <a:ext cx="5394960" cy="676656"/>
          </a:xfrm>
          <a:prstGeom prst="rect">
            <a:avLst/>
          </a:prstGeom>
          <a:solidFill>
            <a:srgbClr val="1F4E79"/>
          </a:solidFill>
          <a:ln w="6350">
            <a:solidFill>
              <a:srgbClr val="1F4E79"/>
            </a:solidFill>
            <a:prstDash val="solid"/>
          </a:ln>
        </p:spPr>
      </p:sp>
      <p:sp>
        <p:nvSpPr>
          <p:cNvPr id="17" name="Text 14"/>
          <p:cNvSpPr txBox="1"/>
          <p:nvPr/>
        </p:nvSpPr>
        <p:spPr>
          <a:xfrm>
            <a:off x="2468880" y="2907792"/>
            <a:ext cx="5394960" cy="67665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Continue 12 months after the last dose</a:t>
            </a:r>
            <a:endParaRPr lang="en-US" sz="1500" dirty="0"/>
          </a:p>
        </p:txBody>
      </p:sp>
      <p:sp>
        <p:nvSpPr>
          <p:cNvPr id="18" name="Question"/>
          <p:cNvSpPr txBox="1"/>
          <p:nvPr/>
        </p:nvSpPr>
        <p:spPr>
          <a:xfrm>
            <a:off x="365760" y="4480560"/>
            <a:ext cx="7315200" cy="914400"/>
          </a:xfrm>
          <a:prstGeom prst="rect">
            <a:avLst/>
          </a:prstGeom>
          <a:noFill/>
          <a:ln/>
        </p:spPr>
        <p:txBody>
          <a:bodyPr wrap="square" lIns="0" tIns="0" rIns="0" bIns="0" rtlCol="0" anchor="ctr"/>
          <a:lstStyle/>
          <a:p>
            <a:pPr algn="ctr" indent="0" marL="0">
              <a:buNone/>
            </a:pPr>
            <a:r>
              <a:rPr lang="en-US" sz="2000" b="1" dirty="0">
                <a:solidFill>
                  <a:srgbClr val="000000"/>
                </a:solidFill>
                <a:highlight>
                  <a:srgbClr val="FFFF00"/>
                </a:highlight>
                <a:latin typeface="Georgia" pitchFamily="34" charset="0"/>
                <a:ea typeface="Georgia" pitchFamily="34" charset="-122"/>
                <a:cs typeface="Georgia" pitchFamily="34" charset="-120"/>
              </a:rPr>
              <a:t>Start before the first dose. If you only monitor: DNA and ALT every 1 to 3 months</a:t>
            </a:r>
            <a:endParaRPr lang="en-US" sz="2000" dirty="0"/>
          </a:p>
        </p:txBody>
      </p:sp>
      <p:sp>
        <p:nvSpPr>
          <p:cNvPr id="1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42/64</a:t>
            </a:r>
            <a:endParaRPr lang="en-US" sz="9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Before immunosuppression: summary</a:t>
            </a:r>
            <a:endParaRPr lang="en-US" sz="3000" dirty="0"/>
          </a:p>
        </p:txBody>
      </p:sp>
      <p:sp>
        <p:nvSpPr>
          <p:cNvPr id="3" name="Text 1"/>
          <p:cNvSpPr/>
          <p:nvPr/>
        </p:nvSpPr>
        <p:spPr>
          <a:xfrm>
            <a:off x="2194560" y="1097280"/>
            <a:ext cx="777240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Before chemotherapy or immunosuppression: HBsAg, anti-HBc, anti-HBs</a:t>
            </a:r>
            <a:endParaRPr lang="en-US" sz="1800" dirty="0"/>
          </a:p>
        </p:txBody>
      </p:sp>
      <p:sp>
        <p:nvSpPr>
          <p:cNvPr id="4" name="Shape 2"/>
          <p:cNvSpPr/>
          <p:nvPr/>
        </p:nvSpPr>
        <p:spPr>
          <a:xfrm>
            <a:off x="6080760" y="1645920"/>
            <a:ext cx="0" cy="274320"/>
          </a:xfrm>
          <a:prstGeom prst="line">
            <a:avLst/>
          </a:prstGeom>
          <a:noFill/>
          <a:ln w="19050">
            <a:solidFill>
              <a:srgbClr val="595959"/>
            </a:solidFill>
            <a:prstDash val="solid"/>
          </a:ln>
        </p:spPr>
      </p:sp>
      <p:sp>
        <p:nvSpPr>
          <p:cNvPr id="5" name="Shape 3"/>
          <p:cNvSpPr/>
          <p:nvPr/>
        </p:nvSpPr>
        <p:spPr>
          <a:xfrm>
            <a:off x="2148840" y="1920240"/>
            <a:ext cx="7863840" cy="0"/>
          </a:xfrm>
          <a:prstGeom prst="line">
            <a:avLst/>
          </a:prstGeom>
          <a:noFill/>
          <a:ln w="19050">
            <a:solidFill>
              <a:srgbClr val="595959"/>
            </a:solidFill>
            <a:prstDash val="solid"/>
          </a:ln>
        </p:spPr>
      </p:sp>
      <p:sp>
        <p:nvSpPr>
          <p:cNvPr id="6" name="Shape 4"/>
          <p:cNvSpPr/>
          <p:nvPr/>
        </p:nvSpPr>
        <p:spPr>
          <a:xfrm>
            <a:off x="2148840" y="1920240"/>
            <a:ext cx="0" cy="274320"/>
          </a:xfrm>
          <a:prstGeom prst="line">
            <a:avLst/>
          </a:prstGeom>
          <a:noFill/>
          <a:ln w="19050">
            <a:solidFill>
              <a:srgbClr val="595959"/>
            </a:solidFill>
            <a:prstDash val="solid"/>
            <a:tailEnd type="triangle"/>
          </a:ln>
        </p:spPr>
      </p:sp>
      <p:sp>
        <p:nvSpPr>
          <p:cNvPr id="7" name="Shape 5"/>
          <p:cNvSpPr/>
          <p:nvPr/>
        </p:nvSpPr>
        <p:spPr>
          <a:xfrm>
            <a:off x="6080760" y="1920240"/>
            <a:ext cx="0" cy="274320"/>
          </a:xfrm>
          <a:prstGeom prst="line">
            <a:avLst/>
          </a:prstGeom>
          <a:noFill/>
          <a:ln w="19050">
            <a:solidFill>
              <a:srgbClr val="595959"/>
            </a:solidFill>
            <a:prstDash val="solid"/>
            <a:tailEnd type="triangle"/>
          </a:ln>
        </p:spPr>
      </p:sp>
      <p:sp>
        <p:nvSpPr>
          <p:cNvPr id="8" name="Shape 6"/>
          <p:cNvSpPr/>
          <p:nvPr/>
        </p:nvSpPr>
        <p:spPr>
          <a:xfrm>
            <a:off x="10012680" y="1920240"/>
            <a:ext cx="0" cy="274320"/>
          </a:xfrm>
          <a:prstGeom prst="line">
            <a:avLst/>
          </a:prstGeom>
          <a:noFill/>
          <a:ln w="19050">
            <a:solidFill>
              <a:srgbClr val="595959"/>
            </a:solidFill>
            <a:prstDash val="solid"/>
            <a:tailEnd type="triangle"/>
          </a:ln>
        </p:spPr>
      </p:sp>
      <p:sp>
        <p:nvSpPr>
          <p:cNvPr id="9" name="Text 7"/>
          <p:cNvSpPr/>
          <p:nvPr/>
        </p:nvSpPr>
        <p:spPr>
          <a:xfrm>
            <a:off x="41148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positive</a:t>
            </a:r>
            <a:endParaRPr lang="en-US" sz="1700" dirty="0"/>
          </a:p>
        </p:txBody>
      </p:sp>
      <p:sp>
        <p:nvSpPr>
          <p:cNvPr id="10" name="Text 8"/>
          <p:cNvSpPr/>
          <p:nvPr/>
        </p:nvSpPr>
        <p:spPr>
          <a:xfrm>
            <a:off x="434340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HBsAg negative, anti-HBc positive</a:t>
            </a:r>
            <a:endParaRPr lang="en-US" sz="1700" dirty="0"/>
          </a:p>
        </p:txBody>
      </p:sp>
      <p:sp>
        <p:nvSpPr>
          <p:cNvPr id="11" name="Text 9"/>
          <p:cNvSpPr/>
          <p:nvPr/>
        </p:nvSpPr>
        <p:spPr>
          <a:xfrm>
            <a:off x="8275320" y="2194560"/>
            <a:ext cx="3474720" cy="548640"/>
          </a:xfrm>
          <a:prstGeom prst="rect">
            <a:avLst/>
          </a:prstGeom>
          <a:solidFill>
            <a:srgbClr val="F2F2F2"/>
          </a:solidFill>
          <a:ln w="12700">
            <a:solidFill>
              <a:srgbClr val="7F7F7F"/>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All negative</a:t>
            </a:r>
            <a:endParaRPr lang="en-US" sz="1700" dirty="0"/>
          </a:p>
        </p:txBody>
      </p:sp>
      <p:sp>
        <p:nvSpPr>
          <p:cNvPr id="12" name="Shape 10"/>
          <p:cNvSpPr/>
          <p:nvPr/>
        </p:nvSpPr>
        <p:spPr>
          <a:xfrm>
            <a:off x="2148840" y="2743200"/>
            <a:ext cx="0" cy="320040"/>
          </a:xfrm>
          <a:prstGeom prst="line">
            <a:avLst/>
          </a:prstGeom>
          <a:noFill/>
          <a:ln w="19050">
            <a:solidFill>
              <a:srgbClr val="595959"/>
            </a:solidFill>
            <a:prstDash val="solid"/>
            <a:tailEnd type="triangle"/>
          </a:ln>
        </p:spPr>
      </p:sp>
      <p:sp>
        <p:nvSpPr>
          <p:cNvPr id="13" name="Text 11"/>
          <p:cNvSpPr/>
          <p:nvPr/>
        </p:nvSpPr>
        <p:spPr>
          <a:xfrm>
            <a:off x="41148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Prophylaxis: entecavir, TDF or TAF</a:t>
            </a:r>
            <a:endParaRPr lang="en-US" sz="1800" dirty="0"/>
          </a:p>
        </p:txBody>
      </p:sp>
      <p:sp>
        <p:nvSpPr>
          <p:cNvPr id="14" name="Shape 12"/>
          <p:cNvSpPr/>
          <p:nvPr/>
        </p:nvSpPr>
        <p:spPr>
          <a:xfrm>
            <a:off x="2148840" y="3977640"/>
            <a:ext cx="0" cy="320040"/>
          </a:xfrm>
          <a:prstGeom prst="line">
            <a:avLst/>
          </a:prstGeom>
          <a:noFill/>
          <a:ln w="19050">
            <a:solidFill>
              <a:srgbClr val="595959"/>
            </a:solidFill>
            <a:prstDash val="solid"/>
            <a:tailEnd type="triangle"/>
          </a:ln>
        </p:spPr>
      </p:sp>
      <p:sp>
        <p:nvSpPr>
          <p:cNvPr id="15" name="Text 13"/>
          <p:cNvSpPr/>
          <p:nvPr/>
        </p:nvSpPr>
        <p:spPr>
          <a:xfrm>
            <a:off x="411480" y="4297680"/>
            <a:ext cx="3474720" cy="128016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Start before the first dose. Continue 6 months after the last, 12 after anti-CD20</a:t>
            </a:r>
            <a:endParaRPr lang="en-US" sz="1700" dirty="0"/>
          </a:p>
        </p:txBody>
      </p:sp>
      <p:sp>
        <p:nvSpPr>
          <p:cNvPr id="16" name="Shape 14"/>
          <p:cNvSpPr/>
          <p:nvPr/>
        </p:nvSpPr>
        <p:spPr>
          <a:xfrm>
            <a:off x="6080760" y="2743200"/>
            <a:ext cx="0" cy="320040"/>
          </a:xfrm>
          <a:prstGeom prst="line">
            <a:avLst/>
          </a:prstGeom>
          <a:noFill/>
          <a:ln w="19050">
            <a:solidFill>
              <a:srgbClr val="595959"/>
            </a:solidFill>
            <a:prstDash val="solid"/>
            <a:tailEnd type="triangle"/>
          </a:ln>
        </p:spPr>
      </p:sp>
      <p:sp>
        <p:nvSpPr>
          <p:cNvPr id="17" name="Text 15"/>
          <p:cNvSpPr/>
          <p:nvPr/>
        </p:nvSpPr>
        <p:spPr>
          <a:xfrm>
            <a:off x="4343400" y="3063240"/>
            <a:ext cx="3474720" cy="91440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High risk (anti-CD20, stem cell transplant): prophylaxis</a:t>
            </a:r>
            <a:endParaRPr lang="en-US" sz="1700" dirty="0"/>
          </a:p>
        </p:txBody>
      </p:sp>
      <p:sp>
        <p:nvSpPr>
          <p:cNvPr id="18" name="Shape 16"/>
          <p:cNvSpPr/>
          <p:nvPr/>
        </p:nvSpPr>
        <p:spPr>
          <a:xfrm>
            <a:off x="6080760" y="3977640"/>
            <a:ext cx="0" cy="320040"/>
          </a:xfrm>
          <a:prstGeom prst="line">
            <a:avLst/>
          </a:prstGeom>
          <a:noFill/>
          <a:ln w="19050">
            <a:solidFill>
              <a:srgbClr val="595959"/>
            </a:solidFill>
            <a:prstDash val="solid"/>
            <a:tailEnd type="triangle"/>
          </a:ln>
        </p:spPr>
      </p:sp>
      <p:sp>
        <p:nvSpPr>
          <p:cNvPr id="19" name="Text 17"/>
          <p:cNvSpPr/>
          <p:nvPr/>
        </p:nvSpPr>
        <p:spPr>
          <a:xfrm>
            <a:off x="4343400" y="4297680"/>
            <a:ext cx="3474720" cy="1280160"/>
          </a:xfrm>
          <a:prstGeom prst="rect">
            <a:avLst/>
          </a:prstGeom>
          <a:solidFill>
            <a:srgbClr val="9DB4CA"/>
          </a:solidFill>
          <a:ln w="12700">
            <a:solidFill>
              <a:srgbClr val="9DB4CA"/>
            </a:solidFill>
          </a:ln>
        </p:spPr>
        <p:txBody>
          <a:bodyPr wrap="square" lIns="50800" tIns="50800" rIns="50800" bIns="50800" rtlCol="0" anchor="ctr"/>
          <a:lstStyle/>
          <a:p>
            <a:pPr algn="ctr" indent="0" marL="0">
              <a:buNone/>
            </a:pPr>
            <a:r>
              <a:rPr lang="en-US" sz="1700" b="1" dirty="0">
                <a:solidFill>
                  <a:srgbClr val="000000"/>
                </a:solidFill>
                <a:latin typeface="Calibri" pitchFamily="34" charset="0"/>
                <a:ea typeface="Calibri" pitchFamily="34" charset="-122"/>
                <a:cs typeface="Calibri" pitchFamily="34" charset="-120"/>
              </a:rPr>
              <a:t>Moderate or low risk: DNA and ALT every 1 to 3 months, or prophylaxis</a:t>
            </a:r>
            <a:endParaRPr lang="en-US" sz="1700" dirty="0"/>
          </a:p>
        </p:txBody>
      </p:sp>
      <p:sp>
        <p:nvSpPr>
          <p:cNvPr id="20" name="Shape 18"/>
          <p:cNvSpPr/>
          <p:nvPr/>
        </p:nvSpPr>
        <p:spPr>
          <a:xfrm>
            <a:off x="10012680" y="2743200"/>
            <a:ext cx="0" cy="320040"/>
          </a:xfrm>
          <a:prstGeom prst="line">
            <a:avLst/>
          </a:prstGeom>
          <a:noFill/>
          <a:ln w="19050">
            <a:solidFill>
              <a:srgbClr val="595959"/>
            </a:solidFill>
            <a:prstDash val="solid"/>
            <a:tailEnd type="triangle"/>
          </a:ln>
        </p:spPr>
      </p:sp>
      <p:sp>
        <p:nvSpPr>
          <p:cNvPr id="21" name="Text 19"/>
          <p:cNvSpPr/>
          <p:nvPr/>
        </p:nvSpPr>
        <p:spPr>
          <a:xfrm>
            <a:off x="8275320" y="3063240"/>
            <a:ext cx="3474720" cy="91440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800" b="1" dirty="0">
                <a:solidFill>
                  <a:srgbClr val="000000"/>
                </a:solidFill>
                <a:latin typeface="Calibri" pitchFamily="34" charset="0"/>
                <a:ea typeface="Calibri" pitchFamily="34" charset="-122"/>
                <a:cs typeface="Calibri" pitchFamily="34" charset="-120"/>
              </a:rPr>
              <a:t>Vaccinate</a:t>
            </a:r>
            <a:endParaRPr lang="en-US" sz="1800" dirty="0"/>
          </a:p>
        </p:txBody>
      </p:sp>
      <p:sp>
        <p:nvSpPr>
          <p:cNvPr id="22"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AGA 2025 (PMID 39863345); AASLD 2018 (PMID 29405329); EASL 2025 (PMID 40348683).</a:t>
            </a:r>
            <a:endParaRPr lang="en-US" sz="1000" dirty="0"/>
          </a:p>
        </p:txBody>
      </p:sp>
      <p:sp>
        <p:nvSpPr>
          <p:cNvPr id="24"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43/64</a:t>
            </a:r>
            <a:endParaRPr lang="en-US" sz="90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5"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44/64</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29-year-old woman, 20 weeks pregnant</a:t>
            </a:r>
            <a:endParaRPr lang="en-US" sz="3000" dirty="0"/>
          </a:p>
        </p:txBody>
      </p:sp>
      <p:graphicFrame>
        <p:nvGraphicFramePr>
          <p:cNvPr id="66" name="Table"/>
          <p:cNvGraphicFramePr>
            <a:graphicFrameLocks noGrp="1"/>
          </p:cNvGraphicFramePr>
          <p:nvPr>
            <p:extLst>
              <p:ext uri="{D42A27DB-BD31-4B8C-83A1-F6EECF244321}">
                <p14:modId xmlns:p14="http://schemas.microsoft.com/office/powerpoint/2010/main" val="1579011935"/>
              </p:ext>
            </p:extLst>
          </p:nvPr>
        </p:nvGraphicFramePr>
        <p:xfrm>
          <a:off x="457200" y="1234440"/>
          <a:ext cx="6583680" cy="914400"/>
        </p:xfrm>
        <a:graphic>
          <a:graphicData uri="http://schemas.openxmlformats.org/drawingml/2006/table">
            <a:tbl>
              <a:tblPr/>
              <a:tblGrid>
                <a:gridCol w="1380744"/>
                <a:gridCol w="1380744"/>
                <a:gridCol w="2606040"/>
                <a:gridCol w="1216152"/>
              </a:tblGrid>
              <a:tr h="548640">
                <a:tc>
                  <a:txBody>
                    <a:bodyPr/>
                    <a:lstStyle/>
                    <a:p>
                      <a:pPr algn="l" indent="0" marL="0">
                        <a:buNone/>
                      </a:pPr>
                      <a:r>
                        <a:rPr lang="en-US" sz="2000" b="1" dirty="0">
                          <a:solidFill>
                            <a:srgbClr val="000000"/>
                          </a:solidFill>
                          <a:latin typeface="Calibri" pitchFamily="34" charset="0"/>
                          <a:ea typeface="Calibri" pitchFamily="34" charset="-122"/>
                          <a:cs typeface="Calibri" pitchFamily="34" charset="-120"/>
                        </a:rPr>
                        <a:t>HBsAg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HBeAg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HBV DNA</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ALT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4864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Positive</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C00000"/>
                          </a:solidFill>
                          <a:latin typeface="Calibri" pitchFamily="34" charset="0"/>
                          <a:ea typeface="Calibri" pitchFamily="34" charset="-122"/>
                          <a:cs typeface="Calibri" pitchFamily="34" charset="-120"/>
                        </a:rPr>
                        <a:t>5,000,000 IU/mL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000" dirty="0">
                          <a:solidFill>
                            <a:srgbClr val="000000"/>
                          </a:solidFill>
                          <a:latin typeface="Calibri" pitchFamily="34" charset="0"/>
                          <a:ea typeface="Calibri" pitchFamily="34" charset="-122"/>
                          <a:cs typeface="Calibri" pitchFamily="34" charset="-120"/>
                        </a:rPr>
                        <a:t>22 U/L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457200" y="2514600"/>
            <a:ext cx="6583680" cy="548640"/>
          </a:xfrm>
          <a:prstGeom prst="rect">
            <a:avLst/>
          </a:prstGeom>
          <a:noFill/>
          <a:ln/>
        </p:spPr>
        <p:txBody>
          <a:bodyPr wrap="square" lIns="0" tIns="0" rIns="0" bIns="0" rtlCol="0" anchor="ctr"/>
          <a:lstStyle/>
          <a:p>
            <a:pPr algn="ctr" indent="0" marL="0">
              <a:buNone/>
            </a:pPr>
            <a:r>
              <a:rPr lang="en-US" sz="2400" b="1" dirty="0">
                <a:solidFill>
                  <a:srgbClr val="000000"/>
                </a:solidFill>
                <a:latin typeface="Georgia" pitchFamily="34" charset="0"/>
                <a:ea typeface="Georgia" pitchFamily="34" charset="-122"/>
                <a:cs typeface="Georgia" pitchFamily="34" charset="-120"/>
              </a:rPr>
              <a:t>What do you do for her and for the baby?</a:t>
            </a:r>
            <a:endParaRPr lang="en-US" sz="2400" dirty="0"/>
          </a:p>
        </p:txBody>
      </p:sp>
      <p:pic>
        <p:nvPicPr>
          <p:cNvPr id="5" name="Image 0" descr="Watercolor of a seated pregnant woman in profile">    </p:cNvPr>
          <p:cNvPicPr>
            <a:picLocks noChangeAspect="1"/>
          </p:cNvPicPr>
          <p:nvPr/>
        </p:nvPicPr>
        <p:blipFill>
          <a:blip r:embed="rId1"/>
          <a:stretch>
            <a:fillRect/>
          </a:stretch>
        </p:blipFill>
        <p:spPr>
          <a:xfrm>
            <a:off x="7040880" y="1097280"/>
            <a:ext cx="5029200" cy="5029200"/>
          </a:xfrm>
          <a:prstGeom prst="rect">
            <a:avLst/>
          </a:prstGeom>
        </p:spPr>
      </p:pic>
      <p:sp>
        <p:nvSpPr>
          <p:cNvPr id="6" name="Body"/>
          <p:cNvSpPr txBox="1"/>
          <p:nvPr/>
        </p:nvSpPr>
        <p:spPr>
          <a:xfrm>
            <a:off x="548640" y="3383280"/>
            <a:ext cx="6400800" cy="2560320"/>
          </a:xfrm>
          <a:prstGeom prst="rect">
            <a:avLst/>
          </a:prstGeom>
          <a:noFill/>
          <a:ln/>
        </p:spPr>
        <p:txBody>
          <a:bodyPr wrap="square" lIns="50800" tIns="50800" rIns="50800" bIns="50800" rtlCol="0" anchor="t"/>
          <a:lstStyle/>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TDF or TAF from week 28, because DNA is above 200,000 IU/mL</a:t>
            </a:r>
            <a:endParaRPr lang="en-US" sz="2400" dirty="0"/>
          </a:p>
          <a:p>
            <a:pPr marL="228600" indent="-228600">
              <a:spcBef>
                <a:spcPts val="1600"/>
              </a:spcBef>
              <a:buSzPct val="100000"/>
              <a:buChar char="–"/>
            </a:pPr>
            <a:r>
              <a:rPr lang="en-US" sz="2400" dirty="0">
                <a:solidFill>
                  <a:srgbClr val="000000"/>
                </a:solidFill>
                <a:latin typeface="Georgia" pitchFamily="34" charset="0"/>
                <a:ea typeface="Georgia" pitchFamily="34" charset="-122"/>
                <a:cs typeface="Georgia" pitchFamily="34" charset="-120"/>
              </a:rPr>
              <a:t>Baby: hepatitis B vaccine and HBIG within 12 hours of birth</a:t>
            </a:r>
            <a:endParaRPr lang="en-US" sz="2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44/64</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Her pregnancy and the baby's first year</a:t>
            </a:r>
            <a:endParaRPr lang="en-US" sz="3000" dirty="0"/>
          </a:p>
        </p:txBody>
      </p:sp>
      <p:sp>
        <p:nvSpPr>
          <p:cNvPr id="3" name="Shape 1"/>
          <p:cNvSpPr/>
          <p:nvPr/>
        </p:nvSpPr>
        <p:spPr>
          <a:xfrm>
            <a:off x="4023360" y="1463040"/>
            <a:ext cx="0" cy="3200400"/>
          </a:xfrm>
          <a:prstGeom prst="line">
            <a:avLst/>
          </a:prstGeom>
          <a:noFill/>
          <a:ln w="9525">
            <a:solidFill>
              <a:srgbClr val="D9D9D9"/>
            </a:solidFill>
            <a:prstDash val="solid"/>
          </a:ln>
        </p:spPr>
      </p:sp>
      <p:sp>
        <p:nvSpPr>
          <p:cNvPr id="4" name="Text 2"/>
          <p:cNvSpPr txBox="1"/>
          <p:nvPr/>
        </p:nvSpPr>
        <p:spPr>
          <a:xfrm>
            <a:off x="3070898"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20</a:t>
            </a:r>
            <a:endParaRPr lang="en-US" sz="1600" dirty="0"/>
          </a:p>
        </p:txBody>
      </p:sp>
      <p:sp>
        <p:nvSpPr>
          <p:cNvPr id="5" name="Shape 3"/>
          <p:cNvSpPr/>
          <p:nvPr/>
        </p:nvSpPr>
        <p:spPr>
          <a:xfrm>
            <a:off x="5928284" y="1463040"/>
            <a:ext cx="0" cy="3200400"/>
          </a:xfrm>
          <a:prstGeom prst="line">
            <a:avLst/>
          </a:prstGeom>
          <a:noFill/>
          <a:ln w="9525">
            <a:solidFill>
              <a:srgbClr val="D9D9D9"/>
            </a:solidFill>
            <a:prstDash val="solid"/>
          </a:ln>
        </p:spPr>
      </p:sp>
      <p:sp>
        <p:nvSpPr>
          <p:cNvPr id="6" name="Text 4"/>
          <p:cNvSpPr txBox="1"/>
          <p:nvPr/>
        </p:nvSpPr>
        <p:spPr>
          <a:xfrm>
            <a:off x="4975822"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Week 28</a:t>
            </a:r>
            <a:endParaRPr lang="en-US" sz="1600" dirty="0"/>
          </a:p>
        </p:txBody>
      </p:sp>
      <p:sp>
        <p:nvSpPr>
          <p:cNvPr id="7" name="Shape 5"/>
          <p:cNvSpPr/>
          <p:nvPr/>
        </p:nvSpPr>
        <p:spPr>
          <a:xfrm>
            <a:off x="7833208" y="1463040"/>
            <a:ext cx="0" cy="3200400"/>
          </a:xfrm>
          <a:prstGeom prst="line">
            <a:avLst/>
          </a:prstGeom>
          <a:noFill/>
          <a:ln w="9525">
            <a:solidFill>
              <a:srgbClr val="D9D9D9"/>
            </a:solidFill>
            <a:prstDash val="solid"/>
          </a:ln>
        </p:spPr>
      </p:sp>
      <p:sp>
        <p:nvSpPr>
          <p:cNvPr id="8" name="Text 6"/>
          <p:cNvSpPr txBox="1"/>
          <p:nvPr/>
        </p:nvSpPr>
        <p:spPr>
          <a:xfrm>
            <a:off x="6880746"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Delivery</a:t>
            </a:r>
            <a:endParaRPr lang="en-US" sz="1600" dirty="0"/>
          </a:p>
        </p:txBody>
      </p:sp>
      <p:sp>
        <p:nvSpPr>
          <p:cNvPr id="9" name="Shape 7"/>
          <p:cNvSpPr/>
          <p:nvPr/>
        </p:nvSpPr>
        <p:spPr>
          <a:xfrm>
            <a:off x="9738131" y="1463040"/>
            <a:ext cx="0" cy="3200400"/>
          </a:xfrm>
          <a:prstGeom prst="line">
            <a:avLst/>
          </a:prstGeom>
          <a:noFill/>
          <a:ln w="9525">
            <a:solidFill>
              <a:srgbClr val="D9D9D9"/>
            </a:solidFill>
            <a:prstDash val="solid"/>
          </a:ln>
        </p:spPr>
      </p:sp>
      <p:sp>
        <p:nvSpPr>
          <p:cNvPr id="10" name="Text 8"/>
          <p:cNvSpPr txBox="1"/>
          <p:nvPr/>
        </p:nvSpPr>
        <p:spPr>
          <a:xfrm>
            <a:off x="8785670"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6</a:t>
            </a:r>
            <a:endParaRPr lang="en-US" sz="1600" dirty="0"/>
          </a:p>
        </p:txBody>
      </p:sp>
      <p:sp>
        <p:nvSpPr>
          <p:cNvPr id="11" name="Shape 9"/>
          <p:cNvSpPr/>
          <p:nvPr/>
        </p:nvSpPr>
        <p:spPr>
          <a:xfrm>
            <a:off x="11643055" y="1463040"/>
            <a:ext cx="0" cy="3200400"/>
          </a:xfrm>
          <a:prstGeom prst="line">
            <a:avLst/>
          </a:prstGeom>
          <a:noFill/>
          <a:ln w="9525">
            <a:solidFill>
              <a:srgbClr val="D9D9D9"/>
            </a:solidFill>
            <a:prstDash val="solid"/>
          </a:ln>
        </p:spPr>
      </p:sp>
      <p:sp>
        <p:nvSpPr>
          <p:cNvPr id="12" name="Text 10"/>
          <p:cNvSpPr txBox="1"/>
          <p:nvPr/>
        </p:nvSpPr>
        <p:spPr>
          <a:xfrm>
            <a:off x="10690593" y="4709160"/>
            <a:ext cx="1904924" cy="365760"/>
          </a:xfrm>
          <a:prstGeom prst="rect">
            <a:avLst/>
          </a:prstGeom>
          <a:noFill/>
          <a:ln/>
        </p:spPr>
        <p:txBody>
          <a:bodyPr wrap="square" lIns="0" tIns="0" rIns="0" bIns="0" rtlCol="0" anchor="ctr"/>
          <a:lstStyle/>
          <a:p>
            <a:pPr algn="ctr" indent="0" marL="0">
              <a:buNone/>
            </a:pPr>
            <a:r>
              <a:rPr lang="en-US" sz="1600" dirty="0">
                <a:solidFill>
                  <a:srgbClr val="595959"/>
                </a:solidFill>
                <a:latin typeface="Calibri" pitchFamily="34" charset="0"/>
                <a:ea typeface="Calibri" pitchFamily="34" charset="-122"/>
                <a:cs typeface="Calibri" pitchFamily="34" charset="-120"/>
              </a:rPr>
              <a:t>Month 12</a:t>
            </a:r>
            <a:endParaRPr lang="en-US" sz="1600" dirty="0"/>
          </a:p>
        </p:txBody>
      </p:sp>
      <p:sp>
        <p:nvSpPr>
          <p:cNvPr id="13" name="Text 11"/>
          <p:cNvSpPr txBox="1"/>
          <p:nvPr/>
        </p:nvSpPr>
        <p:spPr>
          <a:xfrm>
            <a:off x="548640" y="153619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TDF or TAF</a:t>
            </a:r>
            <a:endParaRPr lang="en-US" sz="1600" dirty="0"/>
          </a:p>
        </p:txBody>
      </p:sp>
      <p:sp>
        <p:nvSpPr>
          <p:cNvPr id="14" name="Shape 12"/>
          <p:cNvSpPr/>
          <p:nvPr/>
        </p:nvSpPr>
        <p:spPr>
          <a:xfrm>
            <a:off x="5928284" y="1536192"/>
            <a:ext cx="1904924" cy="630936"/>
          </a:xfrm>
          <a:prstGeom prst="rect">
            <a:avLst/>
          </a:prstGeom>
          <a:solidFill>
            <a:srgbClr val="1F4E79"/>
          </a:solidFill>
          <a:ln w="6350">
            <a:solidFill>
              <a:srgbClr val="1F4E79"/>
            </a:solidFill>
            <a:prstDash val="solid"/>
          </a:ln>
        </p:spPr>
      </p:sp>
      <p:sp>
        <p:nvSpPr>
          <p:cNvPr id="15" name="Text 13"/>
          <p:cNvSpPr txBox="1"/>
          <p:nvPr/>
        </p:nvSpPr>
        <p:spPr>
          <a:xfrm>
            <a:off x="5928284" y="153619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Stop at delivery is allowed</a:t>
            </a:r>
            <a:endParaRPr lang="en-US" sz="1500" dirty="0"/>
          </a:p>
        </p:txBody>
      </p:sp>
      <p:sp>
        <p:nvSpPr>
          <p:cNvPr id="16" name="Text 14"/>
          <p:cNvSpPr txBox="1"/>
          <p:nvPr/>
        </p:nvSpPr>
        <p:spPr>
          <a:xfrm>
            <a:off x="548640" y="231343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Mother: DNA and ALT</a:t>
            </a:r>
            <a:endParaRPr lang="en-US" sz="1600" dirty="0"/>
          </a:p>
        </p:txBody>
      </p:sp>
      <p:sp>
        <p:nvSpPr>
          <p:cNvPr id="17" name="Shape 15"/>
          <p:cNvSpPr/>
          <p:nvPr/>
        </p:nvSpPr>
        <p:spPr>
          <a:xfrm>
            <a:off x="7833208" y="2313432"/>
            <a:ext cx="1904924" cy="630936"/>
          </a:xfrm>
          <a:prstGeom prst="rect">
            <a:avLst/>
          </a:prstGeom>
          <a:solidFill>
            <a:srgbClr val="2E7D8C"/>
          </a:solidFill>
          <a:ln w="6350">
            <a:solidFill>
              <a:srgbClr val="2E7D8C"/>
            </a:solidFill>
            <a:prstDash val="solid"/>
          </a:ln>
        </p:spPr>
      </p:sp>
      <p:sp>
        <p:nvSpPr>
          <p:cNvPr id="18" name="Text 16"/>
          <p:cNvSpPr txBox="1"/>
          <p:nvPr/>
        </p:nvSpPr>
        <p:spPr>
          <a:xfrm>
            <a:off x="7833208" y="2313432"/>
            <a:ext cx="2011680" cy="630936"/>
          </a:xfrm>
          <a:prstGeom prst="rect">
            <a:avLst/>
          </a:prstGeom>
          <a:noFill/>
          <a:ln/>
        </p:spPr>
        <p:txBody>
          <a:bodyPr wrap="square" lIns="0" tIns="27473" rIns="0" bIns="0" rtlCol="0" anchor="ctr"/>
          <a:lstStyle/>
          <a:p>
            <a:pPr algn="l" indent="0" marL="0">
              <a:buNone/>
            </a:pPr>
            <a:r>
              <a:rPr lang="en-US" sz="1500" b="1" dirty="0">
                <a:solidFill>
                  <a:srgbClr val="FFFFFF"/>
                </a:solidFill>
                <a:latin typeface="Calibri" pitchFamily="34" charset="0"/>
                <a:ea typeface="Calibri" pitchFamily="34" charset="-122"/>
                <a:cs typeface="Calibri" pitchFamily="34" charset="-120"/>
              </a:rPr>
              <a:t>Every 1 to 3 months</a:t>
            </a:r>
            <a:endParaRPr lang="en-US" sz="1500" dirty="0"/>
          </a:p>
        </p:txBody>
      </p:sp>
      <p:sp>
        <p:nvSpPr>
          <p:cNvPr id="19" name="Text 17"/>
          <p:cNvSpPr txBox="1"/>
          <p:nvPr/>
        </p:nvSpPr>
        <p:spPr>
          <a:xfrm>
            <a:off x="548640" y="309067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vaccine and HBIG</a:t>
            </a:r>
            <a:endParaRPr lang="en-US" sz="1600" dirty="0"/>
          </a:p>
        </p:txBody>
      </p:sp>
      <p:sp>
        <p:nvSpPr>
          <p:cNvPr id="20" name="Shape 18"/>
          <p:cNvSpPr/>
          <p:nvPr/>
        </p:nvSpPr>
        <p:spPr>
          <a:xfrm>
            <a:off x="7833208" y="3090672"/>
            <a:ext cx="228591" cy="630936"/>
          </a:xfrm>
          <a:prstGeom prst="rect">
            <a:avLst/>
          </a:prstGeom>
          <a:solidFill>
            <a:srgbClr val="C08A3E"/>
          </a:solidFill>
          <a:ln w="6350">
            <a:solidFill>
              <a:srgbClr val="C08A3E"/>
            </a:solidFill>
            <a:prstDash val="solid"/>
          </a:ln>
        </p:spPr>
      </p:sp>
      <p:sp>
        <p:nvSpPr>
          <p:cNvPr id="21" name="Text 19"/>
          <p:cNvSpPr txBox="1"/>
          <p:nvPr/>
        </p:nvSpPr>
        <p:spPr>
          <a:xfrm>
            <a:off x="7833208" y="3090672"/>
            <a:ext cx="2011680" cy="630936"/>
          </a:xfrm>
          <a:prstGeom prst="rect">
            <a:avLst/>
          </a:prstGeom>
          <a:noFill/>
          <a:ln/>
        </p:spPr>
        <p:txBody>
          <a:bodyPr wrap="square" lIns="0" tIns="4191"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Within 12 hours</a:t>
            </a:r>
            <a:endParaRPr lang="en-US" sz="1500" dirty="0"/>
          </a:p>
        </p:txBody>
      </p:sp>
      <p:sp>
        <p:nvSpPr>
          <p:cNvPr id="22" name="Text 20"/>
          <p:cNvSpPr txBox="1"/>
          <p:nvPr/>
        </p:nvSpPr>
        <p:spPr>
          <a:xfrm>
            <a:off x="548640" y="3867912"/>
            <a:ext cx="3337560" cy="630936"/>
          </a:xfrm>
          <a:prstGeom prst="rect">
            <a:avLst/>
          </a:prstGeom>
          <a:noFill/>
          <a:ln/>
        </p:spPr>
        <p:txBody>
          <a:bodyPr wrap="square" lIns="0" tIns="0" rIns="0" bIns="0" rtlCol="0" anchor="ctr"/>
          <a:lstStyle/>
          <a:p>
            <a:pPr algn="r" indent="0" marL="0">
              <a:buNone/>
            </a:pPr>
            <a:r>
              <a:rPr lang="en-US" sz="1600" dirty="0">
                <a:solidFill>
                  <a:srgbClr val="000000"/>
                </a:solidFill>
                <a:latin typeface="Georgia" pitchFamily="34" charset="0"/>
                <a:ea typeface="Georgia" pitchFamily="34" charset="-122"/>
                <a:cs typeface="Georgia" pitchFamily="34" charset="-120"/>
              </a:rPr>
              <a:t>Baby: HBsAg and anti-HBs</a:t>
            </a:r>
            <a:endParaRPr lang="en-US" sz="1600" dirty="0"/>
          </a:p>
        </p:txBody>
      </p:sp>
      <p:sp>
        <p:nvSpPr>
          <p:cNvPr id="23" name="Shape 21"/>
          <p:cNvSpPr/>
          <p:nvPr/>
        </p:nvSpPr>
        <p:spPr>
          <a:xfrm>
            <a:off x="10690593" y="3867912"/>
            <a:ext cx="952462" cy="630936"/>
          </a:xfrm>
          <a:prstGeom prst="rect">
            <a:avLst/>
          </a:prstGeom>
          <a:solidFill>
            <a:srgbClr val="9DB4CA"/>
          </a:solidFill>
          <a:ln w="6350">
            <a:solidFill>
              <a:srgbClr val="9DB4CA"/>
            </a:solidFill>
            <a:prstDash val="solid"/>
          </a:ln>
        </p:spPr>
      </p:sp>
      <p:sp>
        <p:nvSpPr>
          <p:cNvPr id="24" name="Text 22"/>
          <p:cNvSpPr txBox="1"/>
          <p:nvPr/>
        </p:nvSpPr>
        <p:spPr>
          <a:xfrm>
            <a:off x="10690593" y="3867912"/>
            <a:ext cx="2011680" cy="630936"/>
          </a:xfrm>
          <a:prstGeom prst="rect">
            <a:avLst/>
          </a:prstGeom>
          <a:noFill/>
          <a:ln/>
        </p:spPr>
        <p:txBody>
          <a:bodyPr wrap="square" lIns="0" tIns="14245" rIns="0" bIns="0" rtlCol="0" anchor="ctr"/>
          <a:lstStyle/>
          <a:p>
            <a:pPr algn="l" indent="0" marL="0">
              <a:buNone/>
            </a:pPr>
            <a:r>
              <a:rPr lang="en-US" sz="1500" b="1" dirty="0">
                <a:solidFill>
                  <a:srgbClr val="000000"/>
                </a:solidFill>
                <a:latin typeface="Calibri" pitchFamily="34" charset="0"/>
                <a:ea typeface="Calibri" pitchFamily="34" charset="-122"/>
                <a:cs typeface="Calibri" pitchFamily="34" charset="-120"/>
              </a:rPr>
              <a:t>Month 9 to 12</a:t>
            </a:r>
            <a:endParaRPr lang="en-US" sz="1500" dirty="0"/>
          </a:p>
        </p:txBody>
      </p:sp>
      <p:sp>
        <p:nvSpPr>
          <p:cNvPr id="2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perinatal hepatitis B overview, 2025.</a:t>
            </a:r>
            <a:endParaRPr lang="en-US" sz="1000" dirty="0"/>
          </a:p>
        </p:txBody>
      </p:sp>
      <p:sp>
        <p:nvSpPr>
          <p:cNvPr id="2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45/64</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Tenofovir in pregnancy: the trials</a:t>
            </a:r>
            <a:endParaRPr lang="en-US" sz="3000" dirty="0"/>
          </a:p>
        </p:txBody>
      </p:sp>
      <p:graphicFrame>
        <p:nvGraphicFramePr>
          <p:cNvPr id="3" name="Chart 0" descr=""/>
          <p:cNvGraphicFramePr/>
          <p:nvPr/>
        </p:nvGraphicFramePr>
        <p:xfrm>
          <a:off x="548640" y="1188720"/>
          <a:ext cx="6035040" cy="3931920"/>
        </p:xfrm>
        <a:graphic xmlns:a="http://schemas.openxmlformats.org/drawingml/2006/main">
          <a:graphicData uri="http://schemas.openxmlformats.org/drawingml/2006/chart">
            <c:chart xmlns:c="http://schemas.openxmlformats.org/drawingml/2006/chart" r:id="rId1"/>
          </a:graphicData>
        </a:graphic>
      </p:graphicFrame>
      <p:graphicFrame>
        <p:nvGraphicFramePr>
          <p:cNvPr id="68" name="Table"/>
          <p:cNvGraphicFramePr>
            <a:graphicFrameLocks noGrp="1"/>
          </p:cNvGraphicFramePr>
          <p:nvPr>
            <p:extLst>
              <p:ext uri="{D42A27DB-BD31-4B8C-83A1-F6EECF244321}">
                <p14:modId xmlns:p14="http://schemas.microsoft.com/office/powerpoint/2010/main" val="1579011935"/>
              </p:ext>
            </p:extLst>
          </p:nvPr>
        </p:nvGraphicFramePr>
        <p:xfrm>
          <a:off x="6949440" y="1828800"/>
          <a:ext cx="4754880" cy="914400"/>
        </p:xfrm>
        <a:graphic>
          <a:graphicData uri="http://schemas.openxmlformats.org/drawingml/2006/table">
            <a:tbl>
              <a:tblPr/>
              <a:tblGrid>
                <a:gridCol w="2203704"/>
                <a:gridCol w="1280160"/>
                <a:gridCol w="1271016"/>
              </a:tblGrid>
              <a:tr h="64008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Jourdain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TDF</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Placebo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Infected infants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3 of 147</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6400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0.12</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6949440" y="4023360"/>
            <a:ext cx="4754880" cy="914400"/>
          </a:xfrm>
          <a:prstGeom prst="rect">
            <a:avLst/>
          </a:prstGeom>
          <a:noFill/>
          <a:ln/>
        </p:spPr>
        <p:txBody>
          <a:bodyPr wrap="square" lIns="0" tIns="0" rIns="0" bIns="0" rtlCol="0" anchor="ctr"/>
          <a:lstStyle/>
          <a:p>
            <a:pPr indent="0" marL="0">
              <a:buNone/>
            </a:pPr>
            <a:r>
              <a:rPr lang="en-US" sz="1700" dirty="0">
                <a:solidFill>
                  <a:srgbClr val="000000"/>
                </a:solidFill>
                <a:latin typeface="Georgia" pitchFamily="34" charset="0"/>
                <a:ea typeface="Georgia" pitchFamily="34" charset="-122"/>
                <a:cs typeface="Georgia" pitchFamily="34" charset="-120"/>
              </a:rPr>
              <a:t>Infant HBIG and vaccine were given about an hour after birth in Thailand</a:t>
            </a:r>
            <a:endParaRPr lang="en-US" sz="17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Pan CQ et al. NEJM 2016 (PMID in dossier ref 52). Jourdain G et al. NEJM 2018 (ref 53).</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46/64</a:t>
            </a:r>
            <a:endParaRPr lang="en-US" sz="90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47/64</a:t>
            </a:r>
            <a:endParaRPr lang="en-US" sz="90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woman, after delivery</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She is on TDF. Can she breastfeed?</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No, tenofovir in breast milk harms the baby</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Yes</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Only after the baby finishes the vaccine series</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Only if her DNA is undetectable</a:t>
            </a:r>
            <a:endParaRPr lang="en-US" sz="2200" dirty="0"/>
          </a:p>
        </p:txBody>
      </p:sp>
      <p:pic>
        <p:nvPicPr>
          <p:cNvPr id="8" name="Image 0" descr="Watercolor of a sleeping swaddled newborn beside a vaccine syringe on a tray">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AASLD/IDSA 2025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47/64</a:t>
            </a:r>
            <a:endParaRPr lang="en-US" sz="90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Pregnancy: summary</a:t>
            </a:r>
            <a:endParaRPr lang="en-US" sz="3000" dirty="0"/>
          </a:p>
        </p:txBody>
      </p:sp>
      <p:sp>
        <p:nvSpPr>
          <p:cNvPr id="3" name="Body"/>
          <p:cNvSpPr txBox="1"/>
          <p:nvPr/>
        </p:nvSpPr>
        <p:spPr>
          <a:xfrm>
            <a:off x="548640" y="1188720"/>
            <a:ext cx="6949440" cy="5029200"/>
          </a:xfrm>
          <a:prstGeom prst="rect">
            <a:avLst/>
          </a:prstGeom>
          <a:noFill/>
          <a:ln/>
        </p:spPr>
        <p:txBody>
          <a:bodyPr wrap="square" lIns="50800" tIns="50800" rIns="50800" bIns="50800" rtlCol="0" anchor="t"/>
          <a:lstStyle/>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HBsAg in every pregnancy</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HBsAg positive: check DNA and ALT</a:t>
            </a:r>
            <a:endParaRPr lang="en-US" sz="2100" dirty="0"/>
          </a:p>
          <a:p>
            <a:pPr marL="228600" indent="-228600">
              <a:spcBef>
                <a:spcPts val="1000"/>
              </a:spcBef>
              <a:buSzPct val="100000"/>
              <a:buChar char="–"/>
            </a:pPr>
            <a:r>
              <a:rPr lang="en-US" sz="2100" b="1" dirty="0">
                <a:solidFill>
                  <a:srgbClr val="000000"/>
                </a:solidFill>
                <a:latin typeface="Georgia" pitchFamily="34" charset="0"/>
                <a:ea typeface="Georgia" pitchFamily="34" charset="-122"/>
                <a:cs typeface="Georgia" pitchFamily="34" charset="-120"/>
              </a:rPr>
              <a:t>DNA above 200,000: TDF or TAF from week 28</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Baby: hepatitis B vaccine and HBIG within 12 hours of birth, then finish the series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Test the baby at 9 to 12 months: HBsAg and anti-HBs</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Breastfeeding is fine</a:t>
            </a:r>
            <a:endParaRPr lang="en-US" sz="2100" dirty="0"/>
          </a:p>
          <a:p>
            <a:pPr marL="228600" indent="-228600">
              <a:spcBef>
                <a:spcPts val="1000"/>
              </a:spcBef>
              <a:buSzPct val="100000"/>
              <a:buChar char="–"/>
            </a:pPr>
            <a:r>
              <a:rPr lang="en-US" sz="2100" dirty="0">
                <a:solidFill>
                  <a:srgbClr val="000000"/>
                </a:solidFill>
                <a:latin typeface="Georgia" pitchFamily="34" charset="0"/>
                <a:ea typeface="Georgia" pitchFamily="34" charset="-122"/>
                <a:cs typeface="Georgia" pitchFamily="34" charset="-120"/>
              </a:rPr>
              <a:t>If she stops after delivery: DNA and ALT every 1 to 3 months for 6 months</a:t>
            </a:r>
            <a:endParaRPr lang="en-US" sz="2100" dirty="0"/>
          </a:p>
        </p:txBody>
      </p:sp>
      <p:pic>
        <p:nvPicPr>
          <p:cNvPr id="4" name="Image 0" descr="Watercolor of a seated pregnant woman in profile">    </p:cNvPr>
          <p:cNvPicPr>
            <a:picLocks noChangeAspect="1"/>
          </p:cNvPicPr>
          <p:nvPr/>
        </p:nvPicPr>
        <p:blipFill>
          <a:blip r:embed="rId1"/>
          <a:stretch>
            <a:fillRect/>
          </a:stretch>
        </p:blipFill>
        <p:spPr>
          <a:xfrm>
            <a:off x="7772400" y="1188720"/>
            <a:ext cx="4114800" cy="411480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R1 (PMID 41186418); CDC 2023 (PMID 36893044); CDC perinatal hepatitis B guidance.</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48/64</a:t>
            </a:r>
            <a:endParaRPr lang="en-US" sz="90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Coinfection with HIV or HCV</a:t>
            </a:r>
            <a:endParaRPr lang="en-US" sz="3000" dirty="0"/>
          </a:p>
        </p:txBody>
      </p:sp>
      <p:graphicFrame>
        <p:nvGraphicFramePr>
          <p:cNvPr id="72"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4416552"/>
                <a:gridCol w="6309360"/>
              </a:tblGrid>
              <a:tr h="91440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Coinfection</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What to do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HIV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ART must include TDF or TAF plus emtricitabine or lamivudine. Entecavir alone is not HIV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DNA every 4 to 8 weeks during direct-acting antivirals and for 3 months after</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HCV, HBsAg negative and anti-HBc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Much lower risk. Check DNA and HBsAg if the ALT rises unexpectedly</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49/64</a:t>
            </a:r>
            <a:endParaRPr lang="en-US" sz="9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Hepatitis D: who to test</a:t>
            </a:r>
            <a:endParaRPr lang="en-US" sz="3000" dirty="0"/>
          </a:p>
        </p:txBody>
      </p:sp>
      <p:graphicFrame>
        <p:nvGraphicFramePr>
          <p:cNvPr id="7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685800"/>
                <a:gridCol w="5632704"/>
                <a:gridCol w="4407408"/>
              </a:tblGrid>
              <a:tr h="109728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EASL 2025</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Risk-based: endemic origin, HIV, injection drug use, high ALT with low DNA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Every HBsAg-positive patient, at least once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9728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How</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Total anti-HDV, then HDV RNA if positive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Total anti-HDV, then HDV RNA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PMID 29405329; EASL 2025, PMID 40348683.</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50/64</a:t>
            </a:r>
            <a:endParaRPr lang="en-US" sz="90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Bulevirtide for hepatitis D</a:t>
            </a:r>
            <a:endParaRPr lang="en-US" sz="3000" dirty="0"/>
          </a:p>
        </p:txBody>
      </p:sp>
      <p:graphicFrame>
        <p:nvGraphicFramePr>
          <p:cNvPr id="3" name="Chart 0" descr=""/>
          <p:cNvGraphicFramePr/>
          <p:nvPr/>
        </p:nvGraphicFramePr>
        <p:xfrm>
          <a:off x="548640" y="1188720"/>
          <a:ext cx="6400800" cy="402336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554480"/>
            <a:ext cx="4572000" cy="4114800"/>
          </a:xfrm>
          <a:prstGeom prst="rect">
            <a:avLst/>
          </a:prstGeom>
          <a:noFill/>
          <a:ln/>
        </p:spPr>
        <p:txBody>
          <a:bodyPr wrap="square" lIns="50800" tIns="50800" rIns="50800" bIns="50800" rtlCol="0" anchor="t"/>
          <a:lstStyle/>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FDA accelerated approval 22 May 2026</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8.5 mg subcutaneously, once a day</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Adults without cirrhosis or with compensated cirrhosis</a:t>
            </a:r>
            <a:endParaRPr lang="en-US" sz="1900" dirty="0"/>
          </a:p>
          <a:p>
            <a:pPr marL="228600" indent="-228600">
              <a:spcBef>
                <a:spcPts val="1200"/>
              </a:spcBef>
              <a:buSzPct val="100000"/>
              <a:buChar char="–"/>
            </a:pPr>
            <a:r>
              <a:rPr lang="en-US" sz="1900" dirty="0">
                <a:solidFill>
                  <a:srgbClr val="000000"/>
                </a:solidFill>
                <a:latin typeface="Georgia" pitchFamily="34" charset="0"/>
                <a:ea typeface="Georgia" pitchFamily="34" charset="-122"/>
                <a:cs typeface="Georgia" pitchFamily="34" charset="-120"/>
              </a:rPr>
              <a:t>Boxed warning: stopping can cause severe exacerbations</a:t>
            </a:r>
            <a:endParaRPr lang="en-US" sz="19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 22 May 2026. MYR301, week 48. Combined response: HDV RNA undetectable or 2 log decline, and normal ALT.</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51/64</a:t>
            </a:r>
            <a:endParaRPr lang="en-US" sz="90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Cirrhosis and decompensation</a:t>
            </a:r>
            <a:endParaRPr lang="en-US" sz="3000" dirty="0"/>
          </a:p>
        </p:txBody>
      </p:sp>
      <p:graphicFrame>
        <p:nvGraphicFramePr>
          <p:cNvPr id="75"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4142232"/>
                <a:gridCol w="1280160"/>
                <a:gridCol w="1618488"/>
              </a:tblGrid>
              <a:tr h="77724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Jang, observational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Untreated</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First decompensation, n = 707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423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284</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5-year transplant-free survival</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59.7%</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46.0%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7724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Delisted on treatment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33.9%</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mall nodular cirrhotic liver">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Jang JW et al. 2015 (dossier ref 56).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52/64</a:t>
            </a:r>
            <a:endParaRPr lang="en-US" sz="90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HBV and liver transplant</a:t>
            </a:r>
            <a:endParaRPr lang="en-US" sz="3000" dirty="0"/>
          </a:p>
        </p:txBody>
      </p:sp>
      <p:graphicFrame>
        <p:nvGraphicFramePr>
          <p:cNvPr id="3" name="Chart 0" descr=""/>
          <p:cNvGraphicFramePr/>
          <p:nvPr/>
        </p:nvGraphicFramePr>
        <p:xfrm>
          <a:off x="548640" y="1188720"/>
          <a:ext cx="676656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589520" y="1371600"/>
            <a:ext cx="4297680" cy="4572000"/>
          </a:xfrm>
          <a:prstGeom prst="rect">
            <a:avLst/>
          </a:prstGeom>
          <a:noFill/>
          <a:ln/>
        </p:spPr>
        <p:txBody>
          <a:bodyPr wrap="square" lIns="50800" tIns="50800" rIns="50800" bIns="50800" rtlCol="0" anchor="t"/>
          <a:lstStyle/>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Anti-HBc positive donor, HBV-naive recipient (Cholongitas, older regimens)</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Entecavir alone without HBIG: 265 recipients, 92% HBsAg negative and 100% DNA undetectable at 8 years (Fung)</a:t>
            </a:r>
            <a:endParaRPr lang="en-US" sz="1700" dirty="0"/>
          </a:p>
          <a:p>
            <a:pPr marL="228600" indent="-228600">
              <a:spcBef>
                <a:spcPts val="1200"/>
              </a:spcBef>
              <a:buSzPct val="100000"/>
              <a:buChar char="–"/>
            </a:pPr>
            <a:r>
              <a:rPr lang="en-US" sz="1700" dirty="0">
                <a:solidFill>
                  <a:srgbClr val="000000"/>
                </a:solidFill>
                <a:latin typeface="Georgia" pitchFamily="34" charset="0"/>
                <a:ea typeface="Georgia" pitchFamily="34" charset="-122"/>
                <a:cs typeface="Georgia" pitchFamily="34" charset="-120"/>
              </a:rPr>
              <a:t>Long-term nucleos(t)ide analogue for HBsAg-negative recipients of anti-HBc-positive grafts</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Cholongitas E et al. 2010 (dossier ref 59). Fung J et al. 2017 (ref 57). AASLD 2018 section 6H.</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53/64</a:t>
            </a:r>
            <a:endParaRPr lang="en-US" sz="90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Children and adolescents</a:t>
            </a:r>
            <a:endParaRPr lang="en-US" sz="3000" dirty="0"/>
          </a:p>
        </p:txBody>
      </p:sp>
      <p:graphicFrame>
        <p:nvGraphicFramePr>
          <p:cNvPr id="77" name="Table"/>
          <p:cNvGraphicFramePr>
            <a:graphicFrameLocks noGrp="1"/>
          </p:cNvGraphicFramePr>
          <p:nvPr>
            <p:extLst>
              <p:ext uri="{D42A27DB-BD31-4B8C-83A1-F6EECF244321}">
                <p14:modId xmlns:p14="http://schemas.microsoft.com/office/powerpoint/2010/main" val="1579011935"/>
              </p:ext>
            </p:extLst>
          </p:nvPr>
        </p:nvGraphicFramePr>
        <p:xfrm>
          <a:off x="457200" y="1371600"/>
          <a:ext cx="7040880" cy="914400"/>
        </p:xfrm>
        <a:graphic>
          <a:graphicData uri="http://schemas.openxmlformats.org/drawingml/2006/table">
            <a:tbl>
              <a:tblPr/>
              <a:tblGrid>
                <a:gridCol w="1399032"/>
                <a:gridCol w="5641848"/>
              </a:tblGrid>
              <a:tr h="914400">
                <a:tc>
                  <a:txBody>
                    <a:bodyPr/>
                    <a:lstStyle/>
                    <a:p>
                      <a:pPr algn="l"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Who is treated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AASLD 2018</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HBeAg-positive, age 2 to under 18, raised ALT and measurable DNA. Normal ALT: no routine treatment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WHO 2024</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Adolescents 12 and older use the adult pathways. Younger children are individualized</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US labels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Entecavir and TDF from age 2. TAF from age 6 and 25 kg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a sleeping swaddled newborn beside a vaccine syringe on a tray">    </p:cNvPr>
          <p:cNvPicPr>
            <a:picLocks noChangeAspect="1"/>
          </p:cNvPicPr>
          <p:nvPr/>
        </p:nvPicPr>
        <p:blipFill>
          <a:blip r:embed="rId1"/>
          <a:stretch>
            <a:fillRect/>
          </a:stretch>
        </p:blipFill>
        <p:spPr>
          <a:xfrm>
            <a:off x="7680960" y="1097280"/>
            <a:ext cx="4297680" cy="4297680"/>
          </a:xfrm>
          <a:prstGeom prst="rect">
            <a:avLst/>
          </a:prstGeom>
        </p:spPr>
      </p:pic>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 2018 R9A and R9B; WHO 2024 chapter 8; DailyMed labels.</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54/64</a:t>
            </a:r>
            <a:endParaRPr lang="en-US" sz="90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8"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55/64</a:t>
            </a:r>
            <a:endParaRPr lang="en-US" sz="90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Same man, 57 years old, five years on TAF</a:t>
            </a:r>
            <a:endParaRPr lang="en-US" sz="3000" dirty="0"/>
          </a:p>
        </p:txBody>
      </p:sp>
      <p:graphicFrame>
        <p:nvGraphicFramePr>
          <p:cNvPr id="79" name="Table"/>
          <p:cNvGraphicFramePr>
            <a:graphicFrameLocks noGrp="1"/>
          </p:cNvGraphicFramePr>
          <p:nvPr>
            <p:extLst>
              <p:ext uri="{D42A27DB-BD31-4B8C-83A1-F6EECF244321}">
                <p14:modId xmlns:p14="http://schemas.microsoft.com/office/powerpoint/2010/main" val="1579011935"/>
              </p:ext>
            </p:extLst>
          </p:nvPr>
        </p:nvGraphicFramePr>
        <p:xfrm>
          <a:off x="365760" y="1188720"/>
          <a:ext cx="7863840" cy="914400"/>
        </p:xfrm>
        <a:graphic>
          <a:graphicData uri="http://schemas.openxmlformats.org/drawingml/2006/table">
            <a:tbl>
              <a:tblPr/>
              <a:tblGrid>
                <a:gridCol w="4453128"/>
                <a:gridCol w="2660904"/>
                <a:gridCol w="749808"/>
              </a:tblGrid>
              <a:tr h="594360">
                <a:tc>
                  <a:txBody>
                    <a:bodyPr/>
                    <a:lstStyle/>
                    <a:p>
                      <a:pPr algn="l" indent="0" marL="0">
                        <a:buNone/>
                      </a:pPr>
                      <a:r>
                        <a:rPr lang="en-US" sz="1900" b="1" dirty="0">
                          <a:solidFill>
                            <a:srgbClr val="000000"/>
                          </a:solidFill>
                          <a:latin typeface="Calibri" pitchFamily="34" charset="0"/>
                          <a:ea typeface="Calibri" pitchFamily="34" charset="-122"/>
                          <a:cs typeface="Calibri" pitchFamily="34" charset="-120"/>
                        </a:rPr>
                        <a:t>Condition for stopping</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Our patient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900" b="1" dirty="0">
                          <a:solidFill>
                            <a:srgbClr val="000000"/>
                          </a:solidFill>
                          <a:latin typeface="Calibri" pitchFamily="34" charset="0"/>
                          <a:ea typeface="Calibri" pitchFamily="34" charset="-122"/>
                          <a:cs typeface="Calibri" pitchFamily="34" charset="-120"/>
                        </a:rPr>
                        <a:t>Met?</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cirrhosis or advanced disease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Stiffness 5.9 kPa</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HBV DNA undetectable for 2 years or more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Undetectable for 5 years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HBsAg under 100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400 IU/mL</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b="1" dirty="0">
                          <a:solidFill>
                            <a:srgbClr val="C0000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No HIV or HDV</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Both negative</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594360">
                <a:tc>
                  <a:txBody>
                    <a:bodyPr/>
                    <a:lstStyle/>
                    <a:p>
                      <a:pPr algn="l" indent="0" marL="0">
                        <a:buNone/>
                      </a:pPr>
                      <a:r>
                        <a:rPr lang="en-US" sz="1900" dirty="0">
                          <a:solidFill>
                            <a:srgbClr val="000000"/>
                          </a:solidFill>
                          <a:latin typeface="Calibri" pitchFamily="34" charset="0"/>
                          <a:ea typeface="Calibri" pitchFamily="34" charset="-122"/>
                          <a:cs typeface="Calibri" pitchFamily="34" charset="-120"/>
                        </a:rPr>
                        <a:t>Reliable follow-up</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900" dirty="0">
                          <a:solidFill>
                            <a:srgbClr val="00000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pic>
        <p:nvPicPr>
          <p:cNvPr id="4" name="Image 0" descr="Watercolor of the same man in his fifties, gray at the temples, with reading glasses">    </p:cNvPr>
          <p:cNvPicPr>
            <a:picLocks noChangeAspect="1"/>
          </p:cNvPicPr>
          <p:nvPr/>
        </p:nvPicPr>
        <p:blipFill>
          <a:blip r:embed="rId1"/>
          <a:stretch>
            <a:fillRect/>
          </a:stretch>
        </p:blipFill>
        <p:spPr>
          <a:xfrm>
            <a:off x="8321040" y="1188720"/>
            <a:ext cx="3749040" cy="3749040"/>
          </a:xfrm>
          <a:prstGeom prst="rect">
            <a:avLst/>
          </a:prstGeom>
        </p:spPr>
      </p:pic>
      <p:sp>
        <p:nvSpPr>
          <p:cNvPr id="5" name="Question"/>
          <p:cNvSpPr txBox="1"/>
          <p:nvPr/>
        </p:nvSpPr>
        <p:spPr>
          <a:xfrm>
            <a:off x="365760" y="5029200"/>
            <a:ext cx="7863840" cy="548640"/>
          </a:xfrm>
          <a:prstGeom prst="rect">
            <a:avLst/>
          </a:prstGeom>
          <a:noFill/>
          <a:ln/>
        </p:spPr>
        <p:txBody>
          <a:bodyPr wrap="square" lIns="0" tIns="0" rIns="0" bIns="0" rtlCol="0" anchor="ctr"/>
          <a:lstStyle/>
          <a:p>
            <a:pPr algn="ctr" indent="0" marL="0">
              <a:buNone/>
            </a:pPr>
            <a:r>
              <a:rPr lang="en-US" sz="2600" b="1" dirty="0">
                <a:solidFill>
                  <a:srgbClr val="000000"/>
                </a:solidFill>
                <a:latin typeface="Georgia" pitchFamily="34" charset="0"/>
                <a:ea typeface="Georgia" pitchFamily="34" charset="-122"/>
                <a:cs typeface="Georgia" pitchFamily="34" charset="-120"/>
              </a:rPr>
              <a:t>Can he stop?</a:t>
            </a:r>
            <a:endParaRPr lang="en-US" sz="2600" dirty="0"/>
          </a:p>
        </p:txBody>
      </p:sp>
      <p:sp>
        <p:nvSpPr>
          <p:cNvPr id="6" name="Question"/>
          <p:cNvSpPr txBox="1"/>
          <p:nvPr/>
        </p:nvSpPr>
        <p:spPr>
          <a:xfrm>
            <a:off x="365760" y="5577840"/>
            <a:ext cx="7863840" cy="548640"/>
          </a:xfrm>
          <a:prstGeom prst="rect">
            <a:avLst/>
          </a:prstGeom>
          <a:noFill/>
          <a:ln/>
        </p:spPr>
        <p:txBody>
          <a:bodyPr wrap="square" lIns="0" tIns="0" rIns="0" bIns="0" rtlCol="0" anchor="ctr"/>
          <a:lstStyle/>
          <a:p>
            <a:pPr algn="ct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No. Continue until HBsAg is lost</a:t>
            </a:r>
            <a:endParaRPr lang="en-US" sz="2200" dirty="0"/>
          </a:p>
        </p:txBody>
      </p:sp>
      <p:sp>
        <p:nvSpPr>
          <p:cNvPr id="7"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Hepatology 2026;83:974-997, PMID 41186418.</a:t>
            </a:r>
            <a:endParaRPr lang="en-US" sz="1000" dirty="0"/>
          </a:p>
        </p:txBody>
      </p:sp>
      <p:sp>
        <p:nvSpPr>
          <p:cNvPr id="9"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55/64</a:t>
            </a:r>
            <a:endParaRPr lang="en-US" sz="90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56/64</a:t>
            </a:r>
            <a:endParaRPr lang="en-US" sz="90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 different patient stops TAF</a:t>
            </a:r>
            <a:endParaRPr lang="en-US" sz="3000" dirty="0"/>
          </a:p>
        </p:txBody>
      </p:sp>
      <p:sp>
        <p:nvSpPr>
          <p:cNvPr id="3" name="Text 1"/>
          <p:cNvSpPr txBox="1"/>
          <p:nvPr/>
        </p:nvSpPr>
        <p:spPr>
          <a:xfrm>
            <a:off x="548640" y="1143000"/>
            <a:ext cx="6858000" cy="914400"/>
          </a:xfrm>
          <a:prstGeom prst="rect">
            <a:avLst/>
          </a:prstGeom>
          <a:noFill/>
          <a:ln/>
        </p:spPr>
        <p:txBody>
          <a:bodyPr wrap="square" lIns="0" tIns="0" rIns="0" bIns="0" rtlCol="0" anchor="ctr"/>
          <a:lstStyle/>
          <a:p>
            <a:pPr indent="0" marL="0">
              <a:buNone/>
            </a:pPr>
            <a:r>
              <a:rPr lang="en-US" sz="2400" b="1" dirty="0">
                <a:solidFill>
                  <a:srgbClr val="000000"/>
                </a:solidFill>
                <a:latin typeface="Georgia" pitchFamily="34" charset="0"/>
                <a:ea typeface="Georgia" pitchFamily="34" charset="-122"/>
                <a:cs typeface="Georgia" pitchFamily="34" charset="-120"/>
              </a:rPr>
              <a:t>Which result means restart now?</a:t>
            </a:r>
            <a:endParaRPr lang="en-US" sz="2400" dirty="0"/>
          </a:p>
        </p:txBody>
      </p:sp>
      <p:sp>
        <p:nvSpPr>
          <p:cNvPr id="4" name="Text 2"/>
          <p:cNvSpPr txBox="1"/>
          <p:nvPr/>
        </p:nvSpPr>
        <p:spPr>
          <a:xfrm>
            <a:off x="731520" y="233172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A.  ALT 1.5 times ULN</a:t>
            </a:r>
            <a:endParaRPr lang="en-US" sz="2200" dirty="0"/>
          </a:p>
        </p:txBody>
      </p:sp>
      <p:sp>
        <p:nvSpPr>
          <p:cNvPr id="5" name="Text 3"/>
          <p:cNvSpPr txBox="1"/>
          <p:nvPr/>
        </p:nvSpPr>
        <p:spPr>
          <a:xfrm>
            <a:off x="731520" y="3200400"/>
            <a:ext cx="6675120" cy="731520"/>
          </a:xfrm>
          <a:prstGeom prst="rect">
            <a:avLst/>
          </a:prstGeom>
          <a:noFill/>
          <a:ln/>
        </p:spPr>
        <p:txBody>
          <a:bodyPr wrap="square" lIns="0" tIns="0" rIns="0" bIns="0" rtlCol="0" anchor="ctr"/>
          <a:lstStyle/>
          <a:p>
            <a:pPr indent="0" marL="0">
              <a:buNone/>
            </a:pPr>
            <a:r>
              <a:rPr lang="en-US" sz="2200" b="1" dirty="0">
                <a:solidFill>
                  <a:srgbClr val="000000"/>
                </a:solidFill>
                <a:highlight>
                  <a:srgbClr val="FFFF00"/>
                </a:highlight>
                <a:latin typeface="Georgia" pitchFamily="34" charset="0"/>
                <a:ea typeface="Georgia" pitchFamily="34" charset="-122"/>
                <a:cs typeface="Georgia" pitchFamily="34" charset="-120"/>
              </a:rPr>
              <a:t>B.  HBV DNA 10,000 IU/mL</a:t>
            </a:r>
            <a:endParaRPr lang="en-US" sz="2200" dirty="0"/>
          </a:p>
        </p:txBody>
      </p:sp>
      <p:sp>
        <p:nvSpPr>
          <p:cNvPr id="6" name="Text 4"/>
          <p:cNvSpPr txBox="1"/>
          <p:nvPr/>
        </p:nvSpPr>
        <p:spPr>
          <a:xfrm>
            <a:off x="731520" y="406908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C.  HBsAg 200 IU/mL</a:t>
            </a:r>
            <a:endParaRPr lang="en-US" sz="2200" dirty="0"/>
          </a:p>
        </p:txBody>
      </p:sp>
      <p:sp>
        <p:nvSpPr>
          <p:cNvPr id="7" name="Text 5"/>
          <p:cNvSpPr txBox="1"/>
          <p:nvPr/>
        </p:nvSpPr>
        <p:spPr>
          <a:xfrm>
            <a:off x="731520" y="4937760"/>
            <a:ext cx="6675120" cy="731520"/>
          </a:xfrm>
          <a:prstGeom prst="rect">
            <a:avLst/>
          </a:prstGeom>
          <a:noFill/>
          <a:ln/>
        </p:spPr>
        <p:txBody>
          <a:bodyPr wrap="square" lIns="0" tIns="0" rIns="0" bIns="0" rtlCol="0" anchor="ctr"/>
          <a:lstStyle/>
          <a:p>
            <a:pPr indent="0" marL="0">
              <a:buNone/>
            </a:pPr>
            <a:r>
              <a:rPr lang="en-US" sz="2200" dirty="0">
                <a:solidFill>
                  <a:srgbClr val="000000"/>
                </a:solidFill>
                <a:latin typeface="Georgia" pitchFamily="34" charset="0"/>
                <a:ea typeface="Georgia" pitchFamily="34" charset="-122"/>
                <a:cs typeface="Georgia" pitchFamily="34" charset="-120"/>
              </a:rPr>
              <a:t>D.  Anti-HBs negative</a:t>
            </a:r>
            <a:endParaRPr lang="en-US" sz="2200" dirty="0"/>
          </a:p>
        </p:txBody>
      </p:sp>
      <p:pic>
        <p:nvPicPr>
          <p:cNvPr id="8" name="Image 0" descr="Watercolor of blood collection tubes in a rack">    </p:cNvPr>
          <p:cNvPicPr>
            <a:picLocks noChangeAspect="1"/>
          </p:cNvPicPr>
          <p:nvPr/>
        </p:nvPicPr>
        <p:blipFill>
          <a:blip r:embed="rId1"/>
          <a:stretch>
            <a:fillRect/>
          </a:stretch>
        </p:blipFill>
        <p:spPr>
          <a:xfrm>
            <a:off x="7589520" y="1097280"/>
            <a:ext cx="4389120" cy="4389120"/>
          </a:xfrm>
          <a:prstGeom prst="rect">
            <a:avLst/>
          </a:prstGeom>
        </p:spPr>
      </p:pic>
      <p:sp>
        <p:nvSpPr>
          <p:cNvPr id="9"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Table 3 (PMID 41186418).</a:t>
            </a:r>
            <a:endParaRPr lang="en-US" sz="1000" dirty="0"/>
          </a:p>
        </p:txBody>
      </p:sp>
      <p:sp>
        <p:nvSpPr>
          <p:cNvPr id="11"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56/64</a:t>
            </a:r>
            <a:endParaRPr lang="en-US" sz="9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Stopping: summary</a:t>
            </a:r>
            <a:endParaRPr lang="en-US" sz="3000" dirty="0"/>
          </a:p>
        </p:txBody>
      </p:sp>
      <p:sp>
        <p:nvSpPr>
          <p:cNvPr id="3" name="Body"/>
          <p:cNvSpPr txBox="1"/>
          <p:nvPr/>
        </p:nvSpPr>
        <p:spPr>
          <a:xfrm>
            <a:off x="457200" y="1188720"/>
            <a:ext cx="5212080" cy="4754880"/>
          </a:xfrm>
          <a:prstGeom prst="rect">
            <a:avLst/>
          </a:prstGeom>
          <a:noFill/>
          <a:ln/>
        </p:spPr>
        <p:txBody>
          <a:bodyPr wrap="square" lIns="50800" tIns="50800" rIns="50800" bIns="50800" rtlCol="0" anchor="t"/>
          <a:lstStyle/>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Default: continue until HBsAg is lost</a:t>
            </a:r>
            <a:endParaRPr lang="en-US" sz="2100" dirty="0"/>
          </a:p>
          <a:p>
            <a:pPr marL="228600" indent="-228600">
              <a:spcBef>
                <a:spcPts val="800"/>
              </a:spcBef>
              <a:buSzPct val="100000"/>
              <a:buChar char="–"/>
            </a:pPr>
            <a:r>
              <a:rPr lang="en-US" sz="2100" b="1" dirty="0">
                <a:solidFill>
                  <a:srgbClr val="000000"/>
                </a:solidFill>
                <a:latin typeface="Georgia" pitchFamily="34" charset="0"/>
                <a:ea typeface="Georgia" pitchFamily="34" charset="-122"/>
                <a:cs typeface="Georgia" pitchFamily="34" charset="-120"/>
              </a:rPr>
              <a:t>Stop only if all of these: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cirrhosis</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DNA undetectable for 2 years or more</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HBsAg under 100 IU/mL</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No HIV or HDV</a:t>
            </a:r>
            <a:endParaRPr lang="en-US" sz="2100" dirty="0"/>
          </a:p>
          <a:p>
            <a:pPr marL="228600" indent="-228600">
              <a:spcBef>
                <a:spcPts val="800"/>
              </a:spcBef>
              <a:buSzPct val="100000"/>
              <a:buChar char="–"/>
            </a:pPr>
            <a:r>
              <a:rPr lang="en-US" sz="2100" dirty="0">
                <a:solidFill>
                  <a:srgbClr val="000000"/>
                </a:solidFill>
                <a:latin typeface="Georgia" pitchFamily="34" charset="0"/>
                <a:ea typeface="Georgia" pitchFamily="34" charset="-122"/>
                <a:cs typeface="Georgia" pitchFamily="34" charset="-120"/>
              </a:rPr>
              <a:t>Reliable follow-up</a:t>
            </a:r>
            <a:endParaRPr lang="en-US" sz="2100" dirty="0"/>
          </a:p>
        </p:txBody>
      </p:sp>
      <p:sp>
        <p:nvSpPr>
          <p:cNvPr id="4" name="Text 2"/>
          <p:cNvSpPr txBox="1"/>
          <p:nvPr/>
        </p:nvSpPr>
        <p:spPr>
          <a:xfrm>
            <a:off x="5943600" y="1188720"/>
            <a:ext cx="5943600" cy="411480"/>
          </a:xfrm>
          <a:prstGeom prst="rect">
            <a:avLst/>
          </a:prstGeom>
          <a:noFill/>
          <a:ln/>
        </p:spPr>
        <p:txBody>
          <a:bodyPr wrap="square" lIns="0" tIns="0" rIns="0" bIns="0" rtlCol="0" anchor="ctr"/>
          <a:lstStyle/>
          <a:p>
            <a:pPr algn="ctr" indent="0" marL="0">
              <a:buNone/>
            </a:pPr>
            <a:r>
              <a:rPr lang="en-US" sz="2000" b="1" dirty="0">
                <a:solidFill>
                  <a:srgbClr val="000000"/>
                </a:solidFill>
                <a:latin typeface="Georgia" pitchFamily="34" charset="0"/>
                <a:ea typeface="Georgia" pitchFamily="34" charset="-122"/>
                <a:cs typeface="Georgia" pitchFamily="34" charset="-120"/>
              </a:rPr>
              <a:t>After stopping</a:t>
            </a:r>
            <a:endParaRPr lang="en-US" sz="2000" dirty="0"/>
          </a:p>
        </p:txBody>
      </p:sp>
      <p:sp>
        <p:nvSpPr>
          <p:cNvPr id="5" name="Text 3"/>
          <p:cNvSpPr/>
          <p:nvPr/>
        </p:nvSpPr>
        <p:spPr>
          <a:xfrm>
            <a:off x="6126480" y="173736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0 to 6: DNA and ALT every 1 to 3 months</a:t>
            </a:r>
            <a:endParaRPr lang="en-US" sz="1600" dirty="0"/>
          </a:p>
        </p:txBody>
      </p:sp>
      <p:sp>
        <p:nvSpPr>
          <p:cNvPr id="6" name="Shape 4"/>
          <p:cNvSpPr/>
          <p:nvPr/>
        </p:nvSpPr>
        <p:spPr>
          <a:xfrm>
            <a:off x="8961120" y="2286000"/>
            <a:ext cx="0" cy="228600"/>
          </a:xfrm>
          <a:prstGeom prst="line">
            <a:avLst/>
          </a:prstGeom>
          <a:noFill/>
          <a:ln w="19050">
            <a:solidFill>
              <a:srgbClr val="595959"/>
            </a:solidFill>
            <a:prstDash val="solid"/>
            <a:tailEnd type="triangle"/>
          </a:ln>
        </p:spPr>
      </p:sp>
      <p:sp>
        <p:nvSpPr>
          <p:cNvPr id="7" name="Text 5"/>
          <p:cNvSpPr/>
          <p:nvPr/>
        </p:nvSpPr>
        <p:spPr>
          <a:xfrm>
            <a:off x="6126480" y="251460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Months 6 to 12: every 3 months</a:t>
            </a:r>
            <a:endParaRPr lang="en-US" sz="1600" dirty="0"/>
          </a:p>
        </p:txBody>
      </p:sp>
      <p:sp>
        <p:nvSpPr>
          <p:cNvPr id="8" name="Shape 6"/>
          <p:cNvSpPr/>
          <p:nvPr/>
        </p:nvSpPr>
        <p:spPr>
          <a:xfrm>
            <a:off x="8961120" y="3063240"/>
            <a:ext cx="0" cy="228600"/>
          </a:xfrm>
          <a:prstGeom prst="line">
            <a:avLst/>
          </a:prstGeom>
          <a:noFill/>
          <a:ln w="19050">
            <a:solidFill>
              <a:srgbClr val="595959"/>
            </a:solidFill>
            <a:prstDash val="solid"/>
            <a:tailEnd type="triangle"/>
          </a:ln>
        </p:spPr>
      </p:sp>
      <p:sp>
        <p:nvSpPr>
          <p:cNvPr id="9" name="Text 7"/>
          <p:cNvSpPr/>
          <p:nvPr/>
        </p:nvSpPr>
        <p:spPr>
          <a:xfrm>
            <a:off x="6126480" y="3291840"/>
            <a:ext cx="5669280" cy="548640"/>
          </a:xfrm>
          <a:prstGeom prst="rect">
            <a:avLst/>
          </a:prstGeom>
          <a:solidFill>
            <a:srgbClr val="FFFFFF"/>
          </a:solidFill>
          <a:ln w="12700">
            <a:solidFill>
              <a:srgbClr val="595959"/>
            </a:solidFill>
          </a:ln>
        </p:spPr>
        <p:txBody>
          <a:bodyPr wrap="square" lIns="50800" tIns="50800" rIns="50800" bIns="50800" rtlCol="0" anchor="ctr"/>
          <a:lstStyle/>
          <a:p>
            <a:pPr algn="ctr" indent="0" marL="0">
              <a:buNone/>
            </a:pPr>
            <a:r>
              <a:rPr lang="en-US" sz="1600" b="1" dirty="0">
                <a:solidFill>
                  <a:srgbClr val="000000"/>
                </a:solidFill>
                <a:latin typeface="Calibri" pitchFamily="34" charset="0"/>
                <a:ea typeface="Calibri" pitchFamily="34" charset="-122"/>
                <a:cs typeface="Calibri" pitchFamily="34" charset="-120"/>
              </a:rPr>
              <a:t>After 12 months: every 3 to 6 months</a:t>
            </a:r>
            <a:endParaRPr lang="en-US" sz="1600" dirty="0"/>
          </a:p>
        </p:txBody>
      </p:sp>
      <p:sp>
        <p:nvSpPr>
          <p:cNvPr id="10" name="Text 8"/>
          <p:cNvSpPr/>
          <p:nvPr/>
        </p:nvSpPr>
        <p:spPr>
          <a:xfrm>
            <a:off x="6126480" y="4297680"/>
            <a:ext cx="5669280" cy="1097280"/>
          </a:xfrm>
          <a:prstGeom prst="rect">
            <a:avLst/>
          </a:prstGeom>
          <a:solidFill>
            <a:srgbClr val="1F4E79"/>
          </a:solidFill>
          <a:ln w="12700">
            <a:solidFill>
              <a:srgbClr val="1F4E79"/>
            </a:solidFill>
          </a:ln>
        </p:spPr>
        <p:txBody>
          <a:bodyPr wrap="square" lIns="50800" tIns="50800" rIns="50800" bIns="5080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Restart now: DNA 10,000 or more, ALT above 5 times ULN, bilirubin above 2.5 mg/dL, or decompensation</a:t>
            </a:r>
            <a:endParaRPr lang="en-US" sz="1700" dirty="0"/>
          </a:p>
        </p:txBody>
      </p:sp>
      <p:sp>
        <p:nvSpPr>
          <p:cNvPr id="11"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AASLD/IDSA 2025 R5 and Table 3 (PMID 41186418).</a:t>
            </a:r>
            <a:endParaRPr lang="en-US" sz="1000" dirty="0"/>
          </a:p>
        </p:txBody>
      </p:sp>
      <p:sp>
        <p:nvSpPr>
          <p:cNvPr id="13"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57/64</a:t>
            </a:r>
            <a:endParaRPr lang="en-US" sz="90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What happens when you stop</a:t>
            </a:r>
            <a:endParaRPr lang="en-US" sz="3000" dirty="0"/>
          </a:p>
        </p:txBody>
      </p:sp>
      <p:graphicFrame>
        <p:nvGraphicFramePr>
          <p:cNvPr id="83"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3547872"/>
                <a:gridCol w="996696"/>
                <a:gridCol w="3456432"/>
                <a:gridCol w="2724912"/>
              </a:tblGrid>
              <a:tr h="822960">
                <a:tc>
                  <a:txBody>
                    <a:bodyPr/>
                    <a:lstStyle/>
                    <a:p>
                      <a:pPr algn="l" indent="0" marL="0">
                        <a:buNone/>
                      </a:pPr>
                      <a:r>
                        <a:rPr lang="en-US" sz="1800" b="1" dirty="0">
                          <a:solidFill>
                            <a:srgbClr val="000000"/>
                          </a:solidFill>
                          <a:latin typeface="Calibri" pitchFamily="34" charset="0"/>
                          <a:ea typeface="Calibri" pitchFamily="34" charset="-122"/>
                          <a:cs typeface="Calibri" pitchFamily="34" charset="-120"/>
                        </a:rPr>
                        <a:t>Study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Patients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HBsAg loss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800" b="1" dirty="0">
                          <a:solidFill>
                            <a:srgbClr val="000000"/>
                          </a:solidFill>
                          <a:latin typeface="Calibri" pitchFamily="34" charset="0"/>
                          <a:ea typeface="Calibri" pitchFamily="34" charset="-122"/>
                          <a:cs typeface="Calibri" pitchFamily="34" charset="-120"/>
                        </a:rPr>
                        <a:t>Retreatment</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STOP-NUC, randomized (Van Bommel 2023)</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166</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10.1% vs 0% at 96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13.9%</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RETRACT-B, cohort (Hirode 2022)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1,552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3.2% at 12 months, 13.0% at 48 months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See paper</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FINITE, randomized (Berg 2017)</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42</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800" dirty="0">
                          <a:solidFill>
                            <a:srgbClr val="000000"/>
                          </a:solidFill>
                          <a:latin typeface="Calibri" pitchFamily="34" charset="0"/>
                          <a:ea typeface="Calibri" pitchFamily="34" charset="-122"/>
                          <a:cs typeface="Calibri" pitchFamily="34" charset="-120"/>
                        </a:rPr>
                        <a:t>4 of 21 (19%) in the stop arm at 144 weeks</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000000"/>
                          </a:solidFill>
                          <a:latin typeface="Calibri" pitchFamily="34" charset="0"/>
                          <a:ea typeface="Calibri" pitchFamily="34" charset="-122"/>
                          <a:cs typeface="Calibri" pitchFamily="34" charset="-120"/>
                        </a:rPr>
                        <a:t>13 of 21 stayed off therapy</a:t>
                      </a:r>
                      <a:endParaRPr lang="en-US" sz="18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Van Bommel F et al. J Hepatol 2023 (dossier ref 61); Hirode G et al. Gastroenterology 2022 (ref 60); Berg T et al. J Hepatol 2017 (ref 62).</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58/64</a:t>
            </a:r>
            <a:endParaRPr lang="en-US" sz="90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Definitions of cure</a:t>
            </a:r>
            <a:endParaRPr lang="en-US" sz="3000" dirty="0"/>
          </a:p>
        </p:txBody>
      </p:sp>
      <p:graphicFrame>
        <p:nvGraphicFramePr>
          <p:cNvPr id="84"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1947672"/>
                <a:gridCol w="8778240"/>
              </a:tblGrid>
              <a:tr h="914400">
                <a:tc>
                  <a:txBody>
                    <a:bodyPr/>
                    <a:lstStyle/>
                    <a:p>
                      <a:pPr algn="l" indent="0" marL="0">
                        <a:buNone/>
                      </a:pPr>
                      <a:r>
                        <a:rPr lang="en-US" sz="2100" b="1" dirty="0">
                          <a:solidFill>
                            <a:srgbClr val="000000"/>
                          </a:solidFill>
                          <a:latin typeface="Calibri" pitchFamily="34" charset="0"/>
                          <a:ea typeface="Calibri" pitchFamily="34" charset="-122"/>
                          <a:cs typeface="Calibri" pitchFamily="34" charset="-120"/>
                        </a:rPr>
                        <a:t>Endpoint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Definition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Functional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loss and HBV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Partial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HBsAg under 100 IU/mL and DNA below quantification, 24 weeks off therapy</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91440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Sterilizing cure</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2100" dirty="0">
                          <a:solidFill>
                            <a:srgbClr val="000000"/>
                          </a:solidFill>
                          <a:latin typeface="Calibri" pitchFamily="34" charset="0"/>
                          <a:ea typeface="Calibri" pitchFamily="34" charset="-122"/>
                          <a:cs typeface="Calibri" pitchFamily="34" charset="-120"/>
                        </a:rPr>
                        <a:t>Elimination of the viral templates (cccDNA and integrated DNA)</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Ghany MG et al. 2023 (dossier ref 65).</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59/64</a:t>
            </a:r>
            <a:endParaRPr lang="en-US" sz="90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Approved in 2026</a:t>
            </a:r>
            <a:endParaRPr lang="en-US" sz="3000" dirty="0"/>
          </a:p>
        </p:txBody>
      </p:sp>
      <p:graphicFrame>
        <p:nvGraphicFramePr>
          <p:cNvPr id="85"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554480"/>
                <a:gridCol w="4800600"/>
                <a:gridCol w="4800600"/>
              </a:tblGrid>
              <a:tr h="731520">
                <a:tc>
                  <a:txBody>
                    <a:bodyPr/>
                    <a:lstStyle/>
                    <a:p>
                      <a:pPr algn="l" indent="0" marL="0">
                        <a:buNone/>
                      </a:pP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Bepirovirsen (Hibsago)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000" b="1" dirty="0">
                          <a:solidFill>
                            <a:srgbClr val="000000"/>
                          </a:solidFill>
                          <a:latin typeface="Calibri" pitchFamily="34" charset="0"/>
                          <a:ea typeface="Calibri" pitchFamily="34" charset="-122"/>
                          <a:cs typeface="Calibri" pitchFamily="34" charset="-120"/>
                        </a:rPr>
                        <a:t>Bulevirtide (Hepcludex)</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For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B</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Chronic hepatitis 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FDA approval</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20 October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22 May 2026</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05765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Who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on a nucleos(t)ide analogue 6 months or more, DNA suppressed, HBsAg 3,000 IU/mL or lower</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Adults without cirrhosis or with compensated cirrhosis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47776">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Result</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19% had HBsAg undetectable 24 weeks after stopping all treatment; 0% on placebo</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Week 48: combined response 48% vs 2%</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731520">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Warning</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Liver reactions, low platelets</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000" dirty="0">
                          <a:solidFill>
                            <a:srgbClr val="000000"/>
                          </a:solidFill>
                          <a:latin typeface="Calibri" pitchFamily="34" charset="0"/>
                          <a:ea typeface="Calibri" pitchFamily="34" charset="-122"/>
                          <a:cs typeface="Calibri" pitchFamily="34" charset="-120"/>
                        </a:rPr>
                        <a:t>Severe exacerbation if stopped</a:t>
                      </a:r>
                      <a:endParaRPr lang="en-US" sz="20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FDA news releases 20 October 2026 (bepirovirsen) and 22 May 2026 (bulevirtide). B-Well 1 and 2, Hou, NEJM 2026.</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60/64</a:t>
            </a:r>
            <a:endParaRPr lang="en-US" sz="90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Bepirovirsen: B-Well 1 and 2</a:t>
            </a:r>
            <a:endParaRPr lang="en-US" sz="3000" dirty="0"/>
          </a:p>
        </p:txBody>
      </p:sp>
      <p:graphicFrame>
        <p:nvGraphicFramePr>
          <p:cNvPr id="3" name="Chart 0" descr=""/>
          <p:cNvGraphicFramePr/>
          <p:nvPr/>
        </p:nvGraphicFramePr>
        <p:xfrm>
          <a:off x="548640" y="1188720"/>
          <a:ext cx="6400800" cy="4206240"/>
        </p:xfrm>
        <a:graphic xmlns:a="http://schemas.openxmlformats.org/drawingml/2006/main">
          <a:graphicData uri="http://schemas.openxmlformats.org/drawingml/2006/chart">
            <c:chart xmlns:c="http://schemas.openxmlformats.org/drawingml/2006/chart" r:id="rId1"/>
          </a:graphicData>
        </a:graphic>
      </p:graphicFrame>
      <p:sp>
        <p:nvSpPr>
          <p:cNvPr id="4" name="Body"/>
          <p:cNvSpPr txBox="1"/>
          <p:nvPr/>
        </p:nvSpPr>
        <p:spPr>
          <a:xfrm>
            <a:off x="7223760" y="1371600"/>
            <a:ext cx="4572000" cy="4754880"/>
          </a:xfrm>
          <a:prstGeom prst="rect">
            <a:avLst/>
          </a:prstGeom>
          <a:noFill/>
          <a:ln/>
        </p:spPr>
        <p:txBody>
          <a:bodyPr wrap="square" lIns="50800" tIns="50800" rIns="50800" bIns="50800" rtlCol="0" anchor="t"/>
          <a:lstStyle/>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Functional cure at week 72: HBsAg loss and DNA below quantification at least 24 weeks off all therapy</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127 of 650 vs 0 of 328, and 106 of 570 vs 0 of 286</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Noncirrhotic, stable NA, HBsAg 100 to 3,000 IU/mL</a:t>
            </a:r>
            <a:endParaRPr lang="en-US" sz="1700" dirty="0"/>
          </a:p>
          <a:p>
            <a:pPr marL="228600" indent="-228600">
              <a:spcBef>
                <a:spcPts val="1000"/>
              </a:spcBef>
              <a:buSzPct val="100000"/>
              <a:buChar char="–"/>
            </a:pPr>
            <a:r>
              <a:rPr lang="en-US" sz="1700" dirty="0">
                <a:solidFill>
                  <a:srgbClr val="000000"/>
                </a:solidFill>
                <a:latin typeface="Georgia" pitchFamily="34" charset="0"/>
                <a:ea typeface="Georgia" pitchFamily="34" charset="-122"/>
                <a:cs typeface="Georgia" pitchFamily="34" charset="-120"/>
              </a:rPr>
              <a:t>Grade 3 or higher adverse events 16% vs 3%</a:t>
            </a:r>
            <a:endParaRPr lang="en-US" sz="1700" dirty="0"/>
          </a:p>
        </p:txBody>
      </p:sp>
      <p:sp>
        <p:nvSpPr>
          <p:cNvPr id="5"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Hou J et al. N Engl J Med 2026 (B-Well 1 and 2, dossier ref 67). Final issue 25 June 2026.</a:t>
            </a:r>
            <a:endParaRPr lang="en-US" sz="1000" dirty="0"/>
          </a:p>
        </p:txBody>
      </p:sp>
      <p:sp>
        <p:nvSpPr>
          <p:cNvPr id="7"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61/64</a:t>
            </a:r>
            <a:endParaRPr lang="en-US" sz="90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In the pipeline</a:t>
            </a:r>
            <a:endParaRPr lang="en-US" sz="3000" dirty="0"/>
          </a:p>
        </p:txBody>
      </p:sp>
      <p:graphicFrame>
        <p:nvGraphicFramePr>
          <p:cNvPr id="8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728655" cy="914400"/>
        </p:xfrm>
        <a:graphic>
          <a:graphicData uri="http://schemas.openxmlformats.org/drawingml/2006/table">
            <a:tbl>
              <a:tblPr/>
              <a:tblGrid>
                <a:gridCol w="2011680"/>
                <a:gridCol w="5934456"/>
                <a:gridCol w="2779776"/>
              </a:tblGrid>
              <a:tr h="822960">
                <a:tc>
                  <a:txBody>
                    <a:bodyPr/>
                    <a:lstStyle/>
                    <a:p>
                      <a:pPr algn="l" indent="0" marL="0">
                        <a:buNone/>
                      </a:pPr>
                      <a:r>
                        <a:rPr lang="en-US" sz="1600" b="1" dirty="0">
                          <a:solidFill>
                            <a:srgbClr val="000000"/>
                          </a:solidFill>
                          <a:latin typeface="Calibri" pitchFamily="34" charset="0"/>
                          <a:ea typeface="Calibri" pitchFamily="34" charset="-122"/>
                          <a:cs typeface="Calibri" pitchFamily="34" charset="-120"/>
                        </a:rPr>
                        <a:t>Agent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Phase 2 result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1600" b="1" dirty="0">
                          <a:solidFill>
                            <a:srgbClr val="000000"/>
                          </a:solidFill>
                          <a:latin typeface="Calibri" pitchFamily="34" charset="0"/>
                          <a:ea typeface="Calibri" pitchFamily="34" charset="-122"/>
                          <a:cs typeface="Calibri" pitchFamily="34" charset="-120"/>
                        </a:rPr>
                        <a:t>Caution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Xalnesiran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at 24 weeks after treatment 7% (100 mg), 3% (200 mg), 12% with ruzotolimod, 23% with PegIFN, 0% NA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Background NA continued</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Elebsiran with PegIFN</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HBsAg loss 21% (200 mg) and 33% (100 mg) vs 6% with PegIFN alone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NA stopping follow-up ongoing</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JNJ-3989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Met NA-stopping criteria at week 48 in 5, 16 and 19% (40, 100, 200 mg) vs 2%</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Stopping eligibility, not cure</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822960">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Imdusiran (siRNA)</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00000"/>
                          </a:solidFill>
                          <a:latin typeface="Calibri" pitchFamily="34" charset="0"/>
                          <a:ea typeface="Calibri" pitchFamily="34" charset="-122"/>
                          <a:cs typeface="Calibri" pitchFamily="34" charset="-120"/>
                        </a:rPr>
                        <a:t>Phase 1a/b, safety primary</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000000"/>
                          </a:solidFill>
                          <a:latin typeface="Calibri" pitchFamily="34" charset="0"/>
                          <a:ea typeface="Calibri" pitchFamily="34" charset="-122"/>
                          <a:cs typeface="Calibri" pitchFamily="34" charset="-120"/>
                        </a:rPr>
                        <a:t>No cure rate yet</a:t>
                      </a:r>
                      <a:endParaRPr lang="en-US" sz="16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4" name="Source"/>
          <p:cNvSpPr txBox="1"/>
          <p:nvPr/>
        </p:nvSpPr>
        <p:spPr>
          <a:xfrm>
            <a:off x="548640" y="6355080"/>
            <a:ext cx="10545775" cy="320040"/>
          </a:xfrm>
          <a:prstGeom prst="rect">
            <a:avLst/>
          </a:prstGeom>
          <a:noFill/>
          <a:ln/>
        </p:spPr>
        <p:txBody>
          <a:bodyPr wrap="square" lIns="0" tIns="0" rIns="0" bIns="0" rtlCol="0" anchor="b"/>
          <a:lstStyle/>
          <a:p>
            <a:pPr indent="0" marL="0">
              <a:buNone/>
            </a:pPr>
            <a:r>
              <a:rPr lang="en-US" sz="1000" i="1" dirty="0">
                <a:solidFill>
                  <a:srgbClr val="595959"/>
                </a:solidFill>
                <a:latin typeface="Georgia" pitchFamily="34" charset="0"/>
                <a:ea typeface="Georgia" pitchFamily="34" charset="-122"/>
                <a:cs typeface="Georgia" pitchFamily="34" charset="-120"/>
              </a:rPr>
              <a:t>Dossier refs 66 to 71 and registry entries NCT04225715 and NCT06245291.</a:t>
            </a:r>
            <a:endParaRPr lang="en-US" sz="1000" dirty="0"/>
          </a:p>
        </p:txBody>
      </p:sp>
      <p:sp>
        <p:nvSpPr>
          <p:cNvPr id="6"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62/64</a:t>
            </a:r>
            <a:endParaRPr lang="en-US" sz="90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228600"/>
            <a:ext cx="11094415" cy="914400"/>
          </a:xfrm>
          <a:prstGeom prst="rect">
            <a:avLst/>
          </a:prstGeom>
          <a:noFill/>
          <a:ln/>
        </p:spPr>
        <p:txBody>
          <a:bodyPr wrap="square" rtlCol="0" anchor="ctr"/>
          <a:lstStyle/>
          <a:p>
            <a:pPr algn="ctr" indent="0" marL="0">
              <a:buNone/>
            </a:pPr>
            <a:r>
              <a:rPr lang="en-US" sz="3000" dirty="0">
                <a:solidFill>
                  <a:srgbClr val="000000"/>
                </a:solidFill>
                <a:latin typeface="Georgia" pitchFamily="34" charset="0"/>
                <a:ea typeface="Georgia" pitchFamily="34" charset="-122"/>
                <a:cs typeface="Georgia" pitchFamily="34" charset="-120"/>
              </a:rPr>
              <a:t>Back to our patients</a:t>
            </a:r>
            <a:endParaRPr lang="en-US" sz="3000" dirty="0"/>
          </a:p>
        </p:txBody>
      </p:sp>
      <p:graphicFrame>
        <p:nvGraphicFramePr>
          <p:cNvPr id="88" name="Table"/>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676656"/>
                <a:gridCol w="4526280"/>
                <a:gridCol w="5888736"/>
              </a:tblGrid>
              <a:tr h="1280160">
                <a:tc>
                  <a:txBody>
                    <a:bodyPr/>
                    <a:lstStyle/>
                    <a:p>
                      <a:pPr algn="l" indent="0" marL="0">
                        <a:buNone/>
                      </a:pP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Patient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c>
                  <a:txBody>
                    <a:bodyPr/>
                    <a:lstStyle/>
                    <a:p>
                      <a:pPr algn="ctr" indent="0" marL="0">
                        <a:buNone/>
                      </a:pPr>
                      <a:r>
                        <a:rPr lang="en-US" sz="2100" b="1" dirty="0">
                          <a:solidFill>
                            <a:srgbClr val="000000"/>
                          </a:solidFill>
                          <a:latin typeface="Calibri" pitchFamily="34" charset="0"/>
                          <a:ea typeface="Calibri" pitchFamily="34" charset="-122"/>
                          <a:cs typeface="Calibri" pitchFamily="34" charset="-120"/>
                        </a:rPr>
                        <a:t>Decision</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2F2F2"/>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1</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Man, 34 to 57. HBeAg-positive, then HBeAg-negative with DNA 8,000 and ALT 48</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Monitor at 34. Treat at 41 (age) or at 52 (grey zone). PAGE-B 18, surveillance. Do not stop with HBsAg 400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2</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61. Anti-HBc positive, HBsAg negative, rituximab</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Entecavir, TDF or TAF before the first dose and for 12 months after the last</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r h="1280160">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3</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Woman, 29, 20 weeks pregnant. DNA 5,000,000</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c>
                  <a:txBody>
                    <a:bodyPr/>
                    <a:lstStyle/>
                    <a:p>
                      <a:pPr algn="l" indent="0" marL="0">
                        <a:buNone/>
                      </a:pPr>
                      <a:r>
                        <a:rPr lang="en-US" sz="2100" dirty="0">
                          <a:solidFill>
                            <a:srgbClr val="000000"/>
                          </a:solidFill>
                          <a:latin typeface="Calibri" pitchFamily="34" charset="0"/>
                          <a:ea typeface="Calibri" pitchFamily="34" charset="-122"/>
                          <a:cs typeface="Calibri" pitchFamily="34" charset="-120"/>
                        </a:rPr>
                        <a:t>TDF or TAF from week 28. Vaccine and HBIG within 12 hours. Test the baby at 9 to 12 months</a:t>
                      </a:r>
                      <a:endParaRPr lang="en-US" sz="2100" dirty="0">
                        <a:latin typeface="Calibri" charset="0"/>
                        <a:ea typeface="Calibri" charset="0"/>
                        <a:cs typeface="Calibri" charset="0"/>
                      </a:endParaRPr>
                    </a:p>
                  </a:txBody>
                  <a:tcPr marL="76200" marR="76200" marT="38100" marB="38100" anchor="ctr">
                    <a:lnL w="9525" cap="flat" cmpd="sng" algn="ctr">
                      <a:solidFill>
                        <a:srgbClr val="A6A6A6"/>
                      </a:solidFill>
                      <a:prstDash val="solid"/>
                      <a:round/>
                      <a:headEnd type="none" w="med" len="med"/>
                      <a:tailEnd type="none" w="med" len="med"/>
                    </a:lnL>
                    <a:lnR w="9525" cap="flat" cmpd="sng" algn="ctr">
                      <a:solidFill>
                        <a:srgbClr val="A6A6A6"/>
                      </a:solidFill>
                      <a:prstDash val="solid"/>
                      <a:round/>
                      <a:headEnd type="none" w="med" len="med"/>
                      <a:tailEnd type="none" w="med" len="med"/>
                    </a:lnR>
                    <a:lnT w="9525" cap="flat" cmpd="sng" algn="ctr">
                      <a:solidFill>
                        <a:srgbClr val="A6A6A6"/>
                      </a:solidFill>
                      <a:prstDash val="solid"/>
                      <a:round/>
                      <a:headEnd type="none" w="med" len="med"/>
                      <a:tailEnd type="none" w="med" len="med"/>
                    </a:lnT>
                    <a:lnB w="9525" cap="flat" cmpd="sng" algn="ctr">
                      <a:solidFill>
                        <a:srgbClr val="A6A6A6"/>
                      </a:solidFill>
                      <a:prstDash val="solid"/>
                      <a:round/>
                      <a:headEnd type="none" w="med" len="med"/>
                      <a:tailEnd type="none" w="med" len="med"/>
                    </a:lnB>
                    <a:solidFill>
                      <a:srgbClr val="FFFFFF"/>
                    </a:solidFill>
                  </a:tcPr>
                </a:tc>
              </a:tr>
            </a:tbl>
          </a:graphicData>
        </a:graphic>
      </p:graphicFrame>
      <p:sp>
        <p:nvSpPr>
          <p:cNvPr id="5"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63/64</a:t>
            </a:r>
            <a:endParaRPr lang="en-US" sz="90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Image 0" descr="Watercolor of a liver in warm light on ivory paper">    </p:cNvPr>
          <p:cNvPicPr>
            <a:picLocks noChangeAspect="1"/>
          </p:cNvPicPr>
          <p:nvPr/>
        </p:nvPicPr>
        <p:blipFill>
          <a:blip r:embed="rId1"/>
          <a:stretch>
            <a:fillRect/>
          </a:stretch>
        </p:blipFill>
        <p:spPr>
          <a:xfrm>
            <a:off x="-45720" y="0"/>
            <a:ext cx="12280392" cy="6858000"/>
          </a:xfrm>
          <a:prstGeom prst="rect">
            <a:avLst/>
          </a:prstGeom>
        </p:spPr>
      </p:pic>
      <p:sp>
        <p:nvSpPr>
          <p:cNvPr id="3" name="Text 0"/>
          <p:cNvSpPr txBox="1"/>
          <p:nvPr/>
        </p:nvSpPr>
        <p:spPr>
          <a:xfrm>
            <a:off x="6492240" y="1188720"/>
            <a:ext cx="5212080" cy="1188720"/>
          </a:xfrm>
          <a:prstGeom prst="rect">
            <a:avLst/>
          </a:prstGeom>
          <a:noFill/>
          <a:ln/>
        </p:spPr>
        <p:txBody>
          <a:bodyPr wrap="square" lIns="0" tIns="0" rIns="0" bIns="0" rtlCol="0" anchor="ctr"/>
          <a:lstStyle/>
          <a:p>
            <a:pPr algn="ctr" indent="0" marL="0">
              <a:buNone/>
            </a:pPr>
            <a:r>
              <a:rPr lang="en-US" sz="5400" dirty="0">
                <a:solidFill>
                  <a:srgbClr val="000000"/>
                </a:solidFill>
                <a:latin typeface="Georgia" pitchFamily="34" charset="0"/>
                <a:ea typeface="Georgia" pitchFamily="34" charset="-122"/>
                <a:cs typeface="Georgia" pitchFamily="34" charset="-120"/>
              </a:rPr>
              <a:t>Questions?</a:t>
            </a:r>
            <a:endParaRPr lang="en-US" sz="5400" dirty="0"/>
          </a:p>
        </p:txBody>
      </p:sp>
      <p:sp>
        <p:nvSpPr>
          <p:cNvPr id="4" name="Text 1"/>
          <p:cNvSpPr txBox="1"/>
          <p:nvPr/>
        </p:nvSpPr>
        <p:spPr>
          <a:xfrm>
            <a:off x="6492240" y="2514600"/>
            <a:ext cx="5212080" cy="457200"/>
          </a:xfrm>
          <a:prstGeom prst="rect">
            <a:avLst/>
          </a:prstGeom>
          <a:noFill/>
          <a:ln/>
        </p:spPr>
        <p:txBody>
          <a:bodyPr wrap="square" lIns="0" tIns="0" rIns="0" bIns="0" rtlCol="0" anchor="ctr"/>
          <a:lstStyle/>
          <a:p>
            <a:pPr algn="ctr" indent="0" marL="0">
              <a:buNone/>
            </a:pPr>
            <a:r>
              <a:rPr lang="en-US" sz="2000" dirty="0">
                <a:solidFill>
                  <a:srgbClr val="595959"/>
                </a:solidFill>
                <a:latin typeface="Georgia" pitchFamily="34" charset="0"/>
                <a:ea typeface="Georgia" pitchFamily="34" charset="-122"/>
                <a:cs typeface="Georgia" pitchFamily="34" charset="-120"/>
              </a:rPr>
              <a:t>X: @mfalmeqdadi</a:t>
            </a:r>
            <a:endParaRPr lang="en-US" sz="2000" dirty="0"/>
          </a:p>
        </p:txBody>
      </p:sp>
      <p:pic>
        <p:nvPicPr>
          <p:cNvPr id="5" name="Image 1" descr="QR code linking to the slides PDF">    </p:cNvPr>
          <p:cNvPicPr>
            <a:picLocks noChangeAspect="1"/>
          </p:cNvPicPr>
          <p:nvPr/>
        </p:nvPicPr>
        <p:blipFill>
          <a:blip r:embed="rId2"/>
          <a:stretch>
            <a:fillRect/>
          </a:stretch>
        </p:blipFill>
        <p:spPr>
          <a:xfrm>
            <a:off x="7955280" y="3200400"/>
            <a:ext cx="2286000" cy="2286000"/>
          </a:xfrm>
          <a:prstGeom prst="rect">
            <a:avLst/>
          </a:prstGeom>
        </p:spPr>
      </p:pic>
      <p:sp>
        <p:nvSpPr>
          <p:cNvPr id="6" name="Text 2"/>
          <p:cNvSpPr txBox="1"/>
          <p:nvPr/>
        </p:nvSpPr>
        <p:spPr>
          <a:xfrm>
            <a:off x="6492240" y="5577840"/>
            <a:ext cx="5212080" cy="320040"/>
          </a:xfrm>
          <a:prstGeom prst="rect">
            <a:avLst/>
          </a:prstGeom>
          <a:noFill/>
          <a:ln/>
        </p:spPr>
        <p:txBody>
          <a:bodyPr wrap="square" lIns="0" tIns="0" rIns="0" bIns="0" rtlCol="0" anchor="ctr"/>
          <a:lstStyle/>
          <a:p>
            <a:pPr algn="ctr" indent="0" marL="0">
              <a:buNone/>
            </a:pPr>
            <a:r>
              <a:rPr lang="en-US" sz="1400" dirty="0">
                <a:solidFill>
                  <a:srgbClr val="595959"/>
                </a:solidFill>
                <a:latin typeface="Georgia" pitchFamily="34" charset="0"/>
                <a:ea typeface="Georgia" pitchFamily="34" charset="-122"/>
                <a:cs typeface="Georgia" pitchFamily="34" charset="-120"/>
              </a:rPr>
              <a:t>Slides (PDF)</a:t>
            </a:r>
            <a:endParaRPr lang="en-US" sz="1400" dirty="0"/>
          </a:p>
        </p:txBody>
      </p:sp>
      <p:sp>
        <p:nvSpPr>
          <p:cNvPr id="8" name="SlideNumber"/>
          <p:cNvSpPr txBox="1"/>
          <p:nvPr/>
        </p:nvSpPr>
        <p:spPr>
          <a:xfrm>
            <a:off x="11002975" y="6400800"/>
            <a:ext cx="822960" cy="274320"/>
          </a:xfrm>
          <a:prstGeom prst="rect">
            <a:avLst/>
          </a:prstGeom>
          <a:noFill/>
          <a:ln/>
        </p:spPr>
        <p:txBody>
          <a:bodyPr wrap="square" lIns="0" tIns="0" rIns="0" bIns="0" rtlCol="0" anchor="ctr"/>
          <a:lstStyle/>
          <a:p>
            <a:pPr algn="r" indent="0" marL="0">
              <a:buNone/>
            </a:pPr>
            <a:r>
              <a:rPr lang="en-US" sz="900" dirty="0">
                <a:solidFill>
                  <a:srgbClr val="A6A6A6"/>
                </a:solidFill>
                <a:latin typeface="Georgia" pitchFamily="34" charset="0"/>
                <a:ea typeface="Georgia" pitchFamily="34" charset="-122"/>
                <a:cs typeface="Georgia" pitchFamily="34" charset="-120"/>
              </a:rPr>
              <a:t>64/64</a:t>
            </a:r>
            <a:endParaRPr lang="en-US" sz="900" dirty="0"/>
          </a:p>
        </p:txBody>
      </p:sp>
    </p:spTree>
  </p:cSld>
  <p:clrMapOvr>
    <a:masterClrMapping/>
  </p:clrMapOvr>
</p:sld>
</file>

<file path=ppt/theme/theme1.xml><?xml version="1.0" encoding="utf-8"?>
<a:theme xmlns:a="http://schemas.openxmlformats.org/drawingml/2006/main"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eorg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88</Slides>
  <Notes>88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88</vt:i4>
      </vt:variant>
    </vt:vector>
  </HeadingPairs>
  <TitlesOfParts>
    <vt:vector size="9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Chronic Hepatitis B</dc:title>
  <dc:subject>PptxGenJS Presentation</dc:subject>
  <dc:creator>Mohammad Almeqdadi, MD</dc:creator>
  <cp:lastModifiedBy>Mohammad Almeqdadi, MD</cp:lastModifiedBy>
  <cp:revision>1</cp:revision>
  <dcterms:created xsi:type="dcterms:W3CDTF">2026-10-28T14:58:25Z</dcterms:created>
  <dcterms:modified xsi:type="dcterms:W3CDTF">2026-10-28T14:58:25Z</dcterms:modified>
</cp:coreProperties>
</file>