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3.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charts/chart4.xml" ContentType="application/vnd.openxmlformats-officedocument.drawingml.chart+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charts/chart5.xml" ContentType="application/vnd.openxmlformats-officedocument.drawingml.chart+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charts/chart6.xml" ContentType="application/vnd.openxmlformats-officedocument.drawingml.chart+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charts/chart7.xml" ContentType="application/vnd.openxmlformats-officedocument.drawingml.chart+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notesMasterIdLst>
    <p:notesMasterId r:id="rId8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8f9108a-3893-340f-69ab-9886ba359184}">
          <p14:sldIdLst>
            <p14:sldId id="256"/>
            <p14:sldId id="257"/>
          </p14:sldIdLst>
        </p14:section>
        <p14:section name="History" id="{ec8e3432-669d-e090-fee1-b5bf68339a40}">
          <p14:sldIdLst>
            <p14:sldId id="258"/>
            <p14:sldId id="259"/>
            <p14:sldId id="260"/>
            <p14:sldId id="261"/>
            <p14:sldId id="262"/>
            <p14:sldId id="263"/>
          </p14:sldIdLst>
        </p14:section>
        <p14:section name="Testing" id="{c5380804-5250-4015-1d2d-937bf71fdffc}">
          <p14:sldIdLst>
            <p14:sldId id="264"/>
            <p14:sldId id="265"/>
            <p14:sldId id="266"/>
            <p14:sldId id="267"/>
            <p14:sldId id="268"/>
            <p14:sldId id="269"/>
            <p14:sldId id="270"/>
          </p14:sldIdLst>
        </p14:section>
        <p14:section name="Serology" id="{5df8f3ca-370e-a552-b345-3d82e90582ca}">
          <p14:sldIdLst>
            <p14:sldId id="271"/>
            <p14:sldId id="272"/>
            <p14:sldId id="273"/>
            <p14:sldId id="274"/>
          </p14:sldIdLst>
        </p14:section>
        <p14:section name="Phases" id="{97da41e8-5480-99e7-3e4d-822e63e9cc51}">
          <p14:sldIdLst>
            <p14:sldId id="275"/>
            <p14:sldId id="276"/>
            <p14:sldId id="277"/>
            <p14:sldId id="278"/>
            <p14:sldId id="279"/>
            <p14:sldId id="280"/>
            <p14:sldId id="281"/>
            <p14:sldId id="282"/>
          </p14:sldIdLst>
        </p14:section>
        <p14:section name="Who to treat" id="{62d2052e-11fe-b8d0-50d1-c4e380bd4745}">
          <p14:sldIdLst>
            <p14:sldId id="283"/>
            <p14:sldId id="284"/>
            <p14:sldId id="285"/>
            <p14:sldId id="286"/>
            <p14:sldId id="287"/>
            <p14:sldId id="288"/>
            <p14:sldId id="289"/>
            <p14:sldId id="290"/>
            <p14:sldId id="291"/>
            <p14:sldId id="292"/>
            <p14:sldId id="293"/>
            <p14:sldId id="294"/>
            <p14:sldId id="295"/>
          </p14:sldIdLst>
        </p14:section>
        <p14:section name="Drugs" id="{30bb6f64-3896-5438-c943-93d8da58d905}">
          <p14:sldIdLst>
            <p14:sldId id="296"/>
            <p14:sldId id="297"/>
            <p14:sldId id="298"/>
            <p14:sldId id="299"/>
            <p14:sldId id="300"/>
            <p14:sldId id="301"/>
            <p14:sldId id="302"/>
          </p14:sldIdLst>
        </p14:section>
        <p14:section name="HCC risk" id="{061c3b5c-8e49-6279-7c64-8c1dfaa14bbd}">
          <p14:sldIdLst>
            <p14:sldId id="303"/>
            <p14:sldId id="304"/>
            <p14:sldId id="305"/>
            <p14:sldId id="306"/>
            <p14:sldId id="307"/>
            <p14:sldId id="308"/>
            <p14:sldId id="309"/>
            <p14:sldId id="310"/>
          </p14:sldIdLst>
        </p14:section>
        <p14:section name="Special situations" id="{a5ca5f14-0124-8ed7-9986-b272e2359912}">
          <p14:sldIdLst>
            <p14:sldId id="311"/>
            <p14:sldId id="312"/>
            <p14:sldId id="313"/>
            <p14:sldId id="314"/>
            <p14:sldId id="315"/>
            <p14:sldId id="316"/>
            <p14:sldId id="317"/>
            <p14:sldId id="318"/>
            <p14:sldId id="319"/>
            <p14:sldId id="320"/>
            <p14:sldId id="321"/>
            <p14:sldId id="322"/>
            <p14:sldId id="323"/>
            <p14:sldId id="324"/>
            <p14:sldId id="325"/>
          </p14:sldIdLst>
        </p14:section>
        <p14:section name="Stopping and what is new" id="{48928212-c717-4110-082c-91b9726ec2c0}">
          <p14:sldIdLst>
            <p14:sldId id="326"/>
            <p14:sldId id="327"/>
            <p14:sldId id="328"/>
            <p14:sldId id="329"/>
            <p14:sldId id="330"/>
            <p14:sldId id="331"/>
            <p14:sldId id="332"/>
          </p14:sldIdLst>
        </p14:section>
        <p14:section name="Close" id="{e990596c-f4fd-d88a-55c1-0dbc3bf48c8d}">
          <p14:sldIdLst>
            <p14:sldId id="333"/>
            <p14:sldId id="33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Treated</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Sheet1!$B$2:$B$4</c:f>
              <c:numCache>
                <c:formatCode>General</c:formatCode>
                <c:ptCount val="3"/>
                <c:pt idx="0">
                  <c:v>3</c:v>
                </c:pt>
                <c:pt idx="1">
                  <c:v>4</c:v>
                </c:pt>
                <c:pt idx="2">
                  <c:v>9</c:v>
                </c:pt>
              </c:numCache>
            </c:numRef>
          </c:val>
        </c:ser>
        <c:ser>
          <c:idx val="1"/>
          <c:order val="1"/>
          <c:tx>
            <c:strRef>
              <c:f>Sheet1!$C$1</c:f>
              <c:strCache>
                <c:ptCount val="1"/>
                <c:pt idx="0">
                  <c:v>Untreated</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Sheet1!$C$2:$C$4</c:f>
              <c:numCache>
                <c:formatCode>General</c:formatCode>
                <c:ptCount val="3"/>
                <c:pt idx="0">
                  <c:v>3</c:v>
                </c:pt>
                <c:pt idx="1">
                  <c:v>15</c:v>
                </c:pt>
                <c:pt idx="2">
                  <c:v>19</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Sheet1!$B$2:$B$2</c:f>
              <c:numCache>
                <c:formatCode>General</c:formatCode>
                <c:ptCount val="1"/>
                <c:pt idx="0">
                  <c:v>26</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Sheet1!$C$2:$C$2</c:f>
              <c:numCache>
                <c:formatCode>General</c:formatCode>
                <c:ptCount val="1"/>
                <c:pt idx="0">
                  <c:v>47</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TAF</c:v>
                </c:pt>
              </c:strCache>
            </c:strRef>
          </c:tx>
          <c:spPr>
            <a:solidFill>
              <a:srgbClr val="1F4E79"/>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Sheet1!$B$2:$B$5</c:f>
              <c:numCache>
                <c:formatCode>General</c:formatCode>
                <c:ptCount val="4"/>
                <c:pt idx="0">
                  <c:v>-0.29</c:v>
                </c:pt>
                <c:pt idx="1">
                  <c:v>-0.88</c:v>
                </c:pt>
                <c:pt idx="2">
                  <c:v>-0.1</c:v>
                </c:pt>
                <c:pt idx="3">
                  <c:v>-0.42</c:v>
                </c:pt>
              </c:numCache>
            </c:numRef>
          </c:val>
        </c:ser>
        <c:ser>
          <c:idx val="1"/>
          <c:order val="1"/>
          <c:tx>
            <c:strRef>
              <c:f>Sheet1!$C$1</c:f>
              <c:strCache>
                <c:ptCount val="1"/>
                <c:pt idx="0">
                  <c:v>TDF</c:v>
                </c:pt>
              </c:strCache>
            </c:strRef>
          </c:tx>
          <c:spPr>
            <a:solidFill>
              <a:srgbClr val="9DB4CA"/>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Sheet1!$C$2:$C$5</c:f>
              <c:numCache>
                <c:formatCode>General</c:formatCode>
                <c:ptCount val="4"/>
                <c:pt idx="0">
                  <c:v>-2.16</c:v>
                </c:pt>
                <c:pt idx="1">
                  <c:v>-2.51</c:v>
                </c:pt>
                <c:pt idx="2">
                  <c:v>-1.72</c:v>
                </c:pt>
                <c:pt idx="3">
                  <c:v>-2.29</c:v>
                </c:pt>
              </c:numCache>
            </c:numRef>
          </c:val>
        </c:ser>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0"/>
          <c:min val="-3"/>
        </c:scaling>
        <c:delete val="0"/>
        <c:axPos val="l"/>
        <c:majorGridlines>
          <c:spPr>
            <a:ln w="6350" cap="flat">
              <a:solidFill>
                <a:srgbClr val="E3E3E3"/>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Sheet1!$B$2:$B$3</c:f>
              <c:numCache>
                <c:formatCode>General</c:formatCode>
                <c:ptCount val="2"/>
                <c:pt idx="0">
                  <c:v>5</c:v>
                </c:pt>
                <c:pt idx="1">
                  <c:v>0</c:v>
                </c:pt>
              </c:numCache>
            </c:numRef>
          </c:val>
        </c:ser>
        <c:ser>
          <c:idx val="1"/>
          <c:order val="1"/>
          <c:tx>
            <c:strRef>
              <c:f>Sheet1!$C$1</c:f>
              <c:strCache>
                <c:ptCount val="1"/>
                <c:pt idx="0">
                  <c:v>Usual care</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Sheet1!$C$2:$C$3</c:f>
              <c:numCache>
                <c:formatCode>General</c:formatCode>
                <c:ptCount val="2"/>
                <c:pt idx="0">
                  <c:v>18</c:v>
                </c:pt>
                <c:pt idx="1">
                  <c:v>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Bulevirtide</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Sheet1!$B$2:$B$3</c:f>
              <c:numCache>
                <c:formatCode>General</c:formatCode>
                <c:ptCount val="2"/>
                <c:pt idx="0">
                  <c:v>48</c:v>
                </c:pt>
                <c:pt idx="1">
                  <c:v>20</c:v>
                </c:pt>
              </c:numCache>
            </c:numRef>
          </c:val>
        </c:ser>
        <c:ser>
          <c:idx val="1"/>
          <c:order val="1"/>
          <c:tx>
            <c:strRef>
              <c:f>Sheet1!$C$1</c:f>
              <c:strCache>
                <c:ptCount val="1"/>
                <c:pt idx="0">
                  <c:v>Delayed treatment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Sheet1!$C$2:$C$3</c:f>
              <c:numCache>
                <c:formatCode>General</c:formatCode>
                <c:ptCount val="2"/>
                <c:pt idx="0">
                  <c:v>2</c:v>
                </c:pt>
                <c:pt idx="1">
                  <c:v>0</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 novo HBV</c:v>
                </c:pt>
              </c:strCache>
            </c:strRef>
          </c:tx>
          <c:spPr>
            <a:solidFill>
              <a:srgbClr val="1F4E79"/>
            </a:solidFill>
            <a:effectLst/>
          </c:spPr>
          <c:invertIfNegative val="0"/>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No prophylaxis</c:v>
                  </c:pt>
                  <c:pt idx="1">
                    <c:v>Any prophylaxis</c:v>
                  </c:pt>
                  <c:pt idx="2">
                    <c:v>HBIG alone</c:v>
                  </c:pt>
                  <c:pt idx="3">
                    <c:v>Lamivudine alone</c:v>
                  </c:pt>
                  <c:pt idx="4">
                    <c:v>HBIG plus lamivudine</c:v>
                  </c:pt>
                </c:lvl>
              </c:multiLvlStrCache>
            </c:multiLvlStrRef>
          </c:cat>
          <c:val>
            <c:numRef>
              <c:f>Sheet1!$B$2:$B$6</c:f>
              <c:numCache>
                <c:formatCode>General</c:formatCode>
                <c:ptCount val="5"/>
                <c:pt idx="0">
                  <c:v>48</c:v>
                </c:pt>
                <c:pt idx="1">
                  <c:v>12</c:v>
                </c:pt>
                <c:pt idx="2">
                  <c:v>19</c:v>
                </c:pt>
                <c:pt idx="3">
                  <c:v>2.6</c:v>
                </c:pt>
                <c:pt idx="4">
                  <c:v>2.8</c:v>
                </c:pt>
              </c:numCache>
            </c:numRef>
          </c:val>
        </c:ser>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Bepirovirsen</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Sheet1!$B$2:$B$3</c:f>
              <c:numCache>
                <c:formatCode>General</c:formatCode>
                <c:ptCount val="2"/>
                <c:pt idx="0">
                  <c:v>20</c:v>
                </c:pt>
                <c:pt idx="1">
                  <c:v>19</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Source for the slide text is the paper itself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short in the 30-minute version. Dane 1970 Lancet 1:695-698. Maupas 1976 Lancet 1:1367-1370. Szmuness 1980 NEJM 303:833-841. Beasley 1981 Lancet 2:1129-1133. The vaccine came before there was a screening test for liver cancer. A recombinant yeast vaccine was reported in 1984 (McAleer, Nature 307:178-180).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Prince detected the antigen in blood during the incubation period of serum hepatitis, which tied it to post-transfusion hepatitis and made screening of blood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42 nm particle is the whole virion; the numerous 22 nm particles and long forms are surface antigen only. This is why HBsAg circulates in huge excess over virions. The figure is from the paper in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22,707 Chinese men, civil servants in Taiwan, followed prospectively. All numbers are from the paper's summary (your PDF). The 95% CI of 28 to 1,479 for the relative risk is quoted from a 2018 historical review (Koshiol, Cancer Epidemiol), not from the 1981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double-blind, placebo-controlled, 1,083 men at high risk. Infection in only 1.4 to 3.4% of vaccinees versus 18 to 27% with placebo. The plasma-derived vaccine of Maupas (Lancet 1976) was the first human immunization; a recombinant yeast vaccine followed (McAleer, Nature 1984). Licensure in 1986 was not confirmed from a primary record, so say 'mid-1980s'.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estimates differ because the survey misses many immigrants. Do not combine one study's prevalence with another study's diagnosed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This is the figure from your sketch.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phases in the published form. Credit GESA 2022 (ASHM attributes Figure 3.1 to them). The reviewer could not confirm the original artist or the reuse licence, so check before putting this in anything you distribute.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Let the room commit. The next slide shows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2025 Table 6 lists F2 above 7 kPa, F3 above 8 and F4 above 11. WHO 2024 uses APRI above 0.5 or elastography above 7 kPa as a treatment pathway, with no DNA threshold. Do not teach a single FibroScan cut-off of 8 for every purpose. The WHO cirrhosis row is from the 2015 guideline as described in the reviewer's dossier; check the 2024 text before using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studies that point in opposite directions. Kim: Korean retrospective cohort; death or transplant 9.7% vs 3.4% at 10 years, HR 3.38 (1.85 to 6.16). The untreated group used a broad definition (DNA at least 20,000), broader than strict immune tolerance. Jeon found essentially no HCC in carefully defined immune-tolerant patients with low FIB-4. The AASLD technical review grades the evidence for clinical benefit in immune tolerance as very uncertain. Nothing here proves that treating every young, strictly immune-tolerant patient lowers lifetime HCC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2025: heterogeneity was high (I2 85.7% for HCC) and the definitions of the grey zone varied. ATTENTION: TAF 369 vs observation 365, DNA 10,000 to 100,000,000 IU/mL, ALT below 70 for men and below 50 for women, noncirrhotic, ages 40 to 80, median follow-up 17.7 months. Promising, not definitive.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observational data are inconsistent and sensitive to design, including different start dates and follow-up. No randomized trial compares HCC. The 2019 Choi cohort in Korea has a retraction-and-replacement notice, so do not quote its original estimate. Yoo 2025 (J Hepatol Reports): TDF/TAF incidence rate ratio 1.24, entecavir/TAF 1.08 (p = 0.219); abstract only. Renal function, bone disease, resistance, pregnancy, adherence and access still decide the drug.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finite course for selected compensated patients who accept the side effects: higher ALT, lower DNA, favorable genotype and early qHBsAg decline help selection. Avoid in decompensated cirrhosis and pregnancy. These are selected populations, not general cure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AASLD 2018 and the reviewer's dossier (section C5). EASL 2025 uses 3 to 6 months initially, then 6 to 12 months after response. AASLD 2018 finds insufficient evidence to mandate routine bone density testing in people without other risk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calculator. PAGE-B matches the published table. The second model (HBsAg-HCC, Guo 2026, 1,190 training and 506 validation patients, abstract only) could not be checked against the paper, so say it is a research model, not validated. Do not call it externally verified. The calculator does not include REACH-B, aMAP or REAL-B.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3,101 treated US veterans (39.5% White, 36.3% Black, 13.6% Asian; 113 HCC over 4.5 years) the 3-year AUC was 0.73 for PAGE-B and 0.57 for REACH-B; REAL-B and some AFP-containing models were above 0.80. REACH-B does poorly when moved from untreated noncirrhotic patients into treated ones, including those with cirrhosis. In HIV/HBV on tenofovir (2,963 patients), PAGE-B had a C-index of 0.77 and a negative predictive value of 99.4% below 10 at 5 years. Full formulas for mPAGE-B, aMAP and REAL-B were not confirmed, so do not reproduce their point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flowchart you sent: it had a Gemini watermark and no source. What the literature supports: a high HBsAg in an HBeAg-negative patient with low DNA predicts HCC, and the best studied cut-off is 1,000 IU/mL. Not supported: that qHBsAg adds nothing in F3 to F4, a universal cut-off of 100, and any reading of qHBsAg as an integration-burden meter. The Tseng 2013 Hepatology paper is about hepatitis events (HR 1.5), and the 13.2 hazard ratio in the 2012 Hepatology paper is for HBsAg loss, not HCC.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Biology, not an outcome trial. It explains why HBsAg can persist when DNA is undetectable and why 'immune tolerant' is not a safe phase. It does not show that early treatment prevents HCC. Small tissue studies; abstract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reviewer's comparison (dossier A5). ACR 2021 (rheumatoid arthritis): strong recommendation for prophylaxis in anti-HBc-positive patients starting rituximab regardless of HBsAg, and in HBsAg-positive patients starting any biologic or targeted synthetic DMARD; monitoring is conditionally preferred for HBsAg-negative anti-HBc-positive patients on other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from the AASLD/IDSA 2025 recommendation and the CDC infant schedule. Infant testing is HBsAg and anti-HBs at 9 to 12 months, or 1 to 2 months after a delayed final dose. Do not use anti-HBc for infant testing after vaccination. Evidence: Pan, NEJM 2016 (200 HBeAg-positive mothers; transmission 5% vs 18% by intention to treat) and Jourdain, NEJM 2018 (331 women; 0 vs 3 infected infants, p = 0.12, not superior because infant prophylaxis was already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 200 HBeAg-positive mothers with DNA above 200,000, TDF from week 30 to 32 to 4 weeks postpartum versus usual care: infant infection 5/97 (5%) vs 18/100 (18%) by intention to treat, 0 vs 6/88 (7%) per protocol. Post-withdrawal ALT elevations in mothers 45% vs 30%. Jourdain: 331 women, TDF from week 28 to 2 months postpartum: infant infection 0/147 vs 3/147 (2%), p = 0.12. A 2025 randomized trial (Pan, JAMA) starting TDF at week 16 without HBIG was noninferior to week 28 plus HBIG: 1/131 vs 0/142.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2018 guidance statements (ungraded). Current HIV guidance and drug interactions still need review before choosing the ART regimen.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anti-HDV for exposure, HDV RNA for current infection. A nucleos(t)ide analogue suppresses HBV but does not treat HDV. In the core version, give this one line only: test every HBsAg-positive patient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MYR301 as described by FDA: immediate treatment with 8.5 mg once daily for 144 weeks versus delayed treatment (48 weeks observation, then treatment). Week 48 combined response 48% vs 2%; undetectable HDV RNA 20% vs 0%; at weeks 96 and 144 undetectable RNA 36% and 50%. Accelerated approval rests on this surrogate response; clinical benefit needs confirmation. Side effects: hypersensitivity, injection site reactions, headache, abdominal pain, fatigue, itching. The dossier's published MYR301 numbers (2 mg 45%, 10 mg 48%) are from the NEJM paper; the slide uses FDA's numbers for the approved dose. Gilead is the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randomized, and the antivirals were those of that era. Do not promise one-third delisting to every patient today. AASLD 2018 R7B: treat decompensated disease indefinitely regardless of DNA, ALT or HBeAg, and assess for transplant. PegIFN is contraindicated. The US TAF label does not recommend Child-Pugh B or C. Call transplant hepatology.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Cholongitas: 39 studies, 903 recipients, regimens of that time, so the rates are not contemporary entecavir or tenofovir rates. AASLD 2018 supports indefinite high-barrier NA after transplant for HBV; selected low-risk patients may get no HBIG or 5 to 7 days plus NA, higher-risk patients (HIV, HDV, adherence concerns) HBIG plus NA. HBIG alone is not appropriate. The AST 2019 wording was not opened, so quote AASLD 2018 here. Fung 2017: nine-year survival 85%, no fatal HBV recurrence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ages are approval ages, not indications to treat. WHO's noninvasive fibrosis cut-offs are not validated in children and adolescents.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RETRACT-B: end-of-treatment HBsAg under 100 predicted loss (subdistribution HR 22.5, 13.1 to 38.7); loss was much more likely in White than Asian patients (HR 6.8). STOP-NUC: 79 per arm, DNA undetectable at least 4 years; in those with HBsAg under 1,000, loss was 7 of 25 (28%). Loss, relapse, retreatment and sustained remission are different endpoints and cannot be subtracted from each other. Severe flares can happen: a case of HBV-induced liver failure requiring emergency transplant after a finite-treatment strategy (REEF-2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2022 AASLD/EASL endpoint conference report (published 2023). Standard nucleos(t)ide therapy rarely gives HBsAg loss. Functional cure does not show that cccDNA or integrated DNA are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FDA pages. Bepirovirsen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The FDA also authorized a Roche qHBsAg assay as a companion diagnostic. Boxed warning for serious liver reactions and low platelets; warnings include worsening kidney function and vasculitis. Hepcludex: accelerated approval, boxed warning for severe exacerbations of HDV and HBV on discontinuation.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sponsor's phase 3 trials: 978 and 856 participants. The FDA pooled figure is 19%. The earlier phase 2b B-Clear (Yuen, NEJM 2022, 457 participants): 300 mg for 24 weeks gave sustained response in 9% on NA and 10% off NA. Eligibility is narrow (noncirrhotic, suppressed, low HBsAg), so this is not a cure rate for all patients with hepatitis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endpoints matter: HBsAg decline on NA, HBsAg loss with NA continuing, and sustained functional cure off all therapy are not the same. Xalnesiran (Hou 2024 NEJM, 159 participants; all HBsAg loss was at baseline HBsAg under 1,000). Elebsiran (ENSURE, Wong, Nat Med 2026): part 1 N = 55. JNJ-3989 REEF-1 (Yuen 2023, 470 randomized). Imdusiran (Yuen 2026). Check each paper before quoting; most are abstract-level in the dossier. Checkpoint inhibitor trials: an imdusiran plus durvalumab registry entry was withdrawn with no enrollment, which says nothing about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image" Target="../media/image-79-2.png"/><Relationship Id="rId3" Type="http://schemas.openxmlformats.org/officeDocument/2006/relationships/slideLayout" Target="../slideLayouts/slideLayout4.xml"/><Relationship Id="rId4" Type="http://schemas.openxmlformats.org/officeDocument/2006/relationships/notesSlide" Target="../notesSlides/notesSlide7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cover illustra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675120" cy="2226715"/>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6675120" cy="1811211"/>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From antigen to vaccine</a:t>
            </a:r>
            <a:endParaRPr lang="en-US" sz="3000" dirty="0"/>
          </a:p>
        </p:txBody>
      </p:sp>
      <p:sp>
        <p:nvSpPr>
          <p:cNvPr id="3" name="Shape 1"/>
          <p:cNvSpPr/>
          <p:nvPr/>
        </p:nvSpPr>
        <p:spPr>
          <a:xfrm>
            <a:off x="822960" y="3291840"/>
            <a:ext cx="10545775" cy="0"/>
          </a:xfrm>
          <a:prstGeom prst="line">
            <a:avLst/>
          </a:prstGeom>
          <a:noFill/>
          <a:ln w="25400">
            <a:solidFill>
              <a:srgbClr val="595959"/>
            </a:solidFill>
            <a:prstDash val="solid"/>
          </a:ln>
        </p:spPr>
      </p:sp>
      <p:sp>
        <p:nvSpPr>
          <p:cNvPr id="4" name="Shape 2"/>
          <p:cNvSpPr/>
          <p:nvPr/>
        </p:nvSpPr>
        <p:spPr>
          <a:xfrm>
            <a:off x="1795242" y="3209544"/>
            <a:ext cx="164592" cy="164592"/>
          </a:xfrm>
          <a:prstGeom prst="ellipse">
            <a:avLst/>
          </a:prstGeom>
          <a:solidFill>
            <a:srgbClr val="1F4E79"/>
          </a:solidFill>
          <a:ln w="12700">
            <a:solidFill>
              <a:srgbClr val="1F4E79"/>
            </a:solidFill>
            <a:prstDash val="solid"/>
          </a:ln>
        </p:spPr>
      </p:sp>
      <p:sp>
        <p:nvSpPr>
          <p:cNvPr id="5" name="Text 3"/>
          <p:cNvSpPr txBox="1"/>
          <p:nvPr/>
        </p:nvSpPr>
        <p:spPr>
          <a:xfrm>
            <a:off x="82296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1965</a:t>
            </a:r>
            <a:endParaRPr lang="en-US" sz="2800" dirty="0"/>
          </a:p>
        </p:txBody>
      </p:sp>
      <p:sp>
        <p:nvSpPr>
          <p:cNvPr id="6" name="Text 4"/>
          <p:cNvSpPr txBox="1"/>
          <p:nvPr/>
        </p:nvSpPr>
        <p:spPr>
          <a:xfrm>
            <a:off x="89611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Blumberg, Alter and Visnich describe the Australia antigen</a:t>
            </a:r>
            <a:endParaRPr lang="en-US" sz="1700" dirty="0"/>
          </a:p>
        </p:txBody>
      </p:sp>
      <p:sp>
        <p:nvSpPr>
          <p:cNvPr id="7" name="Shape 5"/>
          <p:cNvSpPr/>
          <p:nvPr/>
        </p:nvSpPr>
        <p:spPr>
          <a:xfrm>
            <a:off x="3904397" y="3209544"/>
            <a:ext cx="164592" cy="164592"/>
          </a:xfrm>
          <a:prstGeom prst="ellipse">
            <a:avLst/>
          </a:prstGeom>
          <a:solidFill>
            <a:srgbClr val="1F4E79"/>
          </a:solidFill>
          <a:ln w="12700">
            <a:solidFill>
              <a:srgbClr val="1F4E79"/>
            </a:solidFill>
            <a:prstDash val="solid"/>
          </a:ln>
        </p:spPr>
      </p:sp>
      <p:sp>
        <p:nvSpPr>
          <p:cNvPr id="8" name="Text 6"/>
          <p:cNvSpPr txBox="1"/>
          <p:nvPr/>
        </p:nvSpPr>
        <p:spPr>
          <a:xfrm>
            <a:off x="2932115"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1970</a:t>
            </a:r>
            <a:endParaRPr lang="en-US" sz="2800" dirty="0"/>
          </a:p>
        </p:txBody>
      </p:sp>
      <p:sp>
        <p:nvSpPr>
          <p:cNvPr id="9" name="Text 7"/>
          <p:cNvSpPr txBox="1"/>
          <p:nvPr/>
        </p:nvSpPr>
        <p:spPr>
          <a:xfrm>
            <a:off x="3005267"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Dane, Cameron and Briggs see the virus particle in serum</a:t>
            </a:r>
            <a:endParaRPr lang="en-US" sz="1700" dirty="0"/>
          </a:p>
        </p:txBody>
      </p:sp>
      <p:sp>
        <p:nvSpPr>
          <p:cNvPr id="10" name="Shape 8"/>
          <p:cNvSpPr/>
          <p:nvPr/>
        </p:nvSpPr>
        <p:spPr>
          <a:xfrm>
            <a:off x="6013552" y="3209544"/>
            <a:ext cx="164592" cy="164592"/>
          </a:xfrm>
          <a:prstGeom prst="ellipse">
            <a:avLst/>
          </a:prstGeom>
          <a:solidFill>
            <a:srgbClr val="1F4E79"/>
          </a:solidFill>
          <a:ln w="12700">
            <a:solidFill>
              <a:srgbClr val="1F4E79"/>
            </a:solidFill>
            <a:prstDash val="solid"/>
          </a:ln>
        </p:spPr>
      </p:sp>
      <p:sp>
        <p:nvSpPr>
          <p:cNvPr id="11" name="Text 9"/>
          <p:cNvSpPr txBox="1"/>
          <p:nvPr/>
        </p:nvSpPr>
        <p:spPr>
          <a:xfrm>
            <a:off x="504127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1976</a:t>
            </a:r>
            <a:endParaRPr lang="en-US" sz="2800" dirty="0"/>
          </a:p>
        </p:txBody>
      </p:sp>
      <p:sp>
        <p:nvSpPr>
          <p:cNvPr id="12" name="Text 10"/>
          <p:cNvSpPr txBox="1"/>
          <p:nvPr/>
        </p:nvSpPr>
        <p:spPr>
          <a:xfrm>
            <a:off x="511442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Blumberg and Gajdusek receive the Nobel Prize. First immunization of people with plasma-derived vaccine (Maupas)</a:t>
            </a:r>
            <a:endParaRPr lang="en-US" sz="1700" dirty="0"/>
          </a:p>
        </p:txBody>
      </p:sp>
      <p:sp>
        <p:nvSpPr>
          <p:cNvPr id="13" name="Shape 11"/>
          <p:cNvSpPr/>
          <p:nvPr/>
        </p:nvSpPr>
        <p:spPr>
          <a:xfrm>
            <a:off x="8122707" y="3209544"/>
            <a:ext cx="164592" cy="164592"/>
          </a:xfrm>
          <a:prstGeom prst="ellipse">
            <a:avLst/>
          </a:prstGeom>
          <a:solidFill>
            <a:srgbClr val="1F4E79"/>
          </a:solidFill>
          <a:ln w="12700">
            <a:solidFill>
              <a:srgbClr val="1F4E79"/>
            </a:solidFill>
            <a:prstDash val="solid"/>
          </a:ln>
        </p:spPr>
      </p:sp>
      <p:sp>
        <p:nvSpPr>
          <p:cNvPr id="14" name="Text 12"/>
          <p:cNvSpPr txBox="1"/>
          <p:nvPr/>
        </p:nvSpPr>
        <p:spPr>
          <a:xfrm>
            <a:off x="7150425"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1980</a:t>
            </a:r>
            <a:endParaRPr lang="en-US" sz="2800" dirty="0"/>
          </a:p>
        </p:txBody>
      </p:sp>
      <p:sp>
        <p:nvSpPr>
          <p:cNvPr id="15" name="Text 13"/>
          <p:cNvSpPr txBox="1"/>
          <p:nvPr/>
        </p:nvSpPr>
        <p:spPr>
          <a:xfrm>
            <a:off x="7223577"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Szmuness: the vaccine works in a controlled trial of 1,083 men</a:t>
            </a:r>
            <a:endParaRPr lang="en-US" sz="1700" dirty="0"/>
          </a:p>
        </p:txBody>
      </p:sp>
      <p:sp>
        <p:nvSpPr>
          <p:cNvPr id="16" name="Shape 14"/>
          <p:cNvSpPr/>
          <p:nvPr/>
        </p:nvSpPr>
        <p:spPr>
          <a:xfrm>
            <a:off x="10231862" y="3209544"/>
            <a:ext cx="164592" cy="164592"/>
          </a:xfrm>
          <a:prstGeom prst="ellipse">
            <a:avLst/>
          </a:prstGeom>
          <a:solidFill>
            <a:srgbClr val="1F4E79"/>
          </a:solidFill>
          <a:ln w="12700">
            <a:solidFill>
              <a:srgbClr val="1F4E79"/>
            </a:solidFill>
            <a:prstDash val="solid"/>
          </a:ln>
        </p:spPr>
      </p:sp>
      <p:sp>
        <p:nvSpPr>
          <p:cNvPr id="17" name="Text 15"/>
          <p:cNvSpPr txBox="1"/>
          <p:nvPr/>
        </p:nvSpPr>
        <p:spPr>
          <a:xfrm>
            <a:off x="925958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1981</a:t>
            </a:r>
            <a:endParaRPr lang="en-US" sz="2800" dirty="0"/>
          </a:p>
        </p:txBody>
      </p:sp>
      <p:sp>
        <p:nvSpPr>
          <p:cNvPr id="18" name="Text 16"/>
          <p:cNvSpPr txBox="1"/>
          <p:nvPr/>
        </p:nvSpPr>
        <p:spPr>
          <a:xfrm>
            <a:off x="933273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Beasley: HBsAg carriers in Taiwan get liver cancer at a far higher rate</a:t>
            </a:r>
            <a:endParaRPr lang="en-US" sz="1700" dirty="0"/>
          </a:p>
        </p:txBody>
      </p:sp>
      <p:sp>
        <p:nvSpPr>
          <p:cNvPr id="1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PMIDs: Dane 4190997; Maupas 59012; Szmuness 6997738; Beasley 6118576.</a:t>
            </a:r>
            <a:endParaRPr lang="en-US" sz="1000" dirty="0"/>
          </a:p>
        </p:txBody>
      </p:sp>
      <p:sp>
        <p:nvSpPr>
          <p:cNvPr id="2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Prince, 1968</a:t>
            </a:r>
            <a:endParaRPr lang="en-US" sz="3000" dirty="0"/>
          </a:p>
        </p:txBody>
      </p:sp>
      <p:pic>
        <p:nvPicPr>
          <p:cNvPr id="3" name="Image 0" descr="Title and first paragraph of Prince, PNAS 1968">    </p:cNvPr>
          <p:cNvPicPr>
            <a:picLocks noChangeAspect="1"/>
          </p:cNvPicPr>
          <p:nvPr/>
        </p:nvPicPr>
        <p:blipFill>
          <a:blip r:embed="rId1"/>
          <a:stretch>
            <a:fillRect/>
          </a:stretch>
        </p:blipFill>
        <p:spPr>
          <a:xfrm>
            <a:off x="1225177" y="1234440"/>
            <a:ext cx="9741342" cy="4114800"/>
          </a:xfrm>
          <a:prstGeom prst="rect">
            <a:avLst/>
          </a:prstGeom>
        </p:spPr>
      </p:pic>
      <p:sp>
        <p:nvSpPr>
          <p:cNvPr id="4" name="Body"/>
          <p:cNvSpPr txBox="1"/>
          <p:nvPr/>
        </p:nvSpPr>
        <p:spPr>
          <a:xfrm>
            <a:off x="1097280" y="5486400"/>
            <a:ext cx="9997135" cy="6400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Okochi and Murakami reported the antigen in Japanese the same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Prince AM. PNAS 1968;60:814-821, PMID 4970112. Okochi K, Murakami S. Vox Sang 1968;15:374-385, PMID 5749015.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Dane, 1970</a:t>
            </a:r>
            <a:endParaRPr lang="en-US" sz="3000" dirty="0"/>
          </a:p>
        </p:txBody>
      </p:sp>
      <p:pic>
        <p:nvPicPr>
          <p:cNvPr id="3" name="Image 0" descr="Title and summary of Dane, Cameron and Briggs, Lancet 1970">    </p:cNvPr>
          <p:cNvPicPr>
            <a:picLocks noChangeAspect="1"/>
          </p:cNvPicPr>
          <p:nvPr/>
        </p:nvPicPr>
        <p:blipFill>
          <a:blip r:embed="rId1"/>
          <a:stretch>
            <a:fillRect/>
          </a:stretch>
        </p:blipFill>
        <p:spPr>
          <a:xfrm>
            <a:off x="548640" y="1280160"/>
            <a:ext cx="5760720" cy="3933133"/>
          </a:xfrm>
          <a:prstGeom prst="rect">
            <a:avLst/>
          </a:prstGeom>
        </p:spPr>
      </p:pic>
      <p:pic>
        <p:nvPicPr>
          <p:cNvPr id="4" name="Image 1" descr="Electron micrograph, Figure 1 of the paper">    </p:cNvPr>
          <p:cNvPicPr>
            <a:picLocks noChangeAspect="1"/>
          </p:cNvPicPr>
          <p:nvPr/>
        </p:nvPicPr>
        <p:blipFill>
          <a:blip r:embed="rId2"/>
          <a:stretch>
            <a:fillRect/>
          </a:stretch>
        </p:blipFill>
        <p:spPr>
          <a:xfrm>
            <a:off x="6994232" y="1188720"/>
            <a:ext cx="4390977"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Dane DS, Cameron CH, Briggs M. Lancet 1970;1:695-698. PMID 4190997.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Beasley, Taiwan, 1981</a:t>
            </a:r>
            <a:endParaRPr lang="en-US" sz="3000" dirty="0"/>
          </a:p>
        </p:txBody>
      </p:sp>
      <p:pic>
        <p:nvPicPr>
          <p:cNvPr id="3" name="Image 0" descr="Title and summary of Beasley et al., Lancet 1981">    </p:cNvPr>
          <p:cNvPicPr>
            <a:picLocks noChangeAspect="1"/>
          </p:cNvPicPr>
          <p:nvPr/>
        </p:nvPicPr>
        <p:blipFill>
          <a:blip r:embed="rId1"/>
          <a:stretch>
            <a:fillRect/>
          </a:stretch>
        </p:blipFill>
        <p:spPr>
          <a:xfrm>
            <a:off x="548640" y="1234440"/>
            <a:ext cx="5652522" cy="4937760"/>
          </a:xfrm>
          <a:prstGeom prst="rect">
            <a:avLst/>
          </a:prstGeom>
        </p:spPr>
      </p:pic>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6858000" y="2011680"/>
          <a:ext cx="4937760" cy="914400"/>
        </p:xfrm>
        <a:graphic>
          <a:graphicData uri="http://schemas.openxmlformats.org/drawingml/2006/table">
            <a:tbl>
              <a:tblPr/>
              <a:tblGrid>
                <a:gridCol w="2084832"/>
                <a:gridCol w="1517904"/>
                <a:gridCol w="1335024"/>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HBsAg 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Non-carriers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HCC incidence per 100,000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1,158</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Deaths from HCC or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54.3% of 105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of 202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858000" y="4023360"/>
            <a:ext cx="49377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Relative risk 223</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Beasley RP et al. Lancet 1981;2:1129-1133. PMID 6118576.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Szmuness, 1980</a:t>
            </a:r>
            <a:endParaRPr lang="en-US" sz="3000" dirty="0"/>
          </a:p>
        </p:txBody>
      </p:sp>
      <p:pic>
        <p:nvPicPr>
          <p:cNvPr id="3" name="Image 0" descr="Title and abstract of Szmuness et al., NEJM 1980">    </p:cNvPr>
          <p:cNvPicPr>
            <a:picLocks noChangeAspect="1"/>
          </p:cNvPicPr>
          <p:nvPr/>
        </p:nvPicPr>
        <p:blipFill>
          <a:blip r:embed="rId1"/>
          <a:stretch>
            <a:fillRect/>
          </a:stretch>
        </p:blipFill>
        <p:spPr>
          <a:xfrm>
            <a:off x="1222156" y="1188720"/>
            <a:ext cx="9747384"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Szmuness W et al. N Engl J Med 1980;303:833-841. PMID 6997738.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Text 3"/>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6" name="Text 4"/>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7" name="Text 5"/>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514600"/>
            <a:ext cx="1463040" cy="2880360"/>
          </a:xfrm>
          <a:prstGeom prst="rect">
            <a:avLst/>
          </a:prstGeom>
          <a:solidFill>
            <a:srgbClr val="1F4E79"/>
          </a:solidFill>
          <a:ln w="6350">
            <a:solidFill>
              <a:srgbClr val="1F4E79"/>
            </a:solidFill>
            <a:prstDash val="solid"/>
          </a:ln>
        </p:spPr>
      </p:sp>
      <p:sp>
        <p:nvSpPr>
          <p:cNvPr id="6" name="Text 4"/>
          <p:cNvSpPr txBox="1"/>
          <p:nvPr/>
        </p:nvSpPr>
        <p:spPr>
          <a:xfrm>
            <a:off x="2011680" y="205740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90%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8" name="Shape 6"/>
          <p:cNvSpPr/>
          <p:nvPr/>
        </p:nvSpPr>
        <p:spPr>
          <a:xfrm>
            <a:off x="5364328" y="4434840"/>
            <a:ext cx="1463040" cy="960120"/>
          </a:xfrm>
          <a:prstGeom prst="rect">
            <a:avLst/>
          </a:prstGeom>
          <a:solidFill>
            <a:srgbClr val="1F4E79"/>
          </a:solidFill>
          <a:ln w="6350">
            <a:solidFill>
              <a:srgbClr val="1F4E79"/>
            </a:solidFill>
            <a:prstDash val="solid"/>
          </a:ln>
        </p:spPr>
      </p:sp>
      <p:sp>
        <p:nvSpPr>
          <p:cNvPr id="9" name="Text 7"/>
          <p:cNvSpPr txBox="1"/>
          <p:nvPr/>
        </p:nvSpPr>
        <p:spPr>
          <a:xfrm>
            <a:off x="4734458" y="39776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30%</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11" name="Shape 9"/>
          <p:cNvSpPr/>
          <p:nvPr/>
        </p:nvSpPr>
        <p:spPr>
          <a:xfrm>
            <a:off x="8087106" y="5234940"/>
            <a:ext cx="1463040" cy="160020"/>
          </a:xfrm>
          <a:prstGeom prst="rect">
            <a:avLst/>
          </a:prstGeom>
          <a:solidFill>
            <a:srgbClr val="1F4E79"/>
          </a:solidFill>
          <a:ln w="6350">
            <a:solidFill>
              <a:srgbClr val="1F4E79"/>
            </a:solidFill>
            <a:prstDash val="solid"/>
          </a:ln>
        </p:spPr>
      </p:sp>
      <p:sp>
        <p:nvSpPr>
          <p:cNvPr id="12" name="Text 10"/>
          <p:cNvSpPr txBox="1"/>
          <p:nvPr/>
        </p:nvSpPr>
        <p:spPr>
          <a:xfrm>
            <a:off x="7457237" y="47777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Under 5%</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in the United States</a:t>
            </a:r>
            <a:endParaRPr lang="en-US" sz="30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731520" y="1554480"/>
          <a:ext cx="10728655" cy="914400"/>
        </p:xfrm>
        <a:graphic>
          <a:graphicData uri="http://schemas.openxmlformats.org/drawingml/2006/table">
            <a:tbl>
              <a:tblPr/>
              <a:tblGrid>
                <a:gridCol w="4242816"/>
                <a:gridCol w="3465576"/>
                <a:gridCol w="3017520"/>
              </a:tblGrid>
              <a:tr h="523037">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Estimate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People with chronic HBV</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Source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0975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NHANES 2013 to 2018</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880,000 (580,000 to 1.17 million)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Household survey</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0975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Meta-analysis including immigrants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1.89 million (1.49 to 2.4 million)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1.47 million are foreign-born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Not aware of the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About two-thirds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CDC 2023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Born outside the US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About 69%</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CDC 2023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Conners EE et al. MMWR Recomm Rep 2023;72(1):1-25. PMID 36893044.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published version</a:t>
            </a:r>
            <a:endParaRPr lang="en-US" sz="3000" dirty="0"/>
          </a:p>
        </p:txBody>
      </p:sp>
      <p:pic>
        <p:nvPicPr>
          <p:cNvPr id="3" name="Image 0" descr="GESA 2022 natural history figure">    </p:cNvPr>
          <p:cNvPicPr>
            <a:picLocks noChangeAspect="1"/>
          </p:cNvPicPr>
          <p:nvPr/>
        </p:nvPicPr>
        <p:blipFill>
          <a:blip r:embed="rId1"/>
          <a:stretch>
            <a:fillRect/>
          </a:stretch>
        </p:blipFill>
        <p:spPr>
          <a:xfrm>
            <a:off x="2815726" y="1188720"/>
            <a:ext cx="6530068" cy="507492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GESA Australian consensus recommendations for the management of hepatitis B infection, 2022, Figure 3.1 (as shown in the ASHM B Positive chapter).</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Monitor ALT and DNA every 3 to 6 months</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AASLD/IDSA 2025: over age 40 supports treatment</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2377440" y="1097280"/>
          <a:ext cx="7406640" cy="914400"/>
        </p:xfrm>
        <a:graphic>
          <a:graphicData uri="http://schemas.openxmlformats.org/drawingml/2006/table">
            <a:tbl>
              <a:tblPr/>
              <a:tblGrid>
                <a:gridCol w="3794760"/>
                <a:gridCol w="3611880"/>
              </a:tblGrid>
              <a:tr h="475488">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Test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Result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HBsAg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HBeAg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Negative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Anti-HBe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HBV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8,000 IU/mL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ALT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48 U/L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Platelets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190 x 10^9/L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FIB-4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Liver stiffness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6.8 kPa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2834640" y="1645920"/>
          <a:ext cx="6492240" cy="914400"/>
        </p:xfrm>
        <a:graphic>
          <a:graphicData uri="http://schemas.openxmlformats.org/drawingml/2006/table">
            <a:tbl>
              <a:tblPr/>
              <a:tblGrid>
                <a:gridCol w="2660904"/>
                <a:gridCol w="1755648"/>
                <a:gridCol w="2075688"/>
              </a:tblGrid>
              <a:tr h="777240">
                <a:tc>
                  <a:txBody>
                    <a:bodyPr/>
                    <a:lstStyle/>
                    <a:p>
                      <a:pPr algn="l" indent="0" marL="0">
                        <a:buNone/>
                      </a:pP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AASLD</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25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WHO 2024</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19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EASL 2025</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His ALT of 48 U/L is above all three limits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Observe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0233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expect?</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 y="3337560"/>
          <a:ext cx="603504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766560" y="3337560"/>
          <a:ext cx="4937760" cy="292608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3017520"/>
            <a:ext cx="603504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Cumulative HCC risk, %</a:t>
            </a:r>
            <a:endParaRPr lang="en-US" sz="1500" dirty="0"/>
          </a:p>
        </p:txBody>
      </p:sp>
      <p:sp>
        <p:nvSpPr>
          <p:cNvPr id="7" name="Text 2"/>
          <p:cNvSpPr txBox="1"/>
          <p:nvPr/>
        </p:nvSpPr>
        <p:spPr>
          <a:xfrm>
            <a:off x="6766560" y="3017520"/>
            <a:ext cx="493776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Histologic progression, %</a:t>
            </a:r>
            <a:endParaRPr lang="en-US" sz="15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Fibrosis staging by elastography</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8138160" cy="914400"/>
        </p:xfrm>
        <a:graphic>
          <a:graphicData uri="http://schemas.openxmlformats.org/drawingml/2006/table">
            <a:tbl>
              <a:tblPr/>
              <a:tblGrid>
                <a:gridCol w="2606040"/>
                <a:gridCol w="1645920"/>
                <a:gridCol w="3886200"/>
              </a:tblGrid>
              <a:tr h="8229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Significant fibrosis (F2)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7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7 kPa, or APRI above 0.5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Advanced fibrosis (F3)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8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(F4)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11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APRI above 2 in the 2015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transient elastography probe">    </p:cNvPr>
          <p:cNvPicPr>
            <a:picLocks noChangeAspect="1"/>
          </p:cNvPicPr>
          <p:nvPr/>
        </p:nvPicPr>
        <p:blipFill>
          <a:blip r:embed="rId1"/>
          <a:stretch>
            <a:fillRect/>
          </a:stretch>
        </p:blipFill>
        <p:spPr>
          <a:xfrm>
            <a:off x="9052560" y="1371600"/>
            <a:ext cx="2743200" cy="2743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2025 PMID 40348683; WHO 2024 chapter 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Treat everyone with high DNA and normal ALT?</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978408"/>
                <a:gridCol w="4764024"/>
                <a:gridCol w="4983480"/>
              </a:tblGrid>
              <a:tr h="82296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Kim, Gut 2018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Jeon, Clin Mol Hepatol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413 untreated immune-tolerant, 1,497 treated immune-active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Biomarker-defined immune tolerance, FIB-4 under 1.45 subgroup</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Result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10-year HCC 12.7% vs 6.1%; adjusted HR 2.54 (1.54 to 4.18)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HCC 0% at 1, 3 and 5 years vs 0.2, 0.6 and 1.4% in comparators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Limit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Different phases, selected treatment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Small low-risk sample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GA et al. Gut 2018;67:945-952, PMID 29055908. Jeon MY et al. Clin Mol Hepatol 2021;27:295-304, PMID 33317247.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indeterminate phase</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102352"/>
                <a:gridCol w="5623560"/>
              </a:tblGrid>
              <a:tr h="91440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Meta-analysis, 103 studies (Lai, J Hepatol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Significant fibrosis in 39.7%; HCC 0.32% a year; treatment IRR 0.38 (0.18 to 0.79)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ATTENTION interim, 734 patients (Lim,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Events 2 vs 9, HR 0.21, 97.5% CI 0.04 to 1.20; stopping boundary not crossed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et al. J Hepatol 2025;82:992-1003, PMID 39577468. Lim YS et al. Lancet Gastroenterol Hepatol 2025;10:295-305, PMID 39914435.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 kidney and bone effects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No adjustment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TAF, or entecavir with the dose adjusted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548640" y="4206240"/>
            <a:ext cx="1097280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differs?</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0" y="118872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0" y="914400"/>
            <a:ext cx="630936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Change in bone mineral density, %</a:t>
            </a:r>
            <a:endParaRPr lang="en-US" sz="1400" dirty="0"/>
          </a:p>
        </p:txBody>
      </p:sp>
      <p:sp>
        <p:nvSpPr>
          <p:cNvPr id="6" name="Text 2"/>
          <p:cNvSpPr txBox="1"/>
          <p:nvPr/>
        </p:nvSpPr>
        <p:spPr>
          <a:xfrm>
            <a:off x="548640" y="329184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Median eGFR change in the HBeAg-negative trial: -1.8 (TAF) vs -4.8 mL/min (TDF)</a:t>
            </a:r>
            <a:endParaRPr lang="en-US" sz="17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Entecavir or tenofovir for HCC?</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895344"/>
                <a:gridCol w="3355848"/>
                <a:gridCol w="3474720"/>
              </a:tblGrid>
              <a:tr h="8229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HCC, tenofovir vs entecavir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Lee 2020, propensity analysis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3,022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HR 1.03 (0.70 to 1.51)</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Choi 2023, individual patient meta-analysis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42,939 in 11 studies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Adjusted HR 0.77 (0.61 to 0.98)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Yoo 2025, TAF vs TDF, Korea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17,537 in each matched group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12.38 vs 15.39 per 1,000 person-years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SW 2020 (PMID in dossier ref 31); Choi J et al. 2023 (dossier ref 32); Yoo 2025 (dossier ref 28).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29/57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Pegylated interferon</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977640"/>
                <a:gridCol w="2478024"/>
                <a:gridCol w="4270248"/>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Strategy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Trial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Switch from entecavir, HBeAg-positive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OSST, 200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8.5% vs 0% at week 48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1117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Add to TDF for 48 weeks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Marcellin, 740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9.1% (48 weeks), 2.8% (16 weeks), 0% (TDF alone), 2.8% (PegIFN alone) at week 72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Ning Q et al. 2014 (dossier ref 34); Marcellin P et al. 2016 (dossier ref 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Monitoring</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648456"/>
                <a:gridCol w="7077456"/>
              </a:tblGrid>
              <a:tr h="77724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Setting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Schedule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 a nucleos(t)ide analogue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DNA every 3 months until undetectable, then every 3 to 6 months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 TDF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 phosphate, urine glucose and protein at baseline and at least yearly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Untreated, HBeAg-negative infection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ALT every 3 months in year 1, then every 6 to 12 months; HBsAg yearly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HCC surveillance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Ultrasound plus AFP every 6 months when eligible, also with suppressed 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EASL 2025, PMID 40348683.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31/57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47472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4297680"/>
            <a:ext cx="4754880" cy="1280160"/>
          </a:xfrm>
          <a:prstGeom prst="rect">
            <a:avLst/>
          </a:prstGeom>
          <a:noFill/>
          <a:ln/>
        </p:spPr>
        <p:txBody>
          <a:bodyPr wrap="square" lIns="50800" tIns="50800" rIns="50800" bIns="50800" rtlCol="0" anchor="t"/>
          <a:lstStyle/>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High risk: 18 or more</a:t>
            </a:r>
            <a:endParaRPr lang="en-US" sz="2100" dirty="0"/>
          </a:p>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5-year HCC about 16 to 17%</a:t>
            </a:r>
            <a:endParaRPr lang="en-US" sz="21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Calculate it yourself</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380744"/>
                <a:gridCol w="2615184"/>
                <a:gridCol w="2587752"/>
              </a:tblGrid>
              <a:tr h="68580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PAGE-B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derivation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validation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9 or less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10 to 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18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QR code to the HBV HCC risk calculator">    </p:cNvPr>
          <p:cNvPicPr>
            <a:picLocks noChangeAspect="1"/>
          </p:cNvPicPr>
          <p:nvPr/>
        </p:nvPicPr>
        <p:blipFill>
          <a:blip r:embed="rId1"/>
          <a:stretch>
            <a:fillRect/>
          </a:stretch>
        </p:blipFill>
        <p:spPr>
          <a:xfrm>
            <a:off x="8412480" y="1371600"/>
            <a:ext cx="2743200" cy="2743200"/>
          </a:xfrm>
          <a:prstGeom prst="rect">
            <a:avLst/>
          </a:prstGeom>
        </p:spPr>
      </p:pic>
      <p:sp>
        <p:nvSpPr>
          <p:cNvPr id="5" name="Text 1"/>
          <p:cNvSpPr txBox="1"/>
          <p:nvPr/>
        </p:nvSpPr>
        <p:spPr>
          <a:xfrm>
            <a:off x="7498080" y="4160520"/>
            <a:ext cx="4572000" cy="365760"/>
          </a:xfrm>
          <a:prstGeom prst="rect">
            <a:avLst/>
          </a:prstGeom>
          <a:noFill/>
          <a:ln/>
        </p:spPr>
        <p:txBody>
          <a:bodyPr wrap="square" lIns="0" tIns="0" rIns="0" bIns="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qaddodi.github.io/chb-hcc-risk</a:t>
            </a:r>
            <a:endParaRPr lang="en-US" sz="1700" dirty="0"/>
          </a:p>
        </p:txBody>
      </p:sp>
      <p:sp>
        <p:nvSpPr>
          <p:cNvPr id="6" name="Body"/>
          <p:cNvSpPr txBox="1"/>
          <p:nvPr/>
        </p:nvSpPr>
        <p:spPr>
          <a:xfrm>
            <a:off x="548640" y="4114800"/>
            <a:ext cx="6675120" cy="201168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PAGE-B was built in treated patients; REACH-B was built in untreated patients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The HBsAg-based model on the site is a 2026 research model, not validated</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Papatheodoridis GV et al. J Hepatol 2016. VA validation: Kim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1097280" y="1737360"/>
          <a:ext cx="9997135" cy="914400"/>
        </p:xfrm>
        <a:graphic>
          <a:graphicData uri="http://schemas.openxmlformats.org/drawingml/2006/table">
            <a:tbl>
              <a:tblPr/>
              <a:tblGrid>
                <a:gridCol w="7918704"/>
                <a:gridCol w="2075688"/>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1097280" y="1737360"/>
          <a:ext cx="9997135" cy="914400"/>
        </p:xfrm>
        <a:graphic>
          <a:graphicData uri="http://schemas.openxmlformats.org/drawingml/2006/table">
            <a:tbl>
              <a:tblPr/>
              <a:tblGrid>
                <a:gridCol w="7918704"/>
                <a:gridCol w="2075688"/>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HCC score for which patient</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170432"/>
                <a:gridCol w="4279392"/>
                <a:gridCol w="5276088"/>
              </a:tblGrid>
              <a:tr h="7315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Built 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Variables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1,815 treated White Europeans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mPAGE-B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3,001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 albumin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REACH-B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3,584 untreated Taiwanese, noncirrhotic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ALT, HBeAg,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aMAP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17,374, mostly treated Asian HBV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albumin-bilirubin,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REAL-B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8,048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alcohol, diabetes, cirrhosis, platelets, AFP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Papatheodoridis 2016; Kim 2018; Yang 2011; Fan 2020; Yang 2020; Kim 2022 (dossier refs 38-42, 46).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qHBsAg refine HCC risk?</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657600"/>
                <a:gridCol w="7068312"/>
              </a:tblGrid>
              <a:tr h="10058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Tseng, Gastroenterology 2012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2,688 noncirrhotic Taiwanese, 191 HCC, mean 14.7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with DNA under 2,000: HBsAg 1,000 or more vs under 1,000 gave adjusted HR 13.7 (4.8 to 39.3)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Whole cohort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was the stronger predictor; HBsAg alone did not add independently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Tseng TC et al. Gastroenterology 2012 (dossier ref 48).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Integration of HBV DNA</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242816"/>
                <a:gridCol w="6483096"/>
              </a:tblGrid>
              <a:tr h="10972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972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Mason 2016, 26 patients aged 14 to 39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Integration and clonal hepatocyte expansion found in immune-tolerant patients as well, before ALT rises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Grudda 2022, 16 HIV/HBV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Integrated DNA keeps producing HBsAg despite antiviral therapy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Mason WS et al. Gastroenterology 2016 (dossier ref 50); Grudda T et al. 2022 (ref 51).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sp>
        <p:nvSpPr>
          <p:cNvPr id="4" name="Shape 2"/>
          <p:cNvSpPr/>
          <p:nvPr/>
        </p:nvSpPr>
        <p:spPr>
          <a:xfrm>
            <a:off x="3291840" y="2011680"/>
            <a:ext cx="0" cy="1737360"/>
          </a:xfrm>
          <a:prstGeom prst="line">
            <a:avLst/>
          </a:prstGeom>
          <a:noFill/>
          <a:ln w="9525">
            <a:solidFill>
              <a:srgbClr val="D9D9D9"/>
            </a:solidFill>
            <a:prstDash val="solid"/>
          </a:ln>
        </p:spPr>
      </p:sp>
      <p:sp>
        <p:nvSpPr>
          <p:cNvPr id="5" name="Text 3"/>
          <p:cNvSpPr txBox="1"/>
          <p:nvPr/>
        </p:nvSpPr>
        <p:spPr>
          <a:xfrm>
            <a:off x="1899971"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6" name="Shape 4"/>
          <p:cNvSpPr/>
          <p:nvPr/>
        </p:nvSpPr>
        <p:spPr>
          <a:xfrm>
            <a:off x="6075578" y="2011680"/>
            <a:ext cx="0" cy="1737360"/>
          </a:xfrm>
          <a:prstGeom prst="line">
            <a:avLst/>
          </a:prstGeom>
          <a:noFill/>
          <a:ln w="9525">
            <a:solidFill>
              <a:srgbClr val="D9D9D9"/>
            </a:solidFill>
            <a:prstDash val="solid"/>
          </a:ln>
        </p:spPr>
      </p:sp>
      <p:sp>
        <p:nvSpPr>
          <p:cNvPr id="7" name="Text 5"/>
          <p:cNvSpPr txBox="1"/>
          <p:nvPr/>
        </p:nvSpPr>
        <p:spPr>
          <a:xfrm>
            <a:off x="4683709"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8" name="Shape 6"/>
          <p:cNvSpPr/>
          <p:nvPr/>
        </p:nvSpPr>
        <p:spPr>
          <a:xfrm>
            <a:off x="8859317" y="2011680"/>
            <a:ext cx="0" cy="1737360"/>
          </a:xfrm>
          <a:prstGeom prst="line">
            <a:avLst/>
          </a:prstGeom>
          <a:noFill/>
          <a:ln w="9525">
            <a:solidFill>
              <a:srgbClr val="D9D9D9"/>
            </a:solidFill>
            <a:prstDash val="solid"/>
          </a:ln>
        </p:spPr>
      </p:sp>
      <p:sp>
        <p:nvSpPr>
          <p:cNvPr id="9" name="Text 7"/>
          <p:cNvSpPr txBox="1"/>
          <p:nvPr/>
        </p:nvSpPr>
        <p:spPr>
          <a:xfrm>
            <a:off x="7467448"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0" name="Shape 8"/>
          <p:cNvSpPr/>
          <p:nvPr/>
        </p:nvSpPr>
        <p:spPr>
          <a:xfrm>
            <a:off x="11643055" y="2011680"/>
            <a:ext cx="0" cy="1737360"/>
          </a:xfrm>
          <a:prstGeom prst="line">
            <a:avLst/>
          </a:prstGeom>
          <a:noFill/>
          <a:ln w="9525">
            <a:solidFill>
              <a:srgbClr val="D9D9D9"/>
            </a:solidFill>
            <a:prstDash val="solid"/>
          </a:ln>
        </p:spPr>
      </p:sp>
      <p:sp>
        <p:nvSpPr>
          <p:cNvPr id="11" name="Text 9"/>
          <p:cNvSpPr txBox="1"/>
          <p:nvPr/>
        </p:nvSpPr>
        <p:spPr>
          <a:xfrm>
            <a:off x="10251186"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2" name="Text 10"/>
          <p:cNvSpPr txBox="1"/>
          <p:nvPr/>
        </p:nvSpPr>
        <p:spPr>
          <a:xfrm>
            <a:off x="548640" y="208483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3" name="Shape 11"/>
          <p:cNvSpPr/>
          <p:nvPr/>
        </p:nvSpPr>
        <p:spPr>
          <a:xfrm>
            <a:off x="3291840" y="2084832"/>
            <a:ext cx="2644551" cy="676656"/>
          </a:xfrm>
          <a:prstGeom prst="rect">
            <a:avLst/>
          </a:prstGeom>
          <a:solidFill>
            <a:srgbClr val="9DB4CA"/>
          </a:solidFill>
          <a:ln w="6350">
            <a:solidFill>
              <a:srgbClr val="9DB4CA"/>
            </a:solidFill>
            <a:prstDash val="solid"/>
          </a:ln>
        </p:spPr>
      </p:sp>
      <p:sp>
        <p:nvSpPr>
          <p:cNvPr id="14" name="Text 12"/>
          <p:cNvSpPr txBox="1"/>
          <p:nvPr/>
        </p:nvSpPr>
        <p:spPr>
          <a:xfrm>
            <a:off x="548640" y="290779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1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sp>
        <p:nvSpPr>
          <p:cNvPr id="4" name="Shape 2"/>
          <p:cNvSpPr/>
          <p:nvPr/>
        </p:nvSpPr>
        <p:spPr>
          <a:xfrm>
            <a:off x="3291840" y="2011680"/>
            <a:ext cx="0" cy="1737360"/>
          </a:xfrm>
          <a:prstGeom prst="line">
            <a:avLst/>
          </a:prstGeom>
          <a:noFill/>
          <a:ln w="9525">
            <a:solidFill>
              <a:srgbClr val="D9D9D9"/>
            </a:solidFill>
            <a:prstDash val="solid"/>
          </a:ln>
        </p:spPr>
      </p:sp>
      <p:sp>
        <p:nvSpPr>
          <p:cNvPr id="5" name="Text 3"/>
          <p:cNvSpPr txBox="1"/>
          <p:nvPr/>
        </p:nvSpPr>
        <p:spPr>
          <a:xfrm>
            <a:off x="1899971"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6" name="Shape 4"/>
          <p:cNvSpPr/>
          <p:nvPr/>
        </p:nvSpPr>
        <p:spPr>
          <a:xfrm>
            <a:off x="6075578" y="2011680"/>
            <a:ext cx="0" cy="1737360"/>
          </a:xfrm>
          <a:prstGeom prst="line">
            <a:avLst/>
          </a:prstGeom>
          <a:noFill/>
          <a:ln w="9525">
            <a:solidFill>
              <a:srgbClr val="D9D9D9"/>
            </a:solidFill>
            <a:prstDash val="solid"/>
          </a:ln>
        </p:spPr>
      </p:sp>
      <p:sp>
        <p:nvSpPr>
          <p:cNvPr id="7" name="Text 5"/>
          <p:cNvSpPr txBox="1"/>
          <p:nvPr/>
        </p:nvSpPr>
        <p:spPr>
          <a:xfrm>
            <a:off x="4683709"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8" name="Shape 6"/>
          <p:cNvSpPr/>
          <p:nvPr/>
        </p:nvSpPr>
        <p:spPr>
          <a:xfrm>
            <a:off x="8859317" y="2011680"/>
            <a:ext cx="0" cy="1737360"/>
          </a:xfrm>
          <a:prstGeom prst="line">
            <a:avLst/>
          </a:prstGeom>
          <a:noFill/>
          <a:ln w="9525">
            <a:solidFill>
              <a:srgbClr val="D9D9D9"/>
            </a:solidFill>
            <a:prstDash val="solid"/>
          </a:ln>
        </p:spPr>
      </p:sp>
      <p:sp>
        <p:nvSpPr>
          <p:cNvPr id="9" name="Text 7"/>
          <p:cNvSpPr txBox="1"/>
          <p:nvPr/>
        </p:nvSpPr>
        <p:spPr>
          <a:xfrm>
            <a:off x="7467448"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0" name="Shape 8"/>
          <p:cNvSpPr/>
          <p:nvPr/>
        </p:nvSpPr>
        <p:spPr>
          <a:xfrm>
            <a:off x="11643055" y="2011680"/>
            <a:ext cx="0" cy="1737360"/>
          </a:xfrm>
          <a:prstGeom prst="line">
            <a:avLst/>
          </a:prstGeom>
          <a:noFill/>
          <a:ln w="9525">
            <a:solidFill>
              <a:srgbClr val="D9D9D9"/>
            </a:solidFill>
            <a:prstDash val="solid"/>
          </a:ln>
        </p:spPr>
      </p:sp>
      <p:sp>
        <p:nvSpPr>
          <p:cNvPr id="11" name="Text 9"/>
          <p:cNvSpPr txBox="1"/>
          <p:nvPr/>
        </p:nvSpPr>
        <p:spPr>
          <a:xfrm>
            <a:off x="10251186"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2" name="Text 10"/>
          <p:cNvSpPr txBox="1"/>
          <p:nvPr/>
        </p:nvSpPr>
        <p:spPr>
          <a:xfrm>
            <a:off x="548640" y="208483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3" name="Shape 11"/>
          <p:cNvSpPr/>
          <p:nvPr/>
        </p:nvSpPr>
        <p:spPr>
          <a:xfrm>
            <a:off x="3291840" y="2084832"/>
            <a:ext cx="2644551" cy="676656"/>
          </a:xfrm>
          <a:prstGeom prst="rect">
            <a:avLst/>
          </a:prstGeom>
          <a:solidFill>
            <a:srgbClr val="9DB4CA"/>
          </a:solidFill>
          <a:ln w="6350">
            <a:solidFill>
              <a:srgbClr val="9DB4CA"/>
            </a:solidFill>
            <a:prstDash val="solid"/>
          </a:ln>
        </p:spPr>
      </p:sp>
      <p:sp>
        <p:nvSpPr>
          <p:cNvPr id="14" name="Text 12"/>
          <p:cNvSpPr txBox="1"/>
          <p:nvPr/>
        </p:nvSpPr>
        <p:spPr>
          <a:xfrm>
            <a:off x="548640" y="290779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5" name="Shape 13"/>
          <p:cNvSpPr/>
          <p:nvPr/>
        </p:nvSpPr>
        <p:spPr>
          <a:xfrm>
            <a:off x="3291840" y="2907792"/>
            <a:ext cx="8351215" cy="676656"/>
          </a:xfrm>
          <a:prstGeom prst="rect">
            <a:avLst/>
          </a:prstGeom>
          <a:solidFill>
            <a:srgbClr val="1F4E79"/>
          </a:solidFill>
          <a:ln w="6350">
            <a:solidFill>
              <a:srgbClr val="1F4E79"/>
            </a:solidFill>
            <a:prstDash val="solid"/>
          </a:ln>
        </p:spPr>
      </p:sp>
      <p:sp>
        <p:nvSpPr>
          <p:cNvPr id="16" name="Text 14"/>
          <p:cNvSpPr txBox="1"/>
          <p:nvPr/>
        </p:nvSpPr>
        <p:spPr>
          <a:xfrm>
            <a:off x="3291840" y="2907792"/>
            <a:ext cx="8351215"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17"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Start before the first dose. If you only monitor: DNA and ALT every 1 to 3 months</a:t>
            </a:r>
            <a:endParaRPr lang="en-US" sz="2000" dirty="0"/>
          </a:p>
        </p:txBody>
      </p:sp>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39/57</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Prophylaxis: the guidelines compared</a:t>
            </a:r>
            <a:endParaRPr lang="en-US" sz="3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2697480"/>
                <a:gridCol w="2249424"/>
                <a:gridCol w="1892808"/>
                <a:gridCol w="2615184"/>
                <a:gridCol w="1271016"/>
              </a:tblGrid>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AGA 2025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AASLD 2018</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EASL 2025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ASCO 2020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Anti-CD20, anti-HBc positive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Prophylaxis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Prophylaxis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Prophylaxis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Prophylaxis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Drug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High barrier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ETV, TDF or TAF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ETV, TDF or TAF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High barrier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After the last dose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 months, 12 for B-cell depletion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 months, 12 for anti-CD20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 to 12 months, 18 for B-cell depletion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12 months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If monitoring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DNA, ALT every 1 to 3 months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DNA every 1 to 3 months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Every 3 months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By regimen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PMID 39863345; AASLD PMID 29405329; EASL PMID 40348683; ASCO 2020 PMID 32716741; ACR 2021 PMID 34101387.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40/57</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2093976"/>
                <a:gridCol w="2093976"/>
                <a:gridCol w="3986784"/>
                <a:gridCol w="1819656"/>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22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do for her and for the baby?</a:t>
            </a:r>
            <a:endParaRPr lang="en-US" sz="2600" dirty="0"/>
          </a:p>
        </p:txBody>
      </p:sp>
      <p:pic>
        <p:nvPicPr>
          <p:cNvPr id="5" name="Image 0" descr="Watercolor of a seated pregnant woman in profile">    </p:cNvPr>
          <p:cNvPicPr>
            <a:picLocks noChangeAspect="1"/>
          </p:cNvPicPr>
          <p:nvPr/>
        </p:nvPicPr>
        <p:blipFill>
          <a:blip r:embed="rId1"/>
          <a:stretch>
            <a:fillRect/>
          </a:stretch>
        </p:blipFill>
        <p:spPr>
          <a:xfrm>
            <a:off x="8778240" y="3383280"/>
            <a:ext cx="2926080" cy="29260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41/57</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2093976"/>
                <a:gridCol w="2093976"/>
                <a:gridCol w="3986784"/>
                <a:gridCol w="1819656"/>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22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do for her and for the baby?</a:t>
            </a:r>
            <a:endParaRPr lang="en-US" sz="2600" dirty="0"/>
          </a:p>
        </p:txBody>
      </p:sp>
      <p:pic>
        <p:nvPicPr>
          <p:cNvPr id="5" name="Image 0" descr="Watercolor of a seated pregnant woman in profile">    </p:cNvPr>
          <p:cNvPicPr>
            <a:picLocks noChangeAspect="1"/>
          </p:cNvPicPr>
          <p:nvPr/>
        </p:nvPicPr>
        <p:blipFill>
          <a:blip r:embed="rId1"/>
          <a:stretch>
            <a:fillRect/>
          </a:stretch>
        </p:blipFill>
        <p:spPr>
          <a:xfrm>
            <a:off x="8778240" y="3383280"/>
            <a:ext cx="2926080" cy="2926080"/>
          </a:xfrm>
          <a:prstGeom prst="rect">
            <a:avLst/>
          </a:prstGeom>
        </p:spPr>
      </p:pic>
      <p:sp>
        <p:nvSpPr>
          <p:cNvPr id="6" name="Body"/>
          <p:cNvSpPr txBox="1"/>
          <p:nvPr/>
        </p:nvSpPr>
        <p:spPr>
          <a:xfrm>
            <a:off x="1097280" y="3566160"/>
            <a:ext cx="7498080" cy="21945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41/57</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Her pregnancy and the baby's first year</a:t>
            </a:r>
            <a:endParaRPr lang="en-US" sz="3000" dirty="0"/>
          </a:p>
        </p:txBody>
      </p:sp>
      <p:sp>
        <p:nvSpPr>
          <p:cNvPr id="3" name="Shape 1"/>
          <p:cNvSpPr/>
          <p:nvPr/>
        </p:nvSpPr>
        <p:spPr>
          <a:xfrm>
            <a:off x="4023360" y="1463040"/>
            <a:ext cx="0" cy="3200400"/>
          </a:xfrm>
          <a:prstGeom prst="line">
            <a:avLst/>
          </a:prstGeom>
          <a:noFill/>
          <a:ln w="9525">
            <a:solidFill>
              <a:srgbClr val="D9D9D9"/>
            </a:solidFill>
            <a:prstDash val="solid"/>
          </a:ln>
        </p:spPr>
      </p:sp>
      <p:sp>
        <p:nvSpPr>
          <p:cNvPr id="4" name="Text 2"/>
          <p:cNvSpPr txBox="1"/>
          <p:nvPr/>
        </p:nvSpPr>
        <p:spPr>
          <a:xfrm>
            <a:off x="3070898"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20</a:t>
            </a:r>
            <a:endParaRPr lang="en-US" sz="1600" dirty="0"/>
          </a:p>
        </p:txBody>
      </p:sp>
      <p:sp>
        <p:nvSpPr>
          <p:cNvPr id="5" name="Shape 3"/>
          <p:cNvSpPr/>
          <p:nvPr/>
        </p:nvSpPr>
        <p:spPr>
          <a:xfrm>
            <a:off x="5928284" y="1463040"/>
            <a:ext cx="0" cy="3200400"/>
          </a:xfrm>
          <a:prstGeom prst="line">
            <a:avLst/>
          </a:prstGeom>
          <a:noFill/>
          <a:ln w="9525">
            <a:solidFill>
              <a:srgbClr val="D9D9D9"/>
            </a:solidFill>
            <a:prstDash val="solid"/>
          </a:ln>
        </p:spPr>
      </p:sp>
      <p:sp>
        <p:nvSpPr>
          <p:cNvPr id="6" name="Text 4"/>
          <p:cNvSpPr txBox="1"/>
          <p:nvPr/>
        </p:nvSpPr>
        <p:spPr>
          <a:xfrm>
            <a:off x="4975822"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28</a:t>
            </a:r>
            <a:endParaRPr lang="en-US" sz="1600" dirty="0"/>
          </a:p>
        </p:txBody>
      </p:sp>
      <p:sp>
        <p:nvSpPr>
          <p:cNvPr id="7" name="Shape 5"/>
          <p:cNvSpPr/>
          <p:nvPr/>
        </p:nvSpPr>
        <p:spPr>
          <a:xfrm>
            <a:off x="7833208" y="1463040"/>
            <a:ext cx="0" cy="3200400"/>
          </a:xfrm>
          <a:prstGeom prst="line">
            <a:avLst/>
          </a:prstGeom>
          <a:noFill/>
          <a:ln w="9525">
            <a:solidFill>
              <a:srgbClr val="D9D9D9"/>
            </a:solidFill>
            <a:prstDash val="solid"/>
          </a:ln>
        </p:spPr>
      </p:sp>
      <p:sp>
        <p:nvSpPr>
          <p:cNvPr id="8" name="Text 6"/>
          <p:cNvSpPr txBox="1"/>
          <p:nvPr/>
        </p:nvSpPr>
        <p:spPr>
          <a:xfrm>
            <a:off x="6880746"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Delivery</a:t>
            </a:r>
            <a:endParaRPr lang="en-US" sz="1600" dirty="0"/>
          </a:p>
        </p:txBody>
      </p:sp>
      <p:sp>
        <p:nvSpPr>
          <p:cNvPr id="9" name="Shape 7"/>
          <p:cNvSpPr/>
          <p:nvPr/>
        </p:nvSpPr>
        <p:spPr>
          <a:xfrm>
            <a:off x="9738131" y="1463040"/>
            <a:ext cx="0" cy="3200400"/>
          </a:xfrm>
          <a:prstGeom prst="line">
            <a:avLst/>
          </a:prstGeom>
          <a:noFill/>
          <a:ln w="9525">
            <a:solidFill>
              <a:srgbClr val="D9D9D9"/>
            </a:solidFill>
            <a:prstDash val="solid"/>
          </a:ln>
        </p:spPr>
      </p:sp>
      <p:sp>
        <p:nvSpPr>
          <p:cNvPr id="10" name="Text 8"/>
          <p:cNvSpPr txBox="1"/>
          <p:nvPr/>
        </p:nvSpPr>
        <p:spPr>
          <a:xfrm>
            <a:off x="8785670"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11" name="Shape 9"/>
          <p:cNvSpPr/>
          <p:nvPr/>
        </p:nvSpPr>
        <p:spPr>
          <a:xfrm>
            <a:off x="11643055" y="1463040"/>
            <a:ext cx="0" cy="3200400"/>
          </a:xfrm>
          <a:prstGeom prst="line">
            <a:avLst/>
          </a:prstGeom>
          <a:noFill/>
          <a:ln w="9525">
            <a:solidFill>
              <a:srgbClr val="D9D9D9"/>
            </a:solidFill>
            <a:prstDash val="solid"/>
          </a:ln>
        </p:spPr>
      </p:sp>
      <p:sp>
        <p:nvSpPr>
          <p:cNvPr id="12" name="Text 10"/>
          <p:cNvSpPr txBox="1"/>
          <p:nvPr/>
        </p:nvSpPr>
        <p:spPr>
          <a:xfrm>
            <a:off x="10690593"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3" name="Text 11"/>
          <p:cNvSpPr txBox="1"/>
          <p:nvPr/>
        </p:nvSpPr>
        <p:spPr>
          <a:xfrm>
            <a:off x="548640" y="153619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TDF or TAF</a:t>
            </a:r>
            <a:endParaRPr lang="en-US" sz="1600" dirty="0"/>
          </a:p>
        </p:txBody>
      </p:sp>
      <p:sp>
        <p:nvSpPr>
          <p:cNvPr id="14" name="Shape 12"/>
          <p:cNvSpPr/>
          <p:nvPr/>
        </p:nvSpPr>
        <p:spPr>
          <a:xfrm>
            <a:off x="5928284" y="1536192"/>
            <a:ext cx="1904924" cy="630936"/>
          </a:xfrm>
          <a:prstGeom prst="rect">
            <a:avLst/>
          </a:prstGeom>
          <a:solidFill>
            <a:srgbClr val="1F4E79"/>
          </a:solidFill>
          <a:ln w="6350">
            <a:solidFill>
              <a:srgbClr val="1F4E79"/>
            </a:solidFill>
            <a:prstDash val="solid"/>
          </a:ln>
        </p:spPr>
      </p:sp>
      <p:sp>
        <p:nvSpPr>
          <p:cNvPr id="15" name="Text 13"/>
          <p:cNvSpPr txBox="1"/>
          <p:nvPr/>
        </p:nvSpPr>
        <p:spPr>
          <a:xfrm>
            <a:off x="5928284" y="153619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Stop at delivery is allowed</a:t>
            </a:r>
            <a:endParaRPr lang="en-US" sz="1500" dirty="0"/>
          </a:p>
        </p:txBody>
      </p:sp>
      <p:sp>
        <p:nvSpPr>
          <p:cNvPr id="16" name="Text 14"/>
          <p:cNvSpPr txBox="1"/>
          <p:nvPr/>
        </p:nvSpPr>
        <p:spPr>
          <a:xfrm>
            <a:off x="548640" y="231343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DNA and ALT</a:t>
            </a:r>
            <a:endParaRPr lang="en-US" sz="1600" dirty="0"/>
          </a:p>
        </p:txBody>
      </p:sp>
      <p:sp>
        <p:nvSpPr>
          <p:cNvPr id="17" name="Shape 15"/>
          <p:cNvSpPr/>
          <p:nvPr/>
        </p:nvSpPr>
        <p:spPr>
          <a:xfrm>
            <a:off x="7833208" y="2313432"/>
            <a:ext cx="1904924" cy="630936"/>
          </a:xfrm>
          <a:prstGeom prst="rect">
            <a:avLst/>
          </a:prstGeom>
          <a:solidFill>
            <a:srgbClr val="2E7D8C"/>
          </a:solidFill>
          <a:ln w="6350">
            <a:solidFill>
              <a:srgbClr val="2E7D8C"/>
            </a:solidFill>
            <a:prstDash val="solid"/>
          </a:ln>
        </p:spPr>
      </p:sp>
      <p:sp>
        <p:nvSpPr>
          <p:cNvPr id="18" name="Text 16"/>
          <p:cNvSpPr txBox="1"/>
          <p:nvPr/>
        </p:nvSpPr>
        <p:spPr>
          <a:xfrm>
            <a:off x="7833208" y="231343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Every 1 to 3 months</a:t>
            </a:r>
            <a:endParaRPr lang="en-US" sz="1500" dirty="0"/>
          </a:p>
        </p:txBody>
      </p:sp>
      <p:sp>
        <p:nvSpPr>
          <p:cNvPr id="19" name="Text 17"/>
          <p:cNvSpPr txBox="1"/>
          <p:nvPr/>
        </p:nvSpPr>
        <p:spPr>
          <a:xfrm>
            <a:off x="548640" y="309067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vaccine and HBIG</a:t>
            </a:r>
            <a:endParaRPr lang="en-US" sz="1600" dirty="0"/>
          </a:p>
        </p:txBody>
      </p:sp>
      <p:sp>
        <p:nvSpPr>
          <p:cNvPr id="20" name="Shape 18"/>
          <p:cNvSpPr/>
          <p:nvPr/>
        </p:nvSpPr>
        <p:spPr>
          <a:xfrm>
            <a:off x="7833208" y="3090672"/>
            <a:ext cx="228591" cy="630936"/>
          </a:xfrm>
          <a:prstGeom prst="rect">
            <a:avLst/>
          </a:prstGeom>
          <a:solidFill>
            <a:srgbClr val="C08A3E"/>
          </a:solidFill>
          <a:ln w="6350">
            <a:solidFill>
              <a:srgbClr val="C08A3E"/>
            </a:solidFill>
            <a:prstDash val="solid"/>
          </a:ln>
        </p:spPr>
      </p:sp>
      <p:sp>
        <p:nvSpPr>
          <p:cNvPr id="21" name="Text 19"/>
          <p:cNvSpPr txBox="1"/>
          <p:nvPr/>
        </p:nvSpPr>
        <p:spPr>
          <a:xfrm>
            <a:off x="7833208" y="3090672"/>
            <a:ext cx="2011680" cy="630936"/>
          </a:xfrm>
          <a:prstGeom prst="rect">
            <a:avLst/>
          </a:prstGeom>
          <a:noFill/>
          <a:ln/>
        </p:spPr>
        <p:txBody>
          <a:bodyPr wrap="square" lIns="0" tIns="4191"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Within 12 hours</a:t>
            </a:r>
            <a:endParaRPr lang="en-US" sz="1500" dirty="0"/>
          </a:p>
        </p:txBody>
      </p:sp>
      <p:sp>
        <p:nvSpPr>
          <p:cNvPr id="22" name="Text 20"/>
          <p:cNvSpPr txBox="1"/>
          <p:nvPr/>
        </p:nvSpPr>
        <p:spPr>
          <a:xfrm>
            <a:off x="548640" y="386791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HBsAg and anti-HBs</a:t>
            </a:r>
            <a:endParaRPr lang="en-US" sz="1600" dirty="0"/>
          </a:p>
        </p:txBody>
      </p:sp>
      <p:sp>
        <p:nvSpPr>
          <p:cNvPr id="23" name="Shape 21"/>
          <p:cNvSpPr/>
          <p:nvPr/>
        </p:nvSpPr>
        <p:spPr>
          <a:xfrm>
            <a:off x="10690593" y="3867912"/>
            <a:ext cx="952462" cy="630936"/>
          </a:xfrm>
          <a:prstGeom prst="rect">
            <a:avLst/>
          </a:prstGeom>
          <a:solidFill>
            <a:srgbClr val="9DB4CA"/>
          </a:solidFill>
          <a:ln w="6350">
            <a:solidFill>
              <a:srgbClr val="9DB4CA"/>
            </a:solidFill>
            <a:prstDash val="solid"/>
          </a:ln>
        </p:spPr>
      </p:sp>
      <p:sp>
        <p:nvSpPr>
          <p:cNvPr id="24" name="Text 22"/>
          <p:cNvSpPr txBox="1"/>
          <p:nvPr/>
        </p:nvSpPr>
        <p:spPr>
          <a:xfrm>
            <a:off x="10690593" y="3867912"/>
            <a:ext cx="2011680" cy="630936"/>
          </a:xfrm>
          <a:prstGeom prst="rect">
            <a:avLst/>
          </a:prstGeom>
          <a:noFill/>
          <a:ln/>
        </p:spPr>
        <p:txBody>
          <a:bodyPr wrap="square" lIns="0" tIns="14245"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Month 9 to 12</a:t>
            </a:r>
            <a:endParaRPr lang="en-US" sz="15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perinatal hepatitis B overview, 2025.</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42/57</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Tenofovir in pregnancy: the trials</a:t>
            </a:r>
            <a:endParaRPr lang="en-US" sz="3000" dirty="0"/>
          </a:p>
        </p:txBody>
      </p:sp>
      <p:graphicFrame>
        <p:nvGraphicFramePr>
          <p:cNvPr id="3" name="Chart 0" descr=""/>
          <p:cNvGraphicFramePr/>
          <p:nvPr/>
        </p:nvGraphicFramePr>
        <p:xfrm>
          <a:off x="548640" y="1188720"/>
          <a:ext cx="603504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6949440" y="1828800"/>
          <a:ext cx="4754880" cy="914400"/>
        </p:xfrm>
        <a:graphic>
          <a:graphicData uri="http://schemas.openxmlformats.org/drawingml/2006/table">
            <a:tbl>
              <a:tblPr/>
              <a:tblGrid>
                <a:gridCol w="2203704"/>
                <a:gridCol w="1280160"/>
                <a:gridCol w="1271016"/>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Jourdain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Placebo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40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Infected infants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949440" y="402336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Infant HBIG and vaccine were given about an hour after birth in Thailand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Pan CQ et al. NEJM 2016 (PMID in dossier ref 52). Jourdain G et al. NEJM 2018 (ref 53).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Coinfection with HIV or HCV</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416552"/>
                <a:gridCol w="6309360"/>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Coinfection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to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ART must include TDF or TAF plus emtricitabine or lamivudine. Entecavir alone is not HIV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every 4 to 8 weeks during direct-acting antivirals and for 3 months 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negative and anti-HBc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Much lower risk. Check DNA and HBsAg if the ALT rises unexpectedly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44/57</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D: who to test</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685800"/>
                <a:gridCol w="5632704"/>
                <a:gridCol w="4407408"/>
              </a:tblGrid>
              <a:tr h="1097280">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EASL 2025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972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Risk-based: endemic origin, HIV, injection drug use, high ALT with low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Every HBsAg-positive patient, at least once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How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Total anti-HDV, then HDV RNA if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Total anti-HDV, then HDV RNA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EASL 2025, PMID 40348683.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Bulevirtide for hepatitis D</a:t>
            </a:r>
            <a:endParaRPr lang="en-US" sz="3000" dirty="0"/>
          </a:p>
        </p:txBody>
      </p:sp>
      <p:graphicFrame>
        <p:nvGraphicFramePr>
          <p:cNvPr id="3" name="Chart 0" descr=""/>
          <p:cNvGraphicFramePr/>
          <p:nvPr/>
        </p:nvGraphicFramePr>
        <p:xfrm>
          <a:off x="548640" y="1188720"/>
          <a:ext cx="640080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554480"/>
            <a:ext cx="4572000" cy="41148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FDA accelerated approval 22 May 2026</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8.5 mg subcutaneously, once a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Adults without cirrhosis or with compensated cirrhosis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Boxed warning: stopping can cause severe exacerbations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 22 May 2026. MYR301, week 48. Combined response: HDV RNA undetectable or 2 log decline, and normal ALT.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Cirrhosis and decompensation</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6318504"/>
                <a:gridCol w="1956816"/>
                <a:gridCol w="2450592"/>
              </a:tblGrid>
              <a:tr h="777240">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Jang,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Untreated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First decompensation, n = 707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423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284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5-year transplant-free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59.7%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46.0%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Delisted on treatment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33.9%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Jang JW et al. 2015 (dossier ref 56).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HBV and liver transplant</a:t>
            </a:r>
            <a:endParaRPr lang="en-US" sz="3000" dirty="0"/>
          </a:p>
        </p:txBody>
      </p:sp>
      <p:graphicFrame>
        <p:nvGraphicFramePr>
          <p:cNvPr id="3" name="Chart 0" descr=""/>
          <p:cNvGraphicFramePr/>
          <p:nvPr/>
        </p:nvGraphicFramePr>
        <p:xfrm>
          <a:off x="548640" y="118872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Anti-HBc positive donor, HBV-naive recipient (Cholongitas, older regimens)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Entecavir alone without HBIG: 265 recipients, 92% HBsAg negative and 100% DNA undetectable at 8 years (Fung)</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Long-term nucleos(t)ide analogue for HBsAg-negative recipients of anti-HBc-positive grafts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Cholongitas E et al. 2010 (dossier ref 59). Fung J et al. 2017 (ref 57). AASLD 2018 section 6H.</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Children and adolescents</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399032"/>
                <a:gridCol w="9326880"/>
              </a:tblGrid>
              <a:tr h="914400">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Who is treated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age 2 to under 18, raised ALT and measurable DNA. Normal ALT: no routine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Adolescents 12 and older use the adult pathways. Younger children are individualized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US labels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Entecavir and TDF from age 2. TAF from age 6 and 25 kg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R9A and R9B; WHO 2024 chapter 8; DailyMed labels.</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when you stop</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547872"/>
                <a:gridCol w="996696"/>
                <a:gridCol w="3456432"/>
                <a:gridCol w="2724912"/>
              </a:tblGrid>
              <a:tr h="8229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HBsAg loss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Retreatment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STOP-NUC, randomized (Van Bommel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10.1% vs 0% at 96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RETRACT-B, cohort (Hirode 2022)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1,552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3.2% at 12 months, 13.0% at 48 months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See paper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FINITE, randomized (Berg 2017)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4 of 21 (19%) in the stop arm at 144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 of 21 stayed off therapy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Van Bommel F et al. J Hepatol 2023 (dossier ref 61); Hirode G et al. Gastroenterology 2022 (ref 60); Berg T et al. J Hepatol 2017 (ref 62).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51/57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Definitions of cure</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947672"/>
                <a:gridCol w="8778240"/>
              </a:tblGrid>
              <a:tr h="914400">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Endpoint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Definition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Functional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loss and HBV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Partial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under 100 IU/mL and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Sterilizing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Elimination of the viral templates (cccDNA and integrated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Ghany MG et al. 2023 (dossier ref 65).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52/57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Approved in 2026</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554480"/>
                <a:gridCol w="4800600"/>
                <a:gridCol w="4800600"/>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Bepirovirsen (Hibsago)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Bulevirtide (Hepcludex)</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FDA approval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20 October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22 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765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on a nucleos(t)ide analogue 6 months or more, DNA suppressed, HBsAg 3,000 IU/mL or lower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or with 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477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19% had HBsAg undetectable 24 weeks after stopping all treatment; 0% on placebo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Week 48: combined response 48% vs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Warning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Liver reactions, low 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Severe exacerbation if stopped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releases 20 October 2026 (bepirovirsen) and 22 May 2026 (bulevirtide). B-Well 1 and 2, Hou, NEJM 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53/57</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Bepirovirsen: B-Well 1 and 2</a:t>
            </a:r>
            <a:endParaRPr lang="en-US" sz="3000" dirty="0"/>
          </a:p>
        </p:txBody>
      </p:sp>
      <p:graphicFrame>
        <p:nvGraphicFramePr>
          <p:cNvPr id="3" name="Chart 0" descr=""/>
          <p:cNvGraphicFramePr/>
          <p:nvPr/>
        </p:nvGraphicFramePr>
        <p:xfrm>
          <a:off x="548640" y="118872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371600"/>
            <a:ext cx="4572000" cy="4754880"/>
          </a:xfrm>
          <a:prstGeom prst="rect">
            <a:avLst/>
          </a:prstGeom>
          <a:noFill/>
          <a:ln/>
        </p:spPr>
        <p:txBody>
          <a:bodyPr wrap="square" lIns="50800" tIns="50800" rIns="50800" bIns="50800" rtlCol="0" anchor="t"/>
          <a:lstStyle/>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Functional cure at week 72: HBsAg loss and DNA below quantification at least 24 weeks off all therapy</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127 of 650 vs 0 of 328, and 106 of 570 vs 0 of 286</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Noncirrhotic, stable NA, HBsAg 100 to 3,000 IU/mL</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Grade 3 or higher adverse events 16% vs 3%</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Hou J et al. N Engl J Med 2026 (B-Well 1 and 2, dossier ref 67). Final issue 25 June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54/57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the pipeline</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2011680"/>
                <a:gridCol w="5934456"/>
                <a:gridCol w="2779776"/>
              </a:tblGrid>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Agent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Phase 2 result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Caution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Xalnesiran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HBsAg loss at 24 weeks after treatment 7% (100 mg), 3% (200 mg), 12% with ruzotolimod, 23% with PegIFN, 0% NA alone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Background NA continued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Elebsiran with PegIFN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HBsAg loss 21% (200 mg) and 33% (100 mg) vs 6% with PegIFN alone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 stopping follow-up ongoing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JNJ-3989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Met NA-stopping criteria at week 48 in 5, 16 and 19% (40, 100, 200 mg) vs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Stopping eligibility, not cure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Imdusiran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Phase 1a/b, safety primary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cure rate yet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Dossier refs 66 to 71 and registry entries NCT04225715 and NCT06245291.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55/57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676656"/>
                <a:gridCol w="4526280"/>
                <a:gridCol w="5888736"/>
              </a:tblGrid>
              <a:tr h="128016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Patient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Man, 34 to 57. HBeAg-positive, then HBeAg-negative with DNA 8,000 and ALT 48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Monitor at 34. Treat at 41 (age) or at 52 (grey zone). PAGE-B 18, surveillance. Do not stop with HBsAg 400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61. Anti-HBc positive, HBsAg negative, rituximab</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TDF or TAF before the first dose and for 12 months after the last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29, 20 weeks pregnant. DNA 5,000,000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from week 28. Vaccine and HBIG within 12 hours. Test the baby at 9 to 12 months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56/57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Image 0" descr="Watercolor of a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6492240" y="2514600"/>
            <a:ext cx="521208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1" descr="QR code linking to the slides PDF">    </p:cNvPr>
          <p:cNvPicPr>
            <a:picLocks noChangeAspect="1"/>
          </p:cNvPicPr>
          <p:nvPr/>
        </p:nvPicPr>
        <p:blipFill>
          <a:blip r:embed="rId2"/>
          <a:stretch>
            <a:fillRect/>
          </a:stretch>
        </p:blipFill>
        <p:spPr>
          <a:xfrm>
            <a:off x="7955280" y="3200400"/>
            <a:ext cx="2286000" cy="2286000"/>
          </a:xfrm>
          <a:prstGeom prst="rect">
            <a:avLst/>
          </a:prstGeom>
        </p:spPr>
      </p:pic>
      <p:sp>
        <p:nvSpPr>
          <p:cNvPr id="6" name="Text 2"/>
          <p:cNvSpPr txBox="1"/>
          <p:nvPr/>
        </p:nvSpPr>
        <p:spPr>
          <a:xfrm>
            <a:off x="6492240" y="5577840"/>
            <a:ext cx="521208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57/57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79</Slides>
  <Notes>79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2026-10-28T14:06:46Z</dcterms:created>
  <dcterms:modified xsi:type="dcterms:W3CDTF">2026-10-28T14:06:46Z</dcterms:modified>
</cp:coreProperties>
</file>