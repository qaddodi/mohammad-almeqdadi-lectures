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2713358-af69-063e-249c-f74951114ec8}">
          <p14:sldIdLst>
            <p14:sldId id="256"/>
            <p14:sldId id="257"/>
          </p14:sldIdLst>
        </p14:section>
        <p14:section name="History" id="{68c14635-c80b-79bf-403a-c6ac4eb228c8}">
          <p14:sldIdLst>
            <p14:sldId id="258"/>
          </p14:sldIdLst>
        </p14:section>
        <p14:section name="Testing" id="{39d5a92c-26a4-4694-5f3f-b52472a869f7}">
          <p14:sldIdLst>
            <p14:sldId id="259"/>
            <p14:sldId id="260"/>
            <p14:sldId id="261"/>
            <p14:sldId id="262"/>
          </p14:sldIdLst>
        </p14:section>
        <p14:section name="Serology" id="{f23f74b6-64a8-8871-d0de-cb97470f4566}">
          <p14:sldIdLst>
            <p14:sldId id="263"/>
            <p14:sldId id="264"/>
            <p14:sldId id="265"/>
            <p14:sldId id="266"/>
          </p14:sldIdLst>
        </p14:section>
        <p14:section name="Phases" id="{195ed38f-47d7-16d0-4fc7-35d1a2419c47}">
          <p14:sldIdLst>
            <p14:sldId id="267"/>
            <p14:sldId id="268"/>
            <p14:sldId id="269"/>
            <p14:sldId id="270"/>
            <p14:sldId id="271"/>
          </p14:sldIdLst>
        </p14:section>
        <p14:section name="Who to treat" id="{3334555d-1ed3-c07a-161c-30f5951a151d}">
          <p14:sldIdLst>
            <p14:sldId id="272"/>
            <p14:sldId id="273"/>
            <p14:sldId id="274"/>
            <p14:sldId id="275"/>
            <p14:sldId id="276"/>
            <p14:sldId id="277"/>
            <p14:sldId id="278"/>
            <p14:sldId id="279"/>
            <p14:sldId id="280"/>
          </p14:sldIdLst>
        </p14:section>
        <p14:section name="Drugs" id="{69aee5e5-d4e7-9912-8e66-3b730cb236b2}">
          <p14:sldIdLst>
            <p14:sldId id="281"/>
            <p14:sldId id="282"/>
            <p14:sldId id="283"/>
          </p14:sldIdLst>
        </p14:section>
        <p14:section name="HCC risk" id="{71616942-7751-3f36-a738-276b4a4f62f5}">
          <p14:sldIdLst>
            <p14:sldId id="284"/>
            <p14:sldId id="285"/>
            <p14:sldId id="286"/>
            <p14:sldId id="287"/>
            <p14:sldId id="288"/>
          </p14:sldIdLst>
        </p14:section>
        <p14:section name="Special situations" id="{4080d0f3-4d9f-0827-f4c6-1527cec40c46}">
          <p14:sldIdLst>
            <p14:sldId id="289"/>
            <p14:sldId id="290"/>
            <p14:sldId id="291"/>
            <p14:sldId id="292"/>
            <p14:sldId id="293"/>
            <p14:sldId id="294"/>
            <p14:sldId id="295"/>
            <p14:sldId id="296"/>
            <p14:sldId id="297"/>
            <p14:sldId id="298"/>
          </p14:sldIdLst>
        </p14:section>
        <p14:section name="Stopping and what is new" id="{fd27161a-2603-6b06-5e3b-3bc543c1134a}">
          <p14:sldIdLst>
            <p14:sldId id="299"/>
            <p14:sldId id="300"/>
            <p14:sldId id="301"/>
            <p14:sldId id="302"/>
            <p14:sldId id="303"/>
            <p14:sldId id="304"/>
            <p14:sldId id="305"/>
          </p14:sldIdLst>
        </p14:section>
        <p14:section name="Close" id="{e631e4ee-7e43-5970-f84b-6bc71b76a50a}">
          <p14:sldIdLst>
            <p14:sldId id="306"/>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Upper limit of normal ALT, U/L</a:t>
            </a:r>
          </a:p>
        </c:rich>
      </c:tx>
      <c:layout/>
      <c:overlay val="0"/>
    </c:title>
    <c:autoTitleDeleted val="0"/>
    <c:plotArea>
      <c:layout/>
      <c:barChart>
        <c:barDir val="col"/>
        <c:grouping val="clustered"/>
        <c:varyColors val="0"/>
        <c:ser>
          <c:idx val="0"/>
          <c:order val="0"/>
          <c:tx>
            <c:strRef>
              <c:f>Sheet1!$B$1</c:f>
              <c:strCache>
                <c:ptCount val="1"/>
                <c:pt idx="0">
                  <c:v>Men</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Sheet1!$B$2:$B$4</c:f>
              <c:numCache>
                <c:formatCode>General</c:formatCode>
                <c:ptCount val="3"/>
                <c:pt idx="0">
                  <c:v>35</c:v>
                </c:pt>
                <c:pt idx="1">
                  <c:v>30</c:v>
                </c:pt>
                <c:pt idx="2">
                  <c:v>40</c:v>
                </c:pt>
              </c:numCache>
            </c:numRef>
          </c:val>
        </c:ser>
        <c:ser>
          <c:idx val="1"/>
          <c:order val="1"/>
          <c:tx>
            <c:strRef>
              <c:f>Sheet1!$C$1</c:f>
              <c:strCache>
                <c:ptCount val="1"/>
                <c:pt idx="0">
                  <c:v>Women</c:v>
                </c:pt>
              </c:strCache>
            </c:strRef>
          </c:tx>
          <c:spPr>
            <a:solidFill>
              <a:srgbClr val="9DB4CA"/>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Sheet1!$C$2:$C$4</c:f>
              <c:numCache>
                <c:formatCode>General</c:formatCode>
                <c:ptCount val="3"/>
                <c:pt idx="0">
                  <c:v>25</c:v>
                </c:pt>
                <c:pt idx="1">
                  <c:v>19</c:v>
                </c:pt>
                <c:pt idx="2">
                  <c:v>40</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Then one sentence for the rest: Dane saw the virus particle in 1970, Maupas gave the first plasma-derived vaccine in 1976, Szmuness proved it worked in 1980, and Beasley tied the carrier state to liver cancer in 1981. A vaccine against a cancer came before any cancer screening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 Hepatitis D: EASL 2025 tests every HBsAg-positive patient once with total anti-HDV, then HDV RNA if positive; AASLD 2018 tests by risk. A nucleos(t)ide analogue does not treat HDV. Bulevirtide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 Hepatitis D: EASL 2025 tests every HBsAg-positive patient once with total anti-HDV, then HDV RNA if positive; AASLD 2018 tests by risk. A nucleos(t)ide analogue does not treat HDV. Bulevirtide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with no fibrosis, the US recommendation is to monitor (AASLD 2018 R2A: against antiviral therapy in immune-tolerant adults). EASL 2025 observes HBeAg-positive chronic infection only in people under 30 at low risk, so in Europe he could already be offered treatment.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with no fibrosis, the US recommendation is to monitor (AASLD 2018 R2A: against antiviral therapy in immune-tolerant adults). EASL 2025 observes HBeAg-positive chronic infection only in people under 30 at low risk, so in Europe he could already be offered treatment.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In our story he hears the options and chooses to keep monitoring, which is why he is untreated at 52. He is now a man from an endemic region over 40, so HCC surveillance starts here (AASLD 2023), whatever he decides about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In our story he hears the options and chooses to keep monitoring, which is why he is untreated at 52. He is now a man from an endemic region over 40, so HCC surveillance starts here (AASLD 2023), whatever he decides about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His eGFR is 45 from diabetic kidney disease, which matters for the drug. Let the room commit. The next slides show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34: the US guidelines monitor; EASL 2025 observes HBeAg-positive chronic infection only under 30 at low risk; WHO 2024 has no pathway for him without fibrosis, raised ALT or a family history. At 41: AASLD/IDSA 2025 R3 suggests treatment over 40. At 52: AASLD 2018 treats HBeAg-negative patients with DNA above 2,000 and ALT at least 2 times the upper limit (70 for a man), and otherwise asks you to assess fibrosis or inflammation and weigh age and family history; his stiffness is 6.8, so by 2018 rules he is not treated, but for that reason. AASLD/IDSA 2025 R4 suggests treatment by shared decision in the indeterminate group. EASL 2025: DNA at least 2,000 with ALT above the upper limit: treat. WHO 2024: DNA above 2,000 and ALT above the upper limit: treat. Cirrhosis is treated by all four, at any DNA level (summary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34: the US guidelines monitor; EASL 2025 observes HBeAg-positive chronic infection only under 30 at low risk; WHO 2024 has no pathway for him without fibrosis, raised ALT or a family history. At 41: AASLD/IDSA 2025 R3 suggests treatment over 40. At 52: AASLD 2018 treats HBeAg-negative patients with DNA above 2,000 and ALT at least 2 times the upper limit (70 for a man), and otherwise asks you to assess fibrosis or inflammation and weigh age and family history; his stiffness is 6.8, so by 2018 rules he is not treated, but for that reason. AASLD/IDSA 2025 R4 suggests treatment by shared decision in the indeterminate group. EASL 2025: DNA at least 2,000 with ALT above the upper limit: treat. WHO 2024: DNA above 2,000 and ALT above the upper limit: treat. Cirrhosis is treated by all four, at any DNA level (summary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 version: AASLD 2018 thresholds for immune-active disease, with the two AASLD/IDSA 2025 changes. R3 (conditional, very low certainty): immune-tolerant adults over 40, or with grade 2 / stage 2 or worse disease, are suggested for treatment; the text says over 40 and the algorithm says 40 or more. R4: the indeterminate (grey zone) group, which is not limited to HBeAg-negative patients, is a shared decision. Cirrhosis: AASLD 2018 R7A treats compensated cirrhosis with low viremia regardless of ALT, R7B treats decompensated cirrhosis regardless of DNA, ALT or HBeAg, and the 2025 Figure 5 treats both regardless of DNA or ALT. EASL 2025 asks for detectable DNA in compensated cirrhosis. EASL 2025 and WHO 2024 treat more people: DNA above 2,000 with ALT above ULN, or significant fibrosis. Pregnancy and immunosuppression are separate pathways, covered later. 'Monitor' means ALT and DNA every 3 to 6 months and a fibrosis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Bone and kidney data for TAF versus TDF are in the extended version. He started TAF.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Bone and kidney data for TAF versus TDF are in the extended version. He started TAF.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entecavir, TDF and TAF are first line. Entecavir or TAF are preferred over TDF with renal dysfunction or bone disease, or risk of them. Lamivudine resistance confers cross-resistance to entecavir, so use tenofovir. Entecavir alone is not adequate in HIV: it selects HIV M184V. Pregnancy is on its own slide later: TDF has the randomized data; AASLD/IDSA 2025 R1 accepts TDF or TAF. Decompensated cirrhosis: entecavir is 1 mg daily, not 0.5 mg (Baraclude label); the 2025 Figure 5 lists TAF, but the US label does not recommend it in Child-Pugh B or C, so say that. PegIFN is contraindicated in decompensated cirrhosis and in pregnancy. Monitoring on treatment: DNA every 3 months until undetectable, then every 3 to 6 months; on TDF, creatinine, phosphate, urine glucose and protein at least yearly (AASLD 2018). EASL 2025 uses 3 to 6 months at first, then 6 to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and AASLD/IDSA 2025 R6 to R9 (all conditional, very low certainty). Cirrhosis: Child-Pugh A and B patients who could be treated for HCC; Child C only if a transplant candidate. HIV coinfection: men 18 and older and women 40 and older. HBV and HCV: use the HBV criteria after HCV is treated. Surveillance continues on antivirals even when DNA is suppressed.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 2025: high risk above 10%, moderate 1 to 10%, low below 1%. HBsAg positive: prophylaxis for high- and moderate-risk drugs and for chemotherapy; AGA does not insist on it for every low-risk drug, so say 'nearly all'. HBsAg negative, anti-HBc positive: prophylaxis for anti-CD20 and stem cell transplant; for moderate risk AGA favors prophylaxis but accepts monitoring; low risk is monitoring. Duration: 6 months after the last dose, 12 after B-cell depleting therapy (AGA, AASLD 2018); EASL 2025 says 18 after B-cell depletion. Anti-HBs does not change the decision for anti-CD20. All negative: vaccinate (ACIP: all adults 19 to 59, and 60 and older with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R1 (strong, moderate certainty): DNA above 200,000 at any point, start TDF or TAF at week 28; consider week 16 when infant HBIG is not available. Stopping at delivery is allowed when the drug was only for prevention. WHO 2024 also treats HBeAg-positive mothers regardless of DNA. Infant testing: HBsAg and anti-HBs, not anti-HBc. CDC 2023 screens every pregnancy. Mother on drug only for prevention and stops after delivery: DNA and ALT every 1 to 3 months for 6 months. Infant testing is at 9 to 12 months, or 1 to 2 months after a delayed final dose. Evidence: Pan, NEJM 2016 (transmission 5% vs 18% by intention to treat) and Jourdain, NEJM 2018 (0 vs 3 infected infants, p = 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R5 is conditional, very low certainty. The text says 2 years of suppression and the Figure 4 legend says 3. Follow-up and retreatment triggers are from Table 3; the table says ALT above 5 times ULN and the prose says 5 times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Bepirovirsen (Hibsago)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FDA also authorized a Roche qHBsAg assay as a companion diagnostic. Boxed warning for serious liver reactions and low platelets; warnings include worsening kidney function and vasculitis. For hepatitis D, bulevirtide (Hepcludex)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Bepirovirsen (Hibsago)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FDA also authorized a Roche qHBsAg assay as a companion diagnostic. Boxed warning for serious liver reactions and low platelets; warnings include worsening kidney function and vasculitis. For hepatitis D, bulevirtide (Hepcludex)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640080" y="1234440"/>
            <a:ext cx="6949440"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640080" y="1874520"/>
            <a:ext cx="6766560"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pic>
        <p:nvPicPr>
          <p:cNvPr id="5"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455954" cy="2377440"/>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5718609" cy="1920240"/>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 Anti-HDV: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029200"/>
            <a:ext cx="10545775" cy="50292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Question"/>
          <p:cNvSpPr txBox="1"/>
          <p:nvPr/>
        </p:nvSpPr>
        <p:spPr>
          <a:xfrm>
            <a:off x="822960" y="5623560"/>
            <a:ext cx="10545775" cy="50292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HBsAg positive: test anti-HDV once</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 Anti-HDV: EASL 2025, PMID 40348683.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8/31</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8/31</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8/31</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9/31</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Question"/>
          <p:cNvSpPr txBox="1"/>
          <p:nvPr/>
        </p:nvSpPr>
        <p:spPr>
          <a:xfrm>
            <a:off x="274320" y="5715000"/>
            <a:ext cx="7040880" cy="731520"/>
          </a:xfrm>
          <a:prstGeom prst="rect">
            <a:avLst/>
          </a:prstGeom>
          <a:noFill/>
          <a:ln/>
        </p:spPr>
        <p:txBody>
          <a:bodyPr wrap="square" lIns="0" tIns="0" rIns="0" bIns="0" rtlCol="0" anchor="ctr"/>
          <a:lstStyle/>
          <a:p>
            <a:pPr algn="ctr" indent="0" marL="0">
              <a:buNone/>
            </a:pPr>
            <a:r>
              <a:rPr lang="en-US" sz="1900" b="1" dirty="0">
                <a:solidFill>
                  <a:srgbClr val="000000"/>
                </a:solidFill>
                <a:highlight>
                  <a:srgbClr val="FFFF00"/>
                </a:highlight>
                <a:latin typeface="Georgia" pitchFamily="34" charset="0"/>
                <a:ea typeface="Georgia" pitchFamily="34" charset="-122"/>
                <a:cs typeface="Georgia" pitchFamily="34" charset="-120"/>
              </a:rPr>
              <a:t>AASLD: no, monitor every 3 to 6 months. EASL 2025 would consider treatment over 30</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9/31</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10/31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Question"/>
          <p:cNvSpPr txBox="1"/>
          <p:nvPr/>
        </p:nvSpPr>
        <p:spPr>
          <a:xfrm>
            <a:off x="274320" y="5715000"/>
            <a:ext cx="7040880" cy="731520"/>
          </a:xfrm>
          <a:prstGeom prst="rect">
            <a:avLst/>
          </a:prstGeom>
          <a:noFill/>
          <a:ln/>
        </p:spPr>
        <p:txBody>
          <a:bodyPr wrap="square" lIns="0" tIns="0" rIns="0" bIns="0" rtlCol="0" anchor="ctr"/>
          <a:lstStyle/>
          <a:p>
            <a:pPr algn="ctr" indent="0" marL="0">
              <a:buNone/>
            </a:pPr>
            <a:r>
              <a:rPr lang="en-US" sz="1900" b="1" dirty="0">
                <a:solidFill>
                  <a:srgbClr val="000000"/>
                </a:solidFill>
                <a:highlight>
                  <a:srgbClr val="FFFF00"/>
                </a:highlight>
                <a:latin typeface="Georgia" pitchFamily="34" charset="0"/>
                <a:ea typeface="Georgia" pitchFamily="34" charset="-122"/>
                <a:cs typeface="Georgia" pitchFamily="34" charset="-120"/>
              </a:rPr>
              <a:t>Over 40: treatment is suggested. He chose to wait. Start ultrasound and AFP every 6 months</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10/31</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6675120" cy="914400"/>
        </p:xfrm>
        <a:graphic>
          <a:graphicData uri="http://schemas.openxmlformats.org/drawingml/2006/table">
            <a:tbl>
              <a:tblPr/>
              <a:tblGrid>
                <a:gridCol w="3483864"/>
                <a:gridCol w="3191256"/>
              </a:tblGrid>
              <a:tr h="437896">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Test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Anti-HBe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8,000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48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190 ×10⁹/L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FIB-4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stiffness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6.8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eGFR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45 mL/min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66928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11/31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3" name="Chart 0" descr=""/>
          <p:cNvGraphicFramePr/>
          <p:nvPr/>
        </p:nvGraphicFramePr>
        <p:xfrm>
          <a:off x="548640" y="118872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0" y="2103120"/>
            <a:ext cx="3566160" cy="2560320"/>
          </a:xfrm>
          <a:prstGeom prst="rect">
            <a:avLst/>
          </a:prstGeom>
          <a:noFill/>
          <a:ln/>
        </p:spPr>
        <p:txBody>
          <a:bodyPr wrap="square" lIns="0" tIns="0" rIns="0" bIns="0" rtlCol="0" anchor="ctr"/>
          <a:lstStyle/>
          <a:p>
            <a:pPr algn="ctr" indent="0" marL="0">
              <a:buNone/>
            </a:pPr>
            <a:r>
              <a:rPr lang="en-US" sz="2400" dirty="0">
                <a:solidFill>
                  <a:srgbClr val="000000"/>
                </a:solidFill>
                <a:latin typeface="Georgia" pitchFamily="34" charset="0"/>
                <a:ea typeface="Georgia" pitchFamily="34" charset="-122"/>
                <a:cs typeface="Georgia" pitchFamily="34" charset="-120"/>
              </a:rPr>
              <a:t>His ALT</a:t>
            </a:r>
            <a:endParaRPr lang="en-US" sz="2400" dirty="0"/>
          </a:p>
          <a:p>
            <a:pPr algn="ctr" indent="0" marL="0">
              <a:buNone/>
            </a:pPr>
            <a:r>
              <a:rPr lang="en-US" sz="5400" b="1" dirty="0">
                <a:solidFill>
                  <a:srgbClr val="C00000"/>
                </a:solidFill>
                <a:latin typeface="Georgia" pitchFamily="34" charset="0"/>
                <a:ea typeface="Georgia" pitchFamily="34" charset="-122"/>
                <a:cs typeface="Georgia" pitchFamily="34" charset="-120"/>
              </a:rPr>
              <a:t>48 U/L</a:t>
            </a:r>
            <a:endParaRPr lang="en-US" sz="2400" dirty="0"/>
          </a:p>
          <a:p>
            <a:pPr algn="ctr" indent="0" marL="0">
              <a:buNone/>
            </a:pPr>
            <a:r>
              <a:rPr lang="en-US" sz="2200" dirty="0">
                <a:solidFill>
                  <a:srgbClr val="000000"/>
                </a:solidFill>
                <a:latin typeface="Georgia" pitchFamily="34" charset="0"/>
                <a:ea typeface="Georgia" pitchFamily="34" charset="-122"/>
                <a:cs typeface="Georgia" pitchFamily="34" charset="-120"/>
              </a:rPr>
              <a:t>Above all three limits</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12/31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One patient,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Hands up if you would treat him</a:t>
            </a:r>
            <a:endParaRPr lang="en-US" sz="24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944368"/>
                <a:gridCol w="1810512"/>
                <a:gridCol w="2651760"/>
                <a:gridCol w="2203704"/>
                <a:gridCol w="1481328"/>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34, HBeAg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41, same labs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52, HBeAg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13/31</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One patient,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Hands up if you would treat him</a:t>
            </a:r>
            <a:endParaRPr lang="en-US" sz="24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944368"/>
                <a:gridCol w="1810512"/>
                <a:gridCol w="2651760"/>
                <a:gridCol w="2203704"/>
                <a:gridCol w="1481328"/>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34, HBeAg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treating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41, same labs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Treatment suggested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treating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52, HBeAg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Check fibrosis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At 52 he chose to start treatment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13/31</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to treat: summary (US)</a:t>
            </a:r>
            <a:endParaRPr lang="en-US" sz="3000" dirty="0"/>
          </a:p>
        </p:txBody>
      </p:sp>
      <p:sp>
        <p:nvSpPr>
          <p:cNvPr id="3" name="Text 1"/>
          <p:cNvSpPr/>
          <p:nvPr/>
        </p:nvSpPr>
        <p:spPr>
          <a:xfrm>
            <a:off x="4251960" y="1051560"/>
            <a:ext cx="365760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HBsAg positive</a:t>
            </a:r>
            <a:endParaRPr lang="en-US" sz="1800" dirty="0"/>
          </a:p>
        </p:txBody>
      </p:sp>
      <p:sp>
        <p:nvSpPr>
          <p:cNvPr id="4" name="Shape 2"/>
          <p:cNvSpPr/>
          <p:nvPr/>
        </p:nvSpPr>
        <p:spPr>
          <a:xfrm>
            <a:off x="6080760" y="1508760"/>
            <a:ext cx="0" cy="228600"/>
          </a:xfrm>
          <a:prstGeom prst="line">
            <a:avLst/>
          </a:prstGeom>
          <a:noFill/>
          <a:ln w="19050">
            <a:solidFill>
              <a:srgbClr val="595959"/>
            </a:solidFill>
            <a:prstDash val="solid"/>
            <a:tailEnd type="triangle"/>
          </a:ln>
        </p:spPr>
      </p:sp>
      <p:sp>
        <p:nvSpPr>
          <p:cNvPr id="5" name="Text 3"/>
          <p:cNvSpPr/>
          <p:nvPr/>
        </p:nvSpPr>
        <p:spPr>
          <a:xfrm>
            <a:off x="4480560" y="1737360"/>
            <a:ext cx="320040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Cirrhosis?</a:t>
            </a:r>
            <a:endParaRPr lang="en-US" sz="1800" dirty="0"/>
          </a:p>
        </p:txBody>
      </p:sp>
      <p:sp>
        <p:nvSpPr>
          <p:cNvPr id="6" name="Shape 4"/>
          <p:cNvSpPr/>
          <p:nvPr/>
        </p:nvSpPr>
        <p:spPr>
          <a:xfrm>
            <a:off x="7680960" y="1965960"/>
            <a:ext cx="1188720" cy="0"/>
          </a:xfrm>
          <a:prstGeom prst="line">
            <a:avLst/>
          </a:prstGeom>
          <a:noFill/>
          <a:ln w="19050">
            <a:solidFill>
              <a:srgbClr val="595959"/>
            </a:solidFill>
            <a:prstDash val="solid"/>
            <a:tailEnd type="triangle"/>
          </a:ln>
        </p:spPr>
      </p:sp>
      <p:sp>
        <p:nvSpPr>
          <p:cNvPr id="7" name="Text 5"/>
          <p:cNvSpPr txBox="1"/>
          <p:nvPr/>
        </p:nvSpPr>
        <p:spPr>
          <a:xfrm>
            <a:off x="7680960" y="1673352"/>
            <a:ext cx="1188720" cy="274320"/>
          </a:xfrm>
          <a:prstGeom prst="rect">
            <a:avLst/>
          </a:prstGeom>
          <a:noFill/>
          <a:ln/>
        </p:spPr>
        <p:txBody>
          <a:bodyPr wrap="square" lIns="0" tIns="0" rIns="0" bIns="0" rtlCol="0" anchor="ctr"/>
          <a:lstStyle/>
          <a:p>
            <a:pPr algn="ctr" indent="0" marL="0">
              <a:buNone/>
            </a:pPr>
            <a:r>
              <a:rPr lang="en-US" sz="1400" b="1" dirty="0">
                <a:solidFill>
                  <a:srgbClr val="595959"/>
                </a:solidFill>
                <a:latin typeface="Calibri" pitchFamily="34" charset="0"/>
                <a:ea typeface="Calibri" pitchFamily="34" charset="-122"/>
                <a:cs typeface="Calibri" pitchFamily="34" charset="-120"/>
              </a:rPr>
              <a:t>Yes</a:t>
            </a:r>
            <a:endParaRPr lang="en-US" sz="1400" dirty="0"/>
          </a:p>
        </p:txBody>
      </p:sp>
      <p:sp>
        <p:nvSpPr>
          <p:cNvPr id="8" name="Text 6"/>
          <p:cNvSpPr/>
          <p:nvPr/>
        </p:nvSpPr>
        <p:spPr>
          <a:xfrm>
            <a:off x="8869680" y="1737360"/>
            <a:ext cx="2926080" cy="4572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Treat, any DNA level</a:t>
            </a:r>
            <a:endParaRPr lang="en-US" sz="1800" dirty="0"/>
          </a:p>
        </p:txBody>
      </p:sp>
      <p:sp>
        <p:nvSpPr>
          <p:cNvPr id="9" name="Shape 7"/>
          <p:cNvSpPr/>
          <p:nvPr/>
        </p:nvSpPr>
        <p:spPr>
          <a:xfrm>
            <a:off x="6080760" y="2194560"/>
            <a:ext cx="0" cy="182880"/>
          </a:xfrm>
          <a:prstGeom prst="line">
            <a:avLst/>
          </a:prstGeom>
          <a:noFill/>
          <a:ln w="19050">
            <a:solidFill>
              <a:srgbClr val="595959"/>
            </a:solidFill>
            <a:prstDash val="solid"/>
          </a:ln>
        </p:spPr>
      </p:sp>
      <p:sp>
        <p:nvSpPr>
          <p:cNvPr id="10" name="Shape 8"/>
          <p:cNvSpPr/>
          <p:nvPr/>
        </p:nvSpPr>
        <p:spPr>
          <a:xfrm>
            <a:off x="2194560" y="2377440"/>
            <a:ext cx="6126480" cy="0"/>
          </a:xfrm>
          <a:prstGeom prst="line">
            <a:avLst/>
          </a:prstGeom>
          <a:noFill/>
          <a:ln w="19050">
            <a:solidFill>
              <a:srgbClr val="595959"/>
            </a:solidFill>
            <a:prstDash val="solid"/>
          </a:ln>
        </p:spPr>
      </p:sp>
      <p:sp>
        <p:nvSpPr>
          <p:cNvPr id="11" name="Text 9"/>
          <p:cNvSpPr txBox="1"/>
          <p:nvPr/>
        </p:nvSpPr>
        <p:spPr>
          <a:xfrm>
            <a:off x="6172200" y="2130552"/>
            <a:ext cx="548640" cy="274320"/>
          </a:xfrm>
          <a:prstGeom prst="rect">
            <a:avLst/>
          </a:prstGeom>
          <a:noFill/>
          <a:ln/>
        </p:spPr>
        <p:txBody>
          <a:bodyPr wrap="square" lIns="0" tIns="0" rIns="0" bIns="0" rtlCol="0" anchor="ctr"/>
          <a:lstStyle/>
          <a:p>
            <a:pPr indent="0" marL="0">
              <a:buNone/>
            </a:pPr>
            <a:r>
              <a:rPr lang="en-US" sz="1400" b="1" dirty="0">
                <a:solidFill>
                  <a:srgbClr val="595959"/>
                </a:solidFill>
                <a:latin typeface="Calibri" pitchFamily="34" charset="0"/>
                <a:ea typeface="Calibri" pitchFamily="34" charset="-122"/>
                <a:cs typeface="Calibri" pitchFamily="34" charset="-120"/>
              </a:rPr>
              <a:t>No</a:t>
            </a:r>
            <a:endParaRPr lang="en-US" sz="1400" dirty="0"/>
          </a:p>
        </p:txBody>
      </p:sp>
      <p:sp>
        <p:nvSpPr>
          <p:cNvPr id="12" name="Shape 10"/>
          <p:cNvSpPr/>
          <p:nvPr/>
        </p:nvSpPr>
        <p:spPr>
          <a:xfrm>
            <a:off x="2194560" y="2377440"/>
            <a:ext cx="0" cy="182880"/>
          </a:xfrm>
          <a:prstGeom prst="line">
            <a:avLst/>
          </a:prstGeom>
          <a:noFill/>
          <a:ln w="19050">
            <a:solidFill>
              <a:srgbClr val="595959"/>
            </a:solidFill>
            <a:prstDash val="solid"/>
            <a:tailEnd type="triangle"/>
          </a:ln>
        </p:spPr>
      </p:sp>
      <p:sp>
        <p:nvSpPr>
          <p:cNvPr id="13" name="Shape 11"/>
          <p:cNvSpPr/>
          <p:nvPr/>
        </p:nvSpPr>
        <p:spPr>
          <a:xfrm>
            <a:off x="8321040" y="2377440"/>
            <a:ext cx="0" cy="182880"/>
          </a:xfrm>
          <a:prstGeom prst="line">
            <a:avLst/>
          </a:prstGeom>
          <a:noFill/>
          <a:ln w="19050">
            <a:solidFill>
              <a:srgbClr val="595959"/>
            </a:solidFill>
            <a:prstDash val="solid"/>
            <a:tailEnd type="triangle"/>
          </a:ln>
        </p:spPr>
      </p:sp>
      <p:sp>
        <p:nvSpPr>
          <p:cNvPr id="14" name="Text 12"/>
          <p:cNvSpPr/>
          <p:nvPr/>
        </p:nvSpPr>
        <p:spPr>
          <a:xfrm>
            <a:off x="457200" y="256032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positive</a:t>
            </a:r>
            <a:endParaRPr lang="en-US" sz="1700" dirty="0"/>
          </a:p>
        </p:txBody>
      </p:sp>
      <p:sp>
        <p:nvSpPr>
          <p:cNvPr id="15" name="Text 13"/>
          <p:cNvSpPr/>
          <p:nvPr/>
        </p:nvSpPr>
        <p:spPr>
          <a:xfrm>
            <a:off x="6583680" y="256032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negative</a:t>
            </a:r>
            <a:endParaRPr lang="en-US" sz="1700" dirty="0"/>
          </a:p>
        </p:txBody>
      </p:sp>
      <p:sp>
        <p:nvSpPr>
          <p:cNvPr id="16" name="Text 14"/>
          <p:cNvSpPr/>
          <p:nvPr/>
        </p:nvSpPr>
        <p:spPr>
          <a:xfrm>
            <a:off x="274320" y="3200400"/>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20,000 and ALT 2 times ULN or more</a:t>
            </a:r>
            <a:endParaRPr lang="en-US" sz="1600" dirty="0"/>
          </a:p>
        </p:txBody>
      </p:sp>
      <p:sp>
        <p:nvSpPr>
          <p:cNvPr id="17" name="Shape 15"/>
          <p:cNvSpPr/>
          <p:nvPr/>
        </p:nvSpPr>
        <p:spPr>
          <a:xfrm>
            <a:off x="4114800" y="3538728"/>
            <a:ext cx="320040" cy="0"/>
          </a:xfrm>
          <a:prstGeom prst="line">
            <a:avLst/>
          </a:prstGeom>
          <a:noFill/>
          <a:ln w="19050">
            <a:solidFill>
              <a:srgbClr val="595959"/>
            </a:solidFill>
            <a:prstDash val="solid"/>
            <a:tailEnd type="triangle"/>
          </a:ln>
        </p:spPr>
      </p:sp>
      <p:sp>
        <p:nvSpPr>
          <p:cNvPr id="18" name="Text 16"/>
          <p:cNvSpPr/>
          <p:nvPr/>
        </p:nvSpPr>
        <p:spPr>
          <a:xfrm>
            <a:off x="4434840" y="3200400"/>
            <a:ext cx="1691640" cy="676656"/>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19" name="Text 17"/>
          <p:cNvSpPr/>
          <p:nvPr/>
        </p:nvSpPr>
        <p:spPr>
          <a:xfrm>
            <a:off x="274320" y="3959352"/>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10 million, normal ALT, over 40 or F2 or worse</a:t>
            </a:r>
            <a:endParaRPr lang="en-US" sz="1600" dirty="0"/>
          </a:p>
        </p:txBody>
      </p:sp>
      <p:sp>
        <p:nvSpPr>
          <p:cNvPr id="20" name="Shape 18"/>
          <p:cNvSpPr/>
          <p:nvPr/>
        </p:nvSpPr>
        <p:spPr>
          <a:xfrm>
            <a:off x="4114800" y="4297680"/>
            <a:ext cx="320040" cy="0"/>
          </a:xfrm>
          <a:prstGeom prst="line">
            <a:avLst/>
          </a:prstGeom>
          <a:noFill/>
          <a:ln w="19050">
            <a:solidFill>
              <a:srgbClr val="595959"/>
            </a:solidFill>
            <a:prstDash val="solid"/>
            <a:tailEnd type="triangle"/>
          </a:ln>
        </p:spPr>
      </p:sp>
      <p:sp>
        <p:nvSpPr>
          <p:cNvPr id="21" name="Text 19"/>
          <p:cNvSpPr/>
          <p:nvPr/>
        </p:nvSpPr>
        <p:spPr>
          <a:xfrm>
            <a:off x="4434840" y="3959352"/>
            <a:ext cx="1691640" cy="676656"/>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Treatment suggested</a:t>
            </a:r>
            <a:endParaRPr lang="en-US" sz="1600" dirty="0"/>
          </a:p>
        </p:txBody>
      </p:sp>
      <p:sp>
        <p:nvSpPr>
          <p:cNvPr id="22" name="Text 20"/>
          <p:cNvSpPr/>
          <p:nvPr/>
        </p:nvSpPr>
        <p:spPr>
          <a:xfrm>
            <a:off x="274320" y="4718304"/>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Between the two: the grey zone</a:t>
            </a:r>
            <a:endParaRPr lang="en-US" sz="1600" dirty="0"/>
          </a:p>
        </p:txBody>
      </p:sp>
      <p:sp>
        <p:nvSpPr>
          <p:cNvPr id="23" name="Shape 21"/>
          <p:cNvSpPr/>
          <p:nvPr/>
        </p:nvSpPr>
        <p:spPr>
          <a:xfrm>
            <a:off x="4114800" y="5056632"/>
            <a:ext cx="320040" cy="0"/>
          </a:xfrm>
          <a:prstGeom prst="line">
            <a:avLst/>
          </a:prstGeom>
          <a:noFill/>
          <a:ln w="19050">
            <a:solidFill>
              <a:srgbClr val="595959"/>
            </a:solidFill>
            <a:prstDash val="solid"/>
            <a:tailEnd type="triangle"/>
          </a:ln>
        </p:spPr>
      </p:sp>
      <p:sp>
        <p:nvSpPr>
          <p:cNvPr id="24" name="Text 22"/>
          <p:cNvSpPr/>
          <p:nvPr/>
        </p:nvSpPr>
        <p:spPr>
          <a:xfrm>
            <a:off x="4434840" y="4718304"/>
            <a:ext cx="1691640" cy="676656"/>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Shared decision</a:t>
            </a:r>
            <a:endParaRPr lang="en-US" sz="1600" dirty="0"/>
          </a:p>
        </p:txBody>
      </p:sp>
      <p:sp>
        <p:nvSpPr>
          <p:cNvPr id="25" name="Text 23"/>
          <p:cNvSpPr/>
          <p:nvPr/>
        </p:nvSpPr>
        <p:spPr>
          <a:xfrm>
            <a:off x="274320" y="5477256"/>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10 million, normal ALT, 40 or younger, no fibrosis</a:t>
            </a:r>
            <a:endParaRPr lang="en-US" sz="1600" dirty="0"/>
          </a:p>
        </p:txBody>
      </p:sp>
      <p:sp>
        <p:nvSpPr>
          <p:cNvPr id="26" name="Shape 24"/>
          <p:cNvSpPr/>
          <p:nvPr/>
        </p:nvSpPr>
        <p:spPr>
          <a:xfrm>
            <a:off x="4114800" y="5815584"/>
            <a:ext cx="320040" cy="0"/>
          </a:xfrm>
          <a:prstGeom prst="line">
            <a:avLst/>
          </a:prstGeom>
          <a:noFill/>
          <a:ln w="19050">
            <a:solidFill>
              <a:srgbClr val="595959"/>
            </a:solidFill>
            <a:prstDash val="solid"/>
            <a:tailEnd type="triangle"/>
          </a:ln>
        </p:spPr>
      </p:sp>
      <p:sp>
        <p:nvSpPr>
          <p:cNvPr id="27" name="Text 25"/>
          <p:cNvSpPr/>
          <p:nvPr/>
        </p:nvSpPr>
        <p:spPr>
          <a:xfrm>
            <a:off x="4434840" y="5477256"/>
            <a:ext cx="1691640" cy="676656"/>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28" name="Text 26"/>
          <p:cNvSpPr/>
          <p:nvPr/>
        </p:nvSpPr>
        <p:spPr>
          <a:xfrm>
            <a:off x="6400800" y="3200400"/>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2,000 and ALT 2 times ULN or more</a:t>
            </a:r>
            <a:endParaRPr lang="en-US" sz="1600" dirty="0"/>
          </a:p>
        </p:txBody>
      </p:sp>
      <p:sp>
        <p:nvSpPr>
          <p:cNvPr id="29" name="Shape 27"/>
          <p:cNvSpPr/>
          <p:nvPr/>
        </p:nvSpPr>
        <p:spPr>
          <a:xfrm>
            <a:off x="10241280" y="3538728"/>
            <a:ext cx="320040" cy="0"/>
          </a:xfrm>
          <a:prstGeom prst="line">
            <a:avLst/>
          </a:prstGeom>
          <a:noFill/>
          <a:ln w="19050">
            <a:solidFill>
              <a:srgbClr val="595959"/>
            </a:solidFill>
            <a:prstDash val="solid"/>
            <a:tailEnd type="triangle"/>
          </a:ln>
        </p:spPr>
      </p:sp>
      <p:sp>
        <p:nvSpPr>
          <p:cNvPr id="30" name="Text 28"/>
          <p:cNvSpPr/>
          <p:nvPr/>
        </p:nvSpPr>
        <p:spPr>
          <a:xfrm>
            <a:off x="10561320" y="3200400"/>
            <a:ext cx="1371600" cy="676656"/>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31" name="Text 29"/>
          <p:cNvSpPr/>
          <p:nvPr/>
        </p:nvSpPr>
        <p:spPr>
          <a:xfrm>
            <a:off x="6400800" y="3959352"/>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Between the two: the grey zone</a:t>
            </a:r>
            <a:endParaRPr lang="en-US" sz="1600" dirty="0"/>
          </a:p>
        </p:txBody>
      </p:sp>
      <p:sp>
        <p:nvSpPr>
          <p:cNvPr id="32" name="Shape 30"/>
          <p:cNvSpPr/>
          <p:nvPr/>
        </p:nvSpPr>
        <p:spPr>
          <a:xfrm>
            <a:off x="10241280" y="4297680"/>
            <a:ext cx="320040" cy="0"/>
          </a:xfrm>
          <a:prstGeom prst="line">
            <a:avLst/>
          </a:prstGeom>
          <a:noFill/>
          <a:ln w="19050">
            <a:solidFill>
              <a:srgbClr val="595959"/>
            </a:solidFill>
            <a:prstDash val="solid"/>
            <a:tailEnd type="triangle"/>
          </a:ln>
        </p:spPr>
      </p:sp>
      <p:sp>
        <p:nvSpPr>
          <p:cNvPr id="33" name="Text 31"/>
          <p:cNvSpPr/>
          <p:nvPr/>
        </p:nvSpPr>
        <p:spPr>
          <a:xfrm>
            <a:off x="10561320" y="3959352"/>
            <a:ext cx="1371600" cy="676656"/>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Shared decision</a:t>
            </a:r>
            <a:endParaRPr lang="en-US" sz="1600" dirty="0"/>
          </a:p>
        </p:txBody>
      </p:sp>
      <p:sp>
        <p:nvSpPr>
          <p:cNvPr id="34" name="Text 32"/>
          <p:cNvSpPr/>
          <p:nvPr/>
        </p:nvSpPr>
        <p:spPr>
          <a:xfrm>
            <a:off x="6400800" y="4718304"/>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below 2,000, normal ALT</a:t>
            </a:r>
            <a:endParaRPr lang="en-US" sz="1600" dirty="0"/>
          </a:p>
        </p:txBody>
      </p:sp>
      <p:sp>
        <p:nvSpPr>
          <p:cNvPr id="35" name="Shape 33"/>
          <p:cNvSpPr/>
          <p:nvPr/>
        </p:nvSpPr>
        <p:spPr>
          <a:xfrm>
            <a:off x="10241280" y="5056632"/>
            <a:ext cx="320040" cy="0"/>
          </a:xfrm>
          <a:prstGeom prst="line">
            <a:avLst/>
          </a:prstGeom>
          <a:noFill/>
          <a:ln w="19050">
            <a:solidFill>
              <a:srgbClr val="595959"/>
            </a:solidFill>
            <a:prstDash val="solid"/>
            <a:tailEnd type="triangle"/>
          </a:ln>
        </p:spPr>
      </p:sp>
      <p:sp>
        <p:nvSpPr>
          <p:cNvPr id="36" name="Text 34"/>
          <p:cNvSpPr/>
          <p:nvPr/>
        </p:nvSpPr>
        <p:spPr>
          <a:xfrm>
            <a:off x="10561320" y="4718304"/>
            <a:ext cx="1371600" cy="676656"/>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3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R3, R4 and Figure 5 (PMID 41186418). ALT ULN 35 men, 25 women.</a:t>
            </a:r>
            <a:endParaRPr lang="en-US" sz="1000" dirty="0"/>
          </a:p>
        </p:txBody>
      </p:sp>
      <p:sp>
        <p:nvSpPr>
          <p:cNvPr id="3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14/31</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at 52,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 for him?</a:t>
            </a:r>
            <a:endParaRPr lang="en-US" sz="24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15/31</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at 52,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 for him?</a:t>
            </a:r>
            <a:endParaRPr lang="en-US" sz="24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15/31</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Choosing the drug: summary</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4325112"/>
                <a:gridCol w="6400800"/>
              </a:tblGrid>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Situation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Most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Entecavir, TDF or TAF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Kidney or bone disease, or at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TAF, or entecavir with the dose adjusted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Prior lamivudine resistance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TDF or TAF, not entecavir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TDF or TAF as part of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Entecavir 1 mg or TDF (no TAF in Child-Pugh B or 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Wants a finite course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Pegylated interferon, selected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On treatment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DNA every 3 months, then every 3 to 6 months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 US prescribing information.</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16/31</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1097280"/>
          <a:ext cx="6035040" cy="914400"/>
        </p:xfrm>
        <a:graphic>
          <a:graphicData uri="http://schemas.openxmlformats.org/drawingml/2006/table">
            <a:tbl>
              <a:tblPr/>
              <a:tblGrid>
                <a:gridCol w="2715768"/>
                <a:gridCol w="2075688"/>
                <a:gridCol w="1243584"/>
              </a:tblGrid>
              <a:tr h="42062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Variable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Category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Points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Age,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 to 29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 to 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 to 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50 to 59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60 to 69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70 or older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Platelets, ×10⁹/L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100 to 199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Under 100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548640" y="1097280"/>
          <a:ext cx="6035040" cy="914400"/>
        </p:xfrm>
        <a:graphic>
          <a:graphicData uri="http://schemas.openxmlformats.org/drawingml/2006/table">
            <a:tbl>
              <a:tblPr/>
              <a:tblGrid>
                <a:gridCol w="2715768"/>
                <a:gridCol w="2075688"/>
                <a:gridCol w="1243584"/>
              </a:tblGrid>
              <a:tr h="42062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Variable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Category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Points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Age,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 to 29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 to 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 to 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50 to 59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highlight>
                            <a:srgbClr val="FFFF00"/>
                          </a:highlight>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60 to 69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70 or older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highlight>
                            <a:srgbClr val="FFFF00"/>
                          </a:highlight>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Platelets, ×10⁹/L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100 to 199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highlight>
                            <a:srgbClr val="FFFF00"/>
                          </a:highlight>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Under 100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20040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3794760"/>
            <a:ext cx="4754880" cy="914400"/>
          </a:xfrm>
          <a:prstGeom prst="rect">
            <a:avLst/>
          </a:prstGeom>
          <a:noFill/>
          <a:ln/>
        </p:spPr>
        <p:txBody>
          <a:bodyPr wrap="square" lIns="50800" tIns="50800" rIns="50800" bIns="50800" rtlCol="0" anchor="t"/>
          <a:lstStyle/>
          <a:p>
            <a:pPr indent="0" marL="0">
              <a:spcBef>
                <a:spcPts val="800"/>
              </a:spcBef>
              <a:buNone/>
            </a:pPr>
            <a:r>
              <a:rPr lang="en-US" sz="2000" dirty="0">
                <a:solidFill>
                  <a:srgbClr val="000000"/>
                </a:solidFill>
                <a:latin typeface="Georgia" pitchFamily="34" charset="0"/>
                <a:ea typeface="Georgia" pitchFamily="34" charset="-122"/>
                <a:cs typeface="Georgia" pitchFamily="34" charset="-120"/>
              </a:rPr>
              <a:t>High risk: 18 or more</a:t>
            </a:r>
            <a:endParaRPr lang="en-US" sz="2000" dirty="0"/>
          </a:p>
          <a:p>
            <a:pPr indent="0" marL="0">
              <a:spcBef>
                <a:spcPts val="800"/>
              </a:spcBef>
              <a:buNone/>
            </a:pPr>
            <a:r>
              <a:rPr lang="en-US" sz="2000" dirty="0">
                <a:solidFill>
                  <a:srgbClr val="000000"/>
                </a:solidFill>
                <a:latin typeface="Georgia" pitchFamily="34" charset="0"/>
                <a:ea typeface="Georgia" pitchFamily="34" charset="-122"/>
                <a:cs typeface="Georgia" pitchFamily="34" charset="-120"/>
              </a:rPr>
              <a:t>5-year HCC about 16 to 17%</a:t>
            </a:r>
            <a:endParaRPr lang="en-US" sz="2000" dirty="0"/>
          </a:p>
        </p:txBody>
      </p:sp>
      <p:pic>
        <p:nvPicPr>
          <p:cNvPr id="7" name="Image 0" descr="QR code to the HBV HCC risk calculator">    </p:cNvPr>
          <p:cNvPicPr>
            <a:picLocks noChangeAspect="1"/>
          </p:cNvPicPr>
          <p:nvPr/>
        </p:nvPicPr>
        <p:blipFill>
          <a:blip r:embed="rId1"/>
          <a:stretch>
            <a:fillRect/>
          </a:stretch>
        </p:blipFill>
        <p:spPr>
          <a:xfrm>
            <a:off x="7040880" y="4846320"/>
            <a:ext cx="1325880" cy="1325880"/>
          </a:xfrm>
          <a:prstGeom prst="rect">
            <a:avLst/>
          </a:prstGeom>
        </p:spPr>
      </p:pic>
      <p:sp>
        <p:nvSpPr>
          <p:cNvPr id="8" name="Text 4"/>
          <p:cNvSpPr txBox="1"/>
          <p:nvPr/>
        </p:nvSpPr>
        <p:spPr>
          <a:xfrm>
            <a:off x="8503920" y="5029200"/>
            <a:ext cx="3383280" cy="914400"/>
          </a:xfrm>
          <a:prstGeom prst="rect">
            <a:avLst/>
          </a:prstGeom>
          <a:noFill/>
          <a:ln/>
        </p:spPr>
        <p:txBody>
          <a:bodyPr wrap="square" lIns="0" tIns="0" rIns="0" bIns="0" rtlCol="0" anchor="ctr"/>
          <a:lstStyle/>
          <a:p>
            <a:pPr indent="0" marL="0">
              <a:buNone/>
            </a:pPr>
            <a:r>
              <a:rPr lang="en-US" sz="1600" dirty="0">
                <a:solidFill>
                  <a:srgbClr val="000000"/>
                </a:solidFill>
                <a:latin typeface="Georgia" pitchFamily="34" charset="0"/>
                <a:ea typeface="Georgia" pitchFamily="34" charset="-122"/>
                <a:cs typeface="Georgia" pitchFamily="34" charset="-120"/>
              </a:rPr>
              <a:t>Calculator: qaddodi.github.io/chb-hcc-risk</a:t>
            </a:r>
            <a:endParaRPr lang="en-US" sz="16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17/31</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HCC surveillance: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Ultrasound and AFP every 6 months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 from an endemic region: men over 40, women over 50; people of African origin earlier</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Family history of HCC</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PAGE-B 10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Hepatitis D coinfection</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Keep going after HBsAg loss if:</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 or a family history of HCC, or HBsAg lost after 40 in men and after 50 in women</a:t>
            </a:r>
            <a:endParaRPr lang="en-US" sz="2100" dirty="0"/>
          </a:p>
        </p:txBody>
      </p:sp>
      <p:pic>
        <p:nvPicPr>
          <p:cNvPr id="4" name="Image 0" descr="Watercolor of an abdominal ultrasound probe">    </p:cNvPr>
          <p:cNvPicPr>
            <a:picLocks noChangeAspect="1"/>
          </p:cNvPicPr>
          <p:nvPr/>
        </p:nvPicPr>
        <p:blipFill>
          <a:blip r:embed="rId1"/>
          <a:stretch>
            <a:fillRect/>
          </a:stretch>
        </p:blipFill>
        <p:spPr>
          <a:xfrm>
            <a:off x="7772400" y="128016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guidance 2023, Table 1 (PMID 37199193); AASLD/IDSA 2025 R6 to R9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19/31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HBsAg negative, anti-HBc positive: how risky is each drug?</a:t>
            </a:r>
            <a:endParaRPr lang="en-US" sz="22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10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20/31</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HBsAg negative, anti-HBc positive: how risky is each drug?</a:t>
            </a:r>
            <a:endParaRPr lang="en-US" sz="22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10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20/31</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79451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3817620" y="2011680"/>
            <a:ext cx="0" cy="1737360"/>
          </a:xfrm>
          <a:prstGeom prst="line">
            <a:avLst/>
          </a:prstGeom>
          <a:noFill/>
          <a:ln w="9525">
            <a:solidFill>
              <a:srgbClr val="D9D9D9"/>
            </a:solidFill>
            <a:prstDash val="solid"/>
          </a:ln>
        </p:spPr>
      </p:sp>
      <p:sp>
        <p:nvSpPr>
          <p:cNvPr id="8" name="Text 5"/>
          <p:cNvSpPr txBox="1"/>
          <p:nvPr/>
        </p:nvSpPr>
        <p:spPr>
          <a:xfrm>
            <a:off x="314325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5166360" y="2011680"/>
            <a:ext cx="0" cy="1737360"/>
          </a:xfrm>
          <a:prstGeom prst="line">
            <a:avLst/>
          </a:prstGeom>
          <a:noFill/>
          <a:ln w="9525">
            <a:solidFill>
              <a:srgbClr val="D9D9D9"/>
            </a:solidFill>
            <a:prstDash val="solid"/>
          </a:ln>
        </p:spPr>
      </p:sp>
      <p:sp>
        <p:nvSpPr>
          <p:cNvPr id="10" name="Text 7"/>
          <p:cNvSpPr txBox="1"/>
          <p:nvPr/>
        </p:nvSpPr>
        <p:spPr>
          <a:xfrm>
            <a:off x="449199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6515100" y="2011680"/>
            <a:ext cx="0" cy="1737360"/>
          </a:xfrm>
          <a:prstGeom prst="line">
            <a:avLst/>
          </a:prstGeom>
          <a:noFill/>
          <a:ln w="9525">
            <a:solidFill>
              <a:srgbClr val="D9D9D9"/>
            </a:solidFill>
            <a:prstDash val="solid"/>
          </a:ln>
        </p:spPr>
      </p:sp>
      <p:sp>
        <p:nvSpPr>
          <p:cNvPr id="12" name="Text 9"/>
          <p:cNvSpPr txBox="1"/>
          <p:nvPr/>
        </p:nvSpPr>
        <p:spPr>
          <a:xfrm>
            <a:off x="584073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Shape 10"/>
          <p:cNvSpPr/>
          <p:nvPr/>
        </p:nvSpPr>
        <p:spPr>
          <a:xfrm>
            <a:off x="7863840" y="2011680"/>
            <a:ext cx="0" cy="1737360"/>
          </a:xfrm>
          <a:prstGeom prst="line">
            <a:avLst/>
          </a:prstGeom>
          <a:noFill/>
          <a:ln w="9525">
            <a:solidFill>
              <a:srgbClr val="D9D9D9"/>
            </a:solidFill>
            <a:prstDash val="solid"/>
          </a:ln>
        </p:spPr>
      </p:sp>
      <p:sp>
        <p:nvSpPr>
          <p:cNvPr id="14" name="Text 11"/>
          <p:cNvSpPr txBox="1"/>
          <p:nvPr/>
        </p:nvSpPr>
        <p:spPr>
          <a:xfrm>
            <a:off x="718947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24</a:t>
            </a:r>
            <a:endParaRPr lang="en-US" sz="1600" dirty="0"/>
          </a:p>
        </p:txBody>
      </p:sp>
      <p:sp>
        <p:nvSpPr>
          <p:cNvPr id="15" name="Text 12"/>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6" name="Shape 13"/>
          <p:cNvSpPr/>
          <p:nvPr/>
        </p:nvSpPr>
        <p:spPr>
          <a:xfrm>
            <a:off x="2468880" y="2084832"/>
            <a:ext cx="1281303" cy="676656"/>
          </a:xfrm>
          <a:prstGeom prst="rect">
            <a:avLst/>
          </a:prstGeom>
          <a:solidFill>
            <a:srgbClr val="9DB4CA"/>
          </a:solidFill>
          <a:ln w="6350">
            <a:solidFill>
              <a:srgbClr val="9DB4CA"/>
            </a:solidFill>
            <a:prstDash val="solid"/>
          </a:ln>
        </p:spPr>
      </p:sp>
      <p:sp>
        <p:nvSpPr>
          <p:cNvPr id="17" name="Text 14"/>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21/31</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79451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3817620" y="2011680"/>
            <a:ext cx="0" cy="1737360"/>
          </a:xfrm>
          <a:prstGeom prst="line">
            <a:avLst/>
          </a:prstGeom>
          <a:noFill/>
          <a:ln w="9525">
            <a:solidFill>
              <a:srgbClr val="D9D9D9"/>
            </a:solidFill>
            <a:prstDash val="solid"/>
          </a:ln>
        </p:spPr>
      </p:sp>
      <p:sp>
        <p:nvSpPr>
          <p:cNvPr id="8" name="Text 5"/>
          <p:cNvSpPr txBox="1"/>
          <p:nvPr/>
        </p:nvSpPr>
        <p:spPr>
          <a:xfrm>
            <a:off x="314325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5166360" y="2011680"/>
            <a:ext cx="0" cy="1737360"/>
          </a:xfrm>
          <a:prstGeom prst="line">
            <a:avLst/>
          </a:prstGeom>
          <a:noFill/>
          <a:ln w="9525">
            <a:solidFill>
              <a:srgbClr val="D9D9D9"/>
            </a:solidFill>
            <a:prstDash val="solid"/>
          </a:ln>
        </p:spPr>
      </p:sp>
      <p:sp>
        <p:nvSpPr>
          <p:cNvPr id="10" name="Text 7"/>
          <p:cNvSpPr txBox="1"/>
          <p:nvPr/>
        </p:nvSpPr>
        <p:spPr>
          <a:xfrm>
            <a:off x="449199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6515100" y="2011680"/>
            <a:ext cx="0" cy="1737360"/>
          </a:xfrm>
          <a:prstGeom prst="line">
            <a:avLst/>
          </a:prstGeom>
          <a:noFill/>
          <a:ln w="9525">
            <a:solidFill>
              <a:srgbClr val="D9D9D9"/>
            </a:solidFill>
            <a:prstDash val="solid"/>
          </a:ln>
        </p:spPr>
      </p:sp>
      <p:sp>
        <p:nvSpPr>
          <p:cNvPr id="12" name="Text 9"/>
          <p:cNvSpPr txBox="1"/>
          <p:nvPr/>
        </p:nvSpPr>
        <p:spPr>
          <a:xfrm>
            <a:off x="584073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Shape 10"/>
          <p:cNvSpPr/>
          <p:nvPr/>
        </p:nvSpPr>
        <p:spPr>
          <a:xfrm>
            <a:off x="7863840" y="2011680"/>
            <a:ext cx="0" cy="1737360"/>
          </a:xfrm>
          <a:prstGeom prst="line">
            <a:avLst/>
          </a:prstGeom>
          <a:noFill/>
          <a:ln w="9525">
            <a:solidFill>
              <a:srgbClr val="D9D9D9"/>
            </a:solidFill>
            <a:prstDash val="solid"/>
          </a:ln>
        </p:spPr>
      </p:sp>
      <p:sp>
        <p:nvSpPr>
          <p:cNvPr id="14" name="Text 11"/>
          <p:cNvSpPr txBox="1"/>
          <p:nvPr/>
        </p:nvSpPr>
        <p:spPr>
          <a:xfrm>
            <a:off x="718947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24</a:t>
            </a:r>
            <a:endParaRPr lang="en-US" sz="1600" dirty="0"/>
          </a:p>
        </p:txBody>
      </p:sp>
      <p:sp>
        <p:nvSpPr>
          <p:cNvPr id="15" name="Text 12"/>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6" name="Shape 13"/>
          <p:cNvSpPr/>
          <p:nvPr/>
        </p:nvSpPr>
        <p:spPr>
          <a:xfrm>
            <a:off x="2468880" y="2084832"/>
            <a:ext cx="1281303" cy="676656"/>
          </a:xfrm>
          <a:prstGeom prst="rect">
            <a:avLst/>
          </a:prstGeom>
          <a:solidFill>
            <a:srgbClr val="9DB4CA"/>
          </a:solidFill>
          <a:ln w="6350">
            <a:solidFill>
              <a:srgbClr val="9DB4CA"/>
            </a:solidFill>
            <a:prstDash val="solid"/>
          </a:ln>
        </p:spPr>
      </p:sp>
      <p:sp>
        <p:nvSpPr>
          <p:cNvPr id="17" name="Text 14"/>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8" name="Shape 15"/>
          <p:cNvSpPr/>
          <p:nvPr/>
        </p:nvSpPr>
        <p:spPr>
          <a:xfrm>
            <a:off x="2468880" y="2907792"/>
            <a:ext cx="4046220" cy="676656"/>
          </a:xfrm>
          <a:prstGeom prst="rect">
            <a:avLst/>
          </a:prstGeom>
          <a:solidFill>
            <a:srgbClr val="1F4E79"/>
          </a:solidFill>
          <a:ln w="6350">
            <a:solidFill>
              <a:srgbClr val="1F4E79"/>
            </a:solidFill>
            <a:prstDash val="solid"/>
          </a:ln>
        </p:spPr>
      </p:sp>
      <p:sp>
        <p:nvSpPr>
          <p:cNvPr id="19" name="Text 16"/>
          <p:cNvSpPr txBox="1"/>
          <p:nvPr/>
        </p:nvSpPr>
        <p:spPr>
          <a:xfrm>
            <a:off x="2468880" y="2907792"/>
            <a:ext cx="4046220"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20" name="Question"/>
          <p:cNvSpPr txBox="1"/>
          <p:nvPr/>
        </p:nvSpPr>
        <p:spPr>
          <a:xfrm>
            <a:off x="365760" y="4572000"/>
            <a:ext cx="7315200"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Start before the first dose</a:t>
            </a:r>
            <a:endParaRPr lang="en-US" sz="24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21/31</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Before immunosuppression: summary</a:t>
            </a:r>
            <a:endParaRPr lang="en-US" sz="3000" dirty="0"/>
          </a:p>
        </p:txBody>
      </p:sp>
      <p:sp>
        <p:nvSpPr>
          <p:cNvPr id="3" name="Text 1"/>
          <p:cNvSpPr/>
          <p:nvPr/>
        </p:nvSpPr>
        <p:spPr>
          <a:xfrm>
            <a:off x="2194560" y="1097280"/>
            <a:ext cx="777240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Before chemotherapy or immunosuppression: HBsAg, anti-HBc, anti-HBs</a:t>
            </a:r>
            <a:endParaRPr lang="en-US" sz="1800" dirty="0"/>
          </a:p>
        </p:txBody>
      </p:sp>
      <p:sp>
        <p:nvSpPr>
          <p:cNvPr id="4" name="Shape 2"/>
          <p:cNvSpPr/>
          <p:nvPr/>
        </p:nvSpPr>
        <p:spPr>
          <a:xfrm>
            <a:off x="6080760" y="1645920"/>
            <a:ext cx="0" cy="274320"/>
          </a:xfrm>
          <a:prstGeom prst="line">
            <a:avLst/>
          </a:prstGeom>
          <a:noFill/>
          <a:ln w="19050">
            <a:solidFill>
              <a:srgbClr val="595959"/>
            </a:solidFill>
            <a:prstDash val="solid"/>
          </a:ln>
        </p:spPr>
      </p:sp>
      <p:sp>
        <p:nvSpPr>
          <p:cNvPr id="5" name="Shape 3"/>
          <p:cNvSpPr/>
          <p:nvPr/>
        </p:nvSpPr>
        <p:spPr>
          <a:xfrm>
            <a:off x="2148840" y="1920240"/>
            <a:ext cx="7863840" cy="0"/>
          </a:xfrm>
          <a:prstGeom prst="line">
            <a:avLst/>
          </a:prstGeom>
          <a:noFill/>
          <a:ln w="19050">
            <a:solidFill>
              <a:srgbClr val="595959"/>
            </a:solidFill>
            <a:prstDash val="solid"/>
          </a:ln>
        </p:spPr>
      </p:sp>
      <p:sp>
        <p:nvSpPr>
          <p:cNvPr id="6" name="Shape 4"/>
          <p:cNvSpPr/>
          <p:nvPr/>
        </p:nvSpPr>
        <p:spPr>
          <a:xfrm>
            <a:off x="2148840" y="1920240"/>
            <a:ext cx="0" cy="274320"/>
          </a:xfrm>
          <a:prstGeom prst="line">
            <a:avLst/>
          </a:prstGeom>
          <a:noFill/>
          <a:ln w="19050">
            <a:solidFill>
              <a:srgbClr val="595959"/>
            </a:solidFill>
            <a:prstDash val="solid"/>
            <a:tailEnd type="triangle"/>
          </a:ln>
        </p:spPr>
      </p:sp>
      <p:sp>
        <p:nvSpPr>
          <p:cNvPr id="7" name="Shape 5"/>
          <p:cNvSpPr/>
          <p:nvPr/>
        </p:nvSpPr>
        <p:spPr>
          <a:xfrm>
            <a:off x="6080760" y="1920240"/>
            <a:ext cx="0" cy="274320"/>
          </a:xfrm>
          <a:prstGeom prst="line">
            <a:avLst/>
          </a:prstGeom>
          <a:noFill/>
          <a:ln w="19050">
            <a:solidFill>
              <a:srgbClr val="595959"/>
            </a:solidFill>
            <a:prstDash val="solid"/>
            <a:tailEnd type="triangle"/>
          </a:ln>
        </p:spPr>
      </p:sp>
      <p:sp>
        <p:nvSpPr>
          <p:cNvPr id="8" name="Shape 6"/>
          <p:cNvSpPr/>
          <p:nvPr/>
        </p:nvSpPr>
        <p:spPr>
          <a:xfrm>
            <a:off x="10012680" y="1920240"/>
            <a:ext cx="0" cy="274320"/>
          </a:xfrm>
          <a:prstGeom prst="line">
            <a:avLst/>
          </a:prstGeom>
          <a:noFill/>
          <a:ln w="19050">
            <a:solidFill>
              <a:srgbClr val="595959"/>
            </a:solidFill>
            <a:prstDash val="solid"/>
            <a:tailEnd type="triangle"/>
          </a:ln>
        </p:spPr>
      </p:sp>
      <p:sp>
        <p:nvSpPr>
          <p:cNvPr id="9" name="Text 7"/>
          <p:cNvSpPr/>
          <p:nvPr/>
        </p:nvSpPr>
        <p:spPr>
          <a:xfrm>
            <a:off x="41148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positive</a:t>
            </a:r>
            <a:endParaRPr lang="en-US" sz="1700" dirty="0"/>
          </a:p>
        </p:txBody>
      </p:sp>
      <p:sp>
        <p:nvSpPr>
          <p:cNvPr id="10" name="Text 8"/>
          <p:cNvSpPr/>
          <p:nvPr/>
        </p:nvSpPr>
        <p:spPr>
          <a:xfrm>
            <a:off x="434340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negative, anti-HBc positive</a:t>
            </a:r>
            <a:endParaRPr lang="en-US" sz="1700" dirty="0"/>
          </a:p>
        </p:txBody>
      </p:sp>
      <p:sp>
        <p:nvSpPr>
          <p:cNvPr id="11" name="Text 9"/>
          <p:cNvSpPr/>
          <p:nvPr/>
        </p:nvSpPr>
        <p:spPr>
          <a:xfrm>
            <a:off x="827532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All negative</a:t>
            </a:r>
            <a:endParaRPr lang="en-US" sz="1700" dirty="0"/>
          </a:p>
        </p:txBody>
      </p:sp>
      <p:sp>
        <p:nvSpPr>
          <p:cNvPr id="12" name="Shape 10"/>
          <p:cNvSpPr/>
          <p:nvPr/>
        </p:nvSpPr>
        <p:spPr>
          <a:xfrm>
            <a:off x="2148840" y="2743200"/>
            <a:ext cx="0" cy="320040"/>
          </a:xfrm>
          <a:prstGeom prst="line">
            <a:avLst/>
          </a:prstGeom>
          <a:noFill/>
          <a:ln w="19050">
            <a:solidFill>
              <a:srgbClr val="595959"/>
            </a:solidFill>
            <a:prstDash val="solid"/>
            <a:tailEnd type="triangle"/>
          </a:ln>
        </p:spPr>
      </p:sp>
      <p:sp>
        <p:nvSpPr>
          <p:cNvPr id="13" name="Text 11"/>
          <p:cNvSpPr/>
          <p:nvPr/>
        </p:nvSpPr>
        <p:spPr>
          <a:xfrm>
            <a:off x="411480" y="3063240"/>
            <a:ext cx="3474720" cy="9144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Prophylaxis: entecavir, TDF or TAF</a:t>
            </a:r>
            <a:endParaRPr lang="en-US" sz="1800" dirty="0"/>
          </a:p>
        </p:txBody>
      </p:sp>
      <p:sp>
        <p:nvSpPr>
          <p:cNvPr id="14" name="Shape 12"/>
          <p:cNvSpPr/>
          <p:nvPr/>
        </p:nvSpPr>
        <p:spPr>
          <a:xfrm>
            <a:off x="6080760" y="2743200"/>
            <a:ext cx="0" cy="320040"/>
          </a:xfrm>
          <a:prstGeom prst="line">
            <a:avLst/>
          </a:prstGeom>
          <a:noFill/>
          <a:ln w="19050">
            <a:solidFill>
              <a:srgbClr val="595959"/>
            </a:solidFill>
            <a:prstDash val="solid"/>
            <a:tailEnd type="triangle"/>
          </a:ln>
        </p:spPr>
      </p:sp>
      <p:sp>
        <p:nvSpPr>
          <p:cNvPr id="15" name="Text 13"/>
          <p:cNvSpPr/>
          <p:nvPr/>
        </p:nvSpPr>
        <p:spPr>
          <a:xfrm>
            <a:off x="4343400" y="3063240"/>
            <a:ext cx="3474720" cy="86868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High risk (anti-CD20, stem cell transplant): prophylaxis</a:t>
            </a:r>
            <a:endParaRPr lang="en-US" sz="1700" dirty="0"/>
          </a:p>
        </p:txBody>
      </p:sp>
      <p:sp>
        <p:nvSpPr>
          <p:cNvPr id="16" name="Shape 14"/>
          <p:cNvSpPr/>
          <p:nvPr/>
        </p:nvSpPr>
        <p:spPr>
          <a:xfrm>
            <a:off x="6080760" y="3931920"/>
            <a:ext cx="0" cy="182880"/>
          </a:xfrm>
          <a:prstGeom prst="line">
            <a:avLst/>
          </a:prstGeom>
          <a:noFill/>
          <a:ln w="19050">
            <a:solidFill>
              <a:srgbClr val="595959"/>
            </a:solidFill>
            <a:prstDash val="solid"/>
            <a:tailEnd type="triangle"/>
          </a:ln>
        </p:spPr>
      </p:sp>
      <p:sp>
        <p:nvSpPr>
          <p:cNvPr id="17" name="Text 15"/>
          <p:cNvSpPr/>
          <p:nvPr/>
        </p:nvSpPr>
        <p:spPr>
          <a:xfrm>
            <a:off x="4343400" y="4114800"/>
            <a:ext cx="3474720" cy="868680"/>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Moderate risk: prophylaxis preferred, or DNA and ALT every 1 to 3 months</a:t>
            </a:r>
            <a:endParaRPr lang="en-US" sz="1600" dirty="0"/>
          </a:p>
        </p:txBody>
      </p:sp>
      <p:sp>
        <p:nvSpPr>
          <p:cNvPr id="18" name="Shape 16"/>
          <p:cNvSpPr/>
          <p:nvPr/>
        </p:nvSpPr>
        <p:spPr>
          <a:xfrm>
            <a:off x="6080760" y="4983480"/>
            <a:ext cx="0" cy="137160"/>
          </a:xfrm>
          <a:prstGeom prst="line">
            <a:avLst/>
          </a:prstGeom>
          <a:noFill/>
          <a:ln w="19050">
            <a:solidFill>
              <a:srgbClr val="595959"/>
            </a:solidFill>
            <a:prstDash val="solid"/>
            <a:tailEnd type="triangle"/>
          </a:ln>
        </p:spPr>
      </p:sp>
      <p:sp>
        <p:nvSpPr>
          <p:cNvPr id="19" name="Text 17"/>
          <p:cNvSpPr/>
          <p:nvPr/>
        </p:nvSpPr>
        <p:spPr>
          <a:xfrm>
            <a:off x="4343400" y="5120640"/>
            <a:ext cx="3474720" cy="45720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Low risk: monitor</a:t>
            </a:r>
            <a:endParaRPr lang="en-US" sz="1600" dirty="0"/>
          </a:p>
        </p:txBody>
      </p:sp>
      <p:sp>
        <p:nvSpPr>
          <p:cNvPr id="20" name="Shape 18"/>
          <p:cNvSpPr/>
          <p:nvPr/>
        </p:nvSpPr>
        <p:spPr>
          <a:xfrm>
            <a:off x="10012680" y="2743200"/>
            <a:ext cx="0" cy="320040"/>
          </a:xfrm>
          <a:prstGeom prst="line">
            <a:avLst/>
          </a:prstGeom>
          <a:noFill/>
          <a:ln w="19050">
            <a:solidFill>
              <a:srgbClr val="595959"/>
            </a:solidFill>
            <a:prstDash val="solid"/>
            <a:tailEnd type="triangle"/>
          </a:ln>
        </p:spPr>
      </p:sp>
      <p:sp>
        <p:nvSpPr>
          <p:cNvPr id="21" name="Text 19"/>
          <p:cNvSpPr/>
          <p:nvPr/>
        </p:nvSpPr>
        <p:spPr>
          <a:xfrm>
            <a:off x="8275320" y="3063240"/>
            <a:ext cx="3474720" cy="91440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Vaccinate</a:t>
            </a:r>
            <a:endParaRPr lang="en-US" sz="1800" dirty="0"/>
          </a:p>
        </p:txBody>
      </p:sp>
      <p:sp>
        <p:nvSpPr>
          <p:cNvPr id="22" name="Text 20"/>
          <p:cNvSpPr/>
          <p:nvPr/>
        </p:nvSpPr>
        <p:spPr>
          <a:xfrm>
            <a:off x="411480" y="5715000"/>
            <a:ext cx="11338560" cy="50292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Prophylaxis: start before the first dose; continue 6 months after the last dose, 12 months after anti-CD20</a:t>
            </a:r>
            <a:endParaRPr lang="en-US" sz="16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22/31</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365760" y="1234440"/>
          <a:ext cx="6309360" cy="914400"/>
        </p:xfrm>
        <a:graphic>
          <a:graphicData uri="http://schemas.openxmlformats.org/drawingml/2006/table">
            <a:tbl>
              <a:tblPr/>
              <a:tblGrid>
                <a:gridCol w="1325880"/>
                <a:gridCol w="1325880"/>
                <a:gridCol w="2496312"/>
                <a:gridCol w="1161288"/>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365760" y="2514600"/>
            <a:ext cx="6309360"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 do you do for her and the baby?</a:t>
            </a:r>
            <a:endParaRPr lang="en-US" sz="2200" dirty="0"/>
          </a:p>
        </p:txBody>
      </p:sp>
      <p:pic>
        <p:nvPicPr>
          <p:cNvPr id="5" name="Image 0" descr="Watercolor of a seated pregnant woman in profile">    </p:cNvPr>
          <p:cNvPicPr>
            <a:picLocks noChangeAspect="1"/>
          </p:cNvPicPr>
          <p:nvPr/>
        </p:nvPicPr>
        <p:blipFill>
          <a:blip r:embed="rId1"/>
          <a:stretch>
            <a:fillRect/>
          </a:stretch>
        </p:blipFill>
        <p:spPr>
          <a:xfrm>
            <a:off x="6949440" y="1097280"/>
            <a:ext cx="5029200" cy="502920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Hepatology 2026;83:974-997, PMID 41186418. CDC perinatal hepatitis B guidance.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23/31</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365760" y="1234440"/>
          <a:ext cx="6309360" cy="914400"/>
        </p:xfrm>
        <a:graphic>
          <a:graphicData uri="http://schemas.openxmlformats.org/drawingml/2006/table">
            <a:tbl>
              <a:tblPr/>
              <a:tblGrid>
                <a:gridCol w="1325880"/>
                <a:gridCol w="1325880"/>
                <a:gridCol w="2496312"/>
                <a:gridCol w="1161288"/>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365760" y="2514600"/>
            <a:ext cx="6309360"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 do you do for her and the baby?</a:t>
            </a:r>
            <a:endParaRPr lang="en-US" sz="2200" dirty="0"/>
          </a:p>
        </p:txBody>
      </p:sp>
      <p:pic>
        <p:nvPicPr>
          <p:cNvPr id="5" name="Image 0" descr="Watercolor of a seated pregnant woman in profile">    </p:cNvPr>
          <p:cNvPicPr>
            <a:picLocks noChangeAspect="1"/>
          </p:cNvPicPr>
          <p:nvPr/>
        </p:nvPicPr>
        <p:blipFill>
          <a:blip r:embed="rId1"/>
          <a:stretch>
            <a:fillRect/>
          </a:stretch>
        </p:blipFill>
        <p:spPr>
          <a:xfrm>
            <a:off x="6949440" y="1097280"/>
            <a:ext cx="5029200" cy="5029200"/>
          </a:xfrm>
          <a:prstGeom prst="rect">
            <a:avLst/>
          </a:prstGeom>
        </p:spPr>
      </p:pic>
      <p:sp>
        <p:nvSpPr>
          <p:cNvPr id="6" name="Body"/>
          <p:cNvSpPr txBox="1"/>
          <p:nvPr/>
        </p:nvSpPr>
        <p:spPr>
          <a:xfrm>
            <a:off x="548640" y="3383280"/>
            <a:ext cx="6400800" cy="2560320"/>
          </a:xfrm>
          <a:prstGeom prst="rect">
            <a:avLst/>
          </a:prstGeom>
          <a:noFill/>
          <a:ln/>
        </p:spPr>
        <p:txBody>
          <a:bodyPr wrap="square" lIns="50800" tIns="50800" rIns="50800" bIns="50800" rtlCol="0" anchor="t"/>
          <a:lstStyle/>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Hepatology 2026;83:974-997, PMID 41186418. CDC perinatal hepatitis B guidance.</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23/31</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24/31</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Pregnancy: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HBsAg in every pregnancy</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HBsAg positive: check DNA and ALT</a:t>
            </a:r>
            <a:endParaRPr lang="en-US" sz="2100" dirty="0"/>
          </a:p>
          <a:p>
            <a:pPr marL="228600" indent="-228600">
              <a:spcBef>
                <a:spcPts val="1000"/>
              </a:spcBef>
              <a:buSzPct val="100000"/>
              <a:buChar char="–"/>
            </a:pPr>
            <a:r>
              <a:rPr lang="en-US" sz="2100" b="1" dirty="0">
                <a:solidFill>
                  <a:srgbClr val="000000"/>
                </a:solidFill>
                <a:latin typeface="Georgia" pitchFamily="34" charset="0"/>
                <a:ea typeface="Georgia" pitchFamily="34" charset="-122"/>
                <a:cs typeface="Georgia" pitchFamily="34" charset="-120"/>
              </a:rPr>
              <a:t>DNA above 200,000: TDF or TAF from week 28</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Baby: hepatitis B vaccine and HBIG within 12 hours of birth, then finish the series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the baby at 9 to 12 months: HBsAg and anti-HBs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Breastfeeding is fine</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If she stops after delivery: DNA and ALT every 1 to 3 months for 6 months</a:t>
            </a:r>
            <a:endParaRPr lang="en-US" sz="2100" dirty="0"/>
          </a:p>
        </p:txBody>
      </p:sp>
      <p:pic>
        <p:nvPicPr>
          <p:cNvPr id="4" name="Image 0" descr="Watercolor of a seated pregnant woman in profile">    </p:cNvPr>
          <p:cNvPicPr>
            <a:picLocks noChangeAspect="1"/>
          </p:cNvPicPr>
          <p:nvPr/>
        </p:nvPicPr>
        <p:blipFill>
          <a:blip r:embed="rId1"/>
          <a:stretch>
            <a:fillRect/>
          </a:stretch>
        </p:blipFill>
        <p:spPr>
          <a:xfrm>
            <a:off x="7772400" y="118872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2023 (PMID 36893044); CDC perinatal hepatitis B guidance.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25/31</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365760" y="1143000"/>
          <a:ext cx="7863840" cy="914400"/>
        </p:xfrm>
        <a:graphic>
          <a:graphicData uri="http://schemas.openxmlformats.org/drawingml/2006/table">
            <a:tbl>
              <a:tblPr/>
              <a:tblGrid>
                <a:gridCol w="4443984"/>
                <a:gridCol w="2660904"/>
                <a:gridCol w="758952"/>
              </a:tblGrid>
              <a:tr h="51206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Condition for stopping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Our patient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cirrhosis or advanced disease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Stiffness 5.9 kPa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HBV DNA undetectable for 2 years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Undetectable for 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HBsAg under 100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HBeAg seroconversion 1 year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In his late 40s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HIV or HDV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Both negative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Reliable follow-up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12064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26/31</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365760" y="1143000"/>
          <a:ext cx="7863840" cy="914400"/>
        </p:xfrm>
        <a:graphic>
          <a:graphicData uri="http://schemas.openxmlformats.org/drawingml/2006/table">
            <a:tbl>
              <a:tblPr/>
              <a:tblGrid>
                <a:gridCol w="4443984"/>
                <a:gridCol w="2660904"/>
                <a:gridCol w="758952"/>
              </a:tblGrid>
              <a:tr h="51206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Condition for stopping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Our patient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cirrhosis or advanced disease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Stiffness 5.9 kPa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HBV DNA undetectable for 2 years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Undetectable for 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HBsAg under 100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No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HBeAg seroconversion 1 year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In his late 40s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HIV or HDV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Both negative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Reliable follow-up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12064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Question"/>
          <p:cNvSpPr txBox="1"/>
          <p:nvPr/>
        </p:nvSpPr>
        <p:spPr>
          <a:xfrm>
            <a:off x="365760" y="5669280"/>
            <a:ext cx="7863840"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26/31</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if he had stopped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the same man in his fifties, gray at the temples, with reading glasses">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27/31</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if he had stopped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the same man in his fifties, gray at the temples, with reading glasses">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27/31</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Stopping: summary</a:t>
            </a:r>
            <a:endParaRPr lang="en-US" sz="3000" dirty="0"/>
          </a:p>
        </p:txBody>
      </p:sp>
      <p:sp>
        <p:nvSpPr>
          <p:cNvPr id="3" name="Body"/>
          <p:cNvSpPr txBox="1"/>
          <p:nvPr/>
        </p:nvSpPr>
        <p:spPr>
          <a:xfrm>
            <a:off x="457200" y="1188720"/>
            <a:ext cx="5212080" cy="47548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Default: continue until HBsAg is lost</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Stop only if all of these: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DNA undetectable for 2 years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If HBeAg positive at the start: seroconverted 1 year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HBsAg under 100 IU/mL</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HIV or HDV</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Reliable follow-up</a:t>
            </a:r>
            <a:endParaRPr lang="en-US" sz="2100" dirty="0"/>
          </a:p>
        </p:txBody>
      </p:sp>
      <p:sp>
        <p:nvSpPr>
          <p:cNvPr id="4" name="Text 2"/>
          <p:cNvSpPr txBox="1"/>
          <p:nvPr/>
        </p:nvSpPr>
        <p:spPr>
          <a:xfrm>
            <a:off x="5943600" y="1188720"/>
            <a:ext cx="5943600" cy="41148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After stopping</a:t>
            </a:r>
            <a:endParaRPr lang="en-US" sz="2000" dirty="0"/>
          </a:p>
        </p:txBody>
      </p:sp>
      <p:sp>
        <p:nvSpPr>
          <p:cNvPr id="5" name="Text 3"/>
          <p:cNvSpPr/>
          <p:nvPr/>
        </p:nvSpPr>
        <p:spPr>
          <a:xfrm>
            <a:off x="6126480" y="173736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0 to 6: DNA and ALT every 1 to 3 months</a:t>
            </a:r>
            <a:endParaRPr lang="en-US" sz="1600" dirty="0"/>
          </a:p>
        </p:txBody>
      </p:sp>
      <p:sp>
        <p:nvSpPr>
          <p:cNvPr id="6" name="Shape 4"/>
          <p:cNvSpPr/>
          <p:nvPr/>
        </p:nvSpPr>
        <p:spPr>
          <a:xfrm>
            <a:off x="8961120" y="2286000"/>
            <a:ext cx="0" cy="228600"/>
          </a:xfrm>
          <a:prstGeom prst="line">
            <a:avLst/>
          </a:prstGeom>
          <a:noFill/>
          <a:ln w="19050">
            <a:solidFill>
              <a:srgbClr val="595959"/>
            </a:solidFill>
            <a:prstDash val="solid"/>
            <a:tailEnd type="triangle"/>
          </a:ln>
        </p:spPr>
      </p:sp>
      <p:sp>
        <p:nvSpPr>
          <p:cNvPr id="7" name="Text 5"/>
          <p:cNvSpPr/>
          <p:nvPr/>
        </p:nvSpPr>
        <p:spPr>
          <a:xfrm>
            <a:off x="6126480" y="251460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6 to 12: every 3 months</a:t>
            </a:r>
            <a:endParaRPr lang="en-US" sz="1600" dirty="0"/>
          </a:p>
        </p:txBody>
      </p:sp>
      <p:sp>
        <p:nvSpPr>
          <p:cNvPr id="8" name="Shape 6"/>
          <p:cNvSpPr/>
          <p:nvPr/>
        </p:nvSpPr>
        <p:spPr>
          <a:xfrm>
            <a:off x="8961120" y="3063240"/>
            <a:ext cx="0" cy="228600"/>
          </a:xfrm>
          <a:prstGeom prst="line">
            <a:avLst/>
          </a:prstGeom>
          <a:noFill/>
          <a:ln w="19050">
            <a:solidFill>
              <a:srgbClr val="595959"/>
            </a:solidFill>
            <a:prstDash val="solid"/>
            <a:tailEnd type="triangle"/>
          </a:ln>
        </p:spPr>
      </p:sp>
      <p:sp>
        <p:nvSpPr>
          <p:cNvPr id="9" name="Text 7"/>
          <p:cNvSpPr/>
          <p:nvPr/>
        </p:nvSpPr>
        <p:spPr>
          <a:xfrm>
            <a:off x="6126480" y="329184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After 12 months: every 3 to 6 months</a:t>
            </a:r>
            <a:endParaRPr lang="en-US" sz="1600" dirty="0"/>
          </a:p>
        </p:txBody>
      </p:sp>
      <p:sp>
        <p:nvSpPr>
          <p:cNvPr id="10" name="Text 8"/>
          <p:cNvSpPr/>
          <p:nvPr/>
        </p:nvSpPr>
        <p:spPr>
          <a:xfrm>
            <a:off x="6126480" y="4297680"/>
            <a:ext cx="5669280" cy="109728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Restart now: DNA 10,000 or more, ALT above 5 times ULN, bilirubin above 2.5 mg/dL, or decompensation</a:t>
            </a:r>
            <a:endParaRPr lang="en-US" sz="1700" dirty="0"/>
          </a:p>
        </p:txBody>
      </p:sp>
      <p:sp>
        <p:nvSpPr>
          <p:cNvPr id="1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and Table 3 (PMID 41186418).</a:t>
            </a:r>
            <a:endParaRPr lang="en-US" sz="10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28/31</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at 57: a new drug</a:t>
            </a:r>
            <a:endParaRPr lang="en-US" sz="3000" dirty="0"/>
          </a:p>
        </p:txBody>
      </p:sp>
      <p:sp>
        <p:nvSpPr>
          <p:cNvPr id="3" name="Question"/>
          <p:cNvSpPr txBox="1"/>
          <p:nvPr/>
        </p:nvSpPr>
        <p:spPr>
          <a:xfrm>
            <a:off x="365760" y="1097280"/>
            <a:ext cx="786384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he a candidate for bepirovirsen?</a:t>
            </a:r>
            <a:endParaRPr lang="en-US" sz="24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863840" cy="914400"/>
        </p:xfrm>
        <a:graphic>
          <a:graphicData uri="http://schemas.openxmlformats.org/drawingml/2006/table">
            <a:tbl>
              <a:tblPr/>
              <a:tblGrid>
                <a:gridCol w="5120640"/>
                <a:gridCol w="1938528"/>
                <a:gridCol w="804672"/>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FDA label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Adult, no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On a nucleos(t)ide analogue 6 months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TAF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suppressed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3,000 IU/mL or lower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5"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20 October 2026. Hou J et al. N Engl J Med 2026;394:2395-2406, PMID 42206582 (B-Well 1 and 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29/31</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at 57: a new drug</a:t>
            </a:r>
            <a:endParaRPr lang="en-US" sz="3000" dirty="0"/>
          </a:p>
        </p:txBody>
      </p:sp>
      <p:sp>
        <p:nvSpPr>
          <p:cNvPr id="3" name="Question"/>
          <p:cNvSpPr txBox="1"/>
          <p:nvPr/>
        </p:nvSpPr>
        <p:spPr>
          <a:xfrm>
            <a:off x="365760" y="1097280"/>
            <a:ext cx="786384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he a candidate for bepirovirsen?</a:t>
            </a:r>
            <a:endParaRPr lang="en-US" sz="24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863840" cy="914400"/>
        </p:xfrm>
        <a:graphic>
          <a:graphicData uri="http://schemas.openxmlformats.org/drawingml/2006/table">
            <a:tbl>
              <a:tblPr/>
              <a:tblGrid>
                <a:gridCol w="5120640"/>
                <a:gridCol w="1938528"/>
                <a:gridCol w="804672"/>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FDA label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Adult, no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On a nucleos(t)ide analogue 6 months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TAF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suppressed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3,000 IU/mL or lower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5"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6" name="Question"/>
          <p:cNvSpPr txBox="1"/>
          <p:nvPr/>
        </p:nvSpPr>
        <p:spPr>
          <a:xfrm>
            <a:off x="365760" y="4800600"/>
            <a:ext cx="7863840"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Yes. FDA approved 20 October 2026</a:t>
            </a:r>
            <a:endParaRPr lang="en-US" sz="2400" dirty="0"/>
          </a:p>
        </p:txBody>
      </p:sp>
      <p:sp>
        <p:nvSpPr>
          <p:cNvPr id="7" name="Text 3"/>
          <p:cNvSpPr txBox="1"/>
          <p:nvPr/>
        </p:nvSpPr>
        <p:spPr>
          <a:xfrm>
            <a:off x="365760" y="5394960"/>
            <a:ext cx="7863840" cy="73152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About 1 in 5 had HBsAg loss 24 weeks after stopping all treatment; none on placebo</a:t>
            </a:r>
            <a:endParaRPr lang="en-US" sz="19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20 October 2026. Hou J et al. N Engl J Med 2026;394:2395-2406, PMID 42206582 (B-Well 1 and 2).</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29/31</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he man in his fifties">    </p:cNvPr>
          <p:cNvPicPr>
            <a:picLocks noChangeAspect="1"/>
          </p:cNvPicPr>
          <p:nvPr/>
        </p:nvPicPr>
        <p:blipFill>
          <a:blip r:embed="rId1"/>
          <a:stretch>
            <a:fillRect/>
          </a:stretch>
        </p:blipFill>
        <p:spPr>
          <a:xfrm>
            <a:off x="594360" y="1143000"/>
            <a:ext cx="3291840" cy="3291840"/>
          </a:xfrm>
          <a:prstGeom prst="rect">
            <a:avLst/>
          </a:prstGeom>
        </p:spPr>
      </p:pic>
      <p:sp>
        <p:nvSpPr>
          <p:cNvPr id="4" name="Text 1"/>
          <p:cNvSpPr txBox="1"/>
          <p:nvPr/>
        </p:nvSpPr>
        <p:spPr>
          <a:xfrm>
            <a:off x="457200" y="4526280"/>
            <a:ext cx="3566160" cy="45720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Man, 34 to 57</a:t>
            </a:r>
            <a:endParaRPr lang="en-US" sz="2000" dirty="0"/>
          </a:p>
        </p:txBody>
      </p:sp>
      <p:sp>
        <p:nvSpPr>
          <p:cNvPr id="5" name="Text 2"/>
          <p:cNvSpPr txBox="1"/>
          <p:nvPr/>
        </p:nvSpPr>
        <p:spPr>
          <a:xfrm>
            <a:off x="457200" y="4983480"/>
            <a:ext cx="3566160" cy="118872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Monitor, surveillance from 41, TAF at 52. Now a candidate for bepirovirsen</a:t>
            </a:r>
            <a:endParaRPr lang="en-US" sz="1700" dirty="0"/>
          </a:p>
        </p:txBody>
      </p:sp>
      <p:pic>
        <p:nvPicPr>
          <p:cNvPr id="6" name="Image 1" descr="Watercolor of an IV bag and infusion pump">    </p:cNvPr>
          <p:cNvPicPr>
            <a:picLocks noChangeAspect="1"/>
          </p:cNvPicPr>
          <p:nvPr/>
        </p:nvPicPr>
        <p:blipFill>
          <a:blip r:embed="rId2"/>
          <a:stretch>
            <a:fillRect/>
          </a:stretch>
        </p:blipFill>
        <p:spPr>
          <a:xfrm>
            <a:off x="4434840" y="1143000"/>
            <a:ext cx="3291840" cy="3291840"/>
          </a:xfrm>
          <a:prstGeom prst="rect">
            <a:avLst/>
          </a:prstGeom>
        </p:spPr>
      </p:pic>
      <p:sp>
        <p:nvSpPr>
          <p:cNvPr id="7" name="Text 3"/>
          <p:cNvSpPr txBox="1"/>
          <p:nvPr/>
        </p:nvSpPr>
        <p:spPr>
          <a:xfrm>
            <a:off x="4297680" y="4526280"/>
            <a:ext cx="3566160" cy="45720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Woman, 61, rituximab</a:t>
            </a:r>
            <a:endParaRPr lang="en-US" sz="2000" dirty="0"/>
          </a:p>
        </p:txBody>
      </p:sp>
      <p:sp>
        <p:nvSpPr>
          <p:cNvPr id="8" name="Text 4"/>
          <p:cNvSpPr txBox="1"/>
          <p:nvPr/>
        </p:nvSpPr>
        <p:spPr>
          <a:xfrm>
            <a:off x="4297680" y="4983480"/>
            <a:ext cx="3566160" cy="118872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Entecavir, TDF or TAF before the first dose, 12 months after the last</a:t>
            </a:r>
            <a:endParaRPr lang="en-US" sz="1700" dirty="0"/>
          </a:p>
        </p:txBody>
      </p:sp>
      <p:pic>
        <p:nvPicPr>
          <p:cNvPr id="9" name="Image 2" descr="Watercolor of a seated pregnant woman">    </p:cNvPr>
          <p:cNvPicPr>
            <a:picLocks noChangeAspect="1"/>
          </p:cNvPicPr>
          <p:nvPr/>
        </p:nvPicPr>
        <p:blipFill>
          <a:blip r:embed="rId3"/>
          <a:stretch>
            <a:fillRect/>
          </a:stretch>
        </p:blipFill>
        <p:spPr>
          <a:xfrm>
            <a:off x="8275320" y="1143000"/>
            <a:ext cx="3291840" cy="3291840"/>
          </a:xfrm>
          <a:prstGeom prst="rect">
            <a:avLst/>
          </a:prstGeom>
        </p:spPr>
      </p:pic>
      <p:sp>
        <p:nvSpPr>
          <p:cNvPr id="10" name="Text 5"/>
          <p:cNvSpPr txBox="1"/>
          <p:nvPr/>
        </p:nvSpPr>
        <p:spPr>
          <a:xfrm>
            <a:off x="8138160" y="4526280"/>
            <a:ext cx="3566160" cy="45720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Woman, 29, pregnant</a:t>
            </a:r>
            <a:endParaRPr lang="en-US" sz="2000" dirty="0"/>
          </a:p>
        </p:txBody>
      </p:sp>
      <p:sp>
        <p:nvSpPr>
          <p:cNvPr id="11" name="Text 6"/>
          <p:cNvSpPr txBox="1"/>
          <p:nvPr/>
        </p:nvSpPr>
        <p:spPr>
          <a:xfrm>
            <a:off x="8138160" y="4983480"/>
            <a:ext cx="3566160" cy="118872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TDF or TAF from week 28. Vaccine and HBIG within 12 hours</a:t>
            </a:r>
            <a:endParaRPr lang="en-US" sz="17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30/31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31/31</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2026-10-28T15:52:43Z</dcterms:created>
  <dcterms:modified xsi:type="dcterms:W3CDTF">2026-10-28T15:52:43Z</dcterms:modified>
</cp:coreProperties>
</file>