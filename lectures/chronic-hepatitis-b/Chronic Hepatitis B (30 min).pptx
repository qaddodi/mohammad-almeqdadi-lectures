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3.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dbef2e2-d5b2-7594-9f0f-80c4d6bfd790}">
          <p14:sldIdLst>
            <p14:sldId id="256"/>
            <p14:sldId id="257"/>
          </p14:sldIdLst>
        </p14:section>
        <p14:section name="History" id="{6d38acd5-7fab-b52d-a8e9-60609e9684f1}">
          <p14:sldIdLst>
            <p14:sldId id="258"/>
            <p14:sldId id="259"/>
          </p14:sldIdLst>
        </p14:section>
        <p14:section name="Testing" id="{6e5f41ba-4eb4-9577-d095-44720057469f}">
          <p14:sldIdLst>
            <p14:sldId id="260"/>
            <p14:sldId id="261"/>
            <p14:sldId id="262"/>
            <p14:sldId id="263"/>
          </p14:sldIdLst>
        </p14:section>
        <p14:section name="Serology" id="{88ebea3c-90f1-1c99-6a52-fb9811906d5f}">
          <p14:sldIdLst>
            <p14:sldId id="264"/>
            <p14:sldId id="265"/>
            <p14:sldId id="266"/>
            <p14:sldId id="267"/>
          </p14:sldIdLst>
        </p14:section>
        <p14:section name="Phases" id="{3e2bfc88-0342-c033-5c67-31151b47c870}">
          <p14:sldIdLst>
            <p14:sldId id="268"/>
            <p14:sldId id="269"/>
            <p14:sldId id="270"/>
            <p14:sldId id="271"/>
            <p14:sldId id="272"/>
            <p14:sldId id="273"/>
            <p14:sldId id="274"/>
            <p14:sldId id="275"/>
          </p14:sldIdLst>
        </p14:section>
        <p14:section name="Who to treat" id="{ee2194dc-258d-d4e5-d07a-09bc944c0e22}">
          <p14:sldIdLst>
            <p14:sldId id="276"/>
            <p14:sldId id="277"/>
            <p14:sldId id="278"/>
            <p14:sldId id="279"/>
            <p14:sldId id="280"/>
            <p14:sldId id="281"/>
            <p14:sldId id="282"/>
            <p14:sldId id="283"/>
            <p14:sldId id="284"/>
            <p14:sldId id="285"/>
          </p14:sldIdLst>
        </p14:section>
        <p14:section name="Drugs" id="{04b5c3fc-d8dc-06a2-3bed-8add02bc5733}">
          <p14:sldIdLst>
            <p14:sldId id="286"/>
            <p14:sldId id="287"/>
            <p14:sldId id="288"/>
            <p14:sldId id="289"/>
          </p14:sldIdLst>
        </p14:section>
        <p14:section name="HCC risk" id="{96c4f2fb-aedd-588c-99c0-efd4079df00f}">
          <p14:sldIdLst>
            <p14:sldId id="290"/>
            <p14:sldId id="291"/>
            <p14:sldId id="292"/>
            <p14:sldId id="293"/>
            <p14:sldId id="294"/>
          </p14:sldIdLst>
        </p14:section>
        <p14:section name="Special situations" id="{8d4fb6f4-2c6c-c577-146a-3f91b3545967}">
          <p14:sldIdLst>
            <p14:sldId id="295"/>
            <p14:sldId id="296"/>
            <p14:sldId id="297"/>
            <p14:sldId id="298"/>
            <p14:sldId id="299"/>
            <p14:sldId id="300"/>
            <p14:sldId id="301"/>
          </p14:sldIdLst>
        </p14:section>
        <p14:section name="Stopping and what is new" id="{8b305925-c6a7-6bc7-17e7-d3f5f59acd4b}">
          <p14:sldIdLst>
            <p14:sldId id="302"/>
            <p14:sldId id="303"/>
            <p14:sldId id="304"/>
          </p14:sldIdLst>
        </p14:section>
        <p14:section name="Close" id="{fbd37082-14ad-d4f8-afb0-570b45eac4e3}">
          <p14:sldIdLst>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Source for the slide text is the paper itself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short in the 30-minute version. Dane 1970 Lancet 1:695-698. Maupas 1976 Lancet 1:1367-1370. Szmuness 1980 NEJM 303:833-841. Beasley 1981 Lancet 2:1129-1133. The vaccine came before there was a screening test for liver cancer. A recombinant yeast vaccine was reported in 1984 (McAleer, Nature 307:178-180).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This is the figure from your sketch.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phases in the published form. Credit GESA 2022 (ASHM attributes Figure 3.1 to them). The reviewer could not confirm the original artist or the reuse licence, so check before putting this in anything you distribute.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Let the room commit. The next slide shows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calculator. PAGE-B matches the published table. The second model (HBsAg-HCC, Guo 2026, 1,190 training and 506 validation patients, abstract only) could not be checked against the paper, so say it is a research model, not validated. Do not call it externally verified.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from the AASLD/IDSA 2025 recommendation and the CDC infant schedule. Infant testing is HBsAg and anti-HBs at 9 to 12 months, or 1 to 2 months after a delayed final dose. Do not use anti-HBc for infant testing after vaccination. Evidence: Pan, NEJM 2016 (200 HBeAg-positive mothers; transmission 5% vs 18% by intention to treat) and Jourdain, NEJM 2018 (331 women; 0 vs 3 infected infants, p = 0.12, not superior because infant prophylaxis was already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FDA pages. Bepirovirsen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The FDA also authorized a Roche qHBsAg assay as a companion diagnostic. Boxed warning for serious liver reactions and low platelets; warnings include worsening kidney function and vasculitis. Hepcludex: accelerated approval, boxed warning for severe exacerbations of HDV and HBV on discontinuation.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2194560" y="1600200"/>
            <a:ext cx="78025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3" name="Shape 1"/>
          <p:cNvSpPr/>
          <p:nvPr/>
        </p:nvSpPr>
        <p:spPr>
          <a:xfrm>
            <a:off x="3291840" y="3291840"/>
            <a:ext cx="5608015" cy="0"/>
          </a:xfrm>
          <a:prstGeom prst="line">
            <a:avLst/>
          </a:prstGeom>
          <a:noFill/>
          <a:ln w="12700">
            <a:solidFill>
              <a:srgbClr val="A6A6A6"/>
            </a:solidFill>
            <a:prstDash val="solid"/>
          </a:ln>
        </p:spPr>
      </p:sp>
      <p:sp>
        <p:nvSpPr>
          <p:cNvPr id="4" name="Text 2"/>
          <p:cNvSpPr txBox="1"/>
          <p:nvPr/>
        </p:nvSpPr>
        <p:spPr>
          <a:xfrm>
            <a:off x="2194560" y="3657600"/>
            <a:ext cx="78025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0" descr="Tufts University School of Medicine">    </p:cNvPr>
          <p:cNvPicPr>
            <a:picLocks noChangeAspect="1"/>
          </p:cNvPicPr>
          <p:nvPr/>
        </p:nvPicPr>
        <p:blipFill>
          <a:blip r:embed="rId1"/>
          <a:stretch>
            <a:fillRect/>
          </a:stretch>
        </p:blipFill>
        <p:spPr>
          <a:xfrm>
            <a:off x="4363060" y="5349240"/>
            <a:ext cx="3465576" cy="704088"/>
          </a:xfrm>
          <a:prstGeom prst="rect">
            <a:avLst/>
          </a:prstGeom>
        </p:spPr>
      </p:pic>
      <p:pic>
        <p:nvPicPr>
          <p:cNvPr id="6" name="Image 1" descr="QR code linking to the slides PDF">    </p:cNvPr>
          <p:cNvPicPr>
            <a:picLocks noChangeAspect="1"/>
          </p:cNvPicPr>
          <p:nvPr/>
        </p:nvPicPr>
        <p:blipFill>
          <a:blip r:embed="rId2"/>
          <a:stretch>
            <a:fillRect/>
          </a:stretch>
        </p:blipFill>
        <p:spPr>
          <a:xfrm>
            <a:off x="10637215" y="4846320"/>
            <a:ext cx="1188720" cy="1188720"/>
          </a:xfrm>
          <a:prstGeom prst="rect">
            <a:avLst/>
          </a:prstGeom>
        </p:spPr>
      </p:pic>
      <p:sp>
        <p:nvSpPr>
          <p:cNvPr id="7"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675120" cy="2226715"/>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6675120" cy="1811211"/>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From antigen to vaccine</a:t>
            </a:r>
            <a:endParaRPr lang="en-US" sz="3000" dirty="0"/>
          </a:p>
        </p:txBody>
      </p:sp>
      <p:sp>
        <p:nvSpPr>
          <p:cNvPr id="3" name="Shape 1"/>
          <p:cNvSpPr/>
          <p:nvPr/>
        </p:nvSpPr>
        <p:spPr>
          <a:xfrm>
            <a:off x="822960" y="3291840"/>
            <a:ext cx="10545775" cy="0"/>
          </a:xfrm>
          <a:prstGeom prst="line">
            <a:avLst/>
          </a:prstGeom>
          <a:noFill/>
          <a:ln w="25400">
            <a:solidFill>
              <a:srgbClr val="595959"/>
            </a:solidFill>
            <a:prstDash val="solid"/>
          </a:ln>
        </p:spPr>
      </p:sp>
      <p:sp>
        <p:nvSpPr>
          <p:cNvPr id="4" name="Shape 2"/>
          <p:cNvSpPr/>
          <p:nvPr/>
        </p:nvSpPr>
        <p:spPr>
          <a:xfrm>
            <a:off x="1795242" y="3209544"/>
            <a:ext cx="164592" cy="164592"/>
          </a:xfrm>
          <a:prstGeom prst="ellipse">
            <a:avLst/>
          </a:prstGeom>
          <a:solidFill>
            <a:srgbClr val="1F4E79"/>
          </a:solidFill>
          <a:ln w="12700">
            <a:solidFill>
              <a:srgbClr val="1F4E79"/>
            </a:solidFill>
            <a:prstDash val="solid"/>
          </a:ln>
        </p:spPr>
      </p:sp>
      <p:sp>
        <p:nvSpPr>
          <p:cNvPr id="5" name="Text 3"/>
          <p:cNvSpPr txBox="1"/>
          <p:nvPr/>
        </p:nvSpPr>
        <p:spPr>
          <a:xfrm>
            <a:off x="82296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1965</a:t>
            </a:r>
            <a:endParaRPr lang="en-US" sz="2800" dirty="0"/>
          </a:p>
        </p:txBody>
      </p:sp>
      <p:sp>
        <p:nvSpPr>
          <p:cNvPr id="6" name="Text 4"/>
          <p:cNvSpPr txBox="1"/>
          <p:nvPr/>
        </p:nvSpPr>
        <p:spPr>
          <a:xfrm>
            <a:off x="89611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Alter and Visnich describe the Australia antigen</a:t>
            </a:r>
            <a:endParaRPr lang="en-US" sz="1700" dirty="0"/>
          </a:p>
        </p:txBody>
      </p:sp>
      <p:sp>
        <p:nvSpPr>
          <p:cNvPr id="7" name="Shape 5"/>
          <p:cNvSpPr/>
          <p:nvPr/>
        </p:nvSpPr>
        <p:spPr>
          <a:xfrm>
            <a:off x="3904397" y="3209544"/>
            <a:ext cx="164592" cy="164592"/>
          </a:xfrm>
          <a:prstGeom prst="ellipse">
            <a:avLst/>
          </a:prstGeom>
          <a:solidFill>
            <a:srgbClr val="1F4E79"/>
          </a:solidFill>
          <a:ln w="12700">
            <a:solidFill>
              <a:srgbClr val="1F4E79"/>
            </a:solidFill>
            <a:prstDash val="solid"/>
          </a:ln>
        </p:spPr>
      </p:sp>
      <p:sp>
        <p:nvSpPr>
          <p:cNvPr id="8" name="Text 6"/>
          <p:cNvSpPr txBox="1"/>
          <p:nvPr/>
        </p:nvSpPr>
        <p:spPr>
          <a:xfrm>
            <a:off x="293211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1970</a:t>
            </a:r>
            <a:endParaRPr lang="en-US" sz="2800" dirty="0"/>
          </a:p>
        </p:txBody>
      </p:sp>
      <p:sp>
        <p:nvSpPr>
          <p:cNvPr id="9" name="Text 7"/>
          <p:cNvSpPr txBox="1"/>
          <p:nvPr/>
        </p:nvSpPr>
        <p:spPr>
          <a:xfrm>
            <a:off x="300526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Dane, Cameron and Briggs see the virus particle in serum</a:t>
            </a:r>
            <a:endParaRPr lang="en-US" sz="1700" dirty="0"/>
          </a:p>
        </p:txBody>
      </p:sp>
      <p:sp>
        <p:nvSpPr>
          <p:cNvPr id="10" name="Shape 8"/>
          <p:cNvSpPr/>
          <p:nvPr/>
        </p:nvSpPr>
        <p:spPr>
          <a:xfrm>
            <a:off x="6013552" y="3209544"/>
            <a:ext cx="164592" cy="164592"/>
          </a:xfrm>
          <a:prstGeom prst="ellipse">
            <a:avLst/>
          </a:prstGeom>
          <a:solidFill>
            <a:srgbClr val="1F4E79"/>
          </a:solidFill>
          <a:ln w="12700">
            <a:solidFill>
              <a:srgbClr val="1F4E79"/>
            </a:solidFill>
            <a:prstDash val="solid"/>
          </a:ln>
        </p:spPr>
      </p:sp>
      <p:sp>
        <p:nvSpPr>
          <p:cNvPr id="11" name="Text 9"/>
          <p:cNvSpPr txBox="1"/>
          <p:nvPr/>
        </p:nvSpPr>
        <p:spPr>
          <a:xfrm>
            <a:off x="504127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1976</a:t>
            </a:r>
            <a:endParaRPr lang="en-US" sz="2800" dirty="0"/>
          </a:p>
        </p:txBody>
      </p:sp>
      <p:sp>
        <p:nvSpPr>
          <p:cNvPr id="12" name="Text 10"/>
          <p:cNvSpPr txBox="1"/>
          <p:nvPr/>
        </p:nvSpPr>
        <p:spPr>
          <a:xfrm>
            <a:off x="511442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and Gajdusek receive the Nobel Prize. First immunization of people with plasma-derived vaccine (Maupas)</a:t>
            </a:r>
            <a:endParaRPr lang="en-US" sz="1700" dirty="0"/>
          </a:p>
        </p:txBody>
      </p:sp>
      <p:sp>
        <p:nvSpPr>
          <p:cNvPr id="13" name="Shape 11"/>
          <p:cNvSpPr/>
          <p:nvPr/>
        </p:nvSpPr>
        <p:spPr>
          <a:xfrm>
            <a:off x="8122707" y="3209544"/>
            <a:ext cx="164592" cy="164592"/>
          </a:xfrm>
          <a:prstGeom prst="ellipse">
            <a:avLst/>
          </a:prstGeom>
          <a:solidFill>
            <a:srgbClr val="1F4E79"/>
          </a:solidFill>
          <a:ln w="12700">
            <a:solidFill>
              <a:srgbClr val="1F4E79"/>
            </a:solidFill>
            <a:prstDash val="solid"/>
          </a:ln>
        </p:spPr>
      </p:sp>
      <p:sp>
        <p:nvSpPr>
          <p:cNvPr id="14" name="Text 12"/>
          <p:cNvSpPr txBox="1"/>
          <p:nvPr/>
        </p:nvSpPr>
        <p:spPr>
          <a:xfrm>
            <a:off x="715042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1980</a:t>
            </a:r>
            <a:endParaRPr lang="en-US" sz="2800" dirty="0"/>
          </a:p>
        </p:txBody>
      </p:sp>
      <p:sp>
        <p:nvSpPr>
          <p:cNvPr id="15" name="Text 13"/>
          <p:cNvSpPr txBox="1"/>
          <p:nvPr/>
        </p:nvSpPr>
        <p:spPr>
          <a:xfrm>
            <a:off x="722357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Szmuness: the vaccine works in a controlled trial of 1,083 men</a:t>
            </a:r>
            <a:endParaRPr lang="en-US" sz="1700" dirty="0"/>
          </a:p>
        </p:txBody>
      </p:sp>
      <p:sp>
        <p:nvSpPr>
          <p:cNvPr id="16" name="Shape 14"/>
          <p:cNvSpPr/>
          <p:nvPr/>
        </p:nvSpPr>
        <p:spPr>
          <a:xfrm>
            <a:off x="10231862" y="3209544"/>
            <a:ext cx="164592" cy="164592"/>
          </a:xfrm>
          <a:prstGeom prst="ellipse">
            <a:avLst/>
          </a:prstGeom>
          <a:solidFill>
            <a:srgbClr val="1F4E79"/>
          </a:solidFill>
          <a:ln w="12700">
            <a:solidFill>
              <a:srgbClr val="1F4E79"/>
            </a:solidFill>
            <a:prstDash val="solid"/>
          </a:ln>
        </p:spPr>
      </p:sp>
      <p:sp>
        <p:nvSpPr>
          <p:cNvPr id="17" name="Text 15"/>
          <p:cNvSpPr txBox="1"/>
          <p:nvPr/>
        </p:nvSpPr>
        <p:spPr>
          <a:xfrm>
            <a:off x="925958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1981</a:t>
            </a:r>
            <a:endParaRPr lang="en-US" sz="2800" dirty="0"/>
          </a:p>
        </p:txBody>
      </p:sp>
      <p:sp>
        <p:nvSpPr>
          <p:cNvPr id="18" name="Text 16"/>
          <p:cNvSpPr txBox="1"/>
          <p:nvPr/>
        </p:nvSpPr>
        <p:spPr>
          <a:xfrm>
            <a:off x="933273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Beasley: HBsAg carriers in Taiwan get liver cancer at a far higher rate</a:t>
            </a:r>
            <a:endParaRPr lang="en-US" sz="1700" dirty="0"/>
          </a:p>
        </p:txBody>
      </p:sp>
      <p:sp>
        <p:nvSpPr>
          <p:cNvPr id="1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PMIDs: Dane 4190997; Maupas 59012; Szmuness 6997738; Beasley 6118576.</a:t>
            </a:r>
            <a:endParaRPr lang="en-US" sz="1000" dirty="0"/>
          </a:p>
        </p:txBody>
      </p:sp>
      <p:sp>
        <p:nvSpPr>
          <p:cNvPr id="2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published version</a:t>
            </a:r>
            <a:endParaRPr lang="en-US" sz="3000" dirty="0"/>
          </a:p>
        </p:txBody>
      </p:sp>
      <p:pic>
        <p:nvPicPr>
          <p:cNvPr id="3" name="Image 0" descr="GESA 2022 natural history figure">    </p:cNvPr>
          <p:cNvPicPr>
            <a:picLocks noChangeAspect="1"/>
          </p:cNvPicPr>
          <p:nvPr/>
        </p:nvPicPr>
        <p:blipFill>
          <a:blip r:embed="rId1"/>
          <a:stretch>
            <a:fillRect/>
          </a:stretch>
        </p:blipFill>
        <p:spPr>
          <a:xfrm>
            <a:off x="2815726" y="1188720"/>
            <a:ext cx="6530068" cy="507492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GESA Australian consensus recommendations for the management of hepatitis B infection, 2022, Figure 3.1 (as shown in the ASHM B Positive chapter).</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10/30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Monitor ALT and DNA every 3 to 6 months</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AASLD/IDSA 2025: over age 40 supports treatment</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2377440" y="1097280"/>
          <a:ext cx="7406640" cy="914400"/>
        </p:xfrm>
        <a:graphic>
          <a:graphicData uri="http://schemas.openxmlformats.org/drawingml/2006/table">
            <a:tbl>
              <a:tblPr/>
              <a:tblGrid>
                <a:gridCol w="3794760"/>
                <a:gridCol w="3611880"/>
              </a:tblGrid>
              <a:tr h="47548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Test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Result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HBsAg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HBeAg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Negative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Anti-HBe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HBV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8,000 IU/mL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ALT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48 U/L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Platelets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190 x 10^9/L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FIB-4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Liver stiffness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6.8 kPa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14/30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2834640" y="1645920"/>
          <a:ext cx="6492240" cy="914400"/>
        </p:xfrm>
        <a:graphic>
          <a:graphicData uri="http://schemas.openxmlformats.org/drawingml/2006/table">
            <a:tbl>
              <a:tblPr/>
              <a:tblGrid>
                <a:gridCol w="2660904"/>
                <a:gridCol w="1755648"/>
                <a:gridCol w="2075688"/>
              </a:tblGrid>
              <a:tr h="777240">
                <a:tc>
                  <a:txBody>
                    <a:bodyPr/>
                    <a:lstStyle/>
                    <a:p>
                      <a:pPr algn="l" indent="0" marL="0">
                        <a:buNone/>
                      </a:pP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AASLD</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25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WHO 2024</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19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EASL 2025</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His ALT of 48 U/L is above all three limits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15/30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Observe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0233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337560"/>
          <a:ext cx="603504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337560"/>
          <a:ext cx="4937760" cy="292608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01752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Cumulative HCC risk, %</a:t>
            </a:r>
            <a:endParaRPr lang="en-US" sz="1500" dirty="0"/>
          </a:p>
        </p:txBody>
      </p:sp>
      <p:sp>
        <p:nvSpPr>
          <p:cNvPr id="7" name="Text 2"/>
          <p:cNvSpPr txBox="1"/>
          <p:nvPr/>
        </p:nvSpPr>
        <p:spPr>
          <a:xfrm>
            <a:off x="6766560" y="301752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19/30</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20/30</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47472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4297680"/>
            <a:ext cx="4754880" cy="1280160"/>
          </a:xfrm>
          <a:prstGeom prst="rect">
            <a:avLst/>
          </a:prstGeom>
          <a:noFill/>
          <a:ln/>
        </p:spPr>
        <p:txBody>
          <a:bodyPr wrap="square" lIns="50800" tIns="50800" rIns="50800" bIns="50800" rtlCol="0" anchor="t"/>
          <a:lstStyle/>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High risk: 18 or more</a:t>
            </a:r>
            <a:endParaRPr lang="en-US" sz="2100" dirty="0"/>
          </a:p>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5-year HCC about 16 to 17%</a:t>
            </a:r>
            <a:endParaRPr lang="en-US" sz="21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20/30</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21/30</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22/30</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22/30</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1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24/30</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hape 13"/>
          <p:cNvSpPr/>
          <p:nvPr/>
        </p:nvSpPr>
        <p:spPr>
          <a:xfrm>
            <a:off x="3291840" y="2907792"/>
            <a:ext cx="8351215" cy="676656"/>
          </a:xfrm>
          <a:prstGeom prst="rect">
            <a:avLst/>
          </a:prstGeom>
          <a:solidFill>
            <a:srgbClr val="1F4E79"/>
          </a:solidFill>
          <a:ln w="6350">
            <a:solidFill>
              <a:srgbClr val="1F4E79"/>
            </a:solidFill>
            <a:prstDash val="solid"/>
          </a:ln>
        </p:spPr>
      </p:sp>
      <p:sp>
        <p:nvSpPr>
          <p:cNvPr id="16" name="Text 14"/>
          <p:cNvSpPr txBox="1"/>
          <p:nvPr/>
        </p:nvSpPr>
        <p:spPr>
          <a:xfrm>
            <a:off x="3291840" y="2907792"/>
            <a:ext cx="8351215"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17"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Start before the first dose. If you only monitor: DNA and ALT every 1 to 3 months</a:t>
            </a:r>
            <a:endParaRPr lang="en-US" sz="2000" dirty="0"/>
          </a:p>
        </p:txBody>
      </p:sp>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24/30</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2093976"/>
                <a:gridCol w="2093976"/>
                <a:gridCol w="3986784"/>
                <a:gridCol w="1819656"/>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22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do for her and for the baby?</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25/30</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2093976"/>
                <a:gridCol w="2093976"/>
                <a:gridCol w="3986784"/>
                <a:gridCol w="1819656"/>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22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do for her and for the baby?</a:t>
            </a:r>
            <a:endParaRPr lang="en-US" sz="2600" dirty="0"/>
          </a:p>
        </p:txBody>
      </p:sp>
      <p:sp>
        <p:nvSpPr>
          <p:cNvPr id="5" name="Body"/>
          <p:cNvSpPr txBox="1"/>
          <p:nvPr/>
        </p:nvSpPr>
        <p:spPr>
          <a:xfrm>
            <a:off x="1280160" y="3566160"/>
            <a:ext cx="9631375" cy="201168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25/30</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Her pregnancy and the baby's first year</a:t>
            </a:r>
            <a:endParaRPr lang="en-US" sz="3000" dirty="0"/>
          </a:p>
        </p:txBody>
      </p:sp>
      <p:sp>
        <p:nvSpPr>
          <p:cNvPr id="3" name="Shape 1"/>
          <p:cNvSpPr/>
          <p:nvPr/>
        </p:nvSpPr>
        <p:spPr>
          <a:xfrm>
            <a:off x="4023360" y="1463040"/>
            <a:ext cx="0" cy="3200400"/>
          </a:xfrm>
          <a:prstGeom prst="line">
            <a:avLst/>
          </a:prstGeom>
          <a:noFill/>
          <a:ln w="9525">
            <a:solidFill>
              <a:srgbClr val="D9D9D9"/>
            </a:solidFill>
            <a:prstDash val="solid"/>
          </a:ln>
        </p:spPr>
      </p:sp>
      <p:sp>
        <p:nvSpPr>
          <p:cNvPr id="4" name="Text 2"/>
          <p:cNvSpPr txBox="1"/>
          <p:nvPr/>
        </p:nvSpPr>
        <p:spPr>
          <a:xfrm>
            <a:off x="3070898"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20</a:t>
            </a:r>
            <a:endParaRPr lang="en-US" sz="1600" dirty="0"/>
          </a:p>
        </p:txBody>
      </p:sp>
      <p:sp>
        <p:nvSpPr>
          <p:cNvPr id="5" name="Shape 3"/>
          <p:cNvSpPr/>
          <p:nvPr/>
        </p:nvSpPr>
        <p:spPr>
          <a:xfrm>
            <a:off x="5928284" y="1463040"/>
            <a:ext cx="0" cy="3200400"/>
          </a:xfrm>
          <a:prstGeom prst="line">
            <a:avLst/>
          </a:prstGeom>
          <a:noFill/>
          <a:ln w="9525">
            <a:solidFill>
              <a:srgbClr val="D9D9D9"/>
            </a:solidFill>
            <a:prstDash val="solid"/>
          </a:ln>
        </p:spPr>
      </p:sp>
      <p:sp>
        <p:nvSpPr>
          <p:cNvPr id="6" name="Text 4"/>
          <p:cNvSpPr txBox="1"/>
          <p:nvPr/>
        </p:nvSpPr>
        <p:spPr>
          <a:xfrm>
            <a:off x="4975822"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28</a:t>
            </a:r>
            <a:endParaRPr lang="en-US" sz="1600" dirty="0"/>
          </a:p>
        </p:txBody>
      </p:sp>
      <p:sp>
        <p:nvSpPr>
          <p:cNvPr id="7" name="Shape 5"/>
          <p:cNvSpPr/>
          <p:nvPr/>
        </p:nvSpPr>
        <p:spPr>
          <a:xfrm>
            <a:off x="7833208" y="1463040"/>
            <a:ext cx="0" cy="3200400"/>
          </a:xfrm>
          <a:prstGeom prst="line">
            <a:avLst/>
          </a:prstGeom>
          <a:noFill/>
          <a:ln w="9525">
            <a:solidFill>
              <a:srgbClr val="D9D9D9"/>
            </a:solidFill>
            <a:prstDash val="solid"/>
          </a:ln>
        </p:spPr>
      </p:sp>
      <p:sp>
        <p:nvSpPr>
          <p:cNvPr id="8" name="Text 6"/>
          <p:cNvSpPr txBox="1"/>
          <p:nvPr/>
        </p:nvSpPr>
        <p:spPr>
          <a:xfrm>
            <a:off x="6880746"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Delivery</a:t>
            </a:r>
            <a:endParaRPr lang="en-US" sz="1600" dirty="0"/>
          </a:p>
        </p:txBody>
      </p:sp>
      <p:sp>
        <p:nvSpPr>
          <p:cNvPr id="9" name="Shape 7"/>
          <p:cNvSpPr/>
          <p:nvPr/>
        </p:nvSpPr>
        <p:spPr>
          <a:xfrm>
            <a:off x="9738131" y="1463040"/>
            <a:ext cx="0" cy="3200400"/>
          </a:xfrm>
          <a:prstGeom prst="line">
            <a:avLst/>
          </a:prstGeom>
          <a:noFill/>
          <a:ln w="9525">
            <a:solidFill>
              <a:srgbClr val="D9D9D9"/>
            </a:solidFill>
            <a:prstDash val="solid"/>
          </a:ln>
        </p:spPr>
      </p:sp>
      <p:sp>
        <p:nvSpPr>
          <p:cNvPr id="10" name="Text 8"/>
          <p:cNvSpPr txBox="1"/>
          <p:nvPr/>
        </p:nvSpPr>
        <p:spPr>
          <a:xfrm>
            <a:off x="8785670"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11" name="Shape 9"/>
          <p:cNvSpPr/>
          <p:nvPr/>
        </p:nvSpPr>
        <p:spPr>
          <a:xfrm>
            <a:off x="11643055" y="1463040"/>
            <a:ext cx="0" cy="3200400"/>
          </a:xfrm>
          <a:prstGeom prst="line">
            <a:avLst/>
          </a:prstGeom>
          <a:noFill/>
          <a:ln w="9525">
            <a:solidFill>
              <a:srgbClr val="D9D9D9"/>
            </a:solidFill>
            <a:prstDash val="solid"/>
          </a:ln>
        </p:spPr>
      </p:sp>
      <p:sp>
        <p:nvSpPr>
          <p:cNvPr id="12" name="Text 10"/>
          <p:cNvSpPr txBox="1"/>
          <p:nvPr/>
        </p:nvSpPr>
        <p:spPr>
          <a:xfrm>
            <a:off x="10690593"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3" name="Text 11"/>
          <p:cNvSpPr txBox="1"/>
          <p:nvPr/>
        </p:nvSpPr>
        <p:spPr>
          <a:xfrm>
            <a:off x="548640" y="153619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TDF or TAF</a:t>
            </a:r>
            <a:endParaRPr lang="en-US" sz="1600" dirty="0"/>
          </a:p>
        </p:txBody>
      </p:sp>
      <p:sp>
        <p:nvSpPr>
          <p:cNvPr id="14" name="Shape 12"/>
          <p:cNvSpPr/>
          <p:nvPr/>
        </p:nvSpPr>
        <p:spPr>
          <a:xfrm>
            <a:off x="5928284" y="1536192"/>
            <a:ext cx="1904924" cy="630936"/>
          </a:xfrm>
          <a:prstGeom prst="rect">
            <a:avLst/>
          </a:prstGeom>
          <a:solidFill>
            <a:srgbClr val="1F4E79"/>
          </a:solidFill>
          <a:ln w="6350">
            <a:solidFill>
              <a:srgbClr val="1F4E79"/>
            </a:solidFill>
            <a:prstDash val="solid"/>
          </a:ln>
        </p:spPr>
      </p:sp>
      <p:sp>
        <p:nvSpPr>
          <p:cNvPr id="15" name="Text 13"/>
          <p:cNvSpPr txBox="1"/>
          <p:nvPr/>
        </p:nvSpPr>
        <p:spPr>
          <a:xfrm>
            <a:off x="5928284" y="153619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Stop at delivery is allowed</a:t>
            </a:r>
            <a:endParaRPr lang="en-US" sz="1500" dirty="0"/>
          </a:p>
        </p:txBody>
      </p:sp>
      <p:sp>
        <p:nvSpPr>
          <p:cNvPr id="16" name="Text 14"/>
          <p:cNvSpPr txBox="1"/>
          <p:nvPr/>
        </p:nvSpPr>
        <p:spPr>
          <a:xfrm>
            <a:off x="548640" y="231343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DNA and ALT</a:t>
            </a:r>
            <a:endParaRPr lang="en-US" sz="1600" dirty="0"/>
          </a:p>
        </p:txBody>
      </p:sp>
      <p:sp>
        <p:nvSpPr>
          <p:cNvPr id="17" name="Shape 15"/>
          <p:cNvSpPr/>
          <p:nvPr/>
        </p:nvSpPr>
        <p:spPr>
          <a:xfrm>
            <a:off x="7833208" y="2313432"/>
            <a:ext cx="1904924" cy="630936"/>
          </a:xfrm>
          <a:prstGeom prst="rect">
            <a:avLst/>
          </a:prstGeom>
          <a:solidFill>
            <a:srgbClr val="2E7D8C"/>
          </a:solidFill>
          <a:ln w="6350">
            <a:solidFill>
              <a:srgbClr val="2E7D8C"/>
            </a:solidFill>
            <a:prstDash val="solid"/>
          </a:ln>
        </p:spPr>
      </p:sp>
      <p:sp>
        <p:nvSpPr>
          <p:cNvPr id="18" name="Text 16"/>
          <p:cNvSpPr txBox="1"/>
          <p:nvPr/>
        </p:nvSpPr>
        <p:spPr>
          <a:xfrm>
            <a:off x="7833208" y="231343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Every 1 to 3 months</a:t>
            </a:r>
            <a:endParaRPr lang="en-US" sz="1500" dirty="0"/>
          </a:p>
        </p:txBody>
      </p:sp>
      <p:sp>
        <p:nvSpPr>
          <p:cNvPr id="19" name="Text 17"/>
          <p:cNvSpPr txBox="1"/>
          <p:nvPr/>
        </p:nvSpPr>
        <p:spPr>
          <a:xfrm>
            <a:off x="548640" y="309067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vaccine and HBIG</a:t>
            </a:r>
            <a:endParaRPr lang="en-US" sz="1600" dirty="0"/>
          </a:p>
        </p:txBody>
      </p:sp>
      <p:sp>
        <p:nvSpPr>
          <p:cNvPr id="20" name="Shape 18"/>
          <p:cNvSpPr/>
          <p:nvPr/>
        </p:nvSpPr>
        <p:spPr>
          <a:xfrm>
            <a:off x="7833208" y="3090672"/>
            <a:ext cx="228591" cy="630936"/>
          </a:xfrm>
          <a:prstGeom prst="rect">
            <a:avLst/>
          </a:prstGeom>
          <a:solidFill>
            <a:srgbClr val="C08A3E"/>
          </a:solidFill>
          <a:ln w="6350">
            <a:solidFill>
              <a:srgbClr val="C08A3E"/>
            </a:solidFill>
            <a:prstDash val="solid"/>
          </a:ln>
        </p:spPr>
      </p:sp>
      <p:sp>
        <p:nvSpPr>
          <p:cNvPr id="21" name="Text 19"/>
          <p:cNvSpPr txBox="1"/>
          <p:nvPr/>
        </p:nvSpPr>
        <p:spPr>
          <a:xfrm>
            <a:off x="7833208" y="3090672"/>
            <a:ext cx="2011680" cy="630936"/>
          </a:xfrm>
          <a:prstGeom prst="rect">
            <a:avLst/>
          </a:prstGeom>
          <a:noFill/>
          <a:ln/>
        </p:spPr>
        <p:txBody>
          <a:bodyPr wrap="square" lIns="0" tIns="4191"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Within 12 hours</a:t>
            </a:r>
            <a:endParaRPr lang="en-US" sz="1500" dirty="0"/>
          </a:p>
        </p:txBody>
      </p:sp>
      <p:sp>
        <p:nvSpPr>
          <p:cNvPr id="22" name="Text 20"/>
          <p:cNvSpPr txBox="1"/>
          <p:nvPr/>
        </p:nvSpPr>
        <p:spPr>
          <a:xfrm>
            <a:off x="548640" y="386791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HBsAg and anti-HBs</a:t>
            </a:r>
            <a:endParaRPr lang="en-US" sz="1600" dirty="0"/>
          </a:p>
        </p:txBody>
      </p:sp>
      <p:sp>
        <p:nvSpPr>
          <p:cNvPr id="23" name="Shape 21"/>
          <p:cNvSpPr/>
          <p:nvPr/>
        </p:nvSpPr>
        <p:spPr>
          <a:xfrm>
            <a:off x="10690593" y="3867912"/>
            <a:ext cx="952462" cy="630936"/>
          </a:xfrm>
          <a:prstGeom prst="rect">
            <a:avLst/>
          </a:prstGeom>
          <a:solidFill>
            <a:srgbClr val="9DB4CA"/>
          </a:solidFill>
          <a:ln w="6350">
            <a:solidFill>
              <a:srgbClr val="9DB4CA"/>
            </a:solidFill>
            <a:prstDash val="solid"/>
          </a:ln>
        </p:spPr>
      </p:sp>
      <p:sp>
        <p:nvSpPr>
          <p:cNvPr id="24" name="Text 22"/>
          <p:cNvSpPr txBox="1"/>
          <p:nvPr/>
        </p:nvSpPr>
        <p:spPr>
          <a:xfrm>
            <a:off x="10690593" y="3867912"/>
            <a:ext cx="2011680" cy="630936"/>
          </a:xfrm>
          <a:prstGeom prst="rect">
            <a:avLst/>
          </a:prstGeom>
          <a:noFill/>
          <a:ln/>
        </p:spPr>
        <p:txBody>
          <a:bodyPr wrap="square" lIns="0" tIns="14245"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Month 9 to 12</a:t>
            </a:r>
            <a:endParaRPr lang="en-US" sz="15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perinatal hepatitis B overview, 2025.</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26/30</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27/30</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27/30</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Approved in 2026</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554480"/>
                <a:gridCol w="4800600"/>
                <a:gridCol w="4800600"/>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Bepirovirsen (Hibsago)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Bulevirtide (Hepcludex)</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FDA approval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20 October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22 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765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on a nucleos(t)ide analogue 6 months or more, DNA suppressed, HBsAg 3,000 IU/mL or lower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or with 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477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19% had HBsAg undetectable 24 weeks after stopping all treatment; 0% on placebo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Week 48: combined response 48% vs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Warning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Liver reactions, low 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Severe exacerbation if stopped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releases 20 October 2026 (bepirovirsen) and 22 May 2026 (bulevirtide). B-Well 1 and 2, Hou, NEJM 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28/30</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676656"/>
                <a:gridCol w="4526280"/>
                <a:gridCol w="5888736"/>
              </a:tblGrid>
              <a:tr h="128016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Patient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Man, 34 to 57. HBeAg-positive, then HBeAg-negative with DNA 8,000 and ALT 48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Monitor at 34. Treat at 41 (age) or at 52 (grey zone). PAGE-B 18, surveillance. Do not stop with HBsAg 400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61. Anti-HBc positive, HBsAg negative, rituximab</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 before the first dose and for 12 months after the last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29, 20 weeks pregnant. DNA 5,000,000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from week 28. Vaccine and HBIG within 12 hours. Test the baby at 9 to 12 months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29/30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194560"/>
            <a:ext cx="10728655"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3" name="Text 1"/>
          <p:cNvSpPr txBox="1"/>
          <p:nvPr/>
        </p:nvSpPr>
        <p:spPr>
          <a:xfrm>
            <a:off x="731520" y="3566160"/>
            <a:ext cx="10728655"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4" name="Image 0" descr="QR code linking to the slides PDF">    </p:cNvPr>
          <p:cNvPicPr>
            <a:picLocks noChangeAspect="1"/>
          </p:cNvPicPr>
          <p:nvPr/>
        </p:nvPicPr>
        <p:blipFill>
          <a:blip r:embed="rId1"/>
          <a:stretch>
            <a:fillRect/>
          </a:stretch>
        </p:blipFill>
        <p:spPr>
          <a:xfrm>
            <a:off x="5090008" y="4206240"/>
            <a:ext cx="2011680" cy="2011680"/>
          </a:xfrm>
          <a:prstGeom prst="rect">
            <a:avLst/>
          </a:prstGeom>
        </p:spPr>
      </p:pic>
      <p:sp>
        <p:nvSpPr>
          <p:cNvPr id="5" name="Text 2"/>
          <p:cNvSpPr txBox="1"/>
          <p:nvPr/>
        </p:nvSpPr>
        <p:spPr>
          <a:xfrm>
            <a:off x="731520" y="6263640"/>
            <a:ext cx="10728655"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30/30</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2026-10-28T13:43:52Z</dcterms:created>
  <dcterms:modified xsi:type="dcterms:W3CDTF">2026-10-28T13:43:52Z</dcterms:modified>
</cp:coreProperties>
</file>