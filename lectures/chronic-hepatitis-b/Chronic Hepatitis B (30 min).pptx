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916d70-7d01-0df1-1abb-a9f10298bf3b}">
          <p14:sldIdLst>
            <p14:sldId id="256"/>
            <p14:sldId id="257"/>
          </p14:sldIdLst>
        </p14:section>
        <p14:section name="History" id="{9f04502e-1d1b-6ec9-9c7d-e150d8048e95}">
          <p14:sldIdLst>
            <p14:sldId id="258"/>
            <p14:sldId id="259"/>
          </p14:sldIdLst>
        </p14:section>
        <p14:section name="Testing" id="{3d76509a-39a5-d490-7a03-abcc57d838c1}">
          <p14:sldIdLst>
            <p14:sldId id="260"/>
            <p14:sldId id="261"/>
            <p14:sldId id="262"/>
            <p14:sldId id="263"/>
          </p14:sldIdLst>
        </p14:section>
        <p14:section name="Serology" id="{8b143ad1-fd86-5e09-00a9-18809fc6ad74}">
          <p14:sldIdLst>
            <p14:sldId id="264"/>
            <p14:sldId id="265"/>
            <p14:sldId id="266"/>
            <p14:sldId id="267"/>
          </p14:sldIdLst>
        </p14:section>
        <p14:section name="Phases" id="{d48de452-e2e8-b5e6-f6d9-62d5b6c06f2a}">
          <p14:sldIdLst>
            <p14:sldId id="268"/>
            <p14:sldId id="269"/>
            <p14:sldId id="270"/>
            <p14:sldId id="271"/>
            <p14:sldId id="272"/>
            <p14:sldId id="273"/>
            <p14:sldId id="274"/>
            <p14:sldId id="275"/>
          </p14:sldIdLst>
        </p14:section>
        <p14:section name="Who to treat" id="{4575f68a-5633-8522-6e29-a60e124df6fe}">
          <p14:sldIdLst>
            <p14:sldId id="276"/>
            <p14:sldId id="277"/>
            <p14:sldId id="278"/>
            <p14:sldId id="279"/>
            <p14:sldId id="280"/>
            <p14:sldId id="281"/>
            <p14:sldId id="282"/>
            <p14:sldId id="283"/>
            <p14:sldId id="284"/>
            <p14:sldId id="285"/>
          </p14:sldIdLst>
        </p14:section>
        <p14:section name="Drugs" id="{d1dce086-7da5-c44f-3e88-20b8586501fb}">
          <p14:sldIdLst>
            <p14:sldId id="286"/>
            <p14:sldId id="287"/>
            <p14:sldId id="288"/>
            <p14:sldId id="289"/>
          </p14:sldIdLst>
        </p14:section>
        <p14:section name="HCC risk" id="{ef80a74a-4a1d-b6e5-1ac9-05c8266c3867}">
          <p14:sldIdLst>
            <p14:sldId id="290"/>
            <p14:sldId id="291"/>
            <p14:sldId id="292"/>
            <p14:sldId id="293"/>
            <p14:sldId id="294"/>
          </p14:sldIdLst>
        </p14:section>
        <p14:section name="Special situations" id="{ff270997-62d7-7442-5759-eb578b40ea4f}">
          <p14:sldIdLst>
            <p14:sldId id="295"/>
            <p14:sldId id="296"/>
            <p14:sldId id="297"/>
            <p14:sldId id="298"/>
            <p14:sldId id="299"/>
            <p14:sldId id="300"/>
            <p14:sldId id="301"/>
          </p14:sldIdLst>
        </p14:section>
        <p14:section name="Stopping and what is new" id="{8537fe29-39a0-2eb6-2bdf-e29eaf68fd33}">
          <p14:sldIdLst>
            <p14:sldId id="302"/>
            <p14:sldId id="303"/>
            <p14:sldId id="304"/>
          </p14:sldIdLst>
        </p14:section>
        <p14:section name="Close" id="{360062c5-f836-d93b-fe7b-26766fd47ae8}">
          <p14:sldIdLst>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274320" y="2377440"/>
            <a:ext cx="7498080" cy="0"/>
          </a:xfrm>
          <a:prstGeom prst="line">
            <a:avLst/>
          </a:prstGeom>
          <a:noFill/>
          <a:ln w="25400">
            <a:solidFill>
              <a:srgbClr val="595959"/>
            </a:solidFill>
            <a:prstDash val="solid"/>
          </a:ln>
        </p:spPr>
      </p:sp>
      <p:sp>
        <p:nvSpPr>
          <p:cNvPr id="4" name="Shape 2"/>
          <p:cNvSpPr/>
          <p:nvPr/>
        </p:nvSpPr>
        <p:spPr>
          <a:xfrm>
            <a:off x="941832" y="2295144"/>
            <a:ext cx="164592" cy="164592"/>
          </a:xfrm>
          <a:prstGeom prst="ellipse">
            <a:avLst/>
          </a:prstGeom>
          <a:solidFill>
            <a:srgbClr val="1F4E79"/>
          </a:solidFill>
          <a:ln w="12700">
            <a:solidFill>
              <a:srgbClr val="1F4E79"/>
            </a:solidFill>
            <a:prstDash val="solid"/>
          </a:ln>
        </p:spPr>
      </p:sp>
      <p:sp>
        <p:nvSpPr>
          <p:cNvPr id="5" name="Text 3"/>
          <p:cNvSpPr txBox="1"/>
          <p:nvPr/>
        </p:nvSpPr>
        <p:spPr>
          <a:xfrm>
            <a:off x="274320"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347472"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500" dirty="0"/>
          </a:p>
        </p:txBody>
      </p:sp>
      <p:sp>
        <p:nvSpPr>
          <p:cNvPr id="7" name="Shape 5"/>
          <p:cNvSpPr/>
          <p:nvPr/>
        </p:nvSpPr>
        <p:spPr>
          <a:xfrm>
            <a:off x="2441448" y="2295144"/>
            <a:ext cx="164592" cy="164592"/>
          </a:xfrm>
          <a:prstGeom prst="ellipse">
            <a:avLst/>
          </a:prstGeom>
          <a:solidFill>
            <a:srgbClr val="1F4E79"/>
          </a:solidFill>
          <a:ln w="12700">
            <a:solidFill>
              <a:srgbClr val="1F4E79"/>
            </a:solidFill>
            <a:prstDash val="solid"/>
          </a:ln>
        </p:spPr>
      </p:sp>
      <p:sp>
        <p:nvSpPr>
          <p:cNvPr id="8" name="Text 6"/>
          <p:cNvSpPr txBox="1"/>
          <p:nvPr/>
        </p:nvSpPr>
        <p:spPr>
          <a:xfrm>
            <a:off x="1773936"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1847088"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Dane, Cameron and Briggs see the virus particle in serum</a:t>
            </a:r>
            <a:endParaRPr lang="en-US" sz="1500" dirty="0"/>
          </a:p>
        </p:txBody>
      </p:sp>
      <p:sp>
        <p:nvSpPr>
          <p:cNvPr id="10" name="Shape 8"/>
          <p:cNvSpPr/>
          <p:nvPr/>
        </p:nvSpPr>
        <p:spPr>
          <a:xfrm>
            <a:off x="3941064" y="22951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3273552"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3346704"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500" dirty="0"/>
          </a:p>
        </p:txBody>
      </p:sp>
      <p:sp>
        <p:nvSpPr>
          <p:cNvPr id="13" name="Shape 11"/>
          <p:cNvSpPr/>
          <p:nvPr/>
        </p:nvSpPr>
        <p:spPr>
          <a:xfrm>
            <a:off x="5440680" y="22951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4773168"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4846320"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500" dirty="0"/>
          </a:p>
        </p:txBody>
      </p:sp>
      <p:sp>
        <p:nvSpPr>
          <p:cNvPr id="16" name="Shape 14"/>
          <p:cNvSpPr/>
          <p:nvPr/>
        </p:nvSpPr>
        <p:spPr>
          <a:xfrm>
            <a:off x="6940296" y="22951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6272784"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6345936"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500" dirty="0"/>
          </a:p>
        </p:txBody>
      </p:sp>
      <p:pic>
        <p:nvPicPr>
          <p:cNvPr id="19" name="Image 0" descr="Watercolor of a glass vaccine vial and a glass syringe">    </p:cNvPr>
          <p:cNvPicPr>
            <a:picLocks noChangeAspect="1"/>
          </p:cNvPicPr>
          <p:nvPr/>
        </p:nvPicPr>
        <p:blipFill>
          <a:blip r:embed="rId1"/>
          <a:stretch>
            <a:fillRect/>
          </a:stretch>
        </p:blipFill>
        <p:spPr>
          <a:xfrm>
            <a:off x="7863840" y="1097280"/>
            <a:ext cx="4206240" cy="4206240"/>
          </a:xfrm>
          <a:prstGeom prst="rect">
            <a:avLst/>
          </a:prstGeom>
        </p:spPr>
      </p:pic>
      <p:sp>
        <p:nvSpPr>
          <p:cNvPr id="2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19856"/>
                <a:gridCol w="3255264"/>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2356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hape 13"/>
          <p:cNvSpPr/>
          <p:nvPr/>
        </p:nvSpPr>
        <p:spPr>
          <a:xfrm>
            <a:off x="2468880" y="2907792"/>
            <a:ext cx="5394960" cy="676656"/>
          </a:xfrm>
          <a:prstGeom prst="rect">
            <a:avLst/>
          </a:prstGeom>
          <a:solidFill>
            <a:srgbClr val="1F4E79"/>
          </a:solidFill>
          <a:ln w="6350">
            <a:solidFill>
              <a:srgbClr val="1F4E79"/>
            </a:solidFill>
            <a:prstDash val="solid"/>
          </a:ln>
        </p:spPr>
      </p:sp>
      <p:sp>
        <p:nvSpPr>
          <p:cNvPr id="17" name="Text 14"/>
          <p:cNvSpPr txBox="1"/>
          <p:nvPr/>
        </p:nvSpPr>
        <p:spPr>
          <a:xfrm>
            <a:off x="2468880" y="2907792"/>
            <a:ext cx="539496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8" name="Question"/>
          <p:cNvSpPr txBox="1"/>
          <p:nvPr/>
        </p:nvSpPr>
        <p:spPr>
          <a:xfrm>
            <a:off x="365760" y="4480560"/>
            <a:ext cx="7315200" cy="91440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30/30</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2026-10-28T14:47:41Z</dcterms:created>
  <dcterms:modified xsi:type="dcterms:W3CDTF">2026-10-28T14:47:41Z</dcterms:modified>
</cp:coreProperties>
</file>