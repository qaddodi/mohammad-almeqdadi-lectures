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charts/chart4.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deccc20-fd0d-c26b-e3af-0b1b736cc3e6}">
          <p14:sldIdLst>
            <p14:sldId id="256"/>
            <p14:sldId id="257"/>
          </p14:sldIdLst>
        </p14:section>
        <p14:section name="History" id="{d9bfa351-6c2e-b271-ba8b-08158495d85c}">
          <p14:sldIdLst>
            <p14:sldId id="258"/>
            <p14:sldId id="259"/>
          </p14:sldIdLst>
        </p14:section>
        <p14:section name="Testing" id="{7f5df2b7-4897-1bc4-a0db-cda4ed1c4285}">
          <p14:sldIdLst>
            <p14:sldId id="260"/>
            <p14:sldId id="261"/>
            <p14:sldId id="262"/>
            <p14:sldId id="263"/>
          </p14:sldIdLst>
        </p14:section>
        <p14:section name="Serology" id="{b67f984e-3103-017d-88ee-5e9705e8f92e}">
          <p14:sldIdLst>
            <p14:sldId id="264"/>
            <p14:sldId id="265"/>
            <p14:sldId id="266"/>
            <p14:sldId id="267"/>
          </p14:sldIdLst>
        </p14:section>
        <p14:section name="Phases" id="{568f6912-aa03-9abf-e2b5-14f22fc77a4c}">
          <p14:sldIdLst>
            <p14:sldId id="268"/>
            <p14:sldId id="269"/>
            <p14:sldId id="270"/>
            <p14:sldId id="271"/>
            <p14:sldId id="272"/>
            <p14:sldId id="273"/>
            <p14:sldId id="274"/>
            <p14:sldId id="275"/>
          </p14:sldIdLst>
        </p14:section>
        <p14:section name="Who to treat" id="{d379e300-eb0e-ef0a-ab37-56b771a1041a}">
          <p14:sldIdLst>
            <p14:sldId id="276"/>
            <p14:sldId id="277"/>
            <p14:sldId id="278"/>
            <p14:sldId id="279"/>
            <p14:sldId id="280"/>
            <p14:sldId id="281"/>
            <p14:sldId id="282"/>
            <p14:sldId id="283"/>
            <p14:sldId id="284"/>
            <p14:sldId id="285"/>
            <p14:sldId id="286"/>
          </p14:sldIdLst>
        </p14:section>
        <p14:section name="Drugs" id="{cf6030dd-4f53-c313-8905-40cc632abc98}">
          <p14:sldIdLst>
            <p14:sldId id="287"/>
            <p14:sldId id="288"/>
            <p14:sldId id="289"/>
            <p14:sldId id="290"/>
            <p14:sldId id="291"/>
          </p14:sldIdLst>
        </p14:section>
        <p14:section name="HCC risk" id="{bb04dbd8-590b-f129-0d29-263d97a52184}">
          <p14:sldIdLst>
            <p14:sldId id="292"/>
            <p14:sldId id="293"/>
            <p14:sldId id="294"/>
            <p14:sldId id="295"/>
            <p14:sldId id="296"/>
            <p14:sldId id="297"/>
          </p14:sldIdLst>
        </p14:section>
        <p14:section name="Special situations" id="{9a789979-6d65-537c-a0c8-0edc609b7dca}">
          <p14:sldIdLst>
            <p14:sldId id="298"/>
            <p14:sldId id="299"/>
            <p14:sldId id="300"/>
            <p14:sldId id="301"/>
            <p14:sldId id="302"/>
            <p14:sldId id="303"/>
            <p14:sldId id="304"/>
            <p14:sldId id="305"/>
            <p14:sldId id="306"/>
            <p14:sldId id="307"/>
            <p14:sldId id="308"/>
          </p14:sldIdLst>
        </p14:section>
        <p14:section name="Stopping and what is new" id="{85fa66f9-335d-09c5-7335-70ab82f5de7e}">
          <p14:sldIdLst>
            <p14:sldId id="309"/>
            <p14:sldId id="310"/>
            <p14:sldId id="311"/>
            <p14:sldId id="312"/>
            <p14:sldId id="313"/>
            <p14:sldId id="314"/>
          </p14:sldIdLst>
        </p14:section>
        <p14:section name="Close" id="{c4018f7b-3f22-e05f-d00d-9c7fbfccf2d4}">
          <p14:sldIdLst>
            <p14:sldId id="315"/>
            <p14:sldId id="31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Upper limit of normal ALT, U/L</a:t>
            </a:r>
          </a:p>
        </c:rich>
      </c:tx>
      <c:layout/>
      <c:overlay val="0"/>
    </c:title>
    <c:autoTitleDeleted val="0"/>
    <c:plotArea>
      <c:layout/>
      <c:barChart>
        <c:barDir val="col"/>
        <c:grouping val="clustered"/>
        <c:varyColors val="0"/>
        <c:ser>
          <c:idx val="0"/>
          <c:order val="0"/>
          <c:tx>
            <c:strRef>
              <c:f>Sheet1!$B$1</c:f>
              <c:strCache>
                <c:ptCount val="1"/>
                <c:pt idx="0">
                  <c:v>Men</c:v>
                </c:pt>
              </c:strCache>
            </c:strRef>
          </c:tx>
          <c:spPr>
            <a:solidFill>
              <a:srgbClr val="1F4E79"/>
            </a:solidFill>
            <a:effectLst/>
          </c:spPr>
          <c:invertIfNegative val="0"/>
          <c:dLbls>
            <c:numFmt formatCode="0" sourceLinked="0"/>
            <c:txPr>
              <a:bodyPr/>
              <a:lstStyle/>
              <a:p>
                <a:pPr>
                  <a:defRPr b="1" i="0" strike="noStrike" sz="180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AASLD</c:v>
                  </c:pt>
                  <c:pt idx="1">
                    <c:v>WHO 2024</c:v>
                  </c:pt>
                  <c:pt idx="2">
                    <c:v>EASL 2025</c:v>
                  </c:pt>
                </c:lvl>
              </c:multiLvlStrCache>
            </c:multiLvlStrRef>
          </c:cat>
          <c:val>
            <c:numRef>
              <c:f>Sheet1!$B$2:$B$4</c:f>
              <c:numCache>
                <c:formatCode>General</c:formatCode>
                <c:ptCount val="3"/>
                <c:pt idx="0">
                  <c:v>35</c:v>
                </c:pt>
                <c:pt idx="1">
                  <c:v>30</c:v>
                </c:pt>
                <c:pt idx="2">
                  <c:v>40</c:v>
                </c:pt>
              </c:numCache>
            </c:numRef>
          </c:val>
        </c:ser>
        <c:ser>
          <c:idx val="1"/>
          <c:order val="1"/>
          <c:tx>
            <c:strRef>
              <c:f>Sheet1!$C$1</c:f>
              <c:strCache>
                <c:ptCount val="1"/>
                <c:pt idx="0">
                  <c:v>Women</c:v>
                </c:pt>
              </c:strCache>
            </c:strRef>
          </c:tx>
          <c:spPr>
            <a:solidFill>
              <a:srgbClr val="9DB4CA"/>
            </a:solidFill>
            <a:effectLst/>
          </c:spPr>
          <c:invertIfNegative val="0"/>
          <c:dLbls>
            <c:numFmt formatCode="0" sourceLinked="0"/>
            <c:txPr>
              <a:bodyPr/>
              <a:lstStyle/>
              <a:p>
                <a:pPr>
                  <a:defRPr b="1" i="0" strike="noStrike" sz="180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AASLD</c:v>
                  </c:pt>
                  <c:pt idx="1">
                    <c:v>WHO 2024</c:v>
                  </c:pt>
                  <c:pt idx="2">
                    <c:v>EASL 2025</c:v>
                  </c:pt>
                </c:lvl>
              </c:multiLvlStrCache>
            </c:multiLvlStrRef>
          </c:cat>
          <c:val>
            <c:numRef>
              <c:f>Sheet1!$C$2:$C$4</c:f>
              <c:numCache>
                <c:formatCode>General</c:formatCode>
                <c:ptCount val="3"/>
                <c:pt idx="0">
                  <c:v>25</c:v>
                </c:pt>
                <c:pt idx="1">
                  <c:v>19</c:v>
                </c:pt>
                <c:pt idx="2">
                  <c:v>40</c:v>
                </c:pt>
              </c:numCache>
            </c:numRef>
          </c:val>
        </c:ser>
        <c:dLbls>
          <c:numFmt formatCode="0" sourceLinked="0"/>
          <c:txPr>
            <a:bodyPr/>
            <a:lstStyle/>
            <a:p>
              <a:pPr>
                <a:defRPr b="1" i="0" strike="noStrike" sz="18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nextTo"/>
        <c:spPr>
          <a:ln w="12700" cap="flat">
            <a:solidFill>
              <a:srgbClr val="888888"/>
            </a:solidFill>
            <a:prstDash val="solid"/>
            <a:round/>
          </a:ln>
        </c:spPr>
        <c:txPr>
          <a:bodyPr/>
          <a:lstStyle/>
          <a:p>
            <a:pPr>
              <a:defRPr sz="17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3E3E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10"/>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Treated</c:v>
                </c:pt>
              </c:strCache>
            </c:strRef>
          </c:tx>
          <c:spPr>
            <a:solidFill>
              <a:srgbClr val="1F4E79"/>
            </a:solidFill>
            <a:effectLst/>
          </c:spPr>
          <c:invertIfNegative val="0"/>
          <c:dLbls>
            <c:numFmt formatCode="0&quot;%&quot;" sourceLinked="0"/>
            <c:txPr>
              <a:bodyPr/>
              <a:lstStyle/>
              <a:p>
                <a:pPr>
                  <a:defRPr b="1" i="0" strike="noStrike" sz="140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5 years</c:v>
                  </c:pt>
                  <c:pt idx="1">
                    <c:v>10 years</c:v>
                  </c:pt>
                  <c:pt idx="2">
                    <c:v>15 years</c:v>
                  </c:pt>
                </c:lvl>
              </c:multiLvlStrCache>
            </c:multiLvlStrRef>
          </c:cat>
          <c:val>
            <c:numRef>
              <c:f>Sheet1!$B$2:$B$4</c:f>
              <c:numCache>
                <c:formatCode>General</c:formatCode>
                <c:ptCount val="3"/>
                <c:pt idx="0">
                  <c:v>3</c:v>
                </c:pt>
                <c:pt idx="1">
                  <c:v>4</c:v>
                </c:pt>
                <c:pt idx="2">
                  <c:v>9</c:v>
                </c:pt>
              </c:numCache>
            </c:numRef>
          </c:val>
        </c:ser>
        <c:ser>
          <c:idx val="1"/>
          <c:order val="1"/>
          <c:tx>
            <c:strRef>
              <c:f>Sheet1!$C$1</c:f>
              <c:strCache>
                <c:ptCount val="1"/>
                <c:pt idx="0">
                  <c:v>Untreated</c:v>
                </c:pt>
              </c:strCache>
            </c:strRef>
          </c:tx>
          <c:spPr>
            <a:solidFill>
              <a:srgbClr val="9DB4CA"/>
            </a:solidFill>
            <a:effectLst/>
          </c:spPr>
          <c:invertIfNegative val="0"/>
          <c:dLbls>
            <c:numFmt formatCode="0&quot;%&quot;" sourceLinked="0"/>
            <c:txPr>
              <a:bodyPr/>
              <a:lstStyle/>
              <a:p>
                <a:pPr>
                  <a:defRPr b="1" i="0" strike="noStrike" sz="140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5 years</c:v>
                  </c:pt>
                  <c:pt idx="1">
                    <c:v>10 years</c:v>
                  </c:pt>
                  <c:pt idx="2">
                    <c:v>15 years</c:v>
                  </c:pt>
                </c:lvl>
              </c:multiLvlStrCache>
            </c:multiLvlStrRef>
          </c:cat>
          <c:val>
            <c:numRef>
              <c:f>Sheet1!$C$2:$C$4</c:f>
              <c:numCache>
                <c:formatCode>General</c:formatCode>
                <c:ptCount val="3"/>
                <c:pt idx="0">
                  <c:v>3</c:v>
                </c:pt>
                <c:pt idx="1">
                  <c:v>15</c:v>
                </c:pt>
                <c:pt idx="2">
                  <c:v>19</c:v>
                </c:pt>
              </c:numCache>
            </c:numRef>
          </c:val>
        </c:ser>
        <c:dLbls>
          <c:numFmt formatCode="0&quot;%&quot;" sourceLinked="0"/>
          <c:txPr>
            <a:bodyPr/>
            <a:lstStyle/>
            <a:p>
              <a:pPr>
                <a:defRPr b="1" i="0" strike="noStrike" sz="14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5"/>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TDF</c:v>
                </c:pt>
              </c:strCache>
            </c:strRef>
          </c:tx>
          <c:spPr>
            <a:solidFill>
              <a:srgbClr val="1F4E79"/>
            </a:solidFill>
            <a:effectLst/>
          </c:spPr>
          <c:invertIfNegative val="0"/>
          <c:dLbls>
            <c:numFmt formatCode="0&quot;%&quot;" sourceLinked="0"/>
            <c:txPr>
              <a:bodyPr/>
              <a:lstStyle/>
              <a:p>
                <a:pPr>
                  <a:defRPr b="1" i="0" strike="noStrike" sz="1400" u="none">
                    <a:solidFill>
                      <a:srgbClr val="000000"/>
                    </a:solidFill>
                    <a:latin typeface="Calibri"/>
                  </a:defRPr>
                </a:pPr>
              </a:p>
            </c:txPr>
            <c:showLegendKey val="0"/>
            <c:showVal val="1"/>
            <c:showCatName val="0"/>
            <c:showSerName val="0"/>
            <c:showPercent val="0"/>
            <c:showBubbleSize val="0"/>
            <c:showLeaderLines val="0"/>
          </c:dLbls>
          <c:cat>
            <c:multiLvlStrRef>
              <c:f>Sheet1!$A$2:$A$2</c:f>
              <c:multiLvlStrCache>
                <c:ptCount val="1"/>
                <c:lvl>
                  <c:pt idx="0">
                    <c:v>Progression of 1 or more Ishak stage</c:v>
                  </c:pt>
                </c:lvl>
              </c:multiLvlStrCache>
            </c:multiLvlStrRef>
          </c:cat>
          <c:val>
            <c:numRef>
              <c:f>Sheet1!$B$2:$B$2</c:f>
              <c:numCache>
                <c:formatCode>General</c:formatCode>
                <c:ptCount val="1"/>
                <c:pt idx="0">
                  <c:v>26</c:v>
                </c:pt>
              </c:numCache>
            </c:numRef>
          </c:val>
        </c:ser>
        <c:ser>
          <c:idx val="1"/>
          <c:order val="1"/>
          <c:tx>
            <c:strRef>
              <c:f>Sheet1!$C$1</c:f>
              <c:strCache>
                <c:ptCount val="1"/>
                <c:pt idx="0">
                  <c:v>Placebo</c:v>
                </c:pt>
              </c:strCache>
            </c:strRef>
          </c:tx>
          <c:spPr>
            <a:solidFill>
              <a:srgbClr val="9DB4CA"/>
            </a:solidFill>
            <a:effectLst/>
          </c:spPr>
          <c:invertIfNegative val="0"/>
          <c:dLbls>
            <c:numFmt formatCode="0&quot;%&quot;" sourceLinked="0"/>
            <c:txPr>
              <a:bodyPr/>
              <a:lstStyle/>
              <a:p>
                <a:pPr>
                  <a:defRPr b="1" i="0" strike="noStrike" sz="1400" u="none">
                    <a:solidFill>
                      <a:srgbClr val="000000"/>
                    </a:solidFill>
                    <a:latin typeface="Calibri"/>
                  </a:defRPr>
                </a:pPr>
              </a:p>
            </c:txPr>
            <c:showLegendKey val="0"/>
            <c:showVal val="1"/>
            <c:showCatName val="0"/>
            <c:showSerName val="0"/>
            <c:showPercent val="0"/>
            <c:showBubbleSize val="0"/>
            <c:showLeaderLines val="0"/>
          </c:dLbls>
          <c:cat>
            <c:multiLvlStrRef>
              <c:f>Sheet1!$A$2:$A$2</c:f>
              <c:multiLvlStrCache>
                <c:ptCount val="1"/>
                <c:lvl>
                  <c:pt idx="0">
                    <c:v>Progression of 1 or more Ishak stage</c:v>
                  </c:pt>
                </c:lvl>
              </c:multiLvlStrCache>
            </c:multiLvlStrRef>
          </c:cat>
          <c:val>
            <c:numRef>
              <c:f>Sheet1!$C$2:$C$2</c:f>
              <c:numCache>
                <c:formatCode>General</c:formatCode>
                <c:ptCount val="1"/>
                <c:pt idx="0">
                  <c:v>47</c:v>
                </c:pt>
              </c:numCache>
            </c:numRef>
          </c:val>
        </c:ser>
        <c:dLbls>
          <c:numFmt formatCode="0&quot;%&quot;" sourceLinked="0"/>
          <c:txPr>
            <a:bodyPr/>
            <a:lstStyle/>
            <a:p>
              <a:pPr>
                <a:defRPr b="1" i="0" strike="noStrike" sz="14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20"/>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TAF</c:v>
                </c:pt>
              </c:strCache>
            </c:strRef>
          </c:tx>
          <c:spPr>
            <a:solidFill>
              <a:srgbClr val="1F4E79"/>
            </a:solidFill>
            <a:effectLst/>
          </c:spPr>
          <c:invertIfNegative val="0"/>
          <c:dLbls>
            <c:numFmt formatCode="0.00&quot;%&quot;" sourceLinked="0"/>
            <c:txPr>
              <a:bodyPr/>
              <a:lstStyle/>
              <a:p>
                <a:pPr>
                  <a:defRPr b="1" i="0" strike="noStrike" sz="1300" u="none">
                    <a:solidFill>
                      <a:srgbClr val="00000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Hip, HBeAg-neg</c:v>
                  </c:pt>
                  <c:pt idx="1">
                    <c:v>Spine, HBeAg-neg</c:v>
                  </c:pt>
                  <c:pt idx="2">
                    <c:v>Hip, HBeAg-pos</c:v>
                  </c:pt>
                  <c:pt idx="3">
                    <c:v>Spine, HBeAg-pos</c:v>
                  </c:pt>
                </c:lvl>
              </c:multiLvlStrCache>
            </c:multiLvlStrRef>
          </c:cat>
          <c:val>
            <c:numRef>
              <c:f>Sheet1!$B$2:$B$5</c:f>
              <c:numCache>
                <c:formatCode>General</c:formatCode>
                <c:ptCount val="4"/>
                <c:pt idx="0">
                  <c:v>-0.29</c:v>
                </c:pt>
                <c:pt idx="1">
                  <c:v>-0.88</c:v>
                </c:pt>
                <c:pt idx="2">
                  <c:v>-0.1</c:v>
                </c:pt>
                <c:pt idx="3">
                  <c:v>-0.42</c:v>
                </c:pt>
              </c:numCache>
            </c:numRef>
          </c:val>
        </c:ser>
        <c:ser>
          <c:idx val="1"/>
          <c:order val="1"/>
          <c:tx>
            <c:strRef>
              <c:f>Sheet1!$C$1</c:f>
              <c:strCache>
                <c:ptCount val="1"/>
                <c:pt idx="0">
                  <c:v>TDF</c:v>
                </c:pt>
              </c:strCache>
            </c:strRef>
          </c:tx>
          <c:spPr>
            <a:solidFill>
              <a:srgbClr val="9DB4CA"/>
            </a:solidFill>
            <a:effectLst/>
          </c:spPr>
          <c:invertIfNegative val="0"/>
          <c:dLbls>
            <c:numFmt formatCode="0.00&quot;%&quot;" sourceLinked="0"/>
            <c:txPr>
              <a:bodyPr/>
              <a:lstStyle/>
              <a:p>
                <a:pPr>
                  <a:defRPr b="1" i="0" strike="noStrike" sz="1300" u="none">
                    <a:solidFill>
                      <a:srgbClr val="00000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Hip, HBeAg-neg</c:v>
                  </c:pt>
                  <c:pt idx="1">
                    <c:v>Spine, HBeAg-neg</c:v>
                  </c:pt>
                  <c:pt idx="2">
                    <c:v>Hip, HBeAg-pos</c:v>
                  </c:pt>
                  <c:pt idx="3">
                    <c:v>Spine, HBeAg-pos</c:v>
                  </c:pt>
                </c:lvl>
              </c:multiLvlStrCache>
            </c:multiLvlStrRef>
          </c:cat>
          <c:val>
            <c:numRef>
              <c:f>Sheet1!$C$2:$C$5</c:f>
              <c:numCache>
                <c:formatCode>General</c:formatCode>
                <c:ptCount val="4"/>
                <c:pt idx="0">
                  <c:v>-2.16</c:v>
                </c:pt>
                <c:pt idx="1">
                  <c:v>-2.51</c:v>
                </c:pt>
                <c:pt idx="2">
                  <c:v>-1.72</c:v>
                </c:pt>
                <c:pt idx="3">
                  <c:v>-2.29</c:v>
                </c:pt>
              </c:numCache>
            </c:numRef>
          </c:val>
        </c:ser>
        <c:dLbls>
          <c:numFmt formatCode="0.00&quot;%&quot;" sourceLinked="0"/>
          <c:txPr>
            <a:bodyPr/>
            <a:lstStyle/>
            <a:p>
              <a:pPr>
                <a:defRPr b="1" i="0" strike="noStrike" sz="13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0"/>
          <c:min val="-3"/>
        </c:scaling>
        <c:delete val="0"/>
        <c:axPos val="l"/>
        <c:majorGridlines>
          <c:spPr>
            <a:ln w="6350" cap="flat">
              <a:solidFill>
                <a:srgbClr val="E3E3E3"/>
              </a:solidFill>
              <a:prstDash val="solid"/>
              <a:round/>
            </a:ln>
          </c:spPr>
        </c:majorGridlines>
        <c:numFmt formatCode="0.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1"/>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cases is made up for teaching; none of it is a real patient. Three patients carry the talk: a man we follow from age 34 to 57, a woman about to start rituximab, and a pregnant woman.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of the recommendations changed in the last two years: AASLD/IDSA 2025, EASL 2025, WHO 2024. Where the guidelines disagree I show them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story the way you like to. In 1963 the Philadelphia group tested sera from transfused hemophilia patients against a panel of 24 normal sera, including sera from foreign populations. Two hemophilia sera made a precipitin line with one panel serum, from an Australian aborigine. That is where the name comes from. The 1965 paper was about leukemia; the link to hepatitis came later. The Nobel citation reads: 'for their discoveries concerning new mechanisms for the origin and dissemination of infectious diseases' (NIH Nobel page). Source for the slide text is the paper itself (your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short in the 30-minute version. Dane 1970 Lancet 1:695-698. Maupas 1976 Lancet 1:1367-1370. Szmuness 1980 NEJM 303:833-841. Beasley 1981 Lancet 2:1129-1133. The vaccine came before there was a screening test for liver cancer. A recombinant yeast vaccine was reported in 1984 (McAleer, Nature 307:178-180).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guess. Answer: about 13% diagnosed and about 3% treated. WHO 2022 estimates: 254 million living with chronic HBV, 1.2 million new infections a year, 1.3 million deaths from HBV and HCV combined, 83% of them HBV. The rounded WHO release is the source; the full report PDF was not opened. In the US, CDC estimates 580,000 to 2.4 million people living with chronic HBV, about two-thirds unaware (CDC 2023, PMID 36893044).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guess. Answer: about 13% diagnosed and about 3% treated. WHO 2022 estimates: 254 million living with chronic HBV, 1.2 million new infections a year, 1.3 million deaths from HBV and HCV combined, 83% of them HBV. The rounded WHO release is the source; the full report PDF was not opened. In the US, CDC estimates 580,000 to 2.4 million people living with chronic HBV, about two-thirds unaware (CDC 2023, PMID 36893044).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CDC 2023: screen every adult 18 and older at least once with the triple panel, regardless of disclosed risk, and screen in each pregnancy. HBsAg alone misses anti-HBc-only patients, who are the ones at risk of reactivation. Vaccination: all adults 19 to 59 (ACIP 2022); Heplisav-B, Engerix-B and Recombivax HB are in use. PreHevbrio was withdrawn in November 2024 because the company closed, not for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CDC 2023: screen every adult 18 and older at least once with the triple panel, regardless of disclosed risk, and screen in each pregnancy. HBsAg alone misses anti-HBc-only patients, who are the ones at risk of reactivation. Vaccination: all adults 19 to 59 (ACIP 2022); Heplisav-B, Engerix-B and Recombivax HB are in use. PreHevbrio was withdrawn in November 2024 because the company closed, not for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Chronic means HBsAg present for more than 6 months, so panel 4 needs a repeat. IgM anti-HBc also turns positive during a flare of chronic hepatitis B or a reactivation, so IgM plus a high ALT is not always acute infection: look at the history and the DNA. Resolved infection can reactivate under immunosuppression, which leads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Chronic means HBsAg present for more than 6 months, so panel 4 needs a repeat. IgM anti-HBc also turns positive during a flare of chronic hepatitis B or a reactivation, so IgM plus a high ALT is not always acute infection: look at the history and the DNA. Resolved infection can reactivate under immunosuppression, which leads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Isolated anti-HBc is not the same as occult infection: occult needs detectable HBV DNA with a negative HBsAg. Order HBV DNA and repeat the panel. Whatever the answer, a patient who is anti-HBc positive and about to get an anti-CD20 drug needs prophylaxis (we come back to this). Wording of the last row, 'repeat testing', is my summary of the CDC table; check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Isolated anti-HBc is not the same as occult infection: occult needs detectable HBV DNA with a negative HBsAg. Order HBV DNA and repeat the panel. Whatever the answer, a patient who is anti-HBc positive and about to get an anti-CD20 drug needs prophylaxis (we come back to this). Wording of the last row, 'repeat testing', is my summary of the CDC table; check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it with the room: three panels, age in decades along the bottom. This is the figure from your sketch. Schematic, not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HBV DNA first. Very high in early life, falls in the third and fourth decades, then either stays low or rises again. The dashed lines are 20,000 and 2,000 IU/mL.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ALT. Normal for decades, then flares when the immune system finally attacks. Each flare can cause fibrosis.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antigens. HBsAg stays positive. HBeAg is lost and anti-HBe appears when the patient seroconverts, around the fourth decade in this schematic.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name the phases. New names above, old names below. The shaded phases are the hepatitis phases. Not every patient goes through all four, and the age axis is schematic.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four phases in the published form. Credit GESA 2022 (ASHM attributes Figure 3.1 to them). The reviewer could not confirm the original artist or the reuse licence, so check before putting this in anything you distribute.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 names: immune tolerant, immune clearance (immune-active), inactive carrier or immune control, immune escape. AASLD 2018 uses immune-tolerant, HBeAg-positive immune-active, inactive and HBeAg-negative immune-active CHB. These are descriptions of phases, not treatment criteria. A patient can move between phases, and HBsAg loss is a fifth state (HBsAg-negative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 names: immune tolerant, immune clearance (immune-active), inactive carrier or immune control, immune escape. AASLD 2018 uses immune-tolerant, HBeAg-positive immune-active, inactive and HBeAg-negative immune-active CHB. These are descriptions of phases, not treatment criteria. A patient can move between phases, and HBsAg loss is a fifth state (HBsAg-negative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HBsAg found at a blood donation, asymptomatic, ALT normal on two checks six months apart. This is the HBeAg-positive chronic infection (immune tolerant) phase. AASLD/IDSA 2025 R3 defines it as HBeAg positive, DNA above 10,000,000 IU/mL and persistently normal ALT on at least two measurements 6 months apart. At 34, no fibrosis, the recommendation is to monitor. AASLD 2018 R2A: against antiviral therapy in immune-tolerant adults. Stiffness 5.1 kPa is below the EASL F2 cut-off of 7 kPa. All values are made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HBsAg found at a blood donation, asymptomatic, ALT normal on two checks six months apart. This is the HBeAg-positive chronic infection (immune tolerant) phase. AASLD/IDSA 2025 R3 defines it as HBeAg positive, DNA above 10,000,000 IU/mL and persistently normal ALT on at least two measurements 6 months apart. At 34, no fibrosis, the recommendation is to monitor. AASLD 2018 R2A: against antiviral therapy in immune-tolerant adults. Stiffness 5.1 kPa is below the EASL F2 cut-off of 7 kPa. All values are made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AASLD/IDSA 2025 R3 (conditional, very low certainty): for immune-tolerant adults, antiviral therapy is supported if over 40 or with grade 2 / stage 2 or worse disease. The recommendation text says 'over 40' and the guideline's algorithm says '40 or more'. The evidence is observational and the AASLD technical review calls it very uncertain, so this is a shared decision. EASL 2025 and WHO 2024 reach treatment through other pathways (fibrosis, family history of HCC); they do not use this age rule in the same way. The same labs at 34 and 41 make the point about age. In our story he hears the options and chooses to keep monitoring, which is why he is untreated at 52; R3 is a conditional recommendation, so that is a reasonable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AASLD/IDSA 2025 R3 (conditional, very low certainty): for immune-tolerant adults, antiviral therapy is supported if over 40 or with grade 2 / stage 2 or worse disease. The recommendation text says 'over 40' and the guideline's algorithm says '40 or more'. The evidence is observational and the AASLD technical review calls it very uncertain, so this is a shared decision. EASL 2025 and WHO 2024 reach treatment through other pathways (fibrosis, family history of HCC); they do not use this age rule in the same way. The same labs at 34 and 41 make the point about age. In our story he hears the options and chooses to keep monitoring, which is why he is untreated at 52; R3 is a conditional recommendation, so that is a reasonable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lost HBeAg and seroconverted in his late 40s. DNA 8,000, ALT 48 (1.4 times the AASLD upper limit of 35), no advanced fibrosis. Let the room commit. The next slide shows what each guideline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reference ranges included people with fatty liver, which is why the blood-donor data gave lower limits (30 for men and 19 for women in the ASHM chapter). Whichever limit you use, 48 is raised. Next slide: what each guideline does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AASLD 2018 treats HBeAg-negative patients with DNA above 2,000 and ALT at least 2 times the upper limit (70 for a man) or significant histology, so he is observed. AASLD/IDSA 2025 R4 suggests treatment by shared decision in the indeterminate group. EASL 2025: DNA at least 2,000 with ALT above the upper limit or at least F2: treat. WHO 2024: DNA above 2,000 and ALT above the upper limit: treat. Rows 2 and 3 are the cirrhosis rows: AASLD 2018 R7A and R7B, AASLD/IDSA 2025 Figure 5, EASL (detectable DNA, any DNA if decompensated), WHO (treat regardless of DNA and ALT). The reviewer's dossier (section B1) has the full matrix. APASL 2026 criteria were not opened, so they are not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AASLD 2018 treats HBeAg-negative patients with DNA above 2,000 and ALT at least 2 times the upper limit (70 for a man) or significant histology, so he is observed. AASLD/IDSA 2025 R4 suggests treatment by shared decision in the indeterminate group. EASL 2025: DNA at least 2,000 with ALT above the upper limit or at least F2: treat. WHO 2024: DNA above 2,000 and ALT above the upper limit: treat. Rows 2 and 3 are the cirrhosis rows: AASLD 2018 R7A and R7B, AASLD/IDSA 2025 Figure 5, EASL (detectable DNA, any DNA if decompensated), WHO (treat regardless of DNA and ALT). The reviewer's dossier (section B1) has the full matrix. APASL 2026 criteria were not opened, so they are not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Huang: 855 patients in the indeterminate phase without advanced fibrosis; weighted analysis, adjusted HR for HCC 0.30 (0.10 to 0.60). Treated 3, 4 and 9% at 5, 10 and 15 years, untreated 3, 15 and 19%. Observational, so residual confounding remains. TORCH-B: 160 Taiwanese patients, TDF 300 mg for 3 years versus placebo, paired biopsies: progression of at least one Ishak stage 19/73 (26%) versus 34/73 (47%), RR 0.56 (0.35 to 0.88). Randomized, but small and not powered for HCC. ATTENTION (interim, Lancet Gastroenterol Hepatol 2025, 734 patients, TAF versus observation): primary composite events 2 versus 9, HR 0.21, 97.5% CI 0.04 to 1.20, did not cross its stopping boundary. None of these randomized treatment against HCC. Mention the counterweight (Jeon 2021: no HCC at 5 years in biomarker-defined immune tolerance with FIB-4 under 1.45).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Huang: 855 patients in the indeterminate phase without advanced fibrosis; weighted analysis, adjusted HR for HCC 0.30 (0.10 to 0.60). Treated 3, 4 and 9% at 5, 10 and 15 years, untreated 3, 15 and 19%. Observational, so residual confounding remains. TORCH-B: 160 Taiwanese patients, TDF 300 mg for 3 years versus placebo, paired biopsies: progression of at least one Ishak stage 19/73 (26%) versus 34/73 (47%), RR 0.56 (0.35 to 0.88). Randomized, but small and not powered for HCC. ATTENTION (interim, Lancet Gastroenterol Hepatol 2025, 734 patients, TAF versus observation): primary composite events 2 versus 9, HR 0.21, 97.5% CI 0.04 to 1.20, did not cross its stopping boundary. None of these randomized treatment against HCC. Mention the counterweight (Jeon 2021: no HCC at 5 years in biomarker-defined immune tolerance with FIB-4 under 1.45).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US version: AASLD 2018 thresholds for immune-active disease, with the two AASLD/IDSA 2025 changes. R3 (conditional, very low certainty): immune-tolerant adults over 40, or with grade 2 / stage 2 or worse disease, are suggested for treatment; the text says over 40 and the algorithm says 40 or more. R4: the indeterminate (grey zone) group is a shared decision. Cirrhosis: AASLD 2018 R7A treats compensated cirrhosis with low viremia regardless of ALT, R7B treats decompensated cirrhosis regardless of DNA, ALT or HBeAg, and the 2025 Figure 5 treats both regardless of DNA or ALT. EASL 2025 and WHO 2024 treat more people: DNA above 2,000 with ALT above ULN, or significant fibrosis. Pregnancy and immunosuppression are separate pathways, covered later. 'Monitor' means ALT and DNA every 3 to 6 months and a fibrosis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renal rows are from the US labels. Entecavir: for CrCl 30 to 49, 0.25 mg daily or 0.5 mg every 48 hours; use the oral solution for the daily fractions. TDF: CrCl 30 to 49, 300 mg every 48 hours. TAF: no adjustment at CrCl 15 or above. TAF is not recommended in Child-Pugh B or C in the US label, and the old statement that TAF cannot be used on dialysis is out of date. The answer line is my teaching summary, based on the TAF versus TDF trial data on the next slide; confirm it is how you would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renal rows are from the US labels. Entecavir: for CrCl 30 to 49, 0.25 mg daily or 0.5 mg every 48 hours; use the oral solution for the daily fractions. TDF: CrCl 30 to 49, 300 mg every 48 hours. TAF: no adjustment at CrCl 15 or above. TAF is not recommended in Child-Pugh B or C in the US label, and the old statement that TAF cannot be used on dialysis is out of date. The answer line is my teaching summary, based on the TAF versus TDF trial data on the next slide; confirm it is how you would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phase 3 noninferiority trials, 875 HBeAg-positive and 426 HBeAg-negative patients, double-blind. Antiviral efficacy was the same. Bone loss was smaller on TAF at the hip (-0.10% vs -1.72% and -0.29% vs -2.16%) and spine (-0.42% vs -2.29% and -0.88% vs -2.51%). The 96-week pooled analysis (Agarwal, J Hepatol 2018) held up. The 8-year report (Buti, Aliment Pharmacol Ther 2024) switched the TDF arm to TAF at year 2 or 3, so it is not a randomized 8-year comparison. Observational data do not settle entecavir versus tenofovir for HCC (Choi 2023 individual patient meta-analysis HR 0.77, 0.61 to 0.98; Lee 2020 HR 1.03, 0.70 to 1.51).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phase 3 noninferiority trials, 875 HBeAg-positive and 426 HBeAg-negative patients, double-blind. Antiviral efficacy was the same. Bone loss was smaller on TAF at the hip (-0.10% vs -1.72% and -0.29% vs -2.16%) and spine (-0.42% vs -2.29% and -0.88% vs -2.51%). The 96-week pooled analysis (Agarwal, J Hepatol 2018) held up. The 8-year report (Buti, Aliment Pharmacol Ther 2024) switched the TDF arm to TAF at year 2 or 3, so it is not a randomized 8-year comparison. Observational data do not settle entecavir versus tenofovir for HCC (Choi 2023 individual patient meta-analysis HR 0.77, 0.61 to 0.98; Lee 2020 HR 1.03, 0.70 to 1.51).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AASLD 2018: entecavir, TDF and TAF are first line. Entecavir or TAF are preferred over TDF with renal dysfunction or bone disease, or risk of them. Lamivudine resistance confers cross-resistance to entecavir, so use tenofovir. Entecavir alone is not adequate in HIV: it selects HIV M184V. Pregnancy: TDF has the randomized data; AASLD/IDSA 2025 R1 accepts TDF or TAF. Decompensated cirrhosis: the 2025 Figure 5 lists TAF, but the US label does not recommend it in Child-Pugh B or C, so say that. PegIFN is contraindicated in decompensated cirrhosis and in pregnancy.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PAGE-B was derived in 1,815 White European adults treated with entecavir or tenofovir (1,325 derivation, 490 validation) and has three groups: 9 or less, 10 to 17 and 18 or more. Five-year HCC was 0, 3 and 17% in derivation and 0, 4 and 16% in validation. Platelet boundary: EASL prints 'above 200' and the calculator uses 200 or more; the original paper's boundary at exactly 200 is not yet checked. The PAGE-B column and strata come from the dossier (section E1). He was started on TAF when he was 52, so PAGE-B applies. In a US veterans cohort of 3,101 treated patients (39.5% White, 36.3% Black), PAGE-B had a 3-year AUC of 0.73.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PAGE-B was derived in 1,815 White European adults treated with entecavir or tenofovir (1,325 derivation, 490 validation) and has three groups: 9 or less, 10 to 17 and 18 or more. Five-year HCC was 0, 3 and 17% in derivation and 0, 4 and 16% in validation. Platelet boundary: EASL prints 'above 200' and the calculator uses 200 or more; the original paper's boundary at exactly 200 is not yet checked. The PAGE-B column and strata come from the dossier (section E1). He was started on TAF when he was 52, so PAGE-B applies. In a US veterans cohort of 3,101 treated patients (39.5% White, 36.3% Black), PAGE-B had a 3-year AUC of 0.73.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calculator. PAGE-B matches the published table. The second model (HBsAg-HCC, Guo 2026, 1,190 training and 506 validation patients, abstract only) could not be checked against the paper, so say it is a research model, not validated. Do not call it externally verified. The calculator does not include REACH-B, aMAP or REAL-B.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AASLD 2023 Table 1: noncirrhotic HBV: men over 40 and women over 50 from endemic regions; people of African origin earlier (the wording is origin-based, not an instruction to start every Black American at 20); family history of HCC; PAGE-B 10 or more (the table prints 'over 10' while the score's own intermediate group starts at 10). Ultrasound plus AFP every 6 months (level 2, strong). The thresholds behind these groups are about 0.2% a year for noncirrhotic HBV and 1.0% for cirrhosis. These are model-based decision thresholds, not biological cut-offs. Continue surveillance after HBsAg loss in cirrhosis, family history, men who lost HBsAg after 40 and women after 50 (AASLD/IDSA 2025 R6).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AASLD 2023 Table 1: noncirrhotic HBV: men over 40 and women over 50 from endemic regions; people of African origin earlier (the wording is origin-based, not an instruction to start every Black American at 20); family history of HCC; PAGE-B 10 or more (the table prints 'over 10' while the score's own intermediate group starts at 10). Ultrasound plus AFP every 6 months (level 2, strong). The thresholds behind these groups are about 0.2% a year for noncirrhotic HBV and 1.0% for cirrhosis. These are model-based decision thresholds, not biological cut-offs. Continue surveillance after HBsAg loss in cirrhosis, family history, men who lost HBsAg after 40 and women after 50 (AASLD/IDSA 2025 R6).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AASLD 2023 Table 1 and AASLD/IDSA 2025 R6 to R9 (all conditional, very low certainty). Cirrhosis: Child-Pugh A and B patients who could be treated for HCC; Child C only if a transplant candidate. HIV coinfection: men 18 and older and women 40 and older. HBV and HCV: use the HBV criteria after HCV is treated. Surveillance continues on antivirals even when DNA is suppressed.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patient from earlier: anti-HBc positive, HBsAg negative, starting rituximab. AGA risk categories: high above 10%, moderate 1 to 10%, low below 1%. The risk depends on the drug and on serostatus: for HBsAg-positive patients, most of these drugs are high risk (anti-TNF, anthracyclines, JAK inhibitors). EASL 2025 Table 14 differs on several assignments (for example anti-TNF moderate and anthracyclines high in resolved infection), so do not mix the tables. There is no separate current ASH guideline; do not cite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patient from earlier: anti-HBc positive, HBsAg negative, starting rituximab. AGA risk categories: high above 10%, moderate 1 to 10%, low below 1%. The risk depends on the drug and on serostatus: for HBsAg-positive patients, most of these drugs are high risk (anti-TNF, anthracyclines, JAK inhibitors). EASL 2025 Table 14 differs on several assignments (for example anti-TNF moderate and anthracyclines high in resolved infection), so do not mix the tables. There is no separate current ASH guideline; do not cite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High-risk exposure with anti-HBc positive: prophylaxis rather than monitoring (AGA R1, strong). Use a high-barrier drug: entecavir, TDF or TAF. Continue at least 6 months after the immunosuppression ends and at least 12 months for B-cell-depleting therapy (AGA and AASLD 2018); EASL 2025 says 6 to 12 months and at least 18 months after B-cell depletion. For a moderate-risk exposure in a DNA-negative resolved infection, AGA favors prophylaxis but accepts monitoring. ACR 2021 and ASCO 2020 give the rheumatology and oncology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High-risk exposure with anti-HBc positive: prophylaxis rather than monitoring (AGA R1, strong). Use a high-barrier drug: entecavir, TDF or TAF. Continue at least 6 months after the immunosuppression ends and at least 12 months for B-cell-depleting therapy (AGA and AASLD 2018); EASL 2025 says 6 to 12 months and at least 18 months after B-cell depletion. For a moderate-risk exposure in a DNA-negative resolved infection, AGA favors prophylaxis but accepts monitoring. ACR 2021 and ASCO 2020 give the rheumatology and oncology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 2025: high risk above 10%, moderate 1 to 10%, low below 1%. HBsAg positive: prophylaxis for high- and moderate-risk drugs and for chemotherapy; AGA does not insist on it for every low-risk drug, so say 'nearly all'. HBsAg negative, anti-HBc positive: prophylaxis for anti-CD20 and stem cell transplant; for moderate risk AGA favors prophylaxis but accepts monitoring; low risk is monitoring. Duration: 6 months after the last dose, 12 after B-cell depleting therapy (AGA, AASLD 2018); EASL 2025 says 18 after B-cell depletion. Anti-HBs does not change the decision for anti-CD20. All negative: vaccinate (ACIP: all adults 19 to 59, and 60 and older with risk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Born in Ethiopia, HBeAg positive, all values made up. AASLD/IDSA 2025 R1 (strong, moderate certainty): DNA above 200,000 at any point, start TDF or TAF at week 28 (consider week 16 when infant HBIG is not available). WHO 2024 also treats HBeAg-positive mothers regardless of DNA. Mother's ALT is normal, so this is prophylaxis to prevent transmission; stopping at delivery is allowed when treatment was only for that purpose, with DNA and ALT every 1 to 3 months for 6 months. Infant: single-antigen hepatitis B vaccine plus HBIG within 12 hours at separate sites, then complete the series. Breastfeeding is not prohibited.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Born in Ethiopia, HBeAg positive, all values made up. AASLD/IDSA 2025 R1 (strong, moderate certainty): DNA above 200,000 at any point, start TDF or TAF at week 28 (consider week 16 when infant HBIG is not available). WHO 2024 also treats HBeAg-positive mothers regardless of DNA. Mother's ALT is normal, so this is prophylaxis to prevent transmission; stopping at delivery is allowed when treatment was only for that purpose, with DNA and ALT every 1 to 3 months for 6 months. Infant: single-antigen hepatitis B vaccine plus HBIG within 12 hours at separate sites, then complete the series. Breastfeeding is not prohibited.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from the AASLD/IDSA 2025 recommendation and the CDC infant schedule. Infant testing is HBsAg and anti-HBs at 9 to 12 months, or 1 to 2 months after a delayed final dose. Do not use anti-HBc for infant testing after vaccination. Evidence: Pan, NEJM 2016 (200 HBeAg-positive mothers; transmission 5% vs 18% by intention to treat) and Jourdain, NEJM 2018 (331 women; 0 vs 3 infected infants, p = 0.12, not superior because infant prophylaxis was already excellent).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Breastfeeding is not prohibited (AASLD 2018 and AASLD/IDSA 2025). Tenofovir levels in breast milk are low, and the baby has had vaccine and HBIG. Let the room vote first; many think the answer is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Breastfeeding is not prohibited (AASLD 2018 and AASLD/IDSA 2025). Tenofovir levels in breast milk are low, and the baby has had vaccine and HBIG. Let the room vote first; many think the answer is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AASLD/IDSA 2025 R1 (strong, moderate certainty): DNA above 200,000 at any point, start TDF or TAF at week 28; consider week 16 when infant HBIG is not available. Stopping at delivery is allowed when the drug was only for prevention. WHO 2024 also treats HBeAg-positive mothers regardless of DNA. Infant testing: HBsAg and anti-HBs, not anti-HBc. CDC 2023 screens every pregnancy.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HBeAg negative, started on TAF at 52. AASLD/IDSA 2025 R5 (conditional, very low certainty) suggests continuing until HBsAg loss; stopping only in exceptions: no advanced complications, DNA undetectable at least 2 years, qHBsAg under 100, no HIV or HDV, reliable follow-up. If HBeAg-positive at the start, seroconverted at least 1 year. The text says 2 years and the guideline's Figure 4 legend says 3, so quote 2 to 3. If you do stop: DNA and ALT every 1 to 3 months for 6 months, then every 3 months for 6 to 12 months, then every 3 to 6 months. Retreat for DNA 10,000 or more, ALT above 5 times ULN, bilirubin above 2.5 or decompensation (Table 3). Evidence in the extended version. Values are made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HBeAg negative, started on TAF at 52. AASLD/IDSA 2025 R5 (conditional, very low certainty) suggests continuing until HBsAg loss; stopping only in exceptions: no advanced complications, DNA undetectable at least 2 years, qHBsAg under 100, no HIV or HDV, reliable follow-up. If HBeAg-positive at the start, seroconverted at least 1 year. The text says 2 years and the guideline's Figure 4 legend says 3, so quote 2 to 3. If you do stop: DNA and ALT every 1 to 3 months for 6 months, then every 3 months for 6 to 12 months, then every 3 to 6 months. Retreat for DNA 10,000 or more, ALT above 5 times ULN, bilirubin above 2.5 or decompensation (Table 3). Evidence in the extended version. Values are made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AASLD/IDSA 2025 Table 3: restart at once for DNA 10,000 or more, ALT above 5 times ULN, bilirubin above 2.5 mg/dL, or decompensation. A mild ALT rise after stopping is expected and is watched, not treated straight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AASLD/IDSA 2025 Table 3: restart at once for DNA 10,000 or more, ALT above 5 times ULN, bilirubin above 2.5 mg/dL, or decompensation. A mild ALT rise after stopping is expected and is watched, not treated straight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R5 is conditional, very low certainty. If HBeAg-positive at the start, also seroconverted for at least 1 year. The text says 2 years of suppression and the Figure 4 legend says 3. Follow-up and retreatment triggers are from Table 3; the table says ALT above 5 times ULN and the prose says 5 times or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FDA pages. Bepirovirsen is an antisense oligonucleotide given under the skin for up to 24 weeks, together with the existing antiviral, which continues for at least 24 weeks after the last injection; some patients can then stop it. Across the two trials 24% met the criteria to stop their existing medicine versus none on placebo, and 19% still had suppressed virus with undetectable HBsAg 24 weeks after stopping all hepatitis B treatment. The FDA also authorized a Roche qHBsAg assay as a companion diagnostic. Boxed warning for serious liver reactions and low platelets; warnings include worsening kidney function and vasculitis. Hepcludex: accelerated approval, boxed warning for severe exacerbations of HDV and HBV on discontinuation.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three patients.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QR code opens the slides PDF. The HBV HCC risk calculator is at qaddodi.github.io/chb-hcc-risk.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lstStyle>
            <a:lvl1pPr algn="ctr" indent="0" marL="0">
              <a:buNone/>
              <a:defRPr lang="en-US" sz="3000" dirty="0">
                <a:solidFill>
                  <a:srgbClr val="000000"/>
                </a:solidFill>
                <a:latin typeface="Georgia" pitchFamily="34" charset="0"/>
                <a:ea typeface="Georgia" pitchFamily="34" charset="-122"/>
                <a:cs typeface="Georgia" pitchFamily="34" charset="-120"/>
              </a:defRPr>
            </a:lvl1pPr>
          </a:lstStyle>
          <a:p>
            <a:pPr algn="ctr"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728655" cy="1280160"/>
          </a:xfrm>
          <a:prstGeom prst="rect">
            <a:avLst/>
          </a:prstGeom>
          <a:noFill/>
          <a:ln/>
        </p:spPr>
        <p:txBody>
          <a:bodyPr wrap="square" rtlCol="0"/>
          <a:lstStyle>
            <a:lvl1pPr algn="ctr" indent="0" marL="0">
              <a:buNone/>
              <a:defRPr lang="en-US" sz="4400" dirty="0">
                <a:solidFill>
                  <a:srgbClr val="000000"/>
                </a:solidFill>
                <a:latin typeface="Georgia" pitchFamily="34" charset="0"/>
                <a:ea typeface="Georgia" pitchFamily="34" charset="-122"/>
                <a:cs typeface="Georgia" pitchFamily="34" charset="-120"/>
              </a:defRPr>
            </a:lvl1pPr>
          </a:lstStyle>
          <a:p>
            <a:pPr algn="ctr" indent="0" marL="0">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image" Target="../media/image-61-2.png"/><Relationship Id="rId3" Type="http://schemas.openxmlformats.org/officeDocument/2006/relationships/slideLayout" Target="../slideLayouts/slideLayout4.xml"/><Relationship Id="rId4"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Watercolor cover illustration">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6492240" y="1600200"/>
            <a:ext cx="5287975" cy="1325880"/>
          </a:xfrm>
          <a:prstGeom prst="rect">
            <a:avLst/>
          </a:prstGeom>
          <a:noFill/>
          <a:ln/>
        </p:spPr>
        <p:txBody>
          <a:bodyPr wrap="square" lIns="0" tIns="0" rIns="0" bIns="0" rtlCol="0" anchor="ctr"/>
          <a:lstStyle/>
          <a:p>
            <a:pPr algn="ctr" indent="0" marL="0">
              <a:buNone/>
            </a:pPr>
            <a:r>
              <a:rPr lang="en-US" sz="4400" b="1" dirty="0">
                <a:solidFill>
                  <a:srgbClr val="000000"/>
                </a:solidFill>
                <a:latin typeface="Georgia" pitchFamily="34" charset="0"/>
                <a:ea typeface="Georgia" pitchFamily="34" charset="-122"/>
                <a:cs typeface="Georgia" pitchFamily="34" charset="-120"/>
              </a:rPr>
              <a:t>Chronic Hepatitis B</a:t>
            </a:r>
            <a:endParaRPr lang="en-US" sz="4400" dirty="0"/>
          </a:p>
        </p:txBody>
      </p:sp>
      <p:sp>
        <p:nvSpPr>
          <p:cNvPr id="4" name="Shape 1"/>
          <p:cNvSpPr/>
          <p:nvPr/>
        </p:nvSpPr>
        <p:spPr>
          <a:xfrm>
            <a:off x="7589520" y="3291840"/>
            <a:ext cx="3093415" cy="0"/>
          </a:xfrm>
          <a:prstGeom prst="line">
            <a:avLst/>
          </a:prstGeom>
          <a:noFill/>
          <a:ln w="12700">
            <a:solidFill>
              <a:srgbClr val="A6A6A6"/>
            </a:solidFill>
            <a:prstDash val="solid"/>
          </a:ln>
        </p:spPr>
      </p:sp>
      <p:sp>
        <p:nvSpPr>
          <p:cNvPr id="5" name="Text 2"/>
          <p:cNvSpPr txBox="1"/>
          <p:nvPr/>
        </p:nvSpPr>
        <p:spPr>
          <a:xfrm>
            <a:off x="6492240" y="3657600"/>
            <a:ext cx="5287975" cy="1463040"/>
          </a:xfrm>
          <a:prstGeom prst="rect">
            <a:avLst/>
          </a:prstGeom>
          <a:noFill/>
          <a:ln/>
        </p:spPr>
        <p:txBody>
          <a:bodyPr wrap="square" lIns="0" tIns="0" rIns="0" bIns="0" rtlCol="0" anchor="t"/>
          <a:lstStyle/>
          <a:p>
            <a:pPr algn="ctr" indent="0" marL="0">
              <a:spcAft>
                <a:spcPts val="400"/>
              </a:spcAft>
              <a:buNone/>
            </a:pPr>
            <a:r>
              <a:rPr lang="en-US" sz="2000" b="1" dirty="0">
                <a:solidFill>
                  <a:srgbClr val="000000"/>
                </a:solidFill>
                <a:latin typeface="Georgia" pitchFamily="34" charset="0"/>
                <a:ea typeface="Georgia" pitchFamily="34" charset="-122"/>
                <a:cs typeface="Georgia" pitchFamily="34" charset="-120"/>
              </a:rPr>
              <a:t>Mohammad Almeqdadi, MD</a:t>
            </a:r>
            <a:endParaRPr lang="en-US" sz="2000" dirty="0"/>
          </a:p>
          <a:p>
            <a:pPr algn="ctr" indent="0" marL="0">
              <a:spcAft>
                <a:spcPts val="400"/>
              </a:spcAft>
              <a:buNone/>
            </a:pPr>
            <a:r>
              <a:rPr lang="en-US" sz="1600" dirty="0">
                <a:solidFill>
                  <a:srgbClr val="000000"/>
                </a:solidFill>
                <a:latin typeface="Georgia" pitchFamily="34" charset="0"/>
                <a:ea typeface="Georgia" pitchFamily="34" charset="-122"/>
                <a:cs typeface="Georgia" pitchFamily="34" charset="-120"/>
              </a:rPr>
              <a:t>Transplant Hepatologist and Gastroenterologist</a:t>
            </a:r>
            <a:endParaRPr lang="en-US" sz="2000" dirty="0"/>
          </a:p>
          <a:p>
            <a:pPr algn="ctr" indent="0" marL="0">
              <a:spcAft>
                <a:spcPts val="400"/>
              </a:spcAft>
              <a:buNone/>
            </a:pPr>
            <a:r>
              <a:rPr lang="en-US" sz="1600" dirty="0">
                <a:solidFill>
                  <a:srgbClr val="000000"/>
                </a:solidFill>
                <a:latin typeface="Georgia" pitchFamily="34" charset="0"/>
                <a:ea typeface="Georgia" pitchFamily="34" charset="-122"/>
                <a:cs typeface="Georgia" pitchFamily="34" charset="-120"/>
              </a:rPr>
              <a:t>Assistant Professor of Medicine and Surgery</a:t>
            </a:r>
            <a:endParaRPr lang="en-US" sz="2000" dirty="0"/>
          </a:p>
          <a:p>
            <a:pPr algn="ctr" indent="0" marL="0">
              <a:spcAft>
                <a:spcPts val="400"/>
              </a:spcAft>
              <a:buNone/>
            </a:pPr>
            <a:r>
              <a:rPr lang="en-US" sz="1600" dirty="0">
                <a:solidFill>
                  <a:srgbClr val="595959"/>
                </a:solidFill>
                <a:latin typeface="Georgia" pitchFamily="34" charset="0"/>
                <a:ea typeface="Georgia" pitchFamily="34" charset="-122"/>
                <a:cs typeface="Georgia" pitchFamily="34" charset="-120"/>
              </a:rPr>
              <a:t>X: @mfalmeqdadi</a:t>
            </a:r>
            <a:endParaRPr lang="en-US" sz="2000" dirty="0"/>
          </a:p>
        </p:txBody>
      </p:sp>
      <p:pic>
        <p:nvPicPr>
          <p:cNvPr id="6" name="Image 1" descr="Tufts University School of Medicine">    </p:cNvPr>
          <p:cNvPicPr>
            <a:picLocks noChangeAspect="1"/>
          </p:cNvPicPr>
          <p:nvPr/>
        </p:nvPicPr>
        <p:blipFill>
          <a:blip r:embed="rId2"/>
          <a:stretch>
            <a:fillRect/>
          </a:stretch>
        </p:blipFill>
        <p:spPr>
          <a:xfrm>
            <a:off x="6629400" y="5349240"/>
            <a:ext cx="3465576" cy="704088"/>
          </a:xfrm>
          <a:prstGeom prst="rect">
            <a:avLst/>
          </a:prstGeom>
        </p:spPr>
      </p:pic>
      <p:pic>
        <p:nvPicPr>
          <p:cNvPr id="7" name="Image 2" descr="QR code linking to the slides PDF">    </p:cNvPr>
          <p:cNvPicPr>
            <a:picLocks noChangeAspect="1"/>
          </p:cNvPicPr>
          <p:nvPr/>
        </p:nvPicPr>
        <p:blipFill>
          <a:blip r:embed="rId3"/>
          <a:stretch>
            <a:fillRect/>
          </a:stretch>
        </p:blipFill>
        <p:spPr>
          <a:xfrm>
            <a:off x="10637215" y="4846320"/>
            <a:ext cx="1188720" cy="1188720"/>
          </a:xfrm>
          <a:prstGeom prst="rect">
            <a:avLst/>
          </a:prstGeom>
        </p:spPr>
      </p:pic>
      <p:sp>
        <p:nvSpPr>
          <p:cNvPr id="8" name="Text 3"/>
          <p:cNvSpPr txBox="1"/>
          <p:nvPr/>
        </p:nvSpPr>
        <p:spPr>
          <a:xfrm>
            <a:off x="10518343" y="6080760"/>
            <a:ext cx="1417320" cy="274320"/>
          </a:xfrm>
          <a:prstGeom prst="rect">
            <a:avLst/>
          </a:prstGeom>
          <a:noFill/>
          <a:ln/>
        </p:spPr>
        <p:txBody>
          <a:bodyPr wrap="square" lIns="0" tIns="0" rIns="0" bIns="0" rtlCol="0" anchor="ctr"/>
          <a:lstStyle/>
          <a:p>
            <a:pPr algn="ctr" indent="0" marL="0">
              <a:buNone/>
            </a:pPr>
            <a:r>
              <a:rPr lang="en-US" sz="1100" dirty="0">
                <a:solidFill>
                  <a:srgbClr val="595959"/>
                </a:solidFill>
                <a:latin typeface="Georgia" pitchFamily="34" charset="0"/>
                <a:ea typeface="Georgia" pitchFamily="34" charset="-122"/>
                <a:cs typeface="Georgia" pitchFamily="34" charset="-120"/>
              </a:rPr>
              <a:t>Slides (PDF)</a:t>
            </a:r>
            <a:endParaRPr lang="en-US" sz="1100" dirty="0"/>
          </a:p>
        </p:txBody>
      </p:sp>
      <p:sp>
        <p:nvSpPr>
          <p:cNvPr id="9" name="Text 4"/>
          <p:cNvSpPr txBox="1"/>
          <p:nvPr/>
        </p:nvSpPr>
        <p:spPr>
          <a:xfrm>
            <a:off x="365760" y="6400800"/>
            <a:ext cx="4572000" cy="274320"/>
          </a:xfrm>
          <a:prstGeom prst="rect">
            <a:avLst/>
          </a:prstGeom>
          <a:noFill/>
          <a:ln/>
        </p:spPr>
        <p:txBody>
          <a:bodyPr wrap="square" lIns="0" tIns="0" rIns="0" bIns="0" rtlCol="0" anchor="ctr"/>
          <a:lstStyle/>
          <a:p>
            <a:pPr indent="0" marL="0">
              <a:buNone/>
            </a:pPr>
            <a:r>
              <a:rPr lang="en-US" sz="1100" i="1" dirty="0">
                <a:solidFill>
                  <a:srgbClr val="7F7F7F"/>
                </a:solidFill>
                <a:latin typeface="Georgia" pitchFamily="34" charset="0"/>
                <a:ea typeface="Georgia" pitchFamily="34" charset="-122"/>
                <a:cs typeface="Georgia" pitchFamily="34" charset="-120"/>
              </a:rPr>
              <a:t>Illustrations generated with Google Gemini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Objectives</a:t>
            </a:r>
            <a:endParaRPr lang="en-US" sz="3000" dirty="0"/>
          </a:p>
        </p:txBody>
      </p:sp>
      <p:sp>
        <p:nvSpPr>
          <p:cNvPr id="3" name="Body"/>
          <p:cNvSpPr txBox="1"/>
          <p:nvPr/>
        </p:nvSpPr>
        <p:spPr>
          <a:xfrm>
            <a:off x="640080" y="1234440"/>
            <a:ext cx="6949440" cy="457200"/>
          </a:xfrm>
          <a:prstGeom prst="rect">
            <a:avLst/>
          </a:prstGeom>
          <a:noFill/>
          <a:ln/>
        </p:spPr>
        <p:txBody>
          <a:bodyPr wrap="square" lIns="50800" tIns="50800" rIns="50800" bIns="50800" rtlCol="0" anchor="t"/>
          <a:lstStyle/>
          <a:p>
            <a:pPr indent="0" marL="0">
              <a:spcBef>
                <a:spcPts val="800"/>
              </a:spcBef>
              <a:buNone/>
            </a:pPr>
            <a:r>
              <a:rPr lang="en-US" sz="2200" i="1" dirty="0">
                <a:solidFill>
                  <a:srgbClr val="000000"/>
                </a:solidFill>
                <a:latin typeface="Georgia" pitchFamily="34" charset="0"/>
                <a:ea typeface="Georgia" pitchFamily="34" charset="-122"/>
                <a:cs typeface="Georgia" pitchFamily="34" charset="-120"/>
              </a:rPr>
              <a:t>By the end of this talk you should be able to:</a:t>
            </a:r>
            <a:endParaRPr lang="en-US" sz="2200" dirty="0"/>
          </a:p>
        </p:txBody>
      </p:sp>
      <p:sp>
        <p:nvSpPr>
          <p:cNvPr id="4" name="Body"/>
          <p:cNvSpPr txBox="1"/>
          <p:nvPr/>
        </p:nvSpPr>
        <p:spPr>
          <a:xfrm>
            <a:off x="640080" y="1874520"/>
            <a:ext cx="6766560" cy="4389120"/>
          </a:xfrm>
          <a:prstGeom prst="rect">
            <a:avLst/>
          </a:prstGeom>
          <a:noFill/>
          <a:ln/>
        </p:spPr>
        <p:txBody>
          <a:bodyPr wrap="square" lIns="50800" tIns="50800" rIns="50800" bIns="50800" rtlCol="0" anchor="t"/>
          <a:lstStyle/>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Read a hepatitis B serology panel</a:t>
            </a:r>
            <a:endParaRPr lang="en-US" sz="2200" dirty="0"/>
          </a:p>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Place a patient in the right phase</a:t>
            </a:r>
            <a:endParaRPr lang="en-US" sz="2200" dirty="0"/>
          </a:p>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Decide who to treat, using the current guidelines</a:t>
            </a:r>
            <a:endParaRPr lang="en-US" sz="2200" dirty="0"/>
          </a:p>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Estimate HCC risk and set up surveillance</a:t>
            </a:r>
            <a:endParaRPr lang="en-US" sz="2200" dirty="0"/>
          </a:p>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Prevent reactivation and transmission to the baby</a:t>
            </a:r>
            <a:endParaRPr lang="en-US" sz="2200" dirty="0"/>
          </a:p>
        </p:txBody>
      </p:sp>
      <p:pic>
        <p:nvPicPr>
          <p:cNvPr id="5" name="Image 0" descr="Watercolor of blood collection tubes in a rack">    </p:cNvPr>
          <p:cNvPicPr>
            <a:picLocks noChangeAspect="1"/>
          </p:cNvPicPr>
          <p:nvPr/>
        </p:nvPicPr>
        <p:blipFill>
          <a:blip r:embed="rId1"/>
          <a:stretch>
            <a:fillRect/>
          </a:stretch>
        </p:blipFill>
        <p:spPr>
          <a:xfrm>
            <a:off x="7589520" y="1097280"/>
            <a:ext cx="4389120" cy="4389120"/>
          </a:xfrm>
          <a:prstGeom prst="rect">
            <a:avLst/>
          </a:prstGeom>
        </p:spPr>
      </p:pic>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2/38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The Australia antigen</a:t>
            </a:r>
            <a:endParaRPr lang="en-US" sz="3000" dirty="0"/>
          </a:p>
        </p:txBody>
      </p:sp>
      <p:pic>
        <p:nvPicPr>
          <p:cNvPr id="3" name="Image 0" descr="Title and summary of Blumberg, Alter and Visnich, JAMA 1965">    </p:cNvPr>
          <p:cNvPicPr>
            <a:picLocks noChangeAspect="1"/>
          </p:cNvPicPr>
          <p:nvPr/>
        </p:nvPicPr>
        <p:blipFill>
          <a:blip r:embed="rId1"/>
          <a:stretch>
            <a:fillRect/>
          </a:stretch>
        </p:blipFill>
        <p:spPr>
          <a:xfrm>
            <a:off x="548640" y="1188720"/>
            <a:ext cx="6455954" cy="2377440"/>
          </a:xfrm>
          <a:prstGeom prst="rect">
            <a:avLst/>
          </a:prstGeom>
        </p:spPr>
      </p:pic>
      <p:pic>
        <p:nvPicPr>
          <p:cNvPr id="4" name="Image 1" descr="Paragraph describing the serum from an Australian aborigine">    </p:cNvPr>
          <p:cNvPicPr>
            <a:picLocks noChangeAspect="1"/>
          </p:cNvPicPr>
          <p:nvPr/>
        </p:nvPicPr>
        <p:blipFill>
          <a:blip r:embed="rId2"/>
          <a:stretch>
            <a:fillRect/>
          </a:stretch>
        </p:blipFill>
        <p:spPr>
          <a:xfrm>
            <a:off x="548640" y="3794760"/>
            <a:ext cx="5718609" cy="1920240"/>
          </a:xfrm>
          <a:prstGeom prst="rect">
            <a:avLst/>
          </a:prstGeom>
        </p:spPr>
      </p:pic>
      <p:sp>
        <p:nvSpPr>
          <p:cNvPr id="5" name="Body"/>
          <p:cNvSpPr txBox="1"/>
          <p:nvPr/>
        </p:nvSpPr>
        <p:spPr>
          <a:xfrm>
            <a:off x="7498080" y="1554480"/>
            <a:ext cx="4297680" cy="4937760"/>
          </a:xfrm>
          <a:prstGeom prst="rect">
            <a:avLst/>
          </a:prstGeom>
          <a:noFill/>
          <a:ln/>
        </p:spPr>
        <p:txBody>
          <a:bodyPr wrap="square" lIns="50800" tIns="50800" rIns="50800" bIns="50800" rtlCol="0" anchor="t"/>
          <a:lstStyle/>
          <a:p>
            <a:pPr marL="228600" indent="-228600">
              <a:spcBef>
                <a:spcPts val="1600"/>
              </a:spcBef>
              <a:buSzPct val="100000"/>
              <a:buChar char="–"/>
            </a:pPr>
            <a:r>
              <a:rPr lang="en-US" sz="2100" dirty="0">
                <a:solidFill>
                  <a:srgbClr val="000000"/>
                </a:solidFill>
                <a:latin typeface="Georgia" pitchFamily="34" charset="0"/>
                <a:ea typeface="Georgia" pitchFamily="34" charset="-122"/>
                <a:cs typeface="Georgia" pitchFamily="34" charset="-120"/>
              </a:rPr>
              <a:t>Found in the serum of some normal people from foreign populations, and in none of the normal US subjects</a:t>
            </a:r>
            <a:endParaRPr lang="en-US" sz="2100" dirty="0"/>
          </a:p>
          <a:p>
            <a:pPr marL="228600" indent="-228600">
              <a:spcBef>
                <a:spcPts val="1600"/>
              </a:spcBef>
              <a:buSzPct val="100000"/>
              <a:buChar char="–"/>
            </a:pPr>
            <a:r>
              <a:rPr lang="en-US" sz="2100" dirty="0">
                <a:solidFill>
                  <a:srgbClr val="000000"/>
                </a:solidFill>
                <a:latin typeface="Georgia" pitchFamily="34" charset="0"/>
                <a:ea typeface="Georgia" pitchFamily="34" charset="-122"/>
                <a:cs typeface="Georgia" pitchFamily="34" charset="-120"/>
              </a:rPr>
              <a:t>Frequent in acute leukemia, which is why the paper is about leukemia</a:t>
            </a:r>
            <a:endParaRPr lang="en-US" sz="2100" dirty="0"/>
          </a:p>
          <a:p>
            <a:pPr marL="228600" indent="-228600">
              <a:spcBef>
                <a:spcPts val="1600"/>
              </a:spcBef>
              <a:buSzPct val="100000"/>
              <a:buChar char="–"/>
            </a:pPr>
            <a:r>
              <a:rPr lang="en-US" sz="2100" dirty="0">
                <a:solidFill>
                  <a:srgbClr val="000000"/>
                </a:solidFill>
                <a:latin typeface="Georgia" pitchFamily="34" charset="0"/>
                <a:ea typeface="Georgia" pitchFamily="34" charset="-122"/>
                <a:cs typeface="Georgia" pitchFamily="34" charset="-120"/>
              </a:rPr>
              <a:t>Blumberg shared the 1976 Nobel Prize with Carleton Gajdusek</a:t>
            </a:r>
            <a:endParaRPr lang="en-US" sz="21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Blumberg BS, Alter HJ, Visnich S. JAMA 1965;191:541-546. PMID 14239025.</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3/38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From antigen to vaccine</a:t>
            </a:r>
            <a:endParaRPr lang="en-US" sz="3000" dirty="0"/>
          </a:p>
        </p:txBody>
      </p:sp>
      <p:sp>
        <p:nvSpPr>
          <p:cNvPr id="3" name="Shape 1"/>
          <p:cNvSpPr/>
          <p:nvPr/>
        </p:nvSpPr>
        <p:spPr>
          <a:xfrm>
            <a:off x="274320" y="2377440"/>
            <a:ext cx="7498080" cy="0"/>
          </a:xfrm>
          <a:prstGeom prst="line">
            <a:avLst/>
          </a:prstGeom>
          <a:noFill/>
          <a:ln w="25400">
            <a:solidFill>
              <a:srgbClr val="595959"/>
            </a:solidFill>
            <a:prstDash val="solid"/>
          </a:ln>
        </p:spPr>
      </p:sp>
      <p:sp>
        <p:nvSpPr>
          <p:cNvPr id="4" name="Shape 2"/>
          <p:cNvSpPr/>
          <p:nvPr/>
        </p:nvSpPr>
        <p:spPr>
          <a:xfrm>
            <a:off x="941832" y="2295144"/>
            <a:ext cx="164592" cy="164592"/>
          </a:xfrm>
          <a:prstGeom prst="ellipse">
            <a:avLst/>
          </a:prstGeom>
          <a:solidFill>
            <a:srgbClr val="1F4E79"/>
          </a:solidFill>
          <a:ln w="12700">
            <a:solidFill>
              <a:srgbClr val="1F4E79"/>
            </a:solidFill>
            <a:prstDash val="solid"/>
          </a:ln>
        </p:spPr>
      </p:sp>
      <p:sp>
        <p:nvSpPr>
          <p:cNvPr id="5" name="Text 3"/>
          <p:cNvSpPr txBox="1"/>
          <p:nvPr/>
        </p:nvSpPr>
        <p:spPr>
          <a:xfrm>
            <a:off x="274320" y="1600200"/>
            <a:ext cx="1499616" cy="548640"/>
          </a:xfrm>
          <a:prstGeom prst="rect">
            <a:avLst/>
          </a:prstGeom>
          <a:noFill/>
          <a:ln/>
        </p:spPr>
        <p:txBody>
          <a:bodyPr wrap="square" lIns="0" tIns="0" rIns="0" bIns="0" rtlCol="0" anchor="b"/>
          <a:lstStyle/>
          <a:p>
            <a:pPr algn="ctr" indent="0" marL="0">
              <a:buNone/>
            </a:pPr>
            <a:r>
              <a:rPr lang="en-US" sz="2800" b="1" dirty="0">
                <a:solidFill>
                  <a:srgbClr val="000000"/>
                </a:solidFill>
                <a:latin typeface="Georgia" pitchFamily="34" charset="0"/>
                <a:ea typeface="Georgia" pitchFamily="34" charset="-122"/>
                <a:cs typeface="Georgia" pitchFamily="34" charset="-120"/>
              </a:rPr>
              <a:t>1965</a:t>
            </a:r>
            <a:endParaRPr lang="en-US" sz="2800" dirty="0"/>
          </a:p>
        </p:txBody>
      </p:sp>
      <p:sp>
        <p:nvSpPr>
          <p:cNvPr id="6" name="Text 4"/>
          <p:cNvSpPr txBox="1"/>
          <p:nvPr/>
        </p:nvSpPr>
        <p:spPr>
          <a:xfrm>
            <a:off x="347472" y="2651760"/>
            <a:ext cx="1353312" cy="3108960"/>
          </a:xfrm>
          <a:prstGeom prst="rect">
            <a:avLst/>
          </a:prstGeom>
          <a:noFill/>
          <a:ln/>
        </p:spPr>
        <p:txBody>
          <a:bodyPr wrap="square" lIns="0" tIns="0" rIns="0" bIns="0" rtlCol="0" anchor="t"/>
          <a:lstStyle/>
          <a:p>
            <a:pPr algn="ctr" indent="0" marL="0">
              <a:buNone/>
            </a:pPr>
            <a:r>
              <a:rPr lang="en-US" sz="1500" dirty="0">
                <a:solidFill>
                  <a:srgbClr val="000000"/>
                </a:solidFill>
                <a:latin typeface="Georgia" pitchFamily="34" charset="0"/>
                <a:ea typeface="Georgia" pitchFamily="34" charset="-122"/>
                <a:cs typeface="Georgia" pitchFamily="34" charset="-120"/>
              </a:rPr>
              <a:t>Blumberg, Alter and Visnich describe the Australia antigen</a:t>
            </a:r>
            <a:endParaRPr lang="en-US" sz="1500" dirty="0"/>
          </a:p>
        </p:txBody>
      </p:sp>
      <p:sp>
        <p:nvSpPr>
          <p:cNvPr id="7" name="Shape 5"/>
          <p:cNvSpPr/>
          <p:nvPr/>
        </p:nvSpPr>
        <p:spPr>
          <a:xfrm>
            <a:off x="2441448" y="2295144"/>
            <a:ext cx="164592" cy="164592"/>
          </a:xfrm>
          <a:prstGeom prst="ellipse">
            <a:avLst/>
          </a:prstGeom>
          <a:solidFill>
            <a:srgbClr val="1F4E79"/>
          </a:solidFill>
          <a:ln w="12700">
            <a:solidFill>
              <a:srgbClr val="1F4E79"/>
            </a:solidFill>
            <a:prstDash val="solid"/>
          </a:ln>
        </p:spPr>
      </p:sp>
      <p:sp>
        <p:nvSpPr>
          <p:cNvPr id="8" name="Text 6"/>
          <p:cNvSpPr txBox="1"/>
          <p:nvPr/>
        </p:nvSpPr>
        <p:spPr>
          <a:xfrm>
            <a:off x="1773936" y="1600200"/>
            <a:ext cx="1499616" cy="548640"/>
          </a:xfrm>
          <a:prstGeom prst="rect">
            <a:avLst/>
          </a:prstGeom>
          <a:noFill/>
          <a:ln/>
        </p:spPr>
        <p:txBody>
          <a:bodyPr wrap="square" lIns="0" tIns="0" rIns="0" bIns="0" rtlCol="0" anchor="b"/>
          <a:lstStyle/>
          <a:p>
            <a:pPr algn="ctr" indent="0" marL="0">
              <a:buNone/>
            </a:pPr>
            <a:r>
              <a:rPr lang="en-US" sz="2800" b="1" dirty="0">
                <a:solidFill>
                  <a:srgbClr val="000000"/>
                </a:solidFill>
                <a:latin typeface="Georgia" pitchFamily="34" charset="0"/>
                <a:ea typeface="Georgia" pitchFamily="34" charset="-122"/>
                <a:cs typeface="Georgia" pitchFamily="34" charset="-120"/>
              </a:rPr>
              <a:t>1970</a:t>
            </a:r>
            <a:endParaRPr lang="en-US" sz="2800" dirty="0"/>
          </a:p>
        </p:txBody>
      </p:sp>
      <p:sp>
        <p:nvSpPr>
          <p:cNvPr id="9" name="Text 7"/>
          <p:cNvSpPr txBox="1"/>
          <p:nvPr/>
        </p:nvSpPr>
        <p:spPr>
          <a:xfrm>
            <a:off x="1847088" y="2651760"/>
            <a:ext cx="1353312" cy="3108960"/>
          </a:xfrm>
          <a:prstGeom prst="rect">
            <a:avLst/>
          </a:prstGeom>
          <a:noFill/>
          <a:ln/>
        </p:spPr>
        <p:txBody>
          <a:bodyPr wrap="square" lIns="0" tIns="0" rIns="0" bIns="0" rtlCol="0" anchor="t"/>
          <a:lstStyle/>
          <a:p>
            <a:pPr algn="ctr" indent="0" marL="0">
              <a:buNone/>
            </a:pPr>
            <a:r>
              <a:rPr lang="en-US" sz="1500" dirty="0">
                <a:solidFill>
                  <a:srgbClr val="000000"/>
                </a:solidFill>
                <a:latin typeface="Georgia" pitchFamily="34" charset="0"/>
                <a:ea typeface="Georgia" pitchFamily="34" charset="-122"/>
                <a:cs typeface="Georgia" pitchFamily="34" charset="-120"/>
              </a:rPr>
              <a:t>Dane, Cameron and Briggs see the virus particle in serum</a:t>
            </a:r>
            <a:endParaRPr lang="en-US" sz="1500" dirty="0"/>
          </a:p>
        </p:txBody>
      </p:sp>
      <p:sp>
        <p:nvSpPr>
          <p:cNvPr id="10" name="Shape 8"/>
          <p:cNvSpPr/>
          <p:nvPr/>
        </p:nvSpPr>
        <p:spPr>
          <a:xfrm>
            <a:off x="3941064" y="2295144"/>
            <a:ext cx="164592" cy="164592"/>
          </a:xfrm>
          <a:prstGeom prst="ellipse">
            <a:avLst/>
          </a:prstGeom>
          <a:solidFill>
            <a:srgbClr val="1F4E79"/>
          </a:solidFill>
          <a:ln w="12700">
            <a:solidFill>
              <a:srgbClr val="1F4E79"/>
            </a:solidFill>
            <a:prstDash val="solid"/>
          </a:ln>
        </p:spPr>
      </p:sp>
      <p:sp>
        <p:nvSpPr>
          <p:cNvPr id="11" name="Text 9"/>
          <p:cNvSpPr txBox="1"/>
          <p:nvPr/>
        </p:nvSpPr>
        <p:spPr>
          <a:xfrm>
            <a:off x="3273552" y="1600200"/>
            <a:ext cx="1499616" cy="548640"/>
          </a:xfrm>
          <a:prstGeom prst="rect">
            <a:avLst/>
          </a:prstGeom>
          <a:noFill/>
          <a:ln/>
        </p:spPr>
        <p:txBody>
          <a:bodyPr wrap="square" lIns="0" tIns="0" rIns="0" bIns="0" rtlCol="0" anchor="b"/>
          <a:lstStyle/>
          <a:p>
            <a:pPr algn="ctr" indent="0" marL="0">
              <a:buNone/>
            </a:pPr>
            <a:r>
              <a:rPr lang="en-US" sz="2800" b="1" dirty="0">
                <a:solidFill>
                  <a:srgbClr val="000000"/>
                </a:solidFill>
                <a:latin typeface="Georgia" pitchFamily="34" charset="0"/>
                <a:ea typeface="Georgia" pitchFamily="34" charset="-122"/>
                <a:cs typeface="Georgia" pitchFamily="34" charset="-120"/>
              </a:rPr>
              <a:t>1976</a:t>
            </a:r>
            <a:endParaRPr lang="en-US" sz="2800" dirty="0"/>
          </a:p>
        </p:txBody>
      </p:sp>
      <p:sp>
        <p:nvSpPr>
          <p:cNvPr id="12" name="Text 10"/>
          <p:cNvSpPr txBox="1"/>
          <p:nvPr/>
        </p:nvSpPr>
        <p:spPr>
          <a:xfrm>
            <a:off x="3346704" y="2651760"/>
            <a:ext cx="1353312" cy="3108960"/>
          </a:xfrm>
          <a:prstGeom prst="rect">
            <a:avLst/>
          </a:prstGeom>
          <a:noFill/>
          <a:ln/>
        </p:spPr>
        <p:txBody>
          <a:bodyPr wrap="square" lIns="0" tIns="0" rIns="0" bIns="0" rtlCol="0" anchor="t"/>
          <a:lstStyle/>
          <a:p>
            <a:pPr algn="ctr" indent="0" marL="0">
              <a:buNone/>
            </a:pPr>
            <a:r>
              <a:rPr lang="en-US" sz="1500" dirty="0">
                <a:solidFill>
                  <a:srgbClr val="000000"/>
                </a:solidFill>
                <a:latin typeface="Georgia" pitchFamily="34" charset="0"/>
                <a:ea typeface="Georgia" pitchFamily="34" charset="-122"/>
                <a:cs typeface="Georgia" pitchFamily="34" charset="-120"/>
              </a:rPr>
              <a:t>Blumberg and Gajdusek receive the Nobel Prize. First immunization of people with plasma-derived vaccine (Maupas)</a:t>
            </a:r>
            <a:endParaRPr lang="en-US" sz="1500" dirty="0"/>
          </a:p>
        </p:txBody>
      </p:sp>
      <p:sp>
        <p:nvSpPr>
          <p:cNvPr id="13" name="Shape 11"/>
          <p:cNvSpPr/>
          <p:nvPr/>
        </p:nvSpPr>
        <p:spPr>
          <a:xfrm>
            <a:off x="5440680" y="2295144"/>
            <a:ext cx="164592" cy="164592"/>
          </a:xfrm>
          <a:prstGeom prst="ellipse">
            <a:avLst/>
          </a:prstGeom>
          <a:solidFill>
            <a:srgbClr val="1F4E79"/>
          </a:solidFill>
          <a:ln w="12700">
            <a:solidFill>
              <a:srgbClr val="1F4E79"/>
            </a:solidFill>
            <a:prstDash val="solid"/>
          </a:ln>
        </p:spPr>
      </p:sp>
      <p:sp>
        <p:nvSpPr>
          <p:cNvPr id="14" name="Text 12"/>
          <p:cNvSpPr txBox="1"/>
          <p:nvPr/>
        </p:nvSpPr>
        <p:spPr>
          <a:xfrm>
            <a:off x="4773168" y="1600200"/>
            <a:ext cx="1499616" cy="548640"/>
          </a:xfrm>
          <a:prstGeom prst="rect">
            <a:avLst/>
          </a:prstGeom>
          <a:noFill/>
          <a:ln/>
        </p:spPr>
        <p:txBody>
          <a:bodyPr wrap="square" lIns="0" tIns="0" rIns="0" bIns="0" rtlCol="0" anchor="b"/>
          <a:lstStyle/>
          <a:p>
            <a:pPr algn="ctr" indent="0" marL="0">
              <a:buNone/>
            </a:pPr>
            <a:r>
              <a:rPr lang="en-US" sz="2800" b="1" dirty="0">
                <a:solidFill>
                  <a:srgbClr val="000000"/>
                </a:solidFill>
                <a:latin typeface="Georgia" pitchFamily="34" charset="0"/>
                <a:ea typeface="Georgia" pitchFamily="34" charset="-122"/>
                <a:cs typeface="Georgia" pitchFamily="34" charset="-120"/>
              </a:rPr>
              <a:t>1980</a:t>
            </a:r>
            <a:endParaRPr lang="en-US" sz="2800" dirty="0"/>
          </a:p>
        </p:txBody>
      </p:sp>
      <p:sp>
        <p:nvSpPr>
          <p:cNvPr id="15" name="Text 13"/>
          <p:cNvSpPr txBox="1"/>
          <p:nvPr/>
        </p:nvSpPr>
        <p:spPr>
          <a:xfrm>
            <a:off x="4846320" y="2651760"/>
            <a:ext cx="1353312" cy="3108960"/>
          </a:xfrm>
          <a:prstGeom prst="rect">
            <a:avLst/>
          </a:prstGeom>
          <a:noFill/>
          <a:ln/>
        </p:spPr>
        <p:txBody>
          <a:bodyPr wrap="square" lIns="0" tIns="0" rIns="0" bIns="0" rtlCol="0" anchor="t"/>
          <a:lstStyle/>
          <a:p>
            <a:pPr algn="ctr" indent="0" marL="0">
              <a:buNone/>
            </a:pPr>
            <a:r>
              <a:rPr lang="en-US" sz="1500" dirty="0">
                <a:solidFill>
                  <a:srgbClr val="000000"/>
                </a:solidFill>
                <a:latin typeface="Georgia" pitchFamily="34" charset="0"/>
                <a:ea typeface="Georgia" pitchFamily="34" charset="-122"/>
                <a:cs typeface="Georgia" pitchFamily="34" charset="-120"/>
              </a:rPr>
              <a:t>Szmuness: the vaccine works in a controlled trial of 1,083 men</a:t>
            </a:r>
            <a:endParaRPr lang="en-US" sz="1500" dirty="0"/>
          </a:p>
        </p:txBody>
      </p:sp>
      <p:sp>
        <p:nvSpPr>
          <p:cNvPr id="16" name="Shape 14"/>
          <p:cNvSpPr/>
          <p:nvPr/>
        </p:nvSpPr>
        <p:spPr>
          <a:xfrm>
            <a:off x="6940296" y="2295144"/>
            <a:ext cx="164592" cy="164592"/>
          </a:xfrm>
          <a:prstGeom prst="ellipse">
            <a:avLst/>
          </a:prstGeom>
          <a:solidFill>
            <a:srgbClr val="1F4E79"/>
          </a:solidFill>
          <a:ln w="12700">
            <a:solidFill>
              <a:srgbClr val="1F4E79"/>
            </a:solidFill>
            <a:prstDash val="solid"/>
          </a:ln>
        </p:spPr>
      </p:sp>
      <p:sp>
        <p:nvSpPr>
          <p:cNvPr id="17" name="Text 15"/>
          <p:cNvSpPr txBox="1"/>
          <p:nvPr/>
        </p:nvSpPr>
        <p:spPr>
          <a:xfrm>
            <a:off x="6272784" y="1600200"/>
            <a:ext cx="1499616" cy="548640"/>
          </a:xfrm>
          <a:prstGeom prst="rect">
            <a:avLst/>
          </a:prstGeom>
          <a:noFill/>
          <a:ln/>
        </p:spPr>
        <p:txBody>
          <a:bodyPr wrap="square" lIns="0" tIns="0" rIns="0" bIns="0" rtlCol="0" anchor="b"/>
          <a:lstStyle/>
          <a:p>
            <a:pPr algn="ctr" indent="0" marL="0">
              <a:buNone/>
            </a:pPr>
            <a:r>
              <a:rPr lang="en-US" sz="2800" b="1" dirty="0">
                <a:solidFill>
                  <a:srgbClr val="000000"/>
                </a:solidFill>
                <a:latin typeface="Georgia" pitchFamily="34" charset="0"/>
                <a:ea typeface="Georgia" pitchFamily="34" charset="-122"/>
                <a:cs typeface="Georgia" pitchFamily="34" charset="-120"/>
              </a:rPr>
              <a:t>1981</a:t>
            </a:r>
            <a:endParaRPr lang="en-US" sz="2800" dirty="0"/>
          </a:p>
        </p:txBody>
      </p:sp>
      <p:sp>
        <p:nvSpPr>
          <p:cNvPr id="18" name="Text 16"/>
          <p:cNvSpPr txBox="1"/>
          <p:nvPr/>
        </p:nvSpPr>
        <p:spPr>
          <a:xfrm>
            <a:off x="6345936" y="2651760"/>
            <a:ext cx="1353312" cy="3108960"/>
          </a:xfrm>
          <a:prstGeom prst="rect">
            <a:avLst/>
          </a:prstGeom>
          <a:noFill/>
          <a:ln/>
        </p:spPr>
        <p:txBody>
          <a:bodyPr wrap="square" lIns="0" tIns="0" rIns="0" bIns="0" rtlCol="0" anchor="t"/>
          <a:lstStyle/>
          <a:p>
            <a:pPr algn="ctr" indent="0" marL="0">
              <a:buNone/>
            </a:pPr>
            <a:r>
              <a:rPr lang="en-US" sz="1500" dirty="0">
                <a:solidFill>
                  <a:srgbClr val="000000"/>
                </a:solidFill>
                <a:latin typeface="Georgia" pitchFamily="34" charset="0"/>
                <a:ea typeface="Georgia" pitchFamily="34" charset="-122"/>
                <a:cs typeface="Georgia" pitchFamily="34" charset="-120"/>
              </a:rPr>
              <a:t>Beasley: HBsAg carriers in Taiwan get liver cancer at a far higher rate</a:t>
            </a:r>
            <a:endParaRPr lang="en-US" sz="1500" dirty="0"/>
          </a:p>
        </p:txBody>
      </p:sp>
      <p:pic>
        <p:nvPicPr>
          <p:cNvPr id="19" name="Image 0" descr="Watercolor of a glass vaccine vial and a glass syringe">    </p:cNvPr>
          <p:cNvPicPr>
            <a:picLocks noChangeAspect="1"/>
          </p:cNvPicPr>
          <p:nvPr/>
        </p:nvPicPr>
        <p:blipFill>
          <a:blip r:embed="rId1"/>
          <a:stretch>
            <a:fillRect/>
          </a:stretch>
        </p:blipFill>
        <p:spPr>
          <a:xfrm>
            <a:off x="7863840" y="1097280"/>
            <a:ext cx="4206240" cy="4206240"/>
          </a:xfrm>
          <a:prstGeom prst="rect">
            <a:avLst/>
          </a:prstGeom>
        </p:spPr>
      </p:pic>
      <p:sp>
        <p:nvSpPr>
          <p:cNvPr id="20"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PMIDs: Dane 4190997; Maupas 59012; Szmuness 6997738; Beasley 6118576.</a:t>
            </a:r>
            <a:endParaRPr lang="en-US" sz="1000" dirty="0"/>
          </a:p>
        </p:txBody>
      </p:sp>
      <p:sp>
        <p:nvSpPr>
          <p:cNvPr id="22"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4/38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Hepatitis B worldwide</a:t>
            </a:r>
            <a:endParaRPr lang="en-US" sz="3000" dirty="0"/>
          </a:p>
        </p:txBody>
      </p:sp>
      <p:sp>
        <p:nvSpPr>
          <p:cNvPr id="3" name="Question"/>
          <p:cNvSpPr txBox="1"/>
          <p:nvPr/>
        </p:nvSpPr>
        <p:spPr>
          <a:xfrm>
            <a:off x="822960" y="1188720"/>
            <a:ext cx="10545775"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How many people with chronic hepatitis B know it?</a:t>
            </a:r>
            <a:endParaRPr lang="en-US" sz="2600" dirty="0"/>
          </a:p>
        </p:txBody>
      </p:sp>
      <p:sp>
        <p:nvSpPr>
          <p:cNvPr id="4" name="Shape 2"/>
          <p:cNvSpPr/>
          <p:nvPr/>
        </p:nvSpPr>
        <p:spPr>
          <a:xfrm>
            <a:off x="2011680" y="5394960"/>
            <a:ext cx="8168335" cy="0"/>
          </a:xfrm>
          <a:prstGeom prst="line">
            <a:avLst/>
          </a:prstGeom>
          <a:noFill/>
          <a:ln w="19050">
            <a:solidFill>
              <a:srgbClr val="595959"/>
            </a:solidFill>
            <a:prstDash val="solid"/>
          </a:ln>
        </p:spPr>
      </p:sp>
      <p:sp>
        <p:nvSpPr>
          <p:cNvPr id="5" name="Shape 3"/>
          <p:cNvSpPr/>
          <p:nvPr/>
        </p:nvSpPr>
        <p:spPr>
          <a:xfrm>
            <a:off x="2641549" y="2194560"/>
            <a:ext cx="1463040" cy="3200400"/>
          </a:xfrm>
          <a:prstGeom prst="rect">
            <a:avLst/>
          </a:prstGeom>
          <a:solidFill>
            <a:srgbClr val="9DB4CA"/>
          </a:solidFill>
          <a:ln w="6350">
            <a:solidFill>
              <a:srgbClr val="9DB4CA"/>
            </a:solidFill>
            <a:prstDash val="solid"/>
          </a:ln>
        </p:spPr>
      </p:sp>
      <p:sp>
        <p:nvSpPr>
          <p:cNvPr id="6" name="Text 4"/>
          <p:cNvSpPr txBox="1"/>
          <p:nvPr/>
        </p:nvSpPr>
        <p:spPr>
          <a:xfrm>
            <a:off x="2011680" y="1737360"/>
            <a:ext cx="2722778" cy="411480"/>
          </a:xfrm>
          <a:prstGeom prst="rect">
            <a:avLst/>
          </a:prstGeom>
          <a:noFill/>
          <a:ln/>
        </p:spPr>
        <p:txBody>
          <a:bodyPr wrap="square" lIns="0" tIns="0" rIns="0" bIns="0" rtlCol="0" anchor="b"/>
          <a:lstStyle/>
          <a:p>
            <a:pPr algn="ctr" indent="0" marL="0">
              <a:buNone/>
            </a:pPr>
            <a:r>
              <a:rPr lang="en-US" sz="2200" b="1" dirty="0">
                <a:solidFill>
                  <a:srgbClr val="000000"/>
                </a:solidFill>
                <a:latin typeface="Calibri" pitchFamily="34" charset="0"/>
                <a:ea typeface="Calibri" pitchFamily="34" charset="-122"/>
                <a:cs typeface="Calibri" pitchFamily="34" charset="-120"/>
              </a:rPr>
              <a:t>100%</a:t>
            </a:r>
            <a:endParaRPr lang="en-US" sz="2200" dirty="0"/>
          </a:p>
        </p:txBody>
      </p:sp>
      <p:sp>
        <p:nvSpPr>
          <p:cNvPr id="7" name="Text 5"/>
          <p:cNvSpPr txBox="1"/>
          <p:nvPr/>
        </p:nvSpPr>
        <p:spPr>
          <a:xfrm>
            <a:off x="2057400" y="5468112"/>
            <a:ext cx="2631338" cy="731520"/>
          </a:xfrm>
          <a:prstGeom prst="rect">
            <a:avLst/>
          </a:prstGeom>
          <a:noFill/>
          <a:ln/>
        </p:spPr>
        <p:txBody>
          <a:bodyPr wrap="squar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Living with chronic hepatitis B (254 million)</a:t>
            </a:r>
            <a:endParaRPr lang="en-US" sz="1800" dirty="0"/>
          </a:p>
        </p:txBody>
      </p:sp>
      <p:sp>
        <p:nvSpPr>
          <p:cNvPr id="8" name="Text 6"/>
          <p:cNvSpPr txBox="1"/>
          <p:nvPr/>
        </p:nvSpPr>
        <p:spPr>
          <a:xfrm>
            <a:off x="4780178" y="5468112"/>
            <a:ext cx="2631338" cy="731520"/>
          </a:xfrm>
          <a:prstGeom prst="rect">
            <a:avLst/>
          </a:prstGeom>
          <a:noFill/>
          <a:ln/>
        </p:spPr>
        <p:txBody>
          <a:bodyPr wrap="squar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Diagnosed</a:t>
            </a:r>
            <a:endParaRPr lang="en-US" sz="1800" dirty="0"/>
          </a:p>
        </p:txBody>
      </p:sp>
      <p:sp>
        <p:nvSpPr>
          <p:cNvPr id="9" name="Text 7"/>
          <p:cNvSpPr txBox="1"/>
          <p:nvPr/>
        </p:nvSpPr>
        <p:spPr>
          <a:xfrm>
            <a:off x="7502957" y="5468112"/>
            <a:ext cx="2631338" cy="731520"/>
          </a:xfrm>
          <a:prstGeom prst="rect">
            <a:avLst/>
          </a:prstGeom>
          <a:noFill/>
          <a:ln/>
        </p:spPr>
        <p:txBody>
          <a:bodyPr wrap="squar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Treated (about 7 million)</a:t>
            </a:r>
            <a:endParaRPr lang="en-US" sz="1800" dirty="0"/>
          </a:p>
        </p:txBody>
      </p:sp>
      <p:sp>
        <p:nvSpPr>
          <p:cNvPr id="10"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WHO news release 9 April 2024 (2022 estimates), rounded. WHO Global hepatitis report 2024.</a:t>
            </a:r>
            <a:endParaRPr lang="en-US" sz="1000" dirty="0"/>
          </a:p>
        </p:txBody>
      </p:sp>
      <p:sp>
        <p:nvSpPr>
          <p:cNvPr id="12"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5/38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Hepatitis B worldwide</a:t>
            </a:r>
            <a:endParaRPr lang="en-US" sz="3000" dirty="0"/>
          </a:p>
        </p:txBody>
      </p:sp>
      <p:sp>
        <p:nvSpPr>
          <p:cNvPr id="3" name="Question"/>
          <p:cNvSpPr txBox="1"/>
          <p:nvPr/>
        </p:nvSpPr>
        <p:spPr>
          <a:xfrm>
            <a:off x="822960" y="1188720"/>
            <a:ext cx="10545775"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How many people with chronic hepatitis B know it?</a:t>
            </a:r>
            <a:endParaRPr lang="en-US" sz="2600" dirty="0"/>
          </a:p>
        </p:txBody>
      </p:sp>
      <p:sp>
        <p:nvSpPr>
          <p:cNvPr id="4" name="Shape 2"/>
          <p:cNvSpPr/>
          <p:nvPr/>
        </p:nvSpPr>
        <p:spPr>
          <a:xfrm>
            <a:off x="2011680" y="5394960"/>
            <a:ext cx="8168335" cy="0"/>
          </a:xfrm>
          <a:prstGeom prst="line">
            <a:avLst/>
          </a:prstGeom>
          <a:noFill/>
          <a:ln w="19050">
            <a:solidFill>
              <a:srgbClr val="595959"/>
            </a:solidFill>
            <a:prstDash val="solid"/>
          </a:ln>
        </p:spPr>
      </p:sp>
      <p:sp>
        <p:nvSpPr>
          <p:cNvPr id="5" name="Shape 3"/>
          <p:cNvSpPr/>
          <p:nvPr/>
        </p:nvSpPr>
        <p:spPr>
          <a:xfrm>
            <a:off x="2641549" y="2194560"/>
            <a:ext cx="1463040" cy="3200400"/>
          </a:xfrm>
          <a:prstGeom prst="rect">
            <a:avLst/>
          </a:prstGeom>
          <a:solidFill>
            <a:srgbClr val="9DB4CA"/>
          </a:solidFill>
          <a:ln w="6350">
            <a:solidFill>
              <a:srgbClr val="9DB4CA"/>
            </a:solidFill>
            <a:prstDash val="solid"/>
          </a:ln>
        </p:spPr>
      </p:sp>
      <p:sp>
        <p:nvSpPr>
          <p:cNvPr id="6" name="Text 4"/>
          <p:cNvSpPr txBox="1"/>
          <p:nvPr/>
        </p:nvSpPr>
        <p:spPr>
          <a:xfrm>
            <a:off x="2011680" y="1737360"/>
            <a:ext cx="2722778" cy="411480"/>
          </a:xfrm>
          <a:prstGeom prst="rect">
            <a:avLst/>
          </a:prstGeom>
          <a:noFill/>
          <a:ln/>
        </p:spPr>
        <p:txBody>
          <a:bodyPr wrap="square" lIns="0" tIns="0" rIns="0" bIns="0" rtlCol="0" anchor="b"/>
          <a:lstStyle/>
          <a:p>
            <a:pPr algn="ctr" indent="0" marL="0">
              <a:buNone/>
            </a:pPr>
            <a:r>
              <a:rPr lang="en-US" sz="2200" b="1" dirty="0">
                <a:solidFill>
                  <a:srgbClr val="000000"/>
                </a:solidFill>
                <a:latin typeface="Calibri" pitchFamily="34" charset="0"/>
                <a:ea typeface="Calibri" pitchFamily="34" charset="-122"/>
                <a:cs typeface="Calibri" pitchFamily="34" charset="-120"/>
              </a:rPr>
              <a:t>100%</a:t>
            </a:r>
            <a:endParaRPr lang="en-US" sz="2200" dirty="0"/>
          </a:p>
        </p:txBody>
      </p:sp>
      <p:sp>
        <p:nvSpPr>
          <p:cNvPr id="7" name="Text 5"/>
          <p:cNvSpPr txBox="1"/>
          <p:nvPr/>
        </p:nvSpPr>
        <p:spPr>
          <a:xfrm>
            <a:off x="2057400" y="5468112"/>
            <a:ext cx="2631338" cy="731520"/>
          </a:xfrm>
          <a:prstGeom prst="rect">
            <a:avLst/>
          </a:prstGeom>
          <a:noFill/>
          <a:ln/>
        </p:spPr>
        <p:txBody>
          <a:bodyPr wrap="squar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Living with chronic hepatitis B (254 million)</a:t>
            </a:r>
            <a:endParaRPr lang="en-US" sz="1800" dirty="0"/>
          </a:p>
        </p:txBody>
      </p:sp>
      <p:sp>
        <p:nvSpPr>
          <p:cNvPr id="8" name="Shape 6"/>
          <p:cNvSpPr/>
          <p:nvPr/>
        </p:nvSpPr>
        <p:spPr>
          <a:xfrm>
            <a:off x="5364328" y="4978908"/>
            <a:ext cx="1463040" cy="416052"/>
          </a:xfrm>
          <a:prstGeom prst="rect">
            <a:avLst/>
          </a:prstGeom>
          <a:solidFill>
            <a:srgbClr val="1F4E79"/>
          </a:solidFill>
          <a:ln w="6350">
            <a:solidFill>
              <a:srgbClr val="1F4E79"/>
            </a:solidFill>
            <a:prstDash val="solid"/>
          </a:ln>
        </p:spPr>
      </p:sp>
      <p:sp>
        <p:nvSpPr>
          <p:cNvPr id="9" name="Text 7"/>
          <p:cNvSpPr txBox="1"/>
          <p:nvPr/>
        </p:nvSpPr>
        <p:spPr>
          <a:xfrm>
            <a:off x="4734458" y="4521708"/>
            <a:ext cx="2722778" cy="411480"/>
          </a:xfrm>
          <a:prstGeom prst="rect">
            <a:avLst/>
          </a:prstGeom>
          <a:noFill/>
          <a:ln/>
        </p:spPr>
        <p:txBody>
          <a:bodyPr wrap="square" lIns="0" tIns="0" rIns="0" bIns="0" rtlCol="0" anchor="b"/>
          <a:lstStyle/>
          <a:p>
            <a:pPr algn="ctr" indent="0" marL="0">
              <a:buNone/>
            </a:pPr>
            <a:r>
              <a:rPr lang="en-US" sz="2200" b="1" dirty="0">
                <a:solidFill>
                  <a:srgbClr val="000000"/>
                </a:solidFill>
                <a:latin typeface="Calibri" pitchFamily="34" charset="0"/>
                <a:ea typeface="Calibri" pitchFamily="34" charset="-122"/>
                <a:cs typeface="Calibri" pitchFamily="34" charset="-120"/>
              </a:rPr>
              <a:t>13%</a:t>
            </a:r>
            <a:endParaRPr lang="en-US" sz="2200" dirty="0"/>
          </a:p>
        </p:txBody>
      </p:sp>
      <p:sp>
        <p:nvSpPr>
          <p:cNvPr id="10" name="Text 8"/>
          <p:cNvSpPr txBox="1"/>
          <p:nvPr/>
        </p:nvSpPr>
        <p:spPr>
          <a:xfrm>
            <a:off x="4780178" y="5468112"/>
            <a:ext cx="2631338" cy="731520"/>
          </a:xfrm>
          <a:prstGeom prst="rect">
            <a:avLst/>
          </a:prstGeom>
          <a:noFill/>
          <a:ln/>
        </p:spPr>
        <p:txBody>
          <a:bodyPr wrap="squar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Diagnosed</a:t>
            </a:r>
            <a:endParaRPr lang="en-US" sz="1800" dirty="0"/>
          </a:p>
        </p:txBody>
      </p:sp>
      <p:sp>
        <p:nvSpPr>
          <p:cNvPr id="11" name="Shape 9"/>
          <p:cNvSpPr/>
          <p:nvPr/>
        </p:nvSpPr>
        <p:spPr>
          <a:xfrm>
            <a:off x="8087106" y="5298948"/>
            <a:ext cx="1463040" cy="96012"/>
          </a:xfrm>
          <a:prstGeom prst="rect">
            <a:avLst/>
          </a:prstGeom>
          <a:solidFill>
            <a:srgbClr val="1F4E79"/>
          </a:solidFill>
          <a:ln w="6350">
            <a:solidFill>
              <a:srgbClr val="1F4E79"/>
            </a:solidFill>
            <a:prstDash val="solid"/>
          </a:ln>
        </p:spPr>
      </p:sp>
      <p:sp>
        <p:nvSpPr>
          <p:cNvPr id="12" name="Text 10"/>
          <p:cNvSpPr txBox="1"/>
          <p:nvPr/>
        </p:nvSpPr>
        <p:spPr>
          <a:xfrm>
            <a:off x="7457237" y="4841748"/>
            <a:ext cx="2722778" cy="411480"/>
          </a:xfrm>
          <a:prstGeom prst="rect">
            <a:avLst/>
          </a:prstGeom>
          <a:noFill/>
          <a:ln/>
        </p:spPr>
        <p:txBody>
          <a:bodyPr wrap="square" lIns="0" tIns="0" rIns="0" bIns="0" rtlCol="0" anchor="b"/>
          <a:lstStyle/>
          <a:p>
            <a:pPr algn="ctr" indent="0" marL="0">
              <a:buNone/>
            </a:pPr>
            <a:r>
              <a:rPr lang="en-US" sz="2200" b="1" dirty="0">
                <a:solidFill>
                  <a:srgbClr val="C00000"/>
                </a:solidFill>
                <a:latin typeface="Calibri" pitchFamily="34" charset="0"/>
                <a:ea typeface="Calibri" pitchFamily="34" charset="-122"/>
                <a:cs typeface="Calibri" pitchFamily="34" charset="-120"/>
              </a:rPr>
              <a:t>3%</a:t>
            </a:r>
            <a:endParaRPr lang="en-US" sz="2200" dirty="0"/>
          </a:p>
        </p:txBody>
      </p:sp>
      <p:sp>
        <p:nvSpPr>
          <p:cNvPr id="13" name="Text 11"/>
          <p:cNvSpPr txBox="1"/>
          <p:nvPr/>
        </p:nvSpPr>
        <p:spPr>
          <a:xfrm>
            <a:off x="7502957" y="5468112"/>
            <a:ext cx="2631338" cy="731520"/>
          </a:xfrm>
          <a:prstGeom prst="rect">
            <a:avLst/>
          </a:prstGeom>
          <a:noFill/>
          <a:ln/>
        </p:spPr>
        <p:txBody>
          <a:bodyPr wrap="squar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Treated (about 7 million)</a:t>
            </a:r>
            <a:endParaRPr lang="en-US" sz="1800" dirty="0"/>
          </a:p>
        </p:txBody>
      </p:sp>
      <p:sp>
        <p:nvSpPr>
          <p:cNvPr id="1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WHO news release 9 April 2024 (2022 estimates), rounded. WHO Global hepatitis report 2024.</a:t>
            </a:r>
            <a:endParaRPr lang="en-US" sz="1000" dirty="0"/>
          </a:p>
        </p:txBody>
      </p:sp>
      <p:sp>
        <p:nvSpPr>
          <p:cNvPr id="1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5/38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Screening an adult for hepatitis B</a:t>
            </a:r>
            <a:endParaRPr lang="en-US" sz="3000" dirty="0"/>
          </a:p>
        </p:txBody>
      </p:sp>
      <p:sp>
        <p:nvSpPr>
          <p:cNvPr id="3" name="Question"/>
          <p:cNvSpPr txBox="1"/>
          <p:nvPr/>
        </p:nvSpPr>
        <p:spPr>
          <a:xfrm>
            <a:off x="822960" y="118872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Which three tests make up the screening panel?</a:t>
            </a:r>
            <a:endParaRPr lang="en-US" sz="24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1463040" y="2011680"/>
          <a:ext cx="9265615" cy="914400"/>
        </p:xfrm>
        <a:graphic>
          <a:graphicData uri="http://schemas.openxmlformats.org/drawingml/2006/table">
            <a:tbl>
              <a:tblPr/>
              <a:tblGrid>
                <a:gridCol w="6519672"/>
                <a:gridCol w="2743200"/>
              </a:tblGrid>
              <a:tr h="777240">
                <a:tc>
                  <a:txBody>
                    <a:bodyPr/>
                    <a:lstStyle/>
                    <a:p>
                      <a:pPr algn="l" indent="0" marL="0">
                        <a:buNone/>
                      </a:pPr>
                      <a:r>
                        <a:rPr lang="en-US" sz="2400" b="1" dirty="0">
                          <a:solidFill>
                            <a:srgbClr val="000000"/>
                          </a:solidFill>
                          <a:latin typeface="Calibri" pitchFamily="34" charset="0"/>
                          <a:ea typeface="Calibri" pitchFamily="34" charset="-122"/>
                          <a:cs typeface="Calibri" pitchFamily="34" charset="-120"/>
                        </a:rPr>
                        <a:t>Question</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400" b="1" dirty="0">
                          <a:solidFill>
                            <a:srgbClr val="000000"/>
                          </a:solidFill>
                          <a:latin typeface="Calibri" pitchFamily="34" charset="0"/>
                          <a:ea typeface="Calibri" pitchFamily="34" charset="-122"/>
                          <a:cs typeface="Calibri" pitchFamily="34" charset="-120"/>
                        </a:rPr>
                        <a:t>Test</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77240">
                <a:tc>
                  <a:txBody>
                    <a:bodyPr/>
                    <a:lstStyle/>
                    <a:p>
                      <a:pPr algn="l" indent="0" marL="0">
                        <a:buNone/>
                      </a:pPr>
                      <a:r>
                        <a:rPr lang="en-US" sz="2400" dirty="0">
                          <a:solidFill>
                            <a:srgbClr val="000000"/>
                          </a:solidFill>
                          <a:latin typeface="Calibri" pitchFamily="34" charset="0"/>
                          <a:ea typeface="Calibri" pitchFamily="34" charset="-122"/>
                          <a:cs typeface="Calibri" pitchFamily="34" charset="-120"/>
                        </a:rPr>
                        <a:t>Is there a current infection?</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2400" dirty="0">
                          <a:solidFill>
                            <a:srgbClr val="000000"/>
                          </a:solidFill>
                          <a:latin typeface="Calibri" pitchFamily="34" charset="0"/>
                          <a:ea typeface="Calibri" pitchFamily="34" charset="-122"/>
                          <a:cs typeface="Calibri" pitchFamily="34" charset="-120"/>
                        </a:rPr>
                        <a:t>Is the patient immune?</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2400" dirty="0">
                          <a:solidFill>
                            <a:srgbClr val="000000"/>
                          </a:solidFill>
                          <a:latin typeface="Calibri" pitchFamily="34" charset="0"/>
                          <a:ea typeface="Calibri" pitchFamily="34" charset="-122"/>
                          <a:cs typeface="Calibri" pitchFamily="34" charset="-120"/>
                        </a:rPr>
                        <a:t>Has the patient ever been exposed?</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CDC recommendations, MMWR Recomm Rep 2023;72(1):1-25, PMID 36893044.</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6/38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Screening an adult for hepatitis B</a:t>
            </a:r>
            <a:endParaRPr lang="en-US" sz="3000" dirty="0"/>
          </a:p>
        </p:txBody>
      </p:sp>
      <p:sp>
        <p:nvSpPr>
          <p:cNvPr id="3" name="Question"/>
          <p:cNvSpPr txBox="1"/>
          <p:nvPr/>
        </p:nvSpPr>
        <p:spPr>
          <a:xfrm>
            <a:off x="822960" y="118872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Which three tests make up the screening panel?</a:t>
            </a:r>
            <a:endParaRPr lang="en-US" sz="24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1463040" y="2011680"/>
          <a:ext cx="9265615" cy="914400"/>
        </p:xfrm>
        <a:graphic>
          <a:graphicData uri="http://schemas.openxmlformats.org/drawingml/2006/table">
            <a:tbl>
              <a:tblPr/>
              <a:tblGrid>
                <a:gridCol w="6519672"/>
                <a:gridCol w="2743200"/>
              </a:tblGrid>
              <a:tr h="777240">
                <a:tc>
                  <a:txBody>
                    <a:bodyPr/>
                    <a:lstStyle/>
                    <a:p>
                      <a:pPr algn="l" indent="0" marL="0">
                        <a:buNone/>
                      </a:pPr>
                      <a:r>
                        <a:rPr lang="en-US" sz="2400" b="1" dirty="0">
                          <a:solidFill>
                            <a:srgbClr val="000000"/>
                          </a:solidFill>
                          <a:latin typeface="Calibri" pitchFamily="34" charset="0"/>
                          <a:ea typeface="Calibri" pitchFamily="34" charset="-122"/>
                          <a:cs typeface="Calibri" pitchFamily="34" charset="-120"/>
                        </a:rPr>
                        <a:t>Question</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400" b="1" dirty="0">
                          <a:solidFill>
                            <a:srgbClr val="000000"/>
                          </a:solidFill>
                          <a:latin typeface="Calibri" pitchFamily="34" charset="0"/>
                          <a:ea typeface="Calibri" pitchFamily="34" charset="-122"/>
                          <a:cs typeface="Calibri" pitchFamily="34" charset="-120"/>
                        </a:rPr>
                        <a:t>Test</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77240">
                <a:tc>
                  <a:txBody>
                    <a:bodyPr/>
                    <a:lstStyle/>
                    <a:p>
                      <a:pPr algn="l" indent="0" marL="0">
                        <a:buNone/>
                      </a:pPr>
                      <a:r>
                        <a:rPr lang="en-US" sz="2400" dirty="0">
                          <a:solidFill>
                            <a:srgbClr val="000000"/>
                          </a:solidFill>
                          <a:latin typeface="Calibri" pitchFamily="34" charset="0"/>
                          <a:ea typeface="Calibri" pitchFamily="34" charset="-122"/>
                          <a:cs typeface="Calibri" pitchFamily="34" charset="-120"/>
                        </a:rPr>
                        <a:t>Is there a current infection?</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400" dirty="0">
                          <a:solidFill>
                            <a:srgbClr val="000000"/>
                          </a:solidFill>
                          <a:latin typeface="Calibri" pitchFamily="34" charset="0"/>
                          <a:ea typeface="Calibri" pitchFamily="34" charset="-122"/>
                          <a:cs typeface="Calibri" pitchFamily="34" charset="-120"/>
                        </a:rPr>
                        <a:t>HBsAg</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2400" dirty="0">
                          <a:solidFill>
                            <a:srgbClr val="000000"/>
                          </a:solidFill>
                          <a:latin typeface="Calibri" pitchFamily="34" charset="0"/>
                          <a:ea typeface="Calibri" pitchFamily="34" charset="-122"/>
                          <a:cs typeface="Calibri" pitchFamily="34" charset="-120"/>
                        </a:rPr>
                        <a:t>Is the patient immune?</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400" dirty="0">
                          <a:solidFill>
                            <a:srgbClr val="000000"/>
                          </a:solidFill>
                          <a:latin typeface="Calibri" pitchFamily="34" charset="0"/>
                          <a:ea typeface="Calibri" pitchFamily="34" charset="-122"/>
                          <a:cs typeface="Calibri" pitchFamily="34" charset="-120"/>
                        </a:rPr>
                        <a:t>Anti-HBs</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2400" dirty="0">
                          <a:solidFill>
                            <a:srgbClr val="000000"/>
                          </a:solidFill>
                          <a:latin typeface="Calibri" pitchFamily="34" charset="0"/>
                          <a:ea typeface="Calibri" pitchFamily="34" charset="-122"/>
                          <a:cs typeface="Calibri" pitchFamily="34" charset="-120"/>
                        </a:rPr>
                        <a:t>Has the patient ever been exposed?</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400" dirty="0">
                          <a:solidFill>
                            <a:srgbClr val="000000"/>
                          </a:solidFill>
                          <a:latin typeface="Calibri" pitchFamily="34" charset="0"/>
                          <a:ea typeface="Calibri" pitchFamily="34" charset="-122"/>
                          <a:cs typeface="Calibri" pitchFamily="34" charset="-120"/>
                        </a:rPr>
                        <a:t>Total anti-HBc</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Question"/>
          <p:cNvSpPr txBox="1"/>
          <p:nvPr/>
        </p:nvSpPr>
        <p:spPr>
          <a:xfrm>
            <a:off x="822960" y="512064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highlight>
                  <a:srgbClr val="FFFF00"/>
                </a:highlight>
                <a:latin typeface="Georgia" pitchFamily="34" charset="0"/>
                <a:ea typeface="Georgia" pitchFamily="34" charset="-122"/>
                <a:cs typeface="Georgia" pitchFamily="34" charset="-120"/>
              </a:rPr>
              <a:t>Once for every adult 18 and older, and in every pregnancy</a:t>
            </a:r>
            <a:endParaRPr lang="en-US" sz="22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CDC recommendations, MMWR Recomm Rep 2023;72(1):1-25, PMID 36893044.</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6/38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Five panels</a:t>
            </a:r>
            <a:endParaRPr lang="en-US" sz="3000" dirty="0"/>
          </a:p>
        </p:txBody>
      </p:sp>
      <p:sp>
        <p:nvSpPr>
          <p:cNvPr id="3" name="Question"/>
          <p:cNvSpPr txBox="1"/>
          <p:nvPr/>
        </p:nvSpPr>
        <p:spPr>
          <a:xfrm>
            <a:off x="822960" y="114300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does each panel mean?</a:t>
            </a:r>
            <a:endParaRPr lang="en-US" sz="24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731520" y="1783080"/>
          <a:ext cx="10728655" cy="914400"/>
        </p:xfrm>
        <a:graphic>
          <a:graphicData uri="http://schemas.openxmlformats.org/drawingml/2006/table">
            <a:tbl>
              <a:tblPr/>
              <a:tblGrid>
                <a:gridCol w="1234440"/>
                <a:gridCol w="1133856"/>
                <a:gridCol w="2185416"/>
                <a:gridCol w="2020824"/>
                <a:gridCol w="1444752"/>
                <a:gridCol w="2706624"/>
              </a:tblGrid>
              <a:tr h="713232">
                <a:tc>
                  <a:txBody>
                    <a:bodyPr/>
                    <a:lstStyle/>
                    <a:p>
                      <a:pPr algn="ctr"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HBsAg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Total anti-HBc</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IgM anti-HBc</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Anti-HBs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Interpretation</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13232">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Panel 1</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Panel 2</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Panel 3</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Panel 4</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Panel 5</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Interpretation per CDC 2023 (Table 1), MMWR Recomm Rep 2023;72(1):1-25.</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7/38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Five panels</a:t>
            </a:r>
            <a:endParaRPr lang="en-US" sz="3000" dirty="0"/>
          </a:p>
        </p:txBody>
      </p:sp>
      <p:sp>
        <p:nvSpPr>
          <p:cNvPr id="3" name="Question"/>
          <p:cNvSpPr txBox="1"/>
          <p:nvPr/>
        </p:nvSpPr>
        <p:spPr>
          <a:xfrm>
            <a:off x="822960" y="114300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does each panel mean?</a:t>
            </a:r>
            <a:endParaRPr lang="en-US" sz="24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731520" y="1783080"/>
          <a:ext cx="10728655" cy="914400"/>
        </p:xfrm>
        <a:graphic>
          <a:graphicData uri="http://schemas.openxmlformats.org/drawingml/2006/table">
            <a:tbl>
              <a:tblPr/>
              <a:tblGrid>
                <a:gridCol w="1234440"/>
                <a:gridCol w="1133856"/>
                <a:gridCol w="2185416"/>
                <a:gridCol w="2020824"/>
                <a:gridCol w="1444752"/>
                <a:gridCol w="2706624"/>
              </a:tblGrid>
              <a:tr h="713232">
                <a:tc>
                  <a:txBody>
                    <a:bodyPr/>
                    <a:lstStyle/>
                    <a:p>
                      <a:pPr algn="ctr"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HBsAg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Total anti-HBc</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IgM anti-HBc</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Anti-HBs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Interpretation</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13232">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Panel 1</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Susceptible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Panel 2</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Vaccinated</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Panel 3</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Resolved infection</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Panel 4</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Chronic infection</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Panel 5</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Acute infection</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Interpretation per CDC 2023 (Table 1), MMWR Recomm Rep 2023;72(1):1-25.</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7/38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61-year-old woman starting rituximab</a:t>
            </a:r>
            <a:endParaRPr lang="en-US" sz="30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1097280" y="1234440"/>
          <a:ext cx="9997135" cy="914400"/>
        </p:xfrm>
        <a:graphic>
          <a:graphicData uri="http://schemas.openxmlformats.org/drawingml/2006/table">
            <a:tbl>
              <a:tblPr/>
              <a:tblGrid>
                <a:gridCol w="1517904"/>
                <a:gridCol w="2935224"/>
                <a:gridCol w="1947672"/>
                <a:gridCol w="2066544"/>
                <a:gridCol w="1527048"/>
              </a:tblGrid>
              <a:tr h="548640">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HBsAg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Total anti-HBc</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Anti-HBs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HBV DNA</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ALT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C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Not done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28 U/L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265176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could this be, and what do you order?</a:t>
            </a:r>
            <a:endParaRPr lang="en-US" sz="2400" dirty="0"/>
          </a:p>
        </p:txBody>
      </p:sp>
      <p:graphicFrame>
        <p:nvGraphicFramePr>
          <p:cNvPr id="23" name="Table"/>
          <p:cNvGraphicFramePr>
            <a:graphicFrameLocks noGrp="1"/>
          </p:cNvGraphicFramePr>
          <p:nvPr>
            <p:extLst>
              <p:ext uri="{D42A27DB-BD31-4B8C-83A1-F6EECF244321}">
                <p14:modId xmlns:p14="http://schemas.microsoft.com/office/powerpoint/2010/main" val="1579011935"/>
              </p:ext>
            </p:extLst>
          </p:nvPr>
        </p:nvGraphicFramePr>
        <p:xfrm>
          <a:off x="1097280" y="3246120"/>
          <a:ext cx="9997135" cy="914400"/>
        </p:xfrm>
        <a:graphic>
          <a:graphicData uri="http://schemas.openxmlformats.org/drawingml/2006/table">
            <a:tbl>
              <a:tblPr/>
              <a:tblGrid>
                <a:gridCol w="5340096"/>
                <a:gridCol w="4654296"/>
              </a:tblGrid>
              <a:tr h="566928">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Possibility</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How you sort it out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66928">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CDC 2023 (Table 1), PMID 36893044; AASLD 2018 hepatitis B guidance, PMID 29405329.</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8/38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61-year-old woman starting rituximab</a:t>
            </a:r>
            <a:endParaRPr lang="en-US" sz="30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1097280" y="1234440"/>
          <a:ext cx="9997135" cy="914400"/>
        </p:xfrm>
        <a:graphic>
          <a:graphicData uri="http://schemas.openxmlformats.org/drawingml/2006/table">
            <a:tbl>
              <a:tblPr/>
              <a:tblGrid>
                <a:gridCol w="1517904"/>
                <a:gridCol w="2935224"/>
                <a:gridCol w="1947672"/>
                <a:gridCol w="2066544"/>
                <a:gridCol w="1527048"/>
              </a:tblGrid>
              <a:tr h="548640">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HBsAg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Total anti-HBc</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Anti-HBs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HBV DNA</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ALT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C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Not done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28 U/L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265176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could this be, and what do you order?</a:t>
            </a:r>
            <a:endParaRPr lang="en-US" sz="2400" dirty="0"/>
          </a:p>
        </p:txBody>
      </p:sp>
      <p:graphicFrame>
        <p:nvGraphicFramePr>
          <p:cNvPr id="25" name="Table"/>
          <p:cNvGraphicFramePr>
            <a:graphicFrameLocks noGrp="1"/>
          </p:cNvGraphicFramePr>
          <p:nvPr>
            <p:extLst>
              <p:ext uri="{D42A27DB-BD31-4B8C-83A1-F6EECF244321}">
                <p14:modId xmlns:p14="http://schemas.microsoft.com/office/powerpoint/2010/main" val="1579011935"/>
              </p:ext>
            </p:extLst>
          </p:nvPr>
        </p:nvGraphicFramePr>
        <p:xfrm>
          <a:off x="1097280" y="3246120"/>
          <a:ext cx="9997135" cy="914400"/>
        </p:xfrm>
        <a:graphic>
          <a:graphicData uri="http://schemas.openxmlformats.org/drawingml/2006/table">
            <a:tbl>
              <a:tblPr/>
              <a:tblGrid>
                <a:gridCol w="5340096"/>
                <a:gridCol w="4654296"/>
              </a:tblGrid>
              <a:tr h="566928">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Possibility</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How you sort it out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66928">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Resolved infection, anti-HBs has waned</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HBV DNA undetectable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Occult infection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HBV DNA detectable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Window period</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IgM anti-HBc positive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False-positive anti-HBc</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Repeat testing, DNA undetectable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CDC 2023 (Table 1), PMID 36893044; AASLD 2018 hepatitis B guidance, PMID 29405329.</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8/38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Natural history of chronic hepatitis B</a:t>
            </a:r>
            <a:endParaRPr lang="en-US" sz="3000" dirty="0"/>
          </a:p>
        </p:txBody>
      </p:sp>
      <p:sp>
        <p:nvSpPr>
          <p:cNvPr id="3" name="Question"/>
          <p:cNvSpPr txBox="1"/>
          <p:nvPr/>
        </p:nvSpPr>
        <p:spPr>
          <a:xfrm>
            <a:off x="822960" y="1051560"/>
            <a:ext cx="10545775" cy="457200"/>
          </a:xfrm>
          <a:prstGeom prst="rect">
            <a:avLst/>
          </a:prstGeom>
          <a:noFill/>
          <a:ln/>
        </p:spPr>
        <p:txBody>
          <a:bodyPr wrap="square" lIns="0" tIns="0" rIns="0" bIns="0" rtlCol="0" anchor="ctr"/>
          <a:lstStyle/>
          <a:p>
            <a:pPr algn="ctr" indent="0" marL="0">
              <a:buNone/>
            </a:pPr>
            <a:r>
              <a:rPr lang="en-US" sz="2200" b="1" dirty="0">
                <a:solidFill>
                  <a:srgbClr val="000000"/>
                </a:solidFill>
                <a:latin typeface="Georgia" pitchFamily="34" charset="0"/>
                <a:ea typeface="Georgia" pitchFamily="34" charset="-122"/>
                <a:cs typeface="Georgia" pitchFamily="34" charset="-120"/>
              </a:rPr>
              <a:t>Where do HBV DNA, ALT and the antigens go over a lifetime?</a:t>
            </a:r>
            <a:endParaRPr lang="en-US" sz="2200" dirty="0"/>
          </a:p>
        </p:txBody>
      </p:sp>
      <p:pic>
        <p:nvPicPr>
          <p:cNvPr id="4" name="Image 0" descr="Layered natural history figure">    </p:cNvPr>
          <p:cNvPicPr>
            <a:picLocks noChangeAspect="1"/>
          </p:cNvPicPr>
          <p:nvPr/>
        </p:nvPicPr>
        <p:blipFill>
          <a:blip r:embed="rId1"/>
          <a:stretch>
            <a:fillRect/>
          </a:stretch>
        </p:blipFill>
        <p:spPr>
          <a:xfrm>
            <a:off x="1895323" y="1508760"/>
            <a:ext cx="8401050" cy="4800600"/>
          </a:xfrm>
          <a:prstGeom prst="rect">
            <a:avLst/>
          </a:prstGeom>
        </p:spPr>
      </p:pic>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9/38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Natural history of chronic hepatitis B</a:t>
            </a:r>
            <a:endParaRPr lang="en-US" sz="3000" dirty="0"/>
          </a:p>
        </p:txBody>
      </p:sp>
      <p:pic>
        <p:nvPicPr>
          <p:cNvPr id="3" name="Image 0" descr="Layered natural history figure">    </p:cNvPr>
          <p:cNvPicPr>
            <a:picLocks noChangeAspect="1"/>
          </p:cNvPicPr>
          <p:nvPr/>
        </p:nvPicPr>
        <p:blipFill>
          <a:blip r:embed="rId1"/>
          <a:stretch>
            <a:fillRect/>
          </a:stretch>
        </p:blipFill>
        <p:spPr>
          <a:xfrm>
            <a:off x="1895323" y="1508760"/>
            <a:ext cx="8401050" cy="4800600"/>
          </a:xfrm>
          <a:prstGeom prst="rect">
            <a:avLst/>
          </a:prstGeom>
        </p:spPr>
      </p:pic>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9/38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Natural history of chronic hepatitis B</a:t>
            </a:r>
            <a:endParaRPr lang="en-US" sz="3000" dirty="0"/>
          </a:p>
        </p:txBody>
      </p:sp>
      <p:pic>
        <p:nvPicPr>
          <p:cNvPr id="3" name="Image 0" descr="Layered natural history figure">    </p:cNvPr>
          <p:cNvPicPr>
            <a:picLocks noChangeAspect="1"/>
          </p:cNvPicPr>
          <p:nvPr/>
        </p:nvPicPr>
        <p:blipFill>
          <a:blip r:embed="rId1"/>
          <a:stretch>
            <a:fillRect/>
          </a:stretch>
        </p:blipFill>
        <p:spPr>
          <a:xfrm>
            <a:off x="1895323" y="1508760"/>
            <a:ext cx="8401050" cy="4800600"/>
          </a:xfrm>
          <a:prstGeom prst="rect">
            <a:avLst/>
          </a:prstGeom>
        </p:spPr>
      </p:pic>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9/38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Natural history of chronic hepatitis B</a:t>
            </a:r>
            <a:endParaRPr lang="en-US" sz="3000" dirty="0"/>
          </a:p>
        </p:txBody>
      </p:sp>
      <p:pic>
        <p:nvPicPr>
          <p:cNvPr id="3" name="Image 0" descr="Layered natural history figure">    </p:cNvPr>
          <p:cNvPicPr>
            <a:picLocks noChangeAspect="1"/>
          </p:cNvPicPr>
          <p:nvPr/>
        </p:nvPicPr>
        <p:blipFill>
          <a:blip r:embed="rId1"/>
          <a:stretch>
            <a:fillRect/>
          </a:stretch>
        </p:blipFill>
        <p:spPr>
          <a:xfrm>
            <a:off x="1895323" y="1508760"/>
            <a:ext cx="8401050" cy="4800600"/>
          </a:xfrm>
          <a:prstGeom prst="rect">
            <a:avLst/>
          </a:prstGeom>
        </p:spPr>
      </p:pic>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9/38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Natural history of chronic hepatitis B</a:t>
            </a:r>
            <a:endParaRPr lang="en-US" sz="3000" dirty="0"/>
          </a:p>
        </p:txBody>
      </p:sp>
      <p:pic>
        <p:nvPicPr>
          <p:cNvPr id="3" name="Image 0" descr="Layered natural history figure">    </p:cNvPr>
          <p:cNvPicPr>
            <a:picLocks noChangeAspect="1"/>
          </p:cNvPicPr>
          <p:nvPr/>
        </p:nvPicPr>
        <p:blipFill>
          <a:blip r:embed="rId1"/>
          <a:stretch>
            <a:fillRect/>
          </a:stretch>
        </p:blipFill>
        <p:spPr>
          <a:xfrm>
            <a:off x="1895323" y="1508760"/>
            <a:ext cx="8401050" cy="4800600"/>
          </a:xfrm>
          <a:prstGeom prst="rect">
            <a:avLst/>
          </a:prstGeom>
        </p:spPr>
      </p:pic>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9/38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The published version</a:t>
            </a:r>
            <a:endParaRPr lang="en-US" sz="3000" dirty="0"/>
          </a:p>
        </p:txBody>
      </p:sp>
      <p:pic>
        <p:nvPicPr>
          <p:cNvPr id="3" name="Image 0" descr="GESA 2022 natural history figure">    </p:cNvPr>
          <p:cNvPicPr>
            <a:picLocks noChangeAspect="1"/>
          </p:cNvPicPr>
          <p:nvPr/>
        </p:nvPicPr>
        <p:blipFill>
          <a:blip r:embed="rId1"/>
          <a:stretch>
            <a:fillRect/>
          </a:stretch>
        </p:blipFill>
        <p:spPr>
          <a:xfrm>
            <a:off x="2815726" y="1188720"/>
            <a:ext cx="6530068" cy="5074920"/>
          </a:xfrm>
          <a:prstGeom prst="rect">
            <a:avLst/>
          </a:prstGeom>
        </p:spPr>
      </p:pic>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GESA Australian consensus recommendations for the management of hepatitis B infection, 2022, Figure 3.1 (as shown in the ASHM B Positive chapter).</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10/38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Match the labs to the phase</a:t>
            </a:r>
            <a:endParaRPr lang="en-US" sz="30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731520" y="1463040"/>
          <a:ext cx="10728655" cy="914400"/>
        </p:xfrm>
        <a:graphic>
          <a:graphicData uri="http://schemas.openxmlformats.org/drawingml/2006/table">
            <a:tbl>
              <a:tblPr/>
              <a:tblGrid>
                <a:gridCol w="1472184"/>
                <a:gridCol w="3163824"/>
                <a:gridCol w="1280160"/>
                <a:gridCol w="4809744"/>
              </a:tblGrid>
              <a:tr h="822960">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HBeAg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HBV DNA (IU/mL)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ALT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Phase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2296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10,000,000 or more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Normal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10,000 to 10,000,000</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Raised</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Negative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Below 2,000</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Normal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Negative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Above 2,000</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Raised</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EASL Clinical Practice Guidelines on hepatitis B 2025, Table 4. J Hepatol 2025;83:502-583, PMID 40348683. Values are 'usually'.</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11/38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Match the labs to the phase</a:t>
            </a:r>
            <a:endParaRPr lang="en-US" sz="3000" dirty="0"/>
          </a:p>
        </p:txBody>
      </p:sp>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731520" y="1463040"/>
          <a:ext cx="10728655" cy="914400"/>
        </p:xfrm>
        <a:graphic>
          <a:graphicData uri="http://schemas.openxmlformats.org/drawingml/2006/table">
            <a:tbl>
              <a:tblPr/>
              <a:tblGrid>
                <a:gridCol w="1472184"/>
                <a:gridCol w="3163824"/>
                <a:gridCol w="1280160"/>
                <a:gridCol w="4809744"/>
              </a:tblGrid>
              <a:tr h="822960">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HBeAg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HBV DNA (IU/mL)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ALT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Phase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2296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10,000,000 or more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Normal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HBeAg-positive chronic infection</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10,000 to 10,000,000</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Raised</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HBeAg-positive chronic hepatitis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Negative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Below 2,000</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Normal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HBeAg-negative chronic infection</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Negative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Above 2,000</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Raised</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HBeAg-negative chronic hepatitis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EASL Clinical Practice Guidelines on hepatitis B 2025, Table 4. J Hepatol 2025;83:502-583, PMID 40348683. Values are 'usually'.</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11/38</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34-year-old man, born in Vietnam</a:t>
            </a:r>
            <a:endParaRPr lang="en-US" sz="3000" dirty="0"/>
          </a:p>
        </p:txBody>
      </p:sp>
      <p:graphicFrame>
        <p:nvGraphicFramePr>
          <p:cNvPr id="22"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6675120" cy="914400"/>
        </p:xfrm>
        <a:graphic>
          <a:graphicData uri="http://schemas.openxmlformats.org/drawingml/2006/table">
            <a:tbl>
              <a:tblPr/>
              <a:tblGrid>
                <a:gridCol w="2935224"/>
                <a:gridCol w="3739896"/>
              </a:tblGrid>
              <a:tr h="502920">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Test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Result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HBsAg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HBeAg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Anti-HBe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Negative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HBV DNA</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C00000"/>
                          </a:solidFill>
                          <a:latin typeface="Calibri" pitchFamily="34" charset="0"/>
                          <a:ea typeface="Calibri" pitchFamily="34" charset="-122"/>
                          <a:cs typeface="Calibri" pitchFamily="34" charset="-120"/>
                        </a:rPr>
                        <a:t>60,000,000 IU/mL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ALT (ULN 35)</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24 U/L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Platelets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245 x 10^9/L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Liver stiffness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5.1 kPa</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pic>
        <p:nvPicPr>
          <p:cNvPr id="4" name="Image 0" descr="Watercolor of a man in his thirties seated in clinic">    </p:cNvPr>
          <p:cNvPicPr>
            <a:picLocks noChangeAspect="1"/>
          </p:cNvPicPr>
          <p:nvPr/>
        </p:nvPicPr>
        <p:blipFill>
          <a:blip r:embed="rId1"/>
          <a:stretch>
            <a:fillRect/>
          </a:stretch>
        </p:blipFill>
        <p:spPr>
          <a:xfrm>
            <a:off x="7315200" y="1051560"/>
            <a:ext cx="4754880" cy="4754880"/>
          </a:xfrm>
          <a:prstGeom prst="rect">
            <a:avLst/>
          </a:prstGeom>
        </p:spPr>
      </p:pic>
      <p:sp>
        <p:nvSpPr>
          <p:cNvPr id="5" name="Question"/>
          <p:cNvSpPr txBox="1"/>
          <p:nvPr/>
        </p:nvSpPr>
        <p:spPr>
          <a:xfrm>
            <a:off x="457200" y="5349240"/>
            <a:ext cx="6675120"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Do you treat him?</a:t>
            </a:r>
            <a:endParaRPr lang="en-US" sz="26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12/38</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34-year-old man, born in Vietnam</a:t>
            </a:r>
            <a:endParaRPr lang="en-US" sz="3000" dirty="0"/>
          </a:p>
        </p:txBody>
      </p:sp>
      <p:graphicFrame>
        <p:nvGraphicFramePr>
          <p:cNvPr id="23"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6675120" cy="914400"/>
        </p:xfrm>
        <a:graphic>
          <a:graphicData uri="http://schemas.openxmlformats.org/drawingml/2006/table">
            <a:tbl>
              <a:tblPr/>
              <a:tblGrid>
                <a:gridCol w="2935224"/>
                <a:gridCol w="3739896"/>
              </a:tblGrid>
              <a:tr h="502920">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Test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Result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HBsAg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HBeAg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Anti-HBe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Negative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HBV DNA</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C00000"/>
                          </a:solidFill>
                          <a:latin typeface="Calibri" pitchFamily="34" charset="0"/>
                          <a:ea typeface="Calibri" pitchFamily="34" charset="-122"/>
                          <a:cs typeface="Calibri" pitchFamily="34" charset="-120"/>
                        </a:rPr>
                        <a:t>60,000,000 IU/mL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ALT (ULN 35)</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24 U/L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Platelets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245 x 10^9/L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Liver stiffness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5.1 kPa</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pic>
        <p:nvPicPr>
          <p:cNvPr id="4" name="Image 0" descr="Watercolor of a man in his thirties seated in clinic">    </p:cNvPr>
          <p:cNvPicPr>
            <a:picLocks noChangeAspect="1"/>
          </p:cNvPicPr>
          <p:nvPr/>
        </p:nvPicPr>
        <p:blipFill>
          <a:blip r:embed="rId1"/>
          <a:stretch>
            <a:fillRect/>
          </a:stretch>
        </p:blipFill>
        <p:spPr>
          <a:xfrm>
            <a:off x="7315200" y="1051560"/>
            <a:ext cx="4754880" cy="4754880"/>
          </a:xfrm>
          <a:prstGeom prst="rect">
            <a:avLst/>
          </a:prstGeom>
        </p:spPr>
      </p:pic>
      <p:sp>
        <p:nvSpPr>
          <p:cNvPr id="5" name="Question"/>
          <p:cNvSpPr txBox="1"/>
          <p:nvPr/>
        </p:nvSpPr>
        <p:spPr>
          <a:xfrm>
            <a:off x="457200" y="5349240"/>
            <a:ext cx="6675120"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Do you treat him?</a:t>
            </a:r>
            <a:endParaRPr lang="en-US" sz="2600" dirty="0"/>
          </a:p>
        </p:txBody>
      </p:sp>
      <p:sp>
        <p:nvSpPr>
          <p:cNvPr id="6" name="Question"/>
          <p:cNvSpPr txBox="1"/>
          <p:nvPr/>
        </p:nvSpPr>
        <p:spPr>
          <a:xfrm>
            <a:off x="274320" y="5897880"/>
            <a:ext cx="7040880" cy="548640"/>
          </a:xfrm>
          <a:prstGeom prst="rect">
            <a:avLst/>
          </a:prstGeom>
          <a:noFill/>
          <a:ln/>
        </p:spPr>
        <p:txBody>
          <a:bodyPr wrap="square" lIns="0" tIns="0" rIns="0" bIns="0" rtlCol="0" anchor="ctr"/>
          <a:lstStyle/>
          <a:p>
            <a:pPr algn="ctr" indent="0" marL="0">
              <a:buNone/>
            </a:pPr>
            <a:r>
              <a:rPr lang="en-US" sz="2000" b="1" dirty="0">
                <a:solidFill>
                  <a:srgbClr val="000000"/>
                </a:solidFill>
                <a:highlight>
                  <a:srgbClr val="FFFF00"/>
                </a:highlight>
                <a:latin typeface="Georgia" pitchFamily="34" charset="0"/>
                <a:ea typeface="Georgia" pitchFamily="34" charset="-122"/>
                <a:cs typeface="Georgia" pitchFamily="34" charset="-120"/>
              </a:rPr>
              <a:t>No. Monitor ALT and DNA every 3 to 6 months</a:t>
            </a:r>
            <a:endParaRPr lang="en-US" sz="2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12/38</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Same man, now 41 years old</a:t>
            </a:r>
            <a:endParaRPr lang="en-US" sz="3000" dirty="0"/>
          </a:p>
        </p:txBody>
      </p:sp>
      <p:graphicFrame>
        <p:nvGraphicFramePr>
          <p:cNvPr id="24"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6675120" cy="914400"/>
        </p:xfrm>
        <a:graphic>
          <a:graphicData uri="http://schemas.openxmlformats.org/drawingml/2006/table">
            <a:tbl>
              <a:tblPr/>
              <a:tblGrid>
                <a:gridCol w="2935224"/>
                <a:gridCol w="3739896"/>
              </a:tblGrid>
              <a:tr h="502920">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Test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Result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HBsAg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HBeAg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Anti-HBe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Negative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HBV DNA</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C00000"/>
                          </a:solidFill>
                          <a:latin typeface="Calibri" pitchFamily="34" charset="0"/>
                          <a:ea typeface="Calibri" pitchFamily="34" charset="-122"/>
                          <a:cs typeface="Calibri" pitchFamily="34" charset="-120"/>
                        </a:rPr>
                        <a:t>55,000,000 IU/mL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ALT (ULN 35)</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26 U/L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Platelets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245 x 10^9/L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Liver stiffness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5.1 kPa</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pic>
        <p:nvPicPr>
          <p:cNvPr id="4" name="Image 0" descr="Watercolor of a man in his thirties seated in clinic">    </p:cNvPr>
          <p:cNvPicPr>
            <a:picLocks noChangeAspect="1"/>
          </p:cNvPicPr>
          <p:nvPr/>
        </p:nvPicPr>
        <p:blipFill>
          <a:blip r:embed="rId1"/>
          <a:stretch>
            <a:fillRect/>
          </a:stretch>
        </p:blipFill>
        <p:spPr>
          <a:xfrm>
            <a:off x="7315200" y="1051560"/>
            <a:ext cx="4754880" cy="4754880"/>
          </a:xfrm>
          <a:prstGeom prst="rect">
            <a:avLst/>
          </a:prstGeom>
        </p:spPr>
      </p:pic>
      <p:sp>
        <p:nvSpPr>
          <p:cNvPr id="5" name="Question"/>
          <p:cNvSpPr txBox="1"/>
          <p:nvPr/>
        </p:nvSpPr>
        <p:spPr>
          <a:xfrm>
            <a:off x="457200" y="5349240"/>
            <a:ext cx="6675120"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Does the answer change?</a:t>
            </a:r>
            <a:endParaRPr lang="en-US" sz="26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13/38</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Same man, now 41 years old</a:t>
            </a:r>
            <a:endParaRPr lang="en-US" sz="3000" dirty="0"/>
          </a:p>
        </p:txBody>
      </p:sp>
      <p:graphicFrame>
        <p:nvGraphicFramePr>
          <p:cNvPr id="25"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6675120" cy="914400"/>
        </p:xfrm>
        <a:graphic>
          <a:graphicData uri="http://schemas.openxmlformats.org/drawingml/2006/table">
            <a:tbl>
              <a:tblPr/>
              <a:tblGrid>
                <a:gridCol w="2935224"/>
                <a:gridCol w="3739896"/>
              </a:tblGrid>
              <a:tr h="502920">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Test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Result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HBsAg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HBeAg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Anti-HBe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Negative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HBV DNA</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C00000"/>
                          </a:solidFill>
                          <a:latin typeface="Calibri" pitchFamily="34" charset="0"/>
                          <a:ea typeface="Calibri" pitchFamily="34" charset="-122"/>
                          <a:cs typeface="Calibri" pitchFamily="34" charset="-120"/>
                        </a:rPr>
                        <a:t>55,000,000 IU/mL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ALT (ULN 35)</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26 U/L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Platelets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245 x 10^9/L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Liver stiffness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5.1 kPa</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pic>
        <p:nvPicPr>
          <p:cNvPr id="4" name="Image 0" descr="Watercolor of a man in his thirties seated in clinic">    </p:cNvPr>
          <p:cNvPicPr>
            <a:picLocks noChangeAspect="1"/>
          </p:cNvPicPr>
          <p:nvPr/>
        </p:nvPicPr>
        <p:blipFill>
          <a:blip r:embed="rId1"/>
          <a:stretch>
            <a:fillRect/>
          </a:stretch>
        </p:blipFill>
        <p:spPr>
          <a:xfrm>
            <a:off x="7315200" y="1051560"/>
            <a:ext cx="4754880" cy="4754880"/>
          </a:xfrm>
          <a:prstGeom prst="rect">
            <a:avLst/>
          </a:prstGeom>
        </p:spPr>
      </p:pic>
      <p:sp>
        <p:nvSpPr>
          <p:cNvPr id="5" name="Question"/>
          <p:cNvSpPr txBox="1"/>
          <p:nvPr/>
        </p:nvSpPr>
        <p:spPr>
          <a:xfrm>
            <a:off x="457200" y="5349240"/>
            <a:ext cx="6675120"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Does the answer change?</a:t>
            </a:r>
            <a:endParaRPr lang="en-US" sz="2600" dirty="0"/>
          </a:p>
        </p:txBody>
      </p:sp>
      <p:sp>
        <p:nvSpPr>
          <p:cNvPr id="6" name="Question"/>
          <p:cNvSpPr txBox="1"/>
          <p:nvPr/>
        </p:nvSpPr>
        <p:spPr>
          <a:xfrm>
            <a:off x="274320" y="5852160"/>
            <a:ext cx="7040880" cy="731520"/>
          </a:xfrm>
          <a:prstGeom prst="rect">
            <a:avLst/>
          </a:prstGeom>
          <a:noFill/>
          <a:ln/>
        </p:spPr>
        <p:txBody>
          <a:bodyPr wrap="square" lIns="0" tIns="0" rIns="0" bIns="0" rtlCol="0" anchor="ctr"/>
          <a:lstStyle/>
          <a:p>
            <a:pPr algn="ctr" indent="0" marL="0">
              <a:buNone/>
            </a:pPr>
            <a:r>
              <a:rPr lang="en-US" sz="2000" b="1" dirty="0">
                <a:solidFill>
                  <a:srgbClr val="000000"/>
                </a:solidFill>
                <a:highlight>
                  <a:srgbClr val="FFFF00"/>
                </a:highlight>
                <a:latin typeface="Georgia" pitchFamily="34" charset="0"/>
                <a:ea typeface="Georgia" pitchFamily="34" charset="-122"/>
                <a:cs typeface="Georgia" pitchFamily="34" charset="-120"/>
              </a:rPr>
              <a:t>AASLD/IDSA 2025: over 40, treatment is suggested. He chose to wait</a:t>
            </a:r>
            <a:endParaRPr lang="en-US" sz="2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13/38</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Same man, now 52 years old</a:t>
            </a:r>
            <a:endParaRPr lang="en-US" sz="3000" dirty="0"/>
          </a:p>
        </p:txBody>
      </p:sp>
      <p:graphicFrame>
        <p:nvGraphicFramePr>
          <p:cNvPr id="26" name="Table"/>
          <p:cNvGraphicFramePr>
            <a:graphicFrameLocks noGrp="1"/>
          </p:cNvGraphicFramePr>
          <p:nvPr>
            <p:extLst>
              <p:ext uri="{D42A27DB-BD31-4B8C-83A1-F6EECF244321}">
                <p14:modId xmlns:p14="http://schemas.microsoft.com/office/powerpoint/2010/main" val="1579011935"/>
              </p:ext>
            </p:extLst>
          </p:nvPr>
        </p:nvGraphicFramePr>
        <p:xfrm>
          <a:off x="457200" y="1097280"/>
          <a:ext cx="6675120" cy="914400"/>
        </p:xfrm>
        <a:graphic>
          <a:graphicData uri="http://schemas.openxmlformats.org/drawingml/2006/table">
            <a:tbl>
              <a:tblPr/>
              <a:tblGrid>
                <a:gridCol w="3419856"/>
                <a:gridCol w="3255264"/>
              </a:tblGrid>
              <a:tr h="475488">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Test</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Result</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475488">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HBsAg</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Positive</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75488">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HBeAg</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Negative</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75488">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Anti-HBe</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Positive</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75488">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HBV DNA</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C00000"/>
                          </a:solidFill>
                          <a:latin typeface="Calibri" pitchFamily="34" charset="0"/>
                          <a:ea typeface="Calibri" pitchFamily="34" charset="-122"/>
                          <a:cs typeface="Calibri" pitchFamily="34" charset="-120"/>
                        </a:rPr>
                        <a:t>8,000 IU/mL</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75488">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ALT</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C00000"/>
                          </a:solidFill>
                          <a:latin typeface="Calibri" pitchFamily="34" charset="0"/>
                          <a:ea typeface="Calibri" pitchFamily="34" charset="-122"/>
                          <a:cs typeface="Calibri" pitchFamily="34" charset="-120"/>
                        </a:rPr>
                        <a:t>48 U/L</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75488">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Platelets</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190 x 10^9/L</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75488">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FIB-4</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1.8</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75488">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Liver stiffness</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6.8 kPa</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pic>
        <p:nvPicPr>
          <p:cNvPr id="4" name="Image 0" descr="Watercolor of the same man in his fifties, gray at the temples, with reading glasses">    </p:cNvPr>
          <p:cNvPicPr>
            <a:picLocks noChangeAspect="1"/>
          </p:cNvPicPr>
          <p:nvPr/>
        </p:nvPicPr>
        <p:blipFill>
          <a:blip r:embed="rId1"/>
          <a:stretch>
            <a:fillRect/>
          </a:stretch>
        </p:blipFill>
        <p:spPr>
          <a:xfrm>
            <a:off x="7315200" y="1051560"/>
            <a:ext cx="4754880" cy="4754880"/>
          </a:xfrm>
          <a:prstGeom prst="rect">
            <a:avLst/>
          </a:prstGeom>
        </p:spPr>
      </p:pic>
      <p:sp>
        <p:nvSpPr>
          <p:cNvPr id="5" name="Question"/>
          <p:cNvSpPr txBox="1"/>
          <p:nvPr/>
        </p:nvSpPr>
        <p:spPr>
          <a:xfrm>
            <a:off x="457200" y="5623560"/>
            <a:ext cx="6675120"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Do you treat him?</a:t>
            </a:r>
            <a:endParaRPr lang="en-US" sz="26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14/38</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counts as a normal ALT?</a:t>
            </a:r>
            <a:endParaRPr lang="en-US" sz="3000" dirty="0"/>
          </a:p>
        </p:txBody>
      </p:sp>
      <p:graphicFrame>
        <p:nvGraphicFramePr>
          <p:cNvPr id="3" name="Chart 0" descr=""/>
          <p:cNvGraphicFramePr/>
          <p:nvPr/>
        </p:nvGraphicFramePr>
        <p:xfrm>
          <a:off x="548640" y="1188720"/>
          <a:ext cx="749808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229600" y="2103120"/>
            <a:ext cx="3566160" cy="2560320"/>
          </a:xfrm>
          <a:prstGeom prst="rect">
            <a:avLst/>
          </a:prstGeom>
          <a:noFill/>
          <a:ln/>
        </p:spPr>
        <p:txBody>
          <a:bodyPr wrap="square" lIns="0" tIns="0" rIns="0" bIns="0" rtlCol="0" anchor="ctr"/>
          <a:lstStyle/>
          <a:p>
            <a:pPr algn="ctr" indent="0" marL="0">
              <a:buNone/>
            </a:pPr>
            <a:r>
              <a:rPr lang="en-US" sz="2400" dirty="0">
                <a:solidFill>
                  <a:srgbClr val="000000"/>
                </a:solidFill>
                <a:latin typeface="Georgia" pitchFamily="34" charset="0"/>
                <a:ea typeface="Georgia" pitchFamily="34" charset="-122"/>
                <a:cs typeface="Georgia" pitchFamily="34" charset="-120"/>
              </a:rPr>
              <a:t>His ALT</a:t>
            </a:r>
            <a:endParaRPr lang="en-US" sz="2400" dirty="0"/>
          </a:p>
          <a:p>
            <a:pPr algn="ctr" indent="0" marL="0">
              <a:buNone/>
            </a:pPr>
            <a:r>
              <a:rPr lang="en-US" sz="5400" b="1" dirty="0">
                <a:solidFill>
                  <a:srgbClr val="C00000"/>
                </a:solidFill>
                <a:latin typeface="Georgia" pitchFamily="34" charset="0"/>
                <a:ea typeface="Georgia" pitchFamily="34" charset="-122"/>
                <a:cs typeface="Georgia" pitchFamily="34" charset="-120"/>
              </a:rPr>
              <a:t>48 U/L</a:t>
            </a:r>
            <a:endParaRPr lang="en-US" sz="2400" dirty="0"/>
          </a:p>
          <a:p>
            <a:pPr algn="ctr" indent="0" marL="0">
              <a:buNone/>
            </a:pPr>
            <a:r>
              <a:rPr lang="en-US" sz="2200" dirty="0">
                <a:solidFill>
                  <a:srgbClr val="000000"/>
                </a:solidFill>
                <a:latin typeface="Georgia" pitchFamily="34" charset="0"/>
                <a:ea typeface="Georgia" pitchFamily="34" charset="-122"/>
                <a:cs typeface="Georgia" pitchFamily="34" charset="-120"/>
              </a:rPr>
              <a:t>Above all three limits</a:t>
            </a:r>
            <a:endParaRPr lang="en-US" sz="24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Upper limits of normal as listed in the guidelines. AASLD 2018 PMID 29405329; WHO 2024; EASL 2025 PMID 40348683.</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15/38</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Same labs, four guidelines</a:t>
            </a:r>
            <a:endParaRPr lang="en-US" sz="3000" dirty="0"/>
          </a:p>
        </p:txBody>
      </p:sp>
      <p:sp>
        <p:nvSpPr>
          <p:cNvPr id="3" name="Question"/>
          <p:cNvSpPr txBox="1"/>
          <p:nvPr/>
        </p:nvSpPr>
        <p:spPr>
          <a:xfrm>
            <a:off x="822960" y="109728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Treat or not?</a:t>
            </a:r>
            <a:endParaRPr lang="en-US" sz="2400" dirty="0"/>
          </a:p>
        </p:txBody>
      </p:sp>
      <p:graphicFrame>
        <p:nvGraphicFramePr>
          <p:cNvPr id="28" name="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4626864"/>
                <a:gridCol w="1545336"/>
                <a:gridCol w="2176272"/>
                <a:gridCol w="1344168"/>
                <a:gridCol w="1399032"/>
              </a:tblGrid>
              <a:tr h="868680">
                <a:tc>
                  <a:txBody>
                    <a:bodyPr/>
                    <a:lstStyle/>
                    <a:p>
                      <a:pPr algn="l"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AASLD 2018</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AASLD/IDSA 2025</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EASL 2025</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WHO 2024</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6868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52 y, HBeAg-negative, DNA 8,000, ALT 48</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6868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Compensated cirrhosis, DNA 500</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6868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Decompensated cirrhosis, any DNA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 2018 PMID 29405329; AASLD/IDSA 2025 Hepatology 2026;83:974-997 PMID 41186418; EASL 2025 PMID 40348683; WHO 2024 (NBK614987).</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16/38</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Same labs, four guidelines</a:t>
            </a:r>
            <a:endParaRPr lang="en-US" sz="3000" dirty="0"/>
          </a:p>
        </p:txBody>
      </p:sp>
      <p:sp>
        <p:nvSpPr>
          <p:cNvPr id="3" name="Question"/>
          <p:cNvSpPr txBox="1"/>
          <p:nvPr/>
        </p:nvSpPr>
        <p:spPr>
          <a:xfrm>
            <a:off x="822960" y="109728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Treat or not?</a:t>
            </a:r>
            <a:endParaRPr lang="en-US" sz="2400" dirty="0"/>
          </a:p>
        </p:txBody>
      </p:sp>
      <p:graphicFrame>
        <p:nvGraphicFramePr>
          <p:cNvPr id="29" name="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4626864"/>
                <a:gridCol w="1545336"/>
                <a:gridCol w="2176272"/>
                <a:gridCol w="1344168"/>
                <a:gridCol w="1399032"/>
              </a:tblGrid>
              <a:tr h="868680">
                <a:tc>
                  <a:txBody>
                    <a:bodyPr/>
                    <a:lstStyle/>
                    <a:p>
                      <a:pPr algn="l"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AASLD 2018</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AASLD/IDSA 2025</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EASL 2025</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WHO 2024</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6868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52 y, HBeAg-negative, DNA 8,000, ALT 48</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Observe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Shared decision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Treat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Treat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6868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Compensated cirrhosis, DNA 500</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Treat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Treat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Treat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Treat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6868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Decompensated cirrhosis, any DNA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Treat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Treat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Treat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Treat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 2018 PMID 29405329; AASLD/IDSA 2025 Hepatology 2026;83:974-997 PMID 41186418; EASL 2025 PMID 40348683; WHO 2024 (NBK614987).</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16/38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treating this group help?</a:t>
            </a:r>
            <a:endParaRPr lang="en-US" sz="3000" dirty="0"/>
          </a:p>
        </p:txBody>
      </p:sp>
      <p:graphicFrame>
        <p:nvGraphicFramePr>
          <p:cNvPr id="30" name="Table"/>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2203704"/>
                <a:gridCol w="2121408"/>
                <a:gridCol w="3611880"/>
                <a:gridCol w="3154680"/>
              </a:tblGrid>
              <a:tr h="502920">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Study</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Design</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Patients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Outcome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02920">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Huang 2023</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Observational</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855, no advanced fibrosis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HCC, 5 to 15 years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TORCH-B 2021</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Randomized</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160, ALT 1 to 2 x ULN</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Progression at 3 years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4023360"/>
            <a:ext cx="10545775"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What do you expect?</a:t>
            </a:r>
            <a:endParaRPr lang="en-US" sz="26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Huang DQ et al. Hepatology 2023;78:1558-1568, PMID 37184202. Hsu YC et al. Lancet Infect Dis 2021;21:823-833, PMID 33524314.</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17/38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treating this group help?</a:t>
            </a:r>
            <a:endParaRPr lang="en-US" sz="3000" dirty="0"/>
          </a:p>
        </p:txBody>
      </p:sp>
      <p:graphicFrame>
        <p:nvGraphicFramePr>
          <p:cNvPr id="31" name="Table"/>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2203704"/>
                <a:gridCol w="2121408"/>
                <a:gridCol w="3611880"/>
                <a:gridCol w="3154680"/>
              </a:tblGrid>
              <a:tr h="502920">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Study</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Design</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Patients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Outcome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02920">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Huang 2023</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Observational</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855, no advanced fibrosis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HCC, 5 to 15 years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TORCH-B 2021</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Randomized</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160, ALT 1 to 2 x ULN</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Progression at 3 years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graphicFrame>
        <p:nvGraphicFramePr>
          <p:cNvPr id="4" name="Chart 0" descr=""/>
          <p:cNvGraphicFramePr/>
          <p:nvPr/>
        </p:nvGraphicFramePr>
        <p:xfrm>
          <a:off x="548640" y="3337560"/>
          <a:ext cx="603504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766560" y="3337560"/>
          <a:ext cx="4937760" cy="2926080"/>
        </p:xfrm>
        <a:graphic xmlns:a="http://schemas.openxmlformats.org/drawingml/2006/main">
          <a:graphicData uri="http://schemas.openxmlformats.org/drawingml/2006/chart">
            <c:chart xmlns:c="http://schemas.openxmlformats.org/drawingml/2006/chart" r:id="rId2"/>
          </a:graphicData>
        </a:graphic>
      </p:graphicFrame>
      <p:sp>
        <p:nvSpPr>
          <p:cNvPr id="6" name="Text 1"/>
          <p:cNvSpPr txBox="1"/>
          <p:nvPr/>
        </p:nvSpPr>
        <p:spPr>
          <a:xfrm>
            <a:off x="548640" y="3017520"/>
            <a:ext cx="6035040" cy="274320"/>
          </a:xfrm>
          <a:prstGeom prst="rect">
            <a:avLst/>
          </a:prstGeom>
          <a:noFill/>
          <a:ln/>
        </p:spPr>
        <p:txBody>
          <a:bodyPr wrap="square" lIns="0" tIns="0" rIns="0" bIns="0" rtlCol="0" anchor="ctr"/>
          <a:lstStyle/>
          <a:p>
            <a:pPr algn="ctr" indent="0" marL="0">
              <a:buNone/>
            </a:pPr>
            <a:r>
              <a:rPr lang="en-US" sz="1500" dirty="0">
                <a:solidFill>
                  <a:srgbClr val="595959"/>
                </a:solidFill>
                <a:latin typeface="Calibri" pitchFamily="34" charset="0"/>
                <a:ea typeface="Calibri" pitchFamily="34" charset="-122"/>
                <a:cs typeface="Calibri" pitchFamily="34" charset="-120"/>
              </a:rPr>
              <a:t>Cumulative HCC risk, %</a:t>
            </a:r>
            <a:endParaRPr lang="en-US" sz="1500" dirty="0"/>
          </a:p>
        </p:txBody>
      </p:sp>
      <p:sp>
        <p:nvSpPr>
          <p:cNvPr id="7" name="Text 2"/>
          <p:cNvSpPr txBox="1"/>
          <p:nvPr/>
        </p:nvSpPr>
        <p:spPr>
          <a:xfrm>
            <a:off x="6766560" y="3017520"/>
            <a:ext cx="4937760" cy="274320"/>
          </a:xfrm>
          <a:prstGeom prst="rect">
            <a:avLst/>
          </a:prstGeom>
          <a:noFill/>
          <a:ln/>
        </p:spPr>
        <p:txBody>
          <a:bodyPr wrap="square" lIns="0" tIns="0" rIns="0" bIns="0" rtlCol="0" anchor="ctr"/>
          <a:lstStyle/>
          <a:p>
            <a:pPr algn="ctr" indent="0" marL="0">
              <a:buNone/>
            </a:pPr>
            <a:r>
              <a:rPr lang="en-US" sz="1500" dirty="0">
                <a:solidFill>
                  <a:srgbClr val="595959"/>
                </a:solidFill>
                <a:latin typeface="Calibri" pitchFamily="34" charset="0"/>
                <a:ea typeface="Calibri" pitchFamily="34" charset="-122"/>
                <a:cs typeface="Calibri" pitchFamily="34" charset="-120"/>
              </a:rPr>
              <a:t>Histologic progression, %</a:t>
            </a:r>
            <a:endParaRPr lang="en-US" sz="1500" dirty="0"/>
          </a:p>
        </p:txBody>
      </p:sp>
      <p:sp>
        <p:nvSpPr>
          <p:cNvPr id="8"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Huang DQ et al. Hepatology 2023;78:1558-1568, PMID 37184202. Hsu YC et al. Lancet Infect Dis 2021;21:823-833, PMID 33524314.</a:t>
            </a:r>
            <a:endParaRPr lang="en-US" sz="1000" dirty="0"/>
          </a:p>
        </p:txBody>
      </p:sp>
      <p:sp>
        <p:nvSpPr>
          <p:cNvPr id="10"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17/38</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Who to treat: summary</a:t>
            </a:r>
            <a:endParaRPr lang="en-US" sz="3000" dirty="0"/>
          </a:p>
        </p:txBody>
      </p:sp>
      <p:sp>
        <p:nvSpPr>
          <p:cNvPr id="3" name="Text 1"/>
          <p:cNvSpPr/>
          <p:nvPr/>
        </p:nvSpPr>
        <p:spPr>
          <a:xfrm>
            <a:off x="4251960" y="1097280"/>
            <a:ext cx="3657600" cy="502920"/>
          </a:xfrm>
          <a:prstGeom prst="rect">
            <a:avLst/>
          </a:prstGeom>
          <a:solidFill>
            <a:srgbClr val="F2F2F2"/>
          </a:solidFill>
          <a:ln w="12700">
            <a:solidFill>
              <a:srgbClr val="7F7F7F"/>
            </a:solidFill>
          </a:ln>
        </p:spPr>
        <p:txBody>
          <a:bodyPr wrap="square" lIns="50800" tIns="50800" rIns="50800" bIns="50800"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HBsAg positive</a:t>
            </a:r>
            <a:endParaRPr lang="en-US" sz="1800" dirty="0"/>
          </a:p>
        </p:txBody>
      </p:sp>
      <p:sp>
        <p:nvSpPr>
          <p:cNvPr id="4" name="Shape 2"/>
          <p:cNvSpPr/>
          <p:nvPr/>
        </p:nvSpPr>
        <p:spPr>
          <a:xfrm>
            <a:off x="6080760" y="1600200"/>
            <a:ext cx="0" cy="274320"/>
          </a:xfrm>
          <a:prstGeom prst="line">
            <a:avLst/>
          </a:prstGeom>
          <a:noFill/>
          <a:ln w="19050">
            <a:solidFill>
              <a:srgbClr val="595959"/>
            </a:solidFill>
            <a:prstDash val="solid"/>
            <a:tailEnd type="triangle"/>
          </a:ln>
        </p:spPr>
      </p:sp>
      <p:sp>
        <p:nvSpPr>
          <p:cNvPr id="5" name="Text 3"/>
          <p:cNvSpPr/>
          <p:nvPr/>
        </p:nvSpPr>
        <p:spPr>
          <a:xfrm>
            <a:off x="4480560" y="1874520"/>
            <a:ext cx="3200400" cy="502920"/>
          </a:xfrm>
          <a:prstGeom prst="rect">
            <a:avLst/>
          </a:prstGeom>
          <a:solidFill>
            <a:srgbClr val="F2F2F2"/>
          </a:solidFill>
          <a:ln w="12700">
            <a:solidFill>
              <a:srgbClr val="7F7F7F"/>
            </a:solidFill>
          </a:ln>
        </p:spPr>
        <p:txBody>
          <a:bodyPr wrap="square" lIns="50800" tIns="50800" rIns="50800" bIns="50800"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Cirrhosis?</a:t>
            </a:r>
            <a:endParaRPr lang="en-US" sz="1800" dirty="0"/>
          </a:p>
        </p:txBody>
      </p:sp>
      <p:sp>
        <p:nvSpPr>
          <p:cNvPr id="6" name="Shape 4"/>
          <p:cNvSpPr/>
          <p:nvPr/>
        </p:nvSpPr>
        <p:spPr>
          <a:xfrm>
            <a:off x="7680960" y="2130552"/>
            <a:ext cx="1188720" cy="0"/>
          </a:xfrm>
          <a:prstGeom prst="line">
            <a:avLst/>
          </a:prstGeom>
          <a:noFill/>
          <a:ln w="19050">
            <a:solidFill>
              <a:srgbClr val="595959"/>
            </a:solidFill>
            <a:prstDash val="solid"/>
            <a:tailEnd type="triangle"/>
          </a:ln>
        </p:spPr>
      </p:sp>
      <p:sp>
        <p:nvSpPr>
          <p:cNvPr id="7" name="Text 5"/>
          <p:cNvSpPr txBox="1"/>
          <p:nvPr/>
        </p:nvSpPr>
        <p:spPr>
          <a:xfrm>
            <a:off x="7680960" y="1837944"/>
            <a:ext cx="1188720" cy="274320"/>
          </a:xfrm>
          <a:prstGeom prst="rect">
            <a:avLst/>
          </a:prstGeom>
          <a:noFill/>
          <a:ln/>
        </p:spPr>
        <p:txBody>
          <a:bodyPr wrap="square" lIns="0" tIns="0" rIns="0" bIns="0" rtlCol="0" anchor="ctr"/>
          <a:lstStyle/>
          <a:p>
            <a:pPr algn="ctr" indent="0" marL="0">
              <a:buNone/>
            </a:pPr>
            <a:r>
              <a:rPr lang="en-US" sz="1400" b="1" dirty="0">
                <a:solidFill>
                  <a:srgbClr val="595959"/>
                </a:solidFill>
                <a:latin typeface="Calibri" pitchFamily="34" charset="0"/>
                <a:ea typeface="Calibri" pitchFamily="34" charset="-122"/>
                <a:cs typeface="Calibri" pitchFamily="34" charset="-120"/>
              </a:rPr>
              <a:t>Yes</a:t>
            </a:r>
            <a:endParaRPr lang="en-US" sz="1400" dirty="0"/>
          </a:p>
        </p:txBody>
      </p:sp>
      <p:sp>
        <p:nvSpPr>
          <p:cNvPr id="8" name="Text 6"/>
          <p:cNvSpPr/>
          <p:nvPr/>
        </p:nvSpPr>
        <p:spPr>
          <a:xfrm>
            <a:off x="8869680" y="1874520"/>
            <a:ext cx="2926080" cy="502920"/>
          </a:xfrm>
          <a:prstGeom prst="rect">
            <a:avLst/>
          </a:prstGeom>
          <a:solidFill>
            <a:srgbClr val="1F4E79"/>
          </a:solidFill>
          <a:ln w="12700">
            <a:solidFill>
              <a:srgbClr val="1F4E79"/>
            </a:solidFill>
          </a:ln>
        </p:spPr>
        <p:txBody>
          <a:bodyPr wrap="square" lIns="50800" tIns="50800" rIns="50800" bIns="5080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Treat, any DNA level</a:t>
            </a:r>
            <a:endParaRPr lang="en-US" sz="1800" dirty="0"/>
          </a:p>
        </p:txBody>
      </p:sp>
      <p:sp>
        <p:nvSpPr>
          <p:cNvPr id="9" name="Shape 7"/>
          <p:cNvSpPr/>
          <p:nvPr/>
        </p:nvSpPr>
        <p:spPr>
          <a:xfrm>
            <a:off x="6080760" y="2377440"/>
            <a:ext cx="0" cy="274320"/>
          </a:xfrm>
          <a:prstGeom prst="line">
            <a:avLst/>
          </a:prstGeom>
          <a:noFill/>
          <a:ln w="19050">
            <a:solidFill>
              <a:srgbClr val="595959"/>
            </a:solidFill>
            <a:prstDash val="solid"/>
          </a:ln>
        </p:spPr>
      </p:sp>
      <p:sp>
        <p:nvSpPr>
          <p:cNvPr id="10" name="Shape 8"/>
          <p:cNvSpPr/>
          <p:nvPr/>
        </p:nvSpPr>
        <p:spPr>
          <a:xfrm>
            <a:off x="2194560" y="2651760"/>
            <a:ext cx="6126480" cy="0"/>
          </a:xfrm>
          <a:prstGeom prst="line">
            <a:avLst/>
          </a:prstGeom>
          <a:noFill/>
          <a:ln w="19050">
            <a:solidFill>
              <a:srgbClr val="595959"/>
            </a:solidFill>
            <a:prstDash val="solid"/>
          </a:ln>
        </p:spPr>
      </p:sp>
      <p:sp>
        <p:nvSpPr>
          <p:cNvPr id="11" name="Text 9"/>
          <p:cNvSpPr txBox="1"/>
          <p:nvPr/>
        </p:nvSpPr>
        <p:spPr>
          <a:xfrm>
            <a:off x="6172200" y="2331720"/>
            <a:ext cx="548640" cy="274320"/>
          </a:xfrm>
          <a:prstGeom prst="rect">
            <a:avLst/>
          </a:prstGeom>
          <a:noFill/>
          <a:ln/>
        </p:spPr>
        <p:txBody>
          <a:bodyPr wrap="square" lIns="0" tIns="0" rIns="0" bIns="0" rtlCol="0" anchor="ctr"/>
          <a:lstStyle/>
          <a:p>
            <a:pPr indent="0" marL="0">
              <a:buNone/>
            </a:pPr>
            <a:r>
              <a:rPr lang="en-US" sz="1400" b="1" dirty="0">
                <a:solidFill>
                  <a:srgbClr val="595959"/>
                </a:solidFill>
                <a:latin typeface="Calibri" pitchFamily="34" charset="0"/>
                <a:ea typeface="Calibri" pitchFamily="34" charset="-122"/>
                <a:cs typeface="Calibri" pitchFamily="34" charset="-120"/>
              </a:rPr>
              <a:t>No</a:t>
            </a:r>
            <a:endParaRPr lang="en-US" sz="1400" dirty="0"/>
          </a:p>
        </p:txBody>
      </p:sp>
      <p:sp>
        <p:nvSpPr>
          <p:cNvPr id="12" name="Shape 10"/>
          <p:cNvSpPr/>
          <p:nvPr/>
        </p:nvSpPr>
        <p:spPr>
          <a:xfrm>
            <a:off x="2194560" y="2651760"/>
            <a:ext cx="0" cy="228600"/>
          </a:xfrm>
          <a:prstGeom prst="line">
            <a:avLst/>
          </a:prstGeom>
          <a:noFill/>
          <a:ln w="19050">
            <a:solidFill>
              <a:srgbClr val="595959"/>
            </a:solidFill>
            <a:prstDash val="solid"/>
            <a:tailEnd type="triangle"/>
          </a:ln>
        </p:spPr>
      </p:sp>
      <p:sp>
        <p:nvSpPr>
          <p:cNvPr id="13" name="Shape 11"/>
          <p:cNvSpPr/>
          <p:nvPr/>
        </p:nvSpPr>
        <p:spPr>
          <a:xfrm>
            <a:off x="8321040" y="2651760"/>
            <a:ext cx="0" cy="228600"/>
          </a:xfrm>
          <a:prstGeom prst="line">
            <a:avLst/>
          </a:prstGeom>
          <a:noFill/>
          <a:ln w="19050">
            <a:solidFill>
              <a:srgbClr val="595959"/>
            </a:solidFill>
            <a:prstDash val="solid"/>
            <a:tailEnd type="triangle"/>
          </a:ln>
        </p:spPr>
      </p:sp>
      <p:sp>
        <p:nvSpPr>
          <p:cNvPr id="14" name="Text 12"/>
          <p:cNvSpPr/>
          <p:nvPr/>
        </p:nvSpPr>
        <p:spPr>
          <a:xfrm>
            <a:off x="457200" y="2880360"/>
            <a:ext cx="3474720" cy="457200"/>
          </a:xfrm>
          <a:prstGeom prst="rect">
            <a:avLst/>
          </a:prstGeom>
          <a:solidFill>
            <a:srgbClr val="F2F2F2"/>
          </a:solidFill>
          <a:ln w="12700">
            <a:solidFill>
              <a:srgbClr val="7F7F7F"/>
            </a:solidFill>
          </a:ln>
        </p:spPr>
        <p:txBody>
          <a:bodyPr wrap="square" lIns="50800" tIns="50800" rIns="50800" bIns="50800" rtlCol="0" anchor="ctr"/>
          <a:lstStyle/>
          <a:p>
            <a:pPr algn="ctr" indent="0" marL="0">
              <a:buNone/>
            </a:pPr>
            <a:r>
              <a:rPr lang="en-US" sz="1700" b="1" dirty="0">
                <a:solidFill>
                  <a:srgbClr val="000000"/>
                </a:solidFill>
                <a:latin typeface="Calibri" pitchFamily="34" charset="0"/>
                <a:ea typeface="Calibri" pitchFamily="34" charset="-122"/>
                <a:cs typeface="Calibri" pitchFamily="34" charset="-120"/>
              </a:rPr>
              <a:t>HBeAg positive</a:t>
            </a:r>
            <a:endParaRPr lang="en-US" sz="1700" dirty="0"/>
          </a:p>
        </p:txBody>
      </p:sp>
      <p:sp>
        <p:nvSpPr>
          <p:cNvPr id="15" name="Text 13"/>
          <p:cNvSpPr/>
          <p:nvPr/>
        </p:nvSpPr>
        <p:spPr>
          <a:xfrm>
            <a:off x="6583680" y="2880360"/>
            <a:ext cx="3474720" cy="457200"/>
          </a:xfrm>
          <a:prstGeom prst="rect">
            <a:avLst/>
          </a:prstGeom>
          <a:solidFill>
            <a:srgbClr val="F2F2F2"/>
          </a:solidFill>
          <a:ln w="12700">
            <a:solidFill>
              <a:srgbClr val="7F7F7F"/>
            </a:solidFill>
          </a:ln>
        </p:spPr>
        <p:txBody>
          <a:bodyPr wrap="square" lIns="50800" tIns="50800" rIns="50800" bIns="50800" rtlCol="0" anchor="ctr"/>
          <a:lstStyle/>
          <a:p>
            <a:pPr algn="ctr" indent="0" marL="0">
              <a:buNone/>
            </a:pPr>
            <a:r>
              <a:rPr lang="en-US" sz="1700" b="1" dirty="0">
                <a:solidFill>
                  <a:srgbClr val="000000"/>
                </a:solidFill>
                <a:latin typeface="Calibri" pitchFamily="34" charset="0"/>
                <a:ea typeface="Calibri" pitchFamily="34" charset="-122"/>
                <a:cs typeface="Calibri" pitchFamily="34" charset="-120"/>
              </a:rPr>
              <a:t>HBeAg negative</a:t>
            </a:r>
            <a:endParaRPr lang="en-US" sz="1700" dirty="0"/>
          </a:p>
        </p:txBody>
      </p:sp>
      <p:sp>
        <p:nvSpPr>
          <p:cNvPr id="16" name="Text 14"/>
          <p:cNvSpPr/>
          <p:nvPr/>
        </p:nvSpPr>
        <p:spPr>
          <a:xfrm>
            <a:off x="274320" y="3611880"/>
            <a:ext cx="3840480" cy="777240"/>
          </a:xfrm>
          <a:prstGeom prst="rect">
            <a:avLst/>
          </a:prstGeom>
          <a:solidFill>
            <a:srgbClr val="FFFFFF"/>
          </a:solidFill>
          <a:ln w="12700">
            <a:solidFill>
              <a:srgbClr val="BFBFBF"/>
            </a:solidFill>
          </a:ln>
        </p:spPr>
        <p:txBody>
          <a:bodyPr wrap="square" lIns="50800" tIns="50800" rIns="50800" bIns="5080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DNA above 20,000 and ALT 2 times ULN or more</a:t>
            </a:r>
            <a:endParaRPr lang="en-US" sz="1600" dirty="0"/>
          </a:p>
        </p:txBody>
      </p:sp>
      <p:sp>
        <p:nvSpPr>
          <p:cNvPr id="17" name="Shape 15"/>
          <p:cNvSpPr/>
          <p:nvPr/>
        </p:nvSpPr>
        <p:spPr>
          <a:xfrm>
            <a:off x="4114800" y="4000500"/>
            <a:ext cx="320040" cy="0"/>
          </a:xfrm>
          <a:prstGeom prst="line">
            <a:avLst/>
          </a:prstGeom>
          <a:noFill/>
          <a:ln w="19050">
            <a:solidFill>
              <a:srgbClr val="595959"/>
            </a:solidFill>
            <a:prstDash val="solid"/>
            <a:tailEnd type="triangle"/>
          </a:ln>
        </p:spPr>
      </p:sp>
      <p:sp>
        <p:nvSpPr>
          <p:cNvPr id="18" name="Text 16"/>
          <p:cNvSpPr/>
          <p:nvPr/>
        </p:nvSpPr>
        <p:spPr>
          <a:xfrm>
            <a:off x="4434840" y="3611880"/>
            <a:ext cx="1691640" cy="777240"/>
          </a:xfrm>
          <a:prstGeom prst="rect">
            <a:avLst/>
          </a:prstGeom>
          <a:solidFill>
            <a:srgbClr val="1F4E79"/>
          </a:solidFill>
          <a:ln w="12700">
            <a:solidFill>
              <a:srgbClr val="1F4E79"/>
            </a:solid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Treat</a:t>
            </a:r>
            <a:endParaRPr lang="en-US" sz="1600" dirty="0"/>
          </a:p>
        </p:txBody>
      </p:sp>
      <p:sp>
        <p:nvSpPr>
          <p:cNvPr id="19" name="Text 17"/>
          <p:cNvSpPr/>
          <p:nvPr/>
        </p:nvSpPr>
        <p:spPr>
          <a:xfrm>
            <a:off x="274320" y="4526280"/>
            <a:ext cx="3840480" cy="777240"/>
          </a:xfrm>
          <a:prstGeom prst="rect">
            <a:avLst/>
          </a:prstGeom>
          <a:solidFill>
            <a:srgbClr val="FFFFFF"/>
          </a:solidFill>
          <a:ln w="12700">
            <a:solidFill>
              <a:srgbClr val="BFBFBF"/>
            </a:solidFill>
          </a:ln>
        </p:spPr>
        <p:txBody>
          <a:bodyPr wrap="square" lIns="50800" tIns="50800" rIns="50800" bIns="5080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DNA above 10 million, normal ALT, over 40 or F2 or worse</a:t>
            </a:r>
            <a:endParaRPr lang="en-US" sz="1600" dirty="0"/>
          </a:p>
        </p:txBody>
      </p:sp>
      <p:sp>
        <p:nvSpPr>
          <p:cNvPr id="20" name="Shape 18"/>
          <p:cNvSpPr/>
          <p:nvPr/>
        </p:nvSpPr>
        <p:spPr>
          <a:xfrm>
            <a:off x="4114800" y="4914900"/>
            <a:ext cx="320040" cy="0"/>
          </a:xfrm>
          <a:prstGeom prst="line">
            <a:avLst/>
          </a:prstGeom>
          <a:noFill/>
          <a:ln w="19050">
            <a:solidFill>
              <a:srgbClr val="595959"/>
            </a:solidFill>
            <a:prstDash val="solid"/>
            <a:tailEnd type="triangle"/>
          </a:ln>
        </p:spPr>
      </p:sp>
      <p:sp>
        <p:nvSpPr>
          <p:cNvPr id="21" name="Text 19"/>
          <p:cNvSpPr/>
          <p:nvPr/>
        </p:nvSpPr>
        <p:spPr>
          <a:xfrm>
            <a:off x="4434840" y="4526280"/>
            <a:ext cx="1691640" cy="777240"/>
          </a:xfrm>
          <a:prstGeom prst="rect">
            <a:avLst/>
          </a:prstGeom>
          <a:solidFill>
            <a:srgbClr val="1F4E79"/>
          </a:solidFill>
          <a:ln w="12700">
            <a:solidFill>
              <a:srgbClr val="1F4E79"/>
            </a:solid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Treatment suggested</a:t>
            </a:r>
            <a:endParaRPr lang="en-US" sz="1600" dirty="0"/>
          </a:p>
        </p:txBody>
      </p:sp>
      <p:sp>
        <p:nvSpPr>
          <p:cNvPr id="22" name="Text 20"/>
          <p:cNvSpPr/>
          <p:nvPr/>
        </p:nvSpPr>
        <p:spPr>
          <a:xfrm>
            <a:off x="274320" y="5440680"/>
            <a:ext cx="3840480" cy="777240"/>
          </a:xfrm>
          <a:prstGeom prst="rect">
            <a:avLst/>
          </a:prstGeom>
          <a:solidFill>
            <a:srgbClr val="FFFFFF"/>
          </a:solidFill>
          <a:ln w="12700">
            <a:solidFill>
              <a:srgbClr val="BFBFBF"/>
            </a:solidFill>
          </a:ln>
        </p:spPr>
        <p:txBody>
          <a:bodyPr wrap="square" lIns="50800" tIns="50800" rIns="50800" bIns="5080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DNA above 10 million, normal ALT, 40 or younger, no fibrosis</a:t>
            </a:r>
            <a:endParaRPr lang="en-US" sz="1600" dirty="0"/>
          </a:p>
        </p:txBody>
      </p:sp>
      <p:sp>
        <p:nvSpPr>
          <p:cNvPr id="23" name="Shape 21"/>
          <p:cNvSpPr/>
          <p:nvPr/>
        </p:nvSpPr>
        <p:spPr>
          <a:xfrm>
            <a:off x="4114800" y="5829300"/>
            <a:ext cx="320040" cy="0"/>
          </a:xfrm>
          <a:prstGeom prst="line">
            <a:avLst/>
          </a:prstGeom>
          <a:noFill/>
          <a:ln w="19050">
            <a:solidFill>
              <a:srgbClr val="595959"/>
            </a:solidFill>
            <a:prstDash val="solid"/>
            <a:tailEnd type="triangle"/>
          </a:ln>
        </p:spPr>
      </p:sp>
      <p:sp>
        <p:nvSpPr>
          <p:cNvPr id="24" name="Text 22"/>
          <p:cNvSpPr/>
          <p:nvPr/>
        </p:nvSpPr>
        <p:spPr>
          <a:xfrm>
            <a:off x="4434840" y="5440680"/>
            <a:ext cx="1691640" cy="777240"/>
          </a:xfrm>
          <a:prstGeom prst="rect">
            <a:avLst/>
          </a:prstGeom>
          <a:solidFill>
            <a:srgbClr val="FFFFFF"/>
          </a:solidFill>
          <a:ln w="12700">
            <a:solidFill>
              <a:srgbClr val="595959"/>
            </a:solidFill>
          </a:ln>
        </p:spPr>
        <p:txBody>
          <a:bodyPr wrap="square" lIns="50800" tIns="50800" rIns="50800" bIns="50800"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Monitor</a:t>
            </a:r>
            <a:endParaRPr lang="en-US" sz="1600" dirty="0"/>
          </a:p>
        </p:txBody>
      </p:sp>
      <p:sp>
        <p:nvSpPr>
          <p:cNvPr id="25" name="Text 23"/>
          <p:cNvSpPr/>
          <p:nvPr/>
        </p:nvSpPr>
        <p:spPr>
          <a:xfrm>
            <a:off x="6400800" y="3611880"/>
            <a:ext cx="3840480" cy="777240"/>
          </a:xfrm>
          <a:prstGeom prst="rect">
            <a:avLst/>
          </a:prstGeom>
          <a:solidFill>
            <a:srgbClr val="FFFFFF"/>
          </a:solidFill>
          <a:ln w="12700">
            <a:solidFill>
              <a:srgbClr val="BFBFBF"/>
            </a:solidFill>
          </a:ln>
        </p:spPr>
        <p:txBody>
          <a:bodyPr wrap="square" lIns="50800" tIns="50800" rIns="50800" bIns="5080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DNA above 2,000 and ALT 2 times ULN or more</a:t>
            </a:r>
            <a:endParaRPr lang="en-US" sz="1600" dirty="0"/>
          </a:p>
        </p:txBody>
      </p:sp>
      <p:sp>
        <p:nvSpPr>
          <p:cNvPr id="26" name="Shape 24"/>
          <p:cNvSpPr/>
          <p:nvPr/>
        </p:nvSpPr>
        <p:spPr>
          <a:xfrm>
            <a:off x="10241280" y="4000500"/>
            <a:ext cx="320040" cy="0"/>
          </a:xfrm>
          <a:prstGeom prst="line">
            <a:avLst/>
          </a:prstGeom>
          <a:noFill/>
          <a:ln w="19050">
            <a:solidFill>
              <a:srgbClr val="595959"/>
            </a:solidFill>
            <a:prstDash val="solid"/>
            <a:tailEnd type="triangle"/>
          </a:ln>
        </p:spPr>
      </p:sp>
      <p:sp>
        <p:nvSpPr>
          <p:cNvPr id="27" name="Text 25"/>
          <p:cNvSpPr/>
          <p:nvPr/>
        </p:nvSpPr>
        <p:spPr>
          <a:xfrm>
            <a:off x="10561320" y="3611880"/>
            <a:ext cx="1371600" cy="777240"/>
          </a:xfrm>
          <a:prstGeom prst="rect">
            <a:avLst/>
          </a:prstGeom>
          <a:solidFill>
            <a:srgbClr val="1F4E79"/>
          </a:solidFill>
          <a:ln w="12700">
            <a:solidFill>
              <a:srgbClr val="1F4E79"/>
            </a:solid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Treat</a:t>
            </a:r>
            <a:endParaRPr lang="en-US" sz="1600" dirty="0"/>
          </a:p>
        </p:txBody>
      </p:sp>
      <p:sp>
        <p:nvSpPr>
          <p:cNvPr id="28" name="Text 26"/>
          <p:cNvSpPr/>
          <p:nvPr/>
        </p:nvSpPr>
        <p:spPr>
          <a:xfrm>
            <a:off x="6400800" y="4526280"/>
            <a:ext cx="3840480" cy="777240"/>
          </a:xfrm>
          <a:prstGeom prst="rect">
            <a:avLst/>
          </a:prstGeom>
          <a:solidFill>
            <a:srgbClr val="FFFFFF"/>
          </a:solidFill>
          <a:ln w="12700">
            <a:solidFill>
              <a:srgbClr val="BFBFBF"/>
            </a:solidFill>
          </a:ln>
        </p:spPr>
        <p:txBody>
          <a:bodyPr wrap="square" lIns="50800" tIns="50800" rIns="50800" bIns="5080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Between the two: the grey zone</a:t>
            </a:r>
            <a:endParaRPr lang="en-US" sz="1600" dirty="0"/>
          </a:p>
        </p:txBody>
      </p:sp>
      <p:sp>
        <p:nvSpPr>
          <p:cNvPr id="29" name="Shape 27"/>
          <p:cNvSpPr/>
          <p:nvPr/>
        </p:nvSpPr>
        <p:spPr>
          <a:xfrm>
            <a:off x="10241280" y="4914900"/>
            <a:ext cx="320040" cy="0"/>
          </a:xfrm>
          <a:prstGeom prst="line">
            <a:avLst/>
          </a:prstGeom>
          <a:noFill/>
          <a:ln w="19050">
            <a:solidFill>
              <a:srgbClr val="595959"/>
            </a:solidFill>
            <a:prstDash val="solid"/>
            <a:tailEnd type="triangle"/>
          </a:ln>
        </p:spPr>
      </p:sp>
      <p:sp>
        <p:nvSpPr>
          <p:cNvPr id="30" name="Text 28"/>
          <p:cNvSpPr/>
          <p:nvPr/>
        </p:nvSpPr>
        <p:spPr>
          <a:xfrm>
            <a:off x="10561320" y="4526280"/>
            <a:ext cx="1371600" cy="777240"/>
          </a:xfrm>
          <a:prstGeom prst="rect">
            <a:avLst/>
          </a:prstGeom>
          <a:solidFill>
            <a:srgbClr val="9DB4CA"/>
          </a:solidFill>
          <a:ln w="12700">
            <a:solidFill>
              <a:srgbClr val="9DB4CA"/>
            </a:solidFill>
          </a:ln>
        </p:spPr>
        <p:txBody>
          <a:bodyPr wrap="square" lIns="50800" tIns="50800" rIns="50800" bIns="50800"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Shared decision</a:t>
            </a:r>
            <a:endParaRPr lang="en-US" sz="1600" dirty="0"/>
          </a:p>
        </p:txBody>
      </p:sp>
      <p:sp>
        <p:nvSpPr>
          <p:cNvPr id="31" name="Text 29"/>
          <p:cNvSpPr/>
          <p:nvPr/>
        </p:nvSpPr>
        <p:spPr>
          <a:xfrm>
            <a:off x="6400800" y="5440680"/>
            <a:ext cx="3840480" cy="777240"/>
          </a:xfrm>
          <a:prstGeom prst="rect">
            <a:avLst/>
          </a:prstGeom>
          <a:solidFill>
            <a:srgbClr val="FFFFFF"/>
          </a:solidFill>
          <a:ln w="12700">
            <a:solidFill>
              <a:srgbClr val="BFBFBF"/>
            </a:solidFill>
          </a:ln>
        </p:spPr>
        <p:txBody>
          <a:bodyPr wrap="square" lIns="50800" tIns="50800" rIns="50800" bIns="5080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DNA below 2,000, normal ALT</a:t>
            </a:r>
            <a:endParaRPr lang="en-US" sz="1600" dirty="0"/>
          </a:p>
        </p:txBody>
      </p:sp>
      <p:sp>
        <p:nvSpPr>
          <p:cNvPr id="32" name="Shape 30"/>
          <p:cNvSpPr/>
          <p:nvPr/>
        </p:nvSpPr>
        <p:spPr>
          <a:xfrm>
            <a:off x="10241280" y="5829300"/>
            <a:ext cx="320040" cy="0"/>
          </a:xfrm>
          <a:prstGeom prst="line">
            <a:avLst/>
          </a:prstGeom>
          <a:noFill/>
          <a:ln w="19050">
            <a:solidFill>
              <a:srgbClr val="595959"/>
            </a:solidFill>
            <a:prstDash val="solid"/>
            <a:tailEnd type="triangle"/>
          </a:ln>
        </p:spPr>
      </p:sp>
      <p:sp>
        <p:nvSpPr>
          <p:cNvPr id="33" name="Text 31"/>
          <p:cNvSpPr/>
          <p:nvPr/>
        </p:nvSpPr>
        <p:spPr>
          <a:xfrm>
            <a:off x="10561320" y="5440680"/>
            <a:ext cx="1371600" cy="777240"/>
          </a:xfrm>
          <a:prstGeom prst="rect">
            <a:avLst/>
          </a:prstGeom>
          <a:solidFill>
            <a:srgbClr val="FFFFFF"/>
          </a:solidFill>
          <a:ln w="12700">
            <a:solidFill>
              <a:srgbClr val="595959"/>
            </a:solidFill>
          </a:ln>
        </p:spPr>
        <p:txBody>
          <a:bodyPr wrap="square" lIns="50800" tIns="50800" rIns="50800" bIns="50800"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Monitor</a:t>
            </a:r>
            <a:endParaRPr lang="en-US" sz="1600" dirty="0"/>
          </a:p>
        </p:txBody>
      </p:sp>
      <p:sp>
        <p:nvSpPr>
          <p:cNvPr id="3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 2018 (PMID 29405329); AASLD/IDSA 2025 R3, R4 and Figure 5 (PMID 41186418). ALT ULN 35 men, 25 women.</a:t>
            </a:r>
            <a:endParaRPr lang="en-US" sz="1000" dirty="0"/>
          </a:p>
        </p:txBody>
      </p:sp>
      <p:sp>
        <p:nvSpPr>
          <p:cNvPr id="3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18/38</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58-year-old man, eGFR 45</a:t>
            </a:r>
            <a:endParaRPr lang="en-US" sz="3000" dirty="0"/>
          </a:p>
        </p:txBody>
      </p:sp>
      <p:sp>
        <p:nvSpPr>
          <p:cNvPr id="3" name="Question"/>
          <p:cNvSpPr txBox="1"/>
          <p:nvPr/>
        </p:nvSpPr>
        <p:spPr>
          <a:xfrm>
            <a:off x="822960" y="109728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Which nucleos(t)ide analogue?</a:t>
            </a:r>
            <a:endParaRPr lang="en-US" sz="2400" dirty="0"/>
          </a:p>
        </p:txBody>
      </p:sp>
      <p:graphicFrame>
        <p:nvGraphicFramePr>
          <p:cNvPr id="33" name="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1271016"/>
                <a:gridCol w="2651760"/>
                <a:gridCol w="2788920"/>
                <a:gridCol w="4379976"/>
              </a:tblGrid>
              <a:tr h="868680">
                <a:tc>
                  <a:txBody>
                    <a:bodyPr/>
                    <a:lstStyle/>
                    <a:p>
                      <a:pPr algn="ctr"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Dose</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At eGFR 30 to 49</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68680">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Entecavir</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0.5 mg daily</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0.5 mg every 48 hours</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68680">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TDF</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300 mg daily</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300 mg every 48 hours</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68680">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TAF</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25 mg daily with food</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25 mg daily</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US prescribing information: Baraclude, Viread, Vemlidy (DailyMed). Renal doses use creatinine clearance.</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19/38</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58-year-old man, eGFR 45</a:t>
            </a:r>
            <a:endParaRPr lang="en-US" sz="3000" dirty="0"/>
          </a:p>
        </p:txBody>
      </p:sp>
      <p:sp>
        <p:nvSpPr>
          <p:cNvPr id="3" name="Question"/>
          <p:cNvSpPr txBox="1"/>
          <p:nvPr/>
        </p:nvSpPr>
        <p:spPr>
          <a:xfrm>
            <a:off x="822960" y="109728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Which nucleos(t)ide analogue?</a:t>
            </a:r>
            <a:endParaRPr lang="en-US" sz="2400" dirty="0"/>
          </a:p>
        </p:txBody>
      </p:sp>
      <p:graphicFrame>
        <p:nvGraphicFramePr>
          <p:cNvPr id="34" name="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1271016"/>
                <a:gridCol w="2651760"/>
                <a:gridCol w="2788920"/>
                <a:gridCol w="4379976"/>
              </a:tblGrid>
              <a:tr h="868680">
                <a:tc>
                  <a:txBody>
                    <a:bodyPr/>
                    <a:lstStyle/>
                    <a:p>
                      <a:pPr algn="ctr"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Dose</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At eGFR 30 to 49</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68680">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Entecavir</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0.5 mg daily</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0.5 mg every 48 hours</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Dose-adjust</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68680">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TDF</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300 mg daily</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300 mg every 48 hours</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Dose-adjust, kidney and bone effects</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68680">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TAF</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25 mg daily with food</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25 mg daily</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No adjustment</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Question"/>
          <p:cNvSpPr txBox="1"/>
          <p:nvPr/>
        </p:nvSpPr>
        <p:spPr>
          <a:xfrm>
            <a:off x="822960" y="557784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highlight>
                  <a:srgbClr val="FFFF00"/>
                </a:highlight>
                <a:latin typeface="Georgia" pitchFamily="34" charset="0"/>
                <a:ea typeface="Georgia" pitchFamily="34" charset="-122"/>
                <a:cs typeface="Georgia" pitchFamily="34" charset="-120"/>
              </a:rPr>
              <a:t>TAF, or entecavir with the dose adjusted</a:t>
            </a:r>
            <a:endParaRPr lang="en-US" sz="24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US prescribing information: Baraclude, Viread, Vemlidy (DailyMed). Renal doses use creatinine clearance.</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19/38</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TAF versus TDF at week 48</a:t>
            </a:r>
            <a:endParaRPr lang="en-US" sz="3000" dirty="0"/>
          </a:p>
        </p:txBody>
      </p:sp>
      <p:graphicFrame>
        <p:nvGraphicFramePr>
          <p:cNvPr id="35"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4754880" cy="914400"/>
        </p:xfrm>
        <a:graphic>
          <a:graphicData uri="http://schemas.openxmlformats.org/drawingml/2006/table">
            <a:tbl>
              <a:tblPr/>
              <a:tblGrid>
                <a:gridCol w="3209544"/>
                <a:gridCol w="768096"/>
                <a:gridCol w="777240"/>
              </a:tblGrid>
              <a:tr h="548640">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HBV DNA below 29 IU/mL</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TAF</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TDF</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HBeAg-positive (Chan)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64%</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67%</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HBeAg-negative (Buti)</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94%</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93%</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548640" y="4206240"/>
            <a:ext cx="10972800"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What differs?</a:t>
            </a:r>
            <a:endParaRPr lang="en-US" sz="26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Chan HLY et al. Lancet Gastroenterol Hepatol 2016;1:185-195 (PMID 28404091). Buti M et al. 2016;1:196-206 (PMID 28404092).</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20/38</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TAF versus TDF at week 48</a:t>
            </a:r>
            <a:endParaRPr lang="en-US" sz="3000" dirty="0"/>
          </a:p>
        </p:txBody>
      </p:sp>
      <p:graphicFrame>
        <p:nvGraphicFramePr>
          <p:cNvPr id="36"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4754880" cy="914400"/>
        </p:xfrm>
        <a:graphic>
          <a:graphicData uri="http://schemas.openxmlformats.org/drawingml/2006/table">
            <a:tbl>
              <a:tblPr/>
              <a:tblGrid>
                <a:gridCol w="3209544"/>
                <a:gridCol w="768096"/>
                <a:gridCol w="777240"/>
              </a:tblGrid>
              <a:tr h="548640">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HBV DNA below 29 IU/mL</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TAF</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TDF</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HBeAg-positive (Chan)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64%</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67%</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HBeAg-negative (Buti)</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94%</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93%</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graphicFrame>
        <p:nvGraphicFramePr>
          <p:cNvPr id="4" name="Chart 0" descr=""/>
          <p:cNvGraphicFramePr/>
          <p:nvPr/>
        </p:nvGraphicFramePr>
        <p:xfrm>
          <a:off x="5486400" y="1188720"/>
          <a:ext cx="6309360" cy="484632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0" y="914400"/>
            <a:ext cx="6309360" cy="274320"/>
          </a:xfrm>
          <a:prstGeom prst="rect">
            <a:avLst/>
          </a:prstGeom>
          <a:noFill/>
          <a:ln/>
        </p:spPr>
        <p:txBody>
          <a:bodyPr wrap="square" lIns="0" tIns="0" rIns="0" bIns="0" rtlCol="0" anchor="ctr"/>
          <a:lstStyle/>
          <a:p>
            <a:pPr algn="ctr" indent="0" marL="0">
              <a:buNone/>
            </a:pPr>
            <a:r>
              <a:rPr lang="en-US" sz="1400" dirty="0">
                <a:solidFill>
                  <a:srgbClr val="595959"/>
                </a:solidFill>
                <a:latin typeface="Calibri" pitchFamily="34" charset="0"/>
                <a:ea typeface="Calibri" pitchFamily="34" charset="-122"/>
                <a:cs typeface="Calibri" pitchFamily="34" charset="-120"/>
              </a:rPr>
              <a:t>Change in bone mineral density, %</a:t>
            </a:r>
            <a:endParaRPr lang="en-US" sz="1400" dirty="0"/>
          </a:p>
        </p:txBody>
      </p:sp>
      <p:sp>
        <p:nvSpPr>
          <p:cNvPr id="6" name="Text 2"/>
          <p:cNvSpPr txBox="1"/>
          <p:nvPr/>
        </p:nvSpPr>
        <p:spPr>
          <a:xfrm>
            <a:off x="548640" y="3291840"/>
            <a:ext cx="4754880" cy="914400"/>
          </a:xfrm>
          <a:prstGeom prst="rect">
            <a:avLst/>
          </a:prstGeom>
          <a:noFill/>
          <a:ln/>
        </p:spPr>
        <p:txBody>
          <a:bodyPr wrap="square" lIns="0" tIns="0" rIns="0" bIns="0" rtlCol="0" anchor="ctr"/>
          <a:lstStyle/>
          <a:p>
            <a:pPr indent="0" marL="0">
              <a:buNone/>
            </a:pPr>
            <a:r>
              <a:rPr lang="en-US" sz="1700" dirty="0">
                <a:solidFill>
                  <a:srgbClr val="000000"/>
                </a:solidFill>
                <a:latin typeface="Georgia" pitchFamily="34" charset="0"/>
                <a:ea typeface="Georgia" pitchFamily="34" charset="-122"/>
                <a:cs typeface="Georgia" pitchFamily="34" charset="-120"/>
              </a:rPr>
              <a:t>Median eGFR change in the HBeAg-negative trial: -1.8 (TAF) vs -4.8 mL/min (TDF)</a:t>
            </a:r>
            <a:endParaRPr lang="en-US" sz="1700" dirty="0"/>
          </a:p>
        </p:txBody>
      </p:sp>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Chan HLY et al. Lancet Gastroenterol Hepatol 2016;1:185-195 (PMID 28404091). Buti M et al. 2016;1:196-206 (PMID 28404092).</a:t>
            </a:r>
            <a:endParaRPr lang="en-US" sz="1000" dirty="0"/>
          </a:p>
        </p:txBody>
      </p:sp>
      <p:sp>
        <p:nvSpPr>
          <p:cNvPr id="9"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20/38</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Choosing the drug: summary</a:t>
            </a:r>
            <a:endParaRPr lang="en-US" sz="3000" dirty="0"/>
          </a:p>
        </p:txBody>
      </p:sp>
      <p:graphicFrame>
        <p:nvGraphicFramePr>
          <p:cNvPr id="37" name="Table"/>
          <p:cNvGraphicFramePr>
            <a:graphicFrameLocks noGrp="1"/>
          </p:cNvGraphicFramePr>
          <p:nvPr>
            <p:extLst>
              <p:ext uri="{D42A27DB-BD31-4B8C-83A1-F6EECF244321}">
                <p14:modId xmlns:p14="http://schemas.microsoft.com/office/powerpoint/2010/main" val="1579011935"/>
              </p:ext>
            </p:extLst>
          </p:nvPr>
        </p:nvGraphicFramePr>
        <p:xfrm>
          <a:off x="731520" y="1188720"/>
          <a:ext cx="10728655" cy="914400"/>
        </p:xfrm>
        <a:graphic>
          <a:graphicData uri="http://schemas.openxmlformats.org/drawingml/2006/table">
            <a:tbl>
              <a:tblPr/>
              <a:tblGrid>
                <a:gridCol w="4608576"/>
                <a:gridCol w="6117336"/>
              </a:tblGrid>
              <a:tr h="603504">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Situation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Drug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603504">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Most patients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Entecavir, TDF or TAF</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03504">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Kidney or bone disease, or at risk</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TAF, or entecavir with the dose adjusted</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03504">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Prior lamivudine resistance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TDF or TAF, not entecavir</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03504">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Pregnancy</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TDF (most data) or TAF</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03504">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HIV</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TDF or TAF as part of ART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03504">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Decompensated cirrhosis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Entecavir or TDF (no TAF in Child-Pugh B or C)</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03504">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Wants a finite course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Pegylated interferon, selected patients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 2018 (PMID 29405329); AASLD/IDSA 2025 (PMID 41186418); US prescribing information.</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21/38</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Calculating PAGE-B</a:t>
            </a:r>
            <a:endParaRPr lang="en-US" sz="3000" dirty="0"/>
          </a:p>
        </p:txBody>
      </p:sp>
      <p:graphicFrame>
        <p:nvGraphicFramePr>
          <p:cNvPr id="38" name="Table"/>
          <p:cNvGraphicFramePr>
            <a:graphicFrameLocks noGrp="1"/>
          </p:cNvGraphicFramePr>
          <p:nvPr>
            <p:extLst>
              <p:ext uri="{D42A27DB-BD31-4B8C-83A1-F6EECF244321}">
                <p14:modId xmlns:p14="http://schemas.microsoft.com/office/powerpoint/2010/main" val="1579011935"/>
              </p:ext>
            </p:extLst>
          </p:nvPr>
        </p:nvGraphicFramePr>
        <p:xfrm>
          <a:off x="548640" y="1143000"/>
          <a:ext cx="5852160" cy="914400"/>
        </p:xfrm>
        <a:graphic>
          <a:graphicData uri="http://schemas.openxmlformats.org/drawingml/2006/table">
            <a:tbl>
              <a:tblPr/>
              <a:tblGrid>
                <a:gridCol w="2734056"/>
                <a:gridCol w="1947672"/>
                <a:gridCol w="1170432"/>
              </a:tblGrid>
              <a:tr h="393192">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Variable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Category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Points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93192">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Age, years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16 to 29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30 to 39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40 to 49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50 to 59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60 to 69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70 or older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Sex</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Female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Male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Platelets, x 10^9/L</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200 or more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100 to 199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Under 100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Body"/>
          <p:cNvSpPr txBox="1"/>
          <p:nvPr/>
        </p:nvSpPr>
        <p:spPr>
          <a:xfrm>
            <a:off x="6858000" y="1371600"/>
            <a:ext cx="4754880" cy="1737360"/>
          </a:xfrm>
          <a:prstGeom prst="rect">
            <a:avLst/>
          </a:prstGeom>
          <a:noFill/>
          <a:ln/>
        </p:spPr>
        <p:txBody>
          <a:bodyPr wrap="square" lIns="50800" tIns="50800" rIns="50800" bIns="50800" rtlCol="0" anchor="t"/>
          <a:lstStyle/>
          <a:p>
            <a:pPr indent="0" marL="0">
              <a:spcBef>
                <a:spcPts val="600"/>
              </a:spcBef>
              <a:buNone/>
            </a:pPr>
            <a:r>
              <a:rPr lang="en-US" sz="2200" b="1" dirty="0">
                <a:solidFill>
                  <a:srgbClr val="000000"/>
                </a:solidFill>
                <a:latin typeface="Georgia" pitchFamily="34" charset="0"/>
                <a:ea typeface="Georgia" pitchFamily="34" charset="-122"/>
                <a:cs typeface="Georgia" pitchFamily="34" charset="-120"/>
              </a:rPr>
              <a:t>52-year-old man</a:t>
            </a:r>
            <a:endParaRPr lang="en-US" sz="2200" dirty="0"/>
          </a:p>
          <a:p>
            <a:pPr indent="0" marL="0">
              <a:spcBef>
                <a:spcPts val="600"/>
              </a:spcBef>
              <a:buNone/>
            </a:pPr>
            <a:r>
              <a:rPr lang="en-US" sz="2200" dirty="0">
                <a:solidFill>
                  <a:srgbClr val="000000"/>
                </a:solidFill>
                <a:latin typeface="Georgia" pitchFamily="34" charset="0"/>
                <a:ea typeface="Georgia" pitchFamily="34" charset="-122"/>
                <a:cs typeface="Georgia" pitchFamily="34" charset="-120"/>
              </a:rPr>
              <a:t>Started on TAF</a:t>
            </a:r>
            <a:endParaRPr lang="en-US" sz="2200" dirty="0"/>
          </a:p>
          <a:p>
            <a:pPr indent="0" marL="0">
              <a:spcBef>
                <a:spcPts val="600"/>
              </a:spcBef>
              <a:buNone/>
            </a:pPr>
            <a:r>
              <a:rPr lang="en-US" sz="2200" dirty="0">
                <a:solidFill>
                  <a:srgbClr val="000000"/>
                </a:solidFill>
                <a:latin typeface="Georgia" pitchFamily="34" charset="0"/>
                <a:ea typeface="Georgia" pitchFamily="34" charset="-122"/>
                <a:cs typeface="Georgia" pitchFamily="34" charset="-120"/>
              </a:rPr>
              <a:t>Platelets 190</a:t>
            </a:r>
            <a:endParaRPr lang="en-US" sz="2200" dirty="0"/>
          </a:p>
        </p:txBody>
      </p:sp>
      <p:sp>
        <p:nvSpPr>
          <p:cNvPr id="5" name="Question"/>
          <p:cNvSpPr txBox="1"/>
          <p:nvPr/>
        </p:nvSpPr>
        <p:spPr>
          <a:xfrm>
            <a:off x="6858000" y="3931920"/>
            <a:ext cx="4754880" cy="91440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is his PAGE-B score?</a:t>
            </a:r>
            <a:endParaRPr lang="en-US" sz="24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Points as printed in EASL 2025 Table 13. PAGE-B: Papatheodoridis GV et al. J Hepatol 2016.</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22/38</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Calculating PAGE-B</a:t>
            </a:r>
            <a:endParaRPr lang="en-US" sz="3000" dirty="0"/>
          </a:p>
        </p:txBody>
      </p:sp>
      <p:graphicFrame>
        <p:nvGraphicFramePr>
          <p:cNvPr id="39" name="Table"/>
          <p:cNvGraphicFramePr>
            <a:graphicFrameLocks noGrp="1"/>
          </p:cNvGraphicFramePr>
          <p:nvPr>
            <p:extLst>
              <p:ext uri="{D42A27DB-BD31-4B8C-83A1-F6EECF244321}">
                <p14:modId xmlns:p14="http://schemas.microsoft.com/office/powerpoint/2010/main" val="1579011935"/>
              </p:ext>
            </p:extLst>
          </p:nvPr>
        </p:nvGraphicFramePr>
        <p:xfrm>
          <a:off x="548640" y="1143000"/>
          <a:ext cx="5852160" cy="914400"/>
        </p:xfrm>
        <a:graphic>
          <a:graphicData uri="http://schemas.openxmlformats.org/drawingml/2006/table">
            <a:tbl>
              <a:tblPr/>
              <a:tblGrid>
                <a:gridCol w="2734056"/>
                <a:gridCol w="1947672"/>
                <a:gridCol w="1170432"/>
              </a:tblGrid>
              <a:tr h="393192">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Variable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Category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Points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93192">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Age, years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16 to 29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30 to 39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40 to 49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50 to 59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highlight>
                            <a:srgbClr val="FFFF00"/>
                          </a:highlight>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60 to 69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70 or older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Sex</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Female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Male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highlight>
                            <a:srgbClr val="FFFF00"/>
                          </a:highlight>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Platelets, x 10^9/L</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200 or more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100 to 199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highlight>
                            <a:srgbClr val="FFFF00"/>
                          </a:highlight>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Under 100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Body"/>
          <p:cNvSpPr txBox="1"/>
          <p:nvPr/>
        </p:nvSpPr>
        <p:spPr>
          <a:xfrm>
            <a:off x="6858000" y="1371600"/>
            <a:ext cx="4754880" cy="1737360"/>
          </a:xfrm>
          <a:prstGeom prst="rect">
            <a:avLst/>
          </a:prstGeom>
          <a:noFill/>
          <a:ln/>
        </p:spPr>
        <p:txBody>
          <a:bodyPr wrap="square" lIns="50800" tIns="50800" rIns="50800" bIns="50800" rtlCol="0" anchor="t"/>
          <a:lstStyle/>
          <a:p>
            <a:pPr indent="0" marL="0">
              <a:spcBef>
                <a:spcPts val="600"/>
              </a:spcBef>
              <a:buNone/>
            </a:pPr>
            <a:r>
              <a:rPr lang="en-US" sz="2200" b="1" dirty="0">
                <a:solidFill>
                  <a:srgbClr val="000000"/>
                </a:solidFill>
                <a:latin typeface="Georgia" pitchFamily="34" charset="0"/>
                <a:ea typeface="Georgia" pitchFamily="34" charset="-122"/>
                <a:cs typeface="Georgia" pitchFamily="34" charset="-120"/>
              </a:rPr>
              <a:t>52-year-old man</a:t>
            </a:r>
            <a:endParaRPr lang="en-US" sz="2200" dirty="0"/>
          </a:p>
          <a:p>
            <a:pPr indent="0" marL="0">
              <a:spcBef>
                <a:spcPts val="600"/>
              </a:spcBef>
              <a:buNone/>
            </a:pPr>
            <a:r>
              <a:rPr lang="en-US" sz="2200" dirty="0">
                <a:solidFill>
                  <a:srgbClr val="000000"/>
                </a:solidFill>
                <a:latin typeface="Georgia" pitchFamily="34" charset="0"/>
                <a:ea typeface="Georgia" pitchFamily="34" charset="-122"/>
                <a:cs typeface="Georgia" pitchFamily="34" charset="-120"/>
              </a:rPr>
              <a:t>Started on TAF</a:t>
            </a:r>
            <a:endParaRPr lang="en-US" sz="2200" dirty="0"/>
          </a:p>
          <a:p>
            <a:pPr indent="0" marL="0">
              <a:spcBef>
                <a:spcPts val="600"/>
              </a:spcBef>
              <a:buNone/>
            </a:pPr>
            <a:r>
              <a:rPr lang="en-US" sz="2200" dirty="0">
                <a:solidFill>
                  <a:srgbClr val="000000"/>
                </a:solidFill>
                <a:latin typeface="Georgia" pitchFamily="34" charset="0"/>
                <a:ea typeface="Georgia" pitchFamily="34" charset="-122"/>
                <a:cs typeface="Georgia" pitchFamily="34" charset="-120"/>
              </a:rPr>
              <a:t>Platelets 190</a:t>
            </a:r>
            <a:endParaRPr lang="en-US" sz="2200" dirty="0"/>
          </a:p>
        </p:txBody>
      </p:sp>
      <p:sp>
        <p:nvSpPr>
          <p:cNvPr id="5" name="Question"/>
          <p:cNvSpPr txBox="1"/>
          <p:nvPr/>
        </p:nvSpPr>
        <p:spPr>
          <a:xfrm>
            <a:off x="6858000" y="3474720"/>
            <a:ext cx="4754880" cy="548640"/>
          </a:xfrm>
          <a:prstGeom prst="rect">
            <a:avLst/>
          </a:prstGeom>
          <a:noFill/>
          <a:ln/>
        </p:spPr>
        <p:txBody>
          <a:bodyPr wrap="square" lIns="0" tIns="0" rIns="0" bIns="0" rtlCol="0" anchor="ctr"/>
          <a:lstStyle/>
          <a:p>
            <a:pPr algn="ctr" indent="0" marL="0">
              <a:buNone/>
            </a:pPr>
            <a:r>
              <a:rPr lang="en-US" sz="2800" b="1" dirty="0">
                <a:solidFill>
                  <a:srgbClr val="000000"/>
                </a:solidFill>
                <a:highlight>
                  <a:srgbClr val="FFFF00"/>
                </a:highlight>
                <a:latin typeface="Georgia" pitchFamily="34" charset="0"/>
                <a:ea typeface="Georgia" pitchFamily="34" charset="-122"/>
                <a:cs typeface="Georgia" pitchFamily="34" charset="-120"/>
              </a:rPr>
              <a:t>6 + 6 + 6 = 18</a:t>
            </a:r>
            <a:endParaRPr lang="en-US" sz="2800" dirty="0"/>
          </a:p>
        </p:txBody>
      </p:sp>
      <p:sp>
        <p:nvSpPr>
          <p:cNvPr id="6" name="Body"/>
          <p:cNvSpPr txBox="1"/>
          <p:nvPr/>
        </p:nvSpPr>
        <p:spPr>
          <a:xfrm>
            <a:off x="6858000" y="4297680"/>
            <a:ext cx="4754880" cy="1280160"/>
          </a:xfrm>
          <a:prstGeom prst="rect">
            <a:avLst/>
          </a:prstGeom>
          <a:noFill/>
          <a:ln/>
        </p:spPr>
        <p:txBody>
          <a:bodyPr wrap="square" lIns="50800" tIns="50800" rIns="50800" bIns="50800" rtlCol="0" anchor="t"/>
          <a:lstStyle/>
          <a:p>
            <a:pPr indent="0" marL="0">
              <a:spcBef>
                <a:spcPts val="800"/>
              </a:spcBef>
              <a:buNone/>
            </a:pPr>
            <a:r>
              <a:rPr lang="en-US" sz="2100" dirty="0">
                <a:solidFill>
                  <a:srgbClr val="000000"/>
                </a:solidFill>
                <a:latin typeface="Georgia" pitchFamily="34" charset="0"/>
                <a:ea typeface="Georgia" pitchFamily="34" charset="-122"/>
                <a:cs typeface="Georgia" pitchFamily="34" charset="-120"/>
              </a:rPr>
              <a:t>High risk: 18 or more</a:t>
            </a:r>
            <a:endParaRPr lang="en-US" sz="2100" dirty="0"/>
          </a:p>
          <a:p>
            <a:pPr indent="0" marL="0">
              <a:spcBef>
                <a:spcPts val="800"/>
              </a:spcBef>
              <a:buNone/>
            </a:pPr>
            <a:r>
              <a:rPr lang="en-US" sz="2100" dirty="0">
                <a:solidFill>
                  <a:srgbClr val="000000"/>
                </a:solidFill>
                <a:latin typeface="Georgia" pitchFamily="34" charset="0"/>
                <a:ea typeface="Georgia" pitchFamily="34" charset="-122"/>
                <a:cs typeface="Georgia" pitchFamily="34" charset="-120"/>
              </a:rPr>
              <a:t>5-year HCC about 16 to 17%</a:t>
            </a:r>
            <a:endParaRPr lang="en-US" sz="2100" dirty="0"/>
          </a:p>
        </p:txBody>
      </p:sp>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Points as printed in EASL 2025 Table 13. PAGE-B: Papatheodoridis GV et al. J Hepatol 2016.</a:t>
            </a:r>
            <a:endParaRPr lang="en-US" sz="1000" dirty="0"/>
          </a:p>
        </p:txBody>
      </p:sp>
      <p:sp>
        <p:nvSpPr>
          <p:cNvPr id="9"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22/38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Calculate it yourself</a:t>
            </a:r>
            <a:endParaRPr lang="en-US" sz="3000" dirty="0"/>
          </a:p>
        </p:txBody>
      </p:sp>
      <p:graphicFrame>
        <p:nvGraphicFramePr>
          <p:cNvPr id="40"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6583680" cy="914400"/>
        </p:xfrm>
        <a:graphic>
          <a:graphicData uri="http://schemas.openxmlformats.org/drawingml/2006/table">
            <a:tbl>
              <a:tblPr/>
              <a:tblGrid>
                <a:gridCol w="1380744"/>
                <a:gridCol w="2615184"/>
                <a:gridCol w="2587752"/>
              </a:tblGrid>
              <a:tr h="685800">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PAGE-B</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5-year HCC, derivation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5-year HCC, validation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685800">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9 or less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85800">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10 to 17</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85800">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18 or more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17%</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16%</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pic>
        <p:nvPicPr>
          <p:cNvPr id="4" name="Image 0" descr="QR code to the HBV HCC risk calculator">    </p:cNvPr>
          <p:cNvPicPr>
            <a:picLocks noChangeAspect="1"/>
          </p:cNvPicPr>
          <p:nvPr/>
        </p:nvPicPr>
        <p:blipFill>
          <a:blip r:embed="rId1"/>
          <a:stretch>
            <a:fillRect/>
          </a:stretch>
        </p:blipFill>
        <p:spPr>
          <a:xfrm>
            <a:off x="8412480" y="1371600"/>
            <a:ext cx="2743200" cy="2743200"/>
          </a:xfrm>
          <a:prstGeom prst="rect">
            <a:avLst/>
          </a:prstGeom>
        </p:spPr>
      </p:pic>
      <p:sp>
        <p:nvSpPr>
          <p:cNvPr id="5" name="Text 1"/>
          <p:cNvSpPr txBox="1"/>
          <p:nvPr/>
        </p:nvSpPr>
        <p:spPr>
          <a:xfrm>
            <a:off x="7498080" y="4160520"/>
            <a:ext cx="4572000" cy="365760"/>
          </a:xfrm>
          <a:prstGeom prst="rect">
            <a:avLst/>
          </a:prstGeom>
          <a:noFill/>
          <a:ln/>
        </p:spPr>
        <p:txBody>
          <a:bodyPr wrap="square" lIns="0" tIns="0" rIns="0" bIns="0" rtlCol="0" anchor="ctr"/>
          <a:lstStyle/>
          <a:p>
            <a:pPr algn="ctr" indent="0" marL="0">
              <a:buNone/>
            </a:pPr>
            <a:r>
              <a:rPr lang="en-US" sz="1700" dirty="0">
                <a:solidFill>
                  <a:srgbClr val="000000"/>
                </a:solidFill>
                <a:latin typeface="Georgia" pitchFamily="34" charset="0"/>
                <a:ea typeface="Georgia" pitchFamily="34" charset="-122"/>
                <a:cs typeface="Georgia" pitchFamily="34" charset="-120"/>
              </a:rPr>
              <a:t>qaddodi.github.io/chb-hcc-risk</a:t>
            </a:r>
            <a:endParaRPr lang="en-US" sz="1700" dirty="0"/>
          </a:p>
        </p:txBody>
      </p:sp>
      <p:sp>
        <p:nvSpPr>
          <p:cNvPr id="6" name="Body"/>
          <p:cNvSpPr txBox="1"/>
          <p:nvPr/>
        </p:nvSpPr>
        <p:spPr>
          <a:xfrm>
            <a:off x="548640" y="4114800"/>
            <a:ext cx="6675120" cy="2011680"/>
          </a:xfrm>
          <a:prstGeom prst="rect">
            <a:avLst/>
          </a:prstGeom>
          <a:noFill/>
          <a:ln/>
        </p:spPr>
        <p:txBody>
          <a:bodyPr wrap="square" lIns="50800" tIns="50800" rIns="50800" bIns="50800" rtlCol="0" anchor="t"/>
          <a:lstStyle/>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PAGE-B was built in treated patients; REACH-B was built in untreated patients</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The HBsAg-based model on the site is a 2026 research model, not validated</a:t>
            </a:r>
            <a:endParaRPr lang="en-US" sz="1900" dirty="0"/>
          </a:p>
        </p:txBody>
      </p:sp>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PAGE-B: Papatheodoridis GV et al. J Hepatol 2016. VA validation: Kim 2022.</a:t>
            </a:r>
            <a:endParaRPr lang="en-US" sz="1000" dirty="0"/>
          </a:p>
        </p:txBody>
      </p:sp>
      <p:sp>
        <p:nvSpPr>
          <p:cNvPr id="9"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23/38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Who gets surveillance?</a:t>
            </a:r>
            <a:endParaRPr lang="en-US" sz="3000" dirty="0"/>
          </a:p>
        </p:txBody>
      </p:sp>
      <p:sp>
        <p:nvSpPr>
          <p:cNvPr id="3" name="Question"/>
          <p:cNvSpPr txBox="1"/>
          <p:nvPr/>
        </p:nvSpPr>
        <p:spPr>
          <a:xfrm>
            <a:off x="365760" y="1097280"/>
            <a:ext cx="7680960"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Ultrasound and AFP every 6 months?</a:t>
            </a:r>
            <a:endParaRPr lang="en-US" sz="2400" dirty="0"/>
          </a:p>
        </p:txBody>
      </p:sp>
      <p:pic>
        <p:nvPicPr>
          <p:cNvPr id="4" name="Image 0" descr="Watercolor of an abdominal ultrasound probe">    </p:cNvPr>
          <p:cNvPicPr>
            <a:picLocks noChangeAspect="1"/>
          </p:cNvPicPr>
          <p:nvPr/>
        </p:nvPicPr>
        <p:blipFill>
          <a:blip r:embed="rId1"/>
          <a:stretch>
            <a:fillRect/>
          </a:stretch>
        </p:blipFill>
        <p:spPr>
          <a:xfrm>
            <a:off x="8046720" y="1188720"/>
            <a:ext cx="4023360" cy="4023360"/>
          </a:xfrm>
          <a:prstGeom prst="rect">
            <a:avLst/>
          </a:prstGeom>
        </p:spPr>
      </p:pic>
      <p:graphicFrame>
        <p:nvGraphicFramePr>
          <p:cNvPr id="41" name="Table"/>
          <p:cNvGraphicFramePr>
            <a:graphicFrameLocks noGrp="1"/>
          </p:cNvGraphicFramePr>
          <p:nvPr>
            <p:extLst>
              <p:ext uri="{D42A27DB-BD31-4B8C-83A1-F6EECF244321}">
                <p14:modId xmlns:p14="http://schemas.microsoft.com/office/powerpoint/2010/main" val="1579011935"/>
              </p:ext>
            </p:extLst>
          </p:nvPr>
        </p:nvGraphicFramePr>
        <p:xfrm>
          <a:off x="365760" y="1737360"/>
          <a:ext cx="7680960" cy="914400"/>
        </p:xfrm>
        <a:graphic>
          <a:graphicData uri="http://schemas.openxmlformats.org/drawingml/2006/table">
            <a:tbl>
              <a:tblPr/>
              <a:tblGrid>
                <a:gridCol w="6080760"/>
                <a:gridCol w="1600200"/>
              </a:tblGrid>
              <a:tr h="566928">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Patient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Surveillance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Compensated cirrhosis, Child-Pugh 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Man from an endemic region, age 38, no cirrhosis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Man from an endemic region, age 46, no cirrhosis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Woman from an endemic region, age 46, no cirrhosis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Family history of HCC</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PAGE-B score of 12</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 HCC practice guidance 2023, Table 1. Hepatology 2023;78:1922-1965, PMID 37199193.</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24/38</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Who gets surveillance?</a:t>
            </a:r>
            <a:endParaRPr lang="en-US" sz="3000" dirty="0"/>
          </a:p>
        </p:txBody>
      </p:sp>
      <p:sp>
        <p:nvSpPr>
          <p:cNvPr id="3" name="Question"/>
          <p:cNvSpPr txBox="1"/>
          <p:nvPr/>
        </p:nvSpPr>
        <p:spPr>
          <a:xfrm>
            <a:off x="365760" y="1097280"/>
            <a:ext cx="7680960"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Ultrasound and AFP every 6 months?</a:t>
            </a:r>
            <a:endParaRPr lang="en-US" sz="2400" dirty="0"/>
          </a:p>
        </p:txBody>
      </p:sp>
      <p:pic>
        <p:nvPicPr>
          <p:cNvPr id="4" name="Image 0" descr="Watercolor of an abdominal ultrasound probe">    </p:cNvPr>
          <p:cNvPicPr>
            <a:picLocks noChangeAspect="1"/>
          </p:cNvPicPr>
          <p:nvPr/>
        </p:nvPicPr>
        <p:blipFill>
          <a:blip r:embed="rId1"/>
          <a:stretch>
            <a:fillRect/>
          </a:stretch>
        </p:blipFill>
        <p:spPr>
          <a:xfrm>
            <a:off x="8046720" y="1188720"/>
            <a:ext cx="4023360" cy="4023360"/>
          </a:xfrm>
          <a:prstGeom prst="rect">
            <a:avLst/>
          </a:prstGeom>
        </p:spPr>
      </p:pic>
      <p:graphicFrame>
        <p:nvGraphicFramePr>
          <p:cNvPr id="42" name="Table"/>
          <p:cNvGraphicFramePr>
            <a:graphicFrameLocks noGrp="1"/>
          </p:cNvGraphicFramePr>
          <p:nvPr>
            <p:extLst>
              <p:ext uri="{D42A27DB-BD31-4B8C-83A1-F6EECF244321}">
                <p14:modId xmlns:p14="http://schemas.microsoft.com/office/powerpoint/2010/main" val="1579011935"/>
              </p:ext>
            </p:extLst>
          </p:nvPr>
        </p:nvGraphicFramePr>
        <p:xfrm>
          <a:off x="365760" y="1737360"/>
          <a:ext cx="7680960" cy="914400"/>
        </p:xfrm>
        <a:graphic>
          <a:graphicData uri="http://schemas.openxmlformats.org/drawingml/2006/table">
            <a:tbl>
              <a:tblPr/>
              <a:tblGrid>
                <a:gridCol w="6080760"/>
                <a:gridCol w="1600200"/>
              </a:tblGrid>
              <a:tr h="566928">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Patient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Surveillance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Compensated cirrhosis, Child-Pugh 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Man from an endemic region, age 38, no cirrhosis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No</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Man from an endemic region, age 46, no cirrhosis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Woman from an endemic region, age 46, no cirrhosis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No</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Family history of HCC</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PAGE-B score of 12</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 HCC practice guidance 2023, Table 1. Hepatology 2023;78:1922-1965, PMID 37199193.</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24/38</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HCC surveillance: summary</a:t>
            </a:r>
            <a:endParaRPr lang="en-US" sz="3000" dirty="0"/>
          </a:p>
        </p:txBody>
      </p:sp>
      <p:sp>
        <p:nvSpPr>
          <p:cNvPr id="3" name="Body"/>
          <p:cNvSpPr txBox="1"/>
          <p:nvPr/>
        </p:nvSpPr>
        <p:spPr>
          <a:xfrm>
            <a:off x="548640" y="1188720"/>
            <a:ext cx="6949440" cy="5029200"/>
          </a:xfrm>
          <a:prstGeom prst="rect">
            <a:avLst/>
          </a:prstGeom>
          <a:noFill/>
          <a:ln/>
        </p:spPr>
        <p:txBody>
          <a:bodyPr wrap="square" lIns="50800" tIns="50800" rIns="50800" bIns="50800" rtlCol="0" anchor="t"/>
          <a:lstStyle/>
          <a:p>
            <a:pPr marL="228600" indent="-228600">
              <a:spcBef>
                <a:spcPts val="800"/>
              </a:spcBef>
              <a:buSzPct val="100000"/>
              <a:buChar char="–"/>
            </a:pPr>
            <a:r>
              <a:rPr lang="en-US" sz="2100" b="1" dirty="0">
                <a:solidFill>
                  <a:srgbClr val="000000"/>
                </a:solidFill>
                <a:latin typeface="Georgia" pitchFamily="34" charset="0"/>
                <a:ea typeface="Georgia" pitchFamily="34" charset="-122"/>
                <a:cs typeface="Georgia" pitchFamily="34" charset="-120"/>
              </a:rPr>
              <a:t>Ultrasound and AFP every 6 months</a:t>
            </a:r>
            <a:endParaRPr lang="en-US" sz="2100" dirty="0"/>
          </a:p>
          <a:p>
            <a:pPr marL="228600" indent="-228600">
              <a:spcBef>
                <a:spcPts val="800"/>
              </a:spcBef>
              <a:buSzPct val="100000"/>
              <a:buChar char="–"/>
            </a:pPr>
            <a:r>
              <a:rPr lang="en-US" sz="2100" dirty="0">
                <a:solidFill>
                  <a:srgbClr val="000000"/>
                </a:solidFill>
                <a:latin typeface="Georgia" pitchFamily="34" charset="0"/>
                <a:ea typeface="Georgia" pitchFamily="34" charset="-122"/>
                <a:cs typeface="Georgia" pitchFamily="34" charset="-120"/>
              </a:rPr>
              <a:t>Cirrhosis</a:t>
            </a:r>
            <a:endParaRPr lang="en-US" sz="2100" dirty="0"/>
          </a:p>
          <a:p>
            <a:pPr marL="228600" indent="-228600">
              <a:spcBef>
                <a:spcPts val="800"/>
              </a:spcBef>
              <a:buSzPct val="100000"/>
              <a:buChar char="–"/>
            </a:pPr>
            <a:r>
              <a:rPr lang="en-US" sz="2100" dirty="0">
                <a:solidFill>
                  <a:srgbClr val="000000"/>
                </a:solidFill>
                <a:latin typeface="Georgia" pitchFamily="34" charset="0"/>
                <a:ea typeface="Georgia" pitchFamily="34" charset="-122"/>
                <a:cs typeface="Georgia" pitchFamily="34" charset="-120"/>
              </a:rPr>
              <a:t>No cirrhosis, from an endemic region: men over 40, women over 50; people of African origin earlier</a:t>
            </a:r>
            <a:endParaRPr lang="en-US" sz="2100" dirty="0"/>
          </a:p>
          <a:p>
            <a:pPr marL="228600" indent="-228600">
              <a:spcBef>
                <a:spcPts val="800"/>
              </a:spcBef>
              <a:buSzPct val="100000"/>
              <a:buChar char="–"/>
            </a:pPr>
            <a:r>
              <a:rPr lang="en-US" sz="2100" dirty="0">
                <a:solidFill>
                  <a:srgbClr val="000000"/>
                </a:solidFill>
                <a:latin typeface="Georgia" pitchFamily="34" charset="0"/>
                <a:ea typeface="Georgia" pitchFamily="34" charset="-122"/>
                <a:cs typeface="Georgia" pitchFamily="34" charset="-120"/>
              </a:rPr>
              <a:t>Family history of HCC</a:t>
            </a:r>
            <a:endParaRPr lang="en-US" sz="2100" dirty="0"/>
          </a:p>
          <a:p>
            <a:pPr marL="228600" indent="-228600">
              <a:spcBef>
                <a:spcPts val="800"/>
              </a:spcBef>
              <a:buSzPct val="100000"/>
              <a:buChar char="–"/>
            </a:pPr>
            <a:r>
              <a:rPr lang="en-US" sz="2100" dirty="0">
                <a:solidFill>
                  <a:srgbClr val="000000"/>
                </a:solidFill>
                <a:latin typeface="Georgia" pitchFamily="34" charset="0"/>
                <a:ea typeface="Georgia" pitchFamily="34" charset="-122"/>
                <a:cs typeface="Georgia" pitchFamily="34" charset="-120"/>
              </a:rPr>
              <a:t>PAGE-B 10 or more</a:t>
            </a:r>
            <a:endParaRPr lang="en-US" sz="2100" dirty="0"/>
          </a:p>
          <a:p>
            <a:pPr marL="228600" indent="-228600">
              <a:spcBef>
                <a:spcPts val="800"/>
              </a:spcBef>
              <a:buSzPct val="100000"/>
              <a:buChar char="–"/>
            </a:pPr>
            <a:r>
              <a:rPr lang="en-US" sz="2100" dirty="0">
                <a:solidFill>
                  <a:srgbClr val="000000"/>
                </a:solidFill>
                <a:latin typeface="Georgia" pitchFamily="34" charset="0"/>
                <a:ea typeface="Georgia" pitchFamily="34" charset="-122"/>
                <a:cs typeface="Georgia" pitchFamily="34" charset="-120"/>
              </a:rPr>
              <a:t>Hepatitis D coinfection</a:t>
            </a:r>
            <a:endParaRPr lang="en-US" sz="2100" dirty="0"/>
          </a:p>
          <a:p>
            <a:pPr marL="228600" indent="-228600">
              <a:spcBef>
                <a:spcPts val="800"/>
              </a:spcBef>
              <a:buSzPct val="100000"/>
              <a:buChar char="–"/>
            </a:pPr>
            <a:r>
              <a:rPr lang="en-US" sz="2100" b="1" dirty="0">
                <a:solidFill>
                  <a:srgbClr val="000000"/>
                </a:solidFill>
                <a:latin typeface="Georgia" pitchFamily="34" charset="0"/>
                <a:ea typeface="Georgia" pitchFamily="34" charset="-122"/>
                <a:cs typeface="Georgia" pitchFamily="34" charset="-120"/>
              </a:rPr>
              <a:t>Keep going after HBsAg loss if:</a:t>
            </a:r>
            <a:endParaRPr lang="en-US" sz="2100" dirty="0"/>
          </a:p>
          <a:p>
            <a:pPr marL="228600" indent="-228600">
              <a:spcBef>
                <a:spcPts val="800"/>
              </a:spcBef>
              <a:buSzPct val="100000"/>
              <a:buChar char="–"/>
            </a:pPr>
            <a:r>
              <a:rPr lang="en-US" sz="2100" dirty="0">
                <a:solidFill>
                  <a:srgbClr val="000000"/>
                </a:solidFill>
                <a:latin typeface="Georgia" pitchFamily="34" charset="0"/>
                <a:ea typeface="Georgia" pitchFamily="34" charset="-122"/>
                <a:cs typeface="Georgia" pitchFamily="34" charset="-120"/>
              </a:rPr>
              <a:t>Cirrhosis or a family history of HCC, or HBsAg lost after 40 in men and after 50 in women</a:t>
            </a:r>
            <a:endParaRPr lang="en-US" sz="2100" dirty="0"/>
          </a:p>
        </p:txBody>
      </p:sp>
      <p:pic>
        <p:nvPicPr>
          <p:cNvPr id="4" name="Image 0" descr="Watercolor of an abdominal ultrasound probe">    </p:cNvPr>
          <p:cNvPicPr>
            <a:picLocks noChangeAspect="1"/>
          </p:cNvPicPr>
          <p:nvPr/>
        </p:nvPicPr>
        <p:blipFill>
          <a:blip r:embed="rId1"/>
          <a:stretch>
            <a:fillRect/>
          </a:stretch>
        </p:blipFill>
        <p:spPr>
          <a:xfrm>
            <a:off x="7772400" y="1280160"/>
            <a:ext cx="4114800" cy="4114800"/>
          </a:xfrm>
          <a:prstGeom prst="rect">
            <a:avLst/>
          </a:prstGeom>
        </p:spPr>
      </p:pic>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 HCC guidance 2023, Table 1 (PMID 37199193); AASLD/IDSA 2025 R6 to R9 (PMID 41186418).</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25/38</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Risk of HBV reactivation</a:t>
            </a:r>
            <a:endParaRPr lang="en-US" sz="3000" dirty="0"/>
          </a:p>
        </p:txBody>
      </p:sp>
      <p:sp>
        <p:nvSpPr>
          <p:cNvPr id="3" name="Question"/>
          <p:cNvSpPr txBox="1"/>
          <p:nvPr/>
        </p:nvSpPr>
        <p:spPr>
          <a:xfrm>
            <a:off x="822960" y="109728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latin typeface="Georgia" pitchFamily="34" charset="0"/>
                <a:ea typeface="Georgia" pitchFamily="34" charset="-122"/>
                <a:cs typeface="Georgia" pitchFamily="34" charset="-120"/>
              </a:rPr>
              <a:t>How risky is each drug if HBsAg is negative and anti-HBc is positive?</a:t>
            </a:r>
            <a:endParaRPr lang="en-US" sz="2200" dirty="0"/>
          </a:p>
        </p:txBody>
      </p:sp>
      <p:graphicFrame>
        <p:nvGraphicFramePr>
          <p:cNvPr id="44" name="Table"/>
          <p:cNvGraphicFramePr>
            <a:graphicFrameLocks noGrp="1"/>
          </p:cNvGraphicFramePr>
          <p:nvPr>
            <p:extLst>
              <p:ext uri="{D42A27DB-BD31-4B8C-83A1-F6EECF244321}">
                <p14:modId xmlns:p14="http://schemas.microsoft.com/office/powerpoint/2010/main" val="1579011935"/>
              </p:ext>
            </p:extLst>
          </p:nvPr>
        </p:nvGraphicFramePr>
        <p:xfrm>
          <a:off x="1097280" y="1691640"/>
          <a:ext cx="9997135" cy="914400"/>
        </p:xfrm>
        <a:graphic>
          <a:graphicData uri="http://schemas.openxmlformats.org/drawingml/2006/table">
            <a:tbl>
              <a:tblPr/>
              <a:tblGrid>
                <a:gridCol w="7251192"/>
                <a:gridCol w="2743200"/>
              </a:tblGrid>
              <a:tr h="548640">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Drug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Reactivation risk</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Rituximab or other anti-CD20</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Anthracyclines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JAK inhibitors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Prednisone 20 mg or more for 4 weeks or longer</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Anti-TNF</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Immune checkpoint inhibitors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Methotrexate, azathioprine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AGA guideline 2025, Table 6. Gastroenterology 2025;168:267-284, PMID 39863345. High above 10%, moderate 1 to 10%, low below 1%.</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26/38</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Risk of HBV reactivation</a:t>
            </a:r>
            <a:endParaRPr lang="en-US" sz="3000" dirty="0"/>
          </a:p>
        </p:txBody>
      </p:sp>
      <p:sp>
        <p:nvSpPr>
          <p:cNvPr id="3" name="Question"/>
          <p:cNvSpPr txBox="1"/>
          <p:nvPr/>
        </p:nvSpPr>
        <p:spPr>
          <a:xfrm>
            <a:off x="822960" y="109728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latin typeface="Georgia" pitchFamily="34" charset="0"/>
                <a:ea typeface="Georgia" pitchFamily="34" charset="-122"/>
                <a:cs typeface="Georgia" pitchFamily="34" charset="-120"/>
              </a:rPr>
              <a:t>How risky is each drug if HBsAg is negative and anti-HBc is positive?</a:t>
            </a:r>
            <a:endParaRPr lang="en-US" sz="2200" dirty="0"/>
          </a:p>
        </p:txBody>
      </p:sp>
      <p:graphicFrame>
        <p:nvGraphicFramePr>
          <p:cNvPr id="45" name="Table"/>
          <p:cNvGraphicFramePr>
            <a:graphicFrameLocks noGrp="1"/>
          </p:cNvGraphicFramePr>
          <p:nvPr>
            <p:extLst>
              <p:ext uri="{D42A27DB-BD31-4B8C-83A1-F6EECF244321}">
                <p14:modId xmlns:p14="http://schemas.microsoft.com/office/powerpoint/2010/main" val="1579011935"/>
              </p:ext>
            </p:extLst>
          </p:nvPr>
        </p:nvGraphicFramePr>
        <p:xfrm>
          <a:off x="1097280" y="1691640"/>
          <a:ext cx="9997135" cy="914400"/>
        </p:xfrm>
        <a:graphic>
          <a:graphicData uri="http://schemas.openxmlformats.org/drawingml/2006/table">
            <a:tbl>
              <a:tblPr/>
              <a:tblGrid>
                <a:gridCol w="7251192"/>
                <a:gridCol w="2743200"/>
              </a:tblGrid>
              <a:tr h="548640">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Drug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Reactivation risk</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Rituximab or other anti-CD20</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C00000"/>
                          </a:solidFill>
                          <a:latin typeface="Calibri" pitchFamily="34" charset="0"/>
                          <a:ea typeface="Calibri" pitchFamily="34" charset="-122"/>
                          <a:cs typeface="Calibri" pitchFamily="34" charset="-120"/>
                        </a:rPr>
                        <a:t>High</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Anthracyclines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Moderate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JAK inhibitors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Moderate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Prednisone 20 mg or more for 4 weeks or longer</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Moderate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Anti-TNF</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Low</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Immune checkpoint inhibitors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Low</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Methotrexate, azathioprine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Low</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AGA guideline 2025, Table 6. Gastroenterology 2025;168:267-284, PMID 39863345. High above 10%, moderate 1 to 10%, low below 1%.</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26/38</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Rituximab, six cycles</a:t>
            </a:r>
            <a:endParaRPr lang="en-US" sz="3000" dirty="0"/>
          </a:p>
        </p:txBody>
      </p:sp>
      <p:sp>
        <p:nvSpPr>
          <p:cNvPr id="3" name="Question"/>
          <p:cNvSpPr txBox="1"/>
          <p:nvPr/>
        </p:nvSpPr>
        <p:spPr>
          <a:xfrm>
            <a:off x="274320" y="1097280"/>
            <a:ext cx="7680960"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do you give, and for how long?</a:t>
            </a:r>
            <a:endParaRPr lang="en-US" sz="2400" dirty="0"/>
          </a:p>
        </p:txBody>
      </p:sp>
      <p:pic>
        <p:nvPicPr>
          <p:cNvPr id="4" name="Image 0" descr="Watercolor of an IV bag and infusion pump on a pole">    </p:cNvPr>
          <p:cNvPicPr>
            <a:picLocks noChangeAspect="1"/>
          </p:cNvPicPr>
          <p:nvPr/>
        </p:nvPicPr>
        <p:blipFill>
          <a:blip r:embed="rId1"/>
          <a:stretch>
            <a:fillRect/>
          </a:stretch>
        </p:blipFill>
        <p:spPr>
          <a:xfrm>
            <a:off x="7772400" y="1005840"/>
            <a:ext cx="4297680" cy="4297680"/>
          </a:xfrm>
          <a:prstGeom prst="rect">
            <a:avLst/>
          </a:prstGeom>
        </p:spPr>
      </p:pic>
      <p:sp>
        <p:nvSpPr>
          <p:cNvPr id="5" name="Shape 2"/>
          <p:cNvSpPr/>
          <p:nvPr/>
        </p:nvSpPr>
        <p:spPr>
          <a:xfrm>
            <a:off x="2468880" y="2011680"/>
            <a:ext cx="0" cy="1737360"/>
          </a:xfrm>
          <a:prstGeom prst="line">
            <a:avLst/>
          </a:prstGeom>
          <a:noFill/>
          <a:ln w="9525">
            <a:solidFill>
              <a:srgbClr val="D9D9D9"/>
            </a:solidFill>
            <a:prstDash val="solid"/>
          </a:ln>
        </p:spPr>
      </p:sp>
      <p:sp>
        <p:nvSpPr>
          <p:cNvPr id="6" name="Text 3"/>
          <p:cNvSpPr txBox="1"/>
          <p:nvPr/>
        </p:nvSpPr>
        <p:spPr>
          <a:xfrm>
            <a:off x="1569720" y="3794760"/>
            <a:ext cx="1798320"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Start</a:t>
            </a:r>
            <a:endParaRPr lang="en-US" sz="1600" dirty="0"/>
          </a:p>
        </p:txBody>
      </p:sp>
      <p:sp>
        <p:nvSpPr>
          <p:cNvPr id="7" name="Shape 4"/>
          <p:cNvSpPr/>
          <p:nvPr/>
        </p:nvSpPr>
        <p:spPr>
          <a:xfrm>
            <a:off x="4267200" y="2011680"/>
            <a:ext cx="0" cy="1737360"/>
          </a:xfrm>
          <a:prstGeom prst="line">
            <a:avLst/>
          </a:prstGeom>
          <a:noFill/>
          <a:ln w="9525">
            <a:solidFill>
              <a:srgbClr val="D9D9D9"/>
            </a:solidFill>
            <a:prstDash val="solid"/>
          </a:ln>
        </p:spPr>
      </p:sp>
      <p:sp>
        <p:nvSpPr>
          <p:cNvPr id="8" name="Text 5"/>
          <p:cNvSpPr txBox="1"/>
          <p:nvPr/>
        </p:nvSpPr>
        <p:spPr>
          <a:xfrm>
            <a:off x="3368040" y="3794760"/>
            <a:ext cx="1798320"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Month 6</a:t>
            </a:r>
            <a:endParaRPr lang="en-US" sz="1600" dirty="0"/>
          </a:p>
        </p:txBody>
      </p:sp>
      <p:sp>
        <p:nvSpPr>
          <p:cNvPr id="9" name="Shape 6"/>
          <p:cNvSpPr/>
          <p:nvPr/>
        </p:nvSpPr>
        <p:spPr>
          <a:xfrm>
            <a:off x="6065520" y="2011680"/>
            <a:ext cx="0" cy="1737360"/>
          </a:xfrm>
          <a:prstGeom prst="line">
            <a:avLst/>
          </a:prstGeom>
          <a:noFill/>
          <a:ln w="9525">
            <a:solidFill>
              <a:srgbClr val="D9D9D9"/>
            </a:solidFill>
            <a:prstDash val="solid"/>
          </a:ln>
        </p:spPr>
      </p:sp>
      <p:sp>
        <p:nvSpPr>
          <p:cNvPr id="10" name="Text 7"/>
          <p:cNvSpPr txBox="1"/>
          <p:nvPr/>
        </p:nvSpPr>
        <p:spPr>
          <a:xfrm>
            <a:off x="5166360" y="3794760"/>
            <a:ext cx="1798320"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Month 12</a:t>
            </a:r>
            <a:endParaRPr lang="en-US" sz="1600" dirty="0"/>
          </a:p>
        </p:txBody>
      </p:sp>
      <p:sp>
        <p:nvSpPr>
          <p:cNvPr id="11" name="Shape 8"/>
          <p:cNvSpPr/>
          <p:nvPr/>
        </p:nvSpPr>
        <p:spPr>
          <a:xfrm>
            <a:off x="7863840" y="2011680"/>
            <a:ext cx="0" cy="1737360"/>
          </a:xfrm>
          <a:prstGeom prst="line">
            <a:avLst/>
          </a:prstGeom>
          <a:noFill/>
          <a:ln w="9525">
            <a:solidFill>
              <a:srgbClr val="D9D9D9"/>
            </a:solidFill>
            <a:prstDash val="solid"/>
          </a:ln>
        </p:spPr>
      </p:sp>
      <p:sp>
        <p:nvSpPr>
          <p:cNvPr id="12" name="Text 9"/>
          <p:cNvSpPr txBox="1"/>
          <p:nvPr/>
        </p:nvSpPr>
        <p:spPr>
          <a:xfrm>
            <a:off x="6964680" y="3794760"/>
            <a:ext cx="1798320"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Month 18</a:t>
            </a:r>
            <a:endParaRPr lang="en-US" sz="1600" dirty="0"/>
          </a:p>
        </p:txBody>
      </p:sp>
      <p:sp>
        <p:nvSpPr>
          <p:cNvPr id="13" name="Text 10"/>
          <p:cNvSpPr txBox="1"/>
          <p:nvPr/>
        </p:nvSpPr>
        <p:spPr>
          <a:xfrm>
            <a:off x="182880" y="2084832"/>
            <a:ext cx="2148840" cy="676656"/>
          </a:xfrm>
          <a:prstGeom prst="rect">
            <a:avLst/>
          </a:prstGeom>
          <a:noFill/>
          <a:ln/>
        </p:spPr>
        <p:txBody>
          <a:bodyPr wrap="square" lIns="0" tIns="0" rIns="0" bIns="0" rtlCol="0" anchor="ctr"/>
          <a:lstStyle/>
          <a:p>
            <a:pPr algn="r" indent="0" marL="0">
              <a:buNone/>
            </a:pPr>
            <a:r>
              <a:rPr lang="en-US" sz="1600" dirty="0">
                <a:solidFill>
                  <a:srgbClr val="000000"/>
                </a:solidFill>
                <a:latin typeface="Georgia" pitchFamily="34" charset="0"/>
                <a:ea typeface="Georgia" pitchFamily="34" charset="-122"/>
                <a:cs typeface="Georgia" pitchFamily="34" charset="-120"/>
              </a:rPr>
              <a:t>Rituximab</a:t>
            </a:r>
            <a:endParaRPr lang="en-US" sz="1600" dirty="0"/>
          </a:p>
        </p:txBody>
      </p:sp>
      <p:sp>
        <p:nvSpPr>
          <p:cNvPr id="14" name="Shape 11"/>
          <p:cNvSpPr/>
          <p:nvPr/>
        </p:nvSpPr>
        <p:spPr>
          <a:xfrm>
            <a:off x="2468880" y="2084832"/>
            <a:ext cx="1708404" cy="676656"/>
          </a:xfrm>
          <a:prstGeom prst="rect">
            <a:avLst/>
          </a:prstGeom>
          <a:solidFill>
            <a:srgbClr val="9DB4CA"/>
          </a:solidFill>
          <a:ln w="6350">
            <a:solidFill>
              <a:srgbClr val="9DB4CA"/>
            </a:solidFill>
            <a:prstDash val="solid"/>
          </a:ln>
        </p:spPr>
      </p:sp>
      <p:sp>
        <p:nvSpPr>
          <p:cNvPr id="15" name="Text 12"/>
          <p:cNvSpPr txBox="1"/>
          <p:nvPr/>
        </p:nvSpPr>
        <p:spPr>
          <a:xfrm>
            <a:off x="182880" y="2907792"/>
            <a:ext cx="2148840" cy="676656"/>
          </a:xfrm>
          <a:prstGeom prst="rect">
            <a:avLst/>
          </a:prstGeom>
          <a:noFill/>
          <a:ln/>
        </p:spPr>
        <p:txBody>
          <a:bodyPr wrap="square" lIns="0" tIns="0" rIns="0" bIns="0" rtlCol="0" anchor="ctr"/>
          <a:lstStyle/>
          <a:p>
            <a:pPr algn="r" indent="0" marL="0">
              <a:buNone/>
            </a:pPr>
            <a:r>
              <a:rPr lang="en-US" sz="1600" dirty="0">
                <a:solidFill>
                  <a:srgbClr val="000000"/>
                </a:solidFill>
                <a:latin typeface="Georgia" pitchFamily="34" charset="0"/>
                <a:ea typeface="Georgia" pitchFamily="34" charset="-122"/>
                <a:cs typeface="Georgia" pitchFamily="34" charset="-120"/>
              </a:rPr>
              <a:t>Entecavir, TDF or TAF</a:t>
            </a:r>
            <a:endParaRPr lang="en-US" sz="1600" dirty="0"/>
          </a:p>
        </p:txBody>
      </p:sp>
      <p:sp>
        <p:nvSpPr>
          <p:cNvPr id="1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AGA 2025 (PMID 39863345); AASLD 2018 (PMID 29405329); EASL 2025 (PMID 40348683).</a:t>
            </a:r>
            <a:endParaRPr lang="en-US" sz="1000" dirty="0"/>
          </a:p>
        </p:txBody>
      </p:sp>
      <p:sp>
        <p:nvSpPr>
          <p:cNvPr id="1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27/38</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Rituximab, six cycles</a:t>
            </a:r>
            <a:endParaRPr lang="en-US" sz="3000" dirty="0"/>
          </a:p>
        </p:txBody>
      </p:sp>
      <p:sp>
        <p:nvSpPr>
          <p:cNvPr id="3" name="Question"/>
          <p:cNvSpPr txBox="1"/>
          <p:nvPr/>
        </p:nvSpPr>
        <p:spPr>
          <a:xfrm>
            <a:off x="274320" y="1097280"/>
            <a:ext cx="7680960"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do you give, and for how long?</a:t>
            </a:r>
            <a:endParaRPr lang="en-US" sz="2400" dirty="0"/>
          </a:p>
        </p:txBody>
      </p:sp>
      <p:pic>
        <p:nvPicPr>
          <p:cNvPr id="4" name="Image 0" descr="Watercolor of an IV bag and infusion pump on a pole">    </p:cNvPr>
          <p:cNvPicPr>
            <a:picLocks noChangeAspect="1"/>
          </p:cNvPicPr>
          <p:nvPr/>
        </p:nvPicPr>
        <p:blipFill>
          <a:blip r:embed="rId1"/>
          <a:stretch>
            <a:fillRect/>
          </a:stretch>
        </p:blipFill>
        <p:spPr>
          <a:xfrm>
            <a:off x="7772400" y="1005840"/>
            <a:ext cx="4297680" cy="4297680"/>
          </a:xfrm>
          <a:prstGeom prst="rect">
            <a:avLst/>
          </a:prstGeom>
        </p:spPr>
      </p:pic>
      <p:sp>
        <p:nvSpPr>
          <p:cNvPr id="5" name="Shape 2"/>
          <p:cNvSpPr/>
          <p:nvPr/>
        </p:nvSpPr>
        <p:spPr>
          <a:xfrm>
            <a:off x="2468880" y="2011680"/>
            <a:ext cx="0" cy="1737360"/>
          </a:xfrm>
          <a:prstGeom prst="line">
            <a:avLst/>
          </a:prstGeom>
          <a:noFill/>
          <a:ln w="9525">
            <a:solidFill>
              <a:srgbClr val="D9D9D9"/>
            </a:solidFill>
            <a:prstDash val="solid"/>
          </a:ln>
        </p:spPr>
      </p:sp>
      <p:sp>
        <p:nvSpPr>
          <p:cNvPr id="6" name="Text 3"/>
          <p:cNvSpPr txBox="1"/>
          <p:nvPr/>
        </p:nvSpPr>
        <p:spPr>
          <a:xfrm>
            <a:off x="1569720" y="3794760"/>
            <a:ext cx="1798320"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Start</a:t>
            </a:r>
            <a:endParaRPr lang="en-US" sz="1600" dirty="0"/>
          </a:p>
        </p:txBody>
      </p:sp>
      <p:sp>
        <p:nvSpPr>
          <p:cNvPr id="7" name="Shape 4"/>
          <p:cNvSpPr/>
          <p:nvPr/>
        </p:nvSpPr>
        <p:spPr>
          <a:xfrm>
            <a:off x="4267200" y="2011680"/>
            <a:ext cx="0" cy="1737360"/>
          </a:xfrm>
          <a:prstGeom prst="line">
            <a:avLst/>
          </a:prstGeom>
          <a:noFill/>
          <a:ln w="9525">
            <a:solidFill>
              <a:srgbClr val="D9D9D9"/>
            </a:solidFill>
            <a:prstDash val="solid"/>
          </a:ln>
        </p:spPr>
      </p:sp>
      <p:sp>
        <p:nvSpPr>
          <p:cNvPr id="8" name="Text 5"/>
          <p:cNvSpPr txBox="1"/>
          <p:nvPr/>
        </p:nvSpPr>
        <p:spPr>
          <a:xfrm>
            <a:off x="3368040" y="3794760"/>
            <a:ext cx="1798320"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Month 6</a:t>
            </a:r>
            <a:endParaRPr lang="en-US" sz="1600" dirty="0"/>
          </a:p>
        </p:txBody>
      </p:sp>
      <p:sp>
        <p:nvSpPr>
          <p:cNvPr id="9" name="Shape 6"/>
          <p:cNvSpPr/>
          <p:nvPr/>
        </p:nvSpPr>
        <p:spPr>
          <a:xfrm>
            <a:off x="6065520" y="2011680"/>
            <a:ext cx="0" cy="1737360"/>
          </a:xfrm>
          <a:prstGeom prst="line">
            <a:avLst/>
          </a:prstGeom>
          <a:noFill/>
          <a:ln w="9525">
            <a:solidFill>
              <a:srgbClr val="D9D9D9"/>
            </a:solidFill>
            <a:prstDash val="solid"/>
          </a:ln>
        </p:spPr>
      </p:sp>
      <p:sp>
        <p:nvSpPr>
          <p:cNvPr id="10" name="Text 7"/>
          <p:cNvSpPr txBox="1"/>
          <p:nvPr/>
        </p:nvSpPr>
        <p:spPr>
          <a:xfrm>
            <a:off x="5166360" y="3794760"/>
            <a:ext cx="1798320"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Month 12</a:t>
            </a:r>
            <a:endParaRPr lang="en-US" sz="1600" dirty="0"/>
          </a:p>
        </p:txBody>
      </p:sp>
      <p:sp>
        <p:nvSpPr>
          <p:cNvPr id="11" name="Shape 8"/>
          <p:cNvSpPr/>
          <p:nvPr/>
        </p:nvSpPr>
        <p:spPr>
          <a:xfrm>
            <a:off x="7863840" y="2011680"/>
            <a:ext cx="0" cy="1737360"/>
          </a:xfrm>
          <a:prstGeom prst="line">
            <a:avLst/>
          </a:prstGeom>
          <a:noFill/>
          <a:ln w="9525">
            <a:solidFill>
              <a:srgbClr val="D9D9D9"/>
            </a:solidFill>
            <a:prstDash val="solid"/>
          </a:ln>
        </p:spPr>
      </p:sp>
      <p:sp>
        <p:nvSpPr>
          <p:cNvPr id="12" name="Text 9"/>
          <p:cNvSpPr txBox="1"/>
          <p:nvPr/>
        </p:nvSpPr>
        <p:spPr>
          <a:xfrm>
            <a:off x="6964680" y="3794760"/>
            <a:ext cx="1798320"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Month 18</a:t>
            </a:r>
            <a:endParaRPr lang="en-US" sz="1600" dirty="0"/>
          </a:p>
        </p:txBody>
      </p:sp>
      <p:sp>
        <p:nvSpPr>
          <p:cNvPr id="13" name="Text 10"/>
          <p:cNvSpPr txBox="1"/>
          <p:nvPr/>
        </p:nvSpPr>
        <p:spPr>
          <a:xfrm>
            <a:off x="182880" y="2084832"/>
            <a:ext cx="2148840" cy="676656"/>
          </a:xfrm>
          <a:prstGeom prst="rect">
            <a:avLst/>
          </a:prstGeom>
          <a:noFill/>
          <a:ln/>
        </p:spPr>
        <p:txBody>
          <a:bodyPr wrap="square" lIns="0" tIns="0" rIns="0" bIns="0" rtlCol="0" anchor="ctr"/>
          <a:lstStyle/>
          <a:p>
            <a:pPr algn="r" indent="0" marL="0">
              <a:buNone/>
            </a:pPr>
            <a:r>
              <a:rPr lang="en-US" sz="1600" dirty="0">
                <a:solidFill>
                  <a:srgbClr val="000000"/>
                </a:solidFill>
                <a:latin typeface="Georgia" pitchFamily="34" charset="0"/>
                <a:ea typeface="Georgia" pitchFamily="34" charset="-122"/>
                <a:cs typeface="Georgia" pitchFamily="34" charset="-120"/>
              </a:rPr>
              <a:t>Rituximab</a:t>
            </a:r>
            <a:endParaRPr lang="en-US" sz="1600" dirty="0"/>
          </a:p>
        </p:txBody>
      </p:sp>
      <p:sp>
        <p:nvSpPr>
          <p:cNvPr id="14" name="Shape 11"/>
          <p:cNvSpPr/>
          <p:nvPr/>
        </p:nvSpPr>
        <p:spPr>
          <a:xfrm>
            <a:off x="2468880" y="2084832"/>
            <a:ext cx="1708404" cy="676656"/>
          </a:xfrm>
          <a:prstGeom prst="rect">
            <a:avLst/>
          </a:prstGeom>
          <a:solidFill>
            <a:srgbClr val="9DB4CA"/>
          </a:solidFill>
          <a:ln w="6350">
            <a:solidFill>
              <a:srgbClr val="9DB4CA"/>
            </a:solidFill>
            <a:prstDash val="solid"/>
          </a:ln>
        </p:spPr>
      </p:sp>
      <p:sp>
        <p:nvSpPr>
          <p:cNvPr id="15" name="Text 12"/>
          <p:cNvSpPr txBox="1"/>
          <p:nvPr/>
        </p:nvSpPr>
        <p:spPr>
          <a:xfrm>
            <a:off x="182880" y="2907792"/>
            <a:ext cx="2148840" cy="676656"/>
          </a:xfrm>
          <a:prstGeom prst="rect">
            <a:avLst/>
          </a:prstGeom>
          <a:noFill/>
          <a:ln/>
        </p:spPr>
        <p:txBody>
          <a:bodyPr wrap="square" lIns="0" tIns="0" rIns="0" bIns="0" rtlCol="0" anchor="ctr"/>
          <a:lstStyle/>
          <a:p>
            <a:pPr algn="r" indent="0" marL="0">
              <a:buNone/>
            </a:pPr>
            <a:r>
              <a:rPr lang="en-US" sz="1600" dirty="0">
                <a:solidFill>
                  <a:srgbClr val="000000"/>
                </a:solidFill>
                <a:latin typeface="Georgia" pitchFamily="34" charset="0"/>
                <a:ea typeface="Georgia" pitchFamily="34" charset="-122"/>
                <a:cs typeface="Georgia" pitchFamily="34" charset="-120"/>
              </a:rPr>
              <a:t>Entecavir, TDF or TAF</a:t>
            </a:r>
            <a:endParaRPr lang="en-US" sz="1600" dirty="0"/>
          </a:p>
        </p:txBody>
      </p:sp>
      <p:sp>
        <p:nvSpPr>
          <p:cNvPr id="16" name="Shape 13"/>
          <p:cNvSpPr/>
          <p:nvPr/>
        </p:nvSpPr>
        <p:spPr>
          <a:xfrm>
            <a:off x="2468880" y="2907792"/>
            <a:ext cx="5394960" cy="676656"/>
          </a:xfrm>
          <a:prstGeom prst="rect">
            <a:avLst/>
          </a:prstGeom>
          <a:solidFill>
            <a:srgbClr val="1F4E79"/>
          </a:solidFill>
          <a:ln w="6350">
            <a:solidFill>
              <a:srgbClr val="1F4E79"/>
            </a:solidFill>
            <a:prstDash val="solid"/>
          </a:ln>
        </p:spPr>
      </p:sp>
      <p:sp>
        <p:nvSpPr>
          <p:cNvPr id="17" name="Text 14"/>
          <p:cNvSpPr txBox="1"/>
          <p:nvPr/>
        </p:nvSpPr>
        <p:spPr>
          <a:xfrm>
            <a:off x="2468880" y="2907792"/>
            <a:ext cx="5394960" cy="67665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Continue 12 months after the last dose</a:t>
            </a:r>
            <a:endParaRPr lang="en-US" sz="1500" dirty="0"/>
          </a:p>
        </p:txBody>
      </p:sp>
      <p:sp>
        <p:nvSpPr>
          <p:cNvPr id="18" name="Question"/>
          <p:cNvSpPr txBox="1"/>
          <p:nvPr/>
        </p:nvSpPr>
        <p:spPr>
          <a:xfrm>
            <a:off x="365760" y="4480560"/>
            <a:ext cx="7315200" cy="914400"/>
          </a:xfrm>
          <a:prstGeom prst="rect">
            <a:avLst/>
          </a:prstGeom>
          <a:noFill/>
          <a:ln/>
        </p:spPr>
        <p:txBody>
          <a:bodyPr wrap="square" lIns="0" tIns="0" rIns="0" bIns="0" rtlCol="0" anchor="ctr"/>
          <a:lstStyle/>
          <a:p>
            <a:pPr algn="ctr" indent="0" marL="0">
              <a:buNone/>
            </a:pPr>
            <a:r>
              <a:rPr lang="en-US" sz="2000" b="1" dirty="0">
                <a:solidFill>
                  <a:srgbClr val="000000"/>
                </a:solidFill>
                <a:highlight>
                  <a:srgbClr val="FFFF00"/>
                </a:highlight>
                <a:latin typeface="Georgia" pitchFamily="34" charset="0"/>
                <a:ea typeface="Georgia" pitchFamily="34" charset="-122"/>
                <a:cs typeface="Georgia" pitchFamily="34" charset="-120"/>
              </a:rPr>
              <a:t>Start before the first dose. If you only monitor: DNA and ALT every 1 to 3 months</a:t>
            </a:r>
            <a:endParaRPr lang="en-US" sz="2000" dirty="0"/>
          </a:p>
        </p:txBody>
      </p:sp>
      <p:sp>
        <p:nvSpPr>
          <p:cNvPr id="19"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AGA 2025 (PMID 39863345); AASLD 2018 (PMID 29405329); EASL 2025 (PMID 40348683).</a:t>
            </a:r>
            <a:endParaRPr lang="en-US" sz="1000" dirty="0"/>
          </a:p>
        </p:txBody>
      </p:sp>
      <p:sp>
        <p:nvSpPr>
          <p:cNvPr id="21"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27/38</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Before immunosuppression: summary</a:t>
            </a:r>
            <a:endParaRPr lang="en-US" sz="3000" dirty="0"/>
          </a:p>
        </p:txBody>
      </p:sp>
      <p:sp>
        <p:nvSpPr>
          <p:cNvPr id="3" name="Text 1"/>
          <p:cNvSpPr/>
          <p:nvPr/>
        </p:nvSpPr>
        <p:spPr>
          <a:xfrm>
            <a:off x="2194560" y="1097280"/>
            <a:ext cx="7772400" cy="548640"/>
          </a:xfrm>
          <a:prstGeom prst="rect">
            <a:avLst/>
          </a:prstGeom>
          <a:solidFill>
            <a:srgbClr val="F2F2F2"/>
          </a:solidFill>
          <a:ln w="12700">
            <a:solidFill>
              <a:srgbClr val="7F7F7F"/>
            </a:solidFill>
          </a:ln>
        </p:spPr>
        <p:txBody>
          <a:bodyPr wrap="square" lIns="50800" tIns="50800" rIns="50800" bIns="50800"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Before chemotherapy or immunosuppression: HBsAg, anti-HBc, anti-HBs</a:t>
            </a:r>
            <a:endParaRPr lang="en-US" sz="1800" dirty="0"/>
          </a:p>
        </p:txBody>
      </p:sp>
      <p:sp>
        <p:nvSpPr>
          <p:cNvPr id="4" name="Shape 2"/>
          <p:cNvSpPr/>
          <p:nvPr/>
        </p:nvSpPr>
        <p:spPr>
          <a:xfrm>
            <a:off x="6080760" y="1645920"/>
            <a:ext cx="0" cy="274320"/>
          </a:xfrm>
          <a:prstGeom prst="line">
            <a:avLst/>
          </a:prstGeom>
          <a:noFill/>
          <a:ln w="19050">
            <a:solidFill>
              <a:srgbClr val="595959"/>
            </a:solidFill>
            <a:prstDash val="solid"/>
          </a:ln>
        </p:spPr>
      </p:sp>
      <p:sp>
        <p:nvSpPr>
          <p:cNvPr id="5" name="Shape 3"/>
          <p:cNvSpPr/>
          <p:nvPr/>
        </p:nvSpPr>
        <p:spPr>
          <a:xfrm>
            <a:off x="2148840" y="1920240"/>
            <a:ext cx="7863840" cy="0"/>
          </a:xfrm>
          <a:prstGeom prst="line">
            <a:avLst/>
          </a:prstGeom>
          <a:noFill/>
          <a:ln w="19050">
            <a:solidFill>
              <a:srgbClr val="595959"/>
            </a:solidFill>
            <a:prstDash val="solid"/>
          </a:ln>
        </p:spPr>
      </p:sp>
      <p:sp>
        <p:nvSpPr>
          <p:cNvPr id="6" name="Shape 4"/>
          <p:cNvSpPr/>
          <p:nvPr/>
        </p:nvSpPr>
        <p:spPr>
          <a:xfrm>
            <a:off x="2148840" y="1920240"/>
            <a:ext cx="0" cy="274320"/>
          </a:xfrm>
          <a:prstGeom prst="line">
            <a:avLst/>
          </a:prstGeom>
          <a:noFill/>
          <a:ln w="19050">
            <a:solidFill>
              <a:srgbClr val="595959"/>
            </a:solidFill>
            <a:prstDash val="solid"/>
            <a:tailEnd type="triangle"/>
          </a:ln>
        </p:spPr>
      </p:sp>
      <p:sp>
        <p:nvSpPr>
          <p:cNvPr id="7" name="Shape 5"/>
          <p:cNvSpPr/>
          <p:nvPr/>
        </p:nvSpPr>
        <p:spPr>
          <a:xfrm>
            <a:off x="6080760" y="1920240"/>
            <a:ext cx="0" cy="274320"/>
          </a:xfrm>
          <a:prstGeom prst="line">
            <a:avLst/>
          </a:prstGeom>
          <a:noFill/>
          <a:ln w="19050">
            <a:solidFill>
              <a:srgbClr val="595959"/>
            </a:solidFill>
            <a:prstDash val="solid"/>
            <a:tailEnd type="triangle"/>
          </a:ln>
        </p:spPr>
      </p:sp>
      <p:sp>
        <p:nvSpPr>
          <p:cNvPr id="8" name="Shape 6"/>
          <p:cNvSpPr/>
          <p:nvPr/>
        </p:nvSpPr>
        <p:spPr>
          <a:xfrm>
            <a:off x="10012680" y="1920240"/>
            <a:ext cx="0" cy="274320"/>
          </a:xfrm>
          <a:prstGeom prst="line">
            <a:avLst/>
          </a:prstGeom>
          <a:noFill/>
          <a:ln w="19050">
            <a:solidFill>
              <a:srgbClr val="595959"/>
            </a:solidFill>
            <a:prstDash val="solid"/>
            <a:tailEnd type="triangle"/>
          </a:ln>
        </p:spPr>
      </p:sp>
      <p:sp>
        <p:nvSpPr>
          <p:cNvPr id="9" name="Text 7"/>
          <p:cNvSpPr/>
          <p:nvPr/>
        </p:nvSpPr>
        <p:spPr>
          <a:xfrm>
            <a:off x="411480" y="2194560"/>
            <a:ext cx="3474720" cy="548640"/>
          </a:xfrm>
          <a:prstGeom prst="rect">
            <a:avLst/>
          </a:prstGeom>
          <a:solidFill>
            <a:srgbClr val="F2F2F2"/>
          </a:solidFill>
          <a:ln w="12700">
            <a:solidFill>
              <a:srgbClr val="7F7F7F"/>
            </a:solidFill>
          </a:ln>
        </p:spPr>
        <p:txBody>
          <a:bodyPr wrap="square" lIns="50800" tIns="50800" rIns="50800" bIns="50800" rtlCol="0" anchor="ctr"/>
          <a:lstStyle/>
          <a:p>
            <a:pPr algn="ctr" indent="0" marL="0">
              <a:buNone/>
            </a:pPr>
            <a:r>
              <a:rPr lang="en-US" sz="1700" b="1" dirty="0">
                <a:solidFill>
                  <a:srgbClr val="000000"/>
                </a:solidFill>
                <a:latin typeface="Calibri" pitchFamily="34" charset="0"/>
                <a:ea typeface="Calibri" pitchFamily="34" charset="-122"/>
                <a:cs typeface="Calibri" pitchFamily="34" charset="-120"/>
              </a:rPr>
              <a:t>HBsAg positive</a:t>
            </a:r>
            <a:endParaRPr lang="en-US" sz="1700" dirty="0"/>
          </a:p>
        </p:txBody>
      </p:sp>
      <p:sp>
        <p:nvSpPr>
          <p:cNvPr id="10" name="Text 8"/>
          <p:cNvSpPr/>
          <p:nvPr/>
        </p:nvSpPr>
        <p:spPr>
          <a:xfrm>
            <a:off x="4343400" y="2194560"/>
            <a:ext cx="3474720" cy="548640"/>
          </a:xfrm>
          <a:prstGeom prst="rect">
            <a:avLst/>
          </a:prstGeom>
          <a:solidFill>
            <a:srgbClr val="F2F2F2"/>
          </a:solidFill>
          <a:ln w="12700">
            <a:solidFill>
              <a:srgbClr val="7F7F7F"/>
            </a:solidFill>
          </a:ln>
        </p:spPr>
        <p:txBody>
          <a:bodyPr wrap="square" lIns="50800" tIns="50800" rIns="50800" bIns="50800" rtlCol="0" anchor="ctr"/>
          <a:lstStyle/>
          <a:p>
            <a:pPr algn="ctr" indent="0" marL="0">
              <a:buNone/>
            </a:pPr>
            <a:r>
              <a:rPr lang="en-US" sz="1700" b="1" dirty="0">
                <a:solidFill>
                  <a:srgbClr val="000000"/>
                </a:solidFill>
                <a:latin typeface="Calibri" pitchFamily="34" charset="0"/>
                <a:ea typeface="Calibri" pitchFamily="34" charset="-122"/>
                <a:cs typeface="Calibri" pitchFamily="34" charset="-120"/>
              </a:rPr>
              <a:t>HBsAg negative, anti-HBc positive</a:t>
            </a:r>
            <a:endParaRPr lang="en-US" sz="1700" dirty="0"/>
          </a:p>
        </p:txBody>
      </p:sp>
      <p:sp>
        <p:nvSpPr>
          <p:cNvPr id="11" name="Text 9"/>
          <p:cNvSpPr/>
          <p:nvPr/>
        </p:nvSpPr>
        <p:spPr>
          <a:xfrm>
            <a:off x="8275320" y="2194560"/>
            <a:ext cx="3474720" cy="548640"/>
          </a:xfrm>
          <a:prstGeom prst="rect">
            <a:avLst/>
          </a:prstGeom>
          <a:solidFill>
            <a:srgbClr val="F2F2F2"/>
          </a:solidFill>
          <a:ln w="12700">
            <a:solidFill>
              <a:srgbClr val="7F7F7F"/>
            </a:solidFill>
          </a:ln>
        </p:spPr>
        <p:txBody>
          <a:bodyPr wrap="square" lIns="50800" tIns="50800" rIns="50800" bIns="50800" rtlCol="0" anchor="ctr"/>
          <a:lstStyle/>
          <a:p>
            <a:pPr algn="ctr" indent="0" marL="0">
              <a:buNone/>
            </a:pPr>
            <a:r>
              <a:rPr lang="en-US" sz="1700" b="1" dirty="0">
                <a:solidFill>
                  <a:srgbClr val="000000"/>
                </a:solidFill>
                <a:latin typeface="Calibri" pitchFamily="34" charset="0"/>
                <a:ea typeface="Calibri" pitchFamily="34" charset="-122"/>
                <a:cs typeface="Calibri" pitchFamily="34" charset="-120"/>
              </a:rPr>
              <a:t>All negative</a:t>
            </a:r>
            <a:endParaRPr lang="en-US" sz="1700" dirty="0"/>
          </a:p>
        </p:txBody>
      </p:sp>
      <p:sp>
        <p:nvSpPr>
          <p:cNvPr id="12" name="Shape 10"/>
          <p:cNvSpPr/>
          <p:nvPr/>
        </p:nvSpPr>
        <p:spPr>
          <a:xfrm>
            <a:off x="2148840" y="2743200"/>
            <a:ext cx="0" cy="320040"/>
          </a:xfrm>
          <a:prstGeom prst="line">
            <a:avLst/>
          </a:prstGeom>
          <a:noFill/>
          <a:ln w="19050">
            <a:solidFill>
              <a:srgbClr val="595959"/>
            </a:solidFill>
            <a:prstDash val="solid"/>
            <a:tailEnd type="triangle"/>
          </a:ln>
        </p:spPr>
      </p:sp>
      <p:sp>
        <p:nvSpPr>
          <p:cNvPr id="13" name="Text 11"/>
          <p:cNvSpPr/>
          <p:nvPr/>
        </p:nvSpPr>
        <p:spPr>
          <a:xfrm>
            <a:off x="411480" y="3063240"/>
            <a:ext cx="3474720" cy="914400"/>
          </a:xfrm>
          <a:prstGeom prst="rect">
            <a:avLst/>
          </a:prstGeom>
          <a:solidFill>
            <a:srgbClr val="1F4E79"/>
          </a:solidFill>
          <a:ln w="12700">
            <a:solidFill>
              <a:srgbClr val="1F4E79"/>
            </a:solidFill>
          </a:ln>
        </p:spPr>
        <p:txBody>
          <a:bodyPr wrap="square" lIns="50800" tIns="50800" rIns="50800" bIns="5080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Prophylaxis: entecavir, TDF or TAF</a:t>
            </a:r>
            <a:endParaRPr lang="en-US" sz="1800" dirty="0"/>
          </a:p>
        </p:txBody>
      </p:sp>
      <p:sp>
        <p:nvSpPr>
          <p:cNvPr id="14" name="Shape 12"/>
          <p:cNvSpPr/>
          <p:nvPr/>
        </p:nvSpPr>
        <p:spPr>
          <a:xfrm>
            <a:off x="2148840" y="3977640"/>
            <a:ext cx="0" cy="320040"/>
          </a:xfrm>
          <a:prstGeom prst="line">
            <a:avLst/>
          </a:prstGeom>
          <a:noFill/>
          <a:ln w="19050">
            <a:solidFill>
              <a:srgbClr val="595959"/>
            </a:solidFill>
            <a:prstDash val="solid"/>
            <a:tailEnd type="triangle"/>
          </a:ln>
        </p:spPr>
      </p:sp>
      <p:sp>
        <p:nvSpPr>
          <p:cNvPr id="15" name="Text 13"/>
          <p:cNvSpPr/>
          <p:nvPr/>
        </p:nvSpPr>
        <p:spPr>
          <a:xfrm>
            <a:off x="411480" y="4297680"/>
            <a:ext cx="3474720" cy="1280160"/>
          </a:xfrm>
          <a:prstGeom prst="rect">
            <a:avLst/>
          </a:prstGeom>
          <a:solidFill>
            <a:srgbClr val="FFFFFF"/>
          </a:solidFill>
          <a:ln w="12700">
            <a:solidFill>
              <a:srgbClr val="595959"/>
            </a:solidFill>
          </a:ln>
        </p:spPr>
        <p:txBody>
          <a:bodyPr wrap="square" lIns="50800" tIns="50800" rIns="50800" bIns="50800" rtlCol="0" anchor="ctr"/>
          <a:lstStyle/>
          <a:p>
            <a:pPr algn="ctr" indent="0" marL="0">
              <a:buNone/>
            </a:pPr>
            <a:r>
              <a:rPr lang="en-US" sz="1700" b="1" dirty="0">
                <a:solidFill>
                  <a:srgbClr val="000000"/>
                </a:solidFill>
                <a:latin typeface="Calibri" pitchFamily="34" charset="0"/>
                <a:ea typeface="Calibri" pitchFamily="34" charset="-122"/>
                <a:cs typeface="Calibri" pitchFamily="34" charset="-120"/>
              </a:rPr>
              <a:t>Start before the first dose. Continue 6 months after the last, 12 after anti-CD20</a:t>
            </a:r>
            <a:endParaRPr lang="en-US" sz="1700" dirty="0"/>
          </a:p>
        </p:txBody>
      </p:sp>
      <p:sp>
        <p:nvSpPr>
          <p:cNvPr id="16" name="Shape 14"/>
          <p:cNvSpPr/>
          <p:nvPr/>
        </p:nvSpPr>
        <p:spPr>
          <a:xfrm>
            <a:off x="6080760" y="2743200"/>
            <a:ext cx="0" cy="320040"/>
          </a:xfrm>
          <a:prstGeom prst="line">
            <a:avLst/>
          </a:prstGeom>
          <a:noFill/>
          <a:ln w="19050">
            <a:solidFill>
              <a:srgbClr val="595959"/>
            </a:solidFill>
            <a:prstDash val="solid"/>
            <a:tailEnd type="triangle"/>
          </a:ln>
        </p:spPr>
      </p:sp>
      <p:sp>
        <p:nvSpPr>
          <p:cNvPr id="17" name="Text 15"/>
          <p:cNvSpPr/>
          <p:nvPr/>
        </p:nvSpPr>
        <p:spPr>
          <a:xfrm>
            <a:off x="4343400" y="3063240"/>
            <a:ext cx="3474720" cy="914400"/>
          </a:xfrm>
          <a:prstGeom prst="rect">
            <a:avLst/>
          </a:prstGeom>
          <a:solidFill>
            <a:srgbClr val="1F4E79"/>
          </a:solidFill>
          <a:ln w="12700">
            <a:solidFill>
              <a:srgbClr val="1F4E79"/>
            </a:solidFill>
          </a:ln>
        </p:spPr>
        <p:txBody>
          <a:bodyPr wrap="square" lIns="50800" tIns="50800" rIns="50800" bIns="508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High risk (anti-CD20, stem cell transplant): prophylaxis</a:t>
            </a:r>
            <a:endParaRPr lang="en-US" sz="1700" dirty="0"/>
          </a:p>
        </p:txBody>
      </p:sp>
      <p:sp>
        <p:nvSpPr>
          <p:cNvPr id="18" name="Shape 16"/>
          <p:cNvSpPr/>
          <p:nvPr/>
        </p:nvSpPr>
        <p:spPr>
          <a:xfrm>
            <a:off x="6080760" y="3977640"/>
            <a:ext cx="0" cy="320040"/>
          </a:xfrm>
          <a:prstGeom prst="line">
            <a:avLst/>
          </a:prstGeom>
          <a:noFill/>
          <a:ln w="19050">
            <a:solidFill>
              <a:srgbClr val="595959"/>
            </a:solidFill>
            <a:prstDash val="solid"/>
            <a:tailEnd type="triangle"/>
          </a:ln>
        </p:spPr>
      </p:sp>
      <p:sp>
        <p:nvSpPr>
          <p:cNvPr id="19" name="Text 17"/>
          <p:cNvSpPr/>
          <p:nvPr/>
        </p:nvSpPr>
        <p:spPr>
          <a:xfrm>
            <a:off x="4343400" y="4297680"/>
            <a:ext cx="3474720" cy="1280160"/>
          </a:xfrm>
          <a:prstGeom prst="rect">
            <a:avLst/>
          </a:prstGeom>
          <a:solidFill>
            <a:srgbClr val="9DB4CA"/>
          </a:solidFill>
          <a:ln w="12700">
            <a:solidFill>
              <a:srgbClr val="9DB4CA"/>
            </a:solidFill>
          </a:ln>
        </p:spPr>
        <p:txBody>
          <a:bodyPr wrap="square" lIns="50800" tIns="50800" rIns="50800" bIns="50800" rtlCol="0" anchor="ctr"/>
          <a:lstStyle/>
          <a:p>
            <a:pPr algn="ctr" indent="0" marL="0">
              <a:buNone/>
            </a:pPr>
            <a:r>
              <a:rPr lang="en-US" sz="1700" b="1" dirty="0">
                <a:solidFill>
                  <a:srgbClr val="000000"/>
                </a:solidFill>
                <a:latin typeface="Calibri" pitchFamily="34" charset="0"/>
                <a:ea typeface="Calibri" pitchFamily="34" charset="-122"/>
                <a:cs typeface="Calibri" pitchFamily="34" charset="-120"/>
              </a:rPr>
              <a:t>Moderate or low risk: DNA and ALT every 1 to 3 months, or prophylaxis</a:t>
            </a:r>
            <a:endParaRPr lang="en-US" sz="1700" dirty="0"/>
          </a:p>
        </p:txBody>
      </p:sp>
      <p:sp>
        <p:nvSpPr>
          <p:cNvPr id="20" name="Shape 18"/>
          <p:cNvSpPr/>
          <p:nvPr/>
        </p:nvSpPr>
        <p:spPr>
          <a:xfrm>
            <a:off x="10012680" y="2743200"/>
            <a:ext cx="0" cy="320040"/>
          </a:xfrm>
          <a:prstGeom prst="line">
            <a:avLst/>
          </a:prstGeom>
          <a:noFill/>
          <a:ln w="19050">
            <a:solidFill>
              <a:srgbClr val="595959"/>
            </a:solidFill>
            <a:prstDash val="solid"/>
            <a:tailEnd type="triangle"/>
          </a:ln>
        </p:spPr>
      </p:sp>
      <p:sp>
        <p:nvSpPr>
          <p:cNvPr id="21" name="Text 19"/>
          <p:cNvSpPr/>
          <p:nvPr/>
        </p:nvSpPr>
        <p:spPr>
          <a:xfrm>
            <a:off x="8275320" y="3063240"/>
            <a:ext cx="3474720" cy="914400"/>
          </a:xfrm>
          <a:prstGeom prst="rect">
            <a:avLst/>
          </a:prstGeom>
          <a:solidFill>
            <a:srgbClr val="FFFFFF"/>
          </a:solidFill>
          <a:ln w="12700">
            <a:solidFill>
              <a:srgbClr val="595959"/>
            </a:solidFill>
          </a:ln>
        </p:spPr>
        <p:txBody>
          <a:bodyPr wrap="square" lIns="50800" tIns="50800" rIns="50800" bIns="50800" rtlCol="0" anchor="ctr"/>
          <a:lstStyle/>
          <a:p>
            <a:pPr algn="ctr" indent="0" marL="0">
              <a:buNone/>
            </a:pPr>
            <a:r>
              <a:rPr lang="en-US" sz="1800" b="1" dirty="0">
                <a:solidFill>
                  <a:srgbClr val="000000"/>
                </a:solidFill>
                <a:latin typeface="Calibri" pitchFamily="34" charset="0"/>
                <a:ea typeface="Calibri" pitchFamily="34" charset="-122"/>
                <a:cs typeface="Calibri" pitchFamily="34" charset="-120"/>
              </a:rPr>
              <a:t>Vaccinate</a:t>
            </a:r>
            <a:endParaRPr lang="en-US" sz="1800" dirty="0"/>
          </a:p>
        </p:txBody>
      </p:sp>
      <p:sp>
        <p:nvSpPr>
          <p:cNvPr id="22"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AGA 2025 (PMID 39863345); AASLD 2018 (PMID 29405329); EASL 2025 (PMID 40348683).</a:t>
            </a:r>
            <a:endParaRPr lang="en-US" sz="1000" dirty="0"/>
          </a:p>
        </p:txBody>
      </p:sp>
      <p:sp>
        <p:nvSpPr>
          <p:cNvPr id="24"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28/38</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29-year-old woman, 20 weeks pregnant</a:t>
            </a:r>
            <a:endParaRPr lang="en-US" sz="3000" dirty="0"/>
          </a:p>
        </p:txBody>
      </p:sp>
      <p:graphicFrame>
        <p:nvGraphicFramePr>
          <p:cNvPr id="49" name="Table"/>
          <p:cNvGraphicFramePr>
            <a:graphicFrameLocks noGrp="1"/>
          </p:cNvGraphicFramePr>
          <p:nvPr>
            <p:extLst>
              <p:ext uri="{D42A27DB-BD31-4B8C-83A1-F6EECF244321}">
                <p14:modId xmlns:p14="http://schemas.microsoft.com/office/powerpoint/2010/main" val="1579011935"/>
              </p:ext>
            </p:extLst>
          </p:nvPr>
        </p:nvGraphicFramePr>
        <p:xfrm>
          <a:off x="457200" y="1234440"/>
          <a:ext cx="6583680" cy="914400"/>
        </p:xfrm>
        <a:graphic>
          <a:graphicData uri="http://schemas.openxmlformats.org/drawingml/2006/table">
            <a:tbl>
              <a:tblPr/>
              <a:tblGrid>
                <a:gridCol w="1380744"/>
                <a:gridCol w="1380744"/>
                <a:gridCol w="2606040"/>
                <a:gridCol w="1216152"/>
              </a:tblGrid>
              <a:tr h="548640">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HBsAg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HBeAg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HBV DNA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ALT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Positive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Positive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C00000"/>
                          </a:solidFill>
                          <a:latin typeface="Calibri" pitchFamily="34" charset="0"/>
                          <a:ea typeface="Calibri" pitchFamily="34" charset="-122"/>
                          <a:cs typeface="Calibri" pitchFamily="34" charset="-120"/>
                        </a:rPr>
                        <a:t>5,000,000 IU/mL</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22 U/L</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2514600"/>
            <a:ext cx="6583680"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do you do for her and for the baby?</a:t>
            </a:r>
            <a:endParaRPr lang="en-US" sz="2400" dirty="0"/>
          </a:p>
        </p:txBody>
      </p:sp>
      <p:pic>
        <p:nvPicPr>
          <p:cNvPr id="5" name="Image 0" descr="Watercolor of a seated pregnant woman in profile">    </p:cNvPr>
          <p:cNvPicPr>
            <a:picLocks noChangeAspect="1"/>
          </p:cNvPicPr>
          <p:nvPr/>
        </p:nvPicPr>
        <p:blipFill>
          <a:blip r:embed="rId1"/>
          <a:stretch>
            <a:fillRect/>
          </a:stretch>
        </p:blipFill>
        <p:spPr>
          <a:xfrm>
            <a:off x="7040880" y="1097280"/>
            <a:ext cx="5029200" cy="5029200"/>
          </a:xfrm>
          <a:prstGeom prst="rect">
            <a:avLst/>
          </a:prstGeom>
        </p:spPr>
      </p:pic>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29/38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29-year-old woman, 20 weeks pregnant</a:t>
            </a:r>
            <a:endParaRPr lang="en-US" sz="3000" dirty="0"/>
          </a:p>
        </p:txBody>
      </p:sp>
      <p:graphicFrame>
        <p:nvGraphicFramePr>
          <p:cNvPr id="50" name="Table"/>
          <p:cNvGraphicFramePr>
            <a:graphicFrameLocks noGrp="1"/>
          </p:cNvGraphicFramePr>
          <p:nvPr>
            <p:extLst>
              <p:ext uri="{D42A27DB-BD31-4B8C-83A1-F6EECF244321}">
                <p14:modId xmlns:p14="http://schemas.microsoft.com/office/powerpoint/2010/main" val="1579011935"/>
              </p:ext>
            </p:extLst>
          </p:nvPr>
        </p:nvGraphicFramePr>
        <p:xfrm>
          <a:off x="457200" y="1234440"/>
          <a:ext cx="6583680" cy="914400"/>
        </p:xfrm>
        <a:graphic>
          <a:graphicData uri="http://schemas.openxmlformats.org/drawingml/2006/table">
            <a:tbl>
              <a:tblPr/>
              <a:tblGrid>
                <a:gridCol w="1380744"/>
                <a:gridCol w="1380744"/>
                <a:gridCol w="2606040"/>
                <a:gridCol w="1216152"/>
              </a:tblGrid>
              <a:tr h="548640">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HBsAg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HBeAg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HBV DNA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ALT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Positive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Positive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C00000"/>
                          </a:solidFill>
                          <a:latin typeface="Calibri" pitchFamily="34" charset="0"/>
                          <a:ea typeface="Calibri" pitchFamily="34" charset="-122"/>
                          <a:cs typeface="Calibri" pitchFamily="34" charset="-120"/>
                        </a:rPr>
                        <a:t>5,000,000 IU/mL</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22 U/L</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2514600"/>
            <a:ext cx="6583680"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do you do for her and for the baby?</a:t>
            </a:r>
            <a:endParaRPr lang="en-US" sz="2400" dirty="0"/>
          </a:p>
        </p:txBody>
      </p:sp>
      <p:pic>
        <p:nvPicPr>
          <p:cNvPr id="5" name="Image 0" descr="Watercolor of a seated pregnant woman in profile">    </p:cNvPr>
          <p:cNvPicPr>
            <a:picLocks noChangeAspect="1"/>
          </p:cNvPicPr>
          <p:nvPr/>
        </p:nvPicPr>
        <p:blipFill>
          <a:blip r:embed="rId1"/>
          <a:stretch>
            <a:fillRect/>
          </a:stretch>
        </p:blipFill>
        <p:spPr>
          <a:xfrm>
            <a:off x="7040880" y="1097280"/>
            <a:ext cx="5029200" cy="5029200"/>
          </a:xfrm>
          <a:prstGeom prst="rect">
            <a:avLst/>
          </a:prstGeom>
        </p:spPr>
      </p:pic>
      <p:sp>
        <p:nvSpPr>
          <p:cNvPr id="6" name="Body"/>
          <p:cNvSpPr txBox="1"/>
          <p:nvPr/>
        </p:nvSpPr>
        <p:spPr>
          <a:xfrm>
            <a:off x="548640" y="3383280"/>
            <a:ext cx="6400800" cy="2560320"/>
          </a:xfrm>
          <a:prstGeom prst="rect">
            <a:avLst/>
          </a:prstGeom>
          <a:noFill/>
          <a:ln/>
        </p:spPr>
        <p:txBody>
          <a:bodyPr wrap="square" lIns="50800" tIns="50800" rIns="50800" bIns="50800" rtlCol="0" anchor="t"/>
          <a:lstStyle/>
          <a:p>
            <a:pPr marL="228600" indent="-228600">
              <a:spcBef>
                <a:spcPts val="1600"/>
              </a:spcBef>
              <a:buSzPct val="100000"/>
              <a:buChar char="–"/>
            </a:pPr>
            <a:r>
              <a:rPr lang="en-US" sz="2400" dirty="0">
                <a:solidFill>
                  <a:srgbClr val="000000"/>
                </a:solidFill>
                <a:latin typeface="Georgia" pitchFamily="34" charset="0"/>
                <a:ea typeface="Georgia" pitchFamily="34" charset="-122"/>
                <a:cs typeface="Georgia" pitchFamily="34" charset="-120"/>
              </a:rPr>
              <a:t>TDF or TAF from week 28, because DNA is above 200,000 IU/mL</a:t>
            </a:r>
            <a:endParaRPr lang="en-US" sz="2400" dirty="0"/>
          </a:p>
          <a:p>
            <a:pPr marL="228600" indent="-228600">
              <a:spcBef>
                <a:spcPts val="1600"/>
              </a:spcBef>
              <a:buSzPct val="100000"/>
              <a:buChar char="–"/>
            </a:pPr>
            <a:r>
              <a:rPr lang="en-US" sz="2400" dirty="0">
                <a:solidFill>
                  <a:srgbClr val="000000"/>
                </a:solidFill>
                <a:latin typeface="Georgia" pitchFamily="34" charset="0"/>
                <a:ea typeface="Georgia" pitchFamily="34" charset="-122"/>
                <a:cs typeface="Georgia" pitchFamily="34" charset="-120"/>
              </a:rPr>
              <a:t>Baby: hepatitis B vaccine and HBIG within 12 hours of birth</a:t>
            </a:r>
            <a:endParaRPr lang="en-US" sz="24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29/38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Her pregnancy and the baby's first year</a:t>
            </a:r>
            <a:endParaRPr lang="en-US" sz="3000" dirty="0"/>
          </a:p>
        </p:txBody>
      </p:sp>
      <p:sp>
        <p:nvSpPr>
          <p:cNvPr id="3" name="Shape 1"/>
          <p:cNvSpPr/>
          <p:nvPr/>
        </p:nvSpPr>
        <p:spPr>
          <a:xfrm>
            <a:off x="4023360" y="1463040"/>
            <a:ext cx="0" cy="3200400"/>
          </a:xfrm>
          <a:prstGeom prst="line">
            <a:avLst/>
          </a:prstGeom>
          <a:noFill/>
          <a:ln w="9525">
            <a:solidFill>
              <a:srgbClr val="D9D9D9"/>
            </a:solidFill>
            <a:prstDash val="solid"/>
          </a:ln>
        </p:spPr>
      </p:sp>
      <p:sp>
        <p:nvSpPr>
          <p:cNvPr id="4" name="Text 2"/>
          <p:cNvSpPr txBox="1"/>
          <p:nvPr/>
        </p:nvSpPr>
        <p:spPr>
          <a:xfrm>
            <a:off x="3070898" y="4709160"/>
            <a:ext cx="1904924"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Week 20</a:t>
            </a:r>
            <a:endParaRPr lang="en-US" sz="1600" dirty="0"/>
          </a:p>
        </p:txBody>
      </p:sp>
      <p:sp>
        <p:nvSpPr>
          <p:cNvPr id="5" name="Shape 3"/>
          <p:cNvSpPr/>
          <p:nvPr/>
        </p:nvSpPr>
        <p:spPr>
          <a:xfrm>
            <a:off x="5928284" y="1463040"/>
            <a:ext cx="0" cy="3200400"/>
          </a:xfrm>
          <a:prstGeom prst="line">
            <a:avLst/>
          </a:prstGeom>
          <a:noFill/>
          <a:ln w="9525">
            <a:solidFill>
              <a:srgbClr val="D9D9D9"/>
            </a:solidFill>
            <a:prstDash val="solid"/>
          </a:ln>
        </p:spPr>
      </p:sp>
      <p:sp>
        <p:nvSpPr>
          <p:cNvPr id="6" name="Text 4"/>
          <p:cNvSpPr txBox="1"/>
          <p:nvPr/>
        </p:nvSpPr>
        <p:spPr>
          <a:xfrm>
            <a:off x="4975822" y="4709160"/>
            <a:ext cx="1904924"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Week 28</a:t>
            </a:r>
            <a:endParaRPr lang="en-US" sz="1600" dirty="0"/>
          </a:p>
        </p:txBody>
      </p:sp>
      <p:sp>
        <p:nvSpPr>
          <p:cNvPr id="7" name="Shape 5"/>
          <p:cNvSpPr/>
          <p:nvPr/>
        </p:nvSpPr>
        <p:spPr>
          <a:xfrm>
            <a:off x="7833208" y="1463040"/>
            <a:ext cx="0" cy="3200400"/>
          </a:xfrm>
          <a:prstGeom prst="line">
            <a:avLst/>
          </a:prstGeom>
          <a:noFill/>
          <a:ln w="9525">
            <a:solidFill>
              <a:srgbClr val="D9D9D9"/>
            </a:solidFill>
            <a:prstDash val="solid"/>
          </a:ln>
        </p:spPr>
      </p:sp>
      <p:sp>
        <p:nvSpPr>
          <p:cNvPr id="8" name="Text 6"/>
          <p:cNvSpPr txBox="1"/>
          <p:nvPr/>
        </p:nvSpPr>
        <p:spPr>
          <a:xfrm>
            <a:off x="6880746" y="4709160"/>
            <a:ext cx="1904924"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Delivery</a:t>
            </a:r>
            <a:endParaRPr lang="en-US" sz="1600" dirty="0"/>
          </a:p>
        </p:txBody>
      </p:sp>
      <p:sp>
        <p:nvSpPr>
          <p:cNvPr id="9" name="Shape 7"/>
          <p:cNvSpPr/>
          <p:nvPr/>
        </p:nvSpPr>
        <p:spPr>
          <a:xfrm>
            <a:off x="9738131" y="1463040"/>
            <a:ext cx="0" cy="3200400"/>
          </a:xfrm>
          <a:prstGeom prst="line">
            <a:avLst/>
          </a:prstGeom>
          <a:noFill/>
          <a:ln w="9525">
            <a:solidFill>
              <a:srgbClr val="D9D9D9"/>
            </a:solidFill>
            <a:prstDash val="solid"/>
          </a:ln>
        </p:spPr>
      </p:sp>
      <p:sp>
        <p:nvSpPr>
          <p:cNvPr id="10" name="Text 8"/>
          <p:cNvSpPr txBox="1"/>
          <p:nvPr/>
        </p:nvSpPr>
        <p:spPr>
          <a:xfrm>
            <a:off x="8785670" y="4709160"/>
            <a:ext cx="1904924"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Month 6</a:t>
            </a:r>
            <a:endParaRPr lang="en-US" sz="1600" dirty="0"/>
          </a:p>
        </p:txBody>
      </p:sp>
      <p:sp>
        <p:nvSpPr>
          <p:cNvPr id="11" name="Shape 9"/>
          <p:cNvSpPr/>
          <p:nvPr/>
        </p:nvSpPr>
        <p:spPr>
          <a:xfrm>
            <a:off x="11643055" y="1463040"/>
            <a:ext cx="0" cy="3200400"/>
          </a:xfrm>
          <a:prstGeom prst="line">
            <a:avLst/>
          </a:prstGeom>
          <a:noFill/>
          <a:ln w="9525">
            <a:solidFill>
              <a:srgbClr val="D9D9D9"/>
            </a:solidFill>
            <a:prstDash val="solid"/>
          </a:ln>
        </p:spPr>
      </p:sp>
      <p:sp>
        <p:nvSpPr>
          <p:cNvPr id="12" name="Text 10"/>
          <p:cNvSpPr txBox="1"/>
          <p:nvPr/>
        </p:nvSpPr>
        <p:spPr>
          <a:xfrm>
            <a:off x="10690593" y="4709160"/>
            <a:ext cx="1904924"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Month 12</a:t>
            </a:r>
            <a:endParaRPr lang="en-US" sz="1600" dirty="0"/>
          </a:p>
        </p:txBody>
      </p:sp>
      <p:sp>
        <p:nvSpPr>
          <p:cNvPr id="13" name="Text 11"/>
          <p:cNvSpPr txBox="1"/>
          <p:nvPr/>
        </p:nvSpPr>
        <p:spPr>
          <a:xfrm>
            <a:off x="548640" y="1536192"/>
            <a:ext cx="3337560" cy="630936"/>
          </a:xfrm>
          <a:prstGeom prst="rect">
            <a:avLst/>
          </a:prstGeom>
          <a:noFill/>
          <a:ln/>
        </p:spPr>
        <p:txBody>
          <a:bodyPr wrap="square" lIns="0" tIns="0" rIns="0" bIns="0" rtlCol="0" anchor="ctr"/>
          <a:lstStyle/>
          <a:p>
            <a:pPr algn="r" indent="0" marL="0">
              <a:buNone/>
            </a:pPr>
            <a:r>
              <a:rPr lang="en-US" sz="1600" dirty="0">
                <a:solidFill>
                  <a:srgbClr val="000000"/>
                </a:solidFill>
                <a:latin typeface="Georgia" pitchFamily="34" charset="0"/>
                <a:ea typeface="Georgia" pitchFamily="34" charset="-122"/>
                <a:cs typeface="Georgia" pitchFamily="34" charset="-120"/>
              </a:rPr>
              <a:t>Mother: TDF or TAF</a:t>
            </a:r>
            <a:endParaRPr lang="en-US" sz="1600" dirty="0"/>
          </a:p>
        </p:txBody>
      </p:sp>
      <p:sp>
        <p:nvSpPr>
          <p:cNvPr id="14" name="Shape 12"/>
          <p:cNvSpPr/>
          <p:nvPr/>
        </p:nvSpPr>
        <p:spPr>
          <a:xfrm>
            <a:off x="5928284" y="1536192"/>
            <a:ext cx="1904924" cy="630936"/>
          </a:xfrm>
          <a:prstGeom prst="rect">
            <a:avLst/>
          </a:prstGeom>
          <a:solidFill>
            <a:srgbClr val="1F4E79"/>
          </a:solidFill>
          <a:ln w="6350">
            <a:solidFill>
              <a:srgbClr val="1F4E79"/>
            </a:solidFill>
            <a:prstDash val="solid"/>
          </a:ln>
        </p:spPr>
      </p:sp>
      <p:sp>
        <p:nvSpPr>
          <p:cNvPr id="15" name="Text 13"/>
          <p:cNvSpPr txBox="1"/>
          <p:nvPr/>
        </p:nvSpPr>
        <p:spPr>
          <a:xfrm>
            <a:off x="5928284" y="1536192"/>
            <a:ext cx="2011680" cy="630936"/>
          </a:xfrm>
          <a:prstGeom prst="rect">
            <a:avLst/>
          </a:prstGeom>
          <a:noFill/>
          <a:ln/>
        </p:spPr>
        <p:txBody>
          <a:bodyPr wrap="square" lIns="0" tIns="27473"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Stop at delivery is allowed</a:t>
            </a:r>
            <a:endParaRPr lang="en-US" sz="1500" dirty="0"/>
          </a:p>
        </p:txBody>
      </p:sp>
      <p:sp>
        <p:nvSpPr>
          <p:cNvPr id="16" name="Text 14"/>
          <p:cNvSpPr txBox="1"/>
          <p:nvPr/>
        </p:nvSpPr>
        <p:spPr>
          <a:xfrm>
            <a:off x="548640" y="2313432"/>
            <a:ext cx="3337560" cy="630936"/>
          </a:xfrm>
          <a:prstGeom prst="rect">
            <a:avLst/>
          </a:prstGeom>
          <a:noFill/>
          <a:ln/>
        </p:spPr>
        <p:txBody>
          <a:bodyPr wrap="square" lIns="0" tIns="0" rIns="0" bIns="0" rtlCol="0" anchor="ctr"/>
          <a:lstStyle/>
          <a:p>
            <a:pPr algn="r" indent="0" marL="0">
              <a:buNone/>
            </a:pPr>
            <a:r>
              <a:rPr lang="en-US" sz="1600" dirty="0">
                <a:solidFill>
                  <a:srgbClr val="000000"/>
                </a:solidFill>
                <a:latin typeface="Georgia" pitchFamily="34" charset="0"/>
                <a:ea typeface="Georgia" pitchFamily="34" charset="-122"/>
                <a:cs typeface="Georgia" pitchFamily="34" charset="-120"/>
              </a:rPr>
              <a:t>Mother: DNA and ALT</a:t>
            </a:r>
            <a:endParaRPr lang="en-US" sz="1600" dirty="0"/>
          </a:p>
        </p:txBody>
      </p:sp>
      <p:sp>
        <p:nvSpPr>
          <p:cNvPr id="17" name="Shape 15"/>
          <p:cNvSpPr/>
          <p:nvPr/>
        </p:nvSpPr>
        <p:spPr>
          <a:xfrm>
            <a:off x="7833208" y="2313432"/>
            <a:ext cx="1904924" cy="630936"/>
          </a:xfrm>
          <a:prstGeom prst="rect">
            <a:avLst/>
          </a:prstGeom>
          <a:solidFill>
            <a:srgbClr val="2E7D8C"/>
          </a:solidFill>
          <a:ln w="6350">
            <a:solidFill>
              <a:srgbClr val="2E7D8C"/>
            </a:solidFill>
            <a:prstDash val="solid"/>
          </a:ln>
        </p:spPr>
      </p:sp>
      <p:sp>
        <p:nvSpPr>
          <p:cNvPr id="18" name="Text 16"/>
          <p:cNvSpPr txBox="1"/>
          <p:nvPr/>
        </p:nvSpPr>
        <p:spPr>
          <a:xfrm>
            <a:off x="7833208" y="2313432"/>
            <a:ext cx="2011680" cy="630936"/>
          </a:xfrm>
          <a:prstGeom prst="rect">
            <a:avLst/>
          </a:prstGeom>
          <a:noFill/>
          <a:ln/>
        </p:spPr>
        <p:txBody>
          <a:bodyPr wrap="square" lIns="0" tIns="27473"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Every 1 to 3 months</a:t>
            </a:r>
            <a:endParaRPr lang="en-US" sz="1500" dirty="0"/>
          </a:p>
        </p:txBody>
      </p:sp>
      <p:sp>
        <p:nvSpPr>
          <p:cNvPr id="19" name="Text 17"/>
          <p:cNvSpPr txBox="1"/>
          <p:nvPr/>
        </p:nvSpPr>
        <p:spPr>
          <a:xfrm>
            <a:off x="548640" y="3090672"/>
            <a:ext cx="3337560" cy="630936"/>
          </a:xfrm>
          <a:prstGeom prst="rect">
            <a:avLst/>
          </a:prstGeom>
          <a:noFill/>
          <a:ln/>
        </p:spPr>
        <p:txBody>
          <a:bodyPr wrap="square" lIns="0" tIns="0" rIns="0" bIns="0" rtlCol="0" anchor="ctr"/>
          <a:lstStyle/>
          <a:p>
            <a:pPr algn="r" indent="0" marL="0">
              <a:buNone/>
            </a:pPr>
            <a:r>
              <a:rPr lang="en-US" sz="1600" dirty="0">
                <a:solidFill>
                  <a:srgbClr val="000000"/>
                </a:solidFill>
                <a:latin typeface="Georgia" pitchFamily="34" charset="0"/>
                <a:ea typeface="Georgia" pitchFamily="34" charset="-122"/>
                <a:cs typeface="Georgia" pitchFamily="34" charset="-120"/>
              </a:rPr>
              <a:t>Baby: vaccine and HBIG</a:t>
            </a:r>
            <a:endParaRPr lang="en-US" sz="1600" dirty="0"/>
          </a:p>
        </p:txBody>
      </p:sp>
      <p:sp>
        <p:nvSpPr>
          <p:cNvPr id="20" name="Shape 18"/>
          <p:cNvSpPr/>
          <p:nvPr/>
        </p:nvSpPr>
        <p:spPr>
          <a:xfrm>
            <a:off x="7833208" y="3090672"/>
            <a:ext cx="228591" cy="630936"/>
          </a:xfrm>
          <a:prstGeom prst="rect">
            <a:avLst/>
          </a:prstGeom>
          <a:solidFill>
            <a:srgbClr val="C08A3E"/>
          </a:solidFill>
          <a:ln w="6350">
            <a:solidFill>
              <a:srgbClr val="C08A3E"/>
            </a:solidFill>
            <a:prstDash val="solid"/>
          </a:ln>
        </p:spPr>
      </p:sp>
      <p:sp>
        <p:nvSpPr>
          <p:cNvPr id="21" name="Text 19"/>
          <p:cNvSpPr txBox="1"/>
          <p:nvPr/>
        </p:nvSpPr>
        <p:spPr>
          <a:xfrm>
            <a:off x="7833208" y="3090672"/>
            <a:ext cx="2011680" cy="630936"/>
          </a:xfrm>
          <a:prstGeom prst="rect">
            <a:avLst/>
          </a:prstGeom>
          <a:noFill/>
          <a:ln/>
        </p:spPr>
        <p:txBody>
          <a:bodyPr wrap="square" lIns="0" tIns="4191" rIns="0" bIns="0" rtlCol="0" anchor="ctr"/>
          <a:lstStyle/>
          <a:p>
            <a:pPr algn="l" indent="0" marL="0">
              <a:buNone/>
            </a:pPr>
            <a:r>
              <a:rPr lang="en-US" sz="1500" b="1" dirty="0">
                <a:solidFill>
                  <a:srgbClr val="000000"/>
                </a:solidFill>
                <a:latin typeface="Calibri" pitchFamily="34" charset="0"/>
                <a:ea typeface="Calibri" pitchFamily="34" charset="-122"/>
                <a:cs typeface="Calibri" pitchFamily="34" charset="-120"/>
              </a:rPr>
              <a:t>Within 12 hours</a:t>
            </a:r>
            <a:endParaRPr lang="en-US" sz="1500" dirty="0"/>
          </a:p>
        </p:txBody>
      </p:sp>
      <p:sp>
        <p:nvSpPr>
          <p:cNvPr id="22" name="Text 20"/>
          <p:cNvSpPr txBox="1"/>
          <p:nvPr/>
        </p:nvSpPr>
        <p:spPr>
          <a:xfrm>
            <a:off x="548640" y="3867912"/>
            <a:ext cx="3337560" cy="630936"/>
          </a:xfrm>
          <a:prstGeom prst="rect">
            <a:avLst/>
          </a:prstGeom>
          <a:noFill/>
          <a:ln/>
        </p:spPr>
        <p:txBody>
          <a:bodyPr wrap="square" lIns="0" tIns="0" rIns="0" bIns="0" rtlCol="0" anchor="ctr"/>
          <a:lstStyle/>
          <a:p>
            <a:pPr algn="r" indent="0" marL="0">
              <a:buNone/>
            </a:pPr>
            <a:r>
              <a:rPr lang="en-US" sz="1600" dirty="0">
                <a:solidFill>
                  <a:srgbClr val="000000"/>
                </a:solidFill>
                <a:latin typeface="Georgia" pitchFamily="34" charset="0"/>
                <a:ea typeface="Georgia" pitchFamily="34" charset="-122"/>
                <a:cs typeface="Georgia" pitchFamily="34" charset="-120"/>
              </a:rPr>
              <a:t>Baby: HBsAg and anti-HBs</a:t>
            </a:r>
            <a:endParaRPr lang="en-US" sz="1600" dirty="0"/>
          </a:p>
        </p:txBody>
      </p:sp>
      <p:sp>
        <p:nvSpPr>
          <p:cNvPr id="23" name="Shape 21"/>
          <p:cNvSpPr/>
          <p:nvPr/>
        </p:nvSpPr>
        <p:spPr>
          <a:xfrm>
            <a:off x="10690593" y="3867912"/>
            <a:ext cx="952462" cy="630936"/>
          </a:xfrm>
          <a:prstGeom prst="rect">
            <a:avLst/>
          </a:prstGeom>
          <a:solidFill>
            <a:srgbClr val="9DB4CA"/>
          </a:solidFill>
          <a:ln w="6350">
            <a:solidFill>
              <a:srgbClr val="9DB4CA"/>
            </a:solidFill>
            <a:prstDash val="solid"/>
          </a:ln>
        </p:spPr>
      </p:sp>
      <p:sp>
        <p:nvSpPr>
          <p:cNvPr id="24" name="Text 22"/>
          <p:cNvSpPr txBox="1"/>
          <p:nvPr/>
        </p:nvSpPr>
        <p:spPr>
          <a:xfrm>
            <a:off x="10690593" y="3867912"/>
            <a:ext cx="2011680" cy="630936"/>
          </a:xfrm>
          <a:prstGeom prst="rect">
            <a:avLst/>
          </a:prstGeom>
          <a:noFill/>
          <a:ln/>
        </p:spPr>
        <p:txBody>
          <a:bodyPr wrap="square" lIns="0" tIns="14245" rIns="0" bIns="0" rtlCol="0" anchor="ctr"/>
          <a:lstStyle/>
          <a:p>
            <a:pPr algn="l" indent="0" marL="0">
              <a:buNone/>
            </a:pPr>
            <a:r>
              <a:rPr lang="en-US" sz="1500" b="1" dirty="0">
                <a:solidFill>
                  <a:srgbClr val="000000"/>
                </a:solidFill>
                <a:latin typeface="Calibri" pitchFamily="34" charset="0"/>
                <a:ea typeface="Calibri" pitchFamily="34" charset="-122"/>
                <a:cs typeface="Calibri" pitchFamily="34" charset="-120"/>
              </a:rPr>
              <a:t>Month 9 to 12</a:t>
            </a:r>
            <a:endParaRPr lang="en-US" sz="1500" dirty="0"/>
          </a:p>
        </p:txBody>
      </p:sp>
      <p:sp>
        <p:nvSpPr>
          <p:cNvPr id="2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AASLD/IDSA 2025 R1 (PMID 41186418); CDC perinatal hepatitis B overview, 2025.</a:t>
            </a:r>
            <a:endParaRPr lang="en-US" sz="1000" dirty="0"/>
          </a:p>
        </p:txBody>
      </p:sp>
      <p:sp>
        <p:nvSpPr>
          <p:cNvPr id="2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30/38</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Same woman, after delivery</a:t>
            </a:r>
            <a:endParaRPr lang="en-US" sz="3000" dirty="0"/>
          </a:p>
        </p:txBody>
      </p:sp>
      <p:sp>
        <p:nvSpPr>
          <p:cNvPr id="3" name="Text 1"/>
          <p:cNvSpPr txBox="1"/>
          <p:nvPr/>
        </p:nvSpPr>
        <p:spPr>
          <a:xfrm>
            <a:off x="548640" y="1143000"/>
            <a:ext cx="6858000" cy="914400"/>
          </a:xfrm>
          <a:prstGeom prst="rect">
            <a:avLst/>
          </a:prstGeom>
          <a:noFill/>
          <a:ln/>
        </p:spPr>
        <p:txBody>
          <a:bodyPr wrap="square" lIns="0" tIns="0" rIns="0" bIns="0" rtlCol="0" anchor="ctr"/>
          <a:lstStyle/>
          <a:p>
            <a:pPr indent="0" marL="0">
              <a:buNone/>
            </a:pPr>
            <a:r>
              <a:rPr lang="en-US" sz="2400" b="1" dirty="0">
                <a:solidFill>
                  <a:srgbClr val="000000"/>
                </a:solidFill>
                <a:latin typeface="Georgia" pitchFamily="34" charset="0"/>
                <a:ea typeface="Georgia" pitchFamily="34" charset="-122"/>
                <a:cs typeface="Georgia" pitchFamily="34" charset="-120"/>
              </a:rPr>
              <a:t>She is on TDF. Can she breastfeed?</a:t>
            </a:r>
            <a:endParaRPr lang="en-US" sz="2400" dirty="0"/>
          </a:p>
        </p:txBody>
      </p:sp>
      <p:sp>
        <p:nvSpPr>
          <p:cNvPr id="4" name="Text 2"/>
          <p:cNvSpPr txBox="1"/>
          <p:nvPr/>
        </p:nvSpPr>
        <p:spPr>
          <a:xfrm>
            <a:off x="731520" y="2331720"/>
            <a:ext cx="6675120" cy="731520"/>
          </a:xfrm>
          <a:prstGeom prst="rect">
            <a:avLst/>
          </a:prstGeom>
          <a:noFill/>
          <a:ln/>
        </p:spPr>
        <p:txBody>
          <a:bodyPr wrap="square" lIns="0" tIns="0" rIns="0" bIns="0" rtlCol="0" anchor="ctr"/>
          <a:lstStyle/>
          <a:p>
            <a:pPr indent="0" marL="0">
              <a:buNone/>
            </a:pPr>
            <a:r>
              <a:rPr lang="en-US" sz="2200" dirty="0">
                <a:solidFill>
                  <a:srgbClr val="000000"/>
                </a:solidFill>
                <a:latin typeface="Georgia" pitchFamily="34" charset="0"/>
                <a:ea typeface="Georgia" pitchFamily="34" charset="-122"/>
                <a:cs typeface="Georgia" pitchFamily="34" charset="-120"/>
              </a:rPr>
              <a:t>A.  No, tenofovir in breast milk harms the baby</a:t>
            </a:r>
            <a:endParaRPr lang="en-US" sz="2200" dirty="0"/>
          </a:p>
        </p:txBody>
      </p:sp>
      <p:sp>
        <p:nvSpPr>
          <p:cNvPr id="5" name="Text 3"/>
          <p:cNvSpPr txBox="1"/>
          <p:nvPr/>
        </p:nvSpPr>
        <p:spPr>
          <a:xfrm>
            <a:off x="731520" y="3200400"/>
            <a:ext cx="6675120" cy="731520"/>
          </a:xfrm>
          <a:prstGeom prst="rect">
            <a:avLst/>
          </a:prstGeom>
          <a:noFill/>
          <a:ln/>
        </p:spPr>
        <p:txBody>
          <a:bodyPr wrap="square" lIns="0" tIns="0" rIns="0" bIns="0" rtlCol="0" anchor="ctr"/>
          <a:lstStyle/>
          <a:p>
            <a:pPr indent="0" marL="0">
              <a:buNone/>
            </a:pPr>
            <a:r>
              <a:rPr lang="en-US" sz="2200" dirty="0">
                <a:solidFill>
                  <a:srgbClr val="000000"/>
                </a:solidFill>
                <a:latin typeface="Georgia" pitchFamily="34" charset="0"/>
                <a:ea typeface="Georgia" pitchFamily="34" charset="-122"/>
                <a:cs typeface="Georgia" pitchFamily="34" charset="-120"/>
              </a:rPr>
              <a:t>B.  Yes</a:t>
            </a:r>
            <a:endParaRPr lang="en-US" sz="2200" dirty="0"/>
          </a:p>
        </p:txBody>
      </p:sp>
      <p:sp>
        <p:nvSpPr>
          <p:cNvPr id="6" name="Text 4"/>
          <p:cNvSpPr txBox="1"/>
          <p:nvPr/>
        </p:nvSpPr>
        <p:spPr>
          <a:xfrm>
            <a:off x="731520" y="4069080"/>
            <a:ext cx="6675120" cy="731520"/>
          </a:xfrm>
          <a:prstGeom prst="rect">
            <a:avLst/>
          </a:prstGeom>
          <a:noFill/>
          <a:ln/>
        </p:spPr>
        <p:txBody>
          <a:bodyPr wrap="square" lIns="0" tIns="0" rIns="0" bIns="0" rtlCol="0" anchor="ctr"/>
          <a:lstStyle/>
          <a:p>
            <a:pPr indent="0" marL="0">
              <a:buNone/>
            </a:pPr>
            <a:r>
              <a:rPr lang="en-US" sz="2200" dirty="0">
                <a:solidFill>
                  <a:srgbClr val="000000"/>
                </a:solidFill>
                <a:latin typeface="Georgia" pitchFamily="34" charset="0"/>
                <a:ea typeface="Georgia" pitchFamily="34" charset="-122"/>
                <a:cs typeface="Georgia" pitchFamily="34" charset="-120"/>
              </a:rPr>
              <a:t>C.  Only after the baby finishes the vaccine series</a:t>
            </a:r>
            <a:endParaRPr lang="en-US" sz="2200" dirty="0"/>
          </a:p>
        </p:txBody>
      </p:sp>
      <p:sp>
        <p:nvSpPr>
          <p:cNvPr id="7" name="Text 5"/>
          <p:cNvSpPr txBox="1"/>
          <p:nvPr/>
        </p:nvSpPr>
        <p:spPr>
          <a:xfrm>
            <a:off x="731520" y="4937760"/>
            <a:ext cx="6675120" cy="731520"/>
          </a:xfrm>
          <a:prstGeom prst="rect">
            <a:avLst/>
          </a:prstGeom>
          <a:noFill/>
          <a:ln/>
        </p:spPr>
        <p:txBody>
          <a:bodyPr wrap="square" lIns="0" tIns="0" rIns="0" bIns="0" rtlCol="0" anchor="ctr"/>
          <a:lstStyle/>
          <a:p>
            <a:pPr indent="0" marL="0">
              <a:buNone/>
            </a:pPr>
            <a:r>
              <a:rPr lang="en-US" sz="2200" dirty="0">
                <a:solidFill>
                  <a:srgbClr val="000000"/>
                </a:solidFill>
                <a:latin typeface="Georgia" pitchFamily="34" charset="0"/>
                <a:ea typeface="Georgia" pitchFamily="34" charset="-122"/>
                <a:cs typeface="Georgia" pitchFamily="34" charset="-120"/>
              </a:rPr>
              <a:t>D.  Only if her DNA is undetectable</a:t>
            </a:r>
            <a:endParaRPr lang="en-US" sz="2200" dirty="0"/>
          </a:p>
        </p:txBody>
      </p:sp>
      <p:pic>
        <p:nvPicPr>
          <p:cNvPr id="8" name="Image 0" descr="Watercolor of a sleeping swaddled newborn beside a vaccine syringe on a tray">    </p:cNvPr>
          <p:cNvPicPr>
            <a:picLocks noChangeAspect="1"/>
          </p:cNvPicPr>
          <p:nvPr/>
        </p:nvPicPr>
        <p:blipFill>
          <a:blip r:embed="rId1"/>
          <a:stretch>
            <a:fillRect/>
          </a:stretch>
        </p:blipFill>
        <p:spPr>
          <a:xfrm>
            <a:off x="7589520" y="1097280"/>
            <a:ext cx="4389120" cy="4389120"/>
          </a:xfrm>
          <a:prstGeom prst="rect">
            <a:avLst/>
          </a:prstGeom>
        </p:spPr>
      </p:pic>
      <p:sp>
        <p:nvSpPr>
          <p:cNvPr id="9"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 2018 (PMID 29405329); AASLD/IDSA 2025 (PMID 41186418).</a:t>
            </a:r>
            <a:endParaRPr lang="en-US" sz="1000" dirty="0"/>
          </a:p>
        </p:txBody>
      </p:sp>
      <p:sp>
        <p:nvSpPr>
          <p:cNvPr id="11"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31/38</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Same woman, after delivery</a:t>
            </a:r>
            <a:endParaRPr lang="en-US" sz="3000" dirty="0"/>
          </a:p>
        </p:txBody>
      </p:sp>
      <p:sp>
        <p:nvSpPr>
          <p:cNvPr id="3" name="Text 1"/>
          <p:cNvSpPr txBox="1"/>
          <p:nvPr/>
        </p:nvSpPr>
        <p:spPr>
          <a:xfrm>
            <a:off x="548640" y="1143000"/>
            <a:ext cx="6858000" cy="914400"/>
          </a:xfrm>
          <a:prstGeom prst="rect">
            <a:avLst/>
          </a:prstGeom>
          <a:noFill/>
          <a:ln/>
        </p:spPr>
        <p:txBody>
          <a:bodyPr wrap="square" lIns="0" tIns="0" rIns="0" bIns="0" rtlCol="0" anchor="ctr"/>
          <a:lstStyle/>
          <a:p>
            <a:pPr indent="0" marL="0">
              <a:buNone/>
            </a:pPr>
            <a:r>
              <a:rPr lang="en-US" sz="2400" b="1" dirty="0">
                <a:solidFill>
                  <a:srgbClr val="000000"/>
                </a:solidFill>
                <a:latin typeface="Georgia" pitchFamily="34" charset="0"/>
                <a:ea typeface="Georgia" pitchFamily="34" charset="-122"/>
                <a:cs typeface="Georgia" pitchFamily="34" charset="-120"/>
              </a:rPr>
              <a:t>She is on TDF. Can she breastfeed?</a:t>
            </a:r>
            <a:endParaRPr lang="en-US" sz="2400" dirty="0"/>
          </a:p>
        </p:txBody>
      </p:sp>
      <p:sp>
        <p:nvSpPr>
          <p:cNvPr id="4" name="Text 2"/>
          <p:cNvSpPr txBox="1"/>
          <p:nvPr/>
        </p:nvSpPr>
        <p:spPr>
          <a:xfrm>
            <a:off x="731520" y="2331720"/>
            <a:ext cx="6675120" cy="731520"/>
          </a:xfrm>
          <a:prstGeom prst="rect">
            <a:avLst/>
          </a:prstGeom>
          <a:noFill/>
          <a:ln/>
        </p:spPr>
        <p:txBody>
          <a:bodyPr wrap="square" lIns="0" tIns="0" rIns="0" bIns="0" rtlCol="0" anchor="ctr"/>
          <a:lstStyle/>
          <a:p>
            <a:pPr indent="0" marL="0">
              <a:buNone/>
            </a:pPr>
            <a:r>
              <a:rPr lang="en-US" sz="2200" dirty="0">
                <a:solidFill>
                  <a:srgbClr val="000000"/>
                </a:solidFill>
                <a:latin typeface="Georgia" pitchFamily="34" charset="0"/>
                <a:ea typeface="Georgia" pitchFamily="34" charset="-122"/>
                <a:cs typeface="Georgia" pitchFamily="34" charset="-120"/>
              </a:rPr>
              <a:t>A.  No, tenofovir in breast milk harms the baby</a:t>
            </a:r>
            <a:endParaRPr lang="en-US" sz="2200" dirty="0"/>
          </a:p>
        </p:txBody>
      </p:sp>
      <p:sp>
        <p:nvSpPr>
          <p:cNvPr id="5" name="Text 3"/>
          <p:cNvSpPr txBox="1"/>
          <p:nvPr/>
        </p:nvSpPr>
        <p:spPr>
          <a:xfrm>
            <a:off x="731520" y="3200400"/>
            <a:ext cx="6675120" cy="731520"/>
          </a:xfrm>
          <a:prstGeom prst="rect">
            <a:avLst/>
          </a:prstGeom>
          <a:noFill/>
          <a:ln/>
        </p:spPr>
        <p:txBody>
          <a:bodyPr wrap="square" lIns="0" tIns="0" rIns="0" bIns="0" rtlCol="0" anchor="ctr"/>
          <a:lstStyle/>
          <a:p>
            <a:pPr indent="0" marL="0">
              <a:buNone/>
            </a:pPr>
            <a:r>
              <a:rPr lang="en-US" sz="2200" b="1" dirty="0">
                <a:solidFill>
                  <a:srgbClr val="000000"/>
                </a:solidFill>
                <a:highlight>
                  <a:srgbClr val="FFFF00"/>
                </a:highlight>
                <a:latin typeface="Georgia" pitchFamily="34" charset="0"/>
                <a:ea typeface="Georgia" pitchFamily="34" charset="-122"/>
                <a:cs typeface="Georgia" pitchFamily="34" charset="-120"/>
              </a:rPr>
              <a:t>B.  Yes</a:t>
            </a:r>
            <a:endParaRPr lang="en-US" sz="2200" dirty="0"/>
          </a:p>
        </p:txBody>
      </p:sp>
      <p:sp>
        <p:nvSpPr>
          <p:cNvPr id="6" name="Text 4"/>
          <p:cNvSpPr txBox="1"/>
          <p:nvPr/>
        </p:nvSpPr>
        <p:spPr>
          <a:xfrm>
            <a:off x="731520" y="4069080"/>
            <a:ext cx="6675120" cy="731520"/>
          </a:xfrm>
          <a:prstGeom prst="rect">
            <a:avLst/>
          </a:prstGeom>
          <a:noFill/>
          <a:ln/>
        </p:spPr>
        <p:txBody>
          <a:bodyPr wrap="square" lIns="0" tIns="0" rIns="0" bIns="0" rtlCol="0" anchor="ctr"/>
          <a:lstStyle/>
          <a:p>
            <a:pPr indent="0" marL="0">
              <a:buNone/>
            </a:pPr>
            <a:r>
              <a:rPr lang="en-US" sz="2200" dirty="0">
                <a:solidFill>
                  <a:srgbClr val="000000"/>
                </a:solidFill>
                <a:latin typeface="Georgia" pitchFamily="34" charset="0"/>
                <a:ea typeface="Georgia" pitchFamily="34" charset="-122"/>
                <a:cs typeface="Georgia" pitchFamily="34" charset="-120"/>
              </a:rPr>
              <a:t>C.  Only after the baby finishes the vaccine series</a:t>
            </a:r>
            <a:endParaRPr lang="en-US" sz="2200" dirty="0"/>
          </a:p>
        </p:txBody>
      </p:sp>
      <p:sp>
        <p:nvSpPr>
          <p:cNvPr id="7" name="Text 5"/>
          <p:cNvSpPr txBox="1"/>
          <p:nvPr/>
        </p:nvSpPr>
        <p:spPr>
          <a:xfrm>
            <a:off x="731520" y="4937760"/>
            <a:ext cx="6675120" cy="731520"/>
          </a:xfrm>
          <a:prstGeom prst="rect">
            <a:avLst/>
          </a:prstGeom>
          <a:noFill/>
          <a:ln/>
        </p:spPr>
        <p:txBody>
          <a:bodyPr wrap="square" lIns="0" tIns="0" rIns="0" bIns="0" rtlCol="0" anchor="ctr"/>
          <a:lstStyle/>
          <a:p>
            <a:pPr indent="0" marL="0">
              <a:buNone/>
            </a:pPr>
            <a:r>
              <a:rPr lang="en-US" sz="2200" dirty="0">
                <a:solidFill>
                  <a:srgbClr val="000000"/>
                </a:solidFill>
                <a:latin typeface="Georgia" pitchFamily="34" charset="0"/>
                <a:ea typeface="Georgia" pitchFamily="34" charset="-122"/>
                <a:cs typeface="Georgia" pitchFamily="34" charset="-120"/>
              </a:rPr>
              <a:t>D.  Only if her DNA is undetectable</a:t>
            </a:r>
            <a:endParaRPr lang="en-US" sz="2200" dirty="0"/>
          </a:p>
        </p:txBody>
      </p:sp>
      <p:pic>
        <p:nvPicPr>
          <p:cNvPr id="8" name="Image 0" descr="Watercolor of a sleeping swaddled newborn beside a vaccine syringe on a tray">    </p:cNvPr>
          <p:cNvPicPr>
            <a:picLocks noChangeAspect="1"/>
          </p:cNvPicPr>
          <p:nvPr/>
        </p:nvPicPr>
        <p:blipFill>
          <a:blip r:embed="rId1"/>
          <a:stretch>
            <a:fillRect/>
          </a:stretch>
        </p:blipFill>
        <p:spPr>
          <a:xfrm>
            <a:off x="7589520" y="1097280"/>
            <a:ext cx="4389120" cy="4389120"/>
          </a:xfrm>
          <a:prstGeom prst="rect">
            <a:avLst/>
          </a:prstGeom>
        </p:spPr>
      </p:pic>
      <p:sp>
        <p:nvSpPr>
          <p:cNvPr id="9"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 2018 (PMID 29405329); AASLD/IDSA 2025 (PMID 41186418).</a:t>
            </a:r>
            <a:endParaRPr lang="en-US" sz="1000" dirty="0"/>
          </a:p>
        </p:txBody>
      </p:sp>
      <p:sp>
        <p:nvSpPr>
          <p:cNvPr id="11"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31/38</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Pregnancy: summary</a:t>
            </a:r>
            <a:endParaRPr lang="en-US" sz="3000" dirty="0"/>
          </a:p>
        </p:txBody>
      </p:sp>
      <p:sp>
        <p:nvSpPr>
          <p:cNvPr id="3" name="Body"/>
          <p:cNvSpPr txBox="1"/>
          <p:nvPr/>
        </p:nvSpPr>
        <p:spPr>
          <a:xfrm>
            <a:off x="548640" y="1188720"/>
            <a:ext cx="6949440" cy="5029200"/>
          </a:xfrm>
          <a:prstGeom prst="rect">
            <a:avLst/>
          </a:prstGeom>
          <a:noFill/>
          <a:ln/>
        </p:spPr>
        <p:txBody>
          <a:bodyPr wrap="square" lIns="50800" tIns="50800" rIns="50800" bIns="50800" rtlCol="0" anchor="t"/>
          <a:lstStyle/>
          <a:p>
            <a:pPr marL="228600" indent="-228600">
              <a:spcBef>
                <a:spcPts val="1000"/>
              </a:spcBef>
              <a:buSzPct val="100000"/>
              <a:buChar char="–"/>
            </a:pPr>
            <a:r>
              <a:rPr lang="en-US" sz="2100" dirty="0">
                <a:solidFill>
                  <a:srgbClr val="000000"/>
                </a:solidFill>
                <a:latin typeface="Georgia" pitchFamily="34" charset="0"/>
                <a:ea typeface="Georgia" pitchFamily="34" charset="-122"/>
                <a:cs typeface="Georgia" pitchFamily="34" charset="-120"/>
              </a:rPr>
              <a:t>Test HBsAg in every pregnancy</a:t>
            </a:r>
            <a:endParaRPr lang="en-US" sz="2100" dirty="0"/>
          </a:p>
          <a:p>
            <a:pPr marL="228600" indent="-228600">
              <a:spcBef>
                <a:spcPts val="1000"/>
              </a:spcBef>
              <a:buSzPct val="100000"/>
              <a:buChar char="–"/>
            </a:pPr>
            <a:r>
              <a:rPr lang="en-US" sz="2100" dirty="0">
                <a:solidFill>
                  <a:srgbClr val="000000"/>
                </a:solidFill>
                <a:latin typeface="Georgia" pitchFamily="34" charset="0"/>
                <a:ea typeface="Georgia" pitchFamily="34" charset="-122"/>
                <a:cs typeface="Georgia" pitchFamily="34" charset="-120"/>
              </a:rPr>
              <a:t>HBsAg positive: check DNA and ALT</a:t>
            </a:r>
            <a:endParaRPr lang="en-US" sz="2100" dirty="0"/>
          </a:p>
          <a:p>
            <a:pPr marL="228600" indent="-228600">
              <a:spcBef>
                <a:spcPts val="1000"/>
              </a:spcBef>
              <a:buSzPct val="100000"/>
              <a:buChar char="–"/>
            </a:pPr>
            <a:r>
              <a:rPr lang="en-US" sz="2100" b="1" dirty="0">
                <a:solidFill>
                  <a:srgbClr val="000000"/>
                </a:solidFill>
                <a:latin typeface="Georgia" pitchFamily="34" charset="0"/>
                <a:ea typeface="Georgia" pitchFamily="34" charset="-122"/>
                <a:cs typeface="Georgia" pitchFamily="34" charset="-120"/>
              </a:rPr>
              <a:t>DNA above 200,000: TDF or TAF from week 28</a:t>
            </a:r>
            <a:endParaRPr lang="en-US" sz="2100" dirty="0"/>
          </a:p>
          <a:p>
            <a:pPr marL="228600" indent="-228600">
              <a:spcBef>
                <a:spcPts val="1000"/>
              </a:spcBef>
              <a:buSzPct val="100000"/>
              <a:buChar char="–"/>
            </a:pPr>
            <a:r>
              <a:rPr lang="en-US" sz="2100" dirty="0">
                <a:solidFill>
                  <a:srgbClr val="000000"/>
                </a:solidFill>
                <a:latin typeface="Georgia" pitchFamily="34" charset="0"/>
                <a:ea typeface="Georgia" pitchFamily="34" charset="-122"/>
                <a:cs typeface="Georgia" pitchFamily="34" charset="-120"/>
              </a:rPr>
              <a:t>Baby: hepatitis B vaccine and HBIG within 12 hours of birth, then finish the series</a:t>
            </a:r>
            <a:endParaRPr lang="en-US" sz="2100" dirty="0"/>
          </a:p>
          <a:p>
            <a:pPr marL="228600" indent="-228600">
              <a:spcBef>
                <a:spcPts val="1000"/>
              </a:spcBef>
              <a:buSzPct val="100000"/>
              <a:buChar char="–"/>
            </a:pPr>
            <a:r>
              <a:rPr lang="en-US" sz="2100" dirty="0">
                <a:solidFill>
                  <a:srgbClr val="000000"/>
                </a:solidFill>
                <a:latin typeface="Georgia" pitchFamily="34" charset="0"/>
                <a:ea typeface="Georgia" pitchFamily="34" charset="-122"/>
                <a:cs typeface="Georgia" pitchFamily="34" charset="-120"/>
              </a:rPr>
              <a:t>Test the baby at 9 to 12 months: HBsAg and anti-HBs</a:t>
            </a:r>
            <a:endParaRPr lang="en-US" sz="2100" dirty="0"/>
          </a:p>
          <a:p>
            <a:pPr marL="228600" indent="-228600">
              <a:spcBef>
                <a:spcPts val="1000"/>
              </a:spcBef>
              <a:buSzPct val="100000"/>
              <a:buChar char="–"/>
            </a:pPr>
            <a:r>
              <a:rPr lang="en-US" sz="2100" dirty="0">
                <a:solidFill>
                  <a:srgbClr val="000000"/>
                </a:solidFill>
                <a:latin typeface="Georgia" pitchFamily="34" charset="0"/>
                <a:ea typeface="Georgia" pitchFamily="34" charset="-122"/>
                <a:cs typeface="Georgia" pitchFamily="34" charset="-120"/>
              </a:rPr>
              <a:t>Breastfeeding is fine</a:t>
            </a:r>
            <a:endParaRPr lang="en-US" sz="2100" dirty="0"/>
          </a:p>
          <a:p>
            <a:pPr marL="228600" indent="-228600">
              <a:spcBef>
                <a:spcPts val="1000"/>
              </a:spcBef>
              <a:buSzPct val="100000"/>
              <a:buChar char="–"/>
            </a:pPr>
            <a:r>
              <a:rPr lang="en-US" sz="2100" dirty="0">
                <a:solidFill>
                  <a:srgbClr val="000000"/>
                </a:solidFill>
                <a:latin typeface="Georgia" pitchFamily="34" charset="0"/>
                <a:ea typeface="Georgia" pitchFamily="34" charset="-122"/>
                <a:cs typeface="Georgia" pitchFamily="34" charset="-120"/>
              </a:rPr>
              <a:t>If she stops after delivery: DNA and ALT every 1 to 3 months for 6 months</a:t>
            </a:r>
            <a:endParaRPr lang="en-US" sz="2100" dirty="0"/>
          </a:p>
        </p:txBody>
      </p:sp>
      <p:pic>
        <p:nvPicPr>
          <p:cNvPr id="4" name="Image 0" descr="Watercolor of a seated pregnant woman in profile">    </p:cNvPr>
          <p:cNvPicPr>
            <a:picLocks noChangeAspect="1"/>
          </p:cNvPicPr>
          <p:nvPr/>
        </p:nvPicPr>
        <p:blipFill>
          <a:blip r:embed="rId1"/>
          <a:stretch>
            <a:fillRect/>
          </a:stretch>
        </p:blipFill>
        <p:spPr>
          <a:xfrm>
            <a:off x="7772400" y="1188720"/>
            <a:ext cx="4114800" cy="4114800"/>
          </a:xfrm>
          <a:prstGeom prst="rect">
            <a:avLst/>
          </a:prstGeom>
        </p:spPr>
      </p:pic>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AASLD/IDSA 2025 R1 (PMID 41186418); CDC 2023 (PMID 36893044); CDC perinatal hepatitis B guidance.</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32/38</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Same man, 57 years old, five years on TAF</a:t>
            </a:r>
            <a:endParaRPr lang="en-US" sz="3000" dirty="0"/>
          </a:p>
        </p:txBody>
      </p:sp>
      <p:graphicFrame>
        <p:nvGraphicFramePr>
          <p:cNvPr id="55" name="Table"/>
          <p:cNvGraphicFramePr>
            <a:graphicFrameLocks noGrp="1"/>
          </p:cNvGraphicFramePr>
          <p:nvPr>
            <p:extLst>
              <p:ext uri="{D42A27DB-BD31-4B8C-83A1-F6EECF244321}">
                <p14:modId xmlns:p14="http://schemas.microsoft.com/office/powerpoint/2010/main" val="1579011935"/>
              </p:ext>
            </p:extLst>
          </p:nvPr>
        </p:nvGraphicFramePr>
        <p:xfrm>
          <a:off x="365760" y="1188720"/>
          <a:ext cx="7863840" cy="914400"/>
        </p:xfrm>
        <a:graphic>
          <a:graphicData uri="http://schemas.openxmlformats.org/drawingml/2006/table">
            <a:tbl>
              <a:tblPr/>
              <a:tblGrid>
                <a:gridCol w="4453128"/>
                <a:gridCol w="2660904"/>
                <a:gridCol w="749808"/>
              </a:tblGrid>
              <a:tr h="594360">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Condition for stopping</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Our patient</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Met?</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9436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No cirrhosis or advanced disease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Stiffness 5.9 kPa</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HBV DNA undetectable for 2 years or more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Undetectable for 5 years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HBsAg under 100 IU/mL</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400 IU/mL</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No HIV or HDV</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Both negative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Reliable follow-up</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Yes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pic>
        <p:nvPicPr>
          <p:cNvPr id="4" name="Image 0" descr="Watercolor of the same man in his fifties, gray at the temples, with reading glasses">    </p:cNvPr>
          <p:cNvPicPr>
            <a:picLocks noChangeAspect="1"/>
          </p:cNvPicPr>
          <p:nvPr/>
        </p:nvPicPr>
        <p:blipFill>
          <a:blip r:embed="rId1"/>
          <a:stretch>
            <a:fillRect/>
          </a:stretch>
        </p:blipFill>
        <p:spPr>
          <a:xfrm>
            <a:off x="8321040" y="1188720"/>
            <a:ext cx="3749040" cy="3749040"/>
          </a:xfrm>
          <a:prstGeom prst="rect">
            <a:avLst/>
          </a:prstGeom>
        </p:spPr>
      </p:pic>
      <p:sp>
        <p:nvSpPr>
          <p:cNvPr id="5" name="Question"/>
          <p:cNvSpPr txBox="1"/>
          <p:nvPr/>
        </p:nvSpPr>
        <p:spPr>
          <a:xfrm>
            <a:off x="365760" y="5029200"/>
            <a:ext cx="7863840"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Can he stop?</a:t>
            </a:r>
            <a:endParaRPr lang="en-US" sz="26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AASLD/IDSA 2025 R5. Hepatology 2026;83:974-997, PMID 41186418.</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33/38</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Same man, 57 years old, five years on TAF</a:t>
            </a:r>
            <a:endParaRPr lang="en-US" sz="3000" dirty="0"/>
          </a:p>
        </p:txBody>
      </p:sp>
      <p:graphicFrame>
        <p:nvGraphicFramePr>
          <p:cNvPr id="56" name="Table"/>
          <p:cNvGraphicFramePr>
            <a:graphicFrameLocks noGrp="1"/>
          </p:cNvGraphicFramePr>
          <p:nvPr>
            <p:extLst>
              <p:ext uri="{D42A27DB-BD31-4B8C-83A1-F6EECF244321}">
                <p14:modId xmlns:p14="http://schemas.microsoft.com/office/powerpoint/2010/main" val="1579011935"/>
              </p:ext>
            </p:extLst>
          </p:nvPr>
        </p:nvGraphicFramePr>
        <p:xfrm>
          <a:off x="365760" y="1188720"/>
          <a:ext cx="7863840" cy="914400"/>
        </p:xfrm>
        <a:graphic>
          <a:graphicData uri="http://schemas.openxmlformats.org/drawingml/2006/table">
            <a:tbl>
              <a:tblPr/>
              <a:tblGrid>
                <a:gridCol w="4453128"/>
                <a:gridCol w="2660904"/>
                <a:gridCol w="749808"/>
              </a:tblGrid>
              <a:tr h="594360">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Condition for stopping</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Our patient</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Met?</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9436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No cirrhosis or advanced disease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Stiffness 5.9 kPa</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Yes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HBV DNA undetectable for 2 years or more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Undetectable for 5 years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Yes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HBsAg under 100 IU/mL</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400 IU/mL</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b="1" dirty="0">
                          <a:solidFill>
                            <a:srgbClr val="C00000"/>
                          </a:solidFill>
                          <a:latin typeface="Calibri" pitchFamily="34" charset="0"/>
                          <a:ea typeface="Calibri" pitchFamily="34" charset="-122"/>
                          <a:cs typeface="Calibri" pitchFamily="34" charset="-120"/>
                        </a:rPr>
                        <a:t>No</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No HIV or HDV</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Both negative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Yes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Reliable follow-up</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Yes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Yes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pic>
        <p:nvPicPr>
          <p:cNvPr id="4" name="Image 0" descr="Watercolor of the same man in his fifties, gray at the temples, with reading glasses">    </p:cNvPr>
          <p:cNvPicPr>
            <a:picLocks noChangeAspect="1"/>
          </p:cNvPicPr>
          <p:nvPr/>
        </p:nvPicPr>
        <p:blipFill>
          <a:blip r:embed="rId1"/>
          <a:stretch>
            <a:fillRect/>
          </a:stretch>
        </p:blipFill>
        <p:spPr>
          <a:xfrm>
            <a:off x="8321040" y="1188720"/>
            <a:ext cx="3749040" cy="3749040"/>
          </a:xfrm>
          <a:prstGeom prst="rect">
            <a:avLst/>
          </a:prstGeom>
        </p:spPr>
      </p:pic>
      <p:sp>
        <p:nvSpPr>
          <p:cNvPr id="5" name="Question"/>
          <p:cNvSpPr txBox="1"/>
          <p:nvPr/>
        </p:nvSpPr>
        <p:spPr>
          <a:xfrm>
            <a:off x="365760" y="5029200"/>
            <a:ext cx="7863840"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Can he stop?</a:t>
            </a:r>
            <a:endParaRPr lang="en-US" sz="2600" dirty="0"/>
          </a:p>
        </p:txBody>
      </p:sp>
      <p:sp>
        <p:nvSpPr>
          <p:cNvPr id="6" name="Question"/>
          <p:cNvSpPr txBox="1"/>
          <p:nvPr/>
        </p:nvSpPr>
        <p:spPr>
          <a:xfrm>
            <a:off x="365760" y="5577840"/>
            <a:ext cx="7863840" cy="548640"/>
          </a:xfrm>
          <a:prstGeom prst="rect">
            <a:avLst/>
          </a:prstGeom>
          <a:noFill/>
          <a:ln/>
        </p:spPr>
        <p:txBody>
          <a:bodyPr wrap="square" lIns="0" tIns="0" rIns="0" bIns="0" rtlCol="0" anchor="ctr"/>
          <a:lstStyle/>
          <a:p>
            <a:pPr algn="ctr" indent="0" marL="0">
              <a:buNone/>
            </a:pPr>
            <a:r>
              <a:rPr lang="en-US" sz="2200" b="1" dirty="0">
                <a:solidFill>
                  <a:srgbClr val="000000"/>
                </a:solidFill>
                <a:highlight>
                  <a:srgbClr val="FFFF00"/>
                </a:highlight>
                <a:latin typeface="Georgia" pitchFamily="34" charset="0"/>
                <a:ea typeface="Georgia" pitchFamily="34" charset="-122"/>
                <a:cs typeface="Georgia" pitchFamily="34" charset="-120"/>
              </a:rPr>
              <a:t>No. Continue until HBsAg is lost</a:t>
            </a:r>
            <a:endParaRPr lang="en-US" sz="2200" dirty="0"/>
          </a:p>
        </p:txBody>
      </p:sp>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AASLD/IDSA 2025 R5. Hepatology 2026;83:974-997, PMID 41186418.</a:t>
            </a:r>
            <a:endParaRPr lang="en-US" sz="1000" dirty="0"/>
          </a:p>
        </p:txBody>
      </p:sp>
      <p:sp>
        <p:nvSpPr>
          <p:cNvPr id="9"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33/38</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 different patient stops TAF</a:t>
            </a:r>
            <a:endParaRPr lang="en-US" sz="3000" dirty="0"/>
          </a:p>
        </p:txBody>
      </p:sp>
      <p:sp>
        <p:nvSpPr>
          <p:cNvPr id="3" name="Text 1"/>
          <p:cNvSpPr txBox="1"/>
          <p:nvPr/>
        </p:nvSpPr>
        <p:spPr>
          <a:xfrm>
            <a:off x="548640" y="1143000"/>
            <a:ext cx="6858000" cy="914400"/>
          </a:xfrm>
          <a:prstGeom prst="rect">
            <a:avLst/>
          </a:prstGeom>
          <a:noFill/>
          <a:ln/>
        </p:spPr>
        <p:txBody>
          <a:bodyPr wrap="square" lIns="0" tIns="0" rIns="0" bIns="0" rtlCol="0" anchor="ctr"/>
          <a:lstStyle/>
          <a:p>
            <a:pPr indent="0" marL="0">
              <a:buNone/>
            </a:pPr>
            <a:r>
              <a:rPr lang="en-US" sz="2400" b="1" dirty="0">
                <a:solidFill>
                  <a:srgbClr val="000000"/>
                </a:solidFill>
                <a:latin typeface="Georgia" pitchFamily="34" charset="0"/>
                <a:ea typeface="Georgia" pitchFamily="34" charset="-122"/>
                <a:cs typeface="Georgia" pitchFamily="34" charset="-120"/>
              </a:rPr>
              <a:t>Which result means restart now?</a:t>
            </a:r>
            <a:endParaRPr lang="en-US" sz="2400" dirty="0"/>
          </a:p>
        </p:txBody>
      </p:sp>
      <p:sp>
        <p:nvSpPr>
          <p:cNvPr id="4" name="Text 2"/>
          <p:cNvSpPr txBox="1"/>
          <p:nvPr/>
        </p:nvSpPr>
        <p:spPr>
          <a:xfrm>
            <a:off x="731520" y="2331720"/>
            <a:ext cx="6675120" cy="731520"/>
          </a:xfrm>
          <a:prstGeom prst="rect">
            <a:avLst/>
          </a:prstGeom>
          <a:noFill/>
          <a:ln/>
        </p:spPr>
        <p:txBody>
          <a:bodyPr wrap="square" lIns="0" tIns="0" rIns="0" bIns="0" rtlCol="0" anchor="ctr"/>
          <a:lstStyle/>
          <a:p>
            <a:pPr indent="0" marL="0">
              <a:buNone/>
            </a:pPr>
            <a:r>
              <a:rPr lang="en-US" sz="2200" dirty="0">
                <a:solidFill>
                  <a:srgbClr val="000000"/>
                </a:solidFill>
                <a:latin typeface="Georgia" pitchFamily="34" charset="0"/>
                <a:ea typeface="Georgia" pitchFamily="34" charset="-122"/>
                <a:cs typeface="Georgia" pitchFamily="34" charset="-120"/>
              </a:rPr>
              <a:t>A.  ALT 1.5 times ULN</a:t>
            </a:r>
            <a:endParaRPr lang="en-US" sz="2200" dirty="0"/>
          </a:p>
        </p:txBody>
      </p:sp>
      <p:sp>
        <p:nvSpPr>
          <p:cNvPr id="5" name="Text 3"/>
          <p:cNvSpPr txBox="1"/>
          <p:nvPr/>
        </p:nvSpPr>
        <p:spPr>
          <a:xfrm>
            <a:off x="731520" y="3200400"/>
            <a:ext cx="6675120" cy="731520"/>
          </a:xfrm>
          <a:prstGeom prst="rect">
            <a:avLst/>
          </a:prstGeom>
          <a:noFill/>
          <a:ln/>
        </p:spPr>
        <p:txBody>
          <a:bodyPr wrap="square" lIns="0" tIns="0" rIns="0" bIns="0" rtlCol="0" anchor="ctr"/>
          <a:lstStyle/>
          <a:p>
            <a:pPr indent="0" marL="0">
              <a:buNone/>
            </a:pPr>
            <a:r>
              <a:rPr lang="en-US" sz="2200" dirty="0">
                <a:solidFill>
                  <a:srgbClr val="000000"/>
                </a:solidFill>
                <a:latin typeface="Georgia" pitchFamily="34" charset="0"/>
                <a:ea typeface="Georgia" pitchFamily="34" charset="-122"/>
                <a:cs typeface="Georgia" pitchFamily="34" charset="-120"/>
              </a:rPr>
              <a:t>B.  HBV DNA 10,000 IU/mL</a:t>
            </a:r>
            <a:endParaRPr lang="en-US" sz="2200" dirty="0"/>
          </a:p>
        </p:txBody>
      </p:sp>
      <p:sp>
        <p:nvSpPr>
          <p:cNvPr id="6" name="Text 4"/>
          <p:cNvSpPr txBox="1"/>
          <p:nvPr/>
        </p:nvSpPr>
        <p:spPr>
          <a:xfrm>
            <a:off x="731520" y="4069080"/>
            <a:ext cx="6675120" cy="731520"/>
          </a:xfrm>
          <a:prstGeom prst="rect">
            <a:avLst/>
          </a:prstGeom>
          <a:noFill/>
          <a:ln/>
        </p:spPr>
        <p:txBody>
          <a:bodyPr wrap="square" lIns="0" tIns="0" rIns="0" bIns="0" rtlCol="0" anchor="ctr"/>
          <a:lstStyle/>
          <a:p>
            <a:pPr indent="0" marL="0">
              <a:buNone/>
            </a:pPr>
            <a:r>
              <a:rPr lang="en-US" sz="2200" dirty="0">
                <a:solidFill>
                  <a:srgbClr val="000000"/>
                </a:solidFill>
                <a:latin typeface="Georgia" pitchFamily="34" charset="0"/>
                <a:ea typeface="Georgia" pitchFamily="34" charset="-122"/>
                <a:cs typeface="Georgia" pitchFamily="34" charset="-120"/>
              </a:rPr>
              <a:t>C.  HBsAg 200 IU/mL</a:t>
            </a:r>
            <a:endParaRPr lang="en-US" sz="2200" dirty="0"/>
          </a:p>
        </p:txBody>
      </p:sp>
      <p:sp>
        <p:nvSpPr>
          <p:cNvPr id="7" name="Text 5"/>
          <p:cNvSpPr txBox="1"/>
          <p:nvPr/>
        </p:nvSpPr>
        <p:spPr>
          <a:xfrm>
            <a:off x="731520" y="4937760"/>
            <a:ext cx="6675120" cy="731520"/>
          </a:xfrm>
          <a:prstGeom prst="rect">
            <a:avLst/>
          </a:prstGeom>
          <a:noFill/>
          <a:ln/>
        </p:spPr>
        <p:txBody>
          <a:bodyPr wrap="square" lIns="0" tIns="0" rIns="0" bIns="0" rtlCol="0" anchor="ctr"/>
          <a:lstStyle/>
          <a:p>
            <a:pPr indent="0" marL="0">
              <a:buNone/>
            </a:pPr>
            <a:r>
              <a:rPr lang="en-US" sz="2200" dirty="0">
                <a:solidFill>
                  <a:srgbClr val="000000"/>
                </a:solidFill>
                <a:latin typeface="Georgia" pitchFamily="34" charset="0"/>
                <a:ea typeface="Georgia" pitchFamily="34" charset="-122"/>
                <a:cs typeface="Georgia" pitchFamily="34" charset="-120"/>
              </a:rPr>
              <a:t>D.  Anti-HBs negative</a:t>
            </a:r>
            <a:endParaRPr lang="en-US" sz="2200" dirty="0"/>
          </a:p>
        </p:txBody>
      </p:sp>
      <p:pic>
        <p:nvPicPr>
          <p:cNvPr id="8" name="Image 0" descr="Watercolor of blood collection tubes in a rack">    </p:cNvPr>
          <p:cNvPicPr>
            <a:picLocks noChangeAspect="1"/>
          </p:cNvPicPr>
          <p:nvPr/>
        </p:nvPicPr>
        <p:blipFill>
          <a:blip r:embed="rId1"/>
          <a:stretch>
            <a:fillRect/>
          </a:stretch>
        </p:blipFill>
        <p:spPr>
          <a:xfrm>
            <a:off x="7589520" y="1097280"/>
            <a:ext cx="4389120" cy="4389120"/>
          </a:xfrm>
          <a:prstGeom prst="rect">
            <a:avLst/>
          </a:prstGeom>
        </p:spPr>
      </p:pic>
      <p:sp>
        <p:nvSpPr>
          <p:cNvPr id="9"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AASLD/IDSA 2025 Table 3 (PMID 41186418).</a:t>
            </a:r>
            <a:endParaRPr lang="en-US" sz="1000" dirty="0"/>
          </a:p>
        </p:txBody>
      </p:sp>
      <p:sp>
        <p:nvSpPr>
          <p:cNvPr id="11"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34/38</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 different patient stops TAF</a:t>
            </a:r>
            <a:endParaRPr lang="en-US" sz="3000" dirty="0"/>
          </a:p>
        </p:txBody>
      </p:sp>
      <p:sp>
        <p:nvSpPr>
          <p:cNvPr id="3" name="Text 1"/>
          <p:cNvSpPr txBox="1"/>
          <p:nvPr/>
        </p:nvSpPr>
        <p:spPr>
          <a:xfrm>
            <a:off x="548640" y="1143000"/>
            <a:ext cx="6858000" cy="914400"/>
          </a:xfrm>
          <a:prstGeom prst="rect">
            <a:avLst/>
          </a:prstGeom>
          <a:noFill/>
          <a:ln/>
        </p:spPr>
        <p:txBody>
          <a:bodyPr wrap="square" lIns="0" tIns="0" rIns="0" bIns="0" rtlCol="0" anchor="ctr"/>
          <a:lstStyle/>
          <a:p>
            <a:pPr indent="0" marL="0">
              <a:buNone/>
            </a:pPr>
            <a:r>
              <a:rPr lang="en-US" sz="2400" b="1" dirty="0">
                <a:solidFill>
                  <a:srgbClr val="000000"/>
                </a:solidFill>
                <a:latin typeface="Georgia" pitchFamily="34" charset="0"/>
                <a:ea typeface="Georgia" pitchFamily="34" charset="-122"/>
                <a:cs typeface="Georgia" pitchFamily="34" charset="-120"/>
              </a:rPr>
              <a:t>Which result means restart now?</a:t>
            </a:r>
            <a:endParaRPr lang="en-US" sz="2400" dirty="0"/>
          </a:p>
        </p:txBody>
      </p:sp>
      <p:sp>
        <p:nvSpPr>
          <p:cNvPr id="4" name="Text 2"/>
          <p:cNvSpPr txBox="1"/>
          <p:nvPr/>
        </p:nvSpPr>
        <p:spPr>
          <a:xfrm>
            <a:off x="731520" y="2331720"/>
            <a:ext cx="6675120" cy="731520"/>
          </a:xfrm>
          <a:prstGeom prst="rect">
            <a:avLst/>
          </a:prstGeom>
          <a:noFill/>
          <a:ln/>
        </p:spPr>
        <p:txBody>
          <a:bodyPr wrap="square" lIns="0" tIns="0" rIns="0" bIns="0" rtlCol="0" anchor="ctr"/>
          <a:lstStyle/>
          <a:p>
            <a:pPr indent="0" marL="0">
              <a:buNone/>
            </a:pPr>
            <a:r>
              <a:rPr lang="en-US" sz="2200" dirty="0">
                <a:solidFill>
                  <a:srgbClr val="000000"/>
                </a:solidFill>
                <a:latin typeface="Georgia" pitchFamily="34" charset="0"/>
                <a:ea typeface="Georgia" pitchFamily="34" charset="-122"/>
                <a:cs typeface="Georgia" pitchFamily="34" charset="-120"/>
              </a:rPr>
              <a:t>A.  ALT 1.5 times ULN</a:t>
            </a:r>
            <a:endParaRPr lang="en-US" sz="2200" dirty="0"/>
          </a:p>
        </p:txBody>
      </p:sp>
      <p:sp>
        <p:nvSpPr>
          <p:cNvPr id="5" name="Text 3"/>
          <p:cNvSpPr txBox="1"/>
          <p:nvPr/>
        </p:nvSpPr>
        <p:spPr>
          <a:xfrm>
            <a:off x="731520" y="3200400"/>
            <a:ext cx="6675120" cy="731520"/>
          </a:xfrm>
          <a:prstGeom prst="rect">
            <a:avLst/>
          </a:prstGeom>
          <a:noFill/>
          <a:ln/>
        </p:spPr>
        <p:txBody>
          <a:bodyPr wrap="square" lIns="0" tIns="0" rIns="0" bIns="0" rtlCol="0" anchor="ctr"/>
          <a:lstStyle/>
          <a:p>
            <a:pPr indent="0" marL="0">
              <a:buNone/>
            </a:pPr>
            <a:r>
              <a:rPr lang="en-US" sz="2200" b="1" dirty="0">
                <a:solidFill>
                  <a:srgbClr val="000000"/>
                </a:solidFill>
                <a:highlight>
                  <a:srgbClr val="FFFF00"/>
                </a:highlight>
                <a:latin typeface="Georgia" pitchFamily="34" charset="0"/>
                <a:ea typeface="Georgia" pitchFamily="34" charset="-122"/>
                <a:cs typeface="Georgia" pitchFamily="34" charset="-120"/>
              </a:rPr>
              <a:t>B.  HBV DNA 10,000 IU/mL</a:t>
            </a:r>
            <a:endParaRPr lang="en-US" sz="2200" dirty="0"/>
          </a:p>
        </p:txBody>
      </p:sp>
      <p:sp>
        <p:nvSpPr>
          <p:cNvPr id="6" name="Text 4"/>
          <p:cNvSpPr txBox="1"/>
          <p:nvPr/>
        </p:nvSpPr>
        <p:spPr>
          <a:xfrm>
            <a:off x="731520" y="4069080"/>
            <a:ext cx="6675120" cy="731520"/>
          </a:xfrm>
          <a:prstGeom prst="rect">
            <a:avLst/>
          </a:prstGeom>
          <a:noFill/>
          <a:ln/>
        </p:spPr>
        <p:txBody>
          <a:bodyPr wrap="square" lIns="0" tIns="0" rIns="0" bIns="0" rtlCol="0" anchor="ctr"/>
          <a:lstStyle/>
          <a:p>
            <a:pPr indent="0" marL="0">
              <a:buNone/>
            </a:pPr>
            <a:r>
              <a:rPr lang="en-US" sz="2200" dirty="0">
                <a:solidFill>
                  <a:srgbClr val="000000"/>
                </a:solidFill>
                <a:latin typeface="Georgia" pitchFamily="34" charset="0"/>
                <a:ea typeface="Georgia" pitchFamily="34" charset="-122"/>
                <a:cs typeface="Georgia" pitchFamily="34" charset="-120"/>
              </a:rPr>
              <a:t>C.  HBsAg 200 IU/mL</a:t>
            </a:r>
            <a:endParaRPr lang="en-US" sz="2200" dirty="0"/>
          </a:p>
        </p:txBody>
      </p:sp>
      <p:sp>
        <p:nvSpPr>
          <p:cNvPr id="7" name="Text 5"/>
          <p:cNvSpPr txBox="1"/>
          <p:nvPr/>
        </p:nvSpPr>
        <p:spPr>
          <a:xfrm>
            <a:off x="731520" y="4937760"/>
            <a:ext cx="6675120" cy="731520"/>
          </a:xfrm>
          <a:prstGeom prst="rect">
            <a:avLst/>
          </a:prstGeom>
          <a:noFill/>
          <a:ln/>
        </p:spPr>
        <p:txBody>
          <a:bodyPr wrap="square" lIns="0" tIns="0" rIns="0" bIns="0" rtlCol="0" anchor="ctr"/>
          <a:lstStyle/>
          <a:p>
            <a:pPr indent="0" marL="0">
              <a:buNone/>
            </a:pPr>
            <a:r>
              <a:rPr lang="en-US" sz="2200" dirty="0">
                <a:solidFill>
                  <a:srgbClr val="000000"/>
                </a:solidFill>
                <a:latin typeface="Georgia" pitchFamily="34" charset="0"/>
                <a:ea typeface="Georgia" pitchFamily="34" charset="-122"/>
                <a:cs typeface="Georgia" pitchFamily="34" charset="-120"/>
              </a:rPr>
              <a:t>D.  Anti-HBs negative</a:t>
            </a:r>
            <a:endParaRPr lang="en-US" sz="2200" dirty="0"/>
          </a:p>
        </p:txBody>
      </p:sp>
      <p:pic>
        <p:nvPicPr>
          <p:cNvPr id="8" name="Image 0" descr="Watercolor of blood collection tubes in a rack">    </p:cNvPr>
          <p:cNvPicPr>
            <a:picLocks noChangeAspect="1"/>
          </p:cNvPicPr>
          <p:nvPr/>
        </p:nvPicPr>
        <p:blipFill>
          <a:blip r:embed="rId1"/>
          <a:stretch>
            <a:fillRect/>
          </a:stretch>
        </p:blipFill>
        <p:spPr>
          <a:xfrm>
            <a:off x="7589520" y="1097280"/>
            <a:ext cx="4389120" cy="4389120"/>
          </a:xfrm>
          <a:prstGeom prst="rect">
            <a:avLst/>
          </a:prstGeom>
        </p:spPr>
      </p:pic>
      <p:sp>
        <p:nvSpPr>
          <p:cNvPr id="9"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AASLD/IDSA 2025 Table 3 (PMID 41186418).</a:t>
            </a:r>
            <a:endParaRPr lang="en-US" sz="1000" dirty="0"/>
          </a:p>
        </p:txBody>
      </p:sp>
      <p:sp>
        <p:nvSpPr>
          <p:cNvPr id="11"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34/38</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Stopping: summary</a:t>
            </a:r>
            <a:endParaRPr lang="en-US" sz="3000" dirty="0"/>
          </a:p>
        </p:txBody>
      </p:sp>
      <p:sp>
        <p:nvSpPr>
          <p:cNvPr id="3" name="Body"/>
          <p:cNvSpPr txBox="1"/>
          <p:nvPr/>
        </p:nvSpPr>
        <p:spPr>
          <a:xfrm>
            <a:off x="457200" y="1188720"/>
            <a:ext cx="5212080" cy="4754880"/>
          </a:xfrm>
          <a:prstGeom prst="rect">
            <a:avLst/>
          </a:prstGeom>
          <a:noFill/>
          <a:ln/>
        </p:spPr>
        <p:txBody>
          <a:bodyPr wrap="square" lIns="50800" tIns="50800" rIns="50800" bIns="50800" rtlCol="0" anchor="t"/>
          <a:lstStyle/>
          <a:p>
            <a:pPr marL="228600" indent="-228600">
              <a:spcBef>
                <a:spcPts val="800"/>
              </a:spcBef>
              <a:buSzPct val="100000"/>
              <a:buChar char="–"/>
            </a:pPr>
            <a:r>
              <a:rPr lang="en-US" sz="2100" b="1" dirty="0">
                <a:solidFill>
                  <a:srgbClr val="000000"/>
                </a:solidFill>
                <a:latin typeface="Georgia" pitchFamily="34" charset="0"/>
                <a:ea typeface="Georgia" pitchFamily="34" charset="-122"/>
                <a:cs typeface="Georgia" pitchFamily="34" charset="-120"/>
              </a:rPr>
              <a:t>Default: continue until HBsAg is lost</a:t>
            </a:r>
            <a:endParaRPr lang="en-US" sz="2100" dirty="0"/>
          </a:p>
          <a:p>
            <a:pPr marL="228600" indent="-228600">
              <a:spcBef>
                <a:spcPts val="800"/>
              </a:spcBef>
              <a:buSzPct val="100000"/>
              <a:buChar char="–"/>
            </a:pPr>
            <a:r>
              <a:rPr lang="en-US" sz="2100" b="1" dirty="0">
                <a:solidFill>
                  <a:srgbClr val="000000"/>
                </a:solidFill>
                <a:latin typeface="Georgia" pitchFamily="34" charset="0"/>
                <a:ea typeface="Georgia" pitchFamily="34" charset="-122"/>
                <a:cs typeface="Georgia" pitchFamily="34" charset="-120"/>
              </a:rPr>
              <a:t>Stop only if all of these:</a:t>
            </a:r>
            <a:endParaRPr lang="en-US" sz="2100" dirty="0"/>
          </a:p>
          <a:p>
            <a:pPr marL="228600" indent="-228600">
              <a:spcBef>
                <a:spcPts val="800"/>
              </a:spcBef>
              <a:buSzPct val="100000"/>
              <a:buChar char="–"/>
            </a:pPr>
            <a:r>
              <a:rPr lang="en-US" sz="2100" dirty="0">
                <a:solidFill>
                  <a:srgbClr val="000000"/>
                </a:solidFill>
                <a:latin typeface="Georgia" pitchFamily="34" charset="0"/>
                <a:ea typeface="Georgia" pitchFamily="34" charset="-122"/>
                <a:cs typeface="Georgia" pitchFamily="34" charset="-120"/>
              </a:rPr>
              <a:t>No cirrhosis</a:t>
            </a:r>
            <a:endParaRPr lang="en-US" sz="2100" dirty="0"/>
          </a:p>
          <a:p>
            <a:pPr marL="228600" indent="-228600">
              <a:spcBef>
                <a:spcPts val="800"/>
              </a:spcBef>
              <a:buSzPct val="100000"/>
              <a:buChar char="–"/>
            </a:pPr>
            <a:r>
              <a:rPr lang="en-US" sz="2100" dirty="0">
                <a:solidFill>
                  <a:srgbClr val="000000"/>
                </a:solidFill>
                <a:latin typeface="Georgia" pitchFamily="34" charset="0"/>
                <a:ea typeface="Georgia" pitchFamily="34" charset="-122"/>
                <a:cs typeface="Georgia" pitchFamily="34" charset="-120"/>
              </a:rPr>
              <a:t>DNA undetectable for 2 years or more</a:t>
            </a:r>
            <a:endParaRPr lang="en-US" sz="2100" dirty="0"/>
          </a:p>
          <a:p>
            <a:pPr marL="228600" indent="-228600">
              <a:spcBef>
                <a:spcPts val="800"/>
              </a:spcBef>
              <a:buSzPct val="100000"/>
              <a:buChar char="–"/>
            </a:pPr>
            <a:r>
              <a:rPr lang="en-US" sz="2100" dirty="0">
                <a:solidFill>
                  <a:srgbClr val="000000"/>
                </a:solidFill>
                <a:latin typeface="Georgia" pitchFamily="34" charset="0"/>
                <a:ea typeface="Georgia" pitchFamily="34" charset="-122"/>
                <a:cs typeface="Georgia" pitchFamily="34" charset="-120"/>
              </a:rPr>
              <a:t>HBsAg under 100 IU/mL</a:t>
            </a:r>
            <a:endParaRPr lang="en-US" sz="2100" dirty="0"/>
          </a:p>
          <a:p>
            <a:pPr marL="228600" indent="-228600">
              <a:spcBef>
                <a:spcPts val="800"/>
              </a:spcBef>
              <a:buSzPct val="100000"/>
              <a:buChar char="–"/>
            </a:pPr>
            <a:r>
              <a:rPr lang="en-US" sz="2100" dirty="0">
                <a:solidFill>
                  <a:srgbClr val="000000"/>
                </a:solidFill>
                <a:latin typeface="Georgia" pitchFamily="34" charset="0"/>
                <a:ea typeface="Georgia" pitchFamily="34" charset="-122"/>
                <a:cs typeface="Georgia" pitchFamily="34" charset="-120"/>
              </a:rPr>
              <a:t>No HIV or HDV</a:t>
            </a:r>
            <a:endParaRPr lang="en-US" sz="2100" dirty="0"/>
          </a:p>
          <a:p>
            <a:pPr marL="228600" indent="-228600">
              <a:spcBef>
                <a:spcPts val="800"/>
              </a:spcBef>
              <a:buSzPct val="100000"/>
              <a:buChar char="–"/>
            </a:pPr>
            <a:r>
              <a:rPr lang="en-US" sz="2100" dirty="0">
                <a:solidFill>
                  <a:srgbClr val="000000"/>
                </a:solidFill>
                <a:latin typeface="Georgia" pitchFamily="34" charset="0"/>
                <a:ea typeface="Georgia" pitchFamily="34" charset="-122"/>
                <a:cs typeface="Georgia" pitchFamily="34" charset="-120"/>
              </a:rPr>
              <a:t>Reliable follow-up</a:t>
            </a:r>
            <a:endParaRPr lang="en-US" sz="2100" dirty="0"/>
          </a:p>
        </p:txBody>
      </p:sp>
      <p:sp>
        <p:nvSpPr>
          <p:cNvPr id="4" name="Text 2"/>
          <p:cNvSpPr txBox="1"/>
          <p:nvPr/>
        </p:nvSpPr>
        <p:spPr>
          <a:xfrm>
            <a:off x="5943600" y="1188720"/>
            <a:ext cx="5943600" cy="411480"/>
          </a:xfrm>
          <a:prstGeom prst="rect">
            <a:avLst/>
          </a:prstGeom>
          <a:noFill/>
          <a:ln/>
        </p:spPr>
        <p:txBody>
          <a:bodyPr wrap="square" lIns="0" tIns="0" rIns="0" bIns="0" rtlCol="0" anchor="ctr"/>
          <a:lstStyle/>
          <a:p>
            <a:pPr algn="ctr" indent="0" marL="0">
              <a:buNone/>
            </a:pPr>
            <a:r>
              <a:rPr lang="en-US" sz="2000" b="1" dirty="0">
                <a:solidFill>
                  <a:srgbClr val="000000"/>
                </a:solidFill>
                <a:latin typeface="Georgia" pitchFamily="34" charset="0"/>
                <a:ea typeface="Georgia" pitchFamily="34" charset="-122"/>
                <a:cs typeface="Georgia" pitchFamily="34" charset="-120"/>
              </a:rPr>
              <a:t>After stopping</a:t>
            </a:r>
            <a:endParaRPr lang="en-US" sz="2000" dirty="0"/>
          </a:p>
        </p:txBody>
      </p:sp>
      <p:sp>
        <p:nvSpPr>
          <p:cNvPr id="5" name="Text 3"/>
          <p:cNvSpPr/>
          <p:nvPr/>
        </p:nvSpPr>
        <p:spPr>
          <a:xfrm>
            <a:off x="6126480" y="1737360"/>
            <a:ext cx="5669280" cy="548640"/>
          </a:xfrm>
          <a:prstGeom prst="rect">
            <a:avLst/>
          </a:prstGeom>
          <a:solidFill>
            <a:srgbClr val="FFFFFF"/>
          </a:solidFill>
          <a:ln w="12700">
            <a:solidFill>
              <a:srgbClr val="595959"/>
            </a:solidFill>
          </a:ln>
        </p:spPr>
        <p:txBody>
          <a:bodyPr wrap="square" lIns="50800" tIns="50800" rIns="50800" bIns="50800"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Months 0 to 6: DNA and ALT every 1 to 3 months</a:t>
            </a:r>
            <a:endParaRPr lang="en-US" sz="1600" dirty="0"/>
          </a:p>
        </p:txBody>
      </p:sp>
      <p:sp>
        <p:nvSpPr>
          <p:cNvPr id="6" name="Shape 4"/>
          <p:cNvSpPr/>
          <p:nvPr/>
        </p:nvSpPr>
        <p:spPr>
          <a:xfrm>
            <a:off x="8961120" y="2286000"/>
            <a:ext cx="0" cy="228600"/>
          </a:xfrm>
          <a:prstGeom prst="line">
            <a:avLst/>
          </a:prstGeom>
          <a:noFill/>
          <a:ln w="19050">
            <a:solidFill>
              <a:srgbClr val="595959"/>
            </a:solidFill>
            <a:prstDash val="solid"/>
            <a:tailEnd type="triangle"/>
          </a:ln>
        </p:spPr>
      </p:sp>
      <p:sp>
        <p:nvSpPr>
          <p:cNvPr id="7" name="Text 5"/>
          <p:cNvSpPr/>
          <p:nvPr/>
        </p:nvSpPr>
        <p:spPr>
          <a:xfrm>
            <a:off x="6126480" y="2514600"/>
            <a:ext cx="5669280" cy="548640"/>
          </a:xfrm>
          <a:prstGeom prst="rect">
            <a:avLst/>
          </a:prstGeom>
          <a:solidFill>
            <a:srgbClr val="FFFFFF"/>
          </a:solidFill>
          <a:ln w="12700">
            <a:solidFill>
              <a:srgbClr val="595959"/>
            </a:solidFill>
          </a:ln>
        </p:spPr>
        <p:txBody>
          <a:bodyPr wrap="square" lIns="50800" tIns="50800" rIns="50800" bIns="50800"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Months 6 to 12: every 3 months</a:t>
            </a:r>
            <a:endParaRPr lang="en-US" sz="1600" dirty="0"/>
          </a:p>
        </p:txBody>
      </p:sp>
      <p:sp>
        <p:nvSpPr>
          <p:cNvPr id="8" name="Shape 6"/>
          <p:cNvSpPr/>
          <p:nvPr/>
        </p:nvSpPr>
        <p:spPr>
          <a:xfrm>
            <a:off x="8961120" y="3063240"/>
            <a:ext cx="0" cy="228600"/>
          </a:xfrm>
          <a:prstGeom prst="line">
            <a:avLst/>
          </a:prstGeom>
          <a:noFill/>
          <a:ln w="19050">
            <a:solidFill>
              <a:srgbClr val="595959"/>
            </a:solidFill>
            <a:prstDash val="solid"/>
            <a:tailEnd type="triangle"/>
          </a:ln>
        </p:spPr>
      </p:sp>
      <p:sp>
        <p:nvSpPr>
          <p:cNvPr id="9" name="Text 7"/>
          <p:cNvSpPr/>
          <p:nvPr/>
        </p:nvSpPr>
        <p:spPr>
          <a:xfrm>
            <a:off x="6126480" y="3291840"/>
            <a:ext cx="5669280" cy="548640"/>
          </a:xfrm>
          <a:prstGeom prst="rect">
            <a:avLst/>
          </a:prstGeom>
          <a:solidFill>
            <a:srgbClr val="FFFFFF"/>
          </a:solidFill>
          <a:ln w="12700">
            <a:solidFill>
              <a:srgbClr val="595959"/>
            </a:solidFill>
          </a:ln>
        </p:spPr>
        <p:txBody>
          <a:bodyPr wrap="square" lIns="50800" tIns="50800" rIns="50800" bIns="50800"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After 12 months: every 3 to 6 months</a:t>
            </a:r>
            <a:endParaRPr lang="en-US" sz="1600" dirty="0"/>
          </a:p>
        </p:txBody>
      </p:sp>
      <p:sp>
        <p:nvSpPr>
          <p:cNvPr id="10" name="Text 8"/>
          <p:cNvSpPr/>
          <p:nvPr/>
        </p:nvSpPr>
        <p:spPr>
          <a:xfrm>
            <a:off x="6126480" y="4297680"/>
            <a:ext cx="5669280" cy="1097280"/>
          </a:xfrm>
          <a:prstGeom prst="rect">
            <a:avLst/>
          </a:prstGeom>
          <a:solidFill>
            <a:srgbClr val="1F4E79"/>
          </a:solidFill>
          <a:ln w="12700">
            <a:solidFill>
              <a:srgbClr val="1F4E79"/>
            </a:solidFill>
          </a:ln>
        </p:spPr>
        <p:txBody>
          <a:bodyPr wrap="square" lIns="50800" tIns="50800" rIns="50800" bIns="508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Restart now: DNA 10,000 or more, ALT above 5 times ULN, bilirubin above 2.5 mg/dL, or decompensation</a:t>
            </a:r>
            <a:endParaRPr lang="en-US" sz="1700" dirty="0"/>
          </a:p>
        </p:txBody>
      </p:sp>
      <p:sp>
        <p:nvSpPr>
          <p:cNvPr id="11"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AASLD/IDSA 2025 R5 and Table 3 (PMID 41186418).</a:t>
            </a:r>
            <a:endParaRPr lang="en-US" sz="1000" dirty="0"/>
          </a:p>
        </p:txBody>
      </p:sp>
      <p:sp>
        <p:nvSpPr>
          <p:cNvPr id="13"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35/38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Approved in 2026</a:t>
            </a:r>
            <a:endParaRPr lang="en-US" sz="3000" dirty="0"/>
          </a:p>
        </p:txBody>
      </p:sp>
      <p:graphicFrame>
        <p:nvGraphicFramePr>
          <p:cNvPr id="60" name="Table"/>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1554480"/>
                <a:gridCol w="4800600"/>
                <a:gridCol w="4800600"/>
              </a:tblGrid>
              <a:tr h="731520">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Bepirovirsen (Hibsago)</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Bulevirtide (Hepcludex)</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31520">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For</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Chronic hepatitis B</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Chronic hepatitis D</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31520">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FDA approval</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20 October 2026</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22 May 2026</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1057656">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Who</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Adults without cirrhosis, on a nucleos(t)ide analogue 6 months or more, DNA suppressed, HBsAg 3,000 IU/mL or lower</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Adults without cirrhosis or with compensated cirrhosis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47776">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Result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19% had HBsAg undetectable 24 weeks after stopping all treatment; 0% on placebo</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Week 48: combined response 48% vs 2%</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31520">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Warning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Liver reactions, low platelets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Severe exacerbation if stopped</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FDA news releases 20 October 2026 (bepirovirsen) and 22 May 2026 (bulevirtide). B-Well 1 and 2, Hou, NEJM 2026.</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36/38</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Back to our patients</a:t>
            </a:r>
            <a:endParaRPr lang="en-US" sz="3000" dirty="0"/>
          </a:p>
        </p:txBody>
      </p:sp>
      <p:graphicFrame>
        <p:nvGraphicFramePr>
          <p:cNvPr id="61"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676656"/>
                <a:gridCol w="4261104"/>
                <a:gridCol w="6153912"/>
              </a:tblGrid>
              <a:tr h="1280160">
                <a:tc>
                  <a:txBody>
                    <a:bodyPr/>
                    <a:lstStyle/>
                    <a:p>
                      <a:pPr algn="ctr"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Patient</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Decision</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1280160">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Man, 34 to 57. HBeAg-positive, then HBeAg-negative with DNA 8,000 and ALT 48</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Monitor at 34. Treatment suggested at 41, he waited. TAF at 52. PAGE-B 18, surveillance. Do not stop with HBsAg 400</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1280160">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Woman, 61. Anti-HBc positive, HBsAg negative, rituximab</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Entecavir, TDF or TAF before the first dose and for 12 months after the last</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1280160">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Woman, 29, 20 weeks pregnant. DNA 5,000,000</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TDF or TAF from week 28. Vaccine and HBIG within 12 hours. Test the baby at 9 to 12 months</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37/38</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pic>
        <p:nvPicPr>
          <p:cNvPr id="2" name="Image 0" descr="Watercolor of a liver in warm light on ivory paper">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6492240" y="1188720"/>
            <a:ext cx="5212080" cy="1188720"/>
          </a:xfrm>
          <a:prstGeom prst="rect">
            <a:avLst/>
          </a:prstGeom>
          <a:noFill/>
          <a:ln/>
        </p:spPr>
        <p:txBody>
          <a:bodyPr wrap="square" lIns="0" tIns="0" rIns="0" bIns="0" rtlCol="0" anchor="ctr"/>
          <a:lstStyle/>
          <a:p>
            <a:pPr algn="ctr" indent="0" marL="0">
              <a:buNone/>
            </a:pPr>
            <a:r>
              <a:rPr lang="en-US" sz="5400" dirty="0">
                <a:solidFill>
                  <a:srgbClr val="000000"/>
                </a:solidFill>
                <a:latin typeface="Georgia" pitchFamily="34" charset="0"/>
                <a:ea typeface="Georgia" pitchFamily="34" charset="-122"/>
                <a:cs typeface="Georgia" pitchFamily="34" charset="-120"/>
              </a:rPr>
              <a:t>Questions?</a:t>
            </a:r>
            <a:endParaRPr lang="en-US" sz="5400" dirty="0"/>
          </a:p>
        </p:txBody>
      </p:sp>
      <p:sp>
        <p:nvSpPr>
          <p:cNvPr id="4" name="Text 1"/>
          <p:cNvSpPr txBox="1"/>
          <p:nvPr/>
        </p:nvSpPr>
        <p:spPr>
          <a:xfrm>
            <a:off x="6492240" y="2514600"/>
            <a:ext cx="5212080" cy="457200"/>
          </a:xfrm>
          <a:prstGeom prst="rect">
            <a:avLst/>
          </a:prstGeom>
          <a:noFill/>
          <a:ln/>
        </p:spPr>
        <p:txBody>
          <a:bodyPr wrap="square" lIns="0" tIns="0" rIns="0" bIns="0" rtlCol="0" anchor="ctr"/>
          <a:lstStyle/>
          <a:p>
            <a:pPr algn="ctr" indent="0" marL="0">
              <a:buNone/>
            </a:pPr>
            <a:r>
              <a:rPr lang="en-US" sz="2000" dirty="0">
                <a:solidFill>
                  <a:srgbClr val="595959"/>
                </a:solidFill>
                <a:latin typeface="Georgia" pitchFamily="34" charset="0"/>
                <a:ea typeface="Georgia" pitchFamily="34" charset="-122"/>
                <a:cs typeface="Georgia" pitchFamily="34" charset="-120"/>
              </a:rPr>
              <a:t>X: @mfalmeqdadi</a:t>
            </a:r>
            <a:endParaRPr lang="en-US" sz="2000" dirty="0"/>
          </a:p>
        </p:txBody>
      </p:sp>
      <p:pic>
        <p:nvPicPr>
          <p:cNvPr id="5" name="Image 1" descr="QR code linking to the slides PDF">    </p:cNvPr>
          <p:cNvPicPr>
            <a:picLocks noChangeAspect="1"/>
          </p:cNvPicPr>
          <p:nvPr/>
        </p:nvPicPr>
        <p:blipFill>
          <a:blip r:embed="rId2"/>
          <a:stretch>
            <a:fillRect/>
          </a:stretch>
        </p:blipFill>
        <p:spPr>
          <a:xfrm>
            <a:off x="7955280" y="3200400"/>
            <a:ext cx="2286000" cy="2286000"/>
          </a:xfrm>
          <a:prstGeom prst="rect">
            <a:avLst/>
          </a:prstGeom>
        </p:spPr>
      </p:pic>
      <p:sp>
        <p:nvSpPr>
          <p:cNvPr id="6" name="Text 2"/>
          <p:cNvSpPr txBox="1"/>
          <p:nvPr/>
        </p:nvSpPr>
        <p:spPr>
          <a:xfrm>
            <a:off x="6492240" y="5577840"/>
            <a:ext cx="5212080" cy="320040"/>
          </a:xfrm>
          <a:prstGeom prst="rect">
            <a:avLst/>
          </a:prstGeom>
          <a:noFill/>
          <a:ln/>
        </p:spPr>
        <p:txBody>
          <a:bodyPr wrap="square" lIns="0" tIns="0" rIns="0" bIns="0" rtlCol="0" anchor="ctr"/>
          <a:lstStyle/>
          <a:p>
            <a:pPr algn="ctr" indent="0" marL="0">
              <a:buNone/>
            </a:pPr>
            <a:r>
              <a:rPr lang="en-US" sz="1400" dirty="0">
                <a:solidFill>
                  <a:srgbClr val="595959"/>
                </a:solidFill>
                <a:latin typeface="Georgia" pitchFamily="34" charset="0"/>
                <a:ea typeface="Georgia" pitchFamily="34" charset="-122"/>
                <a:cs typeface="Georgia" pitchFamily="34" charset="-120"/>
              </a:rPr>
              <a:t>Slides (PDF)</a:t>
            </a:r>
            <a:endParaRPr lang="en-US" sz="14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38/38</a:t>
            </a:r>
            <a:endParaRPr lang="en-US" sz="900" dirty="0"/>
          </a:p>
        </p:txBody>
      </p:sp>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Chronic Hepatitis B</dc:title>
  <dc:subject>PptxGenJS Presentation</dc:subject>
  <dc:creator>Mohammad Almeqdadi, MD</dc:creator>
  <cp:lastModifiedBy>Mohammad Almeqdadi, MD</cp:lastModifiedBy>
  <cp:revision>1</cp:revision>
  <dcterms:created xsi:type="dcterms:W3CDTF">2026-10-28T15:28:49Z</dcterms:created>
  <dcterms:modified xsi:type="dcterms:W3CDTF">2026-10-28T15:28:49Z</dcterms:modified>
</cp:coreProperties>
</file>