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4.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c7197d7-705b-8acc-a52b-f046fe91aa06}">
          <p14:sldIdLst>
            <p14:sldId id="256"/>
            <p14:sldId id="257"/>
          </p14:sldIdLst>
        </p14:section>
        <p14:section name="History" id="{6f660cf7-2a6e-78b3-c274-ca323999f52a}">
          <p14:sldIdLst>
            <p14:sldId id="258"/>
            <p14:sldId id="259"/>
          </p14:sldIdLst>
        </p14:section>
        <p14:section name="Testing" id="{31796764-a27a-b1e5-8b19-327ad7765fed}">
          <p14:sldIdLst>
            <p14:sldId id="260"/>
            <p14:sldId id="261"/>
            <p14:sldId id="262"/>
            <p14:sldId id="263"/>
          </p14:sldIdLst>
        </p14:section>
        <p14:section name="Serology" id="{a35774a6-de94-cdf3-2c33-908f547844d4}">
          <p14:sldIdLst>
            <p14:sldId id="264"/>
            <p14:sldId id="265"/>
            <p14:sldId id="266"/>
            <p14:sldId id="267"/>
          </p14:sldIdLst>
        </p14:section>
        <p14:section name="Phases" id="{fb07cdf2-052c-b759-5282-2f6111351d2b}">
          <p14:sldIdLst>
            <p14:sldId id="268"/>
            <p14:sldId id="269"/>
            <p14:sldId id="270"/>
            <p14:sldId id="271"/>
            <p14:sldId id="272"/>
            <p14:sldId id="273"/>
            <p14:sldId id="274"/>
            <p14:sldId id="275"/>
          </p14:sldIdLst>
        </p14:section>
        <p14:section name="Who to treat" id="{994f73b5-aaa1-f657-131c-c0445182cdbb}">
          <p14:sldIdLst>
            <p14:sldId id="276"/>
            <p14:sldId id="277"/>
            <p14:sldId id="278"/>
            <p14:sldId id="279"/>
            <p14:sldId id="280"/>
            <p14:sldId id="281"/>
            <p14:sldId id="282"/>
            <p14:sldId id="283"/>
            <p14:sldId id="284"/>
            <p14:sldId id="285"/>
            <p14:sldId id="286"/>
          </p14:sldIdLst>
        </p14:section>
        <p14:section name="Drugs" id="{23d3fc6f-5cbd-a01e-0d07-5e2df65fa438}">
          <p14:sldIdLst>
            <p14:sldId id="287"/>
            <p14:sldId id="288"/>
            <p14:sldId id="289"/>
            <p14:sldId id="290"/>
            <p14:sldId id="291"/>
          </p14:sldIdLst>
        </p14:section>
        <p14:section name="HCC risk" id="{e07116f1-a608-c0f5-63ed-24166d182d2e}">
          <p14:sldIdLst>
            <p14:sldId id="292"/>
            <p14:sldId id="293"/>
            <p14:sldId id="294"/>
            <p14:sldId id="295"/>
            <p14:sldId id="296"/>
            <p14:sldId id="297"/>
          </p14:sldIdLst>
        </p14:section>
        <p14:section name="Special situations" id="{2a539a93-516d-677b-6751-b3814977a808}">
          <p14:sldIdLst>
            <p14:sldId id="298"/>
            <p14:sldId id="299"/>
            <p14:sldId id="300"/>
            <p14:sldId id="301"/>
            <p14:sldId id="302"/>
            <p14:sldId id="303"/>
            <p14:sldId id="304"/>
            <p14:sldId id="305"/>
            <p14:sldId id="306"/>
            <p14:sldId id="307"/>
            <p14:sldId id="308"/>
          </p14:sldIdLst>
        </p14:section>
        <p14:section name="Stopping and what is new" id="{0f465edb-af9c-4a89-bf8d-6553642cf548}">
          <p14:sldIdLst>
            <p14:sldId id="309"/>
            <p14:sldId id="310"/>
            <p14:sldId id="311"/>
            <p14:sldId id="312"/>
            <p14:sldId id="313"/>
            <p14:sldId id="314"/>
          </p14:sldIdLst>
        </p14:section>
        <p14:section name="Close" id="{3414f10e-3ef9-bcd0-47de-0dc035bd9407}">
          <p14:sldIdLst>
            <p14:sldId id="315"/>
            <p14:sldId id="31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Upper limit of normal ALT, U/L</a:t>
            </a:r>
          </a:p>
        </c:rich>
      </c:tx>
      <c:layout/>
      <c:overlay val="0"/>
    </c:title>
    <c:autoTitleDeleted val="0"/>
    <c:plotArea>
      <c:layout/>
      <c:barChart>
        <c:barDir val="col"/>
        <c:grouping val="clustered"/>
        <c:varyColors val="0"/>
        <c:ser>
          <c:idx val="0"/>
          <c:order val="0"/>
          <c:tx>
            <c:strRef>
              <c:f>Sheet1!$B$1</c:f>
              <c:strCache>
                <c:ptCount val="1"/>
                <c:pt idx="0">
                  <c:v>Men</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AASLD</c:v>
                  </c:pt>
                  <c:pt idx="1">
                    <c:v>WHO 2024</c:v>
                  </c:pt>
                  <c:pt idx="2">
                    <c:v>EASL 2025</c:v>
                  </c:pt>
                </c:lvl>
              </c:multiLvlStrCache>
            </c:multiLvlStrRef>
          </c:cat>
          <c:val>
            <c:numRef>
              <c:f>Sheet1!$B$2:$B$4</c:f>
              <c:numCache>
                <c:formatCode>General</c:formatCode>
                <c:ptCount val="3"/>
                <c:pt idx="0">
                  <c:v>35</c:v>
                </c:pt>
                <c:pt idx="1">
                  <c:v>30</c:v>
                </c:pt>
                <c:pt idx="2">
                  <c:v>40</c:v>
                </c:pt>
              </c:numCache>
            </c:numRef>
          </c:val>
        </c:ser>
        <c:ser>
          <c:idx val="1"/>
          <c:order val="1"/>
          <c:tx>
            <c:strRef>
              <c:f>Sheet1!$C$1</c:f>
              <c:strCache>
                <c:ptCount val="1"/>
                <c:pt idx="0">
                  <c:v>Women</c:v>
                </c:pt>
              </c:strCache>
            </c:strRef>
          </c:tx>
          <c:spPr>
            <a:solidFill>
              <a:srgbClr val="9DB4CA"/>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AASLD</c:v>
                  </c:pt>
                  <c:pt idx="1">
                    <c:v>WHO 2024</c:v>
                  </c:pt>
                  <c:pt idx="2">
                    <c:v>EASL 2025</c:v>
                  </c:pt>
                </c:lvl>
              </c:multiLvlStrCache>
            </c:multiLvlStrRef>
          </c:cat>
          <c:val>
            <c:numRef>
              <c:f>Sheet1!$C$2:$C$4</c:f>
              <c:numCache>
                <c:formatCode>General</c:formatCode>
                <c:ptCount val="3"/>
                <c:pt idx="0">
                  <c:v>25</c:v>
                </c:pt>
                <c:pt idx="1">
                  <c:v>19</c:v>
                </c:pt>
                <c:pt idx="2">
                  <c:v>40</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Treated</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Sheet1!$B$2:$B$4</c:f>
              <c:numCache>
                <c:formatCode>General</c:formatCode>
                <c:ptCount val="3"/>
                <c:pt idx="0">
                  <c:v>3</c:v>
                </c:pt>
                <c:pt idx="1">
                  <c:v>4</c:v>
                </c:pt>
                <c:pt idx="2">
                  <c:v>9</c:v>
                </c:pt>
              </c:numCache>
            </c:numRef>
          </c:val>
        </c:ser>
        <c:ser>
          <c:idx val="1"/>
          <c:order val="1"/>
          <c:tx>
            <c:strRef>
              <c:f>Sheet1!$C$1</c:f>
              <c:strCache>
                <c:ptCount val="1"/>
                <c:pt idx="0">
                  <c:v>Untreated</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Sheet1!$C$2:$C$4</c:f>
              <c:numCache>
                <c:formatCode>General</c:formatCode>
                <c:ptCount val="3"/>
                <c:pt idx="0">
                  <c:v>3</c:v>
                </c:pt>
                <c:pt idx="1">
                  <c:v>15</c:v>
                </c:pt>
                <c:pt idx="2">
                  <c:v>19</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Sheet1!$B$2:$B$2</c:f>
              <c:numCache>
                <c:formatCode>General</c:formatCode>
                <c:ptCount val="1"/>
                <c:pt idx="0">
                  <c:v>26</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Sheet1!$C$2:$C$2</c:f>
              <c:numCache>
                <c:formatCode>General</c:formatCode>
                <c:ptCount val="1"/>
                <c:pt idx="0">
                  <c:v>47</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TAF</c:v>
                </c:pt>
              </c:strCache>
            </c:strRef>
          </c:tx>
          <c:spPr>
            <a:solidFill>
              <a:srgbClr val="1F4E79"/>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Sheet1!$B$2:$B$5</c:f>
              <c:numCache>
                <c:formatCode>General</c:formatCode>
                <c:ptCount val="4"/>
                <c:pt idx="0">
                  <c:v>-0.29</c:v>
                </c:pt>
                <c:pt idx="1">
                  <c:v>-0.88</c:v>
                </c:pt>
                <c:pt idx="2">
                  <c:v>-0.1</c:v>
                </c:pt>
                <c:pt idx="3">
                  <c:v>-0.42</c:v>
                </c:pt>
              </c:numCache>
            </c:numRef>
          </c:val>
        </c:ser>
        <c:ser>
          <c:idx val="1"/>
          <c:order val="1"/>
          <c:tx>
            <c:strRef>
              <c:f>Sheet1!$C$1</c:f>
              <c:strCache>
                <c:ptCount val="1"/>
                <c:pt idx="0">
                  <c:v>TDF</c:v>
                </c:pt>
              </c:strCache>
            </c:strRef>
          </c:tx>
          <c:spPr>
            <a:solidFill>
              <a:srgbClr val="9DB4CA"/>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Sheet1!$C$2:$C$5</c:f>
              <c:numCache>
                <c:formatCode>General</c:formatCode>
                <c:ptCount val="4"/>
                <c:pt idx="0">
                  <c:v>-2.16</c:v>
                </c:pt>
                <c:pt idx="1">
                  <c:v>-2.51</c:v>
                </c:pt>
                <c:pt idx="2">
                  <c:v>-1.72</c:v>
                </c:pt>
                <c:pt idx="3">
                  <c:v>-2.29</c:v>
                </c:pt>
              </c:numCache>
            </c:numRef>
          </c:val>
        </c:ser>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0"/>
          <c:min val="-3"/>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Source for the slide text is the paper itself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short in the 30-minute version. Dane 1970 Lancet 1:695-698. Maupas 1976 Lancet 1:1367-1370. Szmuness 1980 NEJM 303:833-841. Beasley 1981 Lancet 2:1129-1133. The vaccine came before there was a screening test for liver cancer. A recombinant yeast vaccine was reported in 1984 (McAleer, Nature 307:178-180).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This is the figure from your sketch.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phases in the published form. Credit GESA 2022 (ASHM attributes Figure 3.1 to them). The reviewer could not confirm the original artist or the reuse licence, so check before putting this in anything you distribute.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Let the room commit. The next slide shows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 version: AASLD 2018 thresholds for immune-active disease, with the two AASLD/IDSA 2025 changes. R3 (conditional, very low certainty): immune-tolerant adults over 40, or with grade 2 / stage 2 or worse disease, are suggested for treatment; the text says over 40 and the algorithm says 40 or more. R4: the indeterminate (grey zone) group is a shared decision. Cirrhosis: AASLD 2018 R7A treats compensated cirrhosis with low viremia regardless of ALT, R7B treats decompensated cirrhosis regardless of DNA, ALT or HBeAg, and the 2025 Figure 5 treats both regardless of DNA or ALT. EASL 2025 and WHO 2024 treat more people: DNA above 2,000 with ALT above ULN, or significant fibrosis. Pregnancy and immunosuppression are separate pathways, covered later. 'Monitor' means ALT and DNA every 3 to 6 months and a fibrosis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2018: entecavir, TDF and TAF are first line. Entecavir or TAF are preferred over TDF with renal dysfunction or bone disease, or risk of them. Lamivudine resistance confers cross-resistance to entecavir, so use tenofovir. Entecavir alone is not adequate in HIV: it selects HIV M184V. Pregnancy: TDF has the randomized data; AASLD/IDSA 2025 R1 accepts TDF or TAF. Decompensated cirrhosis: the 2025 Figure 5 lists TAF, but the US label does not recommend it in Child-Pugh B or C, so say that. PegIFN is contraindicated in decompensated cirrhosis and in pregnancy.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calculator. PAGE-B matches the published table. The second model (HBsAg-HCC, Guo 2026, 1,190 training and 506 validation patients, abstract only) could not be checked against the paper, so say it is a research model, not validated. Do not call it externally verified. The calculator does not include REACH-B, aMAP or REAL-B.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and AASLD/IDSA 2025 R6 to R9 (all conditional, very low certainty). Cirrhosis: Child-Pugh A and B patients who could be treated for HCC; Child C only if a transplant candidate. HIV coinfection: men 18 and older and women 40 and older. HBV and HCV: use the HBV criteria after HCV is treated. Surveillance continues on antivirals even when DNA is suppressed.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 2025: high risk above 10%, moderate 1 to 10%, low below 1%. HBsAg positive: prophylaxis for high- and moderate-risk drugs and for chemotherapy; AGA does not insist on it for every low-risk drug, so say 'nearly all'. HBsAg negative, anti-HBc positive: prophylaxis for anti-CD20 and stem cell transplant; for moderate risk AGA favors prophylaxis but accepts monitoring; low risk is monitoring. Duration: 6 months after the last dose, 12 after B-cell depleting therapy (AGA, AASLD 2018); EASL 2025 says 18 after B-cell depletion. Anti-HBs does not change the decision for anti-CD20. All negative: vaccinate (ACIP: all adults 19 to 59, and 60 and older with risk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from the AASLD/IDSA 2025 recommendation and the CDC infant schedule. Infant testing is HBsAg and anti-HBs at 9 to 12 months, or 1 to 2 months after a delayed final dose. Do not use anti-HBc for infant testing after vaccination. Evidence: Pan, NEJM 2016 (200 HBeAg-positive mothers; transmission 5% vs 18% by intention to treat) and Jourdain, NEJM 2018 (331 women; 0 vs 3 infected infants, p = 0.12, not superior because infant prophylaxis was already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Breastfeeding is not prohibited (AASLD 2018 and AASLD/IDSA 2025). Tenofovir levels in breast milk are low, and the baby has had vaccine and HBIG. Let the room vote first; many think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Breastfeeding is not prohibited (AASLD 2018 and AASLD/IDSA 2025). Tenofovir levels in breast milk are low, and the baby has had vaccine and HBIG. Let the room vote first; many think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R1 (strong, moderate certainty): DNA above 200,000 at any point, start TDF or TAF at week 28; consider week 16 when infant HBIG is not available. Stopping at delivery is allowed when the drug was only for prevention. WHO 2024 also treats HBeAg-positive mothers regardless of DNA. Infant testing: HBsAg and anti-HBs, not anti-HBc. CDC 2023 screens every pregnancy.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Table 3: restart at once for DNA 10,000 or more, ALT above 5 times ULN, bilirubin above 2.5 mg/dL, or decompensation. A mild ALT rise after stopping is expected and is watched, not treated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Table 3: restart at once for DNA 10,000 or more, ALT above 5 times ULN, bilirubin above 2.5 mg/dL, or decompensation. A mild ALT rise after stopping is expected and is watched, not treated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R5 is conditional, very low certainty. If HBeAg-positive at the start, also seroconverted for at least 1 year. The text says 2 years of suppression and the Figure 4 legend says 3. Follow-up and retreatment triggers are from Table 3; the table says ALT above 5 times ULN and the prose says 5 times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FDA pages. Bepirovirsen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The FDA also authorized a Roche qHBsAg assay as a companion diagnostic. Boxed warning for serious liver reactions and low platelets; warnings include worsening kidney function and vasculitis. Hepcludex: accelerated approval, boxed warning for severe exacerbations of HDV and HBV on discontinuation.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image" Target="../media/image-61-2.pn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cover illustra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640080" y="1234440"/>
            <a:ext cx="6949440"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640080" y="1874520"/>
            <a:ext cx="6766560"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pic>
        <p:nvPicPr>
          <p:cNvPr id="5" name="Image 0" descr="Watercolor of blood collection tubes in a rack">    </p:cNvPr>
          <p:cNvPicPr>
            <a:picLocks noChangeAspect="1"/>
          </p:cNvPicPr>
          <p:nvPr/>
        </p:nvPicPr>
        <p:blipFill>
          <a:blip r:embed="rId1"/>
          <a:stretch>
            <a:fillRect/>
          </a:stretch>
        </p:blipFill>
        <p:spPr>
          <a:xfrm>
            <a:off x="7589520" y="1097280"/>
            <a:ext cx="4389120" cy="438912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675120" cy="2226715"/>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6675120" cy="1811211"/>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From antigen to vaccine</a:t>
            </a:r>
            <a:endParaRPr lang="en-US" sz="3000" dirty="0"/>
          </a:p>
        </p:txBody>
      </p:sp>
      <p:sp>
        <p:nvSpPr>
          <p:cNvPr id="3" name="Shape 1"/>
          <p:cNvSpPr/>
          <p:nvPr/>
        </p:nvSpPr>
        <p:spPr>
          <a:xfrm>
            <a:off x="274320" y="2377440"/>
            <a:ext cx="7498080" cy="0"/>
          </a:xfrm>
          <a:prstGeom prst="line">
            <a:avLst/>
          </a:prstGeom>
          <a:noFill/>
          <a:ln w="25400">
            <a:solidFill>
              <a:srgbClr val="595959"/>
            </a:solidFill>
            <a:prstDash val="solid"/>
          </a:ln>
        </p:spPr>
      </p:sp>
      <p:sp>
        <p:nvSpPr>
          <p:cNvPr id="4" name="Shape 2"/>
          <p:cNvSpPr/>
          <p:nvPr/>
        </p:nvSpPr>
        <p:spPr>
          <a:xfrm>
            <a:off x="941832" y="2295144"/>
            <a:ext cx="164592" cy="164592"/>
          </a:xfrm>
          <a:prstGeom prst="ellipse">
            <a:avLst/>
          </a:prstGeom>
          <a:solidFill>
            <a:srgbClr val="1F4E79"/>
          </a:solidFill>
          <a:ln w="12700">
            <a:solidFill>
              <a:srgbClr val="1F4E79"/>
            </a:solidFill>
            <a:prstDash val="solid"/>
          </a:ln>
        </p:spPr>
      </p:sp>
      <p:sp>
        <p:nvSpPr>
          <p:cNvPr id="5" name="Text 3"/>
          <p:cNvSpPr txBox="1"/>
          <p:nvPr/>
        </p:nvSpPr>
        <p:spPr>
          <a:xfrm>
            <a:off x="274320"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1965</a:t>
            </a:r>
            <a:endParaRPr lang="en-US" sz="2800" dirty="0"/>
          </a:p>
        </p:txBody>
      </p:sp>
      <p:sp>
        <p:nvSpPr>
          <p:cNvPr id="6" name="Text 4"/>
          <p:cNvSpPr txBox="1"/>
          <p:nvPr/>
        </p:nvSpPr>
        <p:spPr>
          <a:xfrm>
            <a:off x="347472"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Blumberg, Alter and Visnich describe the Australia antigen</a:t>
            </a:r>
            <a:endParaRPr lang="en-US" sz="1500" dirty="0"/>
          </a:p>
        </p:txBody>
      </p:sp>
      <p:sp>
        <p:nvSpPr>
          <p:cNvPr id="7" name="Shape 5"/>
          <p:cNvSpPr/>
          <p:nvPr/>
        </p:nvSpPr>
        <p:spPr>
          <a:xfrm>
            <a:off x="2441448" y="2295144"/>
            <a:ext cx="164592" cy="164592"/>
          </a:xfrm>
          <a:prstGeom prst="ellipse">
            <a:avLst/>
          </a:prstGeom>
          <a:solidFill>
            <a:srgbClr val="1F4E79"/>
          </a:solidFill>
          <a:ln w="12700">
            <a:solidFill>
              <a:srgbClr val="1F4E79"/>
            </a:solidFill>
            <a:prstDash val="solid"/>
          </a:ln>
        </p:spPr>
      </p:sp>
      <p:sp>
        <p:nvSpPr>
          <p:cNvPr id="8" name="Text 6"/>
          <p:cNvSpPr txBox="1"/>
          <p:nvPr/>
        </p:nvSpPr>
        <p:spPr>
          <a:xfrm>
            <a:off x="1773936"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1970</a:t>
            </a:r>
            <a:endParaRPr lang="en-US" sz="2800" dirty="0"/>
          </a:p>
        </p:txBody>
      </p:sp>
      <p:sp>
        <p:nvSpPr>
          <p:cNvPr id="9" name="Text 7"/>
          <p:cNvSpPr txBox="1"/>
          <p:nvPr/>
        </p:nvSpPr>
        <p:spPr>
          <a:xfrm>
            <a:off x="1847088"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Dane, Cameron and Briggs see the virus particle in serum</a:t>
            </a:r>
            <a:endParaRPr lang="en-US" sz="1500" dirty="0"/>
          </a:p>
        </p:txBody>
      </p:sp>
      <p:sp>
        <p:nvSpPr>
          <p:cNvPr id="10" name="Shape 8"/>
          <p:cNvSpPr/>
          <p:nvPr/>
        </p:nvSpPr>
        <p:spPr>
          <a:xfrm>
            <a:off x="3941064" y="2295144"/>
            <a:ext cx="164592" cy="164592"/>
          </a:xfrm>
          <a:prstGeom prst="ellipse">
            <a:avLst/>
          </a:prstGeom>
          <a:solidFill>
            <a:srgbClr val="1F4E79"/>
          </a:solidFill>
          <a:ln w="12700">
            <a:solidFill>
              <a:srgbClr val="1F4E79"/>
            </a:solidFill>
            <a:prstDash val="solid"/>
          </a:ln>
        </p:spPr>
      </p:sp>
      <p:sp>
        <p:nvSpPr>
          <p:cNvPr id="11" name="Text 9"/>
          <p:cNvSpPr txBox="1"/>
          <p:nvPr/>
        </p:nvSpPr>
        <p:spPr>
          <a:xfrm>
            <a:off x="3273552"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1976</a:t>
            </a:r>
            <a:endParaRPr lang="en-US" sz="2800" dirty="0"/>
          </a:p>
        </p:txBody>
      </p:sp>
      <p:sp>
        <p:nvSpPr>
          <p:cNvPr id="12" name="Text 10"/>
          <p:cNvSpPr txBox="1"/>
          <p:nvPr/>
        </p:nvSpPr>
        <p:spPr>
          <a:xfrm>
            <a:off x="3346704"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Blumberg and Gajdusek receive the Nobel Prize. First immunization of people with plasma-derived vaccine (Maupas)</a:t>
            </a:r>
            <a:endParaRPr lang="en-US" sz="1500" dirty="0"/>
          </a:p>
        </p:txBody>
      </p:sp>
      <p:sp>
        <p:nvSpPr>
          <p:cNvPr id="13" name="Shape 11"/>
          <p:cNvSpPr/>
          <p:nvPr/>
        </p:nvSpPr>
        <p:spPr>
          <a:xfrm>
            <a:off x="5440680" y="2295144"/>
            <a:ext cx="164592" cy="164592"/>
          </a:xfrm>
          <a:prstGeom prst="ellipse">
            <a:avLst/>
          </a:prstGeom>
          <a:solidFill>
            <a:srgbClr val="1F4E79"/>
          </a:solidFill>
          <a:ln w="12700">
            <a:solidFill>
              <a:srgbClr val="1F4E79"/>
            </a:solidFill>
            <a:prstDash val="solid"/>
          </a:ln>
        </p:spPr>
      </p:sp>
      <p:sp>
        <p:nvSpPr>
          <p:cNvPr id="14" name="Text 12"/>
          <p:cNvSpPr txBox="1"/>
          <p:nvPr/>
        </p:nvSpPr>
        <p:spPr>
          <a:xfrm>
            <a:off x="4773168"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1980</a:t>
            </a:r>
            <a:endParaRPr lang="en-US" sz="2800" dirty="0"/>
          </a:p>
        </p:txBody>
      </p:sp>
      <p:sp>
        <p:nvSpPr>
          <p:cNvPr id="15" name="Text 13"/>
          <p:cNvSpPr txBox="1"/>
          <p:nvPr/>
        </p:nvSpPr>
        <p:spPr>
          <a:xfrm>
            <a:off x="4846320"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Szmuness: the vaccine works in a controlled trial of 1,083 men</a:t>
            </a:r>
            <a:endParaRPr lang="en-US" sz="1500" dirty="0"/>
          </a:p>
        </p:txBody>
      </p:sp>
      <p:sp>
        <p:nvSpPr>
          <p:cNvPr id="16" name="Shape 14"/>
          <p:cNvSpPr/>
          <p:nvPr/>
        </p:nvSpPr>
        <p:spPr>
          <a:xfrm>
            <a:off x="6940296" y="2295144"/>
            <a:ext cx="164592" cy="164592"/>
          </a:xfrm>
          <a:prstGeom prst="ellipse">
            <a:avLst/>
          </a:prstGeom>
          <a:solidFill>
            <a:srgbClr val="1F4E79"/>
          </a:solidFill>
          <a:ln w="12700">
            <a:solidFill>
              <a:srgbClr val="1F4E79"/>
            </a:solidFill>
            <a:prstDash val="solid"/>
          </a:ln>
        </p:spPr>
      </p:sp>
      <p:sp>
        <p:nvSpPr>
          <p:cNvPr id="17" name="Text 15"/>
          <p:cNvSpPr txBox="1"/>
          <p:nvPr/>
        </p:nvSpPr>
        <p:spPr>
          <a:xfrm>
            <a:off x="6272784"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1981</a:t>
            </a:r>
            <a:endParaRPr lang="en-US" sz="2800" dirty="0"/>
          </a:p>
        </p:txBody>
      </p:sp>
      <p:sp>
        <p:nvSpPr>
          <p:cNvPr id="18" name="Text 16"/>
          <p:cNvSpPr txBox="1"/>
          <p:nvPr/>
        </p:nvSpPr>
        <p:spPr>
          <a:xfrm>
            <a:off x="6345936"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Beasley: HBsAg carriers in Taiwan get liver cancer at a far higher rate</a:t>
            </a:r>
            <a:endParaRPr lang="en-US" sz="1500" dirty="0"/>
          </a:p>
        </p:txBody>
      </p:sp>
      <p:pic>
        <p:nvPicPr>
          <p:cNvPr id="19" name="Image 0" descr="Watercolor of a glass vaccine vial and a glass syringe">    </p:cNvPr>
          <p:cNvPicPr>
            <a:picLocks noChangeAspect="1"/>
          </p:cNvPicPr>
          <p:nvPr/>
        </p:nvPicPr>
        <p:blipFill>
          <a:blip r:embed="rId1"/>
          <a:stretch>
            <a:fillRect/>
          </a:stretch>
        </p:blipFill>
        <p:spPr>
          <a:xfrm>
            <a:off x="7863840" y="1097280"/>
            <a:ext cx="4206240" cy="4206240"/>
          </a:xfrm>
          <a:prstGeom prst="rect">
            <a:avLst/>
          </a:prstGeom>
        </p:spPr>
      </p:pic>
      <p:sp>
        <p:nvSpPr>
          <p:cNvPr id="2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PMIDs: Dane 4190997; Maupas 59012; Szmuness 6997738; Beasley 6118576.</a:t>
            </a:r>
            <a:endParaRPr lang="en-US" sz="1000" dirty="0"/>
          </a:p>
        </p:txBody>
      </p:sp>
      <p:sp>
        <p:nvSpPr>
          <p:cNvPr id="2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published version</a:t>
            </a:r>
            <a:endParaRPr lang="en-US" sz="3000" dirty="0"/>
          </a:p>
        </p:txBody>
      </p:sp>
      <p:pic>
        <p:nvPicPr>
          <p:cNvPr id="3" name="Image 0" descr="GESA 2022 natural history figure">    </p:cNvPr>
          <p:cNvPicPr>
            <a:picLocks noChangeAspect="1"/>
          </p:cNvPicPr>
          <p:nvPr/>
        </p:nvPicPr>
        <p:blipFill>
          <a:blip r:embed="rId1"/>
          <a:stretch>
            <a:fillRect/>
          </a:stretch>
        </p:blipFill>
        <p:spPr>
          <a:xfrm>
            <a:off x="2815726" y="1188720"/>
            <a:ext cx="6530068" cy="507492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GESA Australian consensus recommendations for the management of hepatitis B infection, 2022, Figure 3.1 (as shown in the ASHM B Positive chapter).</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10/38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11/38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11/38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12/38</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Question"/>
          <p:cNvSpPr txBox="1"/>
          <p:nvPr/>
        </p:nvSpPr>
        <p:spPr>
          <a:xfrm>
            <a:off x="274320" y="5897880"/>
            <a:ext cx="7040880"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 Monitor ALT and DNA every 3 to 6 months</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12/38</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13/38</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Question"/>
          <p:cNvSpPr txBox="1"/>
          <p:nvPr/>
        </p:nvSpPr>
        <p:spPr>
          <a:xfrm>
            <a:off x="274320" y="5897880"/>
            <a:ext cx="7040880"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AASLD/IDSA 2025: over age 40 supports treatment</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13/38</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6675120" cy="914400"/>
        </p:xfrm>
        <a:graphic>
          <a:graphicData uri="http://schemas.openxmlformats.org/drawingml/2006/table">
            <a:tbl>
              <a:tblPr/>
              <a:tblGrid>
                <a:gridCol w="3419856"/>
                <a:gridCol w="3255264"/>
              </a:tblGrid>
              <a:tr h="475488">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Test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Result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HBeAg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Negative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Anti-HBe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HBV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8,000 IU/mL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48 U/L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Platelets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190 x 10^9/L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FIB-4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Liver stiffness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6.8 kPa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62356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14/38</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3" name="Chart 0" descr=""/>
          <p:cNvGraphicFramePr/>
          <p:nvPr/>
        </p:nvGraphicFramePr>
        <p:xfrm>
          <a:off x="548640" y="1188720"/>
          <a:ext cx="7498080" cy="4937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0" y="2103120"/>
            <a:ext cx="3566160" cy="2560320"/>
          </a:xfrm>
          <a:prstGeom prst="rect">
            <a:avLst/>
          </a:prstGeom>
          <a:noFill/>
          <a:ln/>
        </p:spPr>
        <p:txBody>
          <a:bodyPr wrap="square" lIns="0" tIns="0" rIns="0" bIns="0" rtlCol="0" anchor="ctr"/>
          <a:lstStyle/>
          <a:p>
            <a:pPr algn="ctr" indent="0" marL="0">
              <a:buNone/>
            </a:pPr>
            <a:r>
              <a:rPr lang="en-US" sz="2400" dirty="0">
                <a:solidFill>
                  <a:srgbClr val="000000"/>
                </a:solidFill>
                <a:latin typeface="Georgia" pitchFamily="34" charset="0"/>
                <a:ea typeface="Georgia" pitchFamily="34" charset="-122"/>
                <a:cs typeface="Georgia" pitchFamily="34" charset="-120"/>
              </a:rPr>
              <a:t>His ALT</a:t>
            </a:r>
            <a:endParaRPr lang="en-US" sz="2400" dirty="0"/>
          </a:p>
          <a:p>
            <a:pPr algn="ctr" indent="0" marL="0">
              <a:buNone/>
            </a:pPr>
            <a:r>
              <a:rPr lang="en-US" sz="5400" b="1" dirty="0">
                <a:solidFill>
                  <a:srgbClr val="C00000"/>
                </a:solidFill>
                <a:latin typeface="Georgia" pitchFamily="34" charset="0"/>
                <a:ea typeface="Georgia" pitchFamily="34" charset="-122"/>
                <a:cs typeface="Georgia" pitchFamily="34" charset="-120"/>
              </a:rPr>
              <a:t>48 U/L</a:t>
            </a:r>
            <a:endParaRPr lang="en-US" sz="2400" dirty="0"/>
          </a:p>
          <a:p>
            <a:pPr algn="ctr" indent="0" marL="0">
              <a:buNone/>
            </a:pPr>
            <a:r>
              <a:rPr lang="en-US" sz="2200" dirty="0">
                <a:solidFill>
                  <a:srgbClr val="000000"/>
                </a:solidFill>
                <a:latin typeface="Georgia" pitchFamily="34" charset="0"/>
                <a:ea typeface="Georgia" pitchFamily="34" charset="-122"/>
                <a:cs typeface="Georgia" pitchFamily="34" charset="-120"/>
              </a:rPr>
              <a:t>Above all three limits</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15/38</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Observe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0233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expect?</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 y="3337560"/>
          <a:ext cx="603504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3337560"/>
          <a:ext cx="4937760" cy="292608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3017520"/>
            <a:ext cx="603504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Cumulative HCC risk, %</a:t>
            </a:r>
            <a:endParaRPr lang="en-US" sz="1500" dirty="0"/>
          </a:p>
        </p:txBody>
      </p:sp>
      <p:sp>
        <p:nvSpPr>
          <p:cNvPr id="7" name="Text 2"/>
          <p:cNvSpPr txBox="1"/>
          <p:nvPr/>
        </p:nvSpPr>
        <p:spPr>
          <a:xfrm>
            <a:off x="6766560" y="3017520"/>
            <a:ext cx="493776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Histologic progression, %</a:t>
            </a:r>
            <a:endParaRPr lang="en-US" sz="15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to treat: summary</a:t>
            </a:r>
            <a:endParaRPr lang="en-US" sz="3000" dirty="0"/>
          </a:p>
        </p:txBody>
      </p:sp>
      <p:sp>
        <p:nvSpPr>
          <p:cNvPr id="3" name="Text 1"/>
          <p:cNvSpPr/>
          <p:nvPr/>
        </p:nvSpPr>
        <p:spPr>
          <a:xfrm>
            <a:off x="4251960" y="1097280"/>
            <a:ext cx="3657600" cy="50292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HBsAg positive</a:t>
            </a:r>
            <a:endParaRPr lang="en-US" sz="1800" dirty="0"/>
          </a:p>
        </p:txBody>
      </p:sp>
      <p:sp>
        <p:nvSpPr>
          <p:cNvPr id="4" name="Shape 2"/>
          <p:cNvSpPr/>
          <p:nvPr/>
        </p:nvSpPr>
        <p:spPr>
          <a:xfrm>
            <a:off x="6080760" y="1600200"/>
            <a:ext cx="0" cy="274320"/>
          </a:xfrm>
          <a:prstGeom prst="line">
            <a:avLst/>
          </a:prstGeom>
          <a:noFill/>
          <a:ln w="19050">
            <a:solidFill>
              <a:srgbClr val="595959"/>
            </a:solidFill>
            <a:prstDash val="solid"/>
            <a:tailEnd type="triangle"/>
          </a:ln>
        </p:spPr>
      </p:sp>
      <p:sp>
        <p:nvSpPr>
          <p:cNvPr id="5" name="Text 3"/>
          <p:cNvSpPr/>
          <p:nvPr/>
        </p:nvSpPr>
        <p:spPr>
          <a:xfrm>
            <a:off x="4480560" y="1874520"/>
            <a:ext cx="3200400" cy="50292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Cirrhosis?</a:t>
            </a:r>
            <a:endParaRPr lang="en-US" sz="1800" dirty="0"/>
          </a:p>
        </p:txBody>
      </p:sp>
      <p:sp>
        <p:nvSpPr>
          <p:cNvPr id="6" name="Shape 4"/>
          <p:cNvSpPr/>
          <p:nvPr/>
        </p:nvSpPr>
        <p:spPr>
          <a:xfrm>
            <a:off x="7680960" y="2130552"/>
            <a:ext cx="1188720" cy="0"/>
          </a:xfrm>
          <a:prstGeom prst="line">
            <a:avLst/>
          </a:prstGeom>
          <a:noFill/>
          <a:ln w="19050">
            <a:solidFill>
              <a:srgbClr val="595959"/>
            </a:solidFill>
            <a:prstDash val="solid"/>
            <a:tailEnd type="triangle"/>
          </a:ln>
        </p:spPr>
      </p:sp>
      <p:sp>
        <p:nvSpPr>
          <p:cNvPr id="7" name="Text 5"/>
          <p:cNvSpPr txBox="1"/>
          <p:nvPr/>
        </p:nvSpPr>
        <p:spPr>
          <a:xfrm>
            <a:off x="7680960" y="1837944"/>
            <a:ext cx="1188720" cy="274320"/>
          </a:xfrm>
          <a:prstGeom prst="rect">
            <a:avLst/>
          </a:prstGeom>
          <a:noFill/>
          <a:ln/>
        </p:spPr>
        <p:txBody>
          <a:bodyPr wrap="square" lIns="0" tIns="0" rIns="0" bIns="0" rtlCol="0" anchor="ctr"/>
          <a:lstStyle/>
          <a:p>
            <a:pPr algn="ctr" indent="0" marL="0">
              <a:buNone/>
            </a:pPr>
            <a:r>
              <a:rPr lang="en-US" sz="1400" b="1" dirty="0">
                <a:solidFill>
                  <a:srgbClr val="595959"/>
                </a:solidFill>
                <a:latin typeface="Calibri" pitchFamily="34" charset="0"/>
                <a:ea typeface="Calibri" pitchFamily="34" charset="-122"/>
                <a:cs typeface="Calibri" pitchFamily="34" charset="-120"/>
              </a:rPr>
              <a:t>Yes</a:t>
            </a:r>
            <a:endParaRPr lang="en-US" sz="1400" dirty="0"/>
          </a:p>
        </p:txBody>
      </p:sp>
      <p:sp>
        <p:nvSpPr>
          <p:cNvPr id="8" name="Text 6"/>
          <p:cNvSpPr/>
          <p:nvPr/>
        </p:nvSpPr>
        <p:spPr>
          <a:xfrm>
            <a:off x="8869680" y="1874520"/>
            <a:ext cx="2926080" cy="50292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Treat, any DNA level</a:t>
            </a:r>
            <a:endParaRPr lang="en-US" sz="1800" dirty="0"/>
          </a:p>
        </p:txBody>
      </p:sp>
      <p:sp>
        <p:nvSpPr>
          <p:cNvPr id="9" name="Shape 7"/>
          <p:cNvSpPr/>
          <p:nvPr/>
        </p:nvSpPr>
        <p:spPr>
          <a:xfrm>
            <a:off x="6080760" y="2377440"/>
            <a:ext cx="0" cy="274320"/>
          </a:xfrm>
          <a:prstGeom prst="line">
            <a:avLst/>
          </a:prstGeom>
          <a:noFill/>
          <a:ln w="19050">
            <a:solidFill>
              <a:srgbClr val="595959"/>
            </a:solidFill>
            <a:prstDash val="solid"/>
          </a:ln>
        </p:spPr>
      </p:sp>
      <p:sp>
        <p:nvSpPr>
          <p:cNvPr id="10" name="Shape 8"/>
          <p:cNvSpPr/>
          <p:nvPr/>
        </p:nvSpPr>
        <p:spPr>
          <a:xfrm>
            <a:off x="2194560" y="2651760"/>
            <a:ext cx="6126480" cy="0"/>
          </a:xfrm>
          <a:prstGeom prst="line">
            <a:avLst/>
          </a:prstGeom>
          <a:noFill/>
          <a:ln w="19050">
            <a:solidFill>
              <a:srgbClr val="595959"/>
            </a:solidFill>
            <a:prstDash val="solid"/>
          </a:ln>
        </p:spPr>
      </p:sp>
      <p:sp>
        <p:nvSpPr>
          <p:cNvPr id="11" name="Text 9"/>
          <p:cNvSpPr txBox="1"/>
          <p:nvPr/>
        </p:nvSpPr>
        <p:spPr>
          <a:xfrm>
            <a:off x="6172200" y="2331720"/>
            <a:ext cx="548640" cy="274320"/>
          </a:xfrm>
          <a:prstGeom prst="rect">
            <a:avLst/>
          </a:prstGeom>
          <a:noFill/>
          <a:ln/>
        </p:spPr>
        <p:txBody>
          <a:bodyPr wrap="square" lIns="0" tIns="0" rIns="0" bIns="0" rtlCol="0" anchor="ctr"/>
          <a:lstStyle/>
          <a:p>
            <a:pPr indent="0" marL="0">
              <a:buNone/>
            </a:pPr>
            <a:r>
              <a:rPr lang="en-US" sz="1400" b="1" dirty="0">
                <a:solidFill>
                  <a:srgbClr val="595959"/>
                </a:solidFill>
                <a:latin typeface="Calibri" pitchFamily="34" charset="0"/>
                <a:ea typeface="Calibri" pitchFamily="34" charset="-122"/>
                <a:cs typeface="Calibri" pitchFamily="34" charset="-120"/>
              </a:rPr>
              <a:t>No</a:t>
            </a:r>
            <a:endParaRPr lang="en-US" sz="1400" dirty="0"/>
          </a:p>
        </p:txBody>
      </p:sp>
      <p:sp>
        <p:nvSpPr>
          <p:cNvPr id="12" name="Shape 10"/>
          <p:cNvSpPr/>
          <p:nvPr/>
        </p:nvSpPr>
        <p:spPr>
          <a:xfrm>
            <a:off x="2194560" y="2651760"/>
            <a:ext cx="0" cy="228600"/>
          </a:xfrm>
          <a:prstGeom prst="line">
            <a:avLst/>
          </a:prstGeom>
          <a:noFill/>
          <a:ln w="19050">
            <a:solidFill>
              <a:srgbClr val="595959"/>
            </a:solidFill>
            <a:prstDash val="solid"/>
            <a:tailEnd type="triangle"/>
          </a:ln>
        </p:spPr>
      </p:sp>
      <p:sp>
        <p:nvSpPr>
          <p:cNvPr id="13" name="Shape 11"/>
          <p:cNvSpPr/>
          <p:nvPr/>
        </p:nvSpPr>
        <p:spPr>
          <a:xfrm>
            <a:off x="8321040" y="2651760"/>
            <a:ext cx="0" cy="228600"/>
          </a:xfrm>
          <a:prstGeom prst="line">
            <a:avLst/>
          </a:prstGeom>
          <a:noFill/>
          <a:ln w="19050">
            <a:solidFill>
              <a:srgbClr val="595959"/>
            </a:solidFill>
            <a:prstDash val="solid"/>
            <a:tailEnd type="triangle"/>
          </a:ln>
        </p:spPr>
      </p:sp>
      <p:sp>
        <p:nvSpPr>
          <p:cNvPr id="14" name="Text 12"/>
          <p:cNvSpPr/>
          <p:nvPr/>
        </p:nvSpPr>
        <p:spPr>
          <a:xfrm>
            <a:off x="457200" y="2880360"/>
            <a:ext cx="347472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HBeAg positive</a:t>
            </a:r>
            <a:endParaRPr lang="en-US" sz="1700" dirty="0"/>
          </a:p>
        </p:txBody>
      </p:sp>
      <p:sp>
        <p:nvSpPr>
          <p:cNvPr id="15" name="Text 13"/>
          <p:cNvSpPr/>
          <p:nvPr/>
        </p:nvSpPr>
        <p:spPr>
          <a:xfrm>
            <a:off x="6583680" y="2880360"/>
            <a:ext cx="347472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HBeAg negative</a:t>
            </a:r>
            <a:endParaRPr lang="en-US" sz="1700" dirty="0"/>
          </a:p>
        </p:txBody>
      </p:sp>
      <p:sp>
        <p:nvSpPr>
          <p:cNvPr id="16" name="Text 14"/>
          <p:cNvSpPr/>
          <p:nvPr/>
        </p:nvSpPr>
        <p:spPr>
          <a:xfrm>
            <a:off x="274320" y="36118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20,000 and ALT 2 times ULN or more</a:t>
            </a:r>
            <a:endParaRPr lang="en-US" sz="1600" dirty="0"/>
          </a:p>
        </p:txBody>
      </p:sp>
      <p:sp>
        <p:nvSpPr>
          <p:cNvPr id="17" name="Shape 15"/>
          <p:cNvSpPr/>
          <p:nvPr/>
        </p:nvSpPr>
        <p:spPr>
          <a:xfrm>
            <a:off x="4114800" y="4000500"/>
            <a:ext cx="320040" cy="0"/>
          </a:xfrm>
          <a:prstGeom prst="line">
            <a:avLst/>
          </a:prstGeom>
          <a:noFill/>
          <a:ln w="19050">
            <a:solidFill>
              <a:srgbClr val="595959"/>
            </a:solidFill>
            <a:prstDash val="solid"/>
            <a:tailEnd type="triangle"/>
          </a:ln>
        </p:spPr>
      </p:sp>
      <p:sp>
        <p:nvSpPr>
          <p:cNvPr id="18" name="Text 16"/>
          <p:cNvSpPr/>
          <p:nvPr/>
        </p:nvSpPr>
        <p:spPr>
          <a:xfrm>
            <a:off x="4434840" y="3611880"/>
            <a:ext cx="1691640" cy="77724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a:t>
            </a:r>
            <a:endParaRPr lang="en-US" sz="1600" dirty="0"/>
          </a:p>
        </p:txBody>
      </p:sp>
      <p:sp>
        <p:nvSpPr>
          <p:cNvPr id="19" name="Text 17"/>
          <p:cNvSpPr/>
          <p:nvPr/>
        </p:nvSpPr>
        <p:spPr>
          <a:xfrm>
            <a:off x="274320" y="45262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10 million, normal ALT, over 40 or F2 or worse</a:t>
            </a:r>
            <a:endParaRPr lang="en-US" sz="1600" dirty="0"/>
          </a:p>
        </p:txBody>
      </p:sp>
      <p:sp>
        <p:nvSpPr>
          <p:cNvPr id="20" name="Shape 18"/>
          <p:cNvSpPr/>
          <p:nvPr/>
        </p:nvSpPr>
        <p:spPr>
          <a:xfrm>
            <a:off x="4114800" y="4914900"/>
            <a:ext cx="320040" cy="0"/>
          </a:xfrm>
          <a:prstGeom prst="line">
            <a:avLst/>
          </a:prstGeom>
          <a:noFill/>
          <a:ln w="19050">
            <a:solidFill>
              <a:srgbClr val="595959"/>
            </a:solidFill>
            <a:prstDash val="solid"/>
            <a:tailEnd type="triangle"/>
          </a:ln>
        </p:spPr>
      </p:sp>
      <p:sp>
        <p:nvSpPr>
          <p:cNvPr id="21" name="Text 19"/>
          <p:cNvSpPr/>
          <p:nvPr/>
        </p:nvSpPr>
        <p:spPr>
          <a:xfrm>
            <a:off x="4434840" y="4526280"/>
            <a:ext cx="1691640" cy="77724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Treatment suggested</a:t>
            </a:r>
            <a:endParaRPr lang="en-US" sz="1600" dirty="0"/>
          </a:p>
        </p:txBody>
      </p:sp>
      <p:sp>
        <p:nvSpPr>
          <p:cNvPr id="22" name="Text 20"/>
          <p:cNvSpPr/>
          <p:nvPr/>
        </p:nvSpPr>
        <p:spPr>
          <a:xfrm>
            <a:off x="274320" y="54406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10 million, normal ALT, 40 or younger, no fibrosis</a:t>
            </a:r>
            <a:endParaRPr lang="en-US" sz="1600" dirty="0"/>
          </a:p>
        </p:txBody>
      </p:sp>
      <p:sp>
        <p:nvSpPr>
          <p:cNvPr id="23" name="Shape 21"/>
          <p:cNvSpPr/>
          <p:nvPr/>
        </p:nvSpPr>
        <p:spPr>
          <a:xfrm>
            <a:off x="4114800" y="5829300"/>
            <a:ext cx="320040" cy="0"/>
          </a:xfrm>
          <a:prstGeom prst="line">
            <a:avLst/>
          </a:prstGeom>
          <a:noFill/>
          <a:ln w="19050">
            <a:solidFill>
              <a:srgbClr val="595959"/>
            </a:solidFill>
            <a:prstDash val="solid"/>
            <a:tailEnd type="triangle"/>
          </a:ln>
        </p:spPr>
      </p:sp>
      <p:sp>
        <p:nvSpPr>
          <p:cNvPr id="24" name="Text 22"/>
          <p:cNvSpPr/>
          <p:nvPr/>
        </p:nvSpPr>
        <p:spPr>
          <a:xfrm>
            <a:off x="4434840" y="5440680"/>
            <a:ext cx="1691640" cy="7772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Monitor</a:t>
            </a:r>
            <a:endParaRPr lang="en-US" sz="1600" dirty="0"/>
          </a:p>
        </p:txBody>
      </p:sp>
      <p:sp>
        <p:nvSpPr>
          <p:cNvPr id="25" name="Text 23"/>
          <p:cNvSpPr/>
          <p:nvPr/>
        </p:nvSpPr>
        <p:spPr>
          <a:xfrm>
            <a:off x="6400800" y="36118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2,000 and ALT 2 times ULN or more</a:t>
            </a:r>
            <a:endParaRPr lang="en-US" sz="1600" dirty="0"/>
          </a:p>
        </p:txBody>
      </p:sp>
      <p:sp>
        <p:nvSpPr>
          <p:cNvPr id="26" name="Shape 24"/>
          <p:cNvSpPr/>
          <p:nvPr/>
        </p:nvSpPr>
        <p:spPr>
          <a:xfrm>
            <a:off x="10241280" y="4000500"/>
            <a:ext cx="320040" cy="0"/>
          </a:xfrm>
          <a:prstGeom prst="line">
            <a:avLst/>
          </a:prstGeom>
          <a:noFill/>
          <a:ln w="19050">
            <a:solidFill>
              <a:srgbClr val="595959"/>
            </a:solidFill>
            <a:prstDash val="solid"/>
            <a:tailEnd type="triangle"/>
          </a:ln>
        </p:spPr>
      </p:sp>
      <p:sp>
        <p:nvSpPr>
          <p:cNvPr id="27" name="Text 25"/>
          <p:cNvSpPr/>
          <p:nvPr/>
        </p:nvSpPr>
        <p:spPr>
          <a:xfrm>
            <a:off x="10561320" y="3611880"/>
            <a:ext cx="1371600" cy="77724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a:t>
            </a:r>
            <a:endParaRPr lang="en-US" sz="1600" dirty="0"/>
          </a:p>
        </p:txBody>
      </p:sp>
      <p:sp>
        <p:nvSpPr>
          <p:cNvPr id="28" name="Text 26"/>
          <p:cNvSpPr/>
          <p:nvPr/>
        </p:nvSpPr>
        <p:spPr>
          <a:xfrm>
            <a:off x="6400800" y="45262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Between the two: the grey zone</a:t>
            </a:r>
            <a:endParaRPr lang="en-US" sz="1600" dirty="0"/>
          </a:p>
        </p:txBody>
      </p:sp>
      <p:sp>
        <p:nvSpPr>
          <p:cNvPr id="29" name="Shape 27"/>
          <p:cNvSpPr/>
          <p:nvPr/>
        </p:nvSpPr>
        <p:spPr>
          <a:xfrm>
            <a:off x="10241280" y="4914900"/>
            <a:ext cx="320040" cy="0"/>
          </a:xfrm>
          <a:prstGeom prst="line">
            <a:avLst/>
          </a:prstGeom>
          <a:noFill/>
          <a:ln w="19050">
            <a:solidFill>
              <a:srgbClr val="595959"/>
            </a:solidFill>
            <a:prstDash val="solid"/>
            <a:tailEnd type="triangle"/>
          </a:ln>
        </p:spPr>
      </p:sp>
      <p:sp>
        <p:nvSpPr>
          <p:cNvPr id="30" name="Text 28"/>
          <p:cNvSpPr/>
          <p:nvPr/>
        </p:nvSpPr>
        <p:spPr>
          <a:xfrm>
            <a:off x="10561320" y="4526280"/>
            <a:ext cx="1371600" cy="777240"/>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Shared decision</a:t>
            </a:r>
            <a:endParaRPr lang="en-US" sz="1600" dirty="0"/>
          </a:p>
        </p:txBody>
      </p:sp>
      <p:sp>
        <p:nvSpPr>
          <p:cNvPr id="31" name="Text 29"/>
          <p:cNvSpPr/>
          <p:nvPr/>
        </p:nvSpPr>
        <p:spPr>
          <a:xfrm>
            <a:off x="6400800" y="54406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below 2,000, normal ALT</a:t>
            </a:r>
            <a:endParaRPr lang="en-US" sz="1600" dirty="0"/>
          </a:p>
        </p:txBody>
      </p:sp>
      <p:sp>
        <p:nvSpPr>
          <p:cNvPr id="32" name="Shape 30"/>
          <p:cNvSpPr/>
          <p:nvPr/>
        </p:nvSpPr>
        <p:spPr>
          <a:xfrm>
            <a:off x="10241280" y="5829300"/>
            <a:ext cx="320040" cy="0"/>
          </a:xfrm>
          <a:prstGeom prst="line">
            <a:avLst/>
          </a:prstGeom>
          <a:noFill/>
          <a:ln w="19050">
            <a:solidFill>
              <a:srgbClr val="595959"/>
            </a:solidFill>
            <a:prstDash val="solid"/>
            <a:tailEnd type="triangle"/>
          </a:ln>
        </p:spPr>
      </p:sp>
      <p:sp>
        <p:nvSpPr>
          <p:cNvPr id="33" name="Text 31"/>
          <p:cNvSpPr/>
          <p:nvPr/>
        </p:nvSpPr>
        <p:spPr>
          <a:xfrm>
            <a:off x="10561320" y="5440680"/>
            <a:ext cx="1371600" cy="7772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Monitor</a:t>
            </a:r>
            <a:endParaRPr lang="en-US" sz="1600" dirty="0"/>
          </a:p>
        </p:txBody>
      </p:sp>
      <p:sp>
        <p:nvSpPr>
          <p:cNvPr id="3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R3, R4 and Figure 5 (PMID 41186418). ALT ULN 35 men, 25 women.</a:t>
            </a:r>
            <a:endParaRPr lang="en-US" sz="1000" dirty="0"/>
          </a:p>
        </p:txBody>
      </p:sp>
      <p:sp>
        <p:nvSpPr>
          <p:cNvPr id="3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18/38</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 kidney and bone effects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No adjustment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TAF, or entecavir with the dose adjusted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19/38</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548640" y="4206240"/>
            <a:ext cx="1097280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differs?</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20/38</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0" y="118872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0" y="914400"/>
            <a:ext cx="630936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Change in bone mineral density, %</a:t>
            </a:r>
            <a:endParaRPr lang="en-US" sz="1400" dirty="0"/>
          </a:p>
        </p:txBody>
      </p:sp>
      <p:sp>
        <p:nvSpPr>
          <p:cNvPr id="6" name="Text 2"/>
          <p:cNvSpPr txBox="1"/>
          <p:nvPr/>
        </p:nvSpPr>
        <p:spPr>
          <a:xfrm>
            <a:off x="548640" y="329184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Median eGFR change in the HBeAg-negative trial: -1.8 (TAF) vs -4.8 mL/min (TDF)</a:t>
            </a:r>
            <a:endParaRPr lang="en-US" sz="17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20/38</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Choosing the drug: summary</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197096"/>
                <a:gridCol w="6528816"/>
              </a:tblGrid>
              <a:tr h="658368">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Situation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Drug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8368">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Most patients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TDF or 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Kidney or bone disease, or at risk</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 or entecavir with the dose adjusted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Prior lamivudine resistance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not 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Pregnancy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(most data) or 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8764">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HIV</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with emtricitabine or lamivudine, inside the ART regimen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8764">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Decompensated cirrhosis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or TDF. The US TAF label does not recommend Child-Pugh B or C</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Wants a finite course, compensated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Pegylated interferon, in selected patients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 US prescribing information.</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21/38</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22/38</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47472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4297680"/>
            <a:ext cx="4754880" cy="1280160"/>
          </a:xfrm>
          <a:prstGeom prst="rect">
            <a:avLst/>
          </a:prstGeom>
          <a:noFill/>
          <a:ln/>
        </p:spPr>
        <p:txBody>
          <a:bodyPr wrap="square" lIns="50800" tIns="50800" rIns="50800" bIns="50800" rtlCol="0" anchor="t"/>
          <a:lstStyle/>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High risk: 18 or more</a:t>
            </a:r>
            <a:endParaRPr lang="en-US" sz="2100" dirty="0"/>
          </a:p>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5-year HCC about 16 to 17%</a:t>
            </a:r>
            <a:endParaRPr lang="en-US" sz="21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Calculate it yourself</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380744"/>
                <a:gridCol w="2615184"/>
                <a:gridCol w="2587752"/>
              </a:tblGrid>
              <a:tr h="68580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PAGE-B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derivation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validation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9 or less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10 to 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18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QR code to the HBV HCC risk calculator">    </p:cNvPr>
          <p:cNvPicPr>
            <a:picLocks noChangeAspect="1"/>
          </p:cNvPicPr>
          <p:nvPr/>
        </p:nvPicPr>
        <p:blipFill>
          <a:blip r:embed="rId1"/>
          <a:stretch>
            <a:fillRect/>
          </a:stretch>
        </p:blipFill>
        <p:spPr>
          <a:xfrm>
            <a:off x="8412480" y="1371600"/>
            <a:ext cx="2743200" cy="2743200"/>
          </a:xfrm>
          <a:prstGeom prst="rect">
            <a:avLst/>
          </a:prstGeom>
        </p:spPr>
      </p:pic>
      <p:sp>
        <p:nvSpPr>
          <p:cNvPr id="5" name="Text 1"/>
          <p:cNvSpPr txBox="1"/>
          <p:nvPr/>
        </p:nvSpPr>
        <p:spPr>
          <a:xfrm>
            <a:off x="7498080" y="4160520"/>
            <a:ext cx="4572000" cy="365760"/>
          </a:xfrm>
          <a:prstGeom prst="rect">
            <a:avLst/>
          </a:prstGeom>
          <a:noFill/>
          <a:ln/>
        </p:spPr>
        <p:txBody>
          <a:bodyPr wrap="square" lIns="0" tIns="0" rIns="0" bIns="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qaddodi.github.io/chb-hcc-risk</a:t>
            </a:r>
            <a:endParaRPr lang="en-US" sz="1700" dirty="0"/>
          </a:p>
        </p:txBody>
      </p:sp>
      <p:sp>
        <p:nvSpPr>
          <p:cNvPr id="6" name="Body"/>
          <p:cNvSpPr txBox="1"/>
          <p:nvPr/>
        </p:nvSpPr>
        <p:spPr>
          <a:xfrm>
            <a:off x="548640" y="4114800"/>
            <a:ext cx="6675120" cy="201168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PAGE-B was built in treated patients; REACH-B was built in untreated patients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The HBsAg-based model on the site is a 2026 research model, not validated</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Papatheodoridis GV et al. J Hepatol 2016. VA validation: Kim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23/38</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046720" y="1188720"/>
            <a:ext cx="4023360" cy="4023360"/>
          </a:xfrm>
          <a:prstGeom prst="rect">
            <a:avLst/>
          </a:prstGeom>
        </p:spPr>
      </p:pic>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680960" cy="914400"/>
        </p:xfrm>
        <a:graphic>
          <a:graphicData uri="http://schemas.openxmlformats.org/drawingml/2006/table">
            <a:tbl>
              <a:tblPr/>
              <a:tblGrid>
                <a:gridCol w="6080760"/>
                <a:gridCol w="1600200"/>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24/38</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046720" y="1188720"/>
            <a:ext cx="4023360" cy="4023360"/>
          </a:xfrm>
          <a:prstGeom prst="rect">
            <a:avLst/>
          </a:prstGeom>
        </p:spPr>
      </p:pic>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680960" cy="914400"/>
        </p:xfrm>
        <a:graphic>
          <a:graphicData uri="http://schemas.openxmlformats.org/drawingml/2006/table">
            <a:tbl>
              <a:tblPr/>
              <a:tblGrid>
                <a:gridCol w="6080760"/>
                <a:gridCol w="1600200"/>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24/38</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HCC surveillance: summary</a:t>
            </a:r>
            <a:endParaRPr lang="en-US" sz="3000" dirty="0"/>
          </a:p>
        </p:txBody>
      </p:sp>
      <p:sp>
        <p:nvSpPr>
          <p:cNvPr id="3" name="Body"/>
          <p:cNvSpPr txBox="1"/>
          <p:nvPr/>
        </p:nvSpPr>
        <p:spPr>
          <a:xfrm>
            <a:off x="548640" y="1188720"/>
            <a:ext cx="6949440" cy="502920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Ultrasound and AFP every 6 months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Cirrhosis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cirrhosis, from an endemic region: men over 40, women over 50; people of African origin earlier</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Family history of HCC</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PAGE-B 10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Hepatitis D coinfection</a:t>
            </a:r>
            <a:endParaRPr lang="en-US" sz="2100" dirty="0"/>
          </a:p>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Keep going after HBsAg loss if:</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Cirrhosis or a family history of HCC, or HBsAg lost after 40 in men and after 50 in women</a:t>
            </a:r>
            <a:endParaRPr lang="en-US" sz="2100" dirty="0"/>
          </a:p>
        </p:txBody>
      </p:sp>
      <p:pic>
        <p:nvPicPr>
          <p:cNvPr id="4" name="Image 0" descr="Watercolor of an abdominal ultrasound probe">    </p:cNvPr>
          <p:cNvPicPr>
            <a:picLocks noChangeAspect="1"/>
          </p:cNvPicPr>
          <p:nvPr/>
        </p:nvPicPr>
        <p:blipFill>
          <a:blip r:embed="rId1"/>
          <a:stretch>
            <a:fillRect/>
          </a:stretch>
        </p:blipFill>
        <p:spPr>
          <a:xfrm>
            <a:off x="7772400" y="1280160"/>
            <a:ext cx="4114800" cy="41148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guidance 2023, Table 1 (PMID 37199193); AASLD/IDSA 2025 R6 to R9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25/38</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26/38</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26/38</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56972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4267200" y="2011680"/>
            <a:ext cx="0" cy="1737360"/>
          </a:xfrm>
          <a:prstGeom prst="line">
            <a:avLst/>
          </a:prstGeom>
          <a:noFill/>
          <a:ln w="9525">
            <a:solidFill>
              <a:srgbClr val="D9D9D9"/>
            </a:solidFill>
            <a:prstDash val="solid"/>
          </a:ln>
        </p:spPr>
      </p:sp>
      <p:sp>
        <p:nvSpPr>
          <p:cNvPr id="8" name="Text 5"/>
          <p:cNvSpPr txBox="1"/>
          <p:nvPr/>
        </p:nvSpPr>
        <p:spPr>
          <a:xfrm>
            <a:off x="336804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6065520" y="2011680"/>
            <a:ext cx="0" cy="1737360"/>
          </a:xfrm>
          <a:prstGeom prst="line">
            <a:avLst/>
          </a:prstGeom>
          <a:noFill/>
          <a:ln w="9525">
            <a:solidFill>
              <a:srgbClr val="D9D9D9"/>
            </a:solidFill>
            <a:prstDash val="solid"/>
          </a:ln>
        </p:spPr>
      </p:sp>
      <p:sp>
        <p:nvSpPr>
          <p:cNvPr id="10" name="Text 7"/>
          <p:cNvSpPr txBox="1"/>
          <p:nvPr/>
        </p:nvSpPr>
        <p:spPr>
          <a:xfrm>
            <a:off x="516636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7863840" y="2011680"/>
            <a:ext cx="0" cy="1737360"/>
          </a:xfrm>
          <a:prstGeom prst="line">
            <a:avLst/>
          </a:prstGeom>
          <a:noFill/>
          <a:ln w="9525">
            <a:solidFill>
              <a:srgbClr val="D9D9D9"/>
            </a:solidFill>
            <a:prstDash val="solid"/>
          </a:ln>
        </p:spPr>
      </p:sp>
      <p:sp>
        <p:nvSpPr>
          <p:cNvPr id="12" name="Text 9"/>
          <p:cNvSpPr txBox="1"/>
          <p:nvPr/>
        </p:nvSpPr>
        <p:spPr>
          <a:xfrm>
            <a:off x="696468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Text 10"/>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4" name="Shape 11"/>
          <p:cNvSpPr/>
          <p:nvPr/>
        </p:nvSpPr>
        <p:spPr>
          <a:xfrm>
            <a:off x="2468880" y="2084832"/>
            <a:ext cx="1708404" cy="676656"/>
          </a:xfrm>
          <a:prstGeom prst="rect">
            <a:avLst/>
          </a:prstGeom>
          <a:solidFill>
            <a:srgbClr val="9DB4CA"/>
          </a:solidFill>
          <a:ln w="6350">
            <a:solidFill>
              <a:srgbClr val="9DB4CA"/>
            </a:solidFill>
            <a:prstDash val="solid"/>
          </a:ln>
        </p:spPr>
      </p:sp>
      <p:sp>
        <p:nvSpPr>
          <p:cNvPr id="15" name="Text 12"/>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27/38</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56972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4267200" y="2011680"/>
            <a:ext cx="0" cy="1737360"/>
          </a:xfrm>
          <a:prstGeom prst="line">
            <a:avLst/>
          </a:prstGeom>
          <a:noFill/>
          <a:ln w="9525">
            <a:solidFill>
              <a:srgbClr val="D9D9D9"/>
            </a:solidFill>
            <a:prstDash val="solid"/>
          </a:ln>
        </p:spPr>
      </p:sp>
      <p:sp>
        <p:nvSpPr>
          <p:cNvPr id="8" name="Text 5"/>
          <p:cNvSpPr txBox="1"/>
          <p:nvPr/>
        </p:nvSpPr>
        <p:spPr>
          <a:xfrm>
            <a:off x="336804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6065520" y="2011680"/>
            <a:ext cx="0" cy="1737360"/>
          </a:xfrm>
          <a:prstGeom prst="line">
            <a:avLst/>
          </a:prstGeom>
          <a:noFill/>
          <a:ln w="9525">
            <a:solidFill>
              <a:srgbClr val="D9D9D9"/>
            </a:solidFill>
            <a:prstDash val="solid"/>
          </a:ln>
        </p:spPr>
      </p:sp>
      <p:sp>
        <p:nvSpPr>
          <p:cNvPr id="10" name="Text 7"/>
          <p:cNvSpPr txBox="1"/>
          <p:nvPr/>
        </p:nvSpPr>
        <p:spPr>
          <a:xfrm>
            <a:off x="516636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7863840" y="2011680"/>
            <a:ext cx="0" cy="1737360"/>
          </a:xfrm>
          <a:prstGeom prst="line">
            <a:avLst/>
          </a:prstGeom>
          <a:noFill/>
          <a:ln w="9525">
            <a:solidFill>
              <a:srgbClr val="D9D9D9"/>
            </a:solidFill>
            <a:prstDash val="solid"/>
          </a:ln>
        </p:spPr>
      </p:sp>
      <p:sp>
        <p:nvSpPr>
          <p:cNvPr id="12" name="Text 9"/>
          <p:cNvSpPr txBox="1"/>
          <p:nvPr/>
        </p:nvSpPr>
        <p:spPr>
          <a:xfrm>
            <a:off x="696468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Text 10"/>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4" name="Shape 11"/>
          <p:cNvSpPr/>
          <p:nvPr/>
        </p:nvSpPr>
        <p:spPr>
          <a:xfrm>
            <a:off x="2468880" y="2084832"/>
            <a:ext cx="1708404" cy="676656"/>
          </a:xfrm>
          <a:prstGeom prst="rect">
            <a:avLst/>
          </a:prstGeom>
          <a:solidFill>
            <a:srgbClr val="9DB4CA"/>
          </a:solidFill>
          <a:ln w="6350">
            <a:solidFill>
              <a:srgbClr val="9DB4CA"/>
            </a:solidFill>
            <a:prstDash val="solid"/>
          </a:ln>
        </p:spPr>
      </p:sp>
      <p:sp>
        <p:nvSpPr>
          <p:cNvPr id="15" name="Text 12"/>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6" name="Shape 13"/>
          <p:cNvSpPr/>
          <p:nvPr/>
        </p:nvSpPr>
        <p:spPr>
          <a:xfrm>
            <a:off x="2468880" y="2907792"/>
            <a:ext cx="5394960" cy="676656"/>
          </a:xfrm>
          <a:prstGeom prst="rect">
            <a:avLst/>
          </a:prstGeom>
          <a:solidFill>
            <a:srgbClr val="1F4E79"/>
          </a:solidFill>
          <a:ln w="6350">
            <a:solidFill>
              <a:srgbClr val="1F4E79"/>
            </a:solidFill>
            <a:prstDash val="solid"/>
          </a:ln>
        </p:spPr>
      </p:sp>
      <p:sp>
        <p:nvSpPr>
          <p:cNvPr id="17" name="Text 14"/>
          <p:cNvSpPr txBox="1"/>
          <p:nvPr/>
        </p:nvSpPr>
        <p:spPr>
          <a:xfrm>
            <a:off x="2468880" y="2907792"/>
            <a:ext cx="5394960"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18" name="Question"/>
          <p:cNvSpPr txBox="1"/>
          <p:nvPr/>
        </p:nvSpPr>
        <p:spPr>
          <a:xfrm>
            <a:off x="365760" y="4480560"/>
            <a:ext cx="7315200" cy="91440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Start before the first dose. If you only monitor: DNA and ALT every 1 to 3 months</a:t>
            </a:r>
            <a:endParaRPr lang="en-US" sz="2000" dirty="0"/>
          </a:p>
        </p:txBody>
      </p:sp>
      <p:sp>
        <p:nvSpPr>
          <p:cNvPr id="1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27/38</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Before immunosuppression: summary</a:t>
            </a:r>
            <a:endParaRPr lang="en-US" sz="3000" dirty="0"/>
          </a:p>
        </p:txBody>
      </p:sp>
      <p:sp>
        <p:nvSpPr>
          <p:cNvPr id="3" name="Text 1"/>
          <p:cNvSpPr/>
          <p:nvPr/>
        </p:nvSpPr>
        <p:spPr>
          <a:xfrm>
            <a:off x="2194560" y="1097280"/>
            <a:ext cx="777240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Before chemotherapy or immunosuppression: HBsAg, anti-HBc, anti-HBs</a:t>
            </a:r>
            <a:endParaRPr lang="en-US" sz="1800" dirty="0"/>
          </a:p>
        </p:txBody>
      </p:sp>
      <p:sp>
        <p:nvSpPr>
          <p:cNvPr id="4" name="Shape 2"/>
          <p:cNvSpPr/>
          <p:nvPr/>
        </p:nvSpPr>
        <p:spPr>
          <a:xfrm>
            <a:off x="6080760" y="1645920"/>
            <a:ext cx="0" cy="274320"/>
          </a:xfrm>
          <a:prstGeom prst="line">
            <a:avLst/>
          </a:prstGeom>
          <a:noFill/>
          <a:ln w="19050">
            <a:solidFill>
              <a:srgbClr val="595959"/>
            </a:solidFill>
            <a:prstDash val="solid"/>
          </a:ln>
        </p:spPr>
      </p:sp>
      <p:sp>
        <p:nvSpPr>
          <p:cNvPr id="5" name="Shape 3"/>
          <p:cNvSpPr/>
          <p:nvPr/>
        </p:nvSpPr>
        <p:spPr>
          <a:xfrm>
            <a:off x="2148840" y="1920240"/>
            <a:ext cx="7863840" cy="0"/>
          </a:xfrm>
          <a:prstGeom prst="line">
            <a:avLst/>
          </a:prstGeom>
          <a:noFill/>
          <a:ln w="19050">
            <a:solidFill>
              <a:srgbClr val="595959"/>
            </a:solidFill>
            <a:prstDash val="solid"/>
          </a:ln>
        </p:spPr>
      </p:sp>
      <p:sp>
        <p:nvSpPr>
          <p:cNvPr id="6" name="Shape 4"/>
          <p:cNvSpPr/>
          <p:nvPr/>
        </p:nvSpPr>
        <p:spPr>
          <a:xfrm>
            <a:off x="2148840" y="1920240"/>
            <a:ext cx="0" cy="274320"/>
          </a:xfrm>
          <a:prstGeom prst="line">
            <a:avLst/>
          </a:prstGeom>
          <a:noFill/>
          <a:ln w="19050">
            <a:solidFill>
              <a:srgbClr val="595959"/>
            </a:solidFill>
            <a:prstDash val="solid"/>
            <a:tailEnd type="triangle"/>
          </a:ln>
        </p:spPr>
      </p:sp>
      <p:sp>
        <p:nvSpPr>
          <p:cNvPr id="7" name="Shape 5"/>
          <p:cNvSpPr/>
          <p:nvPr/>
        </p:nvSpPr>
        <p:spPr>
          <a:xfrm>
            <a:off x="6080760" y="1920240"/>
            <a:ext cx="0" cy="274320"/>
          </a:xfrm>
          <a:prstGeom prst="line">
            <a:avLst/>
          </a:prstGeom>
          <a:noFill/>
          <a:ln w="19050">
            <a:solidFill>
              <a:srgbClr val="595959"/>
            </a:solidFill>
            <a:prstDash val="solid"/>
            <a:tailEnd type="triangle"/>
          </a:ln>
        </p:spPr>
      </p:sp>
      <p:sp>
        <p:nvSpPr>
          <p:cNvPr id="8" name="Shape 6"/>
          <p:cNvSpPr/>
          <p:nvPr/>
        </p:nvSpPr>
        <p:spPr>
          <a:xfrm>
            <a:off x="10012680" y="1920240"/>
            <a:ext cx="0" cy="274320"/>
          </a:xfrm>
          <a:prstGeom prst="line">
            <a:avLst/>
          </a:prstGeom>
          <a:noFill/>
          <a:ln w="19050">
            <a:solidFill>
              <a:srgbClr val="595959"/>
            </a:solidFill>
            <a:prstDash val="solid"/>
            <a:tailEnd type="triangle"/>
          </a:ln>
        </p:spPr>
      </p:sp>
      <p:sp>
        <p:nvSpPr>
          <p:cNvPr id="9" name="Text 7"/>
          <p:cNvSpPr/>
          <p:nvPr/>
        </p:nvSpPr>
        <p:spPr>
          <a:xfrm>
            <a:off x="41148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HBsAg positive</a:t>
            </a:r>
            <a:endParaRPr lang="en-US" sz="1700" dirty="0"/>
          </a:p>
        </p:txBody>
      </p:sp>
      <p:sp>
        <p:nvSpPr>
          <p:cNvPr id="10" name="Text 8"/>
          <p:cNvSpPr/>
          <p:nvPr/>
        </p:nvSpPr>
        <p:spPr>
          <a:xfrm>
            <a:off x="434340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HBsAg negative, anti-HBc positive</a:t>
            </a:r>
            <a:endParaRPr lang="en-US" sz="1700" dirty="0"/>
          </a:p>
        </p:txBody>
      </p:sp>
      <p:sp>
        <p:nvSpPr>
          <p:cNvPr id="11" name="Text 9"/>
          <p:cNvSpPr/>
          <p:nvPr/>
        </p:nvSpPr>
        <p:spPr>
          <a:xfrm>
            <a:off x="827532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All negative</a:t>
            </a:r>
            <a:endParaRPr lang="en-US" sz="1700" dirty="0"/>
          </a:p>
        </p:txBody>
      </p:sp>
      <p:sp>
        <p:nvSpPr>
          <p:cNvPr id="12" name="Shape 10"/>
          <p:cNvSpPr/>
          <p:nvPr/>
        </p:nvSpPr>
        <p:spPr>
          <a:xfrm>
            <a:off x="2148840" y="2743200"/>
            <a:ext cx="0" cy="320040"/>
          </a:xfrm>
          <a:prstGeom prst="line">
            <a:avLst/>
          </a:prstGeom>
          <a:noFill/>
          <a:ln w="19050">
            <a:solidFill>
              <a:srgbClr val="595959"/>
            </a:solidFill>
            <a:prstDash val="solid"/>
            <a:tailEnd type="triangle"/>
          </a:ln>
        </p:spPr>
      </p:sp>
      <p:sp>
        <p:nvSpPr>
          <p:cNvPr id="13" name="Text 11"/>
          <p:cNvSpPr/>
          <p:nvPr/>
        </p:nvSpPr>
        <p:spPr>
          <a:xfrm>
            <a:off x="411480" y="3063240"/>
            <a:ext cx="3474720" cy="91440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Prophylaxis: entecavir, TDF or TAF</a:t>
            </a:r>
            <a:endParaRPr lang="en-US" sz="1800" dirty="0"/>
          </a:p>
        </p:txBody>
      </p:sp>
      <p:sp>
        <p:nvSpPr>
          <p:cNvPr id="14" name="Shape 12"/>
          <p:cNvSpPr/>
          <p:nvPr/>
        </p:nvSpPr>
        <p:spPr>
          <a:xfrm>
            <a:off x="2148840" y="3977640"/>
            <a:ext cx="0" cy="320040"/>
          </a:xfrm>
          <a:prstGeom prst="line">
            <a:avLst/>
          </a:prstGeom>
          <a:noFill/>
          <a:ln w="19050">
            <a:solidFill>
              <a:srgbClr val="595959"/>
            </a:solidFill>
            <a:prstDash val="solid"/>
            <a:tailEnd type="triangle"/>
          </a:ln>
        </p:spPr>
      </p:sp>
      <p:sp>
        <p:nvSpPr>
          <p:cNvPr id="15" name="Text 13"/>
          <p:cNvSpPr/>
          <p:nvPr/>
        </p:nvSpPr>
        <p:spPr>
          <a:xfrm>
            <a:off x="411480" y="4297680"/>
            <a:ext cx="3474720" cy="128016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Start before the first dose. Continue 6 months after the last, 12 after anti-CD20</a:t>
            </a:r>
            <a:endParaRPr lang="en-US" sz="1700" dirty="0"/>
          </a:p>
        </p:txBody>
      </p:sp>
      <p:sp>
        <p:nvSpPr>
          <p:cNvPr id="16" name="Shape 14"/>
          <p:cNvSpPr/>
          <p:nvPr/>
        </p:nvSpPr>
        <p:spPr>
          <a:xfrm>
            <a:off x="6080760" y="2743200"/>
            <a:ext cx="0" cy="320040"/>
          </a:xfrm>
          <a:prstGeom prst="line">
            <a:avLst/>
          </a:prstGeom>
          <a:noFill/>
          <a:ln w="19050">
            <a:solidFill>
              <a:srgbClr val="595959"/>
            </a:solidFill>
            <a:prstDash val="solid"/>
            <a:tailEnd type="triangle"/>
          </a:ln>
        </p:spPr>
      </p:sp>
      <p:sp>
        <p:nvSpPr>
          <p:cNvPr id="17" name="Text 15"/>
          <p:cNvSpPr/>
          <p:nvPr/>
        </p:nvSpPr>
        <p:spPr>
          <a:xfrm>
            <a:off x="4343400" y="3063240"/>
            <a:ext cx="3474720" cy="91440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High risk (anti-CD20, stem cell transplant): prophylaxis</a:t>
            </a:r>
            <a:endParaRPr lang="en-US" sz="1700" dirty="0"/>
          </a:p>
        </p:txBody>
      </p:sp>
      <p:sp>
        <p:nvSpPr>
          <p:cNvPr id="18" name="Shape 16"/>
          <p:cNvSpPr/>
          <p:nvPr/>
        </p:nvSpPr>
        <p:spPr>
          <a:xfrm>
            <a:off x="6080760" y="3977640"/>
            <a:ext cx="0" cy="320040"/>
          </a:xfrm>
          <a:prstGeom prst="line">
            <a:avLst/>
          </a:prstGeom>
          <a:noFill/>
          <a:ln w="19050">
            <a:solidFill>
              <a:srgbClr val="595959"/>
            </a:solidFill>
            <a:prstDash val="solid"/>
            <a:tailEnd type="triangle"/>
          </a:ln>
        </p:spPr>
      </p:sp>
      <p:sp>
        <p:nvSpPr>
          <p:cNvPr id="19" name="Text 17"/>
          <p:cNvSpPr/>
          <p:nvPr/>
        </p:nvSpPr>
        <p:spPr>
          <a:xfrm>
            <a:off x="4343400" y="4297680"/>
            <a:ext cx="3474720" cy="1280160"/>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Moderate or low risk: DNA and ALT every 1 to 3 months, or prophylaxis</a:t>
            </a:r>
            <a:endParaRPr lang="en-US" sz="1700" dirty="0"/>
          </a:p>
        </p:txBody>
      </p:sp>
      <p:sp>
        <p:nvSpPr>
          <p:cNvPr id="20" name="Shape 18"/>
          <p:cNvSpPr/>
          <p:nvPr/>
        </p:nvSpPr>
        <p:spPr>
          <a:xfrm>
            <a:off x="10012680" y="2743200"/>
            <a:ext cx="0" cy="320040"/>
          </a:xfrm>
          <a:prstGeom prst="line">
            <a:avLst/>
          </a:prstGeom>
          <a:noFill/>
          <a:ln w="19050">
            <a:solidFill>
              <a:srgbClr val="595959"/>
            </a:solidFill>
            <a:prstDash val="solid"/>
            <a:tailEnd type="triangle"/>
          </a:ln>
        </p:spPr>
      </p:sp>
      <p:sp>
        <p:nvSpPr>
          <p:cNvPr id="21" name="Text 19"/>
          <p:cNvSpPr/>
          <p:nvPr/>
        </p:nvSpPr>
        <p:spPr>
          <a:xfrm>
            <a:off x="8275320" y="3063240"/>
            <a:ext cx="3474720" cy="91440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Vaccinate</a:t>
            </a:r>
            <a:endParaRPr lang="en-US" sz="18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28/38</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457200" y="1234440"/>
          <a:ext cx="6583680" cy="914400"/>
        </p:xfrm>
        <a:graphic>
          <a:graphicData uri="http://schemas.openxmlformats.org/drawingml/2006/table">
            <a:tbl>
              <a:tblPr/>
              <a:tblGrid>
                <a:gridCol w="1380744"/>
                <a:gridCol w="1380744"/>
                <a:gridCol w="2606040"/>
                <a:gridCol w="1216152"/>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658368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do for her and for the baby?</a:t>
            </a:r>
            <a:endParaRPr lang="en-US" sz="2400" dirty="0"/>
          </a:p>
        </p:txBody>
      </p:sp>
      <p:pic>
        <p:nvPicPr>
          <p:cNvPr id="5" name="Image 0" descr="Watercolor of a seated pregnant woman in profile">    </p:cNvPr>
          <p:cNvPicPr>
            <a:picLocks noChangeAspect="1"/>
          </p:cNvPicPr>
          <p:nvPr/>
        </p:nvPicPr>
        <p:blipFill>
          <a:blip r:embed="rId1"/>
          <a:stretch>
            <a:fillRect/>
          </a:stretch>
        </p:blipFill>
        <p:spPr>
          <a:xfrm>
            <a:off x="7040880" y="1097280"/>
            <a:ext cx="5029200" cy="502920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29/38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457200" y="1234440"/>
          <a:ext cx="6583680" cy="914400"/>
        </p:xfrm>
        <a:graphic>
          <a:graphicData uri="http://schemas.openxmlformats.org/drawingml/2006/table">
            <a:tbl>
              <a:tblPr/>
              <a:tblGrid>
                <a:gridCol w="1380744"/>
                <a:gridCol w="1380744"/>
                <a:gridCol w="2606040"/>
                <a:gridCol w="1216152"/>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658368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do for her and for the baby?</a:t>
            </a:r>
            <a:endParaRPr lang="en-US" sz="2400" dirty="0"/>
          </a:p>
        </p:txBody>
      </p:sp>
      <p:pic>
        <p:nvPicPr>
          <p:cNvPr id="5" name="Image 0" descr="Watercolor of a seated pregnant woman in profile">    </p:cNvPr>
          <p:cNvPicPr>
            <a:picLocks noChangeAspect="1"/>
          </p:cNvPicPr>
          <p:nvPr/>
        </p:nvPicPr>
        <p:blipFill>
          <a:blip r:embed="rId1"/>
          <a:stretch>
            <a:fillRect/>
          </a:stretch>
        </p:blipFill>
        <p:spPr>
          <a:xfrm>
            <a:off x="7040880" y="1097280"/>
            <a:ext cx="5029200" cy="5029200"/>
          </a:xfrm>
          <a:prstGeom prst="rect">
            <a:avLst/>
          </a:prstGeom>
        </p:spPr>
      </p:pic>
      <p:sp>
        <p:nvSpPr>
          <p:cNvPr id="6" name="Body"/>
          <p:cNvSpPr txBox="1"/>
          <p:nvPr/>
        </p:nvSpPr>
        <p:spPr>
          <a:xfrm>
            <a:off x="548640" y="3383280"/>
            <a:ext cx="6400800" cy="2560320"/>
          </a:xfrm>
          <a:prstGeom prst="rect">
            <a:avLst/>
          </a:prstGeom>
          <a:noFill/>
          <a:ln/>
        </p:spPr>
        <p:txBody>
          <a:bodyPr wrap="square" lIns="50800" tIns="50800" rIns="50800" bIns="50800" rtlCol="0" anchor="t"/>
          <a:lstStyle/>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29/38</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Her pregnancy and the baby's first year</a:t>
            </a:r>
            <a:endParaRPr lang="en-US" sz="3000" dirty="0"/>
          </a:p>
        </p:txBody>
      </p:sp>
      <p:sp>
        <p:nvSpPr>
          <p:cNvPr id="3" name="Shape 1"/>
          <p:cNvSpPr/>
          <p:nvPr/>
        </p:nvSpPr>
        <p:spPr>
          <a:xfrm>
            <a:off x="4023360" y="1463040"/>
            <a:ext cx="0" cy="3200400"/>
          </a:xfrm>
          <a:prstGeom prst="line">
            <a:avLst/>
          </a:prstGeom>
          <a:noFill/>
          <a:ln w="9525">
            <a:solidFill>
              <a:srgbClr val="D9D9D9"/>
            </a:solidFill>
            <a:prstDash val="solid"/>
          </a:ln>
        </p:spPr>
      </p:sp>
      <p:sp>
        <p:nvSpPr>
          <p:cNvPr id="4" name="Text 2"/>
          <p:cNvSpPr txBox="1"/>
          <p:nvPr/>
        </p:nvSpPr>
        <p:spPr>
          <a:xfrm>
            <a:off x="3070898"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20</a:t>
            </a:r>
            <a:endParaRPr lang="en-US" sz="1600" dirty="0"/>
          </a:p>
        </p:txBody>
      </p:sp>
      <p:sp>
        <p:nvSpPr>
          <p:cNvPr id="5" name="Shape 3"/>
          <p:cNvSpPr/>
          <p:nvPr/>
        </p:nvSpPr>
        <p:spPr>
          <a:xfrm>
            <a:off x="5928284" y="1463040"/>
            <a:ext cx="0" cy="3200400"/>
          </a:xfrm>
          <a:prstGeom prst="line">
            <a:avLst/>
          </a:prstGeom>
          <a:noFill/>
          <a:ln w="9525">
            <a:solidFill>
              <a:srgbClr val="D9D9D9"/>
            </a:solidFill>
            <a:prstDash val="solid"/>
          </a:ln>
        </p:spPr>
      </p:sp>
      <p:sp>
        <p:nvSpPr>
          <p:cNvPr id="6" name="Text 4"/>
          <p:cNvSpPr txBox="1"/>
          <p:nvPr/>
        </p:nvSpPr>
        <p:spPr>
          <a:xfrm>
            <a:off x="4975822"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28</a:t>
            </a:r>
            <a:endParaRPr lang="en-US" sz="1600" dirty="0"/>
          </a:p>
        </p:txBody>
      </p:sp>
      <p:sp>
        <p:nvSpPr>
          <p:cNvPr id="7" name="Shape 5"/>
          <p:cNvSpPr/>
          <p:nvPr/>
        </p:nvSpPr>
        <p:spPr>
          <a:xfrm>
            <a:off x="7833208" y="1463040"/>
            <a:ext cx="0" cy="3200400"/>
          </a:xfrm>
          <a:prstGeom prst="line">
            <a:avLst/>
          </a:prstGeom>
          <a:noFill/>
          <a:ln w="9525">
            <a:solidFill>
              <a:srgbClr val="D9D9D9"/>
            </a:solidFill>
            <a:prstDash val="solid"/>
          </a:ln>
        </p:spPr>
      </p:sp>
      <p:sp>
        <p:nvSpPr>
          <p:cNvPr id="8" name="Text 6"/>
          <p:cNvSpPr txBox="1"/>
          <p:nvPr/>
        </p:nvSpPr>
        <p:spPr>
          <a:xfrm>
            <a:off x="6880746"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Delivery</a:t>
            </a:r>
            <a:endParaRPr lang="en-US" sz="1600" dirty="0"/>
          </a:p>
        </p:txBody>
      </p:sp>
      <p:sp>
        <p:nvSpPr>
          <p:cNvPr id="9" name="Shape 7"/>
          <p:cNvSpPr/>
          <p:nvPr/>
        </p:nvSpPr>
        <p:spPr>
          <a:xfrm>
            <a:off x="9738131" y="1463040"/>
            <a:ext cx="0" cy="3200400"/>
          </a:xfrm>
          <a:prstGeom prst="line">
            <a:avLst/>
          </a:prstGeom>
          <a:noFill/>
          <a:ln w="9525">
            <a:solidFill>
              <a:srgbClr val="D9D9D9"/>
            </a:solidFill>
            <a:prstDash val="solid"/>
          </a:ln>
        </p:spPr>
      </p:sp>
      <p:sp>
        <p:nvSpPr>
          <p:cNvPr id="10" name="Text 8"/>
          <p:cNvSpPr txBox="1"/>
          <p:nvPr/>
        </p:nvSpPr>
        <p:spPr>
          <a:xfrm>
            <a:off x="8785670"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11" name="Shape 9"/>
          <p:cNvSpPr/>
          <p:nvPr/>
        </p:nvSpPr>
        <p:spPr>
          <a:xfrm>
            <a:off x="11643055" y="1463040"/>
            <a:ext cx="0" cy="3200400"/>
          </a:xfrm>
          <a:prstGeom prst="line">
            <a:avLst/>
          </a:prstGeom>
          <a:noFill/>
          <a:ln w="9525">
            <a:solidFill>
              <a:srgbClr val="D9D9D9"/>
            </a:solidFill>
            <a:prstDash val="solid"/>
          </a:ln>
        </p:spPr>
      </p:sp>
      <p:sp>
        <p:nvSpPr>
          <p:cNvPr id="12" name="Text 10"/>
          <p:cNvSpPr txBox="1"/>
          <p:nvPr/>
        </p:nvSpPr>
        <p:spPr>
          <a:xfrm>
            <a:off x="10690593"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3" name="Text 11"/>
          <p:cNvSpPr txBox="1"/>
          <p:nvPr/>
        </p:nvSpPr>
        <p:spPr>
          <a:xfrm>
            <a:off x="548640" y="153619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TDF or TAF</a:t>
            </a:r>
            <a:endParaRPr lang="en-US" sz="1600" dirty="0"/>
          </a:p>
        </p:txBody>
      </p:sp>
      <p:sp>
        <p:nvSpPr>
          <p:cNvPr id="14" name="Shape 12"/>
          <p:cNvSpPr/>
          <p:nvPr/>
        </p:nvSpPr>
        <p:spPr>
          <a:xfrm>
            <a:off x="5928284" y="1536192"/>
            <a:ext cx="1904924" cy="630936"/>
          </a:xfrm>
          <a:prstGeom prst="rect">
            <a:avLst/>
          </a:prstGeom>
          <a:solidFill>
            <a:srgbClr val="1F4E79"/>
          </a:solidFill>
          <a:ln w="6350">
            <a:solidFill>
              <a:srgbClr val="1F4E79"/>
            </a:solidFill>
            <a:prstDash val="solid"/>
          </a:ln>
        </p:spPr>
      </p:sp>
      <p:sp>
        <p:nvSpPr>
          <p:cNvPr id="15" name="Text 13"/>
          <p:cNvSpPr txBox="1"/>
          <p:nvPr/>
        </p:nvSpPr>
        <p:spPr>
          <a:xfrm>
            <a:off x="5928284" y="153619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Stop at delivery is allowed</a:t>
            </a:r>
            <a:endParaRPr lang="en-US" sz="1500" dirty="0"/>
          </a:p>
        </p:txBody>
      </p:sp>
      <p:sp>
        <p:nvSpPr>
          <p:cNvPr id="16" name="Text 14"/>
          <p:cNvSpPr txBox="1"/>
          <p:nvPr/>
        </p:nvSpPr>
        <p:spPr>
          <a:xfrm>
            <a:off x="548640" y="231343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DNA and ALT</a:t>
            </a:r>
            <a:endParaRPr lang="en-US" sz="1600" dirty="0"/>
          </a:p>
        </p:txBody>
      </p:sp>
      <p:sp>
        <p:nvSpPr>
          <p:cNvPr id="17" name="Shape 15"/>
          <p:cNvSpPr/>
          <p:nvPr/>
        </p:nvSpPr>
        <p:spPr>
          <a:xfrm>
            <a:off x="7833208" y="2313432"/>
            <a:ext cx="1904924" cy="630936"/>
          </a:xfrm>
          <a:prstGeom prst="rect">
            <a:avLst/>
          </a:prstGeom>
          <a:solidFill>
            <a:srgbClr val="2E7D8C"/>
          </a:solidFill>
          <a:ln w="6350">
            <a:solidFill>
              <a:srgbClr val="2E7D8C"/>
            </a:solidFill>
            <a:prstDash val="solid"/>
          </a:ln>
        </p:spPr>
      </p:sp>
      <p:sp>
        <p:nvSpPr>
          <p:cNvPr id="18" name="Text 16"/>
          <p:cNvSpPr txBox="1"/>
          <p:nvPr/>
        </p:nvSpPr>
        <p:spPr>
          <a:xfrm>
            <a:off x="7833208" y="231343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Every 1 to 3 months</a:t>
            </a:r>
            <a:endParaRPr lang="en-US" sz="1500" dirty="0"/>
          </a:p>
        </p:txBody>
      </p:sp>
      <p:sp>
        <p:nvSpPr>
          <p:cNvPr id="19" name="Text 17"/>
          <p:cNvSpPr txBox="1"/>
          <p:nvPr/>
        </p:nvSpPr>
        <p:spPr>
          <a:xfrm>
            <a:off x="548640" y="309067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vaccine and HBIG</a:t>
            </a:r>
            <a:endParaRPr lang="en-US" sz="1600" dirty="0"/>
          </a:p>
        </p:txBody>
      </p:sp>
      <p:sp>
        <p:nvSpPr>
          <p:cNvPr id="20" name="Shape 18"/>
          <p:cNvSpPr/>
          <p:nvPr/>
        </p:nvSpPr>
        <p:spPr>
          <a:xfrm>
            <a:off x="7833208" y="3090672"/>
            <a:ext cx="228591" cy="630936"/>
          </a:xfrm>
          <a:prstGeom prst="rect">
            <a:avLst/>
          </a:prstGeom>
          <a:solidFill>
            <a:srgbClr val="C08A3E"/>
          </a:solidFill>
          <a:ln w="6350">
            <a:solidFill>
              <a:srgbClr val="C08A3E"/>
            </a:solidFill>
            <a:prstDash val="solid"/>
          </a:ln>
        </p:spPr>
      </p:sp>
      <p:sp>
        <p:nvSpPr>
          <p:cNvPr id="21" name="Text 19"/>
          <p:cNvSpPr txBox="1"/>
          <p:nvPr/>
        </p:nvSpPr>
        <p:spPr>
          <a:xfrm>
            <a:off x="7833208" y="3090672"/>
            <a:ext cx="2011680" cy="630936"/>
          </a:xfrm>
          <a:prstGeom prst="rect">
            <a:avLst/>
          </a:prstGeom>
          <a:noFill/>
          <a:ln/>
        </p:spPr>
        <p:txBody>
          <a:bodyPr wrap="square" lIns="0" tIns="4191"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Within 12 hours</a:t>
            </a:r>
            <a:endParaRPr lang="en-US" sz="1500" dirty="0"/>
          </a:p>
        </p:txBody>
      </p:sp>
      <p:sp>
        <p:nvSpPr>
          <p:cNvPr id="22" name="Text 20"/>
          <p:cNvSpPr txBox="1"/>
          <p:nvPr/>
        </p:nvSpPr>
        <p:spPr>
          <a:xfrm>
            <a:off x="548640" y="386791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HBsAg and anti-HBs</a:t>
            </a:r>
            <a:endParaRPr lang="en-US" sz="1600" dirty="0"/>
          </a:p>
        </p:txBody>
      </p:sp>
      <p:sp>
        <p:nvSpPr>
          <p:cNvPr id="23" name="Shape 21"/>
          <p:cNvSpPr/>
          <p:nvPr/>
        </p:nvSpPr>
        <p:spPr>
          <a:xfrm>
            <a:off x="10690593" y="3867912"/>
            <a:ext cx="952462" cy="630936"/>
          </a:xfrm>
          <a:prstGeom prst="rect">
            <a:avLst/>
          </a:prstGeom>
          <a:solidFill>
            <a:srgbClr val="9DB4CA"/>
          </a:solidFill>
          <a:ln w="6350">
            <a:solidFill>
              <a:srgbClr val="9DB4CA"/>
            </a:solidFill>
            <a:prstDash val="solid"/>
          </a:ln>
        </p:spPr>
      </p:sp>
      <p:sp>
        <p:nvSpPr>
          <p:cNvPr id="24" name="Text 22"/>
          <p:cNvSpPr txBox="1"/>
          <p:nvPr/>
        </p:nvSpPr>
        <p:spPr>
          <a:xfrm>
            <a:off x="10690593" y="3867912"/>
            <a:ext cx="2011680" cy="630936"/>
          </a:xfrm>
          <a:prstGeom prst="rect">
            <a:avLst/>
          </a:prstGeom>
          <a:noFill/>
          <a:ln/>
        </p:spPr>
        <p:txBody>
          <a:bodyPr wrap="square" lIns="0" tIns="14245"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Month 9 to 12</a:t>
            </a:r>
            <a:endParaRPr lang="en-US" sz="15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perinatal hepatitis B overview, 2025.</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30/38</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woman, after delivery</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She is on TDF. Can she breastfeed?</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No, tenofovir in breast milk harms the baby</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B.  Yes</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Only after the baby finishes the vaccine series</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Only if her DNA is undetectable</a:t>
            </a:r>
            <a:endParaRPr lang="en-US" sz="2200" dirty="0"/>
          </a:p>
        </p:txBody>
      </p:sp>
      <p:pic>
        <p:nvPicPr>
          <p:cNvPr id="8" name="Image 0" descr="Watercolor of a sleeping swaddled newborn beside a vaccine syringe on a tray">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31/38</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woman, after delivery</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She is on TDF. Can she breastfeed?</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No, tenofovir in breast milk harms the baby</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  Yes</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Only after the baby finishes the vaccine series</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Only if her DNA is undetectable</a:t>
            </a:r>
            <a:endParaRPr lang="en-US" sz="2200" dirty="0"/>
          </a:p>
        </p:txBody>
      </p:sp>
      <p:pic>
        <p:nvPicPr>
          <p:cNvPr id="8" name="Image 0" descr="Watercolor of a sleeping swaddled newborn beside a vaccine syringe on a tray">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31/38</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Pregnancy: summary</a:t>
            </a:r>
            <a:endParaRPr lang="en-US" sz="3000" dirty="0"/>
          </a:p>
        </p:txBody>
      </p:sp>
      <p:sp>
        <p:nvSpPr>
          <p:cNvPr id="3" name="Body"/>
          <p:cNvSpPr txBox="1"/>
          <p:nvPr/>
        </p:nvSpPr>
        <p:spPr>
          <a:xfrm>
            <a:off x="548640" y="1188720"/>
            <a:ext cx="6949440" cy="5029200"/>
          </a:xfrm>
          <a:prstGeom prst="rect">
            <a:avLst/>
          </a:prstGeom>
          <a:noFill/>
          <a:ln/>
        </p:spPr>
        <p:txBody>
          <a:bodyPr wrap="square" lIns="50800" tIns="50800" rIns="50800" bIns="50800" rtlCol="0" anchor="t"/>
          <a:lstStyle/>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Test HBsAg in every pregnancy</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HBsAg positive: check DNA and ALT</a:t>
            </a:r>
            <a:endParaRPr lang="en-US" sz="2100" dirty="0"/>
          </a:p>
          <a:p>
            <a:pPr marL="228600" indent="-228600">
              <a:spcBef>
                <a:spcPts val="1000"/>
              </a:spcBef>
              <a:buSzPct val="100000"/>
              <a:buChar char="–"/>
            </a:pPr>
            <a:r>
              <a:rPr lang="en-US" sz="2100" b="1" dirty="0">
                <a:solidFill>
                  <a:srgbClr val="000000"/>
                </a:solidFill>
                <a:latin typeface="Georgia" pitchFamily="34" charset="0"/>
                <a:ea typeface="Georgia" pitchFamily="34" charset="-122"/>
                <a:cs typeface="Georgia" pitchFamily="34" charset="-120"/>
              </a:rPr>
              <a:t>DNA above 200,000: TDF or TAF from week 28</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Baby: hepatitis B vaccine and HBIG within 12 hours of birth, then finish the series</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Test the baby at 9 to 12 months: HBsAg and anti-HBs</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Breastfeeding is fine</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If she stops after delivery: DNA and ALT every 1 to 3 months for 6 months</a:t>
            </a:r>
            <a:endParaRPr lang="en-US" sz="2100" dirty="0"/>
          </a:p>
        </p:txBody>
      </p:sp>
      <p:pic>
        <p:nvPicPr>
          <p:cNvPr id="4" name="Image 0" descr="Watercolor of a seated pregnant woman in profile">    </p:cNvPr>
          <p:cNvPicPr>
            <a:picLocks noChangeAspect="1"/>
          </p:cNvPicPr>
          <p:nvPr/>
        </p:nvPicPr>
        <p:blipFill>
          <a:blip r:embed="rId1"/>
          <a:stretch>
            <a:fillRect/>
          </a:stretch>
        </p:blipFill>
        <p:spPr>
          <a:xfrm>
            <a:off x="7772400" y="1188720"/>
            <a:ext cx="4114800" cy="41148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2023 (PMID 36893044); CDC perinatal hepatitis B guidance.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32/38</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365760" y="1188720"/>
          <a:ext cx="7863840" cy="914400"/>
        </p:xfrm>
        <a:graphic>
          <a:graphicData uri="http://schemas.openxmlformats.org/drawingml/2006/table">
            <a:tbl>
              <a:tblPr/>
              <a:tblGrid>
                <a:gridCol w="4453128"/>
                <a:gridCol w="2660904"/>
                <a:gridCol w="749808"/>
              </a:tblGrid>
              <a:tr h="59436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Condition for stopping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Our patient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Met?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cirrhosis or advanced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Stiffness 5.9 kPa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HBV DNA undetectable for 2 years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Undetectable for 5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under 100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400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HIV or HDV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Both negative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Reliable follow-up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5" name="Question"/>
          <p:cNvSpPr txBox="1"/>
          <p:nvPr/>
        </p:nvSpPr>
        <p:spPr>
          <a:xfrm>
            <a:off x="365760" y="5029200"/>
            <a:ext cx="786384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33/38</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365760" y="1188720"/>
          <a:ext cx="7863840" cy="914400"/>
        </p:xfrm>
        <a:graphic>
          <a:graphicData uri="http://schemas.openxmlformats.org/drawingml/2006/table">
            <a:tbl>
              <a:tblPr/>
              <a:tblGrid>
                <a:gridCol w="4453128"/>
                <a:gridCol w="2660904"/>
                <a:gridCol w="749808"/>
              </a:tblGrid>
              <a:tr h="59436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Condition for stopping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Our patient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Met?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cirrhosis or advanced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Stiffness 5.9 kPa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HBV DNA undetectable for 2 years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Undetectable for 5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under 100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400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HIV or HDV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Both negative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Reliable follow-up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5" name="Question"/>
          <p:cNvSpPr txBox="1"/>
          <p:nvPr/>
        </p:nvSpPr>
        <p:spPr>
          <a:xfrm>
            <a:off x="365760" y="5029200"/>
            <a:ext cx="786384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6" name="Question"/>
          <p:cNvSpPr txBox="1"/>
          <p:nvPr/>
        </p:nvSpPr>
        <p:spPr>
          <a:xfrm>
            <a:off x="365760" y="5577840"/>
            <a:ext cx="7863840"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33/38</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different patient stops TAF</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Which result means restart now?</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ALT 1.5 times ULN</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B.  HBV DNA 10,000 IU/mL</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HBsAg 200 IU/mL</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Anti-HBs negative</a:t>
            </a:r>
            <a:endParaRPr lang="en-US" sz="2200" dirty="0"/>
          </a:p>
        </p:txBody>
      </p:sp>
      <p:pic>
        <p:nvPicPr>
          <p:cNvPr id="8" name="Image 0" descr="Watercolor of blood collection tubes in a rack">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Table 3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34/38</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different patient stops TAF</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Which result means restart now?</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ALT 1.5 times ULN</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  HBV DNA 10,000 IU/mL</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HBsAg 200 IU/mL</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Anti-HBs negative</a:t>
            </a:r>
            <a:endParaRPr lang="en-US" sz="2200" dirty="0"/>
          </a:p>
        </p:txBody>
      </p:sp>
      <p:pic>
        <p:nvPicPr>
          <p:cNvPr id="8" name="Image 0" descr="Watercolor of blood collection tubes in a rack">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Table 3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34/38</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Stopping: summary</a:t>
            </a:r>
            <a:endParaRPr lang="en-US" sz="3000" dirty="0"/>
          </a:p>
        </p:txBody>
      </p:sp>
      <p:sp>
        <p:nvSpPr>
          <p:cNvPr id="3" name="Body"/>
          <p:cNvSpPr txBox="1"/>
          <p:nvPr/>
        </p:nvSpPr>
        <p:spPr>
          <a:xfrm>
            <a:off x="457200" y="1188720"/>
            <a:ext cx="5212080" cy="47548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Default: continue until HBsAg is lost</a:t>
            </a:r>
            <a:endParaRPr lang="en-US" sz="2100" dirty="0"/>
          </a:p>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Stop only if all of these: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cirrhosis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DNA undetectable for 2 years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HBsAg under 100 IU/mL</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HIV or HDV</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Reliable follow-up</a:t>
            </a:r>
            <a:endParaRPr lang="en-US" sz="2100" dirty="0"/>
          </a:p>
        </p:txBody>
      </p:sp>
      <p:sp>
        <p:nvSpPr>
          <p:cNvPr id="4" name="Text 2"/>
          <p:cNvSpPr txBox="1"/>
          <p:nvPr/>
        </p:nvSpPr>
        <p:spPr>
          <a:xfrm>
            <a:off x="5943600" y="1188720"/>
            <a:ext cx="5943600" cy="41148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After stopping</a:t>
            </a:r>
            <a:endParaRPr lang="en-US" sz="2000" dirty="0"/>
          </a:p>
        </p:txBody>
      </p:sp>
      <p:sp>
        <p:nvSpPr>
          <p:cNvPr id="5" name="Text 3"/>
          <p:cNvSpPr/>
          <p:nvPr/>
        </p:nvSpPr>
        <p:spPr>
          <a:xfrm>
            <a:off x="6126480" y="173736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Months 0 to 6: DNA and ALT every 1 to 3 months</a:t>
            </a:r>
            <a:endParaRPr lang="en-US" sz="1600" dirty="0"/>
          </a:p>
        </p:txBody>
      </p:sp>
      <p:sp>
        <p:nvSpPr>
          <p:cNvPr id="6" name="Shape 4"/>
          <p:cNvSpPr/>
          <p:nvPr/>
        </p:nvSpPr>
        <p:spPr>
          <a:xfrm>
            <a:off x="8961120" y="2286000"/>
            <a:ext cx="0" cy="228600"/>
          </a:xfrm>
          <a:prstGeom prst="line">
            <a:avLst/>
          </a:prstGeom>
          <a:noFill/>
          <a:ln w="19050">
            <a:solidFill>
              <a:srgbClr val="595959"/>
            </a:solidFill>
            <a:prstDash val="solid"/>
            <a:tailEnd type="triangle"/>
          </a:ln>
        </p:spPr>
      </p:sp>
      <p:sp>
        <p:nvSpPr>
          <p:cNvPr id="7" name="Text 5"/>
          <p:cNvSpPr/>
          <p:nvPr/>
        </p:nvSpPr>
        <p:spPr>
          <a:xfrm>
            <a:off x="6126480" y="251460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Months 6 to 12: every 3 months</a:t>
            </a:r>
            <a:endParaRPr lang="en-US" sz="1600" dirty="0"/>
          </a:p>
        </p:txBody>
      </p:sp>
      <p:sp>
        <p:nvSpPr>
          <p:cNvPr id="8" name="Shape 6"/>
          <p:cNvSpPr/>
          <p:nvPr/>
        </p:nvSpPr>
        <p:spPr>
          <a:xfrm>
            <a:off x="8961120" y="3063240"/>
            <a:ext cx="0" cy="228600"/>
          </a:xfrm>
          <a:prstGeom prst="line">
            <a:avLst/>
          </a:prstGeom>
          <a:noFill/>
          <a:ln w="19050">
            <a:solidFill>
              <a:srgbClr val="595959"/>
            </a:solidFill>
            <a:prstDash val="solid"/>
            <a:tailEnd type="triangle"/>
          </a:ln>
        </p:spPr>
      </p:sp>
      <p:sp>
        <p:nvSpPr>
          <p:cNvPr id="9" name="Text 7"/>
          <p:cNvSpPr/>
          <p:nvPr/>
        </p:nvSpPr>
        <p:spPr>
          <a:xfrm>
            <a:off x="6126480" y="329184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After 12 months: every 3 to 6 months</a:t>
            </a:r>
            <a:endParaRPr lang="en-US" sz="1600" dirty="0"/>
          </a:p>
        </p:txBody>
      </p:sp>
      <p:sp>
        <p:nvSpPr>
          <p:cNvPr id="10" name="Text 8"/>
          <p:cNvSpPr/>
          <p:nvPr/>
        </p:nvSpPr>
        <p:spPr>
          <a:xfrm>
            <a:off x="6126480" y="4297680"/>
            <a:ext cx="5669280" cy="109728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Restart now: DNA 10,000 or more, ALT above 5 times ULN, bilirubin above 2.5 mg/dL, or decompensation</a:t>
            </a:r>
            <a:endParaRPr lang="en-US" sz="1700" dirty="0"/>
          </a:p>
        </p:txBody>
      </p:sp>
      <p:sp>
        <p:nvSpPr>
          <p:cNvPr id="1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and Table 3 (PMID 41186418).</a:t>
            </a:r>
            <a:endParaRPr lang="en-US" sz="10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35/38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Approved in 2026</a:t>
            </a:r>
            <a:endParaRPr lang="en-US" sz="3000" dirty="0"/>
          </a:p>
        </p:txBody>
      </p:sp>
      <p:graphicFrame>
        <p:nvGraphicFramePr>
          <p:cNvPr id="6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554480"/>
                <a:gridCol w="4800600"/>
                <a:gridCol w="4800600"/>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Bepirovirsen (Hibsago)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Bulevirtide (Hepcludex)</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FDA approval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20 October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22 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765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on a nucleos(t)ide analogue 6 months or more, DNA suppressed, HBsAg 3,000 IU/mL or lower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or with 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477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19% had HBsAg undetectable 24 weeks after stopping all treatment; 0% on placebo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Week 48: combined response 48% vs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Warning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Liver reactions, low 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Severe exacerbation if stopped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releases 20 October 2026 (bepirovirsen) and 22 May 2026 (bulevirtide). B-Well 1 and 2, Hou, NEJM 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36/38</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676656"/>
                <a:gridCol w="4526280"/>
                <a:gridCol w="5888736"/>
              </a:tblGrid>
              <a:tr h="128016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Patient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Man, 34 to 57. HBeAg-positive, then HBeAg-negative with DNA 8,000 and ALT 48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Monitor at 34. Treat at 41 (age) or at 52 (grey zone). PAGE-B 18, surveillance. Do not stop with HBsAg 400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61. Anti-HBc positive, HBsAg negative, rituximab</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TDF or TAF before the first dose and for 12 months after the last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29, 20 weeks pregnant. DNA 5,000,000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from week 28. Vaccine and HBIG within 12 hours. Test the baby at 9 to 12 months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37/38</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Watercolor of a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6492240" y="2514600"/>
            <a:ext cx="521208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1" descr="QR code linking to the slides PDF">    </p:cNvPr>
          <p:cNvPicPr>
            <a:picLocks noChangeAspect="1"/>
          </p:cNvPicPr>
          <p:nvPr/>
        </p:nvPicPr>
        <p:blipFill>
          <a:blip r:embed="rId2"/>
          <a:stretch>
            <a:fillRect/>
          </a:stretch>
        </p:blipFill>
        <p:spPr>
          <a:xfrm>
            <a:off x="7955280" y="3200400"/>
            <a:ext cx="2286000" cy="2286000"/>
          </a:xfrm>
          <a:prstGeom prst="rect">
            <a:avLst/>
          </a:prstGeom>
        </p:spPr>
      </p:pic>
      <p:sp>
        <p:nvSpPr>
          <p:cNvPr id="6" name="Text 2"/>
          <p:cNvSpPr txBox="1"/>
          <p:nvPr/>
        </p:nvSpPr>
        <p:spPr>
          <a:xfrm>
            <a:off x="6492240" y="5577840"/>
            <a:ext cx="521208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38/38</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2026-10-28T14:58:30Z</dcterms:created>
  <dcterms:modified xsi:type="dcterms:W3CDTF">2026-10-28T14:58:30Z</dcterms:modified>
</cp:coreProperties>
</file>