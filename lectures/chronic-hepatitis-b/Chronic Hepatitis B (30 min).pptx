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78bf03f-dcac-043a-b72e-0e809a8ec2ad}">
          <p14:sldIdLst>
            <p14:sldId id="256"/>
            <p14:sldId id="257"/>
          </p14:sldIdLst>
        </p14:section>
        <p14:section name="History" id="{b81609b8-c17d-78c2-96e9-b1c131b08df4}">
          <p14:sldIdLst>
            <p14:sldId id="258"/>
          </p14:sldIdLst>
        </p14:section>
        <p14:section name="Testing" id="{a1d40912-39a4-6bc3-df13-ad05b20346d6}">
          <p14:sldIdLst>
            <p14:sldId id="259"/>
            <p14:sldId id="260"/>
            <p14:sldId id="261"/>
            <p14:sldId id="262"/>
          </p14:sldIdLst>
        </p14:section>
        <p14:section name="Serology" id="{a3830dc1-78dc-89aa-571d-4021f12dd026}">
          <p14:sldIdLst>
            <p14:sldId id="263"/>
            <p14:sldId id="264"/>
            <p14:sldId id="265"/>
            <p14:sldId id="266"/>
          </p14:sldIdLst>
        </p14:section>
        <p14:section name="Phases" id="{ce96be5f-d042-0b47-c11f-9f3e28fc1af8}">
          <p14:sldIdLst>
            <p14:sldId id="267"/>
            <p14:sldId id="268"/>
            <p14:sldId id="269"/>
            <p14:sldId id="270"/>
            <p14:sldId id="271"/>
          </p14:sldIdLst>
        </p14:section>
        <p14:section name="Who to treat" id="{d0e1793a-3752-8eef-ba02-1599dbabd37d}">
          <p14:sldIdLst>
            <p14:sldId id="272"/>
            <p14:sldId id="273"/>
            <p14:sldId id="274"/>
            <p14:sldId id="275"/>
            <p14:sldId id="276"/>
            <p14:sldId id="277"/>
            <p14:sldId id="278"/>
            <p14:sldId id="279"/>
            <p14:sldId id="280"/>
          </p14:sldIdLst>
        </p14:section>
        <p14:section name="Drugs" id="{46e0287e-3451-d1fd-05fd-97d2b8f34f14}">
          <p14:sldIdLst>
            <p14:sldId id="281"/>
            <p14:sldId id="282"/>
          </p14:sldIdLst>
        </p14:section>
        <p14:section name="HCC risk" id="{3fa267b6-4420-86c1-cc1d-4452d1a676ed}">
          <p14:sldIdLst>
            <p14:sldId id="283"/>
            <p14:sldId id="284"/>
            <p14:sldId id="285"/>
            <p14:sldId id="286"/>
            <p14:sldId id="287"/>
          </p14:sldIdLst>
        </p14:section>
        <p14:section name="Special situations" id="{a749491e-dcbd-ff8b-c227-da36e05cd895}">
          <p14:sldIdLst>
            <p14:sldId id="288"/>
            <p14:sldId id="289"/>
            <p14:sldId id="290"/>
            <p14:sldId id="291"/>
            <p14:sldId id="292"/>
            <p14:sldId id="293"/>
            <p14:sldId id="294"/>
            <p14:sldId id="295"/>
            <p14:sldId id="296"/>
            <p14:sldId id="297"/>
          </p14:sldIdLst>
        </p14:section>
        <p14:section name="Stopping and what is new" id="{8d23f77f-f095-1939-9771-6b37eb870126}">
          <p14:sldIdLst>
            <p14:sldId id="298"/>
            <p14:sldId id="299"/>
            <p14:sldId id="300"/>
            <p14:sldId id="301"/>
            <p14:sldId id="302"/>
            <p14:sldId id="303"/>
            <p14:sldId id="304"/>
          </p14:sldIdLst>
        </p14:section>
        <p14:section name="Close" id="{ee850189-1882-9aea-947a-f90f55cfc1ba}">
          <p14:sldIdLst>
            <p14:sldId id="305"/>
            <p14:sldId id="306"/>
          </p14:sldIdLst>
        </p14:section>
        <p14:section name="Appendix" id="{d77de774-cd56-d16e-9991-f5cab04044db}">
          <p14:sldIdLst>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Upper limit of normal ALT, U/L</a:t>
            </a:r>
          </a:p>
        </c:rich>
      </c:tx>
      <c:layout/>
      <c:overlay val="0"/>
    </c:title>
    <c:autoTitleDeleted val="0"/>
    <c:plotArea>
      <c:layout/>
      <c:barChart>
        <c:barDir val="col"/>
        <c:grouping val="clustered"/>
        <c:varyColors val="0"/>
        <c:ser>
          <c:idx val="0"/>
          <c:order val="0"/>
          <c:tx>
            <c:strRef>
              <c:f>Sheet1!$B$1</c:f>
              <c:strCache>
                <c:ptCount val="1"/>
                <c:pt idx="0">
                  <c:v>Men</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Sheet1!$B$2:$B$4</c:f>
              <c:numCache>
                <c:formatCode>General</c:formatCode>
                <c:ptCount val="3"/>
                <c:pt idx="0">
                  <c:v>35</c:v>
                </c:pt>
                <c:pt idx="1">
                  <c:v>30</c:v>
                </c:pt>
                <c:pt idx="2">
                  <c:v>40</c:v>
                </c:pt>
              </c:numCache>
            </c:numRef>
          </c:val>
        </c:ser>
        <c:ser>
          <c:idx val="1"/>
          <c:order val="1"/>
          <c:tx>
            <c:strRef>
              <c:f>Sheet1!$C$1</c:f>
              <c:strCache>
                <c:ptCount val="1"/>
                <c:pt idx="0">
                  <c:v>Women</c:v>
                </c:pt>
              </c:strCache>
            </c:strRef>
          </c:tx>
          <c:spPr>
            <a:solidFill>
              <a:srgbClr val="9DB4CA"/>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Sheet1!$C$2:$C$4</c:f>
              <c:numCache>
                <c:formatCode>General</c:formatCode>
                <c:ptCount val="3"/>
                <c:pt idx="0">
                  <c:v>25</c:v>
                </c:pt>
                <c:pt idx="1">
                  <c:v>19</c:v>
                </c:pt>
                <c:pt idx="2">
                  <c:v>40</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Then one sentence for the rest: Dane saw the virus particle in 1970, Maupas gave the first plasma-derived vaccine in 1976, Szmuness proved it worked in 1980, and Beasley tied the carrier state to liver cancer in 1981. A vaccine against a cancer came before any cancer screening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 Hepatitis D: EASL 2025 tests every HBsAg-positive patient once with total anti-HDV, then HDV RNA if positive; AASLD 2018 tests by risk. A nucleos(t)ide analogue does not treat HDV. Bulevirtide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 Hepatitis D: EASL 2025 tests every HBsAg-positive patient once with total anti-HDV, then HDV RNA if positive; AASLD 2018 tests by risk. A nucleos(t)ide analogue does not treat HDV. Bulevirtide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with no fibrosis, the US recommendation is to monitor (AASLD 2018 R2A: against antiviral therapy in immune-tolerant adults). EASL 2025 observes HBeAg-positive chronic infection only in people under 30 at low risk, so in Europe he could already be offered treatment.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with no fibrosis, the US recommendation is to monitor (AASLD 2018 R2A: against antiviral therapy in immune-tolerant adults). EASL 2025 observes HBeAg-positive chronic infection only in people under 30 at low risk, so in Europe he could already be offered treatment.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In our story he hears the options and chooses to keep monitoring, which is why he is untreated at 52. He is also now a man from an endemic region over 40, so he qualifies for HCC surveillance (AASLD 2023); that comes up in the HCC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In our story he hears the options and chooses to keep monitoring, which is why he is untreated at 52. He is also now a man from an endemic region over 40, so he qualifies for HCC surveillance (AASLD 2023); that comes up in the HCC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His eGFR is 45 from diabetic kidney disease, which matters for the drug. Let the room commit. The next slides show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34: the US guidelines monitor; EASL 2025 observes HBeAg-positive chronic infection only under 30 at low risk; WHO 2024 has no pathway for him without fibrosis, raised ALT or a family history. At 41: AASLD/IDSA 2025 R3 suggests treatment over 40. At 52: AASLD 2018 treats HBeAg-negative patients with DNA above 2,000 and ALT at least 2 times the upper limit (70 for a man), and otherwise asks you to assess fibrosis or inflammation and weigh age and family history; his stiffness is 6.8, so by 2018 rules he is not treated, but for that reason. AASLD/IDSA 2025 R4 suggests treatment by shared decision in the indeterminate group. EASL 2025: DNA at least 2,000 with ALT above the upper limit: treat. WHO 2024: DNA above 2,000 and ALT above the upper limit: treat. Cirrhosis is treated by all four, at any DNA level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34: the US guidelines monitor; EASL 2025 observes HBeAg-positive chronic infection only under 30 at low risk; WHO 2024 has no pathway for him without fibrosis, raised ALT or a family history. At 41: AASLD/IDSA 2025 R3 suggests treatment over 40. At 52: AASLD 2018 treats HBeAg-negative patients with DNA above 2,000 and ALT at least 2 times the upper limit (70 for a man), and otherwise asks you to assess fibrosis or inflammation and weigh age and family history; his stiffness is 6.8, so by 2018 rules he is not treated, but for that reason. AASLD/IDSA 2025 R4 suggests treatment by shared decision in the indeterminate group. EASL 2025: DNA at least 2,000 with ALT above the upper limit: treat. WHO 2024: DNA above 2,000 and ALT above the upper limit: treat. Cirrhosis is treated by all four, at any DNA level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 version: AASLD 2018 thresholds for immune-active disease, with the two AASLD/IDSA 2025 changes. R3 (conditional, very low certainty): immune-tolerant adults over 40, or with grade 2 / stage 2 or worse disease, are suggested for treatment; the text says over 40 and the algorithm says 40 or more. R4: the indeterminate (grey zone) group, which is not limited to HBeAg-negative patients, is a shared decision. Cirrhosis: AASLD 2018 R7A treats compensated cirrhosis with low viremia regardless of ALT, R7B treats decompensated cirrhosis regardless of DNA, ALT or HBeAg, and the 2025 Figure 5 treats both regardless of DNA or ALT. EASL 2025 asks for detectable DNA in compensated cirrhosis. EASL 2025 and WHO 2024 treat more people: DNA above 2,000 with ALT above ULN, or significant fibrosis. Pregnancy and immunosuppression are separate pathways, covered later. 'Monitor' means ALT and DNA every 3 to 6 months and a fibrosis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from the top: the first row that fits decides. His eGFR is 45, so TAF (no dose change down to CrCl 15) or entecavir with the dose adjusted; he started TAF. AASLD 2018: entecavir, TDF and TAF are first line; entecavir or TAF are preferred over TDF with renal dysfunction or bone disease, or risk of them. Lamivudine resistance gives cross-resistance to entecavir, so use tenofovir. Entecavir alone is not adequate in HIV: it selects HIV M184V. Pregnancy: TDF has the randomized data; AASLD/IDSA 2025 R1 accepts TDF or TAF. Decompensated cirrhosis: entecavir 1 mg daily (Baraclude label); the 2025 Figure 5 lists TAF, but the US label does not recommend it in Child-Pugh B or C. PegIFN is contraindicated in decompensated cirrhosis and in pregnancy. Monitoring on treatment: DNA every 3 months until undetectable, then every 3 to 6 months; on TDF, creatinine, phosphate, urine glucose and protein at least yearly (AASLD 2018). Renal dosing table is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from the top: the first row that fits decides. His eGFR is 45, so TAF (no dose change down to CrCl 15) or entecavir with the dose adjusted; he started TAF. AASLD 2018: entecavir, TDF and TAF are first line; entecavir or TAF are preferred over TDF with renal dysfunction or bone disease, or risk of them. Lamivudine resistance gives cross-resistance to entecavir, so use tenofovir. Entecavir alone is not adequate in HIV: it selects HIV M184V. Pregnancy: TDF has the randomized data; AASLD/IDSA 2025 R1 accepts TDF or TAF. Decompensated cirrhosis: entecavir 1 mg daily (Baraclude label); the 2025 Figure 5 lists TAF, but the US label does not recommend it in Child-Pugh B or C. PegIFN is contraindicated in decompensated cirrhosis and in pregnancy. Monitoring on treatment: DNA every 3 months until undetectable, then every 3 to 6 months; on TDF, creatinine, phosphate, urine glucose and protein at least yearly (AASLD 2018). Renal dosing table is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and AASLD/IDSA 2025 R6 to R9 (all conditional, very low certainty). Cirrhosis: Child-Pugh A and B patients who could be treated for HCC; Child C only if a transplant candidate. HIV coinfection: men 18 and older and women 40 and older. HBV and HCV: use the HBV criteria after HCV is treated. Surveillance continues on antivirals even when DNA is suppressed.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 2025: high risk above 10%, moderate 1 to 10%, low below 1%. HBsAg positive: prophylaxis for high- and moderate-risk drugs and for chemotherapy; AGA does not insist on it for every low-risk drug, so say 'nearly all'. HBsAg negative, anti-HBc positive: prophylaxis for anti-CD20 and stem cell transplant; for moderate risk AGA favors prophylaxis but accepts monitoring; low risk is monitoring. Duration: 6 months after the last dose, 12 after B-cell depleting therapy (AGA, AASLD 2018); EASL 2025 says 18 after B-cell depletion. Anti-HBs does not change the decision for anti-CD20. All negative: vaccinate (ACIP: all adults 19 to 59, and 60 and older with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R1 (strong, moderate certainty): DNA above 200,000 at any point, start TDF or TAF at week 28; consider week 16 when infant HBIG is not available. Stopping at delivery is allowed when the drug was only for prevention. WHO 2024 also treats HBeAg-positive mothers regardless of DNA. Infant testing: HBsAg and anti-HBs, not anti-HBc. CDC 2023 screens every pregnancy. Mother on drug only for prevention and stops after delivery: DNA and ALT every 1 to 3 months for 6 months. Infant testing is at 9 to 12 months, or 1 to 2 months after a delayed final dose. Evidence: Pan, NEJM 2016 (transmission 5% vs 18% by intention to treat) and Jourdain, NEJM 2018 (0 vs 3 infected infants, p = 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R5 is conditional, very low certainty. The text says 2 years of suppression and the Figure 4 legend says 3. Follow-up and retreatment triggers are from Table 3; the table says ALT above 5 times ULN and the prose says 5 times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Bepirovirsen (Hibsago)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FDA also authorized a Roche qHBsAg assay as a companion diagnostic. Boxed warning for serious liver reactions and low platelets; warnings include worsening kidney function and vasculitis. For hepatitis D, bulevirtide (Hepcludex)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Bepirovirsen (Hibsago)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FDA also authorized a Roche qHBsAg assay as a companion diagnostic. Boxed warning for serious liver reactions and low platelets; warnings include worsening kidney function and vasculitis. For hepatitis D, bulevirtide (Hepcludex)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Entecavir 0.5 mg doses are for nucleoside-naive patients; double them for lamivudine-refractory or decompensated disease. Entecavir oral solution allows daily fractional doses instead (0.25 mg daily at CrCl 30 to 49). Give entecavir and TDF after hemodialysis on dialysis days. TAF is not recommended at CrCl 15 or below unless on chronic hemodialysis.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2.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640080" y="1234440"/>
            <a:ext cx="6949440"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640080" y="1874520"/>
            <a:ext cx="6766560"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pic>
        <p:nvPicPr>
          <p:cNvPr id="5"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455954" cy="2377440"/>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5718609" cy="1920240"/>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 Anti-HDV: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029200"/>
            <a:ext cx="10545775" cy="50292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Question"/>
          <p:cNvSpPr txBox="1"/>
          <p:nvPr/>
        </p:nvSpPr>
        <p:spPr>
          <a:xfrm>
            <a:off x="822960" y="5623560"/>
            <a:ext cx="10545775" cy="50292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HBsAg positive: test anti-HDV once</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 Anti-HDV: EASL 2025, PMID 40348683.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Question"/>
          <p:cNvSpPr txBox="1"/>
          <p:nvPr/>
        </p:nvSpPr>
        <p:spPr>
          <a:xfrm>
            <a:off x="274320" y="5715000"/>
            <a:ext cx="7040880" cy="73152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AASLD: no, monitor every 3 to 6 months. EASL 2025 would consider treatment over 30</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Question"/>
          <p:cNvSpPr txBox="1"/>
          <p:nvPr/>
        </p:nvSpPr>
        <p:spPr>
          <a:xfrm>
            <a:off x="182880" y="5806440"/>
            <a:ext cx="7223760" cy="54864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Over 40: treatment suggested. He chose to wait</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6675120" cy="914400"/>
        </p:xfrm>
        <a:graphic>
          <a:graphicData uri="http://schemas.openxmlformats.org/drawingml/2006/table">
            <a:tbl>
              <a:tblPr/>
              <a:tblGrid>
                <a:gridCol w="3483864"/>
                <a:gridCol w="3191256"/>
              </a:tblGrid>
              <a:tr h="437896">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Test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Anti-HBe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8,000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48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190 ×10⁹/L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FIB-4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stiffness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eGFR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45 mL/min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66928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 name="Chart 0" descr=""/>
          <p:cNvGraphicFramePr/>
          <p:nvPr/>
        </p:nvGraphicFramePr>
        <p:xfrm>
          <a:off x="548640" y="118872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0" y="2103120"/>
            <a:ext cx="3566160" cy="2560320"/>
          </a:xfrm>
          <a:prstGeom prst="rect">
            <a:avLst/>
          </a:prstGeom>
          <a:noFill/>
          <a:ln/>
        </p:spPr>
        <p:txBody>
          <a:bodyPr wrap="square" lIns="0" tIns="0" rIns="0" bIns="0" rtlCol="0" anchor="ctr"/>
          <a:lstStyle/>
          <a:p>
            <a:pPr algn="ctr" indent="0" marL="0">
              <a:buNone/>
            </a:pPr>
            <a:r>
              <a:rPr lang="en-US" sz="2400" dirty="0">
                <a:solidFill>
                  <a:srgbClr val="000000"/>
                </a:solidFill>
                <a:latin typeface="Georgia" pitchFamily="34" charset="0"/>
                <a:ea typeface="Georgia" pitchFamily="34" charset="-122"/>
                <a:cs typeface="Georgia" pitchFamily="34" charset="-120"/>
              </a:rPr>
              <a:t>His ALT</a:t>
            </a:r>
            <a:endParaRPr lang="en-US" sz="2400" dirty="0"/>
          </a:p>
          <a:p>
            <a:pPr algn="ctr" indent="0" marL="0">
              <a:buNone/>
            </a:pPr>
            <a:r>
              <a:rPr lang="en-US" sz="5400" b="1" dirty="0">
                <a:solidFill>
                  <a:srgbClr val="C00000"/>
                </a:solidFill>
                <a:latin typeface="Georgia" pitchFamily="34" charset="0"/>
                <a:ea typeface="Georgia" pitchFamily="34" charset="-122"/>
                <a:cs typeface="Georgia" pitchFamily="34" charset="-120"/>
              </a:rPr>
              <a:t>48 U/L</a:t>
            </a:r>
            <a:endParaRPr lang="en-US" sz="2400" dirty="0"/>
          </a:p>
          <a:p>
            <a:pPr algn="ctr" indent="0" marL="0">
              <a:buNone/>
            </a:pPr>
            <a:r>
              <a:rPr lang="en-US" sz="2200" dirty="0">
                <a:solidFill>
                  <a:srgbClr val="000000"/>
                </a:solidFill>
                <a:latin typeface="Georgia" pitchFamily="34" charset="0"/>
                <a:ea typeface="Georgia" pitchFamily="34" charset="-122"/>
                <a:cs typeface="Georgia" pitchFamily="34" charset="-120"/>
              </a:rPr>
              <a:t>Above all three limits</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One patient,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Hands up if you would treat him</a:t>
            </a:r>
            <a:endParaRPr lang="en-US" sz="24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944368"/>
                <a:gridCol w="1810512"/>
                <a:gridCol w="2651760"/>
                <a:gridCol w="2203704"/>
                <a:gridCol w="1481328"/>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34, HBeAg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41, same labs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52, HBeAg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One patient,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Hands up if you would treat him</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944368"/>
                <a:gridCol w="1810512"/>
                <a:gridCol w="2651760"/>
                <a:gridCol w="2203704"/>
                <a:gridCol w="1481328"/>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34, HBeAg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treating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41, same labs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Treatment suggested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treating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52, HBeAg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Check fibrosis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At 52 he chose to start treatment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to treat: summary (US)</a:t>
            </a:r>
            <a:endParaRPr lang="en-US" sz="3000" dirty="0"/>
          </a:p>
        </p:txBody>
      </p:sp>
      <p:sp>
        <p:nvSpPr>
          <p:cNvPr id="3" name="Text 1"/>
          <p:cNvSpPr/>
          <p:nvPr/>
        </p:nvSpPr>
        <p:spPr>
          <a:xfrm>
            <a:off x="4251960" y="1051560"/>
            <a:ext cx="365760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HBsAg positive</a:t>
            </a:r>
            <a:endParaRPr lang="en-US" sz="1800" dirty="0"/>
          </a:p>
        </p:txBody>
      </p:sp>
      <p:sp>
        <p:nvSpPr>
          <p:cNvPr id="4" name="Shape 2"/>
          <p:cNvSpPr/>
          <p:nvPr/>
        </p:nvSpPr>
        <p:spPr>
          <a:xfrm>
            <a:off x="6080760" y="1508760"/>
            <a:ext cx="0" cy="228600"/>
          </a:xfrm>
          <a:prstGeom prst="line">
            <a:avLst/>
          </a:prstGeom>
          <a:noFill/>
          <a:ln w="19050">
            <a:solidFill>
              <a:srgbClr val="595959"/>
            </a:solidFill>
            <a:prstDash val="solid"/>
            <a:tailEnd type="triangle"/>
          </a:ln>
        </p:spPr>
      </p:sp>
      <p:sp>
        <p:nvSpPr>
          <p:cNvPr id="5" name="Text 3"/>
          <p:cNvSpPr/>
          <p:nvPr/>
        </p:nvSpPr>
        <p:spPr>
          <a:xfrm>
            <a:off x="4480560" y="1737360"/>
            <a:ext cx="320040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Cirrhosis?</a:t>
            </a:r>
            <a:endParaRPr lang="en-US" sz="1800" dirty="0"/>
          </a:p>
        </p:txBody>
      </p:sp>
      <p:sp>
        <p:nvSpPr>
          <p:cNvPr id="6" name="Shape 4"/>
          <p:cNvSpPr/>
          <p:nvPr/>
        </p:nvSpPr>
        <p:spPr>
          <a:xfrm>
            <a:off x="7680960" y="1965960"/>
            <a:ext cx="1188720" cy="0"/>
          </a:xfrm>
          <a:prstGeom prst="line">
            <a:avLst/>
          </a:prstGeom>
          <a:noFill/>
          <a:ln w="19050">
            <a:solidFill>
              <a:srgbClr val="595959"/>
            </a:solidFill>
            <a:prstDash val="solid"/>
            <a:tailEnd type="triangle"/>
          </a:ln>
        </p:spPr>
      </p:sp>
      <p:sp>
        <p:nvSpPr>
          <p:cNvPr id="7" name="Text 5"/>
          <p:cNvSpPr txBox="1"/>
          <p:nvPr/>
        </p:nvSpPr>
        <p:spPr>
          <a:xfrm>
            <a:off x="7680960" y="1673352"/>
            <a:ext cx="1188720" cy="274320"/>
          </a:xfrm>
          <a:prstGeom prst="rect">
            <a:avLst/>
          </a:prstGeom>
          <a:noFill/>
          <a:ln/>
        </p:spPr>
        <p:txBody>
          <a:bodyPr wrap="square" lIns="0" tIns="0" rIns="0" bIns="0" rtlCol="0" anchor="ctr"/>
          <a:lstStyle/>
          <a:p>
            <a:pPr algn="ctr" indent="0" marL="0">
              <a:buNone/>
            </a:pPr>
            <a:r>
              <a:rPr lang="en-US" sz="1400" b="1" dirty="0">
                <a:solidFill>
                  <a:srgbClr val="595959"/>
                </a:solidFill>
                <a:latin typeface="Calibri" pitchFamily="34" charset="0"/>
                <a:ea typeface="Calibri" pitchFamily="34" charset="-122"/>
                <a:cs typeface="Calibri" pitchFamily="34" charset="-120"/>
              </a:rPr>
              <a:t>Yes</a:t>
            </a:r>
            <a:endParaRPr lang="en-US" sz="1400" dirty="0"/>
          </a:p>
        </p:txBody>
      </p:sp>
      <p:sp>
        <p:nvSpPr>
          <p:cNvPr id="8" name="Text 6"/>
          <p:cNvSpPr/>
          <p:nvPr/>
        </p:nvSpPr>
        <p:spPr>
          <a:xfrm>
            <a:off x="8869680" y="1737360"/>
            <a:ext cx="2926080" cy="4572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Treat, any DNA</a:t>
            </a:r>
            <a:endParaRPr lang="en-US" sz="1800" dirty="0"/>
          </a:p>
        </p:txBody>
      </p:sp>
      <p:sp>
        <p:nvSpPr>
          <p:cNvPr id="9" name="Shape 7"/>
          <p:cNvSpPr/>
          <p:nvPr/>
        </p:nvSpPr>
        <p:spPr>
          <a:xfrm>
            <a:off x="6080760" y="2194560"/>
            <a:ext cx="0" cy="182880"/>
          </a:xfrm>
          <a:prstGeom prst="line">
            <a:avLst/>
          </a:prstGeom>
          <a:noFill/>
          <a:ln w="19050">
            <a:solidFill>
              <a:srgbClr val="595959"/>
            </a:solidFill>
            <a:prstDash val="solid"/>
          </a:ln>
        </p:spPr>
      </p:sp>
      <p:sp>
        <p:nvSpPr>
          <p:cNvPr id="10" name="Shape 8"/>
          <p:cNvSpPr/>
          <p:nvPr/>
        </p:nvSpPr>
        <p:spPr>
          <a:xfrm>
            <a:off x="2194560" y="2377440"/>
            <a:ext cx="6126480" cy="0"/>
          </a:xfrm>
          <a:prstGeom prst="line">
            <a:avLst/>
          </a:prstGeom>
          <a:noFill/>
          <a:ln w="19050">
            <a:solidFill>
              <a:srgbClr val="595959"/>
            </a:solidFill>
            <a:prstDash val="solid"/>
          </a:ln>
        </p:spPr>
      </p:sp>
      <p:sp>
        <p:nvSpPr>
          <p:cNvPr id="11" name="Text 9"/>
          <p:cNvSpPr txBox="1"/>
          <p:nvPr/>
        </p:nvSpPr>
        <p:spPr>
          <a:xfrm>
            <a:off x="6172200" y="2130552"/>
            <a:ext cx="548640" cy="274320"/>
          </a:xfrm>
          <a:prstGeom prst="rect">
            <a:avLst/>
          </a:prstGeom>
          <a:noFill/>
          <a:ln/>
        </p:spPr>
        <p:txBody>
          <a:bodyPr wrap="square" lIns="0" tIns="0" rIns="0" bIns="0" rtlCol="0" anchor="ctr"/>
          <a:lstStyle/>
          <a:p>
            <a:pPr indent="0" marL="0">
              <a:buNone/>
            </a:pPr>
            <a:r>
              <a:rPr lang="en-US" sz="1400" b="1" dirty="0">
                <a:solidFill>
                  <a:srgbClr val="595959"/>
                </a:solidFill>
                <a:latin typeface="Calibri" pitchFamily="34" charset="0"/>
                <a:ea typeface="Calibri" pitchFamily="34" charset="-122"/>
                <a:cs typeface="Calibri" pitchFamily="34" charset="-120"/>
              </a:rPr>
              <a:t>No</a:t>
            </a:r>
            <a:endParaRPr lang="en-US" sz="1400" dirty="0"/>
          </a:p>
        </p:txBody>
      </p:sp>
      <p:sp>
        <p:nvSpPr>
          <p:cNvPr id="12" name="Shape 10"/>
          <p:cNvSpPr/>
          <p:nvPr/>
        </p:nvSpPr>
        <p:spPr>
          <a:xfrm>
            <a:off x="2194560" y="2377440"/>
            <a:ext cx="0" cy="182880"/>
          </a:xfrm>
          <a:prstGeom prst="line">
            <a:avLst/>
          </a:prstGeom>
          <a:noFill/>
          <a:ln w="19050">
            <a:solidFill>
              <a:srgbClr val="595959"/>
            </a:solidFill>
            <a:prstDash val="solid"/>
            <a:tailEnd type="triangle"/>
          </a:ln>
        </p:spPr>
      </p:sp>
      <p:sp>
        <p:nvSpPr>
          <p:cNvPr id="13" name="Shape 11"/>
          <p:cNvSpPr/>
          <p:nvPr/>
        </p:nvSpPr>
        <p:spPr>
          <a:xfrm>
            <a:off x="8321040" y="2377440"/>
            <a:ext cx="0" cy="182880"/>
          </a:xfrm>
          <a:prstGeom prst="line">
            <a:avLst/>
          </a:prstGeom>
          <a:noFill/>
          <a:ln w="19050">
            <a:solidFill>
              <a:srgbClr val="595959"/>
            </a:solidFill>
            <a:prstDash val="solid"/>
            <a:tailEnd type="triangle"/>
          </a:ln>
        </p:spPr>
      </p:sp>
      <p:sp>
        <p:nvSpPr>
          <p:cNvPr id="14" name="Text 12"/>
          <p:cNvSpPr/>
          <p:nvPr/>
        </p:nvSpPr>
        <p:spPr>
          <a:xfrm>
            <a:off x="457200" y="256032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positive</a:t>
            </a:r>
            <a:endParaRPr lang="en-US" sz="1700" dirty="0"/>
          </a:p>
        </p:txBody>
      </p:sp>
      <p:sp>
        <p:nvSpPr>
          <p:cNvPr id="15" name="Text 13"/>
          <p:cNvSpPr/>
          <p:nvPr/>
        </p:nvSpPr>
        <p:spPr>
          <a:xfrm>
            <a:off x="6583680" y="256032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negative</a:t>
            </a:r>
            <a:endParaRPr lang="en-US" sz="1700" dirty="0"/>
          </a:p>
        </p:txBody>
      </p:sp>
      <p:sp>
        <p:nvSpPr>
          <p:cNvPr id="16" name="Text 14"/>
          <p:cNvSpPr/>
          <p:nvPr/>
        </p:nvSpPr>
        <p:spPr>
          <a:xfrm>
            <a:off x="274320" y="3200400"/>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&gt;20,000 and ALT ≥2× ULN</a:t>
            </a:r>
            <a:endParaRPr lang="en-US" sz="1600" dirty="0"/>
          </a:p>
        </p:txBody>
      </p:sp>
      <p:sp>
        <p:nvSpPr>
          <p:cNvPr id="17" name="Shape 15"/>
          <p:cNvSpPr/>
          <p:nvPr/>
        </p:nvSpPr>
        <p:spPr>
          <a:xfrm>
            <a:off x="4114800" y="3538728"/>
            <a:ext cx="320040" cy="0"/>
          </a:xfrm>
          <a:prstGeom prst="line">
            <a:avLst/>
          </a:prstGeom>
          <a:noFill/>
          <a:ln w="19050">
            <a:solidFill>
              <a:srgbClr val="595959"/>
            </a:solidFill>
            <a:prstDash val="solid"/>
            <a:tailEnd type="triangle"/>
          </a:ln>
        </p:spPr>
      </p:sp>
      <p:sp>
        <p:nvSpPr>
          <p:cNvPr id="18" name="Text 16"/>
          <p:cNvSpPr/>
          <p:nvPr/>
        </p:nvSpPr>
        <p:spPr>
          <a:xfrm>
            <a:off x="4434840" y="3200400"/>
            <a:ext cx="169164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19" name="Text 17"/>
          <p:cNvSpPr/>
          <p:nvPr/>
        </p:nvSpPr>
        <p:spPr>
          <a:xfrm>
            <a:off x="274320" y="3959352"/>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&gt;10⁷, normal ALT, age &gt;40 or ≥F2</a:t>
            </a:r>
            <a:endParaRPr lang="en-US" sz="1600" dirty="0"/>
          </a:p>
        </p:txBody>
      </p:sp>
      <p:sp>
        <p:nvSpPr>
          <p:cNvPr id="20" name="Shape 18"/>
          <p:cNvSpPr/>
          <p:nvPr/>
        </p:nvSpPr>
        <p:spPr>
          <a:xfrm>
            <a:off x="4114800" y="4297680"/>
            <a:ext cx="320040" cy="0"/>
          </a:xfrm>
          <a:prstGeom prst="line">
            <a:avLst/>
          </a:prstGeom>
          <a:noFill/>
          <a:ln w="19050">
            <a:solidFill>
              <a:srgbClr val="595959"/>
            </a:solidFill>
            <a:prstDash val="solid"/>
            <a:tailEnd type="triangle"/>
          </a:ln>
        </p:spPr>
      </p:sp>
      <p:sp>
        <p:nvSpPr>
          <p:cNvPr id="21" name="Text 19"/>
          <p:cNvSpPr/>
          <p:nvPr/>
        </p:nvSpPr>
        <p:spPr>
          <a:xfrm>
            <a:off x="4434840" y="3959352"/>
            <a:ext cx="169164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Treatment suggested</a:t>
            </a:r>
            <a:endParaRPr lang="en-US" sz="1600" dirty="0"/>
          </a:p>
        </p:txBody>
      </p:sp>
      <p:sp>
        <p:nvSpPr>
          <p:cNvPr id="22" name="Text 20"/>
          <p:cNvSpPr/>
          <p:nvPr/>
        </p:nvSpPr>
        <p:spPr>
          <a:xfrm>
            <a:off x="274320" y="4718304"/>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23" name="Shape 21"/>
          <p:cNvSpPr/>
          <p:nvPr/>
        </p:nvSpPr>
        <p:spPr>
          <a:xfrm>
            <a:off x="4114800" y="5056632"/>
            <a:ext cx="320040" cy="0"/>
          </a:xfrm>
          <a:prstGeom prst="line">
            <a:avLst/>
          </a:prstGeom>
          <a:noFill/>
          <a:ln w="19050">
            <a:solidFill>
              <a:srgbClr val="595959"/>
            </a:solidFill>
            <a:prstDash val="solid"/>
            <a:tailEnd type="triangle"/>
          </a:ln>
        </p:spPr>
      </p:sp>
      <p:sp>
        <p:nvSpPr>
          <p:cNvPr id="24" name="Text 22"/>
          <p:cNvSpPr/>
          <p:nvPr/>
        </p:nvSpPr>
        <p:spPr>
          <a:xfrm>
            <a:off x="4434840" y="4718304"/>
            <a:ext cx="1691640" cy="676656"/>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25" name="Text 23"/>
          <p:cNvSpPr/>
          <p:nvPr/>
        </p:nvSpPr>
        <p:spPr>
          <a:xfrm>
            <a:off x="274320" y="5477256"/>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&gt;10⁷, normal ALT, age ≤40, &lt;F2</a:t>
            </a:r>
            <a:endParaRPr lang="en-US" sz="1600" dirty="0"/>
          </a:p>
        </p:txBody>
      </p:sp>
      <p:sp>
        <p:nvSpPr>
          <p:cNvPr id="26" name="Shape 24"/>
          <p:cNvSpPr/>
          <p:nvPr/>
        </p:nvSpPr>
        <p:spPr>
          <a:xfrm>
            <a:off x="4114800" y="5815584"/>
            <a:ext cx="320040" cy="0"/>
          </a:xfrm>
          <a:prstGeom prst="line">
            <a:avLst/>
          </a:prstGeom>
          <a:noFill/>
          <a:ln w="19050">
            <a:solidFill>
              <a:srgbClr val="595959"/>
            </a:solidFill>
            <a:prstDash val="solid"/>
            <a:tailEnd type="triangle"/>
          </a:ln>
        </p:spPr>
      </p:sp>
      <p:sp>
        <p:nvSpPr>
          <p:cNvPr id="27" name="Text 25"/>
          <p:cNvSpPr/>
          <p:nvPr/>
        </p:nvSpPr>
        <p:spPr>
          <a:xfrm>
            <a:off x="4434840" y="5477256"/>
            <a:ext cx="1691640" cy="676656"/>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28" name="Text 26"/>
          <p:cNvSpPr/>
          <p:nvPr/>
        </p:nvSpPr>
        <p:spPr>
          <a:xfrm>
            <a:off x="6400800" y="3200400"/>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&gt;2,000 and ALT ≥2× ULN</a:t>
            </a:r>
            <a:endParaRPr lang="en-US" sz="1600" dirty="0"/>
          </a:p>
        </p:txBody>
      </p:sp>
      <p:sp>
        <p:nvSpPr>
          <p:cNvPr id="29" name="Shape 27"/>
          <p:cNvSpPr/>
          <p:nvPr/>
        </p:nvSpPr>
        <p:spPr>
          <a:xfrm>
            <a:off x="10241280" y="3538728"/>
            <a:ext cx="320040" cy="0"/>
          </a:xfrm>
          <a:prstGeom prst="line">
            <a:avLst/>
          </a:prstGeom>
          <a:noFill/>
          <a:ln w="19050">
            <a:solidFill>
              <a:srgbClr val="595959"/>
            </a:solidFill>
            <a:prstDash val="solid"/>
            <a:tailEnd type="triangle"/>
          </a:ln>
        </p:spPr>
      </p:sp>
      <p:sp>
        <p:nvSpPr>
          <p:cNvPr id="30" name="Text 28"/>
          <p:cNvSpPr/>
          <p:nvPr/>
        </p:nvSpPr>
        <p:spPr>
          <a:xfrm>
            <a:off x="10561320" y="3200400"/>
            <a:ext cx="137160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31" name="Text 29"/>
          <p:cNvSpPr/>
          <p:nvPr/>
        </p:nvSpPr>
        <p:spPr>
          <a:xfrm>
            <a:off x="6400800" y="3959352"/>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32" name="Shape 30"/>
          <p:cNvSpPr/>
          <p:nvPr/>
        </p:nvSpPr>
        <p:spPr>
          <a:xfrm>
            <a:off x="10241280" y="4297680"/>
            <a:ext cx="320040" cy="0"/>
          </a:xfrm>
          <a:prstGeom prst="line">
            <a:avLst/>
          </a:prstGeom>
          <a:noFill/>
          <a:ln w="19050">
            <a:solidFill>
              <a:srgbClr val="595959"/>
            </a:solidFill>
            <a:prstDash val="solid"/>
            <a:tailEnd type="triangle"/>
          </a:ln>
        </p:spPr>
      </p:sp>
      <p:sp>
        <p:nvSpPr>
          <p:cNvPr id="33" name="Text 31"/>
          <p:cNvSpPr/>
          <p:nvPr/>
        </p:nvSpPr>
        <p:spPr>
          <a:xfrm>
            <a:off x="10561320" y="3959352"/>
            <a:ext cx="1371600" cy="676656"/>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34" name="Text 32"/>
          <p:cNvSpPr/>
          <p:nvPr/>
        </p:nvSpPr>
        <p:spPr>
          <a:xfrm>
            <a:off x="6400800" y="4718304"/>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&lt;2,000, normal ALT</a:t>
            </a:r>
            <a:endParaRPr lang="en-US" sz="1600" dirty="0"/>
          </a:p>
        </p:txBody>
      </p:sp>
      <p:sp>
        <p:nvSpPr>
          <p:cNvPr id="35" name="Shape 33"/>
          <p:cNvSpPr/>
          <p:nvPr/>
        </p:nvSpPr>
        <p:spPr>
          <a:xfrm>
            <a:off x="10241280" y="5056632"/>
            <a:ext cx="320040" cy="0"/>
          </a:xfrm>
          <a:prstGeom prst="line">
            <a:avLst/>
          </a:prstGeom>
          <a:noFill/>
          <a:ln w="19050">
            <a:solidFill>
              <a:srgbClr val="595959"/>
            </a:solidFill>
            <a:prstDash val="solid"/>
            <a:tailEnd type="triangle"/>
          </a:ln>
        </p:spPr>
      </p:sp>
      <p:sp>
        <p:nvSpPr>
          <p:cNvPr id="36" name="Text 34"/>
          <p:cNvSpPr/>
          <p:nvPr/>
        </p:nvSpPr>
        <p:spPr>
          <a:xfrm>
            <a:off x="10561320" y="4718304"/>
            <a:ext cx="1371600" cy="676656"/>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3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R3, R4 and Figure 5 (PMID 41186418). DNA in IU/mL. ULN = upper limit of normal ALT: 35 men, 25 women.</a:t>
            </a:r>
            <a:endParaRPr lang="en-US" sz="1000" dirty="0"/>
          </a:p>
        </p:txBody>
      </p:sp>
      <p:sp>
        <p:nvSpPr>
          <p:cNvPr id="3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14/30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to choose an antiviral</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Same man, eGFR 45: which drug?</a:t>
            </a:r>
            <a:endParaRPr lang="en-US" sz="2400" dirty="0"/>
          </a:p>
        </p:txBody>
      </p:sp>
      <p:sp>
        <p:nvSpPr>
          <p:cNvPr id="4" name="Shape 2"/>
          <p:cNvSpPr/>
          <p:nvPr/>
        </p:nvSpPr>
        <p:spPr>
          <a:xfrm>
            <a:off x="502920" y="1691640"/>
            <a:ext cx="0" cy="3566160"/>
          </a:xfrm>
          <a:prstGeom prst="line">
            <a:avLst/>
          </a:prstGeom>
          <a:noFill/>
          <a:ln w="19050">
            <a:solidFill>
              <a:srgbClr val="595959"/>
            </a:solidFill>
            <a:prstDash val="solid"/>
          </a:ln>
        </p:spPr>
      </p:sp>
      <p:sp>
        <p:nvSpPr>
          <p:cNvPr id="5" name="Shape 3"/>
          <p:cNvSpPr/>
          <p:nvPr/>
        </p:nvSpPr>
        <p:spPr>
          <a:xfrm>
            <a:off x="502920" y="1965960"/>
            <a:ext cx="228600" cy="0"/>
          </a:xfrm>
          <a:prstGeom prst="line">
            <a:avLst/>
          </a:prstGeom>
          <a:noFill/>
          <a:ln w="19050">
            <a:solidFill>
              <a:srgbClr val="595959"/>
            </a:solidFill>
            <a:prstDash val="solid"/>
            <a:tailEnd type="triangle"/>
          </a:ln>
        </p:spPr>
      </p:sp>
      <p:sp>
        <p:nvSpPr>
          <p:cNvPr id="6" name="Text 4"/>
          <p:cNvSpPr/>
          <p:nvPr/>
        </p:nvSpPr>
        <p:spPr>
          <a:xfrm>
            <a:off x="731520" y="1691640"/>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Decompensated cirrhosis</a:t>
            </a:r>
            <a:endParaRPr lang="en-US" sz="1800" dirty="0"/>
          </a:p>
        </p:txBody>
      </p:sp>
      <p:sp>
        <p:nvSpPr>
          <p:cNvPr id="7" name="Shape 5"/>
          <p:cNvSpPr/>
          <p:nvPr/>
        </p:nvSpPr>
        <p:spPr>
          <a:xfrm>
            <a:off x="5577840" y="1965960"/>
            <a:ext cx="457200" cy="0"/>
          </a:xfrm>
          <a:prstGeom prst="line">
            <a:avLst/>
          </a:prstGeom>
          <a:noFill/>
          <a:ln w="19050">
            <a:solidFill>
              <a:srgbClr val="595959"/>
            </a:solidFill>
            <a:prstDash val="solid"/>
            <a:tailEnd type="triangle"/>
          </a:ln>
        </p:spPr>
      </p:sp>
      <p:sp>
        <p:nvSpPr>
          <p:cNvPr id="8" name="Text 6"/>
          <p:cNvSpPr/>
          <p:nvPr/>
        </p:nvSpPr>
        <p:spPr>
          <a:xfrm>
            <a:off x="6035040" y="16916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9" name="Shape 7"/>
          <p:cNvSpPr/>
          <p:nvPr/>
        </p:nvSpPr>
        <p:spPr>
          <a:xfrm>
            <a:off x="502920" y="2624328"/>
            <a:ext cx="228600" cy="0"/>
          </a:xfrm>
          <a:prstGeom prst="line">
            <a:avLst/>
          </a:prstGeom>
          <a:noFill/>
          <a:ln w="19050">
            <a:solidFill>
              <a:srgbClr val="595959"/>
            </a:solidFill>
            <a:prstDash val="solid"/>
            <a:tailEnd type="triangle"/>
          </a:ln>
        </p:spPr>
      </p:sp>
      <p:sp>
        <p:nvSpPr>
          <p:cNvPr id="10" name="Text 8"/>
          <p:cNvSpPr/>
          <p:nvPr/>
        </p:nvSpPr>
        <p:spPr>
          <a:xfrm>
            <a:off x="731520" y="2350008"/>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HIV</a:t>
            </a:r>
            <a:endParaRPr lang="en-US" sz="1800" dirty="0"/>
          </a:p>
        </p:txBody>
      </p:sp>
      <p:sp>
        <p:nvSpPr>
          <p:cNvPr id="11" name="Shape 9"/>
          <p:cNvSpPr/>
          <p:nvPr/>
        </p:nvSpPr>
        <p:spPr>
          <a:xfrm>
            <a:off x="5577840" y="2624328"/>
            <a:ext cx="457200" cy="0"/>
          </a:xfrm>
          <a:prstGeom prst="line">
            <a:avLst/>
          </a:prstGeom>
          <a:noFill/>
          <a:ln w="19050">
            <a:solidFill>
              <a:srgbClr val="595959"/>
            </a:solidFill>
            <a:prstDash val="solid"/>
            <a:tailEnd type="triangle"/>
          </a:ln>
        </p:spPr>
      </p:sp>
      <p:sp>
        <p:nvSpPr>
          <p:cNvPr id="12" name="Text 10"/>
          <p:cNvSpPr/>
          <p:nvPr/>
        </p:nvSpPr>
        <p:spPr>
          <a:xfrm>
            <a:off x="6035040" y="2350008"/>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13" name="Shape 11"/>
          <p:cNvSpPr/>
          <p:nvPr/>
        </p:nvSpPr>
        <p:spPr>
          <a:xfrm>
            <a:off x="502920" y="3282696"/>
            <a:ext cx="228600" cy="0"/>
          </a:xfrm>
          <a:prstGeom prst="line">
            <a:avLst/>
          </a:prstGeom>
          <a:noFill/>
          <a:ln w="19050">
            <a:solidFill>
              <a:srgbClr val="595959"/>
            </a:solidFill>
            <a:prstDash val="solid"/>
            <a:tailEnd type="triangle"/>
          </a:ln>
        </p:spPr>
      </p:sp>
      <p:sp>
        <p:nvSpPr>
          <p:cNvPr id="14" name="Text 12"/>
          <p:cNvSpPr/>
          <p:nvPr/>
        </p:nvSpPr>
        <p:spPr>
          <a:xfrm>
            <a:off x="731520" y="3008376"/>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Prior lamivudine resistance</a:t>
            </a:r>
            <a:endParaRPr lang="en-US" sz="1800" dirty="0"/>
          </a:p>
        </p:txBody>
      </p:sp>
      <p:sp>
        <p:nvSpPr>
          <p:cNvPr id="15" name="Shape 13"/>
          <p:cNvSpPr/>
          <p:nvPr/>
        </p:nvSpPr>
        <p:spPr>
          <a:xfrm>
            <a:off x="5577840" y="3282696"/>
            <a:ext cx="457200" cy="0"/>
          </a:xfrm>
          <a:prstGeom prst="line">
            <a:avLst/>
          </a:prstGeom>
          <a:noFill/>
          <a:ln w="19050">
            <a:solidFill>
              <a:srgbClr val="595959"/>
            </a:solidFill>
            <a:prstDash val="solid"/>
            <a:tailEnd type="triangle"/>
          </a:ln>
        </p:spPr>
      </p:sp>
      <p:sp>
        <p:nvSpPr>
          <p:cNvPr id="16" name="Text 14"/>
          <p:cNvSpPr/>
          <p:nvPr/>
        </p:nvSpPr>
        <p:spPr>
          <a:xfrm>
            <a:off x="6035040" y="3008376"/>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17" name="Shape 15"/>
          <p:cNvSpPr/>
          <p:nvPr/>
        </p:nvSpPr>
        <p:spPr>
          <a:xfrm>
            <a:off x="502920" y="3941064"/>
            <a:ext cx="228600" cy="0"/>
          </a:xfrm>
          <a:prstGeom prst="line">
            <a:avLst/>
          </a:prstGeom>
          <a:noFill/>
          <a:ln w="19050">
            <a:solidFill>
              <a:srgbClr val="595959"/>
            </a:solidFill>
            <a:prstDash val="solid"/>
            <a:tailEnd type="triangle"/>
          </a:ln>
        </p:spPr>
      </p:sp>
      <p:sp>
        <p:nvSpPr>
          <p:cNvPr id="18" name="Text 16"/>
          <p:cNvSpPr/>
          <p:nvPr/>
        </p:nvSpPr>
        <p:spPr>
          <a:xfrm>
            <a:off x="731520" y="3666744"/>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Kidney or bone disease, or at risk</a:t>
            </a:r>
            <a:endParaRPr lang="en-US" sz="1800" dirty="0"/>
          </a:p>
        </p:txBody>
      </p:sp>
      <p:sp>
        <p:nvSpPr>
          <p:cNvPr id="19" name="Shape 17"/>
          <p:cNvSpPr/>
          <p:nvPr/>
        </p:nvSpPr>
        <p:spPr>
          <a:xfrm>
            <a:off x="5577840" y="3941064"/>
            <a:ext cx="457200" cy="0"/>
          </a:xfrm>
          <a:prstGeom prst="line">
            <a:avLst/>
          </a:prstGeom>
          <a:noFill/>
          <a:ln w="19050">
            <a:solidFill>
              <a:srgbClr val="595959"/>
            </a:solidFill>
            <a:prstDash val="solid"/>
            <a:tailEnd type="triangle"/>
          </a:ln>
        </p:spPr>
      </p:sp>
      <p:sp>
        <p:nvSpPr>
          <p:cNvPr id="20" name="Text 18"/>
          <p:cNvSpPr/>
          <p:nvPr/>
        </p:nvSpPr>
        <p:spPr>
          <a:xfrm>
            <a:off x="6035040" y="3666744"/>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21" name="Shape 19"/>
          <p:cNvSpPr/>
          <p:nvPr/>
        </p:nvSpPr>
        <p:spPr>
          <a:xfrm>
            <a:off x="502920" y="4599432"/>
            <a:ext cx="228600" cy="0"/>
          </a:xfrm>
          <a:prstGeom prst="line">
            <a:avLst/>
          </a:prstGeom>
          <a:noFill/>
          <a:ln w="19050">
            <a:solidFill>
              <a:srgbClr val="595959"/>
            </a:solidFill>
            <a:prstDash val="solid"/>
            <a:tailEnd type="triangle"/>
          </a:ln>
        </p:spPr>
      </p:sp>
      <p:sp>
        <p:nvSpPr>
          <p:cNvPr id="22" name="Text 20"/>
          <p:cNvSpPr/>
          <p:nvPr/>
        </p:nvSpPr>
        <p:spPr>
          <a:xfrm>
            <a:off x="731520" y="4325112"/>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Pregnancy</a:t>
            </a:r>
            <a:endParaRPr lang="en-US" sz="1800" dirty="0"/>
          </a:p>
        </p:txBody>
      </p:sp>
      <p:sp>
        <p:nvSpPr>
          <p:cNvPr id="23" name="Shape 21"/>
          <p:cNvSpPr/>
          <p:nvPr/>
        </p:nvSpPr>
        <p:spPr>
          <a:xfrm>
            <a:off x="5577840" y="4599432"/>
            <a:ext cx="457200" cy="0"/>
          </a:xfrm>
          <a:prstGeom prst="line">
            <a:avLst/>
          </a:prstGeom>
          <a:noFill/>
          <a:ln w="19050">
            <a:solidFill>
              <a:srgbClr val="595959"/>
            </a:solidFill>
            <a:prstDash val="solid"/>
            <a:tailEnd type="triangle"/>
          </a:ln>
        </p:spPr>
      </p:sp>
      <p:sp>
        <p:nvSpPr>
          <p:cNvPr id="24" name="Text 22"/>
          <p:cNvSpPr/>
          <p:nvPr/>
        </p:nvSpPr>
        <p:spPr>
          <a:xfrm>
            <a:off x="6035040" y="4325112"/>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25" name="Shape 23"/>
          <p:cNvSpPr/>
          <p:nvPr/>
        </p:nvSpPr>
        <p:spPr>
          <a:xfrm>
            <a:off x="502920" y="5257800"/>
            <a:ext cx="228600" cy="0"/>
          </a:xfrm>
          <a:prstGeom prst="line">
            <a:avLst/>
          </a:prstGeom>
          <a:noFill/>
          <a:ln w="19050">
            <a:solidFill>
              <a:srgbClr val="595959"/>
            </a:solidFill>
            <a:prstDash val="solid"/>
            <a:tailEnd type="triangle"/>
          </a:ln>
        </p:spPr>
      </p:sp>
      <p:sp>
        <p:nvSpPr>
          <p:cNvPr id="26" name="Text 24"/>
          <p:cNvSpPr/>
          <p:nvPr/>
        </p:nvSpPr>
        <p:spPr>
          <a:xfrm>
            <a:off x="731520" y="4983480"/>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None of these</a:t>
            </a:r>
            <a:endParaRPr lang="en-US" sz="1800" dirty="0"/>
          </a:p>
        </p:txBody>
      </p:sp>
      <p:sp>
        <p:nvSpPr>
          <p:cNvPr id="27" name="Shape 25"/>
          <p:cNvSpPr/>
          <p:nvPr/>
        </p:nvSpPr>
        <p:spPr>
          <a:xfrm>
            <a:off x="5577840" y="5257800"/>
            <a:ext cx="457200" cy="0"/>
          </a:xfrm>
          <a:prstGeom prst="line">
            <a:avLst/>
          </a:prstGeom>
          <a:noFill/>
          <a:ln w="19050">
            <a:solidFill>
              <a:srgbClr val="595959"/>
            </a:solidFill>
            <a:prstDash val="solid"/>
            <a:tailEnd type="triangle"/>
          </a:ln>
        </p:spPr>
      </p:sp>
      <p:sp>
        <p:nvSpPr>
          <p:cNvPr id="28" name="Text 26"/>
          <p:cNvSpPr/>
          <p:nvPr/>
        </p:nvSpPr>
        <p:spPr>
          <a:xfrm>
            <a:off x="6035040" y="498348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29" name="Text 27"/>
          <p:cNvSpPr txBox="1"/>
          <p:nvPr/>
        </p:nvSpPr>
        <p:spPr>
          <a:xfrm>
            <a:off x="731520" y="5715000"/>
            <a:ext cx="10972800" cy="411480"/>
          </a:xfrm>
          <a:prstGeom prst="rect">
            <a:avLst/>
          </a:prstGeom>
          <a:noFill/>
          <a:ln/>
        </p:spPr>
        <p:txBody>
          <a:bodyPr wrap="square" lIns="0" tIns="0" rIns="0" bIns="0" rtlCol="0" anchor="ctr"/>
          <a:lstStyle/>
          <a:p>
            <a:pPr algn="ctr" indent="0" marL="0">
              <a:buNone/>
            </a:pPr>
            <a:r>
              <a:rPr lang="en-US" sz="1700" i="1" dirty="0">
                <a:solidFill>
                  <a:srgbClr val="000000"/>
                </a:solidFill>
                <a:latin typeface="Georgia" pitchFamily="34" charset="0"/>
                <a:ea typeface="Georgia" pitchFamily="34" charset="-122"/>
                <a:cs typeface="Georgia" pitchFamily="34" charset="-120"/>
              </a:rPr>
              <a:t>Wants a finite course and has compensated disease: pegylated interferon, in selected patients</a:t>
            </a:r>
            <a:endParaRPr lang="en-US" sz="1700" dirty="0"/>
          </a:p>
        </p:txBody>
      </p:sp>
      <p:sp>
        <p:nvSpPr>
          <p:cNvPr id="3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 US prescribing information. Renal doses: appendix.</a:t>
            </a:r>
            <a:endParaRPr lang="en-US" sz="1000" dirty="0"/>
          </a:p>
        </p:txBody>
      </p:sp>
      <p:sp>
        <p:nvSpPr>
          <p:cNvPr id="3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to choose an antiviral</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Same man, eGFR 45: which drug?</a:t>
            </a:r>
            <a:endParaRPr lang="en-US" sz="2400" dirty="0"/>
          </a:p>
        </p:txBody>
      </p:sp>
      <p:sp>
        <p:nvSpPr>
          <p:cNvPr id="4" name="Shape 2"/>
          <p:cNvSpPr/>
          <p:nvPr/>
        </p:nvSpPr>
        <p:spPr>
          <a:xfrm>
            <a:off x="502920" y="1691640"/>
            <a:ext cx="0" cy="3566160"/>
          </a:xfrm>
          <a:prstGeom prst="line">
            <a:avLst/>
          </a:prstGeom>
          <a:noFill/>
          <a:ln w="19050">
            <a:solidFill>
              <a:srgbClr val="595959"/>
            </a:solidFill>
            <a:prstDash val="solid"/>
          </a:ln>
        </p:spPr>
      </p:sp>
      <p:sp>
        <p:nvSpPr>
          <p:cNvPr id="5" name="Shape 3"/>
          <p:cNvSpPr/>
          <p:nvPr/>
        </p:nvSpPr>
        <p:spPr>
          <a:xfrm>
            <a:off x="502920" y="1965960"/>
            <a:ext cx="228600" cy="0"/>
          </a:xfrm>
          <a:prstGeom prst="line">
            <a:avLst/>
          </a:prstGeom>
          <a:noFill/>
          <a:ln w="19050">
            <a:solidFill>
              <a:srgbClr val="595959"/>
            </a:solidFill>
            <a:prstDash val="solid"/>
            <a:tailEnd type="triangle"/>
          </a:ln>
        </p:spPr>
      </p:sp>
      <p:sp>
        <p:nvSpPr>
          <p:cNvPr id="6" name="Text 4"/>
          <p:cNvSpPr/>
          <p:nvPr/>
        </p:nvSpPr>
        <p:spPr>
          <a:xfrm>
            <a:off x="731520" y="1691640"/>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Decompensated cirrhosis</a:t>
            </a:r>
            <a:endParaRPr lang="en-US" sz="1800" dirty="0"/>
          </a:p>
        </p:txBody>
      </p:sp>
      <p:sp>
        <p:nvSpPr>
          <p:cNvPr id="7" name="Shape 5"/>
          <p:cNvSpPr/>
          <p:nvPr/>
        </p:nvSpPr>
        <p:spPr>
          <a:xfrm>
            <a:off x="5577840" y="1965960"/>
            <a:ext cx="457200" cy="0"/>
          </a:xfrm>
          <a:prstGeom prst="line">
            <a:avLst/>
          </a:prstGeom>
          <a:noFill/>
          <a:ln w="19050">
            <a:solidFill>
              <a:srgbClr val="595959"/>
            </a:solidFill>
            <a:prstDash val="solid"/>
            <a:tailEnd type="triangle"/>
          </a:ln>
        </p:spPr>
      </p:sp>
      <p:sp>
        <p:nvSpPr>
          <p:cNvPr id="8" name="Text 6"/>
          <p:cNvSpPr/>
          <p:nvPr/>
        </p:nvSpPr>
        <p:spPr>
          <a:xfrm>
            <a:off x="6035040" y="16916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Entecavir 1 mg or TDF (no TAF)</a:t>
            </a:r>
            <a:endParaRPr lang="en-US" sz="1800" dirty="0"/>
          </a:p>
        </p:txBody>
      </p:sp>
      <p:sp>
        <p:nvSpPr>
          <p:cNvPr id="9" name="Shape 7"/>
          <p:cNvSpPr/>
          <p:nvPr/>
        </p:nvSpPr>
        <p:spPr>
          <a:xfrm>
            <a:off x="502920" y="2624328"/>
            <a:ext cx="228600" cy="0"/>
          </a:xfrm>
          <a:prstGeom prst="line">
            <a:avLst/>
          </a:prstGeom>
          <a:noFill/>
          <a:ln w="19050">
            <a:solidFill>
              <a:srgbClr val="595959"/>
            </a:solidFill>
            <a:prstDash val="solid"/>
            <a:tailEnd type="triangle"/>
          </a:ln>
        </p:spPr>
      </p:sp>
      <p:sp>
        <p:nvSpPr>
          <p:cNvPr id="10" name="Text 8"/>
          <p:cNvSpPr/>
          <p:nvPr/>
        </p:nvSpPr>
        <p:spPr>
          <a:xfrm>
            <a:off x="731520" y="2350008"/>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HIV</a:t>
            </a:r>
            <a:endParaRPr lang="en-US" sz="1800" dirty="0"/>
          </a:p>
        </p:txBody>
      </p:sp>
      <p:sp>
        <p:nvSpPr>
          <p:cNvPr id="11" name="Shape 9"/>
          <p:cNvSpPr/>
          <p:nvPr/>
        </p:nvSpPr>
        <p:spPr>
          <a:xfrm>
            <a:off x="5577840" y="2624328"/>
            <a:ext cx="457200" cy="0"/>
          </a:xfrm>
          <a:prstGeom prst="line">
            <a:avLst/>
          </a:prstGeom>
          <a:noFill/>
          <a:ln w="19050">
            <a:solidFill>
              <a:srgbClr val="595959"/>
            </a:solidFill>
            <a:prstDash val="solid"/>
            <a:tailEnd type="triangle"/>
          </a:ln>
        </p:spPr>
      </p:sp>
      <p:sp>
        <p:nvSpPr>
          <p:cNvPr id="12" name="Text 10"/>
          <p:cNvSpPr/>
          <p:nvPr/>
        </p:nvSpPr>
        <p:spPr>
          <a:xfrm>
            <a:off x="6035040" y="2350008"/>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TDF or TAF as part of ART</a:t>
            </a:r>
            <a:endParaRPr lang="en-US" sz="1800" dirty="0"/>
          </a:p>
        </p:txBody>
      </p:sp>
      <p:sp>
        <p:nvSpPr>
          <p:cNvPr id="13" name="Shape 11"/>
          <p:cNvSpPr/>
          <p:nvPr/>
        </p:nvSpPr>
        <p:spPr>
          <a:xfrm>
            <a:off x="502920" y="3282696"/>
            <a:ext cx="228600" cy="0"/>
          </a:xfrm>
          <a:prstGeom prst="line">
            <a:avLst/>
          </a:prstGeom>
          <a:noFill/>
          <a:ln w="19050">
            <a:solidFill>
              <a:srgbClr val="595959"/>
            </a:solidFill>
            <a:prstDash val="solid"/>
            <a:tailEnd type="triangle"/>
          </a:ln>
        </p:spPr>
      </p:sp>
      <p:sp>
        <p:nvSpPr>
          <p:cNvPr id="14" name="Text 12"/>
          <p:cNvSpPr/>
          <p:nvPr/>
        </p:nvSpPr>
        <p:spPr>
          <a:xfrm>
            <a:off x="731520" y="3008376"/>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Prior lamivudine resistance</a:t>
            </a:r>
            <a:endParaRPr lang="en-US" sz="1800" dirty="0"/>
          </a:p>
        </p:txBody>
      </p:sp>
      <p:sp>
        <p:nvSpPr>
          <p:cNvPr id="15" name="Shape 13"/>
          <p:cNvSpPr/>
          <p:nvPr/>
        </p:nvSpPr>
        <p:spPr>
          <a:xfrm>
            <a:off x="5577840" y="3282696"/>
            <a:ext cx="457200" cy="0"/>
          </a:xfrm>
          <a:prstGeom prst="line">
            <a:avLst/>
          </a:prstGeom>
          <a:noFill/>
          <a:ln w="19050">
            <a:solidFill>
              <a:srgbClr val="595959"/>
            </a:solidFill>
            <a:prstDash val="solid"/>
            <a:tailEnd type="triangle"/>
          </a:ln>
        </p:spPr>
      </p:sp>
      <p:sp>
        <p:nvSpPr>
          <p:cNvPr id="16" name="Text 14"/>
          <p:cNvSpPr/>
          <p:nvPr/>
        </p:nvSpPr>
        <p:spPr>
          <a:xfrm>
            <a:off x="6035040" y="3008376"/>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TDF or TAF (not entecavir)</a:t>
            </a:r>
            <a:endParaRPr lang="en-US" sz="1800" dirty="0"/>
          </a:p>
        </p:txBody>
      </p:sp>
      <p:sp>
        <p:nvSpPr>
          <p:cNvPr id="17" name="Shape 15"/>
          <p:cNvSpPr/>
          <p:nvPr/>
        </p:nvSpPr>
        <p:spPr>
          <a:xfrm>
            <a:off x="502920" y="3941064"/>
            <a:ext cx="228600" cy="0"/>
          </a:xfrm>
          <a:prstGeom prst="line">
            <a:avLst/>
          </a:prstGeom>
          <a:noFill/>
          <a:ln w="19050">
            <a:solidFill>
              <a:srgbClr val="595959"/>
            </a:solidFill>
            <a:prstDash val="solid"/>
            <a:tailEnd type="triangle"/>
          </a:ln>
        </p:spPr>
      </p:sp>
      <p:sp>
        <p:nvSpPr>
          <p:cNvPr id="18" name="Text 16"/>
          <p:cNvSpPr/>
          <p:nvPr/>
        </p:nvSpPr>
        <p:spPr>
          <a:xfrm>
            <a:off x="731520" y="3666744"/>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Kidney or bone disease, or at risk</a:t>
            </a:r>
            <a:endParaRPr lang="en-US" sz="1800" dirty="0"/>
          </a:p>
        </p:txBody>
      </p:sp>
      <p:sp>
        <p:nvSpPr>
          <p:cNvPr id="19" name="Shape 17"/>
          <p:cNvSpPr/>
          <p:nvPr/>
        </p:nvSpPr>
        <p:spPr>
          <a:xfrm>
            <a:off x="5577840" y="3941064"/>
            <a:ext cx="457200" cy="0"/>
          </a:xfrm>
          <a:prstGeom prst="line">
            <a:avLst/>
          </a:prstGeom>
          <a:noFill/>
          <a:ln w="19050">
            <a:solidFill>
              <a:srgbClr val="595959"/>
            </a:solidFill>
            <a:prstDash val="solid"/>
            <a:tailEnd type="triangle"/>
          </a:ln>
        </p:spPr>
      </p:sp>
      <p:sp>
        <p:nvSpPr>
          <p:cNvPr id="20" name="Text 18"/>
          <p:cNvSpPr/>
          <p:nvPr/>
        </p:nvSpPr>
        <p:spPr>
          <a:xfrm>
            <a:off x="6035040" y="3666744"/>
            <a:ext cx="5669280" cy="5486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TAF, or entecavir dose-adjusted</a:t>
            </a:r>
            <a:endParaRPr lang="en-US" sz="1800" dirty="0"/>
          </a:p>
        </p:txBody>
      </p:sp>
      <p:sp>
        <p:nvSpPr>
          <p:cNvPr id="21" name="Shape 19"/>
          <p:cNvSpPr/>
          <p:nvPr/>
        </p:nvSpPr>
        <p:spPr>
          <a:xfrm>
            <a:off x="502920" y="4599432"/>
            <a:ext cx="228600" cy="0"/>
          </a:xfrm>
          <a:prstGeom prst="line">
            <a:avLst/>
          </a:prstGeom>
          <a:noFill/>
          <a:ln w="19050">
            <a:solidFill>
              <a:srgbClr val="595959"/>
            </a:solidFill>
            <a:prstDash val="solid"/>
            <a:tailEnd type="triangle"/>
          </a:ln>
        </p:spPr>
      </p:sp>
      <p:sp>
        <p:nvSpPr>
          <p:cNvPr id="22" name="Text 20"/>
          <p:cNvSpPr/>
          <p:nvPr/>
        </p:nvSpPr>
        <p:spPr>
          <a:xfrm>
            <a:off x="731520" y="4325112"/>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Pregnancy</a:t>
            </a:r>
            <a:endParaRPr lang="en-US" sz="1800" dirty="0"/>
          </a:p>
        </p:txBody>
      </p:sp>
      <p:sp>
        <p:nvSpPr>
          <p:cNvPr id="23" name="Shape 21"/>
          <p:cNvSpPr/>
          <p:nvPr/>
        </p:nvSpPr>
        <p:spPr>
          <a:xfrm>
            <a:off x="5577840" y="4599432"/>
            <a:ext cx="457200" cy="0"/>
          </a:xfrm>
          <a:prstGeom prst="line">
            <a:avLst/>
          </a:prstGeom>
          <a:noFill/>
          <a:ln w="19050">
            <a:solidFill>
              <a:srgbClr val="595959"/>
            </a:solidFill>
            <a:prstDash val="solid"/>
            <a:tailEnd type="triangle"/>
          </a:ln>
        </p:spPr>
      </p:sp>
      <p:sp>
        <p:nvSpPr>
          <p:cNvPr id="24" name="Text 22"/>
          <p:cNvSpPr/>
          <p:nvPr/>
        </p:nvSpPr>
        <p:spPr>
          <a:xfrm>
            <a:off x="6035040" y="4325112"/>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TDF or TAF</a:t>
            </a:r>
            <a:endParaRPr lang="en-US" sz="1800" dirty="0"/>
          </a:p>
        </p:txBody>
      </p:sp>
      <p:sp>
        <p:nvSpPr>
          <p:cNvPr id="25" name="Shape 23"/>
          <p:cNvSpPr/>
          <p:nvPr/>
        </p:nvSpPr>
        <p:spPr>
          <a:xfrm>
            <a:off x="502920" y="5257800"/>
            <a:ext cx="228600" cy="0"/>
          </a:xfrm>
          <a:prstGeom prst="line">
            <a:avLst/>
          </a:prstGeom>
          <a:noFill/>
          <a:ln w="19050">
            <a:solidFill>
              <a:srgbClr val="595959"/>
            </a:solidFill>
            <a:prstDash val="solid"/>
            <a:tailEnd type="triangle"/>
          </a:ln>
        </p:spPr>
      </p:sp>
      <p:sp>
        <p:nvSpPr>
          <p:cNvPr id="26" name="Text 24"/>
          <p:cNvSpPr/>
          <p:nvPr/>
        </p:nvSpPr>
        <p:spPr>
          <a:xfrm>
            <a:off x="731520" y="4983480"/>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None of these</a:t>
            </a:r>
            <a:endParaRPr lang="en-US" sz="1800" dirty="0"/>
          </a:p>
        </p:txBody>
      </p:sp>
      <p:sp>
        <p:nvSpPr>
          <p:cNvPr id="27" name="Shape 25"/>
          <p:cNvSpPr/>
          <p:nvPr/>
        </p:nvSpPr>
        <p:spPr>
          <a:xfrm>
            <a:off x="5577840" y="5257800"/>
            <a:ext cx="457200" cy="0"/>
          </a:xfrm>
          <a:prstGeom prst="line">
            <a:avLst/>
          </a:prstGeom>
          <a:noFill/>
          <a:ln w="19050">
            <a:solidFill>
              <a:srgbClr val="595959"/>
            </a:solidFill>
            <a:prstDash val="solid"/>
            <a:tailEnd type="triangle"/>
          </a:ln>
        </p:spPr>
      </p:sp>
      <p:sp>
        <p:nvSpPr>
          <p:cNvPr id="28" name="Text 26"/>
          <p:cNvSpPr/>
          <p:nvPr/>
        </p:nvSpPr>
        <p:spPr>
          <a:xfrm>
            <a:off x="6035040" y="498348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Entecavir, TDF or TAF</a:t>
            </a:r>
            <a:endParaRPr lang="en-US" sz="1800" dirty="0"/>
          </a:p>
        </p:txBody>
      </p:sp>
      <p:sp>
        <p:nvSpPr>
          <p:cNvPr id="29" name="Text 27"/>
          <p:cNvSpPr txBox="1"/>
          <p:nvPr/>
        </p:nvSpPr>
        <p:spPr>
          <a:xfrm>
            <a:off x="731520" y="5715000"/>
            <a:ext cx="10972800" cy="411480"/>
          </a:xfrm>
          <a:prstGeom prst="rect">
            <a:avLst/>
          </a:prstGeom>
          <a:noFill/>
          <a:ln/>
        </p:spPr>
        <p:txBody>
          <a:bodyPr wrap="square" lIns="0" tIns="0" rIns="0" bIns="0" rtlCol="0" anchor="ctr"/>
          <a:lstStyle/>
          <a:p>
            <a:pPr algn="ctr" indent="0" marL="0">
              <a:buNone/>
            </a:pPr>
            <a:r>
              <a:rPr lang="en-US" sz="1700" i="1" dirty="0">
                <a:solidFill>
                  <a:srgbClr val="000000"/>
                </a:solidFill>
                <a:latin typeface="Georgia" pitchFamily="34" charset="0"/>
                <a:ea typeface="Georgia" pitchFamily="34" charset="-122"/>
                <a:cs typeface="Georgia" pitchFamily="34" charset="-120"/>
              </a:rPr>
              <a:t>Wants a finite course and has compensated disease: pegylated interferon, in selected patients</a:t>
            </a:r>
            <a:endParaRPr lang="en-US" sz="1700" dirty="0"/>
          </a:p>
        </p:txBody>
      </p:sp>
      <p:sp>
        <p:nvSpPr>
          <p:cNvPr id="3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 US prescribing information. Renal doses: appendix.</a:t>
            </a:r>
            <a:endParaRPr lang="en-US" sz="1000" dirty="0"/>
          </a:p>
        </p:txBody>
      </p:sp>
      <p:sp>
        <p:nvSpPr>
          <p:cNvPr id="3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1097280"/>
          <a:ext cx="6035040" cy="914400"/>
        </p:xfrm>
        <a:graphic>
          <a:graphicData uri="http://schemas.openxmlformats.org/drawingml/2006/table">
            <a:tbl>
              <a:tblPr/>
              <a:tblGrid>
                <a:gridCol w="2715768"/>
                <a:gridCol w="2075688"/>
                <a:gridCol w="1243584"/>
              </a:tblGrid>
              <a:tr h="42062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Variable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Category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Points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Age,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 to 29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 to 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 to 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50 to 59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60 to 69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70 or older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Platelets, ×10⁹/L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100 to 199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Under 100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097280"/>
          <a:ext cx="6035040" cy="914400"/>
        </p:xfrm>
        <a:graphic>
          <a:graphicData uri="http://schemas.openxmlformats.org/drawingml/2006/table">
            <a:tbl>
              <a:tblPr/>
              <a:tblGrid>
                <a:gridCol w="2715768"/>
                <a:gridCol w="2075688"/>
                <a:gridCol w="1243584"/>
              </a:tblGrid>
              <a:tr h="42062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Variable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Category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Points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Age,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 to 29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 to 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 to 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50 to 59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60 to 69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70 or older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Platelets, ×10⁹/L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100 to 199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Under 100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20040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3794760"/>
            <a:ext cx="4754880" cy="914400"/>
          </a:xfrm>
          <a:prstGeom prst="rect">
            <a:avLst/>
          </a:prstGeom>
          <a:noFill/>
          <a:ln/>
        </p:spPr>
        <p:txBody>
          <a:bodyPr wrap="square" lIns="50800" tIns="50800" rIns="50800" bIns="50800" rtlCol="0" anchor="t"/>
          <a:lstStyle/>
          <a:p>
            <a:pPr indent="0" marL="0">
              <a:spcBef>
                <a:spcPts val="800"/>
              </a:spcBef>
              <a:buNone/>
            </a:pPr>
            <a:r>
              <a:rPr lang="en-US" sz="2000" dirty="0">
                <a:solidFill>
                  <a:srgbClr val="000000"/>
                </a:solidFill>
                <a:latin typeface="Georgia" pitchFamily="34" charset="0"/>
                <a:ea typeface="Georgia" pitchFamily="34" charset="-122"/>
                <a:cs typeface="Georgia" pitchFamily="34" charset="-120"/>
              </a:rPr>
              <a:t>High risk: 18 or more</a:t>
            </a:r>
            <a:endParaRPr lang="en-US" sz="2000" dirty="0"/>
          </a:p>
          <a:p>
            <a:pPr indent="0" marL="0">
              <a:spcBef>
                <a:spcPts val="800"/>
              </a:spcBef>
              <a:buNone/>
            </a:pPr>
            <a:r>
              <a:rPr lang="en-US" sz="2000" dirty="0">
                <a:solidFill>
                  <a:srgbClr val="000000"/>
                </a:solidFill>
                <a:latin typeface="Georgia" pitchFamily="34" charset="0"/>
                <a:ea typeface="Georgia" pitchFamily="34" charset="-122"/>
                <a:cs typeface="Georgia" pitchFamily="34" charset="-120"/>
              </a:rPr>
              <a:t>5-year HCC about 16 to 17%</a:t>
            </a:r>
            <a:endParaRPr lang="en-US" sz="2000" dirty="0"/>
          </a:p>
        </p:txBody>
      </p:sp>
      <p:pic>
        <p:nvPicPr>
          <p:cNvPr id="7" name="Image 0" descr="QR code to the HBV HCC risk calculator">    </p:cNvPr>
          <p:cNvPicPr>
            <a:picLocks noChangeAspect="1"/>
          </p:cNvPicPr>
          <p:nvPr/>
        </p:nvPicPr>
        <p:blipFill>
          <a:blip r:embed="rId1"/>
          <a:stretch>
            <a:fillRect/>
          </a:stretch>
        </p:blipFill>
        <p:spPr>
          <a:xfrm>
            <a:off x="7040880" y="4846320"/>
            <a:ext cx="1325880" cy="1325880"/>
          </a:xfrm>
          <a:prstGeom prst="rect">
            <a:avLst/>
          </a:prstGeom>
        </p:spPr>
      </p:pic>
      <p:sp>
        <p:nvSpPr>
          <p:cNvPr id="8" name="Text 4"/>
          <p:cNvSpPr txBox="1"/>
          <p:nvPr/>
        </p:nvSpPr>
        <p:spPr>
          <a:xfrm>
            <a:off x="8503920" y="5029200"/>
            <a:ext cx="3383280" cy="914400"/>
          </a:xfrm>
          <a:prstGeom prst="rect">
            <a:avLst/>
          </a:prstGeom>
          <a:noFill/>
          <a:ln/>
        </p:spPr>
        <p:txBody>
          <a:bodyPr wrap="square" lIns="0" tIns="0" rIns="0" bIns="0" rtlCol="0" anchor="ctr"/>
          <a:lstStyle/>
          <a:p>
            <a:pPr indent="0" marL="0">
              <a:buNone/>
            </a:pPr>
            <a:r>
              <a:rPr lang="en-US" sz="1600" dirty="0">
                <a:solidFill>
                  <a:srgbClr val="000000"/>
                </a:solidFill>
                <a:latin typeface="Georgia" pitchFamily="34" charset="0"/>
                <a:ea typeface="Georgia" pitchFamily="34" charset="-122"/>
                <a:cs typeface="Georgia" pitchFamily="34" charset="-120"/>
              </a:rPr>
              <a:t>Calculator: qaddodi.github.io/chb-hcc-risk</a:t>
            </a:r>
            <a:endParaRPr lang="en-US" sz="16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229600" y="1097280"/>
            <a:ext cx="3657600" cy="3657600"/>
          </a:xfrm>
          <a:prstGeom prst="rect">
            <a:avLst/>
          </a:prstGeom>
        </p:spPr>
      </p:pic>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365760" y="1691640"/>
          <a:ext cx="7680960" cy="914400"/>
        </p:xfrm>
        <a:graphic>
          <a:graphicData uri="http://schemas.openxmlformats.org/drawingml/2006/table">
            <a:tbl>
              <a:tblPr/>
              <a:tblGrid>
                <a:gridCol w="6080760"/>
                <a:gridCol w="1600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Our patient at 41, born in Vietnam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9052560" y="1097280"/>
            <a:ext cx="2011680" cy="2011680"/>
          </a:xfrm>
          <a:prstGeom prst="rect">
            <a:avLst/>
          </a:prstGeom>
        </p:spPr>
      </p:pic>
      <p:sp>
        <p:nvSpPr>
          <p:cNvPr id="5" name="Body"/>
          <p:cNvSpPr txBox="1"/>
          <p:nvPr/>
        </p:nvSpPr>
        <p:spPr>
          <a:xfrm>
            <a:off x="8183880" y="3200400"/>
            <a:ext cx="3840480" cy="3017520"/>
          </a:xfrm>
          <a:prstGeom prst="rect">
            <a:avLst/>
          </a:prstGeom>
          <a:noFill/>
          <a:ln/>
        </p:spPr>
        <p:txBody>
          <a:bodyPr wrap="square" lIns="50800" tIns="50800" rIns="50800" bIns="50800" rtlCol="0" anchor="t"/>
          <a:lstStyle/>
          <a:p>
            <a:pPr indent="0" marL="0">
              <a:spcBef>
                <a:spcPts val="400"/>
              </a:spcBef>
              <a:buNone/>
            </a:pPr>
            <a:r>
              <a:rPr lang="en-US" sz="1800" b="1" dirty="0">
                <a:solidFill>
                  <a:srgbClr val="000000"/>
                </a:solidFill>
                <a:latin typeface="Georgia" pitchFamily="34" charset="0"/>
                <a:ea typeface="Georgia" pitchFamily="34" charset="-122"/>
                <a:cs typeface="Georgia" pitchFamily="34" charset="-120"/>
              </a:rPr>
              <a:t>AASLD 2023 criteria</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Cirrhosis</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Endemic region: men &gt;40, women &gt;50</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African origin: earlier</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Family history of HCC</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PAGE-B ≥10</a:t>
            </a:r>
            <a:endParaRPr lang="en-US" sz="18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365760" y="1691640"/>
          <a:ext cx="7680960" cy="914400"/>
        </p:xfrm>
        <a:graphic>
          <a:graphicData uri="http://schemas.openxmlformats.org/drawingml/2006/table">
            <a:tbl>
              <a:tblPr/>
              <a:tblGrid>
                <a:gridCol w="6080760"/>
                <a:gridCol w="1600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Our patient at 41, born in Vietnam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highlight>
                            <a:srgbClr val="FFFF00"/>
                          </a:highlight>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HCC surveillance: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Ultrasound and AFP every 6 months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 from an endemic region: men over 40, women over 50; people of African origin earlier</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Family history of HCC</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PAGE-B 10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Hepatitis D coinfection</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Keep going after HBsAg loss if:</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 or a family history of HCC, or HBsAg lost after 40 in men and after 50 in women</a:t>
            </a:r>
            <a:endParaRPr lang="en-US" sz="2100" dirty="0"/>
          </a:p>
        </p:txBody>
      </p:sp>
      <p:pic>
        <p:nvPicPr>
          <p:cNvPr id="4" name="Image 0" descr="Watercolor of an abdominal ultrasound probe">    </p:cNvPr>
          <p:cNvPicPr>
            <a:picLocks noChangeAspect="1"/>
          </p:cNvPicPr>
          <p:nvPr/>
        </p:nvPicPr>
        <p:blipFill>
          <a:blip r:embed="rId1"/>
          <a:stretch>
            <a:fillRect/>
          </a:stretch>
        </p:blipFill>
        <p:spPr>
          <a:xfrm>
            <a:off x="7772400" y="128016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guidance 2023, Table 1 (PMID 37199193); AASLD/IDSA 2025 R6 to R9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HBsAg negative, anti-HBc positive: how risky is each drug?</a:t>
            </a:r>
            <a:endParaRPr lang="en-US" sz="22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10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HBsAg negative, anti-HBc positive: how risky is each drug?</a:t>
            </a:r>
            <a:endParaRPr lang="en-US" sz="22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10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79451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3817620" y="2011680"/>
            <a:ext cx="0" cy="1737360"/>
          </a:xfrm>
          <a:prstGeom prst="line">
            <a:avLst/>
          </a:prstGeom>
          <a:noFill/>
          <a:ln w="9525">
            <a:solidFill>
              <a:srgbClr val="D9D9D9"/>
            </a:solidFill>
            <a:prstDash val="solid"/>
          </a:ln>
        </p:spPr>
      </p:sp>
      <p:sp>
        <p:nvSpPr>
          <p:cNvPr id="8" name="Text 5"/>
          <p:cNvSpPr txBox="1"/>
          <p:nvPr/>
        </p:nvSpPr>
        <p:spPr>
          <a:xfrm>
            <a:off x="314325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5166360" y="2011680"/>
            <a:ext cx="0" cy="1737360"/>
          </a:xfrm>
          <a:prstGeom prst="line">
            <a:avLst/>
          </a:prstGeom>
          <a:noFill/>
          <a:ln w="9525">
            <a:solidFill>
              <a:srgbClr val="D9D9D9"/>
            </a:solidFill>
            <a:prstDash val="solid"/>
          </a:ln>
        </p:spPr>
      </p:sp>
      <p:sp>
        <p:nvSpPr>
          <p:cNvPr id="10" name="Text 7"/>
          <p:cNvSpPr txBox="1"/>
          <p:nvPr/>
        </p:nvSpPr>
        <p:spPr>
          <a:xfrm>
            <a:off x="449199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6515100" y="2011680"/>
            <a:ext cx="0" cy="1737360"/>
          </a:xfrm>
          <a:prstGeom prst="line">
            <a:avLst/>
          </a:prstGeom>
          <a:noFill/>
          <a:ln w="9525">
            <a:solidFill>
              <a:srgbClr val="D9D9D9"/>
            </a:solidFill>
            <a:prstDash val="solid"/>
          </a:ln>
        </p:spPr>
      </p:sp>
      <p:sp>
        <p:nvSpPr>
          <p:cNvPr id="12" name="Text 9"/>
          <p:cNvSpPr txBox="1"/>
          <p:nvPr/>
        </p:nvSpPr>
        <p:spPr>
          <a:xfrm>
            <a:off x="584073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Shape 10"/>
          <p:cNvSpPr/>
          <p:nvPr/>
        </p:nvSpPr>
        <p:spPr>
          <a:xfrm>
            <a:off x="7863840" y="2011680"/>
            <a:ext cx="0" cy="1737360"/>
          </a:xfrm>
          <a:prstGeom prst="line">
            <a:avLst/>
          </a:prstGeom>
          <a:noFill/>
          <a:ln w="9525">
            <a:solidFill>
              <a:srgbClr val="D9D9D9"/>
            </a:solidFill>
            <a:prstDash val="solid"/>
          </a:ln>
        </p:spPr>
      </p:sp>
      <p:sp>
        <p:nvSpPr>
          <p:cNvPr id="14" name="Text 11"/>
          <p:cNvSpPr txBox="1"/>
          <p:nvPr/>
        </p:nvSpPr>
        <p:spPr>
          <a:xfrm>
            <a:off x="718947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24</a:t>
            </a:r>
            <a:endParaRPr lang="en-US" sz="1600" dirty="0"/>
          </a:p>
        </p:txBody>
      </p:sp>
      <p:sp>
        <p:nvSpPr>
          <p:cNvPr id="15" name="Text 12"/>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6" name="Shape 13"/>
          <p:cNvSpPr/>
          <p:nvPr/>
        </p:nvSpPr>
        <p:spPr>
          <a:xfrm>
            <a:off x="2468880" y="2084832"/>
            <a:ext cx="1281303" cy="676656"/>
          </a:xfrm>
          <a:prstGeom prst="rect">
            <a:avLst/>
          </a:prstGeom>
          <a:solidFill>
            <a:srgbClr val="9DB4CA"/>
          </a:solidFill>
          <a:ln w="6350">
            <a:solidFill>
              <a:srgbClr val="9DB4CA"/>
            </a:solidFill>
            <a:prstDash val="solid"/>
          </a:ln>
        </p:spPr>
      </p:sp>
      <p:sp>
        <p:nvSpPr>
          <p:cNvPr id="17" name="Text 14"/>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79451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3817620" y="2011680"/>
            <a:ext cx="0" cy="1737360"/>
          </a:xfrm>
          <a:prstGeom prst="line">
            <a:avLst/>
          </a:prstGeom>
          <a:noFill/>
          <a:ln w="9525">
            <a:solidFill>
              <a:srgbClr val="D9D9D9"/>
            </a:solidFill>
            <a:prstDash val="solid"/>
          </a:ln>
        </p:spPr>
      </p:sp>
      <p:sp>
        <p:nvSpPr>
          <p:cNvPr id="8" name="Text 5"/>
          <p:cNvSpPr txBox="1"/>
          <p:nvPr/>
        </p:nvSpPr>
        <p:spPr>
          <a:xfrm>
            <a:off x="314325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5166360" y="2011680"/>
            <a:ext cx="0" cy="1737360"/>
          </a:xfrm>
          <a:prstGeom prst="line">
            <a:avLst/>
          </a:prstGeom>
          <a:noFill/>
          <a:ln w="9525">
            <a:solidFill>
              <a:srgbClr val="D9D9D9"/>
            </a:solidFill>
            <a:prstDash val="solid"/>
          </a:ln>
        </p:spPr>
      </p:sp>
      <p:sp>
        <p:nvSpPr>
          <p:cNvPr id="10" name="Text 7"/>
          <p:cNvSpPr txBox="1"/>
          <p:nvPr/>
        </p:nvSpPr>
        <p:spPr>
          <a:xfrm>
            <a:off x="449199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6515100" y="2011680"/>
            <a:ext cx="0" cy="1737360"/>
          </a:xfrm>
          <a:prstGeom prst="line">
            <a:avLst/>
          </a:prstGeom>
          <a:noFill/>
          <a:ln w="9525">
            <a:solidFill>
              <a:srgbClr val="D9D9D9"/>
            </a:solidFill>
            <a:prstDash val="solid"/>
          </a:ln>
        </p:spPr>
      </p:sp>
      <p:sp>
        <p:nvSpPr>
          <p:cNvPr id="12" name="Text 9"/>
          <p:cNvSpPr txBox="1"/>
          <p:nvPr/>
        </p:nvSpPr>
        <p:spPr>
          <a:xfrm>
            <a:off x="584073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Shape 10"/>
          <p:cNvSpPr/>
          <p:nvPr/>
        </p:nvSpPr>
        <p:spPr>
          <a:xfrm>
            <a:off x="7863840" y="2011680"/>
            <a:ext cx="0" cy="1737360"/>
          </a:xfrm>
          <a:prstGeom prst="line">
            <a:avLst/>
          </a:prstGeom>
          <a:noFill/>
          <a:ln w="9525">
            <a:solidFill>
              <a:srgbClr val="D9D9D9"/>
            </a:solidFill>
            <a:prstDash val="solid"/>
          </a:ln>
        </p:spPr>
      </p:sp>
      <p:sp>
        <p:nvSpPr>
          <p:cNvPr id="14" name="Text 11"/>
          <p:cNvSpPr txBox="1"/>
          <p:nvPr/>
        </p:nvSpPr>
        <p:spPr>
          <a:xfrm>
            <a:off x="718947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24</a:t>
            </a:r>
            <a:endParaRPr lang="en-US" sz="1600" dirty="0"/>
          </a:p>
        </p:txBody>
      </p:sp>
      <p:sp>
        <p:nvSpPr>
          <p:cNvPr id="15" name="Text 12"/>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6" name="Shape 13"/>
          <p:cNvSpPr/>
          <p:nvPr/>
        </p:nvSpPr>
        <p:spPr>
          <a:xfrm>
            <a:off x="2468880" y="2084832"/>
            <a:ext cx="1281303" cy="676656"/>
          </a:xfrm>
          <a:prstGeom prst="rect">
            <a:avLst/>
          </a:prstGeom>
          <a:solidFill>
            <a:srgbClr val="9DB4CA"/>
          </a:solidFill>
          <a:ln w="6350">
            <a:solidFill>
              <a:srgbClr val="9DB4CA"/>
            </a:solidFill>
            <a:prstDash val="solid"/>
          </a:ln>
        </p:spPr>
      </p:sp>
      <p:sp>
        <p:nvSpPr>
          <p:cNvPr id="17" name="Text 14"/>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8" name="Shape 15"/>
          <p:cNvSpPr/>
          <p:nvPr/>
        </p:nvSpPr>
        <p:spPr>
          <a:xfrm>
            <a:off x="2468880" y="2907792"/>
            <a:ext cx="4046220" cy="676656"/>
          </a:xfrm>
          <a:prstGeom prst="rect">
            <a:avLst/>
          </a:prstGeom>
          <a:solidFill>
            <a:srgbClr val="1F4E79"/>
          </a:solidFill>
          <a:ln w="6350">
            <a:solidFill>
              <a:srgbClr val="1F4E79"/>
            </a:solidFill>
            <a:prstDash val="solid"/>
          </a:ln>
        </p:spPr>
      </p:sp>
      <p:sp>
        <p:nvSpPr>
          <p:cNvPr id="19" name="Text 16"/>
          <p:cNvSpPr txBox="1"/>
          <p:nvPr/>
        </p:nvSpPr>
        <p:spPr>
          <a:xfrm>
            <a:off x="2468880" y="2907792"/>
            <a:ext cx="4046220"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20" name="Question"/>
          <p:cNvSpPr txBox="1"/>
          <p:nvPr/>
        </p:nvSpPr>
        <p:spPr>
          <a:xfrm>
            <a:off x="365760" y="4572000"/>
            <a:ext cx="7315200"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Start before the first dose</a:t>
            </a:r>
            <a:endParaRPr lang="en-US" sz="24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Before immunosuppression: summary</a:t>
            </a:r>
            <a:endParaRPr lang="en-US" sz="3000" dirty="0"/>
          </a:p>
        </p:txBody>
      </p:sp>
      <p:sp>
        <p:nvSpPr>
          <p:cNvPr id="3" name="Text 1"/>
          <p:cNvSpPr/>
          <p:nvPr/>
        </p:nvSpPr>
        <p:spPr>
          <a:xfrm>
            <a:off x="2194560" y="1097280"/>
            <a:ext cx="777240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Before chemotherapy or immunosuppression: HBsAg, anti-HBc, anti-HBs</a:t>
            </a:r>
            <a:endParaRPr lang="en-US" sz="1800" dirty="0"/>
          </a:p>
        </p:txBody>
      </p:sp>
      <p:sp>
        <p:nvSpPr>
          <p:cNvPr id="4" name="Shape 2"/>
          <p:cNvSpPr/>
          <p:nvPr/>
        </p:nvSpPr>
        <p:spPr>
          <a:xfrm>
            <a:off x="6080760" y="1645920"/>
            <a:ext cx="0" cy="274320"/>
          </a:xfrm>
          <a:prstGeom prst="line">
            <a:avLst/>
          </a:prstGeom>
          <a:noFill/>
          <a:ln w="19050">
            <a:solidFill>
              <a:srgbClr val="595959"/>
            </a:solidFill>
            <a:prstDash val="solid"/>
          </a:ln>
        </p:spPr>
      </p:sp>
      <p:sp>
        <p:nvSpPr>
          <p:cNvPr id="5" name="Shape 3"/>
          <p:cNvSpPr/>
          <p:nvPr/>
        </p:nvSpPr>
        <p:spPr>
          <a:xfrm>
            <a:off x="2148840" y="1920240"/>
            <a:ext cx="7863840" cy="0"/>
          </a:xfrm>
          <a:prstGeom prst="line">
            <a:avLst/>
          </a:prstGeom>
          <a:noFill/>
          <a:ln w="19050">
            <a:solidFill>
              <a:srgbClr val="595959"/>
            </a:solidFill>
            <a:prstDash val="solid"/>
          </a:ln>
        </p:spPr>
      </p:sp>
      <p:sp>
        <p:nvSpPr>
          <p:cNvPr id="6" name="Shape 4"/>
          <p:cNvSpPr/>
          <p:nvPr/>
        </p:nvSpPr>
        <p:spPr>
          <a:xfrm>
            <a:off x="2148840" y="1920240"/>
            <a:ext cx="0" cy="274320"/>
          </a:xfrm>
          <a:prstGeom prst="line">
            <a:avLst/>
          </a:prstGeom>
          <a:noFill/>
          <a:ln w="19050">
            <a:solidFill>
              <a:srgbClr val="595959"/>
            </a:solidFill>
            <a:prstDash val="solid"/>
            <a:tailEnd type="triangle"/>
          </a:ln>
        </p:spPr>
      </p:sp>
      <p:sp>
        <p:nvSpPr>
          <p:cNvPr id="7" name="Shape 5"/>
          <p:cNvSpPr/>
          <p:nvPr/>
        </p:nvSpPr>
        <p:spPr>
          <a:xfrm>
            <a:off x="6080760" y="1920240"/>
            <a:ext cx="0" cy="274320"/>
          </a:xfrm>
          <a:prstGeom prst="line">
            <a:avLst/>
          </a:prstGeom>
          <a:noFill/>
          <a:ln w="19050">
            <a:solidFill>
              <a:srgbClr val="595959"/>
            </a:solidFill>
            <a:prstDash val="solid"/>
            <a:tailEnd type="triangle"/>
          </a:ln>
        </p:spPr>
      </p:sp>
      <p:sp>
        <p:nvSpPr>
          <p:cNvPr id="8" name="Shape 6"/>
          <p:cNvSpPr/>
          <p:nvPr/>
        </p:nvSpPr>
        <p:spPr>
          <a:xfrm>
            <a:off x="10012680" y="1920240"/>
            <a:ext cx="0" cy="274320"/>
          </a:xfrm>
          <a:prstGeom prst="line">
            <a:avLst/>
          </a:prstGeom>
          <a:noFill/>
          <a:ln w="19050">
            <a:solidFill>
              <a:srgbClr val="595959"/>
            </a:solidFill>
            <a:prstDash val="solid"/>
            <a:tailEnd type="triangle"/>
          </a:ln>
        </p:spPr>
      </p:sp>
      <p:sp>
        <p:nvSpPr>
          <p:cNvPr id="9" name="Text 7"/>
          <p:cNvSpPr/>
          <p:nvPr/>
        </p:nvSpPr>
        <p:spPr>
          <a:xfrm>
            <a:off x="41148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positive</a:t>
            </a:r>
            <a:endParaRPr lang="en-US" sz="1700" dirty="0"/>
          </a:p>
        </p:txBody>
      </p:sp>
      <p:sp>
        <p:nvSpPr>
          <p:cNvPr id="10" name="Text 8"/>
          <p:cNvSpPr/>
          <p:nvPr/>
        </p:nvSpPr>
        <p:spPr>
          <a:xfrm>
            <a:off x="434340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negative, anti-HBc positive</a:t>
            </a:r>
            <a:endParaRPr lang="en-US" sz="1700" dirty="0"/>
          </a:p>
        </p:txBody>
      </p:sp>
      <p:sp>
        <p:nvSpPr>
          <p:cNvPr id="11" name="Text 9"/>
          <p:cNvSpPr/>
          <p:nvPr/>
        </p:nvSpPr>
        <p:spPr>
          <a:xfrm>
            <a:off x="827532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All negative</a:t>
            </a:r>
            <a:endParaRPr lang="en-US" sz="1700" dirty="0"/>
          </a:p>
        </p:txBody>
      </p:sp>
      <p:sp>
        <p:nvSpPr>
          <p:cNvPr id="12" name="Shape 10"/>
          <p:cNvSpPr/>
          <p:nvPr/>
        </p:nvSpPr>
        <p:spPr>
          <a:xfrm>
            <a:off x="2148840" y="2743200"/>
            <a:ext cx="0" cy="320040"/>
          </a:xfrm>
          <a:prstGeom prst="line">
            <a:avLst/>
          </a:prstGeom>
          <a:noFill/>
          <a:ln w="19050">
            <a:solidFill>
              <a:srgbClr val="595959"/>
            </a:solidFill>
            <a:prstDash val="solid"/>
            <a:tailEnd type="triangle"/>
          </a:ln>
        </p:spPr>
      </p:sp>
      <p:sp>
        <p:nvSpPr>
          <p:cNvPr id="13" name="Text 11"/>
          <p:cNvSpPr/>
          <p:nvPr/>
        </p:nvSpPr>
        <p:spPr>
          <a:xfrm>
            <a:off x="411480" y="3063240"/>
            <a:ext cx="3474720" cy="9144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Prophylaxis: entecavir, TDF or TAF</a:t>
            </a:r>
            <a:endParaRPr lang="en-US" sz="1800" dirty="0"/>
          </a:p>
        </p:txBody>
      </p:sp>
      <p:sp>
        <p:nvSpPr>
          <p:cNvPr id="14" name="Shape 12"/>
          <p:cNvSpPr/>
          <p:nvPr/>
        </p:nvSpPr>
        <p:spPr>
          <a:xfrm>
            <a:off x="6080760" y="2743200"/>
            <a:ext cx="0" cy="320040"/>
          </a:xfrm>
          <a:prstGeom prst="line">
            <a:avLst/>
          </a:prstGeom>
          <a:noFill/>
          <a:ln w="19050">
            <a:solidFill>
              <a:srgbClr val="595959"/>
            </a:solidFill>
            <a:prstDash val="solid"/>
            <a:tailEnd type="triangle"/>
          </a:ln>
        </p:spPr>
      </p:sp>
      <p:sp>
        <p:nvSpPr>
          <p:cNvPr id="15" name="Text 13"/>
          <p:cNvSpPr/>
          <p:nvPr/>
        </p:nvSpPr>
        <p:spPr>
          <a:xfrm>
            <a:off x="4343400" y="3063240"/>
            <a:ext cx="3474720" cy="8686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High risk (anti-CD20, stem cell transplant): prophylaxis</a:t>
            </a:r>
            <a:endParaRPr lang="en-US" sz="1700" dirty="0"/>
          </a:p>
        </p:txBody>
      </p:sp>
      <p:sp>
        <p:nvSpPr>
          <p:cNvPr id="16" name="Shape 14"/>
          <p:cNvSpPr/>
          <p:nvPr/>
        </p:nvSpPr>
        <p:spPr>
          <a:xfrm>
            <a:off x="6080760" y="3931920"/>
            <a:ext cx="0" cy="182880"/>
          </a:xfrm>
          <a:prstGeom prst="line">
            <a:avLst/>
          </a:prstGeom>
          <a:noFill/>
          <a:ln w="19050">
            <a:solidFill>
              <a:srgbClr val="595959"/>
            </a:solidFill>
            <a:prstDash val="solid"/>
            <a:tailEnd type="triangle"/>
          </a:ln>
        </p:spPr>
      </p:sp>
      <p:sp>
        <p:nvSpPr>
          <p:cNvPr id="17" name="Text 15"/>
          <p:cNvSpPr/>
          <p:nvPr/>
        </p:nvSpPr>
        <p:spPr>
          <a:xfrm>
            <a:off x="4343400" y="4114800"/>
            <a:ext cx="3474720" cy="868680"/>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Moderate risk: prophylaxis preferred, or DNA and ALT q1 to 3 months</a:t>
            </a:r>
            <a:endParaRPr lang="en-US" sz="1600" dirty="0"/>
          </a:p>
        </p:txBody>
      </p:sp>
      <p:sp>
        <p:nvSpPr>
          <p:cNvPr id="18" name="Shape 16"/>
          <p:cNvSpPr/>
          <p:nvPr/>
        </p:nvSpPr>
        <p:spPr>
          <a:xfrm>
            <a:off x="6080760" y="4983480"/>
            <a:ext cx="0" cy="137160"/>
          </a:xfrm>
          <a:prstGeom prst="line">
            <a:avLst/>
          </a:prstGeom>
          <a:noFill/>
          <a:ln w="19050">
            <a:solidFill>
              <a:srgbClr val="595959"/>
            </a:solidFill>
            <a:prstDash val="solid"/>
            <a:tailEnd type="triangle"/>
          </a:ln>
        </p:spPr>
      </p:sp>
      <p:sp>
        <p:nvSpPr>
          <p:cNvPr id="19" name="Text 17"/>
          <p:cNvSpPr/>
          <p:nvPr/>
        </p:nvSpPr>
        <p:spPr>
          <a:xfrm>
            <a:off x="4343400" y="5120640"/>
            <a:ext cx="3474720" cy="4572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Low risk: monitor</a:t>
            </a:r>
            <a:endParaRPr lang="en-US" sz="1600" dirty="0"/>
          </a:p>
        </p:txBody>
      </p:sp>
      <p:sp>
        <p:nvSpPr>
          <p:cNvPr id="20" name="Shape 18"/>
          <p:cNvSpPr/>
          <p:nvPr/>
        </p:nvSpPr>
        <p:spPr>
          <a:xfrm>
            <a:off x="10012680" y="2743200"/>
            <a:ext cx="0" cy="320040"/>
          </a:xfrm>
          <a:prstGeom prst="line">
            <a:avLst/>
          </a:prstGeom>
          <a:noFill/>
          <a:ln w="19050">
            <a:solidFill>
              <a:srgbClr val="595959"/>
            </a:solidFill>
            <a:prstDash val="solid"/>
            <a:tailEnd type="triangle"/>
          </a:ln>
        </p:spPr>
      </p:sp>
      <p:sp>
        <p:nvSpPr>
          <p:cNvPr id="21" name="Text 19"/>
          <p:cNvSpPr/>
          <p:nvPr/>
        </p:nvSpPr>
        <p:spPr>
          <a:xfrm>
            <a:off x="8275320" y="3063240"/>
            <a:ext cx="3474720" cy="9144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Vaccinate</a:t>
            </a:r>
            <a:endParaRPr lang="en-US" sz="1800" dirty="0"/>
          </a:p>
        </p:txBody>
      </p:sp>
      <p:sp>
        <p:nvSpPr>
          <p:cNvPr id="22" name="Text 20"/>
          <p:cNvSpPr/>
          <p:nvPr/>
        </p:nvSpPr>
        <p:spPr>
          <a:xfrm>
            <a:off x="411480" y="5715000"/>
            <a:ext cx="11338560" cy="50292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Prophylaxis: start before the first dose; continue 6 mo after the last dose, 12 mo after anti-CD20</a:t>
            </a:r>
            <a:endParaRPr lang="en-US" sz="16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21/30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365760" y="1234440"/>
          <a:ext cx="6309360" cy="914400"/>
        </p:xfrm>
        <a:graphic>
          <a:graphicData uri="http://schemas.openxmlformats.org/drawingml/2006/table">
            <a:tbl>
              <a:tblPr/>
              <a:tblGrid>
                <a:gridCol w="1325880"/>
                <a:gridCol w="1325880"/>
                <a:gridCol w="2496312"/>
                <a:gridCol w="1161288"/>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365760" y="2514600"/>
            <a:ext cx="6309360"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 do you do for her and the baby?</a:t>
            </a:r>
            <a:endParaRPr lang="en-US" sz="2200" dirty="0"/>
          </a:p>
        </p:txBody>
      </p:sp>
      <p:pic>
        <p:nvPicPr>
          <p:cNvPr id="5" name="Image 0" descr="Watercolor of a seated pregnant woman in profile">    </p:cNvPr>
          <p:cNvPicPr>
            <a:picLocks noChangeAspect="1"/>
          </p:cNvPicPr>
          <p:nvPr/>
        </p:nvPicPr>
        <p:blipFill>
          <a:blip r:embed="rId1"/>
          <a:stretch>
            <a:fillRect/>
          </a:stretch>
        </p:blipFill>
        <p:spPr>
          <a:xfrm>
            <a:off x="6949440" y="1097280"/>
            <a:ext cx="5029200" cy="502920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Hepatology 2026;83:974-997, PMID 41186418. CDC perinatal hepatitis B guidance.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365760" y="1234440"/>
          <a:ext cx="6309360" cy="914400"/>
        </p:xfrm>
        <a:graphic>
          <a:graphicData uri="http://schemas.openxmlformats.org/drawingml/2006/table">
            <a:tbl>
              <a:tblPr/>
              <a:tblGrid>
                <a:gridCol w="1325880"/>
                <a:gridCol w="1325880"/>
                <a:gridCol w="2496312"/>
                <a:gridCol w="1161288"/>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365760" y="2514600"/>
            <a:ext cx="6309360"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 do you do for her and the baby?</a:t>
            </a:r>
            <a:endParaRPr lang="en-US" sz="2200" dirty="0"/>
          </a:p>
        </p:txBody>
      </p:sp>
      <p:pic>
        <p:nvPicPr>
          <p:cNvPr id="5" name="Image 0" descr="Watercolor of a seated pregnant woman in profile">    </p:cNvPr>
          <p:cNvPicPr>
            <a:picLocks noChangeAspect="1"/>
          </p:cNvPicPr>
          <p:nvPr/>
        </p:nvPicPr>
        <p:blipFill>
          <a:blip r:embed="rId1"/>
          <a:stretch>
            <a:fillRect/>
          </a:stretch>
        </p:blipFill>
        <p:spPr>
          <a:xfrm>
            <a:off x="694944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Hepatology 2026;83:974-997, PMID 41186418. CDC perinatal hepatitis B guidance.</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Pregnancy: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HBsAg in every pregnancy</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HBsAg positive: check DNA and ALT</a:t>
            </a:r>
            <a:endParaRPr lang="en-US" sz="2100" dirty="0"/>
          </a:p>
          <a:p>
            <a:pPr marL="228600" indent="-228600">
              <a:spcBef>
                <a:spcPts val="1000"/>
              </a:spcBef>
              <a:buSzPct val="100000"/>
              <a:buChar char="–"/>
            </a:pPr>
            <a:r>
              <a:rPr lang="en-US" sz="2100" b="1" dirty="0">
                <a:solidFill>
                  <a:srgbClr val="000000"/>
                </a:solidFill>
                <a:latin typeface="Georgia" pitchFamily="34" charset="0"/>
                <a:ea typeface="Georgia" pitchFamily="34" charset="-122"/>
                <a:cs typeface="Georgia" pitchFamily="34" charset="-120"/>
              </a:rPr>
              <a:t>DNA above 200,000: TDF or TAF from week 28</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Baby: hepatitis B vaccine and HBIG within 12 hours of birth, then finish the series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the baby at 9 to 12 months: HBsAg and anti-HBs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Breastfeeding is fine</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If she stops after delivery: DNA and ALT every 1 to 3 months for 6 months</a:t>
            </a:r>
            <a:endParaRPr lang="en-US" sz="2100" dirty="0"/>
          </a:p>
        </p:txBody>
      </p:sp>
      <p:pic>
        <p:nvPicPr>
          <p:cNvPr id="4" name="Image 0" descr="Watercolor of a seated pregnant woman in profile">    </p:cNvPr>
          <p:cNvPicPr>
            <a:picLocks noChangeAspect="1"/>
          </p:cNvPicPr>
          <p:nvPr/>
        </p:nvPicPr>
        <p:blipFill>
          <a:blip r:embed="rId1"/>
          <a:stretch>
            <a:fillRect/>
          </a:stretch>
        </p:blipFill>
        <p:spPr>
          <a:xfrm>
            <a:off x="7772400" y="118872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2023 (PMID 36893044); CDC perinatal hepatitis B guidance.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365760" y="1143000"/>
          <a:ext cx="7863840" cy="914400"/>
        </p:xfrm>
        <a:graphic>
          <a:graphicData uri="http://schemas.openxmlformats.org/drawingml/2006/table">
            <a:tbl>
              <a:tblPr/>
              <a:tblGrid>
                <a:gridCol w="4443984"/>
                <a:gridCol w="2660904"/>
                <a:gridCol w="758952"/>
              </a:tblGrid>
              <a:tr h="51206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Condition for stopping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Our patient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cirrhosis or advanced disease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Stiffness 5.9 kPa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HBV DNA undetectable for 2 years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Undetectable for 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HBsAg under 100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HBeAg seroconversion 1 year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In his late 40s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HIV or HDV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Both negative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Reliable follow-up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12064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365760" y="1143000"/>
          <a:ext cx="7863840" cy="914400"/>
        </p:xfrm>
        <a:graphic>
          <a:graphicData uri="http://schemas.openxmlformats.org/drawingml/2006/table">
            <a:tbl>
              <a:tblPr/>
              <a:tblGrid>
                <a:gridCol w="4443984"/>
                <a:gridCol w="2660904"/>
                <a:gridCol w="758952"/>
              </a:tblGrid>
              <a:tr h="51206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Condition for stopping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Our patient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cirrhosis or advanced disease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Stiffness 5.9 kPa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HBV DNA undetectable for 2 years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Undetectable for 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HBsAg under 100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No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HBeAg seroconversion 1 year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In his late 40s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HIV or HDV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Both negative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Reliable follow-up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12064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Question"/>
          <p:cNvSpPr txBox="1"/>
          <p:nvPr/>
        </p:nvSpPr>
        <p:spPr>
          <a:xfrm>
            <a:off x="365760" y="5669280"/>
            <a:ext cx="786384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if he had stopped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the same man in his fifties, gray at the temples, with reading glasses">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if he had stopped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the same man in his fifties, gray at the temples, with reading glasses">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Stopping: summary</a:t>
            </a:r>
            <a:endParaRPr lang="en-US" sz="3000" dirty="0"/>
          </a:p>
        </p:txBody>
      </p:sp>
      <p:sp>
        <p:nvSpPr>
          <p:cNvPr id="3" name="Body"/>
          <p:cNvSpPr txBox="1"/>
          <p:nvPr/>
        </p:nvSpPr>
        <p:spPr>
          <a:xfrm>
            <a:off x="457200" y="1188720"/>
            <a:ext cx="521208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Default: continue until HBsAg is lost</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Stop only if all of these: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DNA undetectable for 2 years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If HBeAg positive at the start: seroconverted 1 year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HBsAg under 100 IU/mL</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HIV or HDV</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Reliable follow-up</a:t>
            </a:r>
            <a:endParaRPr lang="en-US" sz="2100" dirty="0"/>
          </a:p>
        </p:txBody>
      </p:sp>
      <p:sp>
        <p:nvSpPr>
          <p:cNvPr id="4" name="Text 2"/>
          <p:cNvSpPr txBox="1"/>
          <p:nvPr/>
        </p:nvSpPr>
        <p:spPr>
          <a:xfrm>
            <a:off x="5943600" y="1188720"/>
            <a:ext cx="5943600"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After stopping</a:t>
            </a:r>
            <a:endParaRPr lang="en-US" sz="2000" dirty="0"/>
          </a:p>
        </p:txBody>
      </p:sp>
      <p:sp>
        <p:nvSpPr>
          <p:cNvPr id="5" name="Text 3"/>
          <p:cNvSpPr/>
          <p:nvPr/>
        </p:nvSpPr>
        <p:spPr>
          <a:xfrm>
            <a:off x="6126480" y="173736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0 to 6: DNA and ALT every 1 to 3 months</a:t>
            </a:r>
            <a:endParaRPr lang="en-US" sz="1600" dirty="0"/>
          </a:p>
        </p:txBody>
      </p:sp>
      <p:sp>
        <p:nvSpPr>
          <p:cNvPr id="6" name="Shape 4"/>
          <p:cNvSpPr/>
          <p:nvPr/>
        </p:nvSpPr>
        <p:spPr>
          <a:xfrm>
            <a:off x="8961120" y="2286000"/>
            <a:ext cx="0" cy="228600"/>
          </a:xfrm>
          <a:prstGeom prst="line">
            <a:avLst/>
          </a:prstGeom>
          <a:noFill/>
          <a:ln w="19050">
            <a:solidFill>
              <a:srgbClr val="595959"/>
            </a:solidFill>
            <a:prstDash val="solid"/>
            <a:tailEnd type="triangle"/>
          </a:ln>
        </p:spPr>
      </p:sp>
      <p:sp>
        <p:nvSpPr>
          <p:cNvPr id="7" name="Text 5"/>
          <p:cNvSpPr/>
          <p:nvPr/>
        </p:nvSpPr>
        <p:spPr>
          <a:xfrm>
            <a:off x="6126480" y="251460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6 to 12: every 3 months</a:t>
            </a:r>
            <a:endParaRPr lang="en-US" sz="1600" dirty="0"/>
          </a:p>
        </p:txBody>
      </p:sp>
      <p:sp>
        <p:nvSpPr>
          <p:cNvPr id="8" name="Shape 6"/>
          <p:cNvSpPr/>
          <p:nvPr/>
        </p:nvSpPr>
        <p:spPr>
          <a:xfrm>
            <a:off x="8961120" y="3063240"/>
            <a:ext cx="0" cy="228600"/>
          </a:xfrm>
          <a:prstGeom prst="line">
            <a:avLst/>
          </a:prstGeom>
          <a:noFill/>
          <a:ln w="19050">
            <a:solidFill>
              <a:srgbClr val="595959"/>
            </a:solidFill>
            <a:prstDash val="solid"/>
            <a:tailEnd type="triangle"/>
          </a:ln>
        </p:spPr>
      </p:sp>
      <p:sp>
        <p:nvSpPr>
          <p:cNvPr id="9" name="Text 7"/>
          <p:cNvSpPr/>
          <p:nvPr/>
        </p:nvSpPr>
        <p:spPr>
          <a:xfrm>
            <a:off x="6126480" y="32918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After 12 months: every 3 to 6 months</a:t>
            </a:r>
            <a:endParaRPr lang="en-US" sz="1600" dirty="0"/>
          </a:p>
        </p:txBody>
      </p:sp>
      <p:sp>
        <p:nvSpPr>
          <p:cNvPr id="10" name="Text 8"/>
          <p:cNvSpPr/>
          <p:nvPr/>
        </p:nvSpPr>
        <p:spPr>
          <a:xfrm>
            <a:off x="6126480" y="4297680"/>
            <a:ext cx="5669280" cy="10972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Restart now: DNA ≥10,000, ALT &gt;5× ULN, bilirubin &gt;2.5 mg/dL, or decompensation</a:t>
            </a:r>
            <a:endParaRPr lang="en-US" sz="17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and Table 3 (PMID 41186418).</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57: a new drug</a:t>
            </a:r>
            <a:endParaRPr lang="en-US" sz="3000" dirty="0"/>
          </a:p>
        </p:txBody>
      </p:sp>
      <p:sp>
        <p:nvSpPr>
          <p:cNvPr id="3" name="Question"/>
          <p:cNvSpPr txBox="1"/>
          <p:nvPr/>
        </p:nvSpPr>
        <p:spPr>
          <a:xfrm>
            <a:off x="365760" y="109728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he a candidate for bepirovirsen?</a:t>
            </a:r>
            <a:endParaRPr lang="en-US" sz="24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863840" cy="914400"/>
        </p:xfrm>
        <a:graphic>
          <a:graphicData uri="http://schemas.openxmlformats.org/drawingml/2006/table">
            <a:tbl>
              <a:tblPr/>
              <a:tblGrid>
                <a:gridCol w="5120640"/>
                <a:gridCol w="1938528"/>
                <a:gridCol w="804672"/>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FDA label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Adult, no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On a nucleos(t)ide analogue 6 months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TAF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suppressed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3,000 IU/mL or lower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5"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20 October 2026. Hou J et al. N Engl J Med 2026;394:2395-2406, PMID 42206582 (B-Well 1 and 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28/30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57: a new drug</a:t>
            </a:r>
            <a:endParaRPr lang="en-US" sz="3000" dirty="0"/>
          </a:p>
        </p:txBody>
      </p:sp>
      <p:sp>
        <p:nvSpPr>
          <p:cNvPr id="3" name="Question"/>
          <p:cNvSpPr txBox="1"/>
          <p:nvPr/>
        </p:nvSpPr>
        <p:spPr>
          <a:xfrm>
            <a:off x="365760" y="109728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he a candidate for bepirovirsen?</a:t>
            </a:r>
            <a:endParaRPr lang="en-US" sz="24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863840" cy="914400"/>
        </p:xfrm>
        <a:graphic>
          <a:graphicData uri="http://schemas.openxmlformats.org/drawingml/2006/table">
            <a:tbl>
              <a:tblPr/>
              <a:tblGrid>
                <a:gridCol w="5120640"/>
                <a:gridCol w="1938528"/>
                <a:gridCol w="804672"/>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FDA label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Adult, no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On a nucleos(t)ide analogue 6 months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TAF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suppressed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3,000 IU/mL or lower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5"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6" name="Question"/>
          <p:cNvSpPr txBox="1"/>
          <p:nvPr/>
        </p:nvSpPr>
        <p:spPr>
          <a:xfrm>
            <a:off x="365760" y="480060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Yes. FDA approved 20 October 2026</a:t>
            </a:r>
            <a:endParaRPr lang="en-US" sz="2400" dirty="0"/>
          </a:p>
        </p:txBody>
      </p:sp>
      <p:sp>
        <p:nvSpPr>
          <p:cNvPr id="7" name="Text 3"/>
          <p:cNvSpPr txBox="1"/>
          <p:nvPr/>
        </p:nvSpPr>
        <p:spPr>
          <a:xfrm>
            <a:off x="365760" y="5394960"/>
            <a:ext cx="7863840" cy="73152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About 1 in 5 had HBsAg loss 24 weeks after stopping all treatment; none on placebo</a:t>
            </a:r>
            <a:endParaRPr lang="en-US" sz="19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20 October 2026. Hou J et al. N Engl J Med 2026;394:2395-2406, PMID 42206582 (B-Well 1 and 2).</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28/30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he man in his fifties">    </p:cNvPr>
          <p:cNvPicPr>
            <a:picLocks noChangeAspect="1"/>
          </p:cNvPicPr>
          <p:nvPr/>
        </p:nvPicPr>
        <p:blipFill>
          <a:blip r:embed="rId1"/>
          <a:stretch>
            <a:fillRect/>
          </a:stretch>
        </p:blipFill>
        <p:spPr>
          <a:xfrm>
            <a:off x="594360" y="1143000"/>
            <a:ext cx="3291840" cy="3291840"/>
          </a:xfrm>
          <a:prstGeom prst="rect">
            <a:avLst/>
          </a:prstGeom>
        </p:spPr>
      </p:pic>
      <p:sp>
        <p:nvSpPr>
          <p:cNvPr id="4" name="Text 1"/>
          <p:cNvSpPr txBox="1"/>
          <p:nvPr/>
        </p:nvSpPr>
        <p:spPr>
          <a:xfrm>
            <a:off x="45720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Man, 34 to 57</a:t>
            </a:r>
            <a:endParaRPr lang="en-US" sz="2000" dirty="0"/>
          </a:p>
        </p:txBody>
      </p:sp>
      <p:sp>
        <p:nvSpPr>
          <p:cNvPr id="5" name="Text 2"/>
          <p:cNvSpPr txBox="1"/>
          <p:nvPr/>
        </p:nvSpPr>
        <p:spPr>
          <a:xfrm>
            <a:off x="45720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Monitor, surveillance from 41, TAF at 52. Now a candidate for bepirovirsen</a:t>
            </a:r>
            <a:endParaRPr lang="en-US" sz="1700" dirty="0"/>
          </a:p>
        </p:txBody>
      </p:sp>
      <p:pic>
        <p:nvPicPr>
          <p:cNvPr id="6" name="Image 1" descr="Watercolor of an IV bag and infusion pump">    </p:cNvPr>
          <p:cNvPicPr>
            <a:picLocks noChangeAspect="1"/>
          </p:cNvPicPr>
          <p:nvPr/>
        </p:nvPicPr>
        <p:blipFill>
          <a:blip r:embed="rId2"/>
          <a:stretch>
            <a:fillRect/>
          </a:stretch>
        </p:blipFill>
        <p:spPr>
          <a:xfrm>
            <a:off x="4434840" y="1143000"/>
            <a:ext cx="3291840" cy="3291840"/>
          </a:xfrm>
          <a:prstGeom prst="rect">
            <a:avLst/>
          </a:prstGeom>
        </p:spPr>
      </p:pic>
      <p:sp>
        <p:nvSpPr>
          <p:cNvPr id="7" name="Text 3"/>
          <p:cNvSpPr txBox="1"/>
          <p:nvPr/>
        </p:nvSpPr>
        <p:spPr>
          <a:xfrm>
            <a:off x="429768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Woman, 61, rituximab</a:t>
            </a:r>
            <a:endParaRPr lang="en-US" sz="2000" dirty="0"/>
          </a:p>
        </p:txBody>
      </p:sp>
      <p:sp>
        <p:nvSpPr>
          <p:cNvPr id="8" name="Text 4"/>
          <p:cNvSpPr txBox="1"/>
          <p:nvPr/>
        </p:nvSpPr>
        <p:spPr>
          <a:xfrm>
            <a:off x="429768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Entecavir, TDF or TAF before the first dose, 12 months after the last</a:t>
            </a:r>
            <a:endParaRPr lang="en-US" sz="1700" dirty="0"/>
          </a:p>
        </p:txBody>
      </p:sp>
      <p:pic>
        <p:nvPicPr>
          <p:cNvPr id="9" name="Image 2" descr="Watercolor of a seated pregnant woman">    </p:cNvPr>
          <p:cNvPicPr>
            <a:picLocks noChangeAspect="1"/>
          </p:cNvPicPr>
          <p:nvPr/>
        </p:nvPicPr>
        <p:blipFill>
          <a:blip r:embed="rId3"/>
          <a:stretch>
            <a:fillRect/>
          </a:stretch>
        </p:blipFill>
        <p:spPr>
          <a:xfrm>
            <a:off x="8275320" y="1143000"/>
            <a:ext cx="3291840" cy="3291840"/>
          </a:xfrm>
          <a:prstGeom prst="rect">
            <a:avLst/>
          </a:prstGeom>
        </p:spPr>
      </p:pic>
      <p:sp>
        <p:nvSpPr>
          <p:cNvPr id="10" name="Text 5"/>
          <p:cNvSpPr txBox="1"/>
          <p:nvPr/>
        </p:nvSpPr>
        <p:spPr>
          <a:xfrm>
            <a:off x="813816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Woman, 29, pregnant</a:t>
            </a:r>
            <a:endParaRPr lang="en-US" sz="2000" dirty="0"/>
          </a:p>
        </p:txBody>
      </p:sp>
      <p:sp>
        <p:nvSpPr>
          <p:cNvPr id="11" name="Text 6"/>
          <p:cNvSpPr txBox="1"/>
          <p:nvPr/>
        </p:nvSpPr>
        <p:spPr>
          <a:xfrm>
            <a:off x="813816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TDF or TAF from week 28. Vaccine and HBIG within 12 hours</a:t>
            </a:r>
            <a:endParaRPr lang="en-US" sz="17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30/30</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Renal dosing</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097280"/>
                <a:gridCol w="2258568"/>
                <a:gridCol w="2368296"/>
                <a:gridCol w="2962656"/>
                <a:gridCol w="2587752"/>
              </a:tblGrid>
              <a:tr h="822960">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Usual 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CrCl 30 to 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CrCl 10 to 29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Dialysis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Entecavir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0.5 mg daily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0.5 mg every 48 hours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0.5 mg every 72 hours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0.5 mg every 7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TDF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300 mg daily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300 mg every 48 hours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300 mg every 72 to 96 hours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300 mg every 7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TAF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25 mg daily with food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25 mg daily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25 mg daily (CrCl 15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25 mg daily, after dialysis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Doses use creatinine clearance, mL/min.</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2026-10-28T18:32:05Z</dcterms:created>
  <dcterms:modified xsi:type="dcterms:W3CDTF">2026-10-28T18:32:05Z</dcterms:modified>
</cp:coreProperties>
</file>