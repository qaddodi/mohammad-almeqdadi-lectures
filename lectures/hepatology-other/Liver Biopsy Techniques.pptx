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FCA68-6129-48EC-B315-0291C62C2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3C2AE-1E4A-4E77-8C0C-522C1E034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10031-0E22-4080-8D0B-27371EAF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C564-8252-4A3B-BE72-D4B495F193E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C2A3A-4BB7-4291-9284-7AFD9FB1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CB102-CD4C-417D-8356-7835DD47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4359-2EB4-406C-8872-16FBA8F23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16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866FA-5A3D-4EAF-9D01-883594FA5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8107-3BEF-42D0-9945-47538CDA1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B949C-445D-40D0-A20C-5303CC106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C564-8252-4A3B-BE72-D4B495F193E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01FDA-783F-4F35-9A0E-B4A9E8046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F9830-18C4-43C0-ADDE-41010178C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4359-2EB4-406C-8872-16FBA8F23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66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B868B-6A75-40E8-939C-40F7872C9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3A19E-51A6-452C-9691-751869879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81178-D672-4F4F-B2BB-BFBA296B2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C564-8252-4A3B-BE72-D4B495F193E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24994-1DA7-448A-AF7A-F9C1B4F6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ABA93-EA24-412E-8DA7-7B6DD0B33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4359-2EB4-406C-8872-16FBA8F23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89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6C0F6-31E9-491A-BB3C-0EDF7D98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EDA98-1E6C-4EAB-98EF-B6B8E32642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799C9-41AD-47CE-A919-568712D62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4AA1F-F791-44DA-8E36-00AA18A9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C564-8252-4A3B-BE72-D4B495F193E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2059E-15B1-42DF-B77D-4ECE84144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B715A-E9EA-4559-A73F-BB0EB3C39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4359-2EB4-406C-8872-16FBA8F23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2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E1FC-104C-4C5D-B0FD-CBF248F53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81E58-D7C5-4E8B-B963-2BA0AC1FF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F11CE-B8A3-4B43-9F0C-77667BAEA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AB47D-E7E7-45D2-8E7D-19F2A89CAB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EACE25-622A-471C-B057-3C92AEC6ED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9F1209-7E08-4FE7-9D9A-051662EFE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C564-8252-4A3B-BE72-D4B495F193E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01F75C-A595-4812-802C-A710502B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EE2975-6946-4335-86D7-E11E80A48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4359-2EB4-406C-8872-16FBA8F23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8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C34A7-5597-40DB-B5DC-2AFBF99E4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0CC01A-CEEC-41AF-BF24-17D731BCD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C564-8252-4A3B-BE72-D4B495F193E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08916-4152-4CAD-879D-215734F26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570B7-F861-4F19-9190-F838EB74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4359-2EB4-406C-8872-16FBA8F23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3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3CD25-DF04-4690-B963-FF24E33BF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C564-8252-4A3B-BE72-D4B495F193E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FF9FF-5E80-4085-B779-7CA54CD48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F9F0D-0B75-4D47-80C3-52FEA8279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4359-2EB4-406C-8872-16FBA8F23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46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B347E-9859-40D8-9A5E-2FF2E307D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4F64B-EA18-434E-BD89-F02424E58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1FBE8-6B0F-4580-9593-2B7979ED9E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A5A16-270B-4D0E-BAE5-01531A385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C564-8252-4A3B-BE72-D4B495F193E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1654E-85E2-49A8-B7A9-6A79FE655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F1779-6546-4CF2-BD8A-6FF655EA9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4359-2EB4-406C-8872-16FBA8F23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72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7D989-C34F-4592-87C2-337888B67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7E6438-EB58-434E-9056-0B7D255BA1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A1E2E-CCD6-47D1-ABB0-29032BFDF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9EEA3-6264-4FEF-9E08-EA0FD3B25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C564-8252-4A3B-BE72-D4B495F193E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BE908-DD93-4D05-9B6B-393A14040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8F49D-DB60-4116-9A3E-C1D1CA1D8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4359-2EB4-406C-8872-16FBA8F23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5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48443-FFFE-4F4A-B9F7-4FC50F3F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01AA7D-7B9E-439C-84D6-BEC50E207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918FC-DDCE-4DB0-95AF-153AD0E30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C564-8252-4A3B-BE72-D4B495F193E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CC49F-DFF2-4A2F-BF94-FB4770CA4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B7666-CB93-40D2-9174-D90436B7A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4359-2EB4-406C-8872-16FBA8F23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393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C90559-AA08-4B91-A6B7-6FFC2A0523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6033E-8D70-4E9C-BAF4-945849CF8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40642-F947-4113-ADAD-1D83590EF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C564-8252-4A3B-BE72-D4B495F193E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6166C-8E21-4A36-A34C-D67EC494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FB047-D3E3-4712-B71B-F0D8ACC9D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34359-2EB4-406C-8872-16FBA8F23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7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35D351-1388-451E-A910-FF004F203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5D9D8-27BD-44D3-940B-CD9842D91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647BB-B5CE-493B-9129-D4DB0046E4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AC564-8252-4A3B-BE72-D4B495F193E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9DF9D-B8AC-4669-8D03-8C344EAB0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6D6E2-8B08-4813-B18E-8BBBB9C0A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34359-2EB4-406C-8872-16FBA8F23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04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B269E3-FA7A-42F8-8D00-799946467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490012"/>
              </p:ext>
            </p:extLst>
          </p:nvPr>
        </p:nvGraphicFramePr>
        <p:xfrm>
          <a:off x="1293303" y="3316100"/>
          <a:ext cx="9605394" cy="299416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23581">
                  <a:extLst>
                    <a:ext uri="{9D8B030D-6E8A-4147-A177-3AD203B41FA5}">
                      <a16:colId xmlns:a16="http://schemas.microsoft.com/office/drawing/2014/main" val="3639754702"/>
                    </a:ext>
                  </a:extLst>
                </a:gridCol>
                <a:gridCol w="1306209">
                  <a:extLst>
                    <a:ext uri="{9D8B030D-6E8A-4147-A177-3AD203B41FA5}">
                      <a16:colId xmlns:a16="http://schemas.microsoft.com/office/drawing/2014/main" val="1688631802"/>
                    </a:ext>
                  </a:extLst>
                </a:gridCol>
                <a:gridCol w="787037">
                  <a:extLst>
                    <a:ext uri="{9D8B030D-6E8A-4147-A177-3AD203B41FA5}">
                      <a16:colId xmlns:a16="http://schemas.microsoft.com/office/drawing/2014/main" val="2043859849"/>
                    </a:ext>
                  </a:extLst>
                </a:gridCol>
                <a:gridCol w="796407">
                  <a:extLst>
                    <a:ext uri="{9D8B030D-6E8A-4147-A177-3AD203B41FA5}">
                      <a16:colId xmlns:a16="http://schemas.microsoft.com/office/drawing/2014/main" val="1593818843"/>
                    </a:ext>
                  </a:extLst>
                </a:gridCol>
                <a:gridCol w="1249692">
                  <a:extLst>
                    <a:ext uri="{9D8B030D-6E8A-4147-A177-3AD203B41FA5}">
                      <a16:colId xmlns:a16="http://schemas.microsoft.com/office/drawing/2014/main" val="2811020656"/>
                    </a:ext>
                  </a:extLst>
                </a:gridCol>
                <a:gridCol w="1024699">
                  <a:extLst>
                    <a:ext uri="{9D8B030D-6E8A-4147-A177-3AD203B41FA5}">
                      <a16:colId xmlns:a16="http://schemas.microsoft.com/office/drawing/2014/main" val="377144914"/>
                    </a:ext>
                  </a:extLst>
                </a:gridCol>
                <a:gridCol w="1452074">
                  <a:extLst>
                    <a:ext uri="{9D8B030D-6E8A-4147-A177-3AD203B41FA5}">
                      <a16:colId xmlns:a16="http://schemas.microsoft.com/office/drawing/2014/main" val="3958141543"/>
                    </a:ext>
                  </a:extLst>
                </a:gridCol>
                <a:gridCol w="2365695">
                  <a:extLst>
                    <a:ext uri="{9D8B030D-6E8A-4147-A177-3AD203B41FA5}">
                      <a16:colId xmlns:a16="http://schemas.microsoft.com/office/drawing/2014/main" val="3546889834"/>
                    </a:ext>
                  </a:extLst>
                </a:gridCol>
              </a:tblGrid>
              <a:tr h="28369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Liver Biopsy</a:t>
                      </a:r>
                    </a:p>
                  </a:txBody>
                  <a:tcPr marL="7883" marR="7883" marT="7883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Sedation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Size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Pressures</a:t>
                      </a: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Indications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Caveats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extLst>
                  <a:ext uri="{0D108BD9-81ED-4DB2-BD59-A6C34878D82A}">
                    <a16:rowId xmlns:a16="http://schemas.microsoft.com/office/drawing/2014/main" val="1132753351"/>
                  </a:ext>
                </a:extLst>
              </a:tr>
              <a:tr h="582098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IR</a:t>
                      </a: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Percutaneous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</a:t>
                      </a:r>
                    </a:p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Conscious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Adequate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Tissue sufficient for diagnosis and assessment of fibrosis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pressure measurements</a:t>
                      </a:r>
                    </a:p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discomfort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extLst>
                  <a:ext uri="{0D108BD9-81ED-4DB2-BD59-A6C34878D82A}">
                    <a16:rowId xmlns:a16="http://schemas.microsoft.com/office/drawing/2014/main" val="2497016207"/>
                  </a:ext>
                </a:extLst>
              </a:tr>
              <a:tr h="773136">
                <a:tc vMerge="1"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Transjugular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Conscious</a:t>
                      </a:r>
                    </a:p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</a:t>
                      </a:r>
                    </a:p>
                  </a:txBody>
                  <a:tcPr marL="7883" marR="7883" marT="7883" marB="0"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</a:t>
                      </a: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RHC</a:t>
                      </a:r>
                    </a:p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FHVP</a:t>
                      </a:r>
                    </a:p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WHVP</a:t>
                      </a:r>
                    </a:p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HVPG</a:t>
                      </a: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Ascites</a:t>
                      </a:r>
                    </a:p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Coagulopathy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 bleeding risk</a:t>
                      </a:r>
                    </a:p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Allow for pressure measurements</a:t>
                      </a: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Tissue sample closer to capsule may overestimate fibrosis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extLst>
                  <a:ext uri="{0D108BD9-81ED-4DB2-BD59-A6C34878D82A}">
                    <a16:rowId xmlns:a16="http://schemas.microsoft.com/office/drawing/2014/main" val="1854498911"/>
                  </a:ext>
                </a:extLst>
              </a:tr>
              <a:tr h="58209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</a:t>
                      </a: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</a:t>
                      </a:r>
                    </a:p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</a:t>
                      </a:r>
                    </a:p>
                  </a:txBody>
                  <a:tcPr marL="7883" marR="7883" marT="7883" marB="0" anchor="ctr"/>
                </a:tc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 to medium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FHVP</a:t>
                      </a:r>
                    </a:p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PVP</a:t>
                      </a:r>
                    </a:p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PPG</a:t>
                      </a: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 EGD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May not be feasible in presence of gastric varices or ascites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extLst>
                  <a:ext uri="{0D108BD9-81ED-4DB2-BD59-A6C34878D82A}">
                    <a16:rowId xmlns:a16="http://schemas.microsoft.com/office/drawing/2014/main" val="1704702859"/>
                  </a:ext>
                </a:extLst>
              </a:tr>
              <a:tr h="7731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SURG</a:t>
                      </a: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Laparoscopic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 surgery</a:t>
                      </a:r>
                    </a:p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(i.e. CCY)</a:t>
                      </a: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Large sample </a:t>
                      </a:r>
                    </a:p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 visualization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pressure measurements</a:t>
                      </a:r>
                    </a:p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Invasive</a:t>
                      </a:r>
                    </a:p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Requires surgery</a:t>
                      </a:r>
                    </a:p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Longer recovery time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883" marR="7883" marT="7883" marB="0" anchor="ctr"/>
                </a:tc>
                <a:extLst>
                  <a:ext uri="{0D108BD9-81ED-4DB2-BD59-A6C34878D82A}">
                    <a16:rowId xmlns:a16="http://schemas.microsoft.com/office/drawing/2014/main" val="137467641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723D4744-B83C-4E97-B42B-B818E5F5D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284" y="201336"/>
            <a:ext cx="5005432" cy="288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10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102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Almeqdadi, Mohammad</dc:creator>
  <cp:lastModifiedBy>Almeqdadi, Mohammad</cp:lastModifiedBy>
  <cp:revision>4</cp:revision>
  <cp:lastPrinted>2024-05-08T14:50:47Z</cp:lastPrinted>
  <dcterms:created xsi:type="dcterms:W3CDTF">2024-05-08T14:29:47Z</dcterms:created>
  <dcterms:modified xsi:type="dcterms:W3CDTF">2024-05-08T19:03:34Z</dcterms:modified>
</cp:coreProperties>
</file>