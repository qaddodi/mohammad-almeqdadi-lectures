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MOV" ContentType="video/quicktime"/>
  <Default Extension="mp4" ContentType="video/mp4"/>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11"/>
  </p:notesMasterIdLst>
  <p:sldIdLst>
    <p:sldId id="256" r:id="rId2"/>
    <p:sldId id="358" r:id="rId3"/>
    <p:sldId id="257" r:id="rId4"/>
    <p:sldId id="286" r:id="rId5"/>
    <p:sldId id="274" r:id="rId6"/>
    <p:sldId id="338" r:id="rId7"/>
    <p:sldId id="261" r:id="rId8"/>
    <p:sldId id="287" r:id="rId9"/>
    <p:sldId id="288" r:id="rId10"/>
    <p:sldId id="289" r:id="rId11"/>
    <p:sldId id="339" r:id="rId12"/>
    <p:sldId id="290" r:id="rId13"/>
    <p:sldId id="271" r:id="rId14"/>
    <p:sldId id="275" r:id="rId15"/>
    <p:sldId id="291" r:id="rId16"/>
    <p:sldId id="292" r:id="rId17"/>
    <p:sldId id="293" r:id="rId18"/>
    <p:sldId id="265" r:id="rId19"/>
    <p:sldId id="294" r:id="rId20"/>
    <p:sldId id="295" r:id="rId21"/>
    <p:sldId id="266" r:id="rId22"/>
    <p:sldId id="267" r:id="rId23"/>
    <p:sldId id="262" r:id="rId24"/>
    <p:sldId id="303" r:id="rId25"/>
    <p:sldId id="354" r:id="rId26"/>
    <p:sldId id="296" r:id="rId27"/>
    <p:sldId id="298" r:id="rId28"/>
    <p:sldId id="268" r:id="rId29"/>
    <p:sldId id="299" r:id="rId30"/>
    <p:sldId id="301" r:id="rId31"/>
    <p:sldId id="302" r:id="rId32"/>
    <p:sldId id="269" r:id="rId33"/>
    <p:sldId id="270" r:id="rId34"/>
    <p:sldId id="272" r:id="rId35"/>
    <p:sldId id="273" r:id="rId36"/>
    <p:sldId id="304" r:id="rId37"/>
    <p:sldId id="368" r:id="rId38"/>
    <p:sldId id="305" r:id="rId39"/>
    <p:sldId id="343" r:id="rId40"/>
    <p:sldId id="340" r:id="rId41"/>
    <p:sldId id="371" r:id="rId42"/>
    <p:sldId id="341" r:id="rId43"/>
    <p:sldId id="342" r:id="rId44"/>
    <p:sldId id="347" r:id="rId45"/>
    <p:sldId id="348" r:id="rId46"/>
    <p:sldId id="306" r:id="rId47"/>
    <p:sldId id="307" r:id="rId48"/>
    <p:sldId id="308" r:id="rId49"/>
    <p:sldId id="349" r:id="rId50"/>
    <p:sldId id="276" r:id="rId51"/>
    <p:sldId id="259" r:id="rId52"/>
    <p:sldId id="277" r:id="rId53"/>
    <p:sldId id="309" r:id="rId54"/>
    <p:sldId id="310" r:id="rId55"/>
    <p:sldId id="311" r:id="rId56"/>
    <p:sldId id="312" r:id="rId57"/>
    <p:sldId id="372" r:id="rId58"/>
    <p:sldId id="344" r:id="rId59"/>
    <p:sldId id="345" r:id="rId60"/>
    <p:sldId id="346" r:id="rId61"/>
    <p:sldId id="314" r:id="rId62"/>
    <p:sldId id="313" r:id="rId63"/>
    <p:sldId id="356" r:id="rId64"/>
    <p:sldId id="281" r:id="rId65"/>
    <p:sldId id="322" r:id="rId66"/>
    <p:sldId id="323" r:id="rId67"/>
    <p:sldId id="321" r:id="rId68"/>
    <p:sldId id="325" r:id="rId69"/>
    <p:sldId id="279" r:id="rId70"/>
    <p:sldId id="324" r:id="rId71"/>
    <p:sldId id="326" r:id="rId72"/>
    <p:sldId id="369" r:id="rId73"/>
    <p:sldId id="328" r:id="rId74"/>
    <p:sldId id="329" r:id="rId75"/>
    <p:sldId id="357" r:id="rId76"/>
    <p:sldId id="320" r:id="rId77"/>
    <p:sldId id="316" r:id="rId78"/>
    <p:sldId id="317" r:id="rId79"/>
    <p:sldId id="318" r:id="rId80"/>
    <p:sldId id="319" r:id="rId81"/>
    <p:sldId id="330" r:id="rId82"/>
    <p:sldId id="280" r:id="rId83"/>
    <p:sldId id="327" r:id="rId84"/>
    <p:sldId id="370" r:id="rId85"/>
    <p:sldId id="331" r:id="rId86"/>
    <p:sldId id="352" r:id="rId87"/>
    <p:sldId id="353" r:id="rId88"/>
    <p:sldId id="284" r:id="rId89"/>
    <p:sldId id="260" r:id="rId90"/>
    <p:sldId id="332" r:id="rId91"/>
    <p:sldId id="350" r:id="rId92"/>
    <p:sldId id="351" r:id="rId93"/>
    <p:sldId id="282" r:id="rId94"/>
    <p:sldId id="283" r:id="rId95"/>
    <p:sldId id="333" r:id="rId96"/>
    <p:sldId id="263" r:id="rId97"/>
    <p:sldId id="334" r:id="rId98"/>
    <p:sldId id="335" r:id="rId99"/>
    <p:sldId id="336" r:id="rId100"/>
    <p:sldId id="337" r:id="rId101"/>
    <p:sldId id="359" r:id="rId102"/>
    <p:sldId id="360" r:id="rId103"/>
    <p:sldId id="361" r:id="rId104"/>
    <p:sldId id="362" r:id="rId105"/>
    <p:sldId id="363" r:id="rId106"/>
    <p:sldId id="364" r:id="rId107"/>
    <p:sldId id="365" r:id="rId108"/>
    <p:sldId id="366" r:id="rId109"/>
    <p:sldId id="367"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D2E2B36-5B74-4961-9639-E8B528A3D688}">
          <p14:sldIdLst>
            <p14:sldId id="256"/>
            <p14:sldId id="358"/>
            <p14:sldId id="257"/>
            <p14:sldId id="286"/>
            <p14:sldId id="274"/>
            <p14:sldId id="338"/>
            <p14:sldId id="261"/>
            <p14:sldId id="287"/>
            <p14:sldId id="288"/>
            <p14:sldId id="289"/>
            <p14:sldId id="339"/>
            <p14:sldId id="290"/>
            <p14:sldId id="271"/>
            <p14:sldId id="275"/>
            <p14:sldId id="291"/>
            <p14:sldId id="292"/>
            <p14:sldId id="293"/>
            <p14:sldId id="265"/>
            <p14:sldId id="294"/>
            <p14:sldId id="295"/>
            <p14:sldId id="266"/>
            <p14:sldId id="267"/>
            <p14:sldId id="262"/>
            <p14:sldId id="303"/>
            <p14:sldId id="354"/>
            <p14:sldId id="296"/>
            <p14:sldId id="298"/>
            <p14:sldId id="268"/>
            <p14:sldId id="299"/>
            <p14:sldId id="301"/>
            <p14:sldId id="302"/>
            <p14:sldId id="269"/>
            <p14:sldId id="270"/>
            <p14:sldId id="272"/>
            <p14:sldId id="273"/>
            <p14:sldId id="304"/>
            <p14:sldId id="368"/>
            <p14:sldId id="305"/>
            <p14:sldId id="343"/>
            <p14:sldId id="340"/>
            <p14:sldId id="371"/>
            <p14:sldId id="341"/>
            <p14:sldId id="342"/>
            <p14:sldId id="347"/>
            <p14:sldId id="348"/>
            <p14:sldId id="306"/>
            <p14:sldId id="307"/>
            <p14:sldId id="308"/>
            <p14:sldId id="349"/>
            <p14:sldId id="276"/>
            <p14:sldId id="259"/>
            <p14:sldId id="277"/>
            <p14:sldId id="309"/>
            <p14:sldId id="310"/>
            <p14:sldId id="311"/>
            <p14:sldId id="312"/>
            <p14:sldId id="372"/>
            <p14:sldId id="344"/>
            <p14:sldId id="345"/>
            <p14:sldId id="346"/>
            <p14:sldId id="314"/>
            <p14:sldId id="313"/>
            <p14:sldId id="356"/>
            <p14:sldId id="281"/>
            <p14:sldId id="322"/>
            <p14:sldId id="323"/>
            <p14:sldId id="321"/>
            <p14:sldId id="325"/>
            <p14:sldId id="279"/>
            <p14:sldId id="324"/>
            <p14:sldId id="326"/>
            <p14:sldId id="369"/>
            <p14:sldId id="328"/>
            <p14:sldId id="329"/>
            <p14:sldId id="357"/>
          </p14:sldIdLst>
        </p14:section>
        <p14:section name="MRI Findings" id="{FC3D20E6-9739-42B2-8761-E02510760FAE}">
          <p14:sldIdLst>
            <p14:sldId id="320"/>
          </p14:sldIdLst>
        </p14:section>
        <p14:section name="Section 1" id="{39257411-15CE-4467-B189-7A51748A0D92}">
          <p14:sldIdLst>
            <p14:sldId id="316"/>
          </p14:sldIdLst>
        </p14:section>
        <p14:section name="Section 2" id="{347745DF-CF9C-4694-AD16-1176B285EF91}">
          <p14:sldIdLst>
            <p14:sldId id="317"/>
          </p14:sldIdLst>
        </p14:section>
        <p14:section name="Section 3" id="{20DA32A2-4509-485D-83E7-2ED1B45B9471}">
          <p14:sldIdLst>
            <p14:sldId id="318"/>
          </p14:sldIdLst>
        </p14:section>
        <p14:section name="Section 4" id="{6E58E363-8DD8-41EF-9A95-F3E3BF7FB023}">
          <p14:sldIdLst>
            <p14:sldId id="319"/>
          </p14:sldIdLst>
        </p14:section>
        <p14:section name="Default" id="{091EE5FE-126A-4CFD-ACA7-16E3EA499E65}">
          <p14:sldIdLst>
            <p14:sldId id="330"/>
            <p14:sldId id="280"/>
            <p14:sldId id="327"/>
            <p14:sldId id="370"/>
            <p14:sldId id="331"/>
            <p14:sldId id="352"/>
            <p14:sldId id="353"/>
            <p14:sldId id="284"/>
            <p14:sldId id="260"/>
            <p14:sldId id="332"/>
            <p14:sldId id="350"/>
            <p14:sldId id="351"/>
            <p14:sldId id="282"/>
            <p14:sldId id="283"/>
            <p14:sldId id="333"/>
            <p14:sldId id="263"/>
            <p14:sldId id="334"/>
            <p14:sldId id="335"/>
            <p14:sldId id="336"/>
            <p14:sldId id="337"/>
            <p14:sldId id="359"/>
            <p14:sldId id="360"/>
            <p14:sldId id="361"/>
            <p14:sldId id="362"/>
            <p14:sldId id="363"/>
            <p14:sldId id="364"/>
            <p14:sldId id="365"/>
            <p14:sldId id="366"/>
            <p14:sldId id="36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590CB"/>
    <a:srgbClr val="040404"/>
    <a:srgbClr val="43464B"/>
    <a:srgbClr val="000000"/>
    <a:srgbClr val="060C0E"/>
    <a:srgbClr val="0A0A0A"/>
    <a:srgbClr val="0F1510"/>
    <a:srgbClr val="FFF1D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457" autoAdjust="0"/>
    <p:restoredTop sz="96357" autoAdjust="0"/>
  </p:normalViewPr>
  <p:slideViewPr>
    <p:cSldViewPr snapToGrid="0">
      <p:cViewPr varScale="1">
        <p:scale>
          <a:sx n="110" d="100"/>
          <a:sy n="110" d="100"/>
        </p:scale>
        <p:origin x="948" y="9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presProps" Target="presProps.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5EABC7-B398-0243-9165-9A74C49C463C}" type="datetimeFigureOut">
              <a:rPr lang="en-US" smtClean="0"/>
              <a:t>6/12/2024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36456E7-A301-F946-9CAB-96476E1F917D}" type="slidenum">
              <a:rPr lang="en-US" smtClean="0"/>
              <a:t>‹#›</a:t>
            </a:fld>
            <a:endParaRPr lang="en-US"/>
          </a:p>
        </p:txBody>
      </p:sp>
    </p:spTree>
    <p:extLst>
      <p:ext uri="{BB962C8B-B14F-4D97-AF65-F5344CB8AC3E}">
        <p14:creationId xmlns:p14="http://schemas.microsoft.com/office/powerpoint/2010/main" val="3418773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1</a:t>
            </a:fld>
            <a:endParaRPr lang="en-US"/>
          </a:p>
        </p:txBody>
      </p:sp>
    </p:spTree>
    <p:extLst>
      <p:ext uri="{BB962C8B-B14F-4D97-AF65-F5344CB8AC3E}">
        <p14:creationId xmlns:p14="http://schemas.microsoft.com/office/powerpoint/2010/main" val="407204916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2</a:t>
            </a:fld>
            <a:endParaRPr lang="en-US"/>
          </a:p>
        </p:txBody>
      </p:sp>
    </p:spTree>
    <p:extLst>
      <p:ext uri="{BB962C8B-B14F-4D97-AF65-F5344CB8AC3E}">
        <p14:creationId xmlns:p14="http://schemas.microsoft.com/office/powerpoint/2010/main" val="30388448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5 | Post-mortem MRI and histopathology in neurological WD. MRI and histological images taken post-mortem from</a:t>
            </a:r>
          </a:p>
          <a:p>
            <a:r>
              <a:rPr lang="en-US" dirty="0"/>
              <a:t>a patient with neurological Wilson disease (WD). a | T2*-weighted post-mortem MRI acquired with a 7T scanner.</a:t>
            </a:r>
          </a:p>
          <a:p>
            <a:r>
              <a:rPr lang="en-US" dirty="0"/>
              <a:t>b | Magnification of the basal ganglia region marked by the dashed red rectangle in part a; note the shrunken and markedly</a:t>
            </a:r>
          </a:p>
          <a:p>
            <a:r>
              <a:rPr lang="en-US" dirty="0"/>
              <a:t>hypointense putamen and globus pallidus (marked by black arrowheads) surrounded by a mildly hyperintense area (marked</a:t>
            </a:r>
          </a:p>
          <a:p>
            <a:r>
              <a:rPr lang="en-US" dirty="0"/>
              <a:t>by asterisks). c | Low-power magnification of Turnbull iron staining displaying the corresponding area with MRI on image in</a:t>
            </a:r>
          </a:p>
          <a:p>
            <a:r>
              <a:rPr lang="en-US" dirty="0"/>
              <a:t>part b; increased iron staining corresponds with abnormally low MRI T2* signal in parts a and b. </a:t>
            </a:r>
            <a:r>
              <a:rPr lang="en-US" dirty="0" err="1"/>
              <a:t>d,e</a:t>
            </a:r>
            <a:r>
              <a:rPr lang="en-US" dirty="0"/>
              <a:t> | </a:t>
            </a:r>
            <a:r>
              <a:rPr lang="en-US" dirty="0" err="1"/>
              <a:t>Haematoxylin</a:t>
            </a:r>
            <a:r>
              <a:rPr lang="en-US" dirty="0"/>
              <a:t> and</a:t>
            </a:r>
          </a:p>
          <a:p>
            <a:r>
              <a:rPr lang="en-US" dirty="0"/>
              <a:t>eosin staining showing reactive astrocytes with large pale nuclei (black arrowheads) and severely damaged neurological</a:t>
            </a:r>
          </a:p>
          <a:p>
            <a:r>
              <a:rPr lang="en-US" dirty="0"/>
              <a:t>tissue with macrophages (black arrows); note that part d corresponds to the T2* hyperintense area directly adjacent to the</a:t>
            </a:r>
          </a:p>
          <a:p>
            <a:r>
              <a:rPr lang="en-US" dirty="0"/>
              <a:t>putamen whereas part e corresponds to a rarefied area in the central putamen. f | Berlin-blue staining showing iron-</a:t>
            </a:r>
          </a:p>
          <a:p>
            <a:r>
              <a:rPr lang="en-US" dirty="0"/>
              <a:t>negative (black arrows) and iron-positive (black arrowheads) macrophages. Iron is faintly present also in astrocytes (white</a:t>
            </a:r>
          </a:p>
          <a:p>
            <a:r>
              <a:rPr lang="en-US" dirty="0"/>
              <a:t>arrowhead) and as iron dust with dominant perivascular distribution (vessel marked by asterisk); this finding indicates</a:t>
            </a:r>
          </a:p>
          <a:p>
            <a:r>
              <a:rPr lang="en-US" dirty="0"/>
              <a:t>diffusely increased tissue iron deposits. g | Ferritin staining shows numerous strongly positive macrophages (black</a:t>
            </a:r>
          </a:p>
          <a:p>
            <a:r>
              <a:rPr lang="en-US" dirty="0"/>
              <a:t>arrowheads) that drive the MRI T2* signal drop. Of note, the presence of iron-laden macrophages leads to a profoundly</a:t>
            </a:r>
          </a:p>
          <a:p>
            <a:r>
              <a:rPr lang="en-US" dirty="0"/>
              <a:t>decreased T2* signal even in the putamen, with severe tissue rarefaction. Scale bars in images in parts d–g represent 50 </a:t>
            </a:r>
            <a:r>
              <a:rPr lang="en-US" dirty="0" err="1"/>
              <a:t>μm</a:t>
            </a:r>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56</a:t>
            </a:fld>
            <a:endParaRPr lang="en-US"/>
          </a:p>
        </p:txBody>
      </p:sp>
    </p:spTree>
    <p:extLst>
      <p:ext uri="{BB962C8B-B14F-4D97-AF65-F5344CB8AC3E}">
        <p14:creationId xmlns:p14="http://schemas.microsoft.com/office/powerpoint/2010/main" val="2649514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Fig. 5 | Post-mortem MRI and histopathology in neurological WD. MRI and histological images taken post-mortem from</a:t>
            </a:r>
          </a:p>
          <a:p>
            <a:r>
              <a:rPr lang="en-US" dirty="0"/>
              <a:t>a patient with neurological Wilson disease (WD). a | T2*-weighted post-mortem MRI acquired with a 7T scanner.</a:t>
            </a:r>
          </a:p>
          <a:p>
            <a:r>
              <a:rPr lang="en-US" dirty="0"/>
              <a:t>b | Magnification of the basal ganglia region marked by the dashed red rectangle in part a; note the shrunken and markedly</a:t>
            </a:r>
          </a:p>
          <a:p>
            <a:r>
              <a:rPr lang="en-US" dirty="0"/>
              <a:t>hypointense putamen and globus pallidus (marked by black arrowheads) surrounded by a mildly hyperintense area (marked</a:t>
            </a:r>
          </a:p>
          <a:p>
            <a:r>
              <a:rPr lang="en-US" dirty="0"/>
              <a:t>by asterisks). c | Low-power magnification of Turnbull iron staining displaying the corresponding area with MRI on image in</a:t>
            </a:r>
          </a:p>
          <a:p>
            <a:r>
              <a:rPr lang="en-US" dirty="0"/>
              <a:t>part b; increased iron staining corresponds with abnormally low MRI T2* signal in parts a and b. </a:t>
            </a:r>
            <a:r>
              <a:rPr lang="en-US" dirty="0" err="1"/>
              <a:t>d,e</a:t>
            </a:r>
            <a:r>
              <a:rPr lang="en-US" dirty="0"/>
              <a:t> | </a:t>
            </a:r>
            <a:r>
              <a:rPr lang="en-US" dirty="0" err="1"/>
              <a:t>Haematoxylin</a:t>
            </a:r>
            <a:r>
              <a:rPr lang="en-US" dirty="0"/>
              <a:t> and</a:t>
            </a:r>
          </a:p>
          <a:p>
            <a:r>
              <a:rPr lang="en-US" dirty="0"/>
              <a:t>eosin staining showing reactive astrocytes with large pale nuclei (black arrowheads) and severely damaged neurological</a:t>
            </a:r>
          </a:p>
          <a:p>
            <a:r>
              <a:rPr lang="en-US" dirty="0"/>
              <a:t>tissue with macrophages (black arrows); note that part d corresponds to the T2* hyperintense area directly adjacent to the</a:t>
            </a:r>
          </a:p>
          <a:p>
            <a:r>
              <a:rPr lang="en-US" dirty="0"/>
              <a:t>putamen whereas part e corresponds to a rarefied area in the central putamen. f | Berlin-blue staining showing iron-</a:t>
            </a:r>
          </a:p>
          <a:p>
            <a:r>
              <a:rPr lang="en-US" dirty="0"/>
              <a:t>negative (black arrows) and iron-positive (black arrowheads) macrophages. Iron is faintly present also in astrocytes (white</a:t>
            </a:r>
          </a:p>
          <a:p>
            <a:r>
              <a:rPr lang="en-US" dirty="0"/>
              <a:t>arrowhead) and as iron dust with dominant perivascular distribution (vessel marked by asterisk); this finding indicates</a:t>
            </a:r>
          </a:p>
          <a:p>
            <a:r>
              <a:rPr lang="en-US" dirty="0"/>
              <a:t>diffusely increased tissue iron deposits. g | Ferritin staining shows numerous strongly positive macrophages (black</a:t>
            </a:r>
          </a:p>
          <a:p>
            <a:r>
              <a:rPr lang="en-US" dirty="0"/>
              <a:t>arrowheads) that drive the MRI T2* signal drop. Of note, the presence of iron-laden macrophages leads to a profoundly</a:t>
            </a:r>
          </a:p>
          <a:p>
            <a:r>
              <a:rPr lang="en-US" dirty="0"/>
              <a:t>decreased T2* signal even in the putamen, with severe tissue rarefaction. Scale bars in images in parts d–g represent 50 </a:t>
            </a:r>
            <a:r>
              <a:rPr lang="en-US" dirty="0" err="1"/>
              <a:t>μm</a:t>
            </a:r>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57</a:t>
            </a:fld>
            <a:endParaRPr lang="en-US"/>
          </a:p>
        </p:txBody>
      </p:sp>
    </p:spTree>
    <p:extLst>
      <p:ext uri="{BB962C8B-B14F-4D97-AF65-F5344CB8AC3E}">
        <p14:creationId xmlns:p14="http://schemas.microsoft.com/office/powerpoint/2010/main" val="3467846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58</a:t>
            </a:fld>
            <a:endParaRPr lang="en-US"/>
          </a:p>
        </p:txBody>
      </p:sp>
    </p:spTree>
    <p:extLst>
      <p:ext uri="{BB962C8B-B14F-4D97-AF65-F5344CB8AC3E}">
        <p14:creationId xmlns:p14="http://schemas.microsoft.com/office/powerpoint/2010/main" val="10409428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59</a:t>
            </a:fld>
            <a:endParaRPr lang="en-US"/>
          </a:p>
        </p:txBody>
      </p:sp>
    </p:spTree>
    <p:extLst>
      <p:ext uri="{BB962C8B-B14F-4D97-AF65-F5344CB8AC3E}">
        <p14:creationId xmlns:p14="http://schemas.microsoft.com/office/powerpoint/2010/main" val="88006820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Kayser-Fleischer rings in WD. Anterior segment optical coherent tomography</a:t>
            </a:r>
          </a:p>
          <a:p>
            <a:r>
              <a:rPr lang="en-US" dirty="0"/>
              <a:t>(OCT) of the eye in healthy individuals and patients with Wilson disease (WD). In some</a:t>
            </a:r>
          </a:p>
          <a:p>
            <a:r>
              <a:rPr lang="en-US" dirty="0"/>
              <a:t>patients with WD and in healthy individuals, corneal copper deposits are not seen</a:t>
            </a:r>
          </a:p>
          <a:p>
            <a:r>
              <a:rPr lang="en-US" dirty="0"/>
              <a:t>(part a). However, in a substantial proportion of patients with WD, copper deposits can</a:t>
            </a:r>
          </a:p>
          <a:p>
            <a:r>
              <a:rPr lang="en-US" dirty="0"/>
              <a:t>be visualized by anterior segment OCT as hyper-reflective points that are discrete</a:t>
            </a:r>
          </a:p>
          <a:p>
            <a:r>
              <a:rPr lang="en-US" dirty="0"/>
              <a:t>(part b), on the superior and inferior part of the cornea (part c) or in the formation of</a:t>
            </a:r>
          </a:p>
          <a:p>
            <a:r>
              <a:rPr lang="en-US" dirty="0"/>
              <a:t>a complete Kayser-Fleischer ring (part d). Images courtesy of K. </a:t>
            </a:r>
            <a:r>
              <a:rPr lang="en-US" dirty="0" err="1"/>
              <a:t>Broniek</a:t>
            </a:r>
            <a:r>
              <a:rPr lang="en-US" dirty="0"/>
              <a:t> and J. </a:t>
            </a:r>
            <a:r>
              <a:rPr lang="en-US" dirty="0" err="1"/>
              <a:t>Szaflik</a:t>
            </a:r>
            <a:r>
              <a:rPr lang="en-US" dirty="0"/>
              <a:t>, the</a:t>
            </a:r>
          </a:p>
          <a:p>
            <a:r>
              <a:rPr lang="en-US" dirty="0"/>
              <a:t>Department of Ophthalmology, Medical University of Warsaw, Warsaw, Poland.</a:t>
            </a:r>
          </a:p>
        </p:txBody>
      </p:sp>
      <p:sp>
        <p:nvSpPr>
          <p:cNvPr id="4" name="Slide Number Placeholder 3"/>
          <p:cNvSpPr>
            <a:spLocks noGrp="1"/>
          </p:cNvSpPr>
          <p:nvPr>
            <p:ph type="sldNum" sz="quarter" idx="5"/>
          </p:nvPr>
        </p:nvSpPr>
        <p:spPr/>
        <p:txBody>
          <a:bodyPr/>
          <a:lstStyle/>
          <a:p>
            <a:fld id="{036456E7-A301-F946-9CAB-96476E1F917D}" type="slidenum">
              <a:rPr lang="en-US" smtClean="0"/>
              <a:t>68</a:t>
            </a:fld>
            <a:endParaRPr lang="en-US"/>
          </a:p>
        </p:txBody>
      </p:sp>
    </p:spTree>
    <p:extLst>
      <p:ext uri="{BB962C8B-B14F-4D97-AF65-F5344CB8AC3E}">
        <p14:creationId xmlns:p14="http://schemas.microsoft.com/office/powerpoint/2010/main" val="29876735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71</a:t>
            </a:fld>
            <a:endParaRPr lang="en-US"/>
          </a:p>
        </p:txBody>
      </p:sp>
    </p:spTree>
    <p:extLst>
      <p:ext uri="{BB962C8B-B14F-4D97-AF65-F5344CB8AC3E}">
        <p14:creationId xmlns:p14="http://schemas.microsoft.com/office/powerpoint/2010/main" val="26372011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72</a:t>
            </a:fld>
            <a:endParaRPr lang="en-US"/>
          </a:p>
        </p:txBody>
      </p:sp>
    </p:spTree>
    <p:extLst>
      <p:ext uri="{BB962C8B-B14F-4D97-AF65-F5344CB8AC3E}">
        <p14:creationId xmlns:p14="http://schemas.microsoft.com/office/powerpoint/2010/main" val="11437220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Brain MRI changes in WD. Usual abnormalities in brain MRI in patients with Wilson disease (WD) include</a:t>
            </a:r>
          </a:p>
          <a:p>
            <a:r>
              <a:rPr lang="en-US" dirty="0"/>
              <a:t>symmetric hyperintense changes visualized in T2-weighted images of the basal ganglia, particularly the putamen</a:t>
            </a:r>
          </a:p>
          <a:p>
            <a:r>
              <a:rPr lang="en-US" dirty="0"/>
              <a:t>(blue arrow), caudate nuclei (orange arrow), thalami (pink arrow) and </a:t>
            </a:r>
            <a:r>
              <a:rPr lang="en-US" dirty="0" err="1"/>
              <a:t>globi</a:t>
            </a:r>
            <a:r>
              <a:rPr lang="en-US" dirty="0"/>
              <a:t> </a:t>
            </a:r>
            <a:r>
              <a:rPr lang="en-US" dirty="0" err="1"/>
              <a:t>pallidi</a:t>
            </a:r>
            <a:r>
              <a:rPr lang="en-US" dirty="0"/>
              <a:t> (green arrow) (part a). </a:t>
            </a:r>
          </a:p>
          <a:p>
            <a:r>
              <a:rPr lang="en-US" dirty="0"/>
              <a:t>In more </a:t>
            </a:r>
            <a:r>
              <a:rPr lang="en-US" dirty="0" err="1"/>
              <a:t>advancedcases</a:t>
            </a:r>
            <a:r>
              <a:rPr lang="en-US" dirty="0"/>
              <a:t>, severe tissue damage can be visualized in T1-weighted images as </a:t>
            </a:r>
            <a:r>
              <a:rPr lang="en-US" dirty="0" err="1"/>
              <a:t>hypointensity</a:t>
            </a:r>
            <a:r>
              <a:rPr lang="en-US" dirty="0"/>
              <a:t> in the putamen (part a, blue arrow;</a:t>
            </a:r>
          </a:p>
          <a:p>
            <a:r>
              <a:rPr lang="en-US" dirty="0"/>
              <a:t>part b, orange arrows). </a:t>
            </a:r>
          </a:p>
          <a:p>
            <a:r>
              <a:rPr lang="en-US" dirty="0"/>
              <a:t>The most spectacular changes observed in WD are described as the ‘</a:t>
            </a:r>
            <a:r>
              <a:rPr lang="en-US" b="1" dirty="0"/>
              <a:t>face of the giant panda</a:t>
            </a:r>
            <a:r>
              <a:rPr lang="en-US" dirty="0"/>
              <a:t>’ in the</a:t>
            </a:r>
          </a:p>
          <a:p>
            <a:r>
              <a:rPr lang="en-US" dirty="0"/>
              <a:t>midbrain (part c, orange arrow). </a:t>
            </a:r>
          </a:p>
          <a:p>
            <a:r>
              <a:rPr lang="en-US" dirty="0"/>
              <a:t>Another common MRI abnormality is increased T2 signal along the </a:t>
            </a:r>
            <a:r>
              <a:rPr lang="en-US" dirty="0" err="1"/>
              <a:t>dentato</a:t>
            </a:r>
            <a:r>
              <a:rPr lang="en-US" dirty="0"/>
              <a:t>-</a:t>
            </a:r>
            <a:r>
              <a:rPr lang="en-US" dirty="0" err="1"/>
              <a:t>rubro</a:t>
            </a:r>
            <a:r>
              <a:rPr lang="en-US" dirty="0"/>
              <a:t>-thalamic</a:t>
            </a:r>
          </a:p>
          <a:p>
            <a:r>
              <a:rPr lang="en-US" dirty="0"/>
              <a:t>pathway (part d, orange arrow), which is a major efferent pathway from the cerebellum involved in movement disorder</a:t>
            </a:r>
          </a:p>
          <a:p>
            <a:r>
              <a:rPr lang="en-US" dirty="0"/>
              <a:t>symptoms, including ataxia, tremor and dystonia. In severe neurological WD, diffuse brain atrophy (part e) may be seen in</a:t>
            </a:r>
          </a:p>
          <a:p>
            <a:r>
              <a:rPr lang="en-US" dirty="0"/>
              <a:t>the midbrain (orange arrow) and cortex (blue arrow). In brain MRI scans from a 21-year-old male with severe liver failure</a:t>
            </a:r>
          </a:p>
          <a:p>
            <a:r>
              <a:rPr lang="en-US" dirty="0"/>
              <a:t>and discrete neurological signs, hyperintense changes in putamina can be visualized in T2-weighted images, which is</a:t>
            </a:r>
          </a:p>
          <a:p>
            <a:r>
              <a:rPr lang="en-US" dirty="0"/>
              <a:t>characteristic of early stages of brain involvement (part f, orange arrow). Hyperintense changes in the </a:t>
            </a:r>
            <a:r>
              <a:rPr lang="en-US" dirty="0" err="1"/>
              <a:t>globi</a:t>
            </a:r>
            <a:r>
              <a:rPr lang="en-US" dirty="0"/>
              <a:t> </a:t>
            </a:r>
            <a:r>
              <a:rPr lang="en-US" dirty="0" err="1"/>
              <a:t>palidi</a:t>
            </a:r>
            <a:r>
              <a:rPr lang="en-US" dirty="0"/>
              <a:t> in</a:t>
            </a:r>
          </a:p>
          <a:p>
            <a:r>
              <a:rPr lang="en-US" dirty="0"/>
              <a:t>T1-weighted images in the same patient are presumably due to manganese accumulation, which is characteristic of</a:t>
            </a:r>
          </a:p>
          <a:p>
            <a:r>
              <a:rPr lang="en-US" dirty="0"/>
              <a:t>hepatic encephalopathy (part g, orange arrow). Very rarely, diffuse white matter changes in both brain hemispheres are</a:t>
            </a:r>
          </a:p>
          <a:p>
            <a:r>
              <a:rPr lang="en-US" dirty="0"/>
              <a:t>observed with preservation of the cortex, probably due to myelin destruction (part h, orange arrow).</a:t>
            </a:r>
          </a:p>
        </p:txBody>
      </p:sp>
      <p:sp>
        <p:nvSpPr>
          <p:cNvPr id="4" name="Slide Number Placeholder 3"/>
          <p:cNvSpPr>
            <a:spLocks noGrp="1"/>
          </p:cNvSpPr>
          <p:nvPr>
            <p:ph type="sldNum" sz="quarter" idx="5"/>
          </p:nvPr>
        </p:nvSpPr>
        <p:spPr/>
        <p:txBody>
          <a:bodyPr/>
          <a:lstStyle/>
          <a:p>
            <a:fld id="{036456E7-A301-F946-9CAB-96476E1F917D}" type="slidenum">
              <a:rPr lang="en-US" smtClean="0"/>
              <a:t>76</a:t>
            </a:fld>
            <a:endParaRPr lang="en-US"/>
          </a:p>
        </p:txBody>
      </p:sp>
    </p:spTree>
    <p:extLst>
      <p:ext uri="{BB962C8B-B14F-4D97-AF65-F5344CB8AC3E}">
        <p14:creationId xmlns:p14="http://schemas.microsoft.com/office/powerpoint/2010/main" val="114473373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36456E7-A301-F946-9CAB-96476E1F917D}" type="slidenum">
              <a:rPr lang="en-US" smtClean="0"/>
              <a:t>100</a:t>
            </a:fld>
            <a:endParaRPr lang="en-US"/>
          </a:p>
        </p:txBody>
      </p:sp>
    </p:spTree>
    <p:extLst>
      <p:ext uri="{BB962C8B-B14F-4D97-AF65-F5344CB8AC3E}">
        <p14:creationId xmlns:p14="http://schemas.microsoft.com/office/powerpoint/2010/main" val="41008956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9ADB75-2416-52BC-776F-6A66713B616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7C8984-BE37-A792-BC9C-E0BBF7B688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B272A1AF-275E-BC0C-4104-4E7E3A079A9F}"/>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5" name="Footer Placeholder 4">
            <a:extLst>
              <a:ext uri="{FF2B5EF4-FFF2-40B4-BE49-F238E27FC236}">
                <a16:creationId xmlns:a16="http://schemas.microsoft.com/office/drawing/2014/main" id="{90B12734-9A2F-4757-A558-91B9CAACF4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E67250B-21E0-44FF-91ED-7E20B799694C}"/>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4957281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BC3D8-5897-C849-6AC9-65C46786577F}"/>
              </a:ext>
            </a:extLst>
          </p:cNvPr>
          <p:cNvSpPr>
            <a:spLocks noGrp="1"/>
          </p:cNvSpPr>
          <p:nvPr>
            <p:ph type="title"/>
          </p:nvPr>
        </p:nvSpPr>
        <p:spPr>
          <a:xfrm>
            <a:off x="469900" y="133867"/>
            <a:ext cx="11252200" cy="1313001"/>
          </a:xfrm>
        </p:spPr>
        <p:txBody>
          <a:bodyPr/>
          <a:lstStyle>
            <a:lvl1pPr algn="ctr">
              <a:defRPr/>
            </a:lvl1pPr>
          </a:lstStyle>
          <a:p>
            <a:r>
              <a:rPr lang="en-US"/>
              <a:t>Click to edit Master title style</a:t>
            </a:r>
          </a:p>
        </p:txBody>
      </p:sp>
      <p:sp>
        <p:nvSpPr>
          <p:cNvPr id="3" name="Content Placeholder 2">
            <a:extLst>
              <a:ext uri="{FF2B5EF4-FFF2-40B4-BE49-F238E27FC236}">
                <a16:creationId xmlns:a16="http://schemas.microsoft.com/office/drawing/2014/main" id="{8FFEA73B-0779-A8E1-0530-9D4E5A224A7E}"/>
              </a:ext>
            </a:extLst>
          </p:cNvPr>
          <p:cNvSpPr>
            <a:spLocks noGrp="1"/>
          </p:cNvSpPr>
          <p:nvPr>
            <p:ph idx="1"/>
          </p:nvPr>
        </p:nvSpPr>
        <p:spPr>
          <a:xfrm>
            <a:off x="469900" y="1600200"/>
            <a:ext cx="11252200" cy="44674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E26E8DC-5C4B-5DA8-AA2C-75A9E23AB53D}"/>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5" name="Footer Placeholder 4">
            <a:extLst>
              <a:ext uri="{FF2B5EF4-FFF2-40B4-BE49-F238E27FC236}">
                <a16:creationId xmlns:a16="http://schemas.microsoft.com/office/drawing/2014/main" id="{ABB04266-9228-D49C-3965-CC941FD2C1E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2009AD-EFCE-B11F-35BA-AB4294B8553F}"/>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5343704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0ACA83-5BCC-2183-C85B-73F886C5573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36115BF-1CA7-F610-6081-622814DA4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41717CC-66AD-B905-1BC7-A89626BB0E2F}"/>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5" name="Footer Placeholder 4">
            <a:extLst>
              <a:ext uri="{FF2B5EF4-FFF2-40B4-BE49-F238E27FC236}">
                <a16:creationId xmlns:a16="http://schemas.microsoft.com/office/drawing/2014/main" id="{6F4FFDC7-B1A1-DF0A-5849-33D22F794F7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D56DC0-BA5E-F441-A8A0-54791444F1F2}"/>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20079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9C0B52-B3A1-DCC9-E38D-DB4571B2472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13EE2BF-03EA-C42D-8C1A-07963C8FB68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83F7821-FD34-2661-C5BD-D851D7FFBDB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52D6B1C-AF63-EB01-9C3A-B1C800C78B6A}"/>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6" name="Footer Placeholder 5">
            <a:extLst>
              <a:ext uri="{FF2B5EF4-FFF2-40B4-BE49-F238E27FC236}">
                <a16:creationId xmlns:a16="http://schemas.microsoft.com/office/drawing/2014/main" id="{0D9BFD3C-1FFF-BA5F-03CB-85E98334481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5FF61FD-6E54-DAEA-4ECF-1F96EA089DF9}"/>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8755077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FEB5E-4B6E-33AB-DC18-77F050CA56E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845A205-AEDA-9DAE-66FD-A3E366D818F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1FB364B-8EC4-E124-9EFF-F9CBCE518B7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E129AB69-655C-4D61-5726-C35DD29EC2F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0D86199-8670-E76D-DA2D-2F7D3F728F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714580E-14DE-0A02-68B8-717074DAFAE5}"/>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8" name="Footer Placeholder 7">
            <a:extLst>
              <a:ext uri="{FF2B5EF4-FFF2-40B4-BE49-F238E27FC236}">
                <a16:creationId xmlns:a16="http://schemas.microsoft.com/office/drawing/2014/main" id="{E55A0E16-8E81-1EF8-DD82-FBCD57B613B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8B0D4CA-4ED2-1BDE-2C08-98E2AA4A3B43}"/>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6381347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3ACF1-317D-BD09-69BE-80181A81D03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3181B1E-5E56-66CA-7E61-14D49AA0DD68}"/>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4" name="Footer Placeholder 3">
            <a:extLst>
              <a:ext uri="{FF2B5EF4-FFF2-40B4-BE49-F238E27FC236}">
                <a16:creationId xmlns:a16="http://schemas.microsoft.com/office/drawing/2014/main" id="{FB5C3DEF-E5E6-9CEC-07EE-1FDCC81CC44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72F1ED1-A06D-3BC7-B938-9F9BF7E08B54}"/>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4503443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206C2B5-E2B8-83B1-7B34-B9F4F59163C1}"/>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3" name="Footer Placeholder 2">
            <a:extLst>
              <a:ext uri="{FF2B5EF4-FFF2-40B4-BE49-F238E27FC236}">
                <a16:creationId xmlns:a16="http://schemas.microsoft.com/office/drawing/2014/main" id="{06383C69-AAC9-76D8-230C-3BC778155D8D}"/>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DEDD47F1-74CF-14D7-B55E-40685AC30CC3}"/>
              </a:ext>
            </a:extLst>
          </p:cNvPr>
          <p:cNvSpPr>
            <a:spLocks noGrp="1"/>
          </p:cNvSpPr>
          <p:nvPr>
            <p:ph type="sldNum" sz="quarter" idx="12"/>
          </p:nvPr>
        </p:nvSpPr>
        <p:spPr/>
        <p:txBody>
          <a:bodyPr/>
          <a:lstStyle/>
          <a:p>
            <a:fld id="{D2A3FC25-4BC8-DA42-9AF4-B637C2B81616}" type="slidenum">
              <a:rPr lang="en-US" smtClean="0"/>
              <a:t>‹#›</a:t>
            </a:fld>
            <a:endParaRPr lang="en-US" dirty="0"/>
          </a:p>
        </p:txBody>
      </p:sp>
    </p:spTree>
    <p:extLst>
      <p:ext uri="{BB962C8B-B14F-4D97-AF65-F5344CB8AC3E}">
        <p14:creationId xmlns:p14="http://schemas.microsoft.com/office/powerpoint/2010/main" val="14465092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B1CAC6-1299-1AA8-2DF4-790466500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3DB3F11-BEAB-57FB-611B-D447BE7BFE9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93E66DF-C914-ACB6-0764-5BD24480984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B51E91C-A8B9-EF51-3B50-0872FBFFB631}"/>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6" name="Footer Placeholder 5">
            <a:extLst>
              <a:ext uri="{FF2B5EF4-FFF2-40B4-BE49-F238E27FC236}">
                <a16:creationId xmlns:a16="http://schemas.microsoft.com/office/drawing/2014/main" id="{50EFF38B-FE4D-1871-21F1-7BA7EE8AE93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3B7F29-5604-A1DC-4B44-19272C295EF5}"/>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833786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CB5A02-B6C2-C5D3-F21F-E6954C3B48D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1535BB1-0978-03E3-36E0-1E37C368BAF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E43E6D5-9CE4-6FFA-2DED-FAC9125F357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B8BBB58-7E74-3ADF-5077-57AD38C48A83}"/>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6" name="Footer Placeholder 5">
            <a:extLst>
              <a:ext uri="{FF2B5EF4-FFF2-40B4-BE49-F238E27FC236}">
                <a16:creationId xmlns:a16="http://schemas.microsoft.com/office/drawing/2014/main" id="{D97DEF79-56FE-3229-0656-41ADA41C27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92752A0-C9E8-9030-93E7-2F426D0876B7}"/>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17789980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EE7A53-701B-193F-8B71-F27184E6640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0C190BC-CFA5-5DFD-6C37-D963CD44C6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DFA9ABD-3FFA-C31F-165A-D1240E1A051F}"/>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5" name="Footer Placeholder 4">
            <a:extLst>
              <a:ext uri="{FF2B5EF4-FFF2-40B4-BE49-F238E27FC236}">
                <a16:creationId xmlns:a16="http://schemas.microsoft.com/office/drawing/2014/main" id="{D5F55C21-4F88-E9D5-4168-9BE2DAF6572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9AFE34A-C40E-D640-397C-97B491811974}"/>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2708957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A8027B1-482D-A181-071C-388FE5997C3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9C07900-D77F-971A-6263-75A67598DE0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EEC91D3-5A35-9145-7FAD-9E55927E6868}"/>
              </a:ext>
            </a:extLst>
          </p:cNvPr>
          <p:cNvSpPr>
            <a:spLocks noGrp="1"/>
          </p:cNvSpPr>
          <p:nvPr>
            <p:ph type="dt" sz="half" idx="10"/>
          </p:nvPr>
        </p:nvSpPr>
        <p:spPr/>
        <p:txBody>
          <a:bodyPr/>
          <a:lstStyle/>
          <a:p>
            <a:fld id="{DCFBE61C-B8AF-CE49-8AFC-F17F7DC05112}" type="datetimeFigureOut">
              <a:rPr lang="en-US" smtClean="0"/>
              <a:t>6/12/2024</a:t>
            </a:fld>
            <a:endParaRPr lang="en-US"/>
          </a:p>
        </p:txBody>
      </p:sp>
      <p:sp>
        <p:nvSpPr>
          <p:cNvPr id="5" name="Footer Placeholder 4">
            <a:extLst>
              <a:ext uri="{FF2B5EF4-FFF2-40B4-BE49-F238E27FC236}">
                <a16:creationId xmlns:a16="http://schemas.microsoft.com/office/drawing/2014/main" id="{E3C265DF-47DD-A95B-F429-A2107BF260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244BD53-8103-4FF9-A4EE-C6330CC55A72}"/>
              </a:ext>
            </a:extLst>
          </p:cNvPr>
          <p:cNvSpPr>
            <a:spLocks noGrp="1"/>
          </p:cNvSpPr>
          <p:nvPr>
            <p:ph type="sldNum" sz="quarter" idx="12"/>
          </p:nvPr>
        </p:nvSpPr>
        <p:spPr/>
        <p:txBody>
          <a:bodyPr/>
          <a:lstStyle/>
          <a:p>
            <a:fld id="{D2A3FC25-4BC8-DA42-9AF4-B637C2B81616}" type="slidenum">
              <a:rPr lang="en-US" smtClean="0"/>
              <a:t>‹#›</a:t>
            </a:fld>
            <a:endParaRPr lang="en-US"/>
          </a:p>
        </p:txBody>
      </p:sp>
    </p:spTree>
    <p:extLst>
      <p:ext uri="{BB962C8B-B14F-4D97-AF65-F5344CB8AC3E}">
        <p14:creationId xmlns:p14="http://schemas.microsoft.com/office/powerpoint/2010/main" val="4363284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5EC51C1-0C7C-16B6-1118-8FD761038AEF}"/>
              </a:ext>
            </a:extLst>
          </p:cNvPr>
          <p:cNvSpPr>
            <a:spLocks noGrp="1"/>
          </p:cNvSpPr>
          <p:nvPr>
            <p:ph type="title"/>
          </p:nvPr>
        </p:nvSpPr>
        <p:spPr>
          <a:xfrm>
            <a:off x="215348" y="133867"/>
            <a:ext cx="11761304" cy="1313001"/>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FAA5382-8511-6CE9-6D4F-16D73E2C36EF}"/>
              </a:ext>
            </a:extLst>
          </p:cNvPr>
          <p:cNvSpPr>
            <a:spLocks noGrp="1"/>
          </p:cNvSpPr>
          <p:nvPr>
            <p:ph type="body" idx="1"/>
          </p:nvPr>
        </p:nvSpPr>
        <p:spPr>
          <a:xfrm>
            <a:off x="215348" y="1600200"/>
            <a:ext cx="11761304" cy="44674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B654CA-2ED1-176D-0016-AE0C79D7E877}"/>
              </a:ext>
            </a:extLst>
          </p:cNvPr>
          <p:cNvSpPr>
            <a:spLocks noGrp="1"/>
          </p:cNvSpPr>
          <p:nvPr>
            <p:ph type="dt" sz="half" idx="2"/>
          </p:nvPr>
        </p:nvSpPr>
        <p:spPr>
          <a:xfrm>
            <a:off x="675717" y="6250479"/>
            <a:ext cx="3068166" cy="361665"/>
          </a:xfrm>
          <a:prstGeom prst="rect">
            <a:avLst/>
          </a:prstGeom>
        </p:spPr>
        <p:txBody>
          <a:bodyPr vert="horz" lIns="91440" tIns="45720" rIns="91440" bIns="45720" rtlCol="0" anchor="ctr"/>
          <a:lstStyle>
            <a:lvl1pPr algn="l">
              <a:defRPr sz="1200">
                <a:solidFill>
                  <a:schemeClr val="tx1">
                    <a:tint val="82000"/>
                  </a:schemeClr>
                </a:solidFill>
                <a:latin typeface="Georgia" panose="02040502050405020303" pitchFamily="18" charset="0"/>
              </a:defRPr>
            </a:lvl1pPr>
          </a:lstStyle>
          <a:p>
            <a:fld id="{DCFBE61C-B8AF-CE49-8AFC-F17F7DC05112}" type="datetimeFigureOut">
              <a:rPr lang="en-US" smtClean="0"/>
              <a:pPr/>
              <a:t>6/12/2024</a:t>
            </a:fld>
            <a:endParaRPr lang="en-US"/>
          </a:p>
        </p:txBody>
      </p:sp>
      <p:sp>
        <p:nvSpPr>
          <p:cNvPr id="5" name="Footer Placeholder 4">
            <a:extLst>
              <a:ext uri="{FF2B5EF4-FFF2-40B4-BE49-F238E27FC236}">
                <a16:creationId xmlns:a16="http://schemas.microsoft.com/office/drawing/2014/main" id="{7538D2AF-1902-F572-3FAD-BCA088519565}"/>
              </a:ext>
            </a:extLst>
          </p:cNvPr>
          <p:cNvSpPr>
            <a:spLocks noGrp="1"/>
          </p:cNvSpPr>
          <p:nvPr>
            <p:ph type="ftr" sz="quarter" idx="3"/>
          </p:nvPr>
        </p:nvSpPr>
        <p:spPr>
          <a:xfrm>
            <a:off x="3794875" y="6250479"/>
            <a:ext cx="4602250" cy="361665"/>
          </a:xfrm>
          <a:prstGeom prst="rect">
            <a:avLst/>
          </a:prstGeom>
        </p:spPr>
        <p:txBody>
          <a:bodyPr vert="horz" lIns="91440" tIns="45720" rIns="91440" bIns="45720" rtlCol="0" anchor="ctr"/>
          <a:lstStyle>
            <a:lvl1pPr algn="ctr">
              <a:defRPr sz="1200">
                <a:solidFill>
                  <a:schemeClr val="tx1">
                    <a:tint val="82000"/>
                  </a:schemeClr>
                </a:solidFill>
                <a:latin typeface="Georgia" panose="02040502050405020303" pitchFamily="18" charset="0"/>
              </a:defRPr>
            </a:lvl1pPr>
          </a:lstStyle>
          <a:p>
            <a:endParaRPr lang="en-US"/>
          </a:p>
        </p:txBody>
      </p:sp>
      <p:sp>
        <p:nvSpPr>
          <p:cNvPr id="6" name="Slide Number Placeholder 5">
            <a:extLst>
              <a:ext uri="{FF2B5EF4-FFF2-40B4-BE49-F238E27FC236}">
                <a16:creationId xmlns:a16="http://schemas.microsoft.com/office/drawing/2014/main" id="{FE545316-B654-7ECF-D09E-57371A65EE61}"/>
              </a:ext>
            </a:extLst>
          </p:cNvPr>
          <p:cNvSpPr>
            <a:spLocks noGrp="1"/>
          </p:cNvSpPr>
          <p:nvPr>
            <p:ph type="sldNum" sz="quarter" idx="4"/>
          </p:nvPr>
        </p:nvSpPr>
        <p:spPr>
          <a:xfrm>
            <a:off x="8448117" y="6250479"/>
            <a:ext cx="3068166" cy="361665"/>
          </a:xfrm>
          <a:prstGeom prst="rect">
            <a:avLst/>
          </a:prstGeom>
        </p:spPr>
        <p:txBody>
          <a:bodyPr vert="horz" lIns="91440" tIns="45720" rIns="91440" bIns="45720" rtlCol="0" anchor="ctr"/>
          <a:lstStyle>
            <a:lvl1pPr algn="r">
              <a:defRPr sz="1200">
                <a:solidFill>
                  <a:schemeClr val="tx1">
                    <a:tint val="82000"/>
                  </a:schemeClr>
                </a:solidFill>
                <a:latin typeface="Georgia" panose="02040502050405020303" pitchFamily="18" charset="0"/>
              </a:defRPr>
            </a:lvl1pPr>
          </a:lstStyle>
          <a:p>
            <a:fld id="{D2A3FC25-4BC8-DA42-9AF4-B637C2B81616}" type="slidenum">
              <a:rPr lang="en-US" smtClean="0"/>
              <a:pPr/>
              <a:t>‹#›</a:t>
            </a:fld>
            <a:endParaRPr lang="en-US"/>
          </a:p>
        </p:txBody>
      </p:sp>
    </p:spTree>
    <p:extLst>
      <p:ext uri="{BB962C8B-B14F-4D97-AF65-F5344CB8AC3E}">
        <p14:creationId xmlns:p14="http://schemas.microsoft.com/office/powerpoint/2010/main" val="116148272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lnSpc>
          <a:spcPct val="90000"/>
        </a:lnSpc>
        <a:spcBef>
          <a:spcPct val="0"/>
        </a:spcBef>
        <a:buNone/>
        <a:defRPr sz="4400" kern="1200">
          <a:solidFill>
            <a:schemeClr val="tx1"/>
          </a:solidFill>
          <a:latin typeface="Georgia" panose="02040502050405020303" pitchFamily="18"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Georgia" panose="02040502050405020303" pitchFamily="18"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Georgia" panose="02040502050405020303" pitchFamily="18"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Georgia" panose="02040502050405020303" pitchFamily="18"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Georgia" panose="02040502050405020303"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jpeg"/><Relationship Id="rId3" Type="http://schemas.openxmlformats.org/officeDocument/2006/relationships/image" Target="../media/image1.png"/><Relationship Id="rId7" Type="http://schemas.openxmlformats.org/officeDocument/2006/relationships/image" Target="../media/image4.emf"/><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microsoft.com/office/2007/relationships/hdphoto" Target="../media/hdphoto1.wdp"/><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jp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16.gi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4" Type="http://schemas.openxmlformats.org/officeDocument/2006/relationships/image" Target="../media/image1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22.png"/><Relationship Id="rId1" Type="http://schemas.openxmlformats.org/officeDocument/2006/relationships/slideLayout" Target="../slideLayouts/slideLayout3.xml"/><Relationship Id="rId4" Type="http://schemas.openxmlformats.org/officeDocument/2006/relationships/image" Target="../media/image24.png"/></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image" Target="../media/image27.jpg"/><Relationship Id="rId1" Type="http://schemas.openxmlformats.org/officeDocument/2006/relationships/slideLayout" Target="../slideLayouts/slideLayout7.xml"/><Relationship Id="rId4" Type="http://schemas.openxmlformats.org/officeDocument/2006/relationships/image" Target="../media/image29.png"/></Relationships>
</file>

<file path=ppt/slides/_rels/slide3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40.jp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53.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5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7.png"/></Relationships>
</file>

<file path=ppt/slides/_rels/slide5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1.jp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microsoft.com/office/2007/relationships/media" Target="../media/media3.mp4"/><Relationship Id="rId7" Type="http://schemas.openxmlformats.org/officeDocument/2006/relationships/image" Target="../media/image53.png"/><Relationship Id="rId2" Type="http://schemas.openxmlformats.org/officeDocument/2006/relationships/video" Target="../media/media2.MOV"/><Relationship Id="rId1" Type="http://schemas.microsoft.com/office/2007/relationships/media" Target="../media/media2.MOV"/><Relationship Id="rId6" Type="http://schemas.openxmlformats.org/officeDocument/2006/relationships/image" Target="../media/image52.png"/><Relationship Id="rId5" Type="http://schemas.openxmlformats.org/officeDocument/2006/relationships/slideLayout" Target="../slideLayouts/slideLayout7.xml"/><Relationship Id="rId4" Type="http://schemas.openxmlformats.org/officeDocument/2006/relationships/video" Target="../media/media3.mp4"/></Relationships>
</file>

<file path=ppt/slides/_rels/slide65.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72.xml.rels><?xml version="1.0" encoding="UTF-8" standalone="yes"?>
<Relationships xmlns="http://schemas.openxmlformats.org/package/2006/relationships"><Relationship Id="rId3" Type="http://schemas.openxmlformats.org/officeDocument/2006/relationships/image" Target="../media/image58.jpeg"/><Relationship Id="rId2" Type="http://schemas.openxmlformats.org/officeDocument/2006/relationships/notesSlide" Target="../notesSlides/notesSlide9.xml"/><Relationship Id="rId1" Type="http://schemas.openxmlformats.org/officeDocument/2006/relationships/slideLayout" Target="../slideLayouts/slideLayout9.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8" Type="http://schemas.openxmlformats.org/officeDocument/2006/relationships/slide" Target="slide78.xml"/><Relationship Id="rId3" Type="http://schemas.openxmlformats.org/officeDocument/2006/relationships/image" Target="../media/image61.png"/><Relationship Id="rId7" Type="http://schemas.openxmlformats.org/officeDocument/2006/relationships/slide" Target="slide77.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64.png"/><Relationship Id="rId5" Type="http://schemas.openxmlformats.org/officeDocument/2006/relationships/image" Target="../media/image63.png"/><Relationship Id="rId10" Type="http://schemas.openxmlformats.org/officeDocument/2006/relationships/slide" Target="slide80.xml"/><Relationship Id="rId4" Type="http://schemas.openxmlformats.org/officeDocument/2006/relationships/image" Target="../media/image62.png"/><Relationship Id="rId9" Type="http://schemas.openxmlformats.org/officeDocument/2006/relationships/slide" Target="slide79.xml"/></Relationships>
</file>

<file path=ppt/slides/_rels/slide7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7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7.xml"/><Relationship Id="rId4"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4" Type="http://schemas.openxmlformats.org/officeDocument/2006/relationships/image" Target="../media/image7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4" Type="http://schemas.openxmlformats.org/officeDocument/2006/relationships/image" Target="../media/image80.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 Id="rId5" Type="http://schemas.openxmlformats.org/officeDocument/2006/relationships/image" Target="../media/image85.png"/><Relationship Id="rId4" Type="http://schemas.openxmlformats.org/officeDocument/2006/relationships/image" Target="../media/image84.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86.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A0405349-0B35-41BE-87DD-E10B9C40B316}"/>
              </a:ext>
            </a:extLst>
          </p:cNvPr>
          <p:cNvPicPr>
            <a:picLocks noChangeAspect="1"/>
          </p:cNvPicPr>
          <p:nvPr/>
        </p:nvPicPr>
        <p:blipFill>
          <a:blip r:embed="rId3"/>
          <a:stretch>
            <a:fillRect/>
          </a:stretch>
        </p:blipFill>
        <p:spPr>
          <a:xfrm>
            <a:off x="7748913" y="0"/>
            <a:ext cx="2932407" cy="3518890"/>
          </a:xfrm>
          <a:prstGeom prst="rect">
            <a:avLst/>
          </a:prstGeom>
        </p:spPr>
      </p:pic>
      <p:pic>
        <p:nvPicPr>
          <p:cNvPr id="11" name="Picture 10">
            <a:extLst>
              <a:ext uri="{FF2B5EF4-FFF2-40B4-BE49-F238E27FC236}">
                <a16:creationId xmlns:a16="http://schemas.microsoft.com/office/drawing/2014/main" id="{CC77F3C8-09FD-4AC0-815C-259C0B506B38}"/>
              </a:ext>
            </a:extLst>
          </p:cNvPr>
          <p:cNvPicPr>
            <a:picLocks noChangeAspect="1"/>
          </p:cNvPicPr>
          <p:nvPr/>
        </p:nvPicPr>
        <p:blipFill>
          <a:blip r:embed="rId4"/>
          <a:stretch>
            <a:fillRect/>
          </a:stretch>
        </p:blipFill>
        <p:spPr>
          <a:xfrm>
            <a:off x="1510679" y="668965"/>
            <a:ext cx="3462659" cy="2180959"/>
          </a:xfrm>
          <a:prstGeom prst="rect">
            <a:avLst/>
          </a:prstGeom>
          <a:effectLst/>
        </p:spPr>
      </p:pic>
      <p:pic>
        <p:nvPicPr>
          <p:cNvPr id="7" name="Picture 6">
            <a:extLst>
              <a:ext uri="{FF2B5EF4-FFF2-40B4-BE49-F238E27FC236}">
                <a16:creationId xmlns:a16="http://schemas.microsoft.com/office/drawing/2014/main" id="{FAE6103B-E151-4E43-A482-C01E79140E1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8649" b="93243" l="10000" r="90000">
                        <a14:foregroundMark x1="11800" y1="40000" x2="10600" y2="42432"/>
                        <a14:foregroundMark x1="36400" y1="10000" x2="56400" y2="8649"/>
                        <a14:foregroundMark x1="58000" y1="93243" x2="56000" y2="86216"/>
                        <a14:foregroundMark x1="72400" y1="29189" x2="60600" y2="23514"/>
                        <a14:foregroundMark x1="60600" y1="23514" x2="54600" y2="40811"/>
                        <a14:foregroundMark x1="54600" y1="40811" x2="64000" y2="44324"/>
                        <a14:backgroundMark x1="9600" y1="27027" x2="9600" y2="27027"/>
                        <a14:backgroundMark x1="8600" y1="15135" x2="7400" y2="23514"/>
                      </a14:backgroundRemoval>
                    </a14:imgEffect>
                  </a14:imgLayer>
                </a14:imgProps>
              </a:ext>
            </a:extLst>
          </a:blip>
          <a:stretch>
            <a:fillRect/>
          </a:stretch>
        </p:blipFill>
        <p:spPr>
          <a:xfrm>
            <a:off x="3317397" y="-228374"/>
            <a:ext cx="5557205" cy="4112332"/>
          </a:xfrm>
          <a:prstGeom prst="rect">
            <a:avLst/>
          </a:prstGeom>
          <a:effectLst>
            <a:outerShdw blurRad="546100" dist="38100" algn="tl" rotWithShape="0">
              <a:prstClr val="black">
                <a:alpha val="50000"/>
              </a:prstClr>
            </a:outerShdw>
          </a:effectLst>
        </p:spPr>
      </p:pic>
      <p:sp>
        <p:nvSpPr>
          <p:cNvPr id="2" name="Title 1">
            <a:extLst>
              <a:ext uri="{FF2B5EF4-FFF2-40B4-BE49-F238E27FC236}">
                <a16:creationId xmlns:a16="http://schemas.microsoft.com/office/drawing/2014/main" id="{A5FC32F5-4EAA-F7CD-8D00-75428112185A}"/>
              </a:ext>
            </a:extLst>
          </p:cNvPr>
          <p:cNvSpPr>
            <a:spLocks noGrp="1"/>
          </p:cNvSpPr>
          <p:nvPr>
            <p:ph type="ctrTitle"/>
          </p:nvPr>
        </p:nvSpPr>
        <p:spPr>
          <a:xfrm>
            <a:off x="1524000" y="2072879"/>
            <a:ext cx="9144000" cy="2387600"/>
          </a:xfrm>
          <a:effectLst/>
        </p:spPr>
        <p:txBody>
          <a:bodyPr>
            <a:normAutofit/>
          </a:bodyPr>
          <a:lstStyle/>
          <a:p>
            <a:r>
              <a:rPr lang="en-US" sz="4800" dirty="0">
                <a:effectLst>
                  <a:glow rad="533400">
                    <a:schemeClr val="bg1">
                      <a:alpha val="91000"/>
                    </a:schemeClr>
                  </a:glow>
                </a:effectLst>
              </a:rPr>
              <a:t>Neurologic Complications of Liver and GI Diseases</a:t>
            </a:r>
          </a:p>
        </p:txBody>
      </p:sp>
      <p:sp>
        <p:nvSpPr>
          <p:cNvPr id="3" name="Subtitle 2">
            <a:extLst>
              <a:ext uri="{FF2B5EF4-FFF2-40B4-BE49-F238E27FC236}">
                <a16:creationId xmlns:a16="http://schemas.microsoft.com/office/drawing/2014/main" id="{7A473C37-49E1-CBD9-D18E-85D755F98683}"/>
              </a:ext>
            </a:extLst>
          </p:cNvPr>
          <p:cNvSpPr>
            <a:spLocks noGrp="1"/>
          </p:cNvSpPr>
          <p:nvPr>
            <p:ph type="subTitle" idx="1"/>
          </p:nvPr>
        </p:nvSpPr>
        <p:spPr>
          <a:xfrm>
            <a:off x="1524000" y="4396508"/>
            <a:ext cx="9144000" cy="1906143"/>
          </a:xfrm>
        </p:spPr>
        <p:txBody>
          <a:bodyPr anchor="b">
            <a:normAutofit/>
          </a:bodyPr>
          <a:lstStyle/>
          <a:p>
            <a:r>
              <a:rPr lang="en-US" sz="2000" b="1" dirty="0"/>
              <a:t>Mohammad Almeqdadi, MD</a:t>
            </a:r>
          </a:p>
          <a:p>
            <a:r>
              <a:rPr lang="en-US" sz="2000" i="1" dirty="0"/>
              <a:t>Transplant Hepatologist</a:t>
            </a:r>
          </a:p>
          <a:p>
            <a:r>
              <a:rPr lang="en-US" sz="2000" i="1" dirty="0"/>
              <a:t>Assistant Professor of Medicine and Surgery</a:t>
            </a:r>
          </a:p>
          <a:p>
            <a:r>
              <a:rPr lang="en-US" sz="2000" i="1" dirty="0"/>
              <a:t>Tufts University School of Medicine</a:t>
            </a:r>
          </a:p>
        </p:txBody>
      </p:sp>
      <p:pic>
        <p:nvPicPr>
          <p:cNvPr id="4" name="Picture 3">
            <a:extLst>
              <a:ext uri="{FF2B5EF4-FFF2-40B4-BE49-F238E27FC236}">
                <a16:creationId xmlns:a16="http://schemas.microsoft.com/office/drawing/2014/main" id="{108A4574-CFA7-4341-BB7C-EF6BEA7EA9C6}"/>
              </a:ext>
            </a:extLst>
          </p:cNvPr>
          <p:cNvPicPr>
            <a:picLocks noChangeAspect="1"/>
          </p:cNvPicPr>
          <p:nvPr/>
        </p:nvPicPr>
        <p:blipFill>
          <a:blip r:embed="rId7"/>
          <a:stretch>
            <a:fillRect/>
          </a:stretch>
        </p:blipFill>
        <p:spPr>
          <a:xfrm>
            <a:off x="8968389" y="6191031"/>
            <a:ext cx="3144859" cy="624170"/>
          </a:xfrm>
          <a:prstGeom prst="rect">
            <a:avLst/>
          </a:prstGeom>
        </p:spPr>
      </p:pic>
      <p:pic>
        <p:nvPicPr>
          <p:cNvPr id="5" name="Picture 4">
            <a:extLst>
              <a:ext uri="{FF2B5EF4-FFF2-40B4-BE49-F238E27FC236}">
                <a16:creationId xmlns:a16="http://schemas.microsoft.com/office/drawing/2014/main" id="{C0088DAC-3F59-4500-9460-3350CB45DEE9}"/>
              </a:ext>
            </a:extLst>
          </p:cNvPr>
          <p:cNvPicPr>
            <a:picLocks noChangeAspect="1"/>
          </p:cNvPicPr>
          <p:nvPr/>
        </p:nvPicPr>
        <p:blipFill>
          <a:blip r:embed="rId8"/>
          <a:stretch>
            <a:fillRect/>
          </a:stretch>
        </p:blipFill>
        <p:spPr>
          <a:xfrm>
            <a:off x="151177" y="6191031"/>
            <a:ext cx="3353412" cy="621002"/>
          </a:xfrm>
          <a:prstGeom prst="rect">
            <a:avLst/>
          </a:prstGeom>
        </p:spPr>
      </p:pic>
    </p:spTree>
    <p:extLst>
      <p:ext uri="{BB962C8B-B14F-4D97-AF65-F5344CB8AC3E}">
        <p14:creationId xmlns:p14="http://schemas.microsoft.com/office/powerpoint/2010/main" val="36929425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5A59F-4441-44B7-B737-5F7B1155CCF8}"/>
              </a:ext>
            </a:extLst>
          </p:cNvPr>
          <p:cNvSpPr>
            <a:spLocks noGrp="1"/>
          </p:cNvSpPr>
          <p:nvPr>
            <p:ph type="title"/>
          </p:nvPr>
        </p:nvSpPr>
        <p:spPr/>
        <p:txBody>
          <a:bodyPr/>
          <a:lstStyle/>
          <a:p>
            <a:r>
              <a:rPr lang="en-US" dirty="0"/>
              <a:t>Liver-Gut-Brain Axis</a:t>
            </a:r>
          </a:p>
        </p:txBody>
      </p:sp>
      <p:sp>
        <p:nvSpPr>
          <p:cNvPr id="3" name="Content Placeholder 2">
            <a:extLst>
              <a:ext uri="{FF2B5EF4-FFF2-40B4-BE49-F238E27FC236}">
                <a16:creationId xmlns:a16="http://schemas.microsoft.com/office/drawing/2014/main" id="{4C4945EF-C34D-40AB-984B-2BCE4669DA28}"/>
              </a:ext>
            </a:extLst>
          </p:cNvPr>
          <p:cNvSpPr>
            <a:spLocks noGrp="1"/>
          </p:cNvSpPr>
          <p:nvPr>
            <p:ph idx="1"/>
          </p:nvPr>
        </p:nvSpPr>
        <p:spPr>
          <a:xfrm>
            <a:off x="469900" y="1600200"/>
            <a:ext cx="7482609" cy="4467432"/>
          </a:xfrm>
        </p:spPr>
        <p:txBody>
          <a:bodyPr/>
          <a:lstStyle/>
          <a:p>
            <a:r>
              <a:rPr lang="en-US" dirty="0"/>
              <a:t>Many disease intersect between those organs</a:t>
            </a:r>
          </a:p>
          <a:p>
            <a:r>
              <a:rPr lang="en-US" dirty="0"/>
              <a:t>Neurologic diseases with GI manifestations</a:t>
            </a:r>
          </a:p>
          <a:p>
            <a:r>
              <a:rPr lang="en-US" dirty="0"/>
              <a:t>GI diseases with neurologic manifestation</a:t>
            </a:r>
          </a:p>
          <a:p>
            <a:r>
              <a:rPr lang="en-US" dirty="0"/>
              <a:t>Liver disease with neurologic manifestations</a:t>
            </a:r>
          </a:p>
        </p:txBody>
      </p:sp>
      <p:pic>
        <p:nvPicPr>
          <p:cNvPr id="5" name="Picture 4" descr="Cartoon of a cartoon of a person in a medical office&#10;&#10;Description automatically generated">
            <a:extLst>
              <a:ext uri="{FF2B5EF4-FFF2-40B4-BE49-F238E27FC236}">
                <a16:creationId xmlns:a16="http://schemas.microsoft.com/office/drawing/2014/main" id="{6FCEE3CF-8A6C-4D78-AB39-A97B732A3C74}"/>
              </a:ext>
            </a:extLst>
          </p:cNvPr>
          <p:cNvPicPr>
            <a:picLocks noChangeAspect="1"/>
          </p:cNvPicPr>
          <p:nvPr/>
        </p:nvPicPr>
        <p:blipFill>
          <a:blip r:embed="rId3"/>
          <a:stretch>
            <a:fillRect/>
          </a:stretch>
        </p:blipFill>
        <p:spPr>
          <a:xfrm>
            <a:off x="8348038" y="1400918"/>
            <a:ext cx="3511741" cy="4666714"/>
          </a:xfrm>
          <a:prstGeom prst="rect">
            <a:avLst/>
          </a:prstGeom>
        </p:spPr>
      </p:pic>
    </p:spTree>
    <p:extLst>
      <p:ext uri="{BB962C8B-B14F-4D97-AF65-F5344CB8AC3E}">
        <p14:creationId xmlns:p14="http://schemas.microsoft.com/office/powerpoint/2010/main" val="20587070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1BA8B9E-B808-4A79-A601-C877162675D0}"/>
              </a:ext>
            </a:extLst>
          </p:cNvPr>
          <p:cNvSpPr>
            <a:spLocks noGrp="1"/>
          </p:cNvSpPr>
          <p:nvPr>
            <p:ph type="title"/>
          </p:nvPr>
        </p:nvSpPr>
        <p:spPr/>
        <p:txBody>
          <a:bodyPr/>
          <a:lstStyle/>
          <a:p>
            <a:r>
              <a:rPr lang="en-US" dirty="0"/>
              <a:t>Hepatic Encephalopathy</a:t>
            </a:r>
          </a:p>
        </p:txBody>
      </p:sp>
      <p:sp>
        <p:nvSpPr>
          <p:cNvPr id="5" name="Text Placeholder 4">
            <a:extLst>
              <a:ext uri="{FF2B5EF4-FFF2-40B4-BE49-F238E27FC236}">
                <a16:creationId xmlns:a16="http://schemas.microsoft.com/office/drawing/2014/main" id="{7CE1D69A-0174-455F-A69B-183A00CD194D}"/>
              </a:ext>
            </a:extLst>
          </p:cNvPr>
          <p:cNvSpPr>
            <a:spLocks noGrp="1"/>
          </p:cNvSpPr>
          <p:nvPr>
            <p:ph type="body" idx="1"/>
          </p:nvPr>
        </p:nvSpPr>
        <p:spPr/>
        <p:txBody>
          <a:bodyPr/>
          <a:lstStyle/>
          <a:p>
            <a:endParaRPr lang="en-US" dirty="0"/>
          </a:p>
        </p:txBody>
      </p:sp>
      <p:pic>
        <p:nvPicPr>
          <p:cNvPr id="3" name="Picture 2">
            <a:extLst>
              <a:ext uri="{FF2B5EF4-FFF2-40B4-BE49-F238E27FC236}">
                <a16:creationId xmlns:a16="http://schemas.microsoft.com/office/drawing/2014/main" id="{8AF20A60-10DD-4426-AE4A-908A7E42F424}"/>
              </a:ext>
            </a:extLst>
          </p:cNvPr>
          <p:cNvPicPr>
            <a:picLocks noChangeAspect="1"/>
          </p:cNvPicPr>
          <p:nvPr/>
        </p:nvPicPr>
        <p:blipFill>
          <a:blip r:embed="rId2"/>
          <a:stretch>
            <a:fillRect/>
          </a:stretch>
        </p:blipFill>
        <p:spPr>
          <a:xfrm>
            <a:off x="4319339" y="140185"/>
            <a:ext cx="3553321" cy="3381847"/>
          </a:xfrm>
          <a:prstGeom prst="rect">
            <a:avLst/>
          </a:prstGeom>
        </p:spPr>
      </p:pic>
    </p:spTree>
    <p:extLst>
      <p:ext uri="{BB962C8B-B14F-4D97-AF65-F5344CB8AC3E}">
        <p14:creationId xmlns:p14="http://schemas.microsoft.com/office/powerpoint/2010/main" val="40945760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18719B6-3D7E-4FE4-9F7C-8BD88E4B2D31}"/>
              </a:ext>
            </a:extLst>
          </p:cNvPr>
          <p:cNvSpPr>
            <a:spLocks noGrp="1"/>
          </p:cNvSpPr>
          <p:nvPr>
            <p:ph type="title"/>
          </p:nvPr>
        </p:nvSpPr>
        <p:spPr/>
        <p:txBody>
          <a:bodyPr/>
          <a:lstStyle/>
          <a:p>
            <a:r>
              <a:rPr lang="en-US" dirty="0"/>
              <a:t>Hepatic Encephalopathy</a:t>
            </a:r>
          </a:p>
        </p:txBody>
      </p:sp>
      <p:sp>
        <p:nvSpPr>
          <p:cNvPr id="5" name="Content Placeholder 4">
            <a:extLst>
              <a:ext uri="{FF2B5EF4-FFF2-40B4-BE49-F238E27FC236}">
                <a16:creationId xmlns:a16="http://schemas.microsoft.com/office/drawing/2014/main" id="{EC3D0E05-1007-454A-975E-9817BD2AF690}"/>
              </a:ext>
            </a:extLst>
          </p:cNvPr>
          <p:cNvSpPr>
            <a:spLocks noGrp="1"/>
          </p:cNvSpPr>
          <p:nvPr>
            <p:ph idx="1"/>
          </p:nvPr>
        </p:nvSpPr>
        <p:spPr/>
        <p:txBody>
          <a:bodyPr/>
          <a:lstStyle/>
          <a:p>
            <a:r>
              <a:rPr lang="en-US" dirty="0"/>
              <a:t>Brain dysfunction caused by </a:t>
            </a:r>
          </a:p>
          <a:p>
            <a:pPr lvl="1"/>
            <a:r>
              <a:rPr lang="en-US" dirty="0"/>
              <a:t>liver insufficiency </a:t>
            </a:r>
          </a:p>
          <a:p>
            <a:pPr marL="457200" lvl="1" indent="0">
              <a:buNone/>
            </a:pPr>
            <a:r>
              <a:rPr lang="en-US" b="1" dirty="0"/>
              <a:t>and/or </a:t>
            </a:r>
          </a:p>
          <a:p>
            <a:pPr lvl="1"/>
            <a:r>
              <a:rPr lang="en-US" dirty="0"/>
              <a:t>portosystemic shunting (think TIPS)</a:t>
            </a:r>
          </a:p>
          <a:p>
            <a:pPr marL="457200" lvl="1" indent="0">
              <a:buNone/>
            </a:pPr>
            <a:endParaRPr lang="en-US" dirty="0"/>
          </a:p>
          <a:p>
            <a:r>
              <a:rPr lang="en-US" dirty="0"/>
              <a:t>“Toxins” that are cleared by the liver -&gt; circulation –BBB-&gt; Brain</a:t>
            </a:r>
          </a:p>
          <a:p>
            <a:r>
              <a:rPr lang="en-US" dirty="0"/>
              <a:t>Elevated </a:t>
            </a:r>
            <a:r>
              <a:rPr lang="en-US" b="1" dirty="0"/>
              <a:t>ammonia </a:t>
            </a:r>
            <a:r>
              <a:rPr lang="en-US" dirty="0"/>
              <a:t>and </a:t>
            </a:r>
            <a:r>
              <a:rPr lang="en-US" b="1" dirty="0"/>
              <a:t>glutamate</a:t>
            </a:r>
            <a:r>
              <a:rPr lang="en-US" dirty="0"/>
              <a:t> levels are implicated</a:t>
            </a:r>
          </a:p>
          <a:p>
            <a:endParaRPr lang="en-US" dirty="0"/>
          </a:p>
          <a:p>
            <a:endParaRPr lang="en-US" dirty="0"/>
          </a:p>
        </p:txBody>
      </p:sp>
    </p:spTree>
    <p:extLst>
      <p:ext uri="{BB962C8B-B14F-4D97-AF65-F5344CB8AC3E}">
        <p14:creationId xmlns:p14="http://schemas.microsoft.com/office/powerpoint/2010/main" val="26065697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A diagram of the human body&#10;&#10;Description automatically generated">
            <a:extLst>
              <a:ext uri="{FF2B5EF4-FFF2-40B4-BE49-F238E27FC236}">
                <a16:creationId xmlns:a16="http://schemas.microsoft.com/office/drawing/2014/main" id="{740BD07C-D5F4-41FE-B669-B52AAAB9E7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056" y="202676"/>
            <a:ext cx="12131888" cy="6452648"/>
          </a:xfrm>
          <a:prstGeom prst="rect">
            <a:avLst/>
          </a:prstGeom>
        </p:spPr>
      </p:pic>
    </p:spTree>
    <p:extLst>
      <p:ext uri="{BB962C8B-B14F-4D97-AF65-F5344CB8AC3E}">
        <p14:creationId xmlns:p14="http://schemas.microsoft.com/office/powerpoint/2010/main" val="31479831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C5AF79-B697-40D0-AE64-12494F17F991}"/>
              </a:ext>
            </a:extLst>
          </p:cNvPr>
          <p:cNvSpPr>
            <a:spLocks noGrp="1"/>
          </p:cNvSpPr>
          <p:nvPr>
            <p:ph type="title"/>
          </p:nvPr>
        </p:nvSpPr>
        <p:spPr/>
        <p:txBody>
          <a:bodyPr/>
          <a:lstStyle/>
          <a:p>
            <a:r>
              <a:rPr lang="en-US" dirty="0" err="1"/>
              <a:t>Neuropathophysiology</a:t>
            </a:r>
            <a:endParaRPr lang="en-US" dirty="0"/>
          </a:p>
        </p:txBody>
      </p:sp>
      <p:sp>
        <p:nvSpPr>
          <p:cNvPr id="3" name="Text Placeholder 2">
            <a:extLst>
              <a:ext uri="{FF2B5EF4-FFF2-40B4-BE49-F238E27FC236}">
                <a16:creationId xmlns:a16="http://schemas.microsoft.com/office/drawing/2014/main" id="{FA08E92F-6DCC-4606-AA3F-48692D01B16C}"/>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27212623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87C4322-8035-440D-BDE9-B91CA2E02371}"/>
              </a:ext>
            </a:extLst>
          </p:cNvPr>
          <p:cNvPicPr>
            <a:picLocks noChangeAspect="1"/>
          </p:cNvPicPr>
          <p:nvPr/>
        </p:nvPicPr>
        <p:blipFill rotWithShape="1">
          <a:blip r:embed="rId2"/>
          <a:srcRect t="16168" b="8596"/>
          <a:stretch/>
        </p:blipFill>
        <p:spPr>
          <a:xfrm>
            <a:off x="20" y="1282"/>
            <a:ext cx="12191980" cy="6856718"/>
          </a:xfrm>
          <a:prstGeom prst="rect">
            <a:avLst/>
          </a:prstGeom>
        </p:spPr>
      </p:pic>
    </p:spTree>
    <p:extLst>
      <p:ext uri="{BB962C8B-B14F-4D97-AF65-F5344CB8AC3E}">
        <p14:creationId xmlns:p14="http://schemas.microsoft.com/office/powerpoint/2010/main" val="10633483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87C4322-8035-440D-BDE9-B91CA2E02371}"/>
              </a:ext>
            </a:extLst>
          </p:cNvPr>
          <p:cNvPicPr>
            <a:picLocks noChangeAspect="1"/>
          </p:cNvPicPr>
          <p:nvPr/>
        </p:nvPicPr>
        <p:blipFill rotWithShape="1">
          <a:blip r:embed="rId2"/>
          <a:srcRect t="16168" b="8596"/>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DD65E218-F6E8-46FB-9E00-3DA8E9E18413}"/>
              </a:ext>
            </a:extLst>
          </p:cNvPr>
          <p:cNvSpPr txBox="1"/>
          <p:nvPr/>
        </p:nvSpPr>
        <p:spPr>
          <a:xfrm>
            <a:off x="3487527" y="2592845"/>
            <a:ext cx="1535933" cy="461665"/>
          </a:xfrm>
          <a:prstGeom prst="rect">
            <a:avLst/>
          </a:prstGeom>
          <a:noFill/>
        </p:spPr>
        <p:txBody>
          <a:bodyPr wrap="none" rtlCol="0">
            <a:spAutoFit/>
          </a:bodyPr>
          <a:lstStyle/>
          <a:p>
            <a:r>
              <a:rPr lang="en-US" sz="2400" b="1" dirty="0"/>
              <a:t>Glutamate</a:t>
            </a:r>
          </a:p>
        </p:txBody>
      </p:sp>
      <p:sp>
        <p:nvSpPr>
          <p:cNvPr id="5" name="TextBox 4">
            <a:extLst>
              <a:ext uri="{FF2B5EF4-FFF2-40B4-BE49-F238E27FC236}">
                <a16:creationId xmlns:a16="http://schemas.microsoft.com/office/drawing/2014/main" id="{396BCFD4-F1F9-4E8D-B8A1-25632CF9A6F4}"/>
              </a:ext>
            </a:extLst>
          </p:cNvPr>
          <p:cNvSpPr txBox="1"/>
          <p:nvPr/>
        </p:nvSpPr>
        <p:spPr>
          <a:xfrm>
            <a:off x="6406859" y="2592845"/>
            <a:ext cx="1523366" cy="461665"/>
          </a:xfrm>
          <a:prstGeom prst="rect">
            <a:avLst/>
          </a:prstGeom>
          <a:noFill/>
        </p:spPr>
        <p:txBody>
          <a:bodyPr wrap="square" rtlCol="0">
            <a:spAutoFit/>
          </a:bodyPr>
          <a:lstStyle/>
          <a:p>
            <a:r>
              <a:rPr lang="en-US" sz="2400" b="1" dirty="0"/>
              <a:t>Glutamine</a:t>
            </a:r>
          </a:p>
        </p:txBody>
      </p:sp>
      <p:cxnSp>
        <p:nvCxnSpPr>
          <p:cNvPr id="6" name="Straight Arrow Connector 5">
            <a:extLst>
              <a:ext uri="{FF2B5EF4-FFF2-40B4-BE49-F238E27FC236}">
                <a16:creationId xmlns:a16="http://schemas.microsoft.com/office/drawing/2014/main" id="{23598B26-D69F-4C03-BB55-DB2684DBD9F2}"/>
              </a:ext>
            </a:extLst>
          </p:cNvPr>
          <p:cNvCxnSpPr>
            <a:cxnSpLocks/>
          </p:cNvCxnSpPr>
          <p:nvPr/>
        </p:nvCxnSpPr>
        <p:spPr>
          <a:xfrm>
            <a:off x="5023460" y="2850312"/>
            <a:ext cx="1383399"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236717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87C4322-8035-440D-BDE9-B91CA2E02371}"/>
              </a:ext>
            </a:extLst>
          </p:cNvPr>
          <p:cNvPicPr>
            <a:picLocks noChangeAspect="1"/>
          </p:cNvPicPr>
          <p:nvPr/>
        </p:nvPicPr>
        <p:blipFill rotWithShape="1">
          <a:blip r:embed="rId2"/>
          <a:srcRect t="16168" b="8596"/>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DD65E218-F6E8-46FB-9E00-3DA8E9E18413}"/>
              </a:ext>
            </a:extLst>
          </p:cNvPr>
          <p:cNvSpPr txBox="1"/>
          <p:nvPr/>
        </p:nvSpPr>
        <p:spPr>
          <a:xfrm>
            <a:off x="2586653" y="2469734"/>
            <a:ext cx="2435283" cy="707886"/>
          </a:xfrm>
          <a:prstGeom prst="rect">
            <a:avLst/>
          </a:prstGeom>
          <a:noFill/>
        </p:spPr>
        <p:txBody>
          <a:bodyPr wrap="none" rtlCol="0">
            <a:spAutoFit/>
          </a:bodyPr>
          <a:lstStyle/>
          <a:p>
            <a:pPr algn="r"/>
            <a:r>
              <a:rPr lang="en-US" sz="4000" b="1" dirty="0"/>
              <a:t>Glutamate</a:t>
            </a:r>
          </a:p>
        </p:txBody>
      </p:sp>
      <p:sp>
        <p:nvSpPr>
          <p:cNvPr id="5" name="TextBox 4">
            <a:extLst>
              <a:ext uri="{FF2B5EF4-FFF2-40B4-BE49-F238E27FC236}">
                <a16:creationId xmlns:a16="http://schemas.microsoft.com/office/drawing/2014/main" id="{396BCFD4-F1F9-4E8D-B8A1-25632CF9A6F4}"/>
              </a:ext>
            </a:extLst>
          </p:cNvPr>
          <p:cNvSpPr txBox="1"/>
          <p:nvPr/>
        </p:nvSpPr>
        <p:spPr>
          <a:xfrm>
            <a:off x="6390378" y="2681035"/>
            <a:ext cx="1523366" cy="338554"/>
          </a:xfrm>
          <a:prstGeom prst="rect">
            <a:avLst/>
          </a:prstGeom>
          <a:noFill/>
        </p:spPr>
        <p:txBody>
          <a:bodyPr wrap="square" rtlCol="0">
            <a:spAutoFit/>
          </a:bodyPr>
          <a:lstStyle/>
          <a:p>
            <a:r>
              <a:rPr lang="en-US" sz="1600" dirty="0"/>
              <a:t>Glutamine</a:t>
            </a:r>
          </a:p>
        </p:txBody>
      </p:sp>
      <p:cxnSp>
        <p:nvCxnSpPr>
          <p:cNvPr id="6" name="Straight Arrow Connector 5">
            <a:extLst>
              <a:ext uri="{FF2B5EF4-FFF2-40B4-BE49-F238E27FC236}">
                <a16:creationId xmlns:a16="http://schemas.microsoft.com/office/drawing/2014/main" id="{23598B26-D69F-4C03-BB55-DB2684DBD9F2}"/>
              </a:ext>
            </a:extLst>
          </p:cNvPr>
          <p:cNvCxnSpPr>
            <a:cxnSpLocks/>
          </p:cNvCxnSpPr>
          <p:nvPr/>
        </p:nvCxnSpPr>
        <p:spPr>
          <a:xfrm>
            <a:off x="5023460" y="2850312"/>
            <a:ext cx="1383399"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3997701F-C3B6-470D-ADBE-D03A63325973}"/>
              </a:ext>
            </a:extLst>
          </p:cNvPr>
          <p:cNvSpPr txBox="1"/>
          <p:nvPr/>
        </p:nvSpPr>
        <p:spPr>
          <a:xfrm>
            <a:off x="5481762" y="2496369"/>
            <a:ext cx="466794" cy="707886"/>
          </a:xfrm>
          <a:prstGeom prst="rect">
            <a:avLst/>
          </a:prstGeom>
          <a:noFill/>
        </p:spPr>
        <p:txBody>
          <a:bodyPr wrap="none" rtlCol="0">
            <a:spAutoFit/>
          </a:bodyPr>
          <a:lstStyle/>
          <a:p>
            <a:r>
              <a:rPr lang="en-US" sz="4000" dirty="0">
                <a:solidFill>
                  <a:srgbClr val="FF0000"/>
                </a:solidFill>
              </a:rPr>
              <a:t>X</a:t>
            </a:r>
          </a:p>
        </p:txBody>
      </p:sp>
    </p:spTree>
    <p:extLst>
      <p:ext uri="{BB962C8B-B14F-4D97-AF65-F5344CB8AC3E}">
        <p14:creationId xmlns:p14="http://schemas.microsoft.com/office/powerpoint/2010/main" val="6125103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87C4322-8035-440D-BDE9-B91CA2E02371}"/>
              </a:ext>
            </a:extLst>
          </p:cNvPr>
          <p:cNvPicPr>
            <a:picLocks noChangeAspect="1"/>
          </p:cNvPicPr>
          <p:nvPr/>
        </p:nvPicPr>
        <p:blipFill rotWithShape="1">
          <a:blip r:embed="rId2"/>
          <a:srcRect t="16168" b="8596"/>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DD65E218-F6E8-46FB-9E00-3DA8E9E18413}"/>
              </a:ext>
            </a:extLst>
          </p:cNvPr>
          <p:cNvSpPr txBox="1"/>
          <p:nvPr/>
        </p:nvSpPr>
        <p:spPr>
          <a:xfrm>
            <a:off x="2586653" y="2469734"/>
            <a:ext cx="2435283" cy="707886"/>
          </a:xfrm>
          <a:prstGeom prst="rect">
            <a:avLst/>
          </a:prstGeom>
          <a:noFill/>
        </p:spPr>
        <p:txBody>
          <a:bodyPr wrap="none" rtlCol="0">
            <a:spAutoFit/>
          </a:bodyPr>
          <a:lstStyle/>
          <a:p>
            <a:pPr algn="r"/>
            <a:r>
              <a:rPr lang="en-US" sz="4000" b="1" dirty="0"/>
              <a:t>Glutamate</a:t>
            </a:r>
          </a:p>
        </p:txBody>
      </p:sp>
      <p:sp>
        <p:nvSpPr>
          <p:cNvPr id="5" name="TextBox 4">
            <a:extLst>
              <a:ext uri="{FF2B5EF4-FFF2-40B4-BE49-F238E27FC236}">
                <a16:creationId xmlns:a16="http://schemas.microsoft.com/office/drawing/2014/main" id="{396BCFD4-F1F9-4E8D-B8A1-25632CF9A6F4}"/>
              </a:ext>
            </a:extLst>
          </p:cNvPr>
          <p:cNvSpPr txBox="1"/>
          <p:nvPr/>
        </p:nvSpPr>
        <p:spPr>
          <a:xfrm>
            <a:off x="6390378" y="2681035"/>
            <a:ext cx="1523366" cy="338554"/>
          </a:xfrm>
          <a:prstGeom prst="rect">
            <a:avLst/>
          </a:prstGeom>
          <a:noFill/>
        </p:spPr>
        <p:txBody>
          <a:bodyPr wrap="square" rtlCol="0">
            <a:spAutoFit/>
          </a:bodyPr>
          <a:lstStyle/>
          <a:p>
            <a:r>
              <a:rPr lang="en-US" sz="1600" dirty="0"/>
              <a:t>Glutamine</a:t>
            </a:r>
          </a:p>
        </p:txBody>
      </p:sp>
      <p:cxnSp>
        <p:nvCxnSpPr>
          <p:cNvPr id="6" name="Straight Arrow Connector 5">
            <a:extLst>
              <a:ext uri="{FF2B5EF4-FFF2-40B4-BE49-F238E27FC236}">
                <a16:creationId xmlns:a16="http://schemas.microsoft.com/office/drawing/2014/main" id="{23598B26-D69F-4C03-BB55-DB2684DBD9F2}"/>
              </a:ext>
            </a:extLst>
          </p:cNvPr>
          <p:cNvCxnSpPr>
            <a:cxnSpLocks/>
          </p:cNvCxnSpPr>
          <p:nvPr/>
        </p:nvCxnSpPr>
        <p:spPr>
          <a:xfrm>
            <a:off x="5023460" y="2850312"/>
            <a:ext cx="1383399"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3997701F-C3B6-470D-ADBE-D03A63325973}"/>
              </a:ext>
            </a:extLst>
          </p:cNvPr>
          <p:cNvSpPr txBox="1"/>
          <p:nvPr/>
        </p:nvSpPr>
        <p:spPr>
          <a:xfrm>
            <a:off x="5481762" y="2496369"/>
            <a:ext cx="466794" cy="707886"/>
          </a:xfrm>
          <a:prstGeom prst="rect">
            <a:avLst/>
          </a:prstGeom>
          <a:noFill/>
        </p:spPr>
        <p:txBody>
          <a:bodyPr wrap="none" rtlCol="0">
            <a:spAutoFit/>
          </a:bodyPr>
          <a:lstStyle/>
          <a:p>
            <a:r>
              <a:rPr lang="en-US" sz="4000" dirty="0">
                <a:solidFill>
                  <a:srgbClr val="FF0000"/>
                </a:solidFill>
              </a:rPr>
              <a:t>X</a:t>
            </a:r>
          </a:p>
        </p:txBody>
      </p:sp>
      <p:cxnSp>
        <p:nvCxnSpPr>
          <p:cNvPr id="11" name="Straight Arrow Connector 10">
            <a:extLst>
              <a:ext uri="{FF2B5EF4-FFF2-40B4-BE49-F238E27FC236}">
                <a16:creationId xmlns:a16="http://schemas.microsoft.com/office/drawing/2014/main" id="{C47C7D2C-8969-4FA6-A7A3-C1080E4846D0}"/>
              </a:ext>
            </a:extLst>
          </p:cNvPr>
          <p:cNvCxnSpPr>
            <a:cxnSpLocks/>
          </p:cNvCxnSpPr>
          <p:nvPr/>
        </p:nvCxnSpPr>
        <p:spPr>
          <a:xfrm>
            <a:off x="3804294" y="3204255"/>
            <a:ext cx="0" cy="1341112"/>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040DC3E3-5C87-4C45-A6CE-0D972C0F651B}"/>
              </a:ext>
            </a:extLst>
          </p:cNvPr>
          <p:cNvSpPr txBox="1"/>
          <p:nvPr/>
        </p:nvSpPr>
        <p:spPr>
          <a:xfrm>
            <a:off x="2112506" y="4572002"/>
            <a:ext cx="3602653" cy="707886"/>
          </a:xfrm>
          <a:prstGeom prst="rect">
            <a:avLst/>
          </a:prstGeom>
          <a:noFill/>
        </p:spPr>
        <p:txBody>
          <a:bodyPr wrap="none" rtlCol="0">
            <a:spAutoFit/>
          </a:bodyPr>
          <a:lstStyle/>
          <a:p>
            <a:pPr algn="ctr"/>
            <a:r>
              <a:rPr lang="en-US" sz="4000" i="1" dirty="0"/>
              <a:t>Encephalopathy</a:t>
            </a:r>
          </a:p>
        </p:txBody>
      </p:sp>
      <p:sp>
        <p:nvSpPr>
          <p:cNvPr id="17" name="TextBox 16">
            <a:extLst>
              <a:ext uri="{FF2B5EF4-FFF2-40B4-BE49-F238E27FC236}">
                <a16:creationId xmlns:a16="http://schemas.microsoft.com/office/drawing/2014/main" id="{CD80E7FB-E0C3-4E4B-B9F1-243BDC3BF59A}"/>
              </a:ext>
            </a:extLst>
          </p:cNvPr>
          <p:cNvSpPr txBox="1"/>
          <p:nvPr/>
        </p:nvSpPr>
        <p:spPr>
          <a:xfrm>
            <a:off x="2295526" y="3510171"/>
            <a:ext cx="2969344" cy="707886"/>
          </a:xfrm>
          <a:prstGeom prst="rect">
            <a:avLst/>
          </a:prstGeom>
          <a:noFill/>
        </p:spPr>
        <p:txBody>
          <a:bodyPr wrap="square" rtlCol="0">
            <a:spAutoFit/>
          </a:bodyPr>
          <a:lstStyle/>
          <a:p>
            <a:pPr algn="ctr"/>
            <a:r>
              <a:rPr lang="en-US" sz="2000" dirty="0">
                <a:effectLst>
                  <a:glow rad="215900">
                    <a:schemeClr val="bg1">
                      <a:alpha val="90000"/>
                    </a:schemeClr>
                  </a:glow>
                </a:effectLst>
                <a:latin typeface="Lucida Handwriting" panose="03010101010101010101" pitchFamily="66" charset="0"/>
              </a:rPr>
              <a:t>✨ </a:t>
            </a:r>
          </a:p>
          <a:p>
            <a:pPr algn="ctr"/>
            <a:r>
              <a:rPr lang="en-US" sz="2000" dirty="0">
                <a:effectLst>
                  <a:glow rad="215900">
                    <a:schemeClr val="bg1">
                      <a:alpha val="90000"/>
                    </a:schemeClr>
                  </a:glow>
                </a:effectLst>
                <a:latin typeface="Lucida Handwriting" panose="03010101010101010101" pitchFamily="66" charset="0"/>
              </a:rPr>
              <a:t>magic</a:t>
            </a:r>
            <a:endParaRPr lang="en-US" sz="1100" dirty="0">
              <a:effectLst>
                <a:glow rad="215900">
                  <a:schemeClr val="bg1">
                    <a:alpha val="90000"/>
                  </a:schemeClr>
                </a:glow>
              </a:effectLst>
              <a:latin typeface="Lucida Handwriting" panose="03010101010101010101" pitchFamily="66" charset="0"/>
            </a:endParaRPr>
          </a:p>
        </p:txBody>
      </p:sp>
    </p:spTree>
    <p:extLst>
      <p:ext uri="{BB962C8B-B14F-4D97-AF65-F5344CB8AC3E}">
        <p14:creationId xmlns:p14="http://schemas.microsoft.com/office/powerpoint/2010/main" val="39799333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E87C4322-8035-440D-BDE9-B91CA2E02371}"/>
              </a:ext>
            </a:extLst>
          </p:cNvPr>
          <p:cNvPicPr>
            <a:picLocks noChangeAspect="1"/>
          </p:cNvPicPr>
          <p:nvPr/>
        </p:nvPicPr>
        <p:blipFill rotWithShape="1">
          <a:blip r:embed="rId2"/>
          <a:srcRect t="16168" b="8596"/>
          <a:stretch/>
        </p:blipFill>
        <p:spPr>
          <a:xfrm>
            <a:off x="20" y="1282"/>
            <a:ext cx="12191980" cy="6856718"/>
          </a:xfrm>
          <a:prstGeom prst="rect">
            <a:avLst/>
          </a:prstGeom>
        </p:spPr>
      </p:pic>
      <p:sp>
        <p:nvSpPr>
          <p:cNvPr id="2" name="TextBox 1">
            <a:extLst>
              <a:ext uri="{FF2B5EF4-FFF2-40B4-BE49-F238E27FC236}">
                <a16:creationId xmlns:a16="http://schemas.microsoft.com/office/drawing/2014/main" id="{DD65E218-F6E8-46FB-9E00-3DA8E9E18413}"/>
              </a:ext>
            </a:extLst>
          </p:cNvPr>
          <p:cNvSpPr txBox="1"/>
          <p:nvPr/>
        </p:nvSpPr>
        <p:spPr>
          <a:xfrm>
            <a:off x="2586653" y="2469734"/>
            <a:ext cx="2435283" cy="707886"/>
          </a:xfrm>
          <a:prstGeom prst="rect">
            <a:avLst/>
          </a:prstGeom>
          <a:noFill/>
        </p:spPr>
        <p:txBody>
          <a:bodyPr wrap="none" rtlCol="0">
            <a:spAutoFit/>
          </a:bodyPr>
          <a:lstStyle/>
          <a:p>
            <a:pPr algn="r"/>
            <a:r>
              <a:rPr lang="en-US" sz="4000" b="1" dirty="0"/>
              <a:t>Glutamate</a:t>
            </a:r>
          </a:p>
        </p:txBody>
      </p:sp>
      <p:sp>
        <p:nvSpPr>
          <p:cNvPr id="5" name="TextBox 4">
            <a:extLst>
              <a:ext uri="{FF2B5EF4-FFF2-40B4-BE49-F238E27FC236}">
                <a16:creationId xmlns:a16="http://schemas.microsoft.com/office/drawing/2014/main" id="{396BCFD4-F1F9-4E8D-B8A1-25632CF9A6F4}"/>
              </a:ext>
            </a:extLst>
          </p:cNvPr>
          <p:cNvSpPr txBox="1"/>
          <p:nvPr/>
        </p:nvSpPr>
        <p:spPr>
          <a:xfrm>
            <a:off x="6390378" y="2681035"/>
            <a:ext cx="1523366" cy="338554"/>
          </a:xfrm>
          <a:prstGeom prst="rect">
            <a:avLst/>
          </a:prstGeom>
          <a:noFill/>
        </p:spPr>
        <p:txBody>
          <a:bodyPr wrap="square" rtlCol="0">
            <a:spAutoFit/>
          </a:bodyPr>
          <a:lstStyle/>
          <a:p>
            <a:r>
              <a:rPr lang="en-US" sz="1600" dirty="0"/>
              <a:t>Glutamine</a:t>
            </a:r>
          </a:p>
        </p:txBody>
      </p:sp>
      <p:cxnSp>
        <p:nvCxnSpPr>
          <p:cNvPr id="6" name="Straight Arrow Connector 5">
            <a:extLst>
              <a:ext uri="{FF2B5EF4-FFF2-40B4-BE49-F238E27FC236}">
                <a16:creationId xmlns:a16="http://schemas.microsoft.com/office/drawing/2014/main" id="{23598B26-D69F-4C03-BB55-DB2684DBD9F2}"/>
              </a:ext>
            </a:extLst>
          </p:cNvPr>
          <p:cNvCxnSpPr>
            <a:cxnSpLocks/>
          </p:cNvCxnSpPr>
          <p:nvPr/>
        </p:nvCxnSpPr>
        <p:spPr>
          <a:xfrm>
            <a:off x="5023460" y="2850312"/>
            <a:ext cx="1383399" cy="0"/>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9" name="TextBox 8">
            <a:extLst>
              <a:ext uri="{FF2B5EF4-FFF2-40B4-BE49-F238E27FC236}">
                <a16:creationId xmlns:a16="http://schemas.microsoft.com/office/drawing/2014/main" id="{3997701F-C3B6-470D-ADBE-D03A63325973}"/>
              </a:ext>
            </a:extLst>
          </p:cNvPr>
          <p:cNvSpPr txBox="1"/>
          <p:nvPr/>
        </p:nvSpPr>
        <p:spPr>
          <a:xfrm>
            <a:off x="5481762" y="2496369"/>
            <a:ext cx="466794" cy="707886"/>
          </a:xfrm>
          <a:prstGeom prst="rect">
            <a:avLst/>
          </a:prstGeom>
          <a:noFill/>
        </p:spPr>
        <p:txBody>
          <a:bodyPr wrap="none" rtlCol="0">
            <a:spAutoFit/>
          </a:bodyPr>
          <a:lstStyle/>
          <a:p>
            <a:r>
              <a:rPr lang="en-US" sz="4000" dirty="0">
                <a:solidFill>
                  <a:srgbClr val="FF0000"/>
                </a:solidFill>
              </a:rPr>
              <a:t>X</a:t>
            </a:r>
          </a:p>
        </p:txBody>
      </p:sp>
      <p:cxnSp>
        <p:nvCxnSpPr>
          <p:cNvPr id="11" name="Straight Arrow Connector 10">
            <a:extLst>
              <a:ext uri="{FF2B5EF4-FFF2-40B4-BE49-F238E27FC236}">
                <a16:creationId xmlns:a16="http://schemas.microsoft.com/office/drawing/2014/main" id="{C47C7D2C-8969-4FA6-A7A3-C1080E4846D0}"/>
              </a:ext>
            </a:extLst>
          </p:cNvPr>
          <p:cNvCxnSpPr>
            <a:cxnSpLocks/>
          </p:cNvCxnSpPr>
          <p:nvPr/>
        </p:nvCxnSpPr>
        <p:spPr>
          <a:xfrm>
            <a:off x="3804294" y="3204255"/>
            <a:ext cx="0" cy="1341112"/>
          </a:xfrm>
          <a:prstGeom prst="straightConnector1">
            <a:avLst/>
          </a:prstGeom>
          <a:ln w="38100">
            <a:solidFill>
              <a:schemeClr val="tx1"/>
            </a:solidFill>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040DC3E3-5C87-4C45-A6CE-0D972C0F651B}"/>
              </a:ext>
            </a:extLst>
          </p:cNvPr>
          <p:cNvSpPr txBox="1"/>
          <p:nvPr/>
        </p:nvSpPr>
        <p:spPr>
          <a:xfrm>
            <a:off x="2112506" y="4572002"/>
            <a:ext cx="3602653" cy="707886"/>
          </a:xfrm>
          <a:prstGeom prst="rect">
            <a:avLst/>
          </a:prstGeom>
          <a:noFill/>
        </p:spPr>
        <p:txBody>
          <a:bodyPr wrap="none" rtlCol="0">
            <a:spAutoFit/>
          </a:bodyPr>
          <a:lstStyle/>
          <a:p>
            <a:pPr algn="ctr"/>
            <a:r>
              <a:rPr lang="en-US" sz="4000" i="1" dirty="0"/>
              <a:t>Encephalopathy</a:t>
            </a:r>
          </a:p>
        </p:txBody>
      </p:sp>
      <p:sp>
        <p:nvSpPr>
          <p:cNvPr id="16" name="TextBox 15">
            <a:extLst>
              <a:ext uri="{FF2B5EF4-FFF2-40B4-BE49-F238E27FC236}">
                <a16:creationId xmlns:a16="http://schemas.microsoft.com/office/drawing/2014/main" id="{66014F96-BB42-4CFD-A5ED-623EEB556409}"/>
              </a:ext>
            </a:extLst>
          </p:cNvPr>
          <p:cNvSpPr txBox="1"/>
          <p:nvPr/>
        </p:nvSpPr>
        <p:spPr>
          <a:xfrm>
            <a:off x="5021936" y="3068037"/>
            <a:ext cx="1260629" cy="830997"/>
          </a:xfrm>
          <a:prstGeom prst="rect">
            <a:avLst/>
          </a:prstGeom>
          <a:noFill/>
        </p:spPr>
        <p:txBody>
          <a:bodyPr wrap="square" rtlCol="0">
            <a:spAutoFit/>
          </a:bodyPr>
          <a:lstStyle/>
          <a:p>
            <a:pPr algn="ctr"/>
            <a:r>
              <a:rPr lang="en-US" sz="1600" b="1" dirty="0">
                <a:effectLst>
                  <a:glow rad="139700">
                    <a:schemeClr val="bg1">
                      <a:alpha val="40000"/>
                    </a:schemeClr>
                  </a:glow>
                </a:effectLst>
              </a:rPr>
              <a:t>Alzheimer type II astrocyte</a:t>
            </a:r>
          </a:p>
        </p:txBody>
      </p:sp>
      <p:sp>
        <p:nvSpPr>
          <p:cNvPr id="17" name="TextBox 16">
            <a:extLst>
              <a:ext uri="{FF2B5EF4-FFF2-40B4-BE49-F238E27FC236}">
                <a16:creationId xmlns:a16="http://schemas.microsoft.com/office/drawing/2014/main" id="{CD80E7FB-E0C3-4E4B-B9F1-243BDC3BF59A}"/>
              </a:ext>
            </a:extLst>
          </p:cNvPr>
          <p:cNvSpPr txBox="1"/>
          <p:nvPr/>
        </p:nvSpPr>
        <p:spPr>
          <a:xfrm>
            <a:off x="2295526" y="3510171"/>
            <a:ext cx="2969344" cy="707886"/>
          </a:xfrm>
          <a:prstGeom prst="rect">
            <a:avLst/>
          </a:prstGeom>
          <a:noFill/>
        </p:spPr>
        <p:txBody>
          <a:bodyPr wrap="square" rtlCol="0">
            <a:spAutoFit/>
          </a:bodyPr>
          <a:lstStyle/>
          <a:p>
            <a:pPr algn="ctr"/>
            <a:r>
              <a:rPr lang="en-US" sz="2000" dirty="0">
                <a:effectLst>
                  <a:glow rad="215900">
                    <a:schemeClr val="bg1">
                      <a:alpha val="90000"/>
                    </a:schemeClr>
                  </a:glow>
                </a:effectLst>
                <a:latin typeface="Lucida Handwriting" panose="03010101010101010101" pitchFamily="66" charset="0"/>
              </a:rPr>
              <a:t>✨ </a:t>
            </a:r>
          </a:p>
          <a:p>
            <a:pPr algn="ctr"/>
            <a:r>
              <a:rPr lang="en-US" sz="2000" dirty="0">
                <a:effectLst>
                  <a:glow rad="215900">
                    <a:schemeClr val="bg1">
                      <a:alpha val="90000"/>
                    </a:schemeClr>
                  </a:glow>
                </a:effectLst>
                <a:latin typeface="Lucida Handwriting" panose="03010101010101010101" pitchFamily="66" charset="0"/>
              </a:rPr>
              <a:t>magic</a:t>
            </a:r>
            <a:endParaRPr lang="en-US" sz="1100" dirty="0">
              <a:effectLst>
                <a:glow rad="215900">
                  <a:schemeClr val="bg1">
                    <a:alpha val="90000"/>
                  </a:schemeClr>
                </a:glow>
              </a:effectLst>
              <a:latin typeface="Lucida Handwriting" panose="03010101010101010101" pitchFamily="66" charset="0"/>
            </a:endParaRPr>
          </a:p>
        </p:txBody>
      </p:sp>
    </p:spTree>
    <p:extLst>
      <p:ext uri="{BB962C8B-B14F-4D97-AF65-F5344CB8AC3E}">
        <p14:creationId xmlns:p14="http://schemas.microsoft.com/office/powerpoint/2010/main" val="214500521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8809-B897-4032-87A0-59A963237B9F}"/>
              </a:ext>
            </a:extLst>
          </p:cNvPr>
          <p:cNvSpPr>
            <a:spLocks noGrp="1"/>
          </p:cNvSpPr>
          <p:nvPr>
            <p:ph type="title"/>
          </p:nvPr>
        </p:nvSpPr>
        <p:spPr/>
        <p:txBody>
          <a:bodyPr/>
          <a:lstStyle/>
          <a:p>
            <a:r>
              <a:rPr lang="en-US" dirty="0"/>
              <a:t>Axes of Hepatic Encephalopathy</a:t>
            </a:r>
          </a:p>
        </p:txBody>
      </p:sp>
      <p:sp>
        <p:nvSpPr>
          <p:cNvPr id="3" name="Content Placeholder 2">
            <a:extLst>
              <a:ext uri="{FF2B5EF4-FFF2-40B4-BE49-F238E27FC236}">
                <a16:creationId xmlns:a16="http://schemas.microsoft.com/office/drawing/2014/main" id="{AF35F596-FCAD-4F12-B852-DF7B3BB3EAD1}"/>
              </a:ext>
            </a:extLst>
          </p:cNvPr>
          <p:cNvSpPr>
            <a:spLocks noGrp="1"/>
          </p:cNvSpPr>
          <p:nvPr>
            <p:ph idx="1"/>
          </p:nvPr>
        </p:nvSpPr>
        <p:spPr/>
        <p:txBody>
          <a:bodyPr>
            <a:normAutofit fontScale="77500" lnSpcReduction="20000"/>
          </a:bodyPr>
          <a:lstStyle/>
          <a:p>
            <a:r>
              <a:rPr lang="en-US" dirty="0"/>
              <a:t>Type of hepatic encephalopathy</a:t>
            </a:r>
          </a:p>
          <a:p>
            <a:pPr lvl="1"/>
            <a:r>
              <a:rPr lang="en-US" dirty="0"/>
              <a:t>Acute liver failure (A) </a:t>
            </a:r>
          </a:p>
          <a:p>
            <a:pPr lvl="1"/>
            <a:r>
              <a:rPr lang="en-US" dirty="0"/>
              <a:t>Portosystemic shunts (B)</a:t>
            </a:r>
          </a:p>
          <a:p>
            <a:pPr lvl="1"/>
            <a:r>
              <a:rPr lang="en-US" dirty="0"/>
              <a:t>Cirrhosis (C)</a:t>
            </a:r>
          </a:p>
          <a:p>
            <a:r>
              <a:rPr lang="en-US" dirty="0"/>
              <a:t>Grades</a:t>
            </a:r>
          </a:p>
          <a:p>
            <a:pPr lvl="1"/>
            <a:r>
              <a:rPr lang="en-US" dirty="0"/>
              <a:t>West Haven Criteria</a:t>
            </a:r>
          </a:p>
          <a:p>
            <a:pPr lvl="1"/>
            <a:r>
              <a:rPr lang="en-US" dirty="0"/>
              <a:t>International Society for Hepatic Encephalopathy and Nitrogen Metabolism (ISHEN) criteria</a:t>
            </a:r>
          </a:p>
          <a:p>
            <a:r>
              <a:rPr lang="en-US" dirty="0"/>
              <a:t>Time course</a:t>
            </a:r>
          </a:p>
          <a:p>
            <a:pPr lvl="1"/>
            <a:r>
              <a:rPr lang="en-US" dirty="0"/>
              <a:t>Episodic</a:t>
            </a:r>
          </a:p>
          <a:p>
            <a:pPr lvl="1"/>
            <a:r>
              <a:rPr lang="en-US" dirty="0"/>
              <a:t>Recurrent</a:t>
            </a:r>
          </a:p>
          <a:p>
            <a:pPr lvl="1"/>
            <a:r>
              <a:rPr lang="en-US" dirty="0"/>
              <a:t>Persistent</a:t>
            </a:r>
          </a:p>
          <a:p>
            <a:r>
              <a:rPr lang="en-US" dirty="0"/>
              <a:t>Precipitating factors</a:t>
            </a:r>
          </a:p>
          <a:p>
            <a:pPr lvl="1"/>
            <a:r>
              <a:rPr lang="en-US" dirty="0"/>
              <a:t>Yes</a:t>
            </a:r>
          </a:p>
          <a:p>
            <a:pPr lvl="1"/>
            <a:r>
              <a:rPr lang="en-US" dirty="0"/>
              <a:t>Spontaneous</a:t>
            </a:r>
          </a:p>
        </p:txBody>
      </p:sp>
    </p:spTree>
    <p:extLst>
      <p:ext uri="{BB962C8B-B14F-4D97-AF65-F5344CB8AC3E}">
        <p14:creationId xmlns:p14="http://schemas.microsoft.com/office/powerpoint/2010/main" val="26733143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760E6C0-0534-4539-97C5-ABAC616C59C2}"/>
              </a:ext>
            </a:extLst>
          </p:cNvPr>
          <p:cNvPicPr>
            <a:picLocks noChangeAspect="1"/>
          </p:cNvPicPr>
          <p:nvPr/>
        </p:nvPicPr>
        <p:blipFill>
          <a:blip r:embed="rId2"/>
          <a:stretch>
            <a:fillRect/>
          </a:stretch>
        </p:blipFill>
        <p:spPr>
          <a:xfrm>
            <a:off x="765127" y="300182"/>
            <a:ext cx="10661746" cy="6257636"/>
          </a:xfrm>
          <a:prstGeom prst="rect">
            <a:avLst/>
          </a:prstGeom>
        </p:spPr>
      </p:pic>
    </p:spTree>
    <p:extLst>
      <p:ext uri="{BB962C8B-B14F-4D97-AF65-F5344CB8AC3E}">
        <p14:creationId xmlns:p14="http://schemas.microsoft.com/office/powerpoint/2010/main" val="29292470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F66EDDD-61FA-4582-ADB9-FAECE3F0AA4F}"/>
              </a:ext>
            </a:extLst>
          </p:cNvPr>
          <p:cNvPicPr>
            <a:picLocks noChangeAspect="1"/>
          </p:cNvPicPr>
          <p:nvPr/>
        </p:nvPicPr>
        <p:blipFill>
          <a:blip r:embed="rId2"/>
          <a:stretch>
            <a:fillRect/>
          </a:stretch>
        </p:blipFill>
        <p:spPr>
          <a:xfrm>
            <a:off x="2716245" y="1611745"/>
            <a:ext cx="6759510" cy="3634510"/>
          </a:xfrm>
          <a:prstGeom prst="rect">
            <a:avLst/>
          </a:prstGeom>
        </p:spPr>
      </p:pic>
    </p:spTree>
    <p:extLst>
      <p:ext uri="{BB962C8B-B14F-4D97-AF65-F5344CB8AC3E}">
        <p14:creationId xmlns:p14="http://schemas.microsoft.com/office/powerpoint/2010/main" val="166717691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568809-B897-4032-87A0-59A963237B9F}"/>
              </a:ext>
            </a:extLst>
          </p:cNvPr>
          <p:cNvSpPr>
            <a:spLocks noGrp="1"/>
          </p:cNvSpPr>
          <p:nvPr>
            <p:ph type="title"/>
          </p:nvPr>
        </p:nvSpPr>
        <p:spPr/>
        <p:txBody>
          <a:bodyPr/>
          <a:lstStyle/>
          <a:p>
            <a:r>
              <a:rPr lang="en-US" dirty="0"/>
              <a:t>Clinical Hepatic Encephalopathy</a:t>
            </a:r>
          </a:p>
        </p:txBody>
      </p:sp>
      <p:sp>
        <p:nvSpPr>
          <p:cNvPr id="3" name="Content Placeholder 2">
            <a:extLst>
              <a:ext uri="{FF2B5EF4-FFF2-40B4-BE49-F238E27FC236}">
                <a16:creationId xmlns:a16="http://schemas.microsoft.com/office/drawing/2014/main" id="{AF35F596-FCAD-4F12-B852-DF7B3BB3EAD1}"/>
              </a:ext>
            </a:extLst>
          </p:cNvPr>
          <p:cNvSpPr>
            <a:spLocks noGrp="1"/>
          </p:cNvSpPr>
          <p:nvPr>
            <p:ph idx="1"/>
          </p:nvPr>
        </p:nvSpPr>
        <p:spPr/>
        <p:txBody>
          <a:bodyPr/>
          <a:lstStyle/>
          <a:p>
            <a:r>
              <a:rPr lang="en-US" dirty="0"/>
              <a:t>20% to 80% of patients with cirrhosis have minimal or covert HE</a:t>
            </a:r>
          </a:p>
          <a:p>
            <a:endParaRPr lang="en-US" dirty="0"/>
          </a:p>
          <a:p>
            <a:pPr marL="0" indent="0" algn="ctr">
              <a:buNone/>
            </a:pPr>
            <a:r>
              <a:rPr lang="en-US" b="1" dirty="0"/>
              <a:t>How do we test for minimal and/or covert HE?</a:t>
            </a:r>
          </a:p>
        </p:txBody>
      </p:sp>
    </p:spTree>
    <p:extLst>
      <p:ext uri="{BB962C8B-B14F-4D97-AF65-F5344CB8AC3E}">
        <p14:creationId xmlns:p14="http://schemas.microsoft.com/office/powerpoint/2010/main" val="263672312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25F15-5E5D-4004-90DE-8321963174C9}"/>
              </a:ext>
            </a:extLst>
          </p:cNvPr>
          <p:cNvSpPr>
            <a:spLocks noGrp="1"/>
          </p:cNvSpPr>
          <p:nvPr>
            <p:ph type="title"/>
          </p:nvPr>
        </p:nvSpPr>
        <p:spPr/>
        <p:txBody>
          <a:bodyPr/>
          <a:lstStyle/>
          <a:p>
            <a:r>
              <a:rPr lang="en-US" dirty="0"/>
              <a:t>Minimal or covert HE</a:t>
            </a:r>
          </a:p>
        </p:txBody>
      </p:sp>
      <p:sp>
        <p:nvSpPr>
          <p:cNvPr id="3" name="Content Placeholder 2">
            <a:extLst>
              <a:ext uri="{FF2B5EF4-FFF2-40B4-BE49-F238E27FC236}">
                <a16:creationId xmlns:a16="http://schemas.microsoft.com/office/drawing/2014/main" id="{2A6F9395-1FFA-48BB-9A83-19CD5ACF3445}"/>
              </a:ext>
            </a:extLst>
          </p:cNvPr>
          <p:cNvSpPr>
            <a:spLocks noGrp="1"/>
          </p:cNvSpPr>
          <p:nvPr>
            <p:ph idx="1"/>
          </p:nvPr>
        </p:nvSpPr>
        <p:spPr/>
        <p:txBody>
          <a:bodyPr>
            <a:normAutofit/>
          </a:bodyPr>
          <a:lstStyle/>
          <a:p>
            <a:r>
              <a:rPr lang="en-US" dirty="0"/>
              <a:t>Clinically, psychometric or neuropsychologic alterations</a:t>
            </a:r>
          </a:p>
          <a:p>
            <a:r>
              <a:rPr lang="en-US" dirty="0"/>
              <a:t>No change in mental status</a:t>
            </a:r>
          </a:p>
          <a:p>
            <a:r>
              <a:rPr lang="en-US" dirty="0"/>
              <a:t>Euphoria or anxiety</a:t>
            </a:r>
          </a:p>
          <a:p>
            <a:r>
              <a:rPr lang="en-US" dirty="0"/>
              <a:t>Reduced attention span</a:t>
            </a:r>
          </a:p>
          <a:p>
            <a:r>
              <a:rPr lang="en-US" dirty="0"/>
              <a:t>Altered ability to perform arithmetic operations </a:t>
            </a:r>
          </a:p>
          <a:p>
            <a:r>
              <a:rPr lang="en-US" b="1" dirty="0"/>
              <a:t>Change in sleep-wake cycle</a:t>
            </a:r>
          </a:p>
        </p:txBody>
      </p:sp>
    </p:spTree>
    <p:extLst>
      <p:ext uri="{BB962C8B-B14F-4D97-AF65-F5344CB8AC3E}">
        <p14:creationId xmlns:p14="http://schemas.microsoft.com/office/powerpoint/2010/main" val="14407822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E938-41AE-4106-8E41-AFC9ADAA52F5}"/>
              </a:ext>
            </a:extLst>
          </p:cNvPr>
          <p:cNvSpPr>
            <a:spLocks noGrp="1"/>
          </p:cNvSpPr>
          <p:nvPr>
            <p:ph type="title"/>
          </p:nvPr>
        </p:nvSpPr>
        <p:spPr>
          <a:xfrm>
            <a:off x="831850" y="3195638"/>
            <a:ext cx="10515600" cy="2852737"/>
          </a:xfrm>
        </p:spPr>
        <p:txBody>
          <a:bodyPr/>
          <a:lstStyle/>
          <a:p>
            <a:r>
              <a:rPr lang="en-US" dirty="0"/>
              <a:t>Anything on EEG?</a:t>
            </a:r>
          </a:p>
        </p:txBody>
      </p:sp>
      <p:pic>
        <p:nvPicPr>
          <p:cNvPr id="6" name="Picture 5">
            <a:extLst>
              <a:ext uri="{FF2B5EF4-FFF2-40B4-BE49-F238E27FC236}">
                <a16:creationId xmlns:a16="http://schemas.microsoft.com/office/drawing/2014/main" id="{C3268FD3-730C-4C67-A5CB-3F16D2E67B27}"/>
              </a:ext>
            </a:extLst>
          </p:cNvPr>
          <p:cNvPicPr>
            <a:picLocks noChangeAspect="1"/>
          </p:cNvPicPr>
          <p:nvPr/>
        </p:nvPicPr>
        <p:blipFill>
          <a:blip r:embed="rId2"/>
          <a:stretch>
            <a:fillRect/>
          </a:stretch>
        </p:blipFill>
        <p:spPr>
          <a:xfrm>
            <a:off x="3819207" y="225102"/>
            <a:ext cx="4553585" cy="4629796"/>
          </a:xfrm>
          <a:prstGeom prst="rect">
            <a:avLst/>
          </a:prstGeom>
        </p:spPr>
      </p:pic>
    </p:spTree>
    <p:extLst>
      <p:ext uri="{BB962C8B-B14F-4D97-AF65-F5344CB8AC3E}">
        <p14:creationId xmlns:p14="http://schemas.microsoft.com/office/powerpoint/2010/main" val="221486126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descr="A graph of a heart beat&#10;&#10;Description automatically generated with medium confidence">
            <a:extLst>
              <a:ext uri="{FF2B5EF4-FFF2-40B4-BE49-F238E27FC236}">
                <a16:creationId xmlns:a16="http://schemas.microsoft.com/office/drawing/2014/main" id="{84BC5A78-49F6-4881-9647-609061A4C574}"/>
              </a:ext>
            </a:extLst>
          </p:cNvPr>
          <p:cNvPicPr>
            <a:picLocks noChangeAspect="1"/>
          </p:cNvPicPr>
          <p:nvPr/>
        </p:nvPicPr>
        <p:blipFill rotWithShape="1">
          <a:blip r:embed="rId2"/>
          <a:srcRect l="20874"/>
          <a:stretch/>
        </p:blipFill>
        <p:spPr>
          <a:xfrm>
            <a:off x="20" y="1282"/>
            <a:ext cx="12191980" cy="6856718"/>
          </a:xfrm>
          <a:prstGeom prst="rect">
            <a:avLst/>
          </a:prstGeom>
        </p:spPr>
      </p:pic>
    </p:spTree>
    <p:extLst>
      <p:ext uri="{BB962C8B-B14F-4D97-AF65-F5344CB8AC3E}">
        <p14:creationId xmlns:p14="http://schemas.microsoft.com/office/powerpoint/2010/main" val="12741977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1E938-41AE-4106-8E41-AFC9ADAA52F5}"/>
              </a:ext>
            </a:extLst>
          </p:cNvPr>
          <p:cNvSpPr>
            <a:spLocks noGrp="1"/>
          </p:cNvSpPr>
          <p:nvPr>
            <p:ph type="title"/>
          </p:nvPr>
        </p:nvSpPr>
        <p:spPr/>
        <p:txBody>
          <a:bodyPr/>
          <a:lstStyle/>
          <a:p>
            <a:r>
              <a:rPr lang="en-US" dirty="0"/>
              <a:t>EEG in hepatic encephalopathy</a:t>
            </a:r>
          </a:p>
        </p:txBody>
      </p:sp>
      <p:sp>
        <p:nvSpPr>
          <p:cNvPr id="3" name="Content Placeholder 2">
            <a:extLst>
              <a:ext uri="{FF2B5EF4-FFF2-40B4-BE49-F238E27FC236}">
                <a16:creationId xmlns:a16="http://schemas.microsoft.com/office/drawing/2014/main" id="{D54644D2-A506-456C-A805-2A80BB008D42}"/>
              </a:ext>
            </a:extLst>
          </p:cNvPr>
          <p:cNvSpPr>
            <a:spLocks noGrp="1"/>
          </p:cNvSpPr>
          <p:nvPr>
            <p:ph idx="1"/>
          </p:nvPr>
        </p:nvSpPr>
        <p:spPr/>
        <p:txBody>
          <a:bodyPr/>
          <a:lstStyle/>
          <a:p>
            <a:r>
              <a:rPr lang="en-US" dirty="0"/>
              <a:t>Frontal slowing in delta range 1-3 Hz</a:t>
            </a:r>
          </a:p>
          <a:p>
            <a:r>
              <a:rPr lang="en-US" b="1" dirty="0"/>
              <a:t>Triphasic waves</a:t>
            </a:r>
          </a:p>
          <a:p>
            <a:pPr marL="0" indent="0">
              <a:buNone/>
            </a:pPr>
            <a:endParaRPr lang="en-US" b="1" dirty="0"/>
          </a:p>
          <a:p>
            <a:pPr marL="0" indent="0">
              <a:buNone/>
            </a:pPr>
            <a:r>
              <a:rPr lang="en-US" dirty="0"/>
              <a:t>More useful to follow patient’s progression, than as an initial diagnostic tool</a:t>
            </a:r>
          </a:p>
        </p:txBody>
      </p:sp>
    </p:spTree>
    <p:extLst>
      <p:ext uri="{BB962C8B-B14F-4D97-AF65-F5344CB8AC3E}">
        <p14:creationId xmlns:p14="http://schemas.microsoft.com/office/powerpoint/2010/main" val="1992349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group of colorful text&#10;&#10;Description automatically generated">
            <a:extLst>
              <a:ext uri="{FF2B5EF4-FFF2-40B4-BE49-F238E27FC236}">
                <a16:creationId xmlns:a16="http://schemas.microsoft.com/office/drawing/2014/main" id="{31766DD0-4289-4228-9EB9-5A2210001FA5}"/>
              </a:ext>
            </a:extLst>
          </p:cNvPr>
          <p:cNvPicPr>
            <a:picLocks noChangeAspect="1"/>
          </p:cNvPicPr>
          <p:nvPr/>
        </p:nvPicPr>
        <p:blipFill>
          <a:blip r:embed="rId2"/>
          <a:stretch>
            <a:fillRect/>
          </a:stretch>
        </p:blipFill>
        <p:spPr>
          <a:xfrm>
            <a:off x="0" y="1142148"/>
            <a:ext cx="9254836" cy="5715852"/>
          </a:xfrm>
          <a:prstGeom prst="rect">
            <a:avLst/>
          </a:prstGeom>
        </p:spPr>
      </p:pic>
      <p:sp>
        <p:nvSpPr>
          <p:cNvPr id="7" name="Title 6">
            <a:extLst>
              <a:ext uri="{FF2B5EF4-FFF2-40B4-BE49-F238E27FC236}">
                <a16:creationId xmlns:a16="http://schemas.microsoft.com/office/drawing/2014/main" id="{4F493C95-4AB2-4C01-BA51-587175B36530}"/>
              </a:ext>
            </a:extLst>
          </p:cNvPr>
          <p:cNvSpPr>
            <a:spLocks noGrp="1"/>
          </p:cNvSpPr>
          <p:nvPr>
            <p:ph type="title"/>
          </p:nvPr>
        </p:nvSpPr>
        <p:spPr/>
        <p:txBody>
          <a:bodyPr/>
          <a:lstStyle/>
          <a:p>
            <a:r>
              <a:rPr lang="en-US" dirty="0"/>
              <a:t>Stroop Test</a:t>
            </a:r>
          </a:p>
        </p:txBody>
      </p:sp>
      <p:pic>
        <p:nvPicPr>
          <p:cNvPr id="9" name="Picture 8" descr="A screenshot of a test&#10;&#10;Description automatically generated">
            <a:extLst>
              <a:ext uri="{FF2B5EF4-FFF2-40B4-BE49-F238E27FC236}">
                <a16:creationId xmlns:a16="http://schemas.microsoft.com/office/drawing/2014/main" id="{C20801CE-ACD3-4B2E-BF7E-CE35E90EFC2B}"/>
              </a:ext>
            </a:extLst>
          </p:cNvPr>
          <p:cNvPicPr>
            <a:picLocks noChangeAspect="1"/>
          </p:cNvPicPr>
          <p:nvPr/>
        </p:nvPicPr>
        <p:blipFill>
          <a:blip r:embed="rId3"/>
          <a:stretch>
            <a:fillRect/>
          </a:stretch>
        </p:blipFill>
        <p:spPr>
          <a:xfrm>
            <a:off x="9348868" y="1947347"/>
            <a:ext cx="2533752" cy="4910653"/>
          </a:xfrm>
          <a:prstGeom prst="rect">
            <a:avLst/>
          </a:prstGeom>
        </p:spPr>
      </p:pic>
    </p:spTree>
    <p:extLst>
      <p:ext uri="{BB962C8B-B14F-4D97-AF65-F5344CB8AC3E}">
        <p14:creationId xmlns:p14="http://schemas.microsoft.com/office/powerpoint/2010/main" val="27274632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7" name="Picture 6" descr="A white circle with black background&#10;&#10;Description automatically generated">
            <a:extLst>
              <a:ext uri="{FF2B5EF4-FFF2-40B4-BE49-F238E27FC236}">
                <a16:creationId xmlns:a16="http://schemas.microsoft.com/office/drawing/2014/main" id="{A0C4D593-4FB8-4634-993F-E0F9E38A403C}"/>
              </a:ext>
            </a:extLst>
          </p:cNvPr>
          <p:cNvPicPr>
            <a:picLocks noChangeAspect="1"/>
          </p:cNvPicPr>
          <p:nvPr/>
        </p:nvPicPr>
        <p:blipFill>
          <a:blip r:embed="rId2"/>
          <a:stretch>
            <a:fillRect/>
          </a:stretch>
        </p:blipFill>
        <p:spPr>
          <a:xfrm>
            <a:off x="3065929" y="457199"/>
            <a:ext cx="6060142" cy="5943602"/>
          </a:xfrm>
          <a:prstGeom prst="rect">
            <a:avLst/>
          </a:prstGeom>
        </p:spPr>
      </p:pic>
    </p:spTree>
    <p:extLst>
      <p:ext uri="{BB962C8B-B14F-4D97-AF65-F5344CB8AC3E}">
        <p14:creationId xmlns:p14="http://schemas.microsoft.com/office/powerpoint/2010/main" val="221417672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4BD4881-B4E4-4691-A7DC-558D071945A0}"/>
              </a:ext>
            </a:extLst>
          </p:cNvPr>
          <p:cNvPicPr>
            <a:picLocks noChangeAspect="1"/>
          </p:cNvPicPr>
          <p:nvPr/>
        </p:nvPicPr>
        <p:blipFill>
          <a:blip r:embed="rId2"/>
          <a:stretch>
            <a:fillRect/>
          </a:stretch>
        </p:blipFill>
        <p:spPr>
          <a:xfrm>
            <a:off x="423071" y="485364"/>
            <a:ext cx="11345858" cy="5887272"/>
          </a:xfrm>
          <a:prstGeom prst="rect">
            <a:avLst/>
          </a:prstGeom>
        </p:spPr>
      </p:pic>
      <p:sp>
        <p:nvSpPr>
          <p:cNvPr id="6" name="TextBox 5">
            <a:extLst>
              <a:ext uri="{FF2B5EF4-FFF2-40B4-BE49-F238E27FC236}">
                <a16:creationId xmlns:a16="http://schemas.microsoft.com/office/drawing/2014/main" id="{271766C1-7A65-40A5-9E3A-C4E5DA1391C2}"/>
              </a:ext>
            </a:extLst>
          </p:cNvPr>
          <p:cNvSpPr txBox="1"/>
          <p:nvPr/>
        </p:nvSpPr>
        <p:spPr>
          <a:xfrm>
            <a:off x="4876800" y="6488668"/>
            <a:ext cx="6096000" cy="369332"/>
          </a:xfrm>
          <a:prstGeom prst="rect">
            <a:avLst/>
          </a:prstGeom>
          <a:noFill/>
        </p:spPr>
        <p:txBody>
          <a:bodyPr wrap="square">
            <a:spAutoFit/>
          </a:bodyPr>
          <a:lstStyle/>
          <a:p>
            <a:r>
              <a:rPr lang="en-US" dirty="0"/>
              <a:t>PMID: </a:t>
            </a:r>
            <a:r>
              <a:rPr lang="en-US" b="1" dirty="0"/>
              <a:t>29530628</a:t>
            </a:r>
            <a:endParaRPr lang="en-US" dirty="0"/>
          </a:p>
        </p:txBody>
      </p:sp>
    </p:spTree>
    <p:extLst>
      <p:ext uri="{BB962C8B-B14F-4D97-AF65-F5344CB8AC3E}">
        <p14:creationId xmlns:p14="http://schemas.microsoft.com/office/powerpoint/2010/main" val="36790214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ractneurol-2017-February-17-1-60-inline-supplementary-material-1">
            <a:hlinkClick r:id="" action="ppaction://media"/>
            <a:extLst>
              <a:ext uri="{FF2B5EF4-FFF2-40B4-BE49-F238E27FC236}">
                <a16:creationId xmlns:a16="http://schemas.microsoft.com/office/drawing/2014/main" id="{22FF92A4-B593-4CF8-955D-5563EE64F8F0}"/>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0"/>
            <a:ext cx="12192000" cy="6858000"/>
          </a:xfrm>
          <a:prstGeom prst="rect">
            <a:avLst/>
          </a:prstGeom>
        </p:spPr>
      </p:pic>
    </p:spTree>
    <p:extLst>
      <p:ext uri="{BB962C8B-B14F-4D97-AF65-F5344CB8AC3E}">
        <p14:creationId xmlns:p14="http://schemas.microsoft.com/office/powerpoint/2010/main" val="41733804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862"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81B7-CE90-426C-9866-DB7167A0F86E}"/>
              </a:ext>
            </a:extLst>
          </p:cNvPr>
          <p:cNvSpPr>
            <a:spLocks noGrp="1"/>
          </p:cNvSpPr>
          <p:nvPr>
            <p:ph type="title"/>
          </p:nvPr>
        </p:nvSpPr>
        <p:spPr/>
        <p:txBody>
          <a:bodyPr/>
          <a:lstStyle/>
          <a:p>
            <a:r>
              <a:rPr lang="en-US" dirty="0"/>
              <a:t>Asterixis</a:t>
            </a:r>
          </a:p>
        </p:txBody>
      </p:sp>
      <p:sp>
        <p:nvSpPr>
          <p:cNvPr id="3" name="Content Placeholder 2">
            <a:extLst>
              <a:ext uri="{FF2B5EF4-FFF2-40B4-BE49-F238E27FC236}">
                <a16:creationId xmlns:a16="http://schemas.microsoft.com/office/drawing/2014/main" id="{AA1649B9-1CB3-4024-8905-B9A7C169F7A4}"/>
              </a:ext>
            </a:extLst>
          </p:cNvPr>
          <p:cNvSpPr>
            <a:spLocks noGrp="1"/>
          </p:cNvSpPr>
          <p:nvPr>
            <p:ph idx="1"/>
          </p:nvPr>
        </p:nvSpPr>
        <p:spPr/>
        <p:txBody>
          <a:bodyPr/>
          <a:lstStyle/>
          <a:p>
            <a:r>
              <a:rPr lang="en-US" dirty="0"/>
              <a:t>What is the neurologic terminology that describes asterixis?</a:t>
            </a:r>
          </a:p>
          <a:p>
            <a:endParaRPr lang="en-US" dirty="0"/>
          </a:p>
          <a:p>
            <a:endParaRPr lang="en-US" dirty="0"/>
          </a:p>
          <a:p>
            <a:r>
              <a:rPr lang="en-US" dirty="0"/>
              <a:t>What is the underlying pathophysiologic mechanism?</a:t>
            </a:r>
          </a:p>
          <a:p>
            <a:endParaRPr lang="en-US" dirty="0"/>
          </a:p>
          <a:p>
            <a:endParaRPr lang="en-US" dirty="0"/>
          </a:p>
          <a:p>
            <a:r>
              <a:rPr lang="en-US" dirty="0"/>
              <a:t>Can you diagnose it with an EMG? How about an EEG? Both?</a:t>
            </a:r>
          </a:p>
        </p:txBody>
      </p:sp>
    </p:spTree>
    <p:extLst>
      <p:ext uri="{BB962C8B-B14F-4D97-AF65-F5344CB8AC3E}">
        <p14:creationId xmlns:p14="http://schemas.microsoft.com/office/powerpoint/2010/main" val="11336239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5381B7-CE90-426C-9866-DB7167A0F86E}"/>
              </a:ext>
            </a:extLst>
          </p:cNvPr>
          <p:cNvSpPr>
            <a:spLocks noGrp="1"/>
          </p:cNvSpPr>
          <p:nvPr>
            <p:ph type="title"/>
          </p:nvPr>
        </p:nvSpPr>
        <p:spPr/>
        <p:txBody>
          <a:bodyPr/>
          <a:lstStyle/>
          <a:p>
            <a:r>
              <a:rPr lang="en-US" dirty="0"/>
              <a:t>Asterixis</a:t>
            </a:r>
          </a:p>
        </p:txBody>
      </p:sp>
      <p:sp>
        <p:nvSpPr>
          <p:cNvPr id="3" name="Content Placeholder 2">
            <a:extLst>
              <a:ext uri="{FF2B5EF4-FFF2-40B4-BE49-F238E27FC236}">
                <a16:creationId xmlns:a16="http://schemas.microsoft.com/office/drawing/2014/main" id="{AA1649B9-1CB3-4024-8905-B9A7C169F7A4}"/>
              </a:ext>
            </a:extLst>
          </p:cNvPr>
          <p:cNvSpPr>
            <a:spLocks noGrp="1"/>
          </p:cNvSpPr>
          <p:nvPr>
            <p:ph idx="1"/>
          </p:nvPr>
        </p:nvSpPr>
        <p:spPr/>
        <p:txBody>
          <a:bodyPr/>
          <a:lstStyle/>
          <a:p>
            <a:r>
              <a:rPr lang="en-US" dirty="0"/>
              <a:t>What is the neurologic terminology that describes asterixis?</a:t>
            </a:r>
          </a:p>
          <a:p>
            <a:pPr lvl="1"/>
            <a:r>
              <a:rPr lang="en-US" dirty="0"/>
              <a:t>Subcortical negative myoclonus</a:t>
            </a:r>
          </a:p>
          <a:p>
            <a:endParaRPr lang="en-US" dirty="0"/>
          </a:p>
          <a:p>
            <a:r>
              <a:rPr lang="en-US" dirty="0"/>
              <a:t>What is the underlying pathophysiologic mechanism?</a:t>
            </a:r>
          </a:p>
          <a:p>
            <a:pPr lvl="1"/>
            <a:r>
              <a:rPr lang="en-US" dirty="0"/>
              <a:t>Up for debate</a:t>
            </a:r>
          </a:p>
          <a:p>
            <a:endParaRPr lang="en-US" dirty="0"/>
          </a:p>
          <a:p>
            <a:r>
              <a:rPr lang="en-US" dirty="0"/>
              <a:t>Can you diagnose it with an EMG? How about an EEG? Both?</a:t>
            </a:r>
          </a:p>
          <a:p>
            <a:pPr lvl="1"/>
            <a:r>
              <a:rPr lang="en-US" dirty="0"/>
              <a:t>Both!</a:t>
            </a:r>
          </a:p>
        </p:txBody>
      </p:sp>
    </p:spTree>
    <p:extLst>
      <p:ext uri="{BB962C8B-B14F-4D97-AF65-F5344CB8AC3E}">
        <p14:creationId xmlns:p14="http://schemas.microsoft.com/office/powerpoint/2010/main" val="42003934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 brain wave&#10;&#10;Description automatically generated with medium confidence">
            <a:extLst>
              <a:ext uri="{FF2B5EF4-FFF2-40B4-BE49-F238E27FC236}">
                <a16:creationId xmlns:a16="http://schemas.microsoft.com/office/drawing/2014/main" id="{1EB6C938-FC1C-49A4-8B68-507AD5501958}"/>
              </a:ext>
            </a:extLst>
          </p:cNvPr>
          <p:cNvPicPr>
            <a:picLocks noChangeAspect="1"/>
          </p:cNvPicPr>
          <p:nvPr/>
        </p:nvPicPr>
        <p:blipFill rotWithShape="1">
          <a:blip r:embed="rId2"/>
          <a:srcRect b="7451"/>
          <a:stretch/>
        </p:blipFill>
        <p:spPr>
          <a:xfrm>
            <a:off x="2173591" y="1136450"/>
            <a:ext cx="7844815" cy="5721550"/>
          </a:xfrm>
          <a:prstGeom prst="rect">
            <a:avLst/>
          </a:prstGeom>
        </p:spPr>
      </p:pic>
      <p:sp>
        <p:nvSpPr>
          <p:cNvPr id="4" name="TextBox 3">
            <a:extLst>
              <a:ext uri="{FF2B5EF4-FFF2-40B4-BE49-F238E27FC236}">
                <a16:creationId xmlns:a16="http://schemas.microsoft.com/office/drawing/2014/main" id="{E59CBDB4-D6DE-41E5-8C1F-FEED6FF2FCF4}"/>
              </a:ext>
            </a:extLst>
          </p:cNvPr>
          <p:cNvSpPr txBox="1"/>
          <p:nvPr/>
        </p:nvSpPr>
        <p:spPr>
          <a:xfrm>
            <a:off x="2761593" y="121328"/>
            <a:ext cx="6668813" cy="646331"/>
          </a:xfrm>
          <a:prstGeom prst="rect">
            <a:avLst/>
          </a:prstGeom>
          <a:noFill/>
        </p:spPr>
        <p:txBody>
          <a:bodyPr wrap="none" rtlCol="0">
            <a:spAutoFit/>
          </a:bodyPr>
          <a:lstStyle/>
          <a:p>
            <a:pPr algn="ctr"/>
            <a:r>
              <a:rPr lang="en-US" sz="3600" dirty="0">
                <a:latin typeface="Georgia" panose="02040502050405020303" pitchFamily="18" charset="0"/>
              </a:rPr>
              <a:t>Is this consistent with asterixis?</a:t>
            </a:r>
          </a:p>
        </p:txBody>
      </p:sp>
    </p:spTree>
    <p:extLst>
      <p:ext uri="{BB962C8B-B14F-4D97-AF65-F5344CB8AC3E}">
        <p14:creationId xmlns:p14="http://schemas.microsoft.com/office/powerpoint/2010/main" val="18555443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97C9-AAF9-48B5-8945-7E0B783D8867}"/>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4F198272-715E-4D3E-A64B-DB18BC435901}"/>
              </a:ext>
            </a:extLst>
          </p:cNvPr>
          <p:cNvSpPr>
            <a:spLocks noGrp="1"/>
          </p:cNvSpPr>
          <p:nvPr>
            <p:ph idx="1"/>
          </p:nvPr>
        </p:nvSpPr>
        <p:spPr/>
        <p:txBody>
          <a:bodyPr>
            <a:normAutofit/>
          </a:bodyPr>
          <a:lstStyle/>
          <a:p>
            <a:r>
              <a:rPr lang="en-US" dirty="0"/>
              <a:t>A 41-year-old lady with history of Crohn disease requiring multiple surgeries ending with short gut syndrome, started on TPN 3 months ago, now presents with tremor and a shuffling gate. </a:t>
            </a:r>
          </a:p>
          <a:p>
            <a:r>
              <a:rPr lang="en-US" dirty="0"/>
              <a:t>An MRI was performed. </a:t>
            </a:r>
          </a:p>
        </p:txBody>
      </p:sp>
    </p:spTree>
    <p:extLst>
      <p:ext uri="{BB962C8B-B14F-4D97-AF65-F5344CB8AC3E}">
        <p14:creationId xmlns:p14="http://schemas.microsoft.com/office/powerpoint/2010/main" val="22631744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040404"/>
        </a:solidFill>
        <a:effectLst/>
      </p:bgPr>
    </p:bg>
    <p:spTree>
      <p:nvGrpSpPr>
        <p:cNvPr id="1" name=""/>
        <p:cNvGrpSpPr/>
        <p:nvPr/>
      </p:nvGrpSpPr>
      <p:grpSpPr>
        <a:xfrm>
          <a:off x="0" y="0"/>
          <a:ext cx="0" cy="0"/>
          <a:chOff x="0" y="0"/>
          <a:chExt cx="0" cy="0"/>
        </a:xfrm>
      </p:grpSpPr>
      <p:pic>
        <p:nvPicPr>
          <p:cNvPr id="3" name="Picture 2" descr="A group of images of a brain&#10;&#10;Description automatically generated">
            <a:extLst>
              <a:ext uri="{FF2B5EF4-FFF2-40B4-BE49-F238E27FC236}">
                <a16:creationId xmlns:a16="http://schemas.microsoft.com/office/drawing/2014/main" id="{FBBD02DF-4B99-42E6-B856-F53FFBB68486}"/>
              </a:ext>
            </a:extLst>
          </p:cNvPr>
          <p:cNvPicPr>
            <a:picLocks noChangeAspect="1"/>
          </p:cNvPicPr>
          <p:nvPr/>
        </p:nvPicPr>
        <p:blipFill rotWithShape="1">
          <a:blip r:embed="rId2">
            <a:extLst>
              <a:ext uri="{BEBA8EAE-BF5A-486C-A8C5-ECC9F3942E4B}">
                <a14:imgProps xmlns:a14="http://schemas.microsoft.com/office/drawing/2010/main">
                  <a14:imgLayer r:embed="rId3">
                    <a14:imgEffect>
                      <a14:backgroundRemoval t="467" b="46501" l="2000" r="68118">
                        <a14:foregroundMark x1="16353" y1="13219" x2="10235" y2="15397"/>
                        <a14:foregroundMark x1="10235" y1="15397" x2="15412" y2="16330"/>
                        <a14:foregroundMark x1="15412" y1="16330" x2="6235" y2="16485"/>
                        <a14:foregroundMark x1="6235" y1="16485" x2="6706" y2="20840"/>
                        <a14:foregroundMark x1="27882" y1="3421" x2="29294" y2="41991"/>
                        <a14:foregroundMark x1="29294" y1="41991" x2="25647" y2="44168"/>
                        <a14:foregroundMark x1="25647" y1="44168" x2="6471" y2="41835"/>
                        <a14:foregroundMark x1="6471" y1="41835" x2="2235" y2="31726"/>
                        <a14:foregroundMark x1="2235" y1="31726" x2="2353" y2="5910"/>
                        <a14:foregroundMark x1="2353" y1="5910" x2="2000" y2="4666"/>
                        <a14:foregroundMark x1="3412" y1="1244" x2="26471" y2="622"/>
                        <a14:foregroundMark x1="26471" y1="622" x2="27059" y2="622"/>
                        <a14:foregroundMark x1="65647" y1="4821" x2="66118" y2="40902"/>
                        <a14:foregroundMark x1="66118" y1="40902" x2="63765" y2="46190"/>
                        <a14:foregroundMark x1="63765" y1="46190" x2="62000" y2="46501"/>
                        <a14:foregroundMark x1="67294" y1="44635" x2="66000" y2="39036"/>
                        <a14:foregroundMark x1="66000" y1="39036" x2="66588" y2="12286"/>
                        <a14:foregroundMark x1="66824" y1="11820" x2="68118" y2="28460"/>
                        <a14:foregroundMark x1="67765" y1="23795" x2="68118" y2="26750"/>
                        <a14:foregroundMark x1="33859" y1="3733" x2="33765" y2="5599"/>
                        <a14:foregroundMark x1="33882" y1="3266" x2="33859" y2="3733"/>
                        <a14:backgroundMark x1="32588" y1="9020" x2="32353" y2="12286"/>
                        <a14:backgroundMark x1="33647" y1="3733" x2="33647" y2="3733"/>
                        <a14:backgroundMark x1="33647" y1="4355" x2="33647" y2="5754"/>
                      </a14:backgroundRemoval>
                    </a14:imgEffect>
                  </a14:imgLayer>
                </a14:imgProps>
              </a:ext>
            </a:extLst>
          </a:blip>
          <a:srcRect r="30720" b="52149"/>
          <a:stretch/>
        </p:blipFill>
        <p:spPr>
          <a:xfrm>
            <a:off x="709269" y="554854"/>
            <a:ext cx="11001774" cy="5748292"/>
          </a:xfrm>
          <a:prstGeom prst="rect">
            <a:avLst/>
          </a:prstGeom>
        </p:spPr>
      </p:pic>
    </p:spTree>
    <p:extLst>
      <p:ext uri="{BB962C8B-B14F-4D97-AF65-F5344CB8AC3E}">
        <p14:creationId xmlns:p14="http://schemas.microsoft.com/office/powerpoint/2010/main" val="18680732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A797C9-AAF9-48B5-8945-7E0B783D8867}"/>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4F198272-715E-4D3E-A64B-DB18BC435901}"/>
              </a:ext>
            </a:extLst>
          </p:cNvPr>
          <p:cNvSpPr>
            <a:spLocks noGrp="1"/>
          </p:cNvSpPr>
          <p:nvPr>
            <p:ph idx="1"/>
          </p:nvPr>
        </p:nvSpPr>
        <p:spPr/>
        <p:txBody>
          <a:bodyPr>
            <a:normAutofit/>
          </a:bodyPr>
          <a:lstStyle/>
          <a:p>
            <a:pPr marL="0" indent="0">
              <a:buNone/>
            </a:pPr>
            <a:r>
              <a:rPr lang="en-US" dirty="0"/>
              <a:t>Which of the following is the pathophysiologic cause of her symptoms?</a:t>
            </a:r>
          </a:p>
          <a:p>
            <a:pPr marL="971550" lvl="1" indent="-514350">
              <a:buAutoNum type="alphaUcParenR"/>
            </a:pPr>
            <a:r>
              <a:rPr lang="en-US" dirty="0"/>
              <a:t>Aluminum toxicity</a:t>
            </a:r>
          </a:p>
          <a:p>
            <a:pPr marL="971550" lvl="1" indent="-514350">
              <a:buAutoNum type="alphaUcParenR"/>
            </a:pPr>
            <a:r>
              <a:rPr lang="en-US" dirty="0"/>
              <a:t>Aluminum deficiency</a:t>
            </a:r>
          </a:p>
          <a:p>
            <a:pPr marL="971550" lvl="1" indent="-514350">
              <a:buAutoNum type="alphaUcParenR"/>
            </a:pPr>
            <a:r>
              <a:rPr lang="en-US" dirty="0"/>
              <a:t>Selenium toxicity </a:t>
            </a:r>
          </a:p>
          <a:p>
            <a:pPr marL="971550" lvl="1" indent="-514350">
              <a:buAutoNum type="alphaUcParenR"/>
            </a:pPr>
            <a:r>
              <a:rPr lang="en-US" dirty="0"/>
              <a:t>Selenium deficiency</a:t>
            </a:r>
          </a:p>
          <a:p>
            <a:pPr marL="971550" lvl="1" indent="-514350">
              <a:buAutoNum type="alphaUcParenR"/>
            </a:pPr>
            <a:r>
              <a:rPr lang="en-US" dirty="0"/>
              <a:t>Manganese toxicity</a:t>
            </a:r>
          </a:p>
          <a:p>
            <a:pPr marL="971550" lvl="1" indent="-514350">
              <a:buAutoNum type="alphaUcParenR"/>
            </a:pPr>
            <a:r>
              <a:rPr lang="en-US" dirty="0"/>
              <a:t>Manganese deficiency</a:t>
            </a:r>
          </a:p>
          <a:p>
            <a:pPr marL="971550" lvl="1" indent="-514350">
              <a:buAutoNum type="alphaUcParenR"/>
            </a:pPr>
            <a:r>
              <a:rPr lang="en-US" dirty="0"/>
              <a:t>De novo Parkinson’s disease</a:t>
            </a:r>
          </a:p>
          <a:p>
            <a:pPr marL="971550" lvl="1" indent="-514350">
              <a:buAutoNum type="alphaUcParenR"/>
            </a:pPr>
            <a:r>
              <a:rPr lang="en-US" dirty="0"/>
              <a:t>IBD-associated </a:t>
            </a:r>
            <a:r>
              <a:rPr lang="en-US" dirty="0" err="1"/>
              <a:t>neurotixicity</a:t>
            </a:r>
            <a:endParaRPr lang="en-US" dirty="0"/>
          </a:p>
        </p:txBody>
      </p:sp>
    </p:spTree>
    <p:extLst>
      <p:ext uri="{BB962C8B-B14F-4D97-AF65-F5344CB8AC3E}">
        <p14:creationId xmlns:p14="http://schemas.microsoft.com/office/powerpoint/2010/main" val="19907267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close-up of a stone&#10;&#10;Description automatically generated">
            <a:extLst>
              <a:ext uri="{FF2B5EF4-FFF2-40B4-BE49-F238E27FC236}">
                <a16:creationId xmlns:a16="http://schemas.microsoft.com/office/drawing/2014/main" id="{8EBB9F2B-EFBF-4156-88F8-BE8B2442E732}"/>
              </a:ext>
            </a:extLst>
          </p:cNvPr>
          <p:cNvPicPr>
            <a:picLocks noChangeAspect="1"/>
          </p:cNvPicPr>
          <p:nvPr/>
        </p:nvPicPr>
        <p:blipFill>
          <a:blip r:embed="rId2"/>
          <a:stretch>
            <a:fillRect/>
          </a:stretch>
        </p:blipFill>
        <p:spPr>
          <a:xfrm>
            <a:off x="3092824" y="583991"/>
            <a:ext cx="6006352" cy="5690018"/>
          </a:xfrm>
          <a:prstGeom prst="rect">
            <a:avLst/>
          </a:prstGeom>
        </p:spPr>
      </p:pic>
    </p:spTree>
    <p:extLst>
      <p:ext uri="{BB962C8B-B14F-4D97-AF65-F5344CB8AC3E}">
        <p14:creationId xmlns:p14="http://schemas.microsoft.com/office/powerpoint/2010/main" val="13490140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FDEF4-5A48-4186-A50D-CD53BEAD02F2}"/>
              </a:ext>
            </a:extLst>
          </p:cNvPr>
          <p:cNvSpPr>
            <a:spLocks noGrp="1"/>
          </p:cNvSpPr>
          <p:nvPr>
            <p:ph type="title"/>
          </p:nvPr>
        </p:nvSpPr>
        <p:spPr>
          <a:xfrm>
            <a:off x="838200" y="2971657"/>
            <a:ext cx="10515600" cy="2852737"/>
          </a:xfrm>
        </p:spPr>
        <p:txBody>
          <a:bodyPr/>
          <a:lstStyle/>
          <a:p>
            <a:r>
              <a:rPr lang="en-US" dirty="0"/>
              <a:t>How about ammonia levels?</a:t>
            </a:r>
          </a:p>
        </p:txBody>
      </p:sp>
      <p:pic>
        <p:nvPicPr>
          <p:cNvPr id="7" name="Graphic 6">
            <a:extLst>
              <a:ext uri="{FF2B5EF4-FFF2-40B4-BE49-F238E27FC236}">
                <a16:creationId xmlns:a16="http://schemas.microsoft.com/office/drawing/2014/main" id="{666B51F8-648E-4D51-90A1-7FE29F246869}"/>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57201" y="815975"/>
            <a:ext cx="5404362" cy="3438526"/>
          </a:xfrm>
          <a:prstGeom prst="rect">
            <a:avLst/>
          </a:prstGeom>
        </p:spPr>
      </p:pic>
      <p:pic>
        <p:nvPicPr>
          <p:cNvPr id="8" name="Picture 7" descr="A white bottle with blue label&#10;&#10;Description automatically generated">
            <a:extLst>
              <a:ext uri="{FF2B5EF4-FFF2-40B4-BE49-F238E27FC236}">
                <a16:creationId xmlns:a16="http://schemas.microsoft.com/office/drawing/2014/main" id="{84FAFDAC-A28D-49D9-85F3-CEE1D04B6817}"/>
              </a:ext>
            </a:extLst>
          </p:cNvPr>
          <p:cNvPicPr>
            <a:picLocks noChangeAspect="1"/>
          </p:cNvPicPr>
          <p:nvPr/>
        </p:nvPicPr>
        <p:blipFill>
          <a:blip r:embed="rId4"/>
          <a:stretch>
            <a:fillRect/>
          </a:stretch>
        </p:blipFill>
        <p:spPr>
          <a:xfrm>
            <a:off x="6761563" y="483753"/>
            <a:ext cx="3770748" cy="3770748"/>
          </a:xfrm>
          <a:prstGeom prst="rect">
            <a:avLst/>
          </a:prstGeom>
        </p:spPr>
      </p:pic>
    </p:spTree>
    <p:extLst>
      <p:ext uri="{BB962C8B-B14F-4D97-AF65-F5344CB8AC3E}">
        <p14:creationId xmlns:p14="http://schemas.microsoft.com/office/powerpoint/2010/main" val="4849331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different colored lines&#10;&#10;Description automatically generated with medium confidence">
            <a:extLst>
              <a:ext uri="{FF2B5EF4-FFF2-40B4-BE49-F238E27FC236}">
                <a16:creationId xmlns:a16="http://schemas.microsoft.com/office/drawing/2014/main" id="{B789409F-C0D7-4774-815E-B5FE40668D69}"/>
              </a:ext>
            </a:extLst>
          </p:cNvPr>
          <p:cNvPicPr>
            <a:picLocks noChangeAspect="1"/>
          </p:cNvPicPr>
          <p:nvPr/>
        </p:nvPicPr>
        <p:blipFill>
          <a:blip r:embed="rId2"/>
          <a:stretch>
            <a:fillRect/>
          </a:stretch>
        </p:blipFill>
        <p:spPr>
          <a:xfrm>
            <a:off x="1245833" y="1733445"/>
            <a:ext cx="9700334" cy="3628334"/>
          </a:xfrm>
          <a:prstGeom prst="rect">
            <a:avLst/>
          </a:prstGeom>
        </p:spPr>
      </p:pic>
      <p:sp>
        <p:nvSpPr>
          <p:cNvPr id="5" name="TextBox 4">
            <a:extLst>
              <a:ext uri="{FF2B5EF4-FFF2-40B4-BE49-F238E27FC236}">
                <a16:creationId xmlns:a16="http://schemas.microsoft.com/office/drawing/2014/main" id="{FCCE89DB-99F1-49A7-8A42-DF2033F8EAB5}"/>
              </a:ext>
            </a:extLst>
          </p:cNvPr>
          <p:cNvSpPr txBox="1"/>
          <p:nvPr/>
        </p:nvSpPr>
        <p:spPr>
          <a:xfrm>
            <a:off x="1264306" y="5513328"/>
            <a:ext cx="9700334" cy="1200329"/>
          </a:xfrm>
          <a:prstGeom prst="rect">
            <a:avLst/>
          </a:prstGeom>
          <a:noFill/>
        </p:spPr>
        <p:txBody>
          <a:bodyPr wrap="square">
            <a:spAutoFit/>
          </a:bodyPr>
          <a:lstStyle/>
          <a:p>
            <a:r>
              <a:rPr lang="en-US" dirty="0"/>
              <a:t>HE clearing as a function of ammonia level. Clearing was defined as achieving West Haven stage 0 or returning to baseline mental status. Shown are Kaplan-Meier plots of time to clearing (days) in patients with ammonia levels drawn compared to those without an ammonia level drawn (</a:t>
            </a:r>
            <a:r>
              <a:rPr lang="en-US" b="1" dirty="0"/>
              <a:t>a</a:t>
            </a:r>
            <a:r>
              <a:rPr lang="en-US" dirty="0"/>
              <a:t>), as well as clearing rates in those with normal and elevated ammonia levels (</a:t>
            </a:r>
            <a:r>
              <a:rPr lang="en-US" b="1" dirty="0"/>
              <a:t>b</a:t>
            </a:r>
            <a:r>
              <a:rPr lang="en-US" dirty="0"/>
              <a:t>). HE, hepatic encephalopathy. </a:t>
            </a:r>
          </a:p>
        </p:txBody>
      </p:sp>
      <p:pic>
        <p:nvPicPr>
          <p:cNvPr id="7" name="Picture 6">
            <a:extLst>
              <a:ext uri="{FF2B5EF4-FFF2-40B4-BE49-F238E27FC236}">
                <a16:creationId xmlns:a16="http://schemas.microsoft.com/office/drawing/2014/main" id="{D8EA2566-102A-4708-B49A-33A90D134125}"/>
              </a:ext>
            </a:extLst>
          </p:cNvPr>
          <p:cNvPicPr>
            <a:picLocks noChangeAspect="1"/>
          </p:cNvPicPr>
          <p:nvPr/>
        </p:nvPicPr>
        <p:blipFill>
          <a:blip r:embed="rId3"/>
          <a:stretch>
            <a:fillRect/>
          </a:stretch>
        </p:blipFill>
        <p:spPr>
          <a:xfrm>
            <a:off x="2733963" y="113964"/>
            <a:ext cx="6724074" cy="1467932"/>
          </a:xfrm>
          <a:prstGeom prst="rect">
            <a:avLst/>
          </a:prstGeom>
        </p:spPr>
      </p:pic>
    </p:spTree>
    <p:extLst>
      <p:ext uri="{BB962C8B-B14F-4D97-AF65-F5344CB8AC3E}">
        <p14:creationId xmlns:p14="http://schemas.microsoft.com/office/powerpoint/2010/main" val="382872891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graph of an abnormal patient's survival&#10;&#10;Description automatically generated with medium confidence">
            <a:extLst>
              <a:ext uri="{FF2B5EF4-FFF2-40B4-BE49-F238E27FC236}">
                <a16:creationId xmlns:a16="http://schemas.microsoft.com/office/drawing/2014/main" id="{26C8CBF6-DDD2-45E2-B70E-D05C683639E6}"/>
              </a:ext>
            </a:extLst>
          </p:cNvPr>
          <p:cNvPicPr>
            <a:picLocks noChangeAspect="1"/>
          </p:cNvPicPr>
          <p:nvPr/>
        </p:nvPicPr>
        <p:blipFill>
          <a:blip r:embed="rId2"/>
          <a:stretch>
            <a:fillRect/>
          </a:stretch>
        </p:blipFill>
        <p:spPr>
          <a:xfrm>
            <a:off x="6294582" y="2087372"/>
            <a:ext cx="4572000" cy="3977640"/>
          </a:xfrm>
          <a:prstGeom prst="rect">
            <a:avLst/>
          </a:prstGeom>
        </p:spPr>
      </p:pic>
      <p:pic>
        <p:nvPicPr>
          <p:cNvPr id="5" name="Picture 4" descr="A graph of an abnormal patient's survival&#10;&#10;Description automatically generated with medium confidence">
            <a:extLst>
              <a:ext uri="{FF2B5EF4-FFF2-40B4-BE49-F238E27FC236}">
                <a16:creationId xmlns:a16="http://schemas.microsoft.com/office/drawing/2014/main" id="{60D48262-42E9-4264-87D2-0173F7ED1DF4}"/>
              </a:ext>
            </a:extLst>
          </p:cNvPr>
          <p:cNvPicPr>
            <a:picLocks noChangeAspect="1"/>
          </p:cNvPicPr>
          <p:nvPr/>
        </p:nvPicPr>
        <p:blipFill>
          <a:blip r:embed="rId3"/>
          <a:stretch>
            <a:fillRect/>
          </a:stretch>
        </p:blipFill>
        <p:spPr>
          <a:xfrm>
            <a:off x="955963" y="2151380"/>
            <a:ext cx="4572000" cy="3849624"/>
          </a:xfrm>
          <a:prstGeom prst="rect">
            <a:avLst/>
          </a:prstGeom>
        </p:spPr>
      </p:pic>
      <p:pic>
        <p:nvPicPr>
          <p:cNvPr id="7" name="Picture 6">
            <a:extLst>
              <a:ext uri="{FF2B5EF4-FFF2-40B4-BE49-F238E27FC236}">
                <a16:creationId xmlns:a16="http://schemas.microsoft.com/office/drawing/2014/main" id="{19023816-5909-4BF1-8ABE-044B77A2A1FC}"/>
              </a:ext>
            </a:extLst>
          </p:cNvPr>
          <p:cNvPicPr>
            <a:picLocks noChangeAspect="1"/>
          </p:cNvPicPr>
          <p:nvPr/>
        </p:nvPicPr>
        <p:blipFill>
          <a:blip r:embed="rId4"/>
          <a:stretch>
            <a:fillRect/>
          </a:stretch>
        </p:blipFill>
        <p:spPr>
          <a:xfrm>
            <a:off x="1728178" y="85889"/>
            <a:ext cx="8735644" cy="1790950"/>
          </a:xfrm>
          <a:prstGeom prst="rect">
            <a:avLst/>
          </a:prstGeom>
        </p:spPr>
      </p:pic>
    </p:spTree>
    <p:extLst>
      <p:ext uri="{BB962C8B-B14F-4D97-AF65-F5344CB8AC3E}">
        <p14:creationId xmlns:p14="http://schemas.microsoft.com/office/powerpoint/2010/main" val="116141173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756C1EE-9443-4D60-A974-C4FDA884E727}"/>
              </a:ext>
            </a:extLst>
          </p:cNvPr>
          <p:cNvPicPr>
            <a:picLocks noChangeAspect="1"/>
          </p:cNvPicPr>
          <p:nvPr/>
        </p:nvPicPr>
        <p:blipFill>
          <a:blip r:embed="rId2"/>
          <a:stretch>
            <a:fillRect/>
          </a:stretch>
        </p:blipFill>
        <p:spPr>
          <a:xfrm>
            <a:off x="2180678" y="966444"/>
            <a:ext cx="7830643" cy="4925112"/>
          </a:xfrm>
          <a:prstGeom prst="rect">
            <a:avLst/>
          </a:prstGeom>
        </p:spPr>
      </p:pic>
    </p:spTree>
    <p:extLst>
      <p:ext uri="{BB962C8B-B14F-4D97-AF65-F5344CB8AC3E}">
        <p14:creationId xmlns:p14="http://schemas.microsoft.com/office/powerpoint/2010/main" val="1094704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1D3"/>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9496C18-A1B6-46F0-9762-136DAF323081}"/>
              </a:ext>
            </a:extLst>
          </p:cNvPr>
          <p:cNvPicPr>
            <a:picLocks noChangeAspect="1"/>
          </p:cNvPicPr>
          <p:nvPr/>
        </p:nvPicPr>
        <p:blipFill>
          <a:blip r:embed="rId2"/>
          <a:stretch>
            <a:fillRect/>
          </a:stretch>
        </p:blipFill>
        <p:spPr>
          <a:xfrm>
            <a:off x="692443" y="2015855"/>
            <a:ext cx="5249008" cy="3867690"/>
          </a:xfrm>
          <a:prstGeom prst="rect">
            <a:avLst/>
          </a:prstGeom>
        </p:spPr>
      </p:pic>
      <p:pic>
        <p:nvPicPr>
          <p:cNvPr id="5" name="Picture 4">
            <a:extLst>
              <a:ext uri="{FF2B5EF4-FFF2-40B4-BE49-F238E27FC236}">
                <a16:creationId xmlns:a16="http://schemas.microsoft.com/office/drawing/2014/main" id="{7C987169-276A-4C45-A625-848A9F5B4845}"/>
              </a:ext>
            </a:extLst>
          </p:cNvPr>
          <p:cNvPicPr>
            <a:picLocks noChangeAspect="1"/>
          </p:cNvPicPr>
          <p:nvPr/>
        </p:nvPicPr>
        <p:blipFill>
          <a:blip r:embed="rId3"/>
          <a:stretch>
            <a:fillRect/>
          </a:stretch>
        </p:blipFill>
        <p:spPr>
          <a:xfrm>
            <a:off x="6261100" y="2187329"/>
            <a:ext cx="5306165" cy="3524742"/>
          </a:xfrm>
          <a:prstGeom prst="rect">
            <a:avLst/>
          </a:prstGeom>
        </p:spPr>
      </p:pic>
      <p:sp>
        <p:nvSpPr>
          <p:cNvPr id="2" name="Title 1">
            <a:extLst>
              <a:ext uri="{FF2B5EF4-FFF2-40B4-BE49-F238E27FC236}">
                <a16:creationId xmlns:a16="http://schemas.microsoft.com/office/drawing/2014/main" id="{39546247-8D80-400A-9F9C-757C1CE47919}"/>
              </a:ext>
            </a:extLst>
          </p:cNvPr>
          <p:cNvSpPr>
            <a:spLocks noGrp="1"/>
          </p:cNvSpPr>
          <p:nvPr>
            <p:ph type="title"/>
          </p:nvPr>
        </p:nvSpPr>
        <p:spPr/>
        <p:txBody>
          <a:bodyPr/>
          <a:lstStyle/>
          <a:p>
            <a:r>
              <a:rPr lang="en-US" dirty="0"/>
              <a:t>Treatment of Hepatic Encephalopathy</a:t>
            </a:r>
          </a:p>
        </p:txBody>
      </p:sp>
    </p:spTree>
    <p:extLst>
      <p:ext uri="{BB962C8B-B14F-4D97-AF65-F5344CB8AC3E}">
        <p14:creationId xmlns:p14="http://schemas.microsoft.com/office/powerpoint/2010/main" val="152365187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E17BF5-7005-43A3-AD2E-5E919E340B67}"/>
              </a:ext>
            </a:extLst>
          </p:cNvPr>
          <p:cNvSpPr>
            <a:spLocks noGrp="1"/>
          </p:cNvSpPr>
          <p:nvPr>
            <p:ph type="title"/>
          </p:nvPr>
        </p:nvSpPr>
        <p:spPr>
          <a:xfrm>
            <a:off x="469900" y="1"/>
            <a:ext cx="11252200" cy="665017"/>
          </a:xfrm>
        </p:spPr>
        <p:txBody>
          <a:bodyPr>
            <a:normAutofit fontScale="90000"/>
          </a:bodyPr>
          <a:lstStyle/>
          <a:p>
            <a:r>
              <a:rPr lang="en-US" dirty="0"/>
              <a:t>Quiz</a:t>
            </a:r>
          </a:p>
        </p:txBody>
      </p:sp>
      <p:sp>
        <p:nvSpPr>
          <p:cNvPr id="3" name="Content Placeholder 2">
            <a:extLst>
              <a:ext uri="{FF2B5EF4-FFF2-40B4-BE49-F238E27FC236}">
                <a16:creationId xmlns:a16="http://schemas.microsoft.com/office/drawing/2014/main" id="{08AA3DB0-7976-4413-A5FA-1088433511BD}"/>
              </a:ext>
            </a:extLst>
          </p:cNvPr>
          <p:cNvSpPr>
            <a:spLocks noGrp="1"/>
          </p:cNvSpPr>
          <p:nvPr>
            <p:ph idx="1"/>
          </p:nvPr>
        </p:nvSpPr>
        <p:spPr>
          <a:xfrm>
            <a:off x="535709" y="840509"/>
            <a:ext cx="11120582" cy="5741266"/>
          </a:xfrm>
        </p:spPr>
        <p:txBody>
          <a:bodyPr>
            <a:normAutofit lnSpcReduction="10000"/>
          </a:bodyPr>
          <a:lstStyle/>
          <a:p>
            <a:pPr marL="0" indent="0">
              <a:buNone/>
            </a:pPr>
            <a:r>
              <a:rPr lang="en-US" dirty="0"/>
              <a:t>A 54-year-old man is seen in the clinic with progressive cognitive decline, tremors, and difficulty with coordination over the past year. He also reports a chronic history of alcohol abuse and intermittent jaundice. On examination, he exhibits asterixis, dysarthria, and hyperreflexia. His liver function tests are abnormal, showing elevated transaminases and bilirubin. MRI of the brain </a:t>
            </a:r>
            <a:r>
              <a:rPr lang="en-US" b="1" dirty="0"/>
              <a:t>reveals bilateral T2 hyperintense lesions in the basal ganglia</a:t>
            </a:r>
            <a:r>
              <a:rPr lang="en-US" dirty="0"/>
              <a:t>. </a:t>
            </a:r>
          </a:p>
          <a:p>
            <a:pPr marL="0" indent="0">
              <a:buNone/>
            </a:pPr>
            <a:r>
              <a:rPr lang="en-US" dirty="0"/>
              <a:t>What is the most likely underlying cause of his neurological symptoms?</a:t>
            </a:r>
          </a:p>
          <a:p>
            <a:pPr marL="0" indent="0">
              <a:buNone/>
            </a:pPr>
            <a:endParaRPr lang="en-US" dirty="0"/>
          </a:p>
          <a:p>
            <a:pPr marL="457200" lvl="1" indent="0">
              <a:buNone/>
            </a:pPr>
            <a:r>
              <a:rPr lang="en-US" dirty="0"/>
              <a:t>A) Wilson's disease</a:t>
            </a:r>
          </a:p>
          <a:p>
            <a:pPr marL="457200" lvl="1" indent="0">
              <a:buNone/>
            </a:pPr>
            <a:r>
              <a:rPr lang="en-US" dirty="0"/>
              <a:t>B) Hepatocerebral degeneration</a:t>
            </a:r>
          </a:p>
          <a:p>
            <a:pPr marL="457200" lvl="1" indent="0">
              <a:buNone/>
            </a:pPr>
            <a:r>
              <a:rPr lang="en-US" dirty="0"/>
              <a:t>C) Hepatic encephalopathy</a:t>
            </a:r>
          </a:p>
          <a:p>
            <a:pPr marL="457200" lvl="1" indent="0">
              <a:buNone/>
            </a:pPr>
            <a:r>
              <a:rPr lang="en-US" dirty="0"/>
              <a:t>D) Multiple sclerosis</a:t>
            </a:r>
          </a:p>
        </p:txBody>
      </p:sp>
    </p:spTree>
    <p:extLst>
      <p:ext uri="{BB962C8B-B14F-4D97-AF65-F5344CB8AC3E}">
        <p14:creationId xmlns:p14="http://schemas.microsoft.com/office/powerpoint/2010/main" val="363541111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932C4EEE-684B-4640-9074-2FAA92A051CF}"/>
              </a:ext>
            </a:extLst>
          </p:cNvPr>
          <p:cNvSpPr>
            <a:spLocks noGrp="1"/>
          </p:cNvSpPr>
          <p:nvPr>
            <p:ph type="title"/>
          </p:nvPr>
        </p:nvSpPr>
        <p:spPr>
          <a:xfrm>
            <a:off x="838200" y="2630754"/>
            <a:ext cx="10515600" cy="2852737"/>
          </a:xfrm>
        </p:spPr>
        <p:txBody>
          <a:bodyPr/>
          <a:lstStyle/>
          <a:p>
            <a:r>
              <a:rPr lang="en-US" dirty="0"/>
              <a:t>Acquired Non-Wilsonian </a:t>
            </a:r>
            <a:br>
              <a:rPr lang="en-US" dirty="0"/>
            </a:br>
            <a:r>
              <a:rPr lang="en-US" dirty="0"/>
              <a:t>Hepatocerebral Degeneration</a:t>
            </a:r>
          </a:p>
        </p:txBody>
      </p:sp>
      <p:pic>
        <p:nvPicPr>
          <p:cNvPr id="7" name="Picture 6">
            <a:extLst>
              <a:ext uri="{FF2B5EF4-FFF2-40B4-BE49-F238E27FC236}">
                <a16:creationId xmlns:a16="http://schemas.microsoft.com/office/drawing/2014/main" id="{6883B23A-04AD-4C27-80AE-3AB1808234CC}"/>
              </a:ext>
            </a:extLst>
          </p:cNvPr>
          <p:cNvPicPr>
            <a:picLocks noChangeAspect="1"/>
          </p:cNvPicPr>
          <p:nvPr/>
        </p:nvPicPr>
        <p:blipFill>
          <a:blip r:embed="rId2"/>
          <a:stretch>
            <a:fillRect/>
          </a:stretch>
        </p:blipFill>
        <p:spPr>
          <a:xfrm>
            <a:off x="4538445" y="637785"/>
            <a:ext cx="3115110" cy="2791215"/>
          </a:xfrm>
          <a:prstGeom prst="rect">
            <a:avLst/>
          </a:prstGeom>
        </p:spPr>
      </p:pic>
    </p:spTree>
    <p:extLst>
      <p:ext uri="{BB962C8B-B14F-4D97-AF65-F5344CB8AC3E}">
        <p14:creationId xmlns:p14="http://schemas.microsoft.com/office/powerpoint/2010/main" val="25816769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8313D5-1863-4E31-A9C7-50C64CC39666}"/>
              </a:ext>
            </a:extLst>
          </p:cNvPr>
          <p:cNvSpPr>
            <a:spLocks noGrp="1"/>
          </p:cNvSpPr>
          <p:nvPr>
            <p:ph type="title"/>
          </p:nvPr>
        </p:nvSpPr>
        <p:spPr/>
        <p:txBody>
          <a:bodyPr/>
          <a:lstStyle/>
          <a:p>
            <a:r>
              <a:rPr lang="en-US" dirty="0"/>
              <a:t>Hepatocerebral Degeneration</a:t>
            </a:r>
          </a:p>
        </p:txBody>
      </p:sp>
      <p:sp>
        <p:nvSpPr>
          <p:cNvPr id="3" name="Content Placeholder 2">
            <a:extLst>
              <a:ext uri="{FF2B5EF4-FFF2-40B4-BE49-F238E27FC236}">
                <a16:creationId xmlns:a16="http://schemas.microsoft.com/office/drawing/2014/main" id="{34B4BF8E-C53B-4610-AF00-EAF0C82D7BD4}"/>
              </a:ext>
            </a:extLst>
          </p:cNvPr>
          <p:cNvSpPr>
            <a:spLocks noGrp="1"/>
          </p:cNvSpPr>
          <p:nvPr>
            <p:ph idx="1"/>
          </p:nvPr>
        </p:nvSpPr>
        <p:spPr>
          <a:xfrm>
            <a:off x="469900" y="1854200"/>
            <a:ext cx="11252200" cy="4467432"/>
          </a:xfrm>
        </p:spPr>
        <p:txBody>
          <a:bodyPr/>
          <a:lstStyle/>
          <a:p>
            <a:r>
              <a:rPr lang="en-US" dirty="0"/>
              <a:t>Can be confused with Wilson disease</a:t>
            </a:r>
          </a:p>
          <a:p>
            <a:r>
              <a:rPr lang="en-US" dirty="0"/>
              <a:t>Variable presentation including:</a:t>
            </a:r>
          </a:p>
          <a:p>
            <a:pPr lvl="1"/>
            <a:r>
              <a:rPr lang="en-US" dirty="0"/>
              <a:t>Parkinsonism</a:t>
            </a:r>
          </a:p>
          <a:p>
            <a:pPr lvl="1"/>
            <a:r>
              <a:rPr lang="en-US" dirty="0"/>
              <a:t>Cognitive decline</a:t>
            </a:r>
          </a:p>
          <a:p>
            <a:pPr lvl="1"/>
            <a:r>
              <a:rPr lang="en-US" dirty="0"/>
              <a:t>Ataxia</a:t>
            </a:r>
          </a:p>
          <a:p>
            <a:pPr lvl="1"/>
            <a:r>
              <a:rPr lang="en-US" dirty="0"/>
              <a:t>Dystonia</a:t>
            </a:r>
          </a:p>
          <a:p>
            <a:pPr lvl="1"/>
            <a:r>
              <a:rPr lang="en-US" dirty="0"/>
              <a:t>Cranial dyskinesias</a:t>
            </a:r>
          </a:p>
          <a:p>
            <a:pPr lvl="1"/>
            <a:r>
              <a:rPr lang="en-US" dirty="0"/>
              <a:t>Chorea</a:t>
            </a:r>
          </a:p>
          <a:p>
            <a:r>
              <a:rPr lang="en-US" dirty="0"/>
              <a:t>Pathophysiological hypothesis: </a:t>
            </a:r>
            <a:r>
              <a:rPr lang="en-US" b="1" dirty="0"/>
              <a:t>Manganese deposits!</a:t>
            </a:r>
          </a:p>
          <a:p>
            <a:pPr lvl="1"/>
            <a:r>
              <a:rPr lang="en-US" dirty="0"/>
              <a:t>In basal ganglia and cerebellum</a:t>
            </a:r>
          </a:p>
          <a:p>
            <a:endParaRPr lang="en-US" dirty="0"/>
          </a:p>
        </p:txBody>
      </p:sp>
    </p:spTree>
    <p:extLst>
      <p:ext uri="{BB962C8B-B14F-4D97-AF65-F5344CB8AC3E}">
        <p14:creationId xmlns:p14="http://schemas.microsoft.com/office/powerpoint/2010/main" val="259831804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9E52B68-C359-419D-9693-AE6E2C82F69E}"/>
              </a:ext>
            </a:extLst>
          </p:cNvPr>
          <p:cNvPicPr>
            <a:picLocks noChangeAspect="1"/>
          </p:cNvPicPr>
          <p:nvPr/>
        </p:nvPicPr>
        <p:blipFill>
          <a:blip r:embed="rId2"/>
          <a:stretch>
            <a:fillRect/>
          </a:stretch>
        </p:blipFill>
        <p:spPr>
          <a:xfrm>
            <a:off x="664445" y="266700"/>
            <a:ext cx="10863110" cy="5905501"/>
          </a:xfrm>
          <a:prstGeom prst="rect">
            <a:avLst/>
          </a:prstGeom>
        </p:spPr>
      </p:pic>
      <p:sp>
        <p:nvSpPr>
          <p:cNvPr id="7" name="TextBox 6">
            <a:extLst>
              <a:ext uri="{FF2B5EF4-FFF2-40B4-BE49-F238E27FC236}">
                <a16:creationId xmlns:a16="http://schemas.microsoft.com/office/drawing/2014/main" id="{477F61AB-7898-4AD1-A050-B7F27056F8F5}"/>
              </a:ext>
            </a:extLst>
          </p:cNvPr>
          <p:cNvSpPr txBox="1"/>
          <p:nvPr/>
        </p:nvSpPr>
        <p:spPr>
          <a:xfrm>
            <a:off x="6096000" y="6488668"/>
            <a:ext cx="6096000" cy="369332"/>
          </a:xfrm>
          <a:prstGeom prst="rect">
            <a:avLst/>
          </a:prstGeom>
          <a:noFill/>
        </p:spPr>
        <p:txBody>
          <a:bodyPr wrap="square">
            <a:spAutoFit/>
          </a:bodyPr>
          <a:lstStyle/>
          <a:p>
            <a:pPr algn="r"/>
            <a:r>
              <a:rPr lang="en-US" dirty="0"/>
              <a:t>Tremor Other </a:t>
            </a:r>
            <a:r>
              <a:rPr lang="en-US" dirty="0" err="1"/>
              <a:t>Hyperkinet</a:t>
            </a:r>
            <a:r>
              <a:rPr lang="en-US" dirty="0"/>
              <a:t> Mov (N Y). 2017 Sep 5;7:463</a:t>
            </a:r>
          </a:p>
        </p:txBody>
      </p:sp>
    </p:spTree>
    <p:extLst>
      <p:ext uri="{BB962C8B-B14F-4D97-AF65-F5344CB8AC3E}">
        <p14:creationId xmlns:p14="http://schemas.microsoft.com/office/powerpoint/2010/main" val="67739071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78E09-1F9B-4392-B210-B329308F9F7A}"/>
              </a:ext>
            </a:extLst>
          </p:cNvPr>
          <p:cNvSpPr>
            <a:spLocks noGrp="1"/>
          </p:cNvSpPr>
          <p:nvPr>
            <p:ph type="title"/>
          </p:nvPr>
        </p:nvSpPr>
        <p:spPr/>
        <p:txBody>
          <a:bodyPr/>
          <a:lstStyle/>
          <a:p>
            <a:r>
              <a:rPr lang="en-US" dirty="0"/>
              <a:t>How to differentiate from Wilson?</a:t>
            </a:r>
          </a:p>
        </p:txBody>
      </p:sp>
      <p:graphicFrame>
        <p:nvGraphicFramePr>
          <p:cNvPr id="5" name="Table 5">
            <a:extLst>
              <a:ext uri="{FF2B5EF4-FFF2-40B4-BE49-F238E27FC236}">
                <a16:creationId xmlns:a16="http://schemas.microsoft.com/office/drawing/2014/main" id="{17830D76-3F0D-4B6F-9D5E-25FA3B2A6D74}"/>
              </a:ext>
            </a:extLst>
          </p:cNvPr>
          <p:cNvGraphicFramePr>
            <a:graphicFrameLocks noGrp="1"/>
          </p:cNvGraphicFramePr>
          <p:nvPr>
            <p:ph idx="4294967295"/>
            <p:extLst>
              <p:ext uri="{D42A27DB-BD31-4B8C-83A1-F6EECF244321}">
                <p14:modId xmlns:p14="http://schemas.microsoft.com/office/powerpoint/2010/main" val="1688715750"/>
              </p:ext>
            </p:extLst>
          </p:nvPr>
        </p:nvGraphicFramePr>
        <p:xfrm>
          <a:off x="711201" y="1987549"/>
          <a:ext cx="10769601" cy="3730348"/>
        </p:xfrm>
        <a:graphic>
          <a:graphicData uri="http://schemas.openxmlformats.org/drawingml/2006/table">
            <a:tbl>
              <a:tblPr firstRow="1" bandRow="1">
                <a:tableStyleId>{5940675A-B579-460E-94D1-54222C63F5DA}</a:tableStyleId>
              </a:tblPr>
              <a:tblGrid>
                <a:gridCol w="3589867">
                  <a:extLst>
                    <a:ext uri="{9D8B030D-6E8A-4147-A177-3AD203B41FA5}">
                      <a16:colId xmlns:a16="http://schemas.microsoft.com/office/drawing/2014/main" val="3133726719"/>
                    </a:ext>
                  </a:extLst>
                </a:gridCol>
                <a:gridCol w="3589867">
                  <a:extLst>
                    <a:ext uri="{9D8B030D-6E8A-4147-A177-3AD203B41FA5}">
                      <a16:colId xmlns:a16="http://schemas.microsoft.com/office/drawing/2014/main" val="1749803683"/>
                    </a:ext>
                  </a:extLst>
                </a:gridCol>
                <a:gridCol w="3589867">
                  <a:extLst>
                    <a:ext uri="{9D8B030D-6E8A-4147-A177-3AD203B41FA5}">
                      <a16:colId xmlns:a16="http://schemas.microsoft.com/office/drawing/2014/main" val="2625046974"/>
                    </a:ext>
                  </a:extLst>
                </a:gridCol>
              </a:tblGrid>
              <a:tr h="840384">
                <a:tc>
                  <a:txBody>
                    <a:bodyPr/>
                    <a:lstStyle/>
                    <a:p>
                      <a:pPr algn="ctr"/>
                      <a:r>
                        <a:rPr lang="en-US" sz="2800" b="1" dirty="0"/>
                        <a:t>Characteristic </a:t>
                      </a:r>
                    </a:p>
                  </a:txBody>
                  <a:tcPr anchor="ctr"/>
                </a:tc>
                <a:tc>
                  <a:txBody>
                    <a:bodyPr/>
                    <a:lstStyle/>
                    <a:p>
                      <a:pPr algn="ctr"/>
                      <a:r>
                        <a:rPr lang="en-US" sz="2800" b="1" dirty="0"/>
                        <a:t>Hepatocerebral Degeneration</a:t>
                      </a:r>
                    </a:p>
                  </a:txBody>
                  <a:tcPr anchor="ctr"/>
                </a:tc>
                <a:tc>
                  <a:txBody>
                    <a:bodyPr/>
                    <a:lstStyle/>
                    <a:p>
                      <a:pPr algn="ctr"/>
                      <a:r>
                        <a:rPr lang="en-US" sz="2800" b="1" dirty="0"/>
                        <a:t>Wilson Disease</a:t>
                      </a:r>
                    </a:p>
                  </a:txBody>
                  <a:tcPr anchor="ctr"/>
                </a:tc>
                <a:extLst>
                  <a:ext uri="{0D108BD9-81ED-4DB2-BD59-A6C34878D82A}">
                    <a16:rowId xmlns:a16="http://schemas.microsoft.com/office/drawing/2014/main" val="3839459589"/>
                  </a:ext>
                </a:extLst>
              </a:tr>
              <a:tr h="606568">
                <a:tc>
                  <a:txBody>
                    <a:bodyPr/>
                    <a:lstStyle/>
                    <a:p>
                      <a:pPr algn="ctr"/>
                      <a:r>
                        <a:rPr lang="en-US" sz="2800" b="1" dirty="0"/>
                        <a:t>Age</a:t>
                      </a:r>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1538125212"/>
                  </a:ext>
                </a:extLst>
              </a:tr>
              <a:tr h="606568">
                <a:tc>
                  <a:txBody>
                    <a:bodyPr/>
                    <a:lstStyle/>
                    <a:p>
                      <a:pPr algn="ctr"/>
                      <a:r>
                        <a:rPr lang="en-US" sz="2800" b="1" dirty="0"/>
                        <a:t>Ceruloplasmin</a:t>
                      </a:r>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3209337512"/>
                  </a:ext>
                </a:extLst>
              </a:tr>
              <a:tr h="731948">
                <a:tc>
                  <a:txBody>
                    <a:bodyPr/>
                    <a:lstStyle/>
                    <a:p>
                      <a:pPr algn="ctr"/>
                      <a:r>
                        <a:rPr lang="en-US" sz="2800" b="1" dirty="0"/>
                        <a:t>Genetics</a:t>
                      </a:r>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2983679214"/>
                  </a:ext>
                </a:extLst>
              </a:tr>
              <a:tr h="840384">
                <a:tc>
                  <a:txBody>
                    <a:bodyPr/>
                    <a:lstStyle/>
                    <a:p>
                      <a:pPr algn="ctr"/>
                      <a:r>
                        <a:rPr lang="en-US" sz="2800" b="1" dirty="0"/>
                        <a:t>Kayser-Fleischer rings</a:t>
                      </a:r>
                    </a:p>
                  </a:txBody>
                  <a:tcPr anchor="ctr"/>
                </a:tc>
                <a:tc>
                  <a:txBody>
                    <a:bodyPr/>
                    <a:lstStyle/>
                    <a:p>
                      <a:pPr algn="ctr"/>
                      <a:endParaRPr lang="en-US" sz="2400" dirty="0"/>
                    </a:p>
                  </a:txBody>
                  <a:tcPr anchor="ctr"/>
                </a:tc>
                <a:tc>
                  <a:txBody>
                    <a:bodyPr/>
                    <a:lstStyle/>
                    <a:p>
                      <a:pPr algn="ctr"/>
                      <a:endParaRPr lang="en-US" sz="2400" dirty="0"/>
                    </a:p>
                  </a:txBody>
                  <a:tcPr anchor="ctr"/>
                </a:tc>
                <a:extLst>
                  <a:ext uri="{0D108BD9-81ED-4DB2-BD59-A6C34878D82A}">
                    <a16:rowId xmlns:a16="http://schemas.microsoft.com/office/drawing/2014/main" val="4068254546"/>
                  </a:ext>
                </a:extLst>
              </a:tr>
            </a:tbl>
          </a:graphicData>
        </a:graphic>
      </p:graphicFrame>
    </p:spTree>
    <p:extLst>
      <p:ext uri="{BB962C8B-B14F-4D97-AF65-F5344CB8AC3E}">
        <p14:creationId xmlns:p14="http://schemas.microsoft.com/office/powerpoint/2010/main" val="118155291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a:extLst>
              <a:ext uri="{FF2B5EF4-FFF2-40B4-BE49-F238E27FC236}">
                <a16:creationId xmlns:a16="http://schemas.microsoft.com/office/drawing/2014/main" id="{53F78E09-1F9B-4392-B210-B329308F9F7A}"/>
              </a:ext>
            </a:extLst>
          </p:cNvPr>
          <p:cNvSpPr>
            <a:spLocks noGrp="1"/>
          </p:cNvSpPr>
          <p:nvPr>
            <p:ph type="title"/>
          </p:nvPr>
        </p:nvSpPr>
        <p:spPr/>
        <p:txBody>
          <a:bodyPr/>
          <a:lstStyle/>
          <a:p>
            <a:r>
              <a:rPr lang="en-US" dirty="0"/>
              <a:t>How to differentiate from Wilson?</a:t>
            </a:r>
          </a:p>
        </p:txBody>
      </p:sp>
      <p:graphicFrame>
        <p:nvGraphicFramePr>
          <p:cNvPr id="5" name="Table 5">
            <a:extLst>
              <a:ext uri="{FF2B5EF4-FFF2-40B4-BE49-F238E27FC236}">
                <a16:creationId xmlns:a16="http://schemas.microsoft.com/office/drawing/2014/main" id="{17830D76-3F0D-4B6F-9D5E-25FA3B2A6D74}"/>
              </a:ext>
            </a:extLst>
          </p:cNvPr>
          <p:cNvGraphicFramePr>
            <a:graphicFrameLocks noGrp="1"/>
          </p:cNvGraphicFramePr>
          <p:nvPr>
            <p:ph idx="4294967295"/>
          </p:nvPr>
        </p:nvGraphicFramePr>
        <p:xfrm>
          <a:off x="711201" y="1987549"/>
          <a:ext cx="10769601" cy="3730348"/>
        </p:xfrm>
        <a:graphic>
          <a:graphicData uri="http://schemas.openxmlformats.org/drawingml/2006/table">
            <a:tbl>
              <a:tblPr firstRow="1" bandRow="1">
                <a:tableStyleId>{5940675A-B579-460E-94D1-54222C63F5DA}</a:tableStyleId>
              </a:tblPr>
              <a:tblGrid>
                <a:gridCol w="3589867">
                  <a:extLst>
                    <a:ext uri="{9D8B030D-6E8A-4147-A177-3AD203B41FA5}">
                      <a16:colId xmlns:a16="http://schemas.microsoft.com/office/drawing/2014/main" val="3133726719"/>
                    </a:ext>
                  </a:extLst>
                </a:gridCol>
                <a:gridCol w="3589867">
                  <a:extLst>
                    <a:ext uri="{9D8B030D-6E8A-4147-A177-3AD203B41FA5}">
                      <a16:colId xmlns:a16="http://schemas.microsoft.com/office/drawing/2014/main" val="1749803683"/>
                    </a:ext>
                  </a:extLst>
                </a:gridCol>
                <a:gridCol w="3589867">
                  <a:extLst>
                    <a:ext uri="{9D8B030D-6E8A-4147-A177-3AD203B41FA5}">
                      <a16:colId xmlns:a16="http://schemas.microsoft.com/office/drawing/2014/main" val="2625046974"/>
                    </a:ext>
                  </a:extLst>
                </a:gridCol>
              </a:tblGrid>
              <a:tr h="840384">
                <a:tc>
                  <a:txBody>
                    <a:bodyPr/>
                    <a:lstStyle/>
                    <a:p>
                      <a:pPr algn="ctr"/>
                      <a:r>
                        <a:rPr lang="en-US" sz="2800" b="1" dirty="0"/>
                        <a:t>Characteristic </a:t>
                      </a:r>
                    </a:p>
                  </a:txBody>
                  <a:tcPr anchor="ctr"/>
                </a:tc>
                <a:tc>
                  <a:txBody>
                    <a:bodyPr/>
                    <a:lstStyle/>
                    <a:p>
                      <a:pPr algn="ctr"/>
                      <a:r>
                        <a:rPr lang="en-US" sz="2800" b="1" dirty="0"/>
                        <a:t>Hepatocerebral Degeneration</a:t>
                      </a:r>
                    </a:p>
                  </a:txBody>
                  <a:tcPr anchor="ctr"/>
                </a:tc>
                <a:tc>
                  <a:txBody>
                    <a:bodyPr/>
                    <a:lstStyle/>
                    <a:p>
                      <a:pPr algn="ctr"/>
                      <a:r>
                        <a:rPr lang="en-US" sz="2800" b="1" dirty="0"/>
                        <a:t>Wilson Disease</a:t>
                      </a:r>
                    </a:p>
                  </a:txBody>
                  <a:tcPr anchor="ctr"/>
                </a:tc>
                <a:extLst>
                  <a:ext uri="{0D108BD9-81ED-4DB2-BD59-A6C34878D82A}">
                    <a16:rowId xmlns:a16="http://schemas.microsoft.com/office/drawing/2014/main" val="3839459589"/>
                  </a:ext>
                </a:extLst>
              </a:tr>
              <a:tr h="606568">
                <a:tc>
                  <a:txBody>
                    <a:bodyPr/>
                    <a:lstStyle/>
                    <a:p>
                      <a:pPr algn="ctr"/>
                      <a:r>
                        <a:rPr lang="en-US" sz="2800" b="1" dirty="0"/>
                        <a:t>Age</a:t>
                      </a:r>
                    </a:p>
                  </a:txBody>
                  <a:tcPr anchor="ctr"/>
                </a:tc>
                <a:tc>
                  <a:txBody>
                    <a:bodyPr/>
                    <a:lstStyle/>
                    <a:p>
                      <a:pPr algn="ctr"/>
                      <a:r>
                        <a:rPr lang="en-US" sz="2400" dirty="0"/>
                        <a:t>Old</a:t>
                      </a:r>
                    </a:p>
                  </a:txBody>
                  <a:tcPr anchor="ctr"/>
                </a:tc>
                <a:tc>
                  <a:txBody>
                    <a:bodyPr/>
                    <a:lstStyle/>
                    <a:p>
                      <a:pPr algn="ctr"/>
                      <a:r>
                        <a:rPr lang="en-US" sz="2400" dirty="0"/>
                        <a:t>Young</a:t>
                      </a:r>
                    </a:p>
                  </a:txBody>
                  <a:tcPr anchor="ctr"/>
                </a:tc>
                <a:extLst>
                  <a:ext uri="{0D108BD9-81ED-4DB2-BD59-A6C34878D82A}">
                    <a16:rowId xmlns:a16="http://schemas.microsoft.com/office/drawing/2014/main" val="1538125212"/>
                  </a:ext>
                </a:extLst>
              </a:tr>
              <a:tr h="606568">
                <a:tc>
                  <a:txBody>
                    <a:bodyPr/>
                    <a:lstStyle/>
                    <a:p>
                      <a:pPr algn="ctr"/>
                      <a:r>
                        <a:rPr lang="en-US" sz="2800" b="1" dirty="0"/>
                        <a:t>Ceruloplasmin</a:t>
                      </a:r>
                    </a:p>
                  </a:txBody>
                  <a:tcPr anchor="ctr"/>
                </a:tc>
                <a:tc>
                  <a:txBody>
                    <a:bodyPr/>
                    <a:lstStyle/>
                    <a:p>
                      <a:pPr algn="ctr"/>
                      <a:r>
                        <a:rPr lang="en-US" sz="2400" dirty="0"/>
                        <a:t>Normal/High</a:t>
                      </a:r>
                    </a:p>
                  </a:txBody>
                  <a:tcPr anchor="ctr"/>
                </a:tc>
                <a:tc>
                  <a:txBody>
                    <a:bodyPr/>
                    <a:lstStyle/>
                    <a:p>
                      <a:pPr algn="ctr"/>
                      <a:r>
                        <a:rPr lang="en-US" sz="2400" dirty="0"/>
                        <a:t>Low</a:t>
                      </a:r>
                    </a:p>
                  </a:txBody>
                  <a:tcPr anchor="ctr"/>
                </a:tc>
                <a:extLst>
                  <a:ext uri="{0D108BD9-81ED-4DB2-BD59-A6C34878D82A}">
                    <a16:rowId xmlns:a16="http://schemas.microsoft.com/office/drawing/2014/main" val="3209337512"/>
                  </a:ext>
                </a:extLst>
              </a:tr>
              <a:tr h="731948">
                <a:tc>
                  <a:txBody>
                    <a:bodyPr/>
                    <a:lstStyle/>
                    <a:p>
                      <a:pPr algn="ctr"/>
                      <a:r>
                        <a:rPr lang="en-US" sz="2800" b="1" dirty="0"/>
                        <a:t>Genetics</a:t>
                      </a:r>
                    </a:p>
                  </a:txBody>
                  <a:tcPr anchor="ctr"/>
                </a:tc>
                <a:tc>
                  <a:txBody>
                    <a:bodyPr/>
                    <a:lstStyle/>
                    <a:p>
                      <a:pPr algn="ctr"/>
                      <a:r>
                        <a:rPr lang="en-US" sz="2400" dirty="0"/>
                        <a:t>Wild type</a:t>
                      </a:r>
                    </a:p>
                  </a:txBody>
                  <a:tcPr anchor="ctr"/>
                </a:tc>
                <a:tc>
                  <a:txBody>
                    <a:bodyPr/>
                    <a:lstStyle/>
                    <a:p>
                      <a:pPr algn="ctr"/>
                      <a:r>
                        <a:rPr lang="en-US" sz="2400" dirty="0"/>
                        <a:t>ATP7B Gene Mutation</a:t>
                      </a:r>
                    </a:p>
                  </a:txBody>
                  <a:tcPr anchor="ctr"/>
                </a:tc>
                <a:extLst>
                  <a:ext uri="{0D108BD9-81ED-4DB2-BD59-A6C34878D82A}">
                    <a16:rowId xmlns:a16="http://schemas.microsoft.com/office/drawing/2014/main" val="2983679214"/>
                  </a:ext>
                </a:extLst>
              </a:tr>
              <a:tr h="840384">
                <a:tc>
                  <a:txBody>
                    <a:bodyPr/>
                    <a:lstStyle/>
                    <a:p>
                      <a:pPr algn="ctr"/>
                      <a:r>
                        <a:rPr lang="en-US" sz="2800" b="1" dirty="0"/>
                        <a:t>Kayser-Fleischer rings</a:t>
                      </a:r>
                    </a:p>
                  </a:txBody>
                  <a:tcPr anchor="ctr"/>
                </a:tc>
                <a:tc>
                  <a:txBody>
                    <a:bodyPr/>
                    <a:lstStyle/>
                    <a:p>
                      <a:pPr algn="ctr"/>
                      <a:r>
                        <a:rPr lang="en-US" sz="2400" dirty="0"/>
                        <a:t>Not present</a:t>
                      </a:r>
                    </a:p>
                  </a:txBody>
                  <a:tcPr anchor="ctr"/>
                </a:tc>
                <a:tc>
                  <a:txBody>
                    <a:bodyPr/>
                    <a:lstStyle/>
                    <a:p>
                      <a:pPr algn="ctr"/>
                      <a:r>
                        <a:rPr lang="en-US" sz="2400" dirty="0"/>
                        <a:t>Present</a:t>
                      </a:r>
                    </a:p>
                  </a:txBody>
                  <a:tcPr anchor="ctr"/>
                </a:tc>
                <a:extLst>
                  <a:ext uri="{0D108BD9-81ED-4DB2-BD59-A6C34878D82A}">
                    <a16:rowId xmlns:a16="http://schemas.microsoft.com/office/drawing/2014/main" val="4068254546"/>
                  </a:ext>
                </a:extLst>
              </a:tr>
            </a:tbl>
          </a:graphicData>
        </a:graphic>
      </p:graphicFrame>
    </p:spTree>
    <p:extLst>
      <p:ext uri="{BB962C8B-B14F-4D97-AF65-F5344CB8AC3E}">
        <p14:creationId xmlns:p14="http://schemas.microsoft.com/office/powerpoint/2010/main" val="178365668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C67335C-FE4E-4197-A576-84B848784A4C}"/>
              </a:ext>
            </a:extLst>
          </p:cNvPr>
          <p:cNvSpPr>
            <a:spLocks noGrp="1"/>
          </p:cNvSpPr>
          <p:nvPr>
            <p:ph type="title"/>
          </p:nvPr>
        </p:nvSpPr>
        <p:spPr/>
        <p:txBody>
          <a:bodyPr/>
          <a:lstStyle/>
          <a:p>
            <a:r>
              <a:rPr lang="en-US" dirty="0"/>
              <a:t>So if Manganese is so toxic, why not chelate it?</a:t>
            </a:r>
          </a:p>
        </p:txBody>
      </p:sp>
      <p:sp>
        <p:nvSpPr>
          <p:cNvPr id="5" name="Text Placeholder 4">
            <a:extLst>
              <a:ext uri="{FF2B5EF4-FFF2-40B4-BE49-F238E27FC236}">
                <a16:creationId xmlns:a16="http://schemas.microsoft.com/office/drawing/2014/main" id="{34C00D62-D254-4394-88CE-8A4B545D3C46}"/>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127107472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C00C84-9DD1-4875-B090-C85056888433}"/>
              </a:ext>
            </a:extLst>
          </p:cNvPr>
          <p:cNvSpPr>
            <a:spLocks noGrp="1"/>
          </p:cNvSpPr>
          <p:nvPr>
            <p:ph type="title"/>
          </p:nvPr>
        </p:nvSpPr>
        <p:spPr/>
        <p:txBody>
          <a:bodyPr/>
          <a:lstStyle/>
          <a:p>
            <a:r>
              <a:rPr lang="en-US" dirty="0"/>
              <a:t>Treatment of Hepatocerebral Degeneration</a:t>
            </a:r>
          </a:p>
        </p:txBody>
      </p:sp>
      <p:sp>
        <p:nvSpPr>
          <p:cNvPr id="7" name="Content Placeholder 6">
            <a:extLst>
              <a:ext uri="{FF2B5EF4-FFF2-40B4-BE49-F238E27FC236}">
                <a16:creationId xmlns:a16="http://schemas.microsoft.com/office/drawing/2014/main" id="{666EEE0B-8014-41E7-8361-5423362A4F2F}"/>
              </a:ext>
            </a:extLst>
          </p:cNvPr>
          <p:cNvSpPr>
            <a:spLocks noGrp="1"/>
          </p:cNvSpPr>
          <p:nvPr>
            <p:ph idx="1"/>
          </p:nvPr>
        </p:nvSpPr>
        <p:spPr>
          <a:xfrm>
            <a:off x="215348" y="1446868"/>
            <a:ext cx="11761304" cy="5123933"/>
          </a:xfrm>
        </p:spPr>
        <p:txBody>
          <a:bodyPr>
            <a:normAutofit fontScale="77500" lnSpcReduction="20000"/>
          </a:bodyPr>
          <a:lstStyle/>
          <a:p>
            <a:pPr algn="l">
              <a:buFont typeface="Arial" panose="020B0604020202020204" pitchFamily="34" charset="0"/>
              <a:buChar char="•"/>
            </a:pPr>
            <a:r>
              <a:rPr lang="en-US" b="1" i="0" dirty="0" err="1">
                <a:effectLst/>
              </a:rPr>
              <a:t>Trientine</a:t>
            </a:r>
            <a:endParaRPr lang="en-US" b="0" i="0" dirty="0">
              <a:effectLst/>
            </a:endParaRPr>
          </a:p>
          <a:p>
            <a:pPr marL="742950" lvl="1" indent="-285750" algn="l">
              <a:buFont typeface="Arial" panose="020B0604020202020204" pitchFamily="34" charset="0"/>
              <a:buChar char="•"/>
            </a:pPr>
            <a:r>
              <a:rPr lang="en-US" b="0" i="0" dirty="0">
                <a:effectLst/>
              </a:rPr>
              <a:t>Chelates manganese</a:t>
            </a:r>
          </a:p>
          <a:p>
            <a:pPr marL="742950" lvl="1" indent="-285750" algn="l">
              <a:buFont typeface="Arial" panose="020B0604020202020204" pitchFamily="34" charset="0"/>
              <a:buChar char="•"/>
            </a:pPr>
            <a:r>
              <a:rPr lang="en-US" b="0" i="0" dirty="0">
                <a:effectLst/>
              </a:rPr>
              <a:t>Improves parkinsonian symptoms</a:t>
            </a:r>
          </a:p>
          <a:p>
            <a:pPr marL="742950" lvl="1" indent="-285750" algn="l">
              <a:buFont typeface="Arial" panose="020B0604020202020204" pitchFamily="34" charset="0"/>
              <a:buChar char="•"/>
            </a:pPr>
            <a:r>
              <a:rPr lang="en-US" b="0" i="0" dirty="0">
                <a:effectLst/>
              </a:rPr>
              <a:t>Eliminates abnormal signal intensity on brain MRI</a:t>
            </a:r>
          </a:p>
          <a:p>
            <a:pPr algn="l">
              <a:buFont typeface="Arial" panose="020B0604020202020204" pitchFamily="34" charset="0"/>
              <a:buChar char="•"/>
            </a:pPr>
            <a:r>
              <a:rPr lang="en-US" b="1" i="0" dirty="0">
                <a:effectLst/>
              </a:rPr>
              <a:t>Branched-Chain Amino Acids (BCAAs)</a:t>
            </a:r>
            <a:endParaRPr lang="en-US" b="0" i="0" dirty="0">
              <a:effectLst/>
            </a:endParaRPr>
          </a:p>
          <a:p>
            <a:pPr marL="742950" lvl="1" indent="-285750" algn="l">
              <a:buFont typeface="Arial" panose="020B0604020202020204" pitchFamily="34" charset="0"/>
              <a:buChar char="•"/>
            </a:pPr>
            <a:r>
              <a:rPr lang="en-US" b="0" i="0" dirty="0">
                <a:effectLst/>
              </a:rPr>
              <a:t>Compete with aromatic amino acids (AAAs) for blood-brain transport</a:t>
            </a:r>
          </a:p>
          <a:p>
            <a:pPr marL="742950" lvl="1" indent="-285750" algn="l">
              <a:buFont typeface="Arial" panose="020B0604020202020204" pitchFamily="34" charset="0"/>
              <a:buChar char="•"/>
            </a:pPr>
            <a:r>
              <a:rPr lang="en-US" b="0" i="0" dirty="0">
                <a:effectLst/>
              </a:rPr>
              <a:t>Reduce AAA entry into the brain</a:t>
            </a:r>
          </a:p>
          <a:p>
            <a:pPr marL="742950" lvl="1" indent="-285750" algn="l">
              <a:buFont typeface="Arial" panose="020B0604020202020204" pitchFamily="34" charset="0"/>
              <a:buChar char="•"/>
            </a:pPr>
            <a:r>
              <a:rPr lang="en-US" b="0" i="0" dirty="0">
                <a:effectLst/>
              </a:rPr>
              <a:t>Improves neurological deficits in AHD patients</a:t>
            </a:r>
          </a:p>
          <a:p>
            <a:pPr marL="742950" lvl="1" indent="-285750" algn="l">
              <a:buFont typeface="Arial" panose="020B0604020202020204" pitchFamily="34" charset="0"/>
              <a:buChar char="•"/>
            </a:pPr>
            <a:r>
              <a:rPr lang="en-US" b="0" i="0" dirty="0">
                <a:effectLst/>
              </a:rPr>
              <a:t>Case reports show improvements in imaging findings and symptoms:</a:t>
            </a:r>
          </a:p>
          <a:p>
            <a:pPr marL="1143000" lvl="2" indent="-228600" algn="l">
              <a:buFont typeface="Arial" panose="020B0604020202020204" pitchFamily="34" charset="0"/>
              <a:buChar char="•"/>
            </a:pPr>
            <a:r>
              <a:rPr lang="en-US" b="0" i="0" dirty="0">
                <a:effectLst/>
              </a:rPr>
              <a:t>Parkinsonism</a:t>
            </a:r>
          </a:p>
          <a:p>
            <a:pPr marL="1143000" lvl="2" indent="-228600" algn="l">
              <a:buFont typeface="Arial" panose="020B0604020202020204" pitchFamily="34" charset="0"/>
              <a:buChar char="•"/>
            </a:pPr>
            <a:r>
              <a:rPr lang="en-US" b="0" i="0" dirty="0">
                <a:effectLst/>
              </a:rPr>
              <a:t>Cerebellar ataxia</a:t>
            </a:r>
          </a:p>
          <a:p>
            <a:pPr algn="l">
              <a:buFont typeface="Arial" panose="020B0604020202020204" pitchFamily="34" charset="0"/>
              <a:buChar char="•"/>
            </a:pPr>
            <a:r>
              <a:rPr lang="en-US" b="1" i="0" dirty="0">
                <a:effectLst/>
              </a:rPr>
              <a:t>Balloon-Occluded Retrograde Transvenous Obliteration (BRTO)</a:t>
            </a:r>
            <a:endParaRPr lang="en-US" b="0" i="0" dirty="0">
              <a:effectLst/>
            </a:endParaRPr>
          </a:p>
          <a:p>
            <a:pPr marL="742950" lvl="1" indent="-285750" algn="l">
              <a:buFont typeface="Arial" panose="020B0604020202020204" pitchFamily="34" charset="0"/>
              <a:buChar char="•"/>
            </a:pPr>
            <a:r>
              <a:rPr lang="en-US" b="0" i="0" dirty="0">
                <a:effectLst/>
              </a:rPr>
              <a:t>Elective treatment for gastric varices in liver cirrhosis patients</a:t>
            </a:r>
          </a:p>
          <a:p>
            <a:pPr marL="742950" lvl="1" indent="-285750" algn="l">
              <a:buFont typeface="Arial" panose="020B0604020202020204" pitchFamily="34" charset="0"/>
              <a:buChar char="•"/>
            </a:pPr>
            <a:r>
              <a:rPr lang="en-US" b="0" i="0" dirty="0">
                <a:effectLst/>
              </a:rPr>
              <a:t>Improves ataxia and parkinsonism</a:t>
            </a:r>
          </a:p>
          <a:p>
            <a:pPr marL="742950" lvl="1" indent="-285750" algn="l">
              <a:buFont typeface="Arial" panose="020B0604020202020204" pitchFamily="34" charset="0"/>
              <a:buChar char="•"/>
            </a:pPr>
            <a:r>
              <a:rPr lang="en-US" b="0" i="0" dirty="0">
                <a:effectLst/>
              </a:rPr>
              <a:t>Reverses abnormal brain MRI signals</a:t>
            </a:r>
          </a:p>
          <a:p>
            <a:pPr algn="l">
              <a:buFont typeface="Arial" panose="020B0604020202020204" pitchFamily="34" charset="0"/>
              <a:buChar char="•"/>
            </a:pPr>
            <a:r>
              <a:rPr lang="en-US" b="1" i="0" dirty="0">
                <a:effectLst/>
              </a:rPr>
              <a:t>Portosystemic Shunt Obliteration via Percutaneous Transvenous Embolization</a:t>
            </a:r>
            <a:endParaRPr lang="en-US" b="0" i="0" dirty="0">
              <a:effectLst/>
            </a:endParaRPr>
          </a:p>
          <a:p>
            <a:pPr marL="742950" lvl="1" indent="-285750" algn="l">
              <a:buFont typeface="Arial" panose="020B0604020202020204" pitchFamily="34" charset="0"/>
              <a:buChar char="•"/>
            </a:pPr>
            <a:r>
              <a:rPr lang="en-US" b="0" i="0" dirty="0">
                <a:effectLst/>
              </a:rPr>
              <a:t>Improves cerebellar symptoms</a:t>
            </a:r>
          </a:p>
          <a:p>
            <a:pPr marL="742950" lvl="1" indent="-285750" algn="l">
              <a:buFont typeface="Arial" panose="020B0604020202020204" pitchFamily="34" charset="0"/>
              <a:buChar char="•"/>
            </a:pPr>
            <a:r>
              <a:rPr lang="en-US" b="0" i="0" dirty="0">
                <a:effectLst/>
              </a:rPr>
              <a:t>Reverses abnormal brain MRI findings</a:t>
            </a:r>
          </a:p>
        </p:txBody>
      </p:sp>
    </p:spTree>
    <p:extLst>
      <p:ext uri="{BB962C8B-B14F-4D97-AF65-F5344CB8AC3E}">
        <p14:creationId xmlns:p14="http://schemas.microsoft.com/office/powerpoint/2010/main" val="139719673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C00C84-9DD1-4875-B090-C85056888433}"/>
              </a:ext>
            </a:extLst>
          </p:cNvPr>
          <p:cNvSpPr>
            <a:spLocks noGrp="1"/>
          </p:cNvSpPr>
          <p:nvPr>
            <p:ph type="title"/>
          </p:nvPr>
        </p:nvSpPr>
        <p:spPr/>
        <p:txBody>
          <a:bodyPr/>
          <a:lstStyle/>
          <a:p>
            <a:r>
              <a:rPr lang="en-US" dirty="0"/>
              <a:t>Treatment of Hepatocerebral Degeneration</a:t>
            </a:r>
          </a:p>
        </p:txBody>
      </p:sp>
      <p:sp>
        <p:nvSpPr>
          <p:cNvPr id="2" name="Content Placeholder 1">
            <a:extLst>
              <a:ext uri="{FF2B5EF4-FFF2-40B4-BE49-F238E27FC236}">
                <a16:creationId xmlns:a16="http://schemas.microsoft.com/office/drawing/2014/main" id="{D328BB1A-1B48-4A2D-9C65-03330C1E0250}"/>
              </a:ext>
            </a:extLst>
          </p:cNvPr>
          <p:cNvSpPr>
            <a:spLocks noGrp="1"/>
          </p:cNvSpPr>
          <p:nvPr>
            <p:ph idx="1"/>
          </p:nvPr>
        </p:nvSpPr>
        <p:spPr/>
        <p:txBody>
          <a:bodyPr anchor="ctr"/>
          <a:lstStyle/>
          <a:p>
            <a:pPr marL="0" indent="0" algn="ctr">
              <a:buNone/>
            </a:pPr>
            <a:r>
              <a:rPr lang="en-US" dirty="0"/>
              <a:t>Only anecdotal therapies and no real recommendations about which therapies will improve long-term outcomes</a:t>
            </a:r>
          </a:p>
          <a:p>
            <a:pPr marL="0" indent="0" algn="ctr">
              <a:buNone/>
            </a:pPr>
            <a:r>
              <a:rPr lang="en-US" b="1" i="1" dirty="0"/>
              <a:t>Mostly case reports</a:t>
            </a:r>
          </a:p>
          <a:p>
            <a:pPr algn="ctr"/>
            <a:endParaRPr lang="en-US" dirty="0"/>
          </a:p>
          <a:p>
            <a:pPr algn="ctr"/>
            <a:endParaRPr lang="en-US" dirty="0"/>
          </a:p>
        </p:txBody>
      </p:sp>
    </p:spTree>
    <p:extLst>
      <p:ext uri="{BB962C8B-B14F-4D97-AF65-F5344CB8AC3E}">
        <p14:creationId xmlns:p14="http://schemas.microsoft.com/office/powerpoint/2010/main" val="401351674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DBC00C84-9DD1-4875-B090-C85056888433}"/>
              </a:ext>
            </a:extLst>
          </p:cNvPr>
          <p:cNvSpPr>
            <a:spLocks noGrp="1"/>
          </p:cNvSpPr>
          <p:nvPr>
            <p:ph type="title"/>
          </p:nvPr>
        </p:nvSpPr>
        <p:spPr/>
        <p:txBody>
          <a:bodyPr/>
          <a:lstStyle/>
          <a:p>
            <a:r>
              <a:rPr lang="en-US" dirty="0"/>
              <a:t>Treatment of Hepatocerebral Degeneration</a:t>
            </a:r>
          </a:p>
        </p:txBody>
      </p:sp>
      <p:sp>
        <p:nvSpPr>
          <p:cNvPr id="2" name="Content Placeholder 1">
            <a:extLst>
              <a:ext uri="{FF2B5EF4-FFF2-40B4-BE49-F238E27FC236}">
                <a16:creationId xmlns:a16="http://schemas.microsoft.com/office/drawing/2014/main" id="{D328BB1A-1B48-4A2D-9C65-03330C1E0250}"/>
              </a:ext>
            </a:extLst>
          </p:cNvPr>
          <p:cNvSpPr>
            <a:spLocks noGrp="1"/>
          </p:cNvSpPr>
          <p:nvPr>
            <p:ph idx="1"/>
          </p:nvPr>
        </p:nvSpPr>
        <p:spPr/>
        <p:txBody>
          <a:bodyPr anchor="ctr">
            <a:normAutofit/>
          </a:bodyPr>
          <a:lstStyle/>
          <a:p>
            <a:pPr marL="0" indent="0" algn="ctr">
              <a:buNone/>
            </a:pPr>
            <a:r>
              <a:rPr lang="en-US" sz="4400" dirty="0"/>
              <a:t>But remember</a:t>
            </a:r>
          </a:p>
          <a:p>
            <a:pPr marL="0" indent="0" algn="ctr">
              <a:buNone/>
            </a:pPr>
            <a:endParaRPr lang="en-US" sz="4400" dirty="0"/>
          </a:p>
          <a:p>
            <a:pPr marL="0" indent="0" algn="ctr">
              <a:buNone/>
            </a:pPr>
            <a:r>
              <a:rPr lang="en-US" sz="4400" dirty="0"/>
              <a:t>The problem is the LIVER! </a:t>
            </a:r>
            <a:r>
              <a:rPr lang="en-US" sz="4400" b="1" dirty="0"/>
              <a:t>HEPATO….cerebral</a:t>
            </a:r>
            <a:endParaRPr lang="en-US" sz="4400" dirty="0"/>
          </a:p>
        </p:txBody>
      </p:sp>
    </p:spTree>
    <p:extLst>
      <p:ext uri="{BB962C8B-B14F-4D97-AF65-F5344CB8AC3E}">
        <p14:creationId xmlns:p14="http://schemas.microsoft.com/office/powerpoint/2010/main" val="5206427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84DDD4-940E-47D2-A292-21576017B687}"/>
              </a:ext>
            </a:extLst>
          </p:cNvPr>
          <p:cNvSpPr>
            <a:spLocks noGrp="1"/>
          </p:cNvSpPr>
          <p:nvPr>
            <p:ph type="title"/>
          </p:nvPr>
        </p:nvSpPr>
        <p:spPr>
          <a:xfrm>
            <a:off x="838200" y="3098922"/>
            <a:ext cx="10515600" cy="2852737"/>
          </a:xfrm>
        </p:spPr>
        <p:txBody>
          <a:bodyPr/>
          <a:lstStyle/>
          <a:p>
            <a:r>
              <a:rPr lang="en-US" dirty="0"/>
              <a:t>Does liver transplant reverse hepatocerebral degeneration?</a:t>
            </a:r>
          </a:p>
        </p:txBody>
      </p:sp>
      <p:pic>
        <p:nvPicPr>
          <p:cNvPr id="6" name="Picture 5">
            <a:extLst>
              <a:ext uri="{FF2B5EF4-FFF2-40B4-BE49-F238E27FC236}">
                <a16:creationId xmlns:a16="http://schemas.microsoft.com/office/drawing/2014/main" id="{AFA10266-3D1B-4D0E-80A7-96C84D31BC7B}"/>
              </a:ext>
            </a:extLst>
          </p:cNvPr>
          <p:cNvPicPr>
            <a:picLocks noChangeAspect="1"/>
          </p:cNvPicPr>
          <p:nvPr/>
        </p:nvPicPr>
        <p:blipFill>
          <a:blip r:embed="rId2"/>
          <a:stretch>
            <a:fillRect/>
          </a:stretch>
        </p:blipFill>
        <p:spPr>
          <a:xfrm>
            <a:off x="3785865" y="318829"/>
            <a:ext cx="4620270" cy="3705742"/>
          </a:xfrm>
          <a:prstGeom prst="rect">
            <a:avLst/>
          </a:prstGeom>
        </p:spPr>
      </p:pic>
    </p:spTree>
    <p:extLst>
      <p:ext uri="{BB962C8B-B14F-4D97-AF65-F5344CB8AC3E}">
        <p14:creationId xmlns:p14="http://schemas.microsoft.com/office/powerpoint/2010/main" val="116843873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883CBC1-94E8-42FB-99E8-2BBC4CAB2A1F}"/>
              </a:ext>
            </a:extLst>
          </p:cNvPr>
          <p:cNvPicPr>
            <a:picLocks noChangeAspect="1"/>
          </p:cNvPicPr>
          <p:nvPr/>
        </p:nvPicPr>
        <p:blipFill>
          <a:blip r:embed="rId2"/>
          <a:stretch>
            <a:fillRect/>
          </a:stretch>
        </p:blipFill>
        <p:spPr>
          <a:xfrm>
            <a:off x="732676" y="741561"/>
            <a:ext cx="10726647" cy="4143953"/>
          </a:xfrm>
          <a:prstGeom prst="rect">
            <a:avLst/>
          </a:prstGeom>
        </p:spPr>
      </p:pic>
    </p:spTree>
    <p:extLst>
      <p:ext uri="{BB962C8B-B14F-4D97-AF65-F5344CB8AC3E}">
        <p14:creationId xmlns:p14="http://schemas.microsoft.com/office/powerpoint/2010/main" val="45533630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D8FDC19-FFDF-4569-988F-17B302EEE160}"/>
              </a:ext>
            </a:extLst>
          </p:cNvPr>
          <p:cNvPicPr>
            <a:picLocks noChangeAspect="1"/>
          </p:cNvPicPr>
          <p:nvPr/>
        </p:nvPicPr>
        <p:blipFill>
          <a:blip r:embed="rId2"/>
          <a:stretch>
            <a:fillRect/>
          </a:stretch>
        </p:blipFill>
        <p:spPr>
          <a:xfrm>
            <a:off x="1861546" y="1188142"/>
            <a:ext cx="8468907" cy="4077269"/>
          </a:xfrm>
          <a:prstGeom prst="rect">
            <a:avLst/>
          </a:prstGeom>
        </p:spPr>
      </p:pic>
      <p:sp>
        <p:nvSpPr>
          <p:cNvPr id="4" name="TextBox 3">
            <a:extLst>
              <a:ext uri="{FF2B5EF4-FFF2-40B4-BE49-F238E27FC236}">
                <a16:creationId xmlns:a16="http://schemas.microsoft.com/office/drawing/2014/main" id="{41D2252D-E7E4-45ED-815F-5B028397539E}"/>
              </a:ext>
            </a:extLst>
          </p:cNvPr>
          <p:cNvSpPr txBox="1"/>
          <p:nvPr/>
        </p:nvSpPr>
        <p:spPr>
          <a:xfrm>
            <a:off x="6095999" y="1188142"/>
            <a:ext cx="655949" cy="369332"/>
          </a:xfrm>
          <a:prstGeom prst="rect">
            <a:avLst/>
          </a:prstGeom>
          <a:noFill/>
        </p:spPr>
        <p:txBody>
          <a:bodyPr wrap="none" rtlCol="0">
            <a:spAutoFit/>
          </a:bodyPr>
          <a:lstStyle/>
          <a:p>
            <a:r>
              <a:rPr lang="en-US" i="1" dirty="0"/>
              <a:t>n=18</a:t>
            </a:r>
          </a:p>
        </p:txBody>
      </p:sp>
    </p:spTree>
    <p:extLst>
      <p:ext uri="{BB962C8B-B14F-4D97-AF65-F5344CB8AC3E}">
        <p14:creationId xmlns:p14="http://schemas.microsoft.com/office/powerpoint/2010/main" val="356294679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FC444-0AC7-4A7D-811E-3A877098C941}"/>
              </a:ext>
            </a:extLst>
          </p:cNvPr>
          <p:cNvSpPr>
            <a:spLocks noGrp="1"/>
          </p:cNvSpPr>
          <p:nvPr>
            <p:ph type="title"/>
          </p:nvPr>
        </p:nvSpPr>
        <p:spPr>
          <a:xfrm>
            <a:off x="215348" y="0"/>
            <a:ext cx="11761304" cy="780533"/>
          </a:xfrm>
        </p:spPr>
        <p:txBody>
          <a:bodyPr/>
          <a:lstStyle/>
          <a:p>
            <a:r>
              <a:rPr lang="en-US" dirty="0"/>
              <a:t>Quiz</a:t>
            </a:r>
          </a:p>
        </p:txBody>
      </p:sp>
      <p:sp>
        <p:nvSpPr>
          <p:cNvPr id="3" name="Content Placeholder 2">
            <a:extLst>
              <a:ext uri="{FF2B5EF4-FFF2-40B4-BE49-F238E27FC236}">
                <a16:creationId xmlns:a16="http://schemas.microsoft.com/office/drawing/2014/main" id="{0C15B556-663A-4C49-BD83-E84053D8AB19}"/>
              </a:ext>
            </a:extLst>
          </p:cNvPr>
          <p:cNvSpPr>
            <a:spLocks noGrp="1"/>
          </p:cNvSpPr>
          <p:nvPr>
            <p:ph idx="1"/>
          </p:nvPr>
        </p:nvSpPr>
        <p:spPr>
          <a:xfrm>
            <a:off x="723900" y="846992"/>
            <a:ext cx="10744200" cy="5791200"/>
          </a:xfrm>
        </p:spPr>
        <p:txBody>
          <a:bodyPr>
            <a:normAutofit/>
          </a:bodyPr>
          <a:lstStyle/>
          <a:p>
            <a:pPr marL="0" indent="0">
              <a:buNone/>
            </a:pPr>
            <a:r>
              <a:rPr lang="en-US" dirty="0"/>
              <a:t>A 34-year-old man presents to the clinic with fatigue, jaundice, and neurological symptoms including tremors and difficulty speaking. His ceruloplasmin level is found to be low, and a 24-hour urinary copper excretion test shows elevated levels of copper. His ophthalmologic exam reveals Kayser-Fleischer rings. </a:t>
            </a:r>
          </a:p>
          <a:p>
            <a:pPr marL="0" indent="0">
              <a:buNone/>
            </a:pPr>
            <a:r>
              <a:rPr lang="en-US" dirty="0"/>
              <a:t>What is the next most definitive diagnostic step to confirm the underlying disease?</a:t>
            </a:r>
          </a:p>
          <a:p>
            <a:pPr marL="0" indent="0">
              <a:buNone/>
            </a:pPr>
            <a:endParaRPr lang="en-US" dirty="0"/>
          </a:p>
          <a:p>
            <a:pPr marL="457200" lvl="1" indent="0">
              <a:buNone/>
            </a:pPr>
            <a:r>
              <a:rPr lang="en-US" dirty="0"/>
              <a:t>A) Genetic testing for ATP7B mutations</a:t>
            </a:r>
          </a:p>
          <a:p>
            <a:pPr marL="457200" lvl="1" indent="0">
              <a:buNone/>
            </a:pPr>
            <a:r>
              <a:rPr lang="en-US" dirty="0"/>
              <a:t>B) Liver function tests</a:t>
            </a:r>
          </a:p>
          <a:p>
            <a:pPr marL="457200" lvl="1" indent="0">
              <a:buNone/>
            </a:pPr>
            <a:r>
              <a:rPr lang="en-US" dirty="0"/>
              <a:t>C) MRI of the brain</a:t>
            </a:r>
          </a:p>
          <a:p>
            <a:pPr marL="457200" lvl="1" indent="0">
              <a:buNone/>
            </a:pPr>
            <a:r>
              <a:rPr lang="en-US" dirty="0"/>
              <a:t>D) Liver biopsy</a:t>
            </a:r>
          </a:p>
          <a:p>
            <a:pPr marL="457200" lvl="1" indent="0">
              <a:buNone/>
            </a:pPr>
            <a:r>
              <a:rPr lang="en-US" dirty="0"/>
              <a:t>E) Serum copper level</a:t>
            </a:r>
          </a:p>
        </p:txBody>
      </p:sp>
    </p:spTree>
    <p:extLst>
      <p:ext uri="{BB962C8B-B14F-4D97-AF65-F5344CB8AC3E}">
        <p14:creationId xmlns:p14="http://schemas.microsoft.com/office/powerpoint/2010/main" val="256829091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0C1C03-C4F7-4204-8A12-ED43155AA935}"/>
              </a:ext>
            </a:extLst>
          </p:cNvPr>
          <p:cNvPicPr>
            <a:picLocks noChangeAspect="1"/>
          </p:cNvPicPr>
          <p:nvPr/>
        </p:nvPicPr>
        <p:blipFill>
          <a:blip r:embed="rId2"/>
          <a:stretch>
            <a:fillRect/>
          </a:stretch>
        </p:blipFill>
        <p:spPr>
          <a:xfrm>
            <a:off x="1413809" y="502622"/>
            <a:ext cx="9364382" cy="5325218"/>
          </a:xfrm>
          <a:prstGeom prst="rect">
            <a:avLst/>
          </a:prstGeom>
        </p:spPr>
      </p:pic>
      <p:pic>
        <p:nvPicPr>
          <p:cNvPr id="7" name="Picture 6">
            <a:extLst>
              <a:ext uri="{FF2B5EF4-FFF2-40B4-BE49-F238E27FC236}">
                <a16:creationId xmlns:a16="http://schemas.microsoft.com/office/drawing/2014/main" id="{5003A001-A12D-4F34-A1ED-7B1C4E1DDA7A}"/>
              </a:ext>
            </a:extLst>
          </p:cNvPr>
          <p:cNvPicPr>
            <a:picLocks noChangeAspect="1"/>
          </p:cNvPicPr>
          <p:nvPr/>
        </p:nvPicPr>
        <p:blipFill>
          <a:blip r:embed="rId3"/>
          <a:stretch>
            <a:fillRect/>
          </a:stretch>
        </p:blipFill>
        <p:spPr>
          <a:xfrm>
            <a:off x="8682399" y="502622"/>
            <a:ext cx="2095792" cy="495369"/>
          </a:xfrm>
          <a:prstGeom prst="rect">
            <a:avLst/>
          </a:prstGeom>
        </p:spPr>
      </p:pic>
    </p:spTree>
    <p:extLst>
      <p:ext uri="{BB962C8B-B14F-4D97-AF65-F5344CB8AC3E}">
        <p14:creationId xmlns:p14="http://schemas.microsoft.com/office/powerpoint/2010/main" val="57842394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3C5F-3640-42F3-8BC5-3264897705B5}"/>
              </a:ext>
            </a:extLst>
          </p:cNvPr>
          <p:cNvSpPr>
            <a:spLocks noGrp="1"/>
          </p:cNvSpPr>
          <p:nvPr>
            <p:ph type="title"/>
          </p:nvPr>
        </p:nvSpPr>
        <p:spPr>
          <a:xfrm>
            <a:off x="831850" y="2252946"/>
            <a:ext cx="10515600" cy="2852737"/>
          </a:xfrm>
        </p:spPr>
        <p:txBody>
          <a:bodyPr/>
          <a:lstStyle/>
          <a:p>
            <a:r>
              <a:rPr lang="en-US" dirty="0"/>
              <a:t>Wilson Disease</a:t>
            </a:r>
          </a:p>
        </p:txBody>
      </p:sp>
      <p:pic>
        <p:nvPicPr>
          <p:cNvPr id="5" name="Picture 4" descr="A white volleyball with red paint on it&#10;&#10;Description automatically generated">
            <a:extLst>
              <a:ext uri="{FF2B5EF4-FFF2-40B4-BE49-F238E27FC236}">
                <a16:creationId xmlns:a16="http://schemas.microsoft.com/office/drawing/2014/main" id="{18D5E724-0EC5-4A44-BA3F-BCED34187508}"/>
              </a:ext>
            </a:extLst>
          </p:cNvPr>
          <p:cNvPicPr>
            <a:picLocks noChangeAspect="1"/>
          </p:cNvPicPr>
          <p:nvPr/>
        </p:nvPicPr>
        <p:blipFill>
          <a:blip r:embed="rId2"/>
          <a:stretch>
            <a:fillRect/>
          </a:stretch>
        </p:blipFill>
        <p:spPr>
          <a:xfrm>
            <a:off x="4279271" y="353085"/>
            <a:ext cx="3633458" cy="3633458"/>
          </a:xfrm>
          <a:prstGeom prst="rect">
            <a:avLst/>
          </a:prstGeom>
        </p:spPr>
      </p:pic>
    </p:spTree>
    <p:extLst>
      <p:ext uri="{BB962C8B-B14F-4D97-AF65-F5344CB8AC3E}">
        <p14:creationId xmlns:p14="http://schemas.microsoft.com/office/powerpoint/2010/main" val="97111861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95FBF8-E9C0-4EBE-A09B-A3022CF3E037}"/>
              </a:ext>
            </a:extLst>
          </p:cNvPr>
          <p:cNvPicPr>
            <a:picLocks noChangeAspect="1"/>
          </p:cNvPicPr>
          <p:nvPr/>
        </p:nvPicPr>
        <p:blipFill>
          <a:blip r:embed="rId2"/>
          <a:stretch>
            <a:fillRect/>
          </a:stretch>
        </p:blipFill>
        <p:spPr>
          <a:xfrm>
            <a:off x="257161" y="1135825"/>
            <a:ext cx="3943780" cy="4575131"/>
          </a:xfrm>
          <a:prstGeom prst="rect">
            <a:avLst/>
          </a:prstGeom>
        </p:spPr>
      </p:pic>
      <p:pic>
        <p:nvPicPr>
          <p:cNvPr id="5" name="Picture 4">
            <a:extLst>
              <a:ext uri="{FF2B5EF4-FFF2-40B4-BE49-F238E27FC236}">
                <a16:creationId xmlns:a16="http://schemas.microsoft.com/office/drawing/2014/main" id="{6A0F832D-D9B4-415C-BF4C-AB65E6E6B2A7}"/>
              </a:ext>
            </a:extLst>
          </p:cNvPr>
          <p:cNvPicPr>
            <a:picLocks noChangeAspect="1"/>
          </p:cNvPicPr>
          <p:nvPr/>
        </p:nvPicPr>
        <p:blipFill>
          <a:blip r:embed="rId3"/>
          <a:stretch>
            <a:fillRect/>
          </a:stretch>
        </p:blipFill>
        <p:spPr>
          <a:xfrm>
            <a:off x="4280762" y="1135825"/>
            <a:ext cx="3415996" cy="4575131"/>
          </a:xfrm>
          <a:prstGeom prst="rect">
            <a:avLst/>
          </a:prstGeom>
        </p:spPr>
      </p:pic>
      <p:pic>
        <p:nvPicPr>
          <p:cNvPr id="7" name="Picture 6">
            <a:extLst>
              <a:ext uri="{FF2B5EF4-FFF2-40B4-BE49-F238E27FC236}">
                <a16:creationId xmlns:a16="http://schemas.microsoft.com/office/drawing/2014/main" id="{FADB1BB1-4175-40FF-A7CC-420B14DE7563}"/>
              </a:ext>
            </a:extLst>
          </p:cNvPr>
          <p:cNvPicPr>
            <a:picLocks noChangeAspect="1"/>
          </p:cNvPicPr>
          <p:nvPr/>
        </p:nvPicPr>
        <p:blipFill>
          <a:blip r:embed="rId4"/>
          <a:stretch>
            <a:fillRect/>
          </a:stretch>
        </p:blipFill>
        <p:spPr>
          <a:xfrm>
            <a:off x="7776579" y="1135825"/>
            <a:ext cx="3736402" cy="4586350"/>
          </a:xfrm>
          <a:prstGeom prst="rect">
            <a:avLst/>
          </a:prstGeom>
        </p:spPr>
      </p:pic>
    </p:spTree>
    <p:extLst>
      <p:ext uri="{BB962C8B-B14F-4D97-AF65-F5344CB8AC3E}">
        <p14:creationId xmlns:p14="http://schemas.microsoft.com/office/powerpoint/2010/main" val="343170103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95FBF8-E9C0-4EBE-A09B-A3022CF3E037}"/>
              </a:ext>
            </a:extLst>
          </p:cNvPr>
          <p:cNvPicPr>
            <a:picLocks noChangeAspect="1"/>
          </p:cNvPicPr>
          <p:nvPr/>
        </p:nvPicPr>
        <p:blipFill>
          <a:blip r:embed="rId2"/>
          <a:stretch>
            <a:fillRect/>
          </a:stretch>
        </p:blipFill>
        <p:spPr>
          <a:xfrm>
            <a:off x="257161" y="1135825"/>
            <a:ext cx="3943780" cy="4575131"/>
          </a:xfrm>
          <a:prstGeom prst="rect">
            <a:avLst/>
          </a:prstGeom>
        </p:spPr>
      </p:pic>
      <p:pic>
        <p:nvPicPr>
          <p:cNvPr id="5" name="Picture 4">
            <a:extLst>
              <a:ext uri="{FF2B5EF4-FFF2-40B4-BE49-F238E27FC236}">
                <a16:creationId xmlns:a16="http://schemas.microsoft.com/office/drawing/2014/main" id="{6A0F832D-D9B4-415C-BF4C-AB65E6E6B2A7}"/>
              </a:ext>
            </a:extLst>
          </p:cNvPr>
          <p:cNvPicPr>
            <a:picLocks noChangeAspect="1"/>
          </p:cNvPicPr>
          <p:nvPr/>
        </p:nvPicPr>
        <p:blipFill>
          <a:blip r:embed="rId3"/>
          <a:stretch>
            <a:fillRect/>
          </a:stretch>
        </p:blipFill>
        <p:spPr>
          <a:xfrm>
            <a:off x="4280762" y="1135825"/>
            <a:ext cx="3415996" cy="4575131"/>
          </a:xfrm>
          <a:prstGeom prst="rect">
            <a:avLst/>
          </a:prstGeom>
        </p:spPr>
      </p:pic>
      <p:pic>
        <p:nvPicPr>
          <p:cNvPr id="7" name="Picture 6">
            <a:extLst>
              <a:ext uri="{FF2B5EF4-FFF2-40B4-BE49-F238E27FC236}">
                <a16:creationId xmlns:a16="http://schemas.microsoft.com/office/drawing/2014/main" id="{FADB1BB1-4175-40FF-A7CC-420B14DE7563}"/>
              </a:ext>
            </a:extLst>
          </p:cNvPr>
          <p:cNvPicPr>
            <a:picLocks noChangeAspect="1"/>
          </p:cNvPicPr>
          <p:nvPr/>
        </p:nvPicPr>
        <p:blipFill>
          <a:blip r:embed="rId4"/>
          <a:stretch>
            <a:fillRect/>
          </a:stretch>
        </p:blipFill>
        <p:spPr>
          <a:xfrm>
            <a:off x="7776579" y="1135825"/>
            <a:ext cx="3736402" cy="4586350"/>
          </a:xfrm>
          <a:prstGeom prst="rect">
            <a:avLst/>
          </a:prstGeom>
        </p:spPr>
      </p:pic>
      <p:sp>
        <p:nvSpPr>
          <p:cNvPr id="2" name="TextBox 1">
            <a:extLst>
              <a:ext uri="{FF2B5EF4-FFF2-40B4-BE49-F238E27FC236}">
                <a16:creationId xmlns:a16="http://schemas.microsoft.com/office/drawing/2014/main" id="{AC181FC5-FB2E-473B-9511-88F4E6F99C55}"/>
              </a:ext>
            </a:extLst>
          </p:cNvPr>
          <p:cNvSpPr txBox="1"/>
          <p:nvPr/>
        </p:nvSpPr>
        <p:spPr>
          <a:xfrm>
            <a:off x="3144071" y="209550"/>
            <a:ext cx="5689378" cy="584775"/>
          </a:xfrm>
          <a:prstGeom prst="rect">
            <a:avLst/>
          </a:prstGeom>
          <a:noFill/>
        </p:spPr>
        <p:txBody>
          <a:bodyPr wrap="none" rtlCol="0">
            <a:spAutoFit/>
          </a:bodyPr>
          <a:lstStyle/>
          <a:p>
            <a:r>
              <a:rPr lang="en-US" sz="3200" i="1" dirty="0">
                <a:latin typeface="Georgia" panose="02040502050405020303" pitchFamily="18" charset="0"/>
              </a:rPr>
              <a:t>What is the name of this sign?</a:t>
            </a:r>
          </a:p>
        </p:txBody>
      </p:sp>
    </p:spTree>
    <p:extLst>
      <p:ext uri="{BB962C8B-B14F-4D97-AF65-F5344CB8AC3E}">
        <p14:creationId xmlns:p14="http://schemas.microsoft.com/office/powerpoint/2010/main" val="25878893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A3BE257-3AFB-41BD-94E0-69A402452AB9}"/>
              </a:ext>
            </a:extLst>
          </p:cNvPr>
          <p:cNvPicPr>
            <a:picLocks noChangeAspect="1"/>
          </p:cNvPicPr>
          <p:nvPr/>
        </p:nvPicPr>
        <p:blipFill>
          <a:blip r:embed="rId2"/>
          <a:stretch>
            <a:fillRect/>
          </a:stretch>
        </p:blipFill>
        <p:spPr>
          <a:xfrm>
            <a:off x="371475" y="2328978"/>
            <a:ext cx="11449050" cy="2200044"/>
          </a:xfrm>
          <a:prstGeom prst="rect">
            <a:avLst/>
          </a:prstGeom>
        </p:spPr>
      </p:pic>
      <p:sp>
        <p:nvSpPr>
          <p:cNvPr id="4" name="TextBox 3">
            <a:extLst>
              <a:ext uri="{FF2B5EF4-FFF2-40B4-BE49-F238E27FC236}">
                <a16:creationId xmlns:a16="http://schemas.microsoft.com/office/drawing/2014/main" id="{2C6AA9EC-9795-4488-9B60-51FC61C38812}"/>
              </a:ext>
            </a:extLst>
          </p:cNvPr>
          <p:cNvSpPr txBox="1"/>
          <p:nvPr/>
        </p:nvSpPr>
        <p:spPr>
          <a:xfrm>
            <a:off x="3048000" y="6488668"/>
            <a:ext cx="9144000" cy="369332"/>
          </a:xfrm>
          <a:prstGeom prst="rect">
            <a:avLst/>
          </a:prstGeom>
          <a:noFill/>
        </p:spPr>
        <p:txBody>
          <a:bodyPr wrap="square">
            <a:spAutoFit/>
          </a:bodyPr>
          <a:lstStyle/>
          <a:p>
            <a:pPr algn="r"/>
            <a:r>
              <a:rPr lang="en-US" dirty="0"/>
              <a:t>Nat Rev Dis Primers. 2018 Sep 6;4(1):21.</a:t>
            </a:r>
          </a:p>
        </p:txBody>
      </p:sp>
    </p:spTree>
    <p:extLst>
      <p:ext uri="{BB962C8B-B14F-4D97-AF65-F5344CB8AC3E}">
        <p14:creationId xmlns:p14="http://schemas.microsoft.com/office/powerpoint/2010/main" val="232313764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9187E18-3DE9-4B47-AB53-1889D178EA88}"/>
              </a:ext>
            </a:extLst>
          </p:cNvPr>
          <p:cNvPicPr>
            <a:picLocks noChangeAspect="1"/>
          </p:cNvPicPr>
          <p:nvPr/>
        </p:nvPicPr>
        <p:blipFill>
          <a:blip r:embed="rId2"/>
          <a:stretch>
            <a:fillRect/>
          </a:stretch>
        </p:blipFill>
        <p:spPr>
          <a:xfrm>
            <a:off x="1231866" y="0"/>
            <a:ext cx="9728268" cy="6477000"/>
          </a:xfrm>
          <a:prstGeom prst="rect">
            <a:avLst/>
          </a:prstGeom>
        </p:spPr>
      </p:pic>
      <p:sp>
        <p:nvSpPr>
          <p:cNvPr id="4" name="TextBox 3">
            <a:extLst>
              <a:ext uri="{FF2B5EF4-FFF2-40B4-BE49-F238E27FC236}">
                <a16:creationId xmlns:a16="http://schemas.microsoft.com/office/drawing/2014/main" id="{89265D55-3BA2-400E-A02D-A7FDFAABD2BC}"/>
              </a:ext>
            </a:extLst>
          </p:cNvPr>
          <p:cNvSpPr txBox="1"/>
          <p:nvPr/>
        </p:nvSpPr>
        <p:spPr>
          <a:xfrm>
            <a:off x="3048000" y="6488668"/>
            <a:ext cx="9144000" cy="369332"/>
          </a:xfrm>
          <a:prstGeom prst="rect">
            <a:avLst/>
          </a:prstGeom>
          <a:noFill/>
        </p:spPr>
        <p:txBody>
          <a:bodyPr wrap="square">
            <a:spAutoFit/>
          </a:bodyPr>
          <a:lstStyle/>
          <a:p>
            <a:pPr algn="r"/>
            <a:r>
              <a:rPr lang="en-US" dirty="0"/>
              <a:t>Nat Rev Dis Primers. 2018 Sep 6;4(1):21.</a:t>
            </a:r>
          </a:p>
        </p:txBody>
      </p:sp>
    </p:spTree>
    <p:extLst>
      <p:ext uri="{BB962C8B-B14F-4D97-AF65-F5344CB8AC3E}">
        <p14:creationId xmlns:p14="http://schemas.microsoft.com/office/powerpoint/2010/main" val="1063532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1D9658-DD64-489E-A47E-7DD7DDCE4035}"/>
              </a:ext>
            </a:extLst>
          </p:cNvPr>
          <p:cNvPicPr>
            <a:picLocks noChangeAspect="1"/>
          </p:cNvPicPr>
          <p:nvPr/>
        </p:nvPicPr>
        <p:blipFill>
          <a:blip r:embed="rId3"/>
          <a:stretch>
            <a:fillRect/>
          </a:stretch>
        </p:blipFill>
        <p:spPr>
          <a:xfrm>
            <a:off x="3176179" y="156535"/>
            <a:ext cx="5839640" cy="3019846"/>
          </a:xfrm>
          <a:prstGeom prst="rect">
            <a:avLst/>
          </a:prstGeom>
        </p:spPr>
      </p:pic>
      <p:sp>
        <p:nvSpPr>
          <p:cNvPr id="7" name="TextBox 6">
            <a:extLst>
              <a:ext uri="{FF2B5EF4-FFF2-40B4-BE49-F238E27FC236}">
                <a16:creationId xmlns:a16="http://schemas.microsoft.com/office/drawing/2014/main" id="{17E8448A-3E4C-4896-86D7-53B3657AF326}"/>
              </a:ext>
            </a:extLst>
          </p:cNvPr>
          <p:cNvSpPr txBox="1"/>
          <p:nvPr/>
        </p:nvSpPr>
        <p:spPr>
          <a:xfrm>
            <a:off x="3048000" y="6488668"/>
            <a:ext cx="9144000" cy="369332"/>
          </a:xfrm>
          <a:prstGeom prst="rect">
            <a:avLst/>
          </a:prstGeom>
          <a:noFill/>
        </p:spPr>
        <p:txBody>
          <a:bodyPr wrap="square">
            <a:spAutoFit/>
          </a:bodyPr>
          <a:lstStyle/>
          <a:p>
            <a:pPr algn="r"/>
            <a:r>
              <a:rPr lang="en-US" dirty="0"/>
              <a:t>Nat Rev Dis Primers. 2018 Sep 6;4(1):21.</a:t>
            </a:r>
          </a:p>
        </p:txBody>
      </p:sp>
      <p:sp>
        <p:nvSpPr>
          <p:cNvPr id="8" name="TextBox 7">
            <a:extLst>
              <a:ext uri="{FF2B5EF4-FFF2-40B4-BE49-F238E27FC236}">
                <a16:creationId xmlns:a16="http://schemas.microsoft.com/office/drawing/2014/main" id="{5E76BF40-D24A-4737-B4F8-0C47F004A4D6}"/>
              </a:ext>
            </a:extLst>
          </p:cNvPr>
          <p:cNvSpPr txBox="1"/>
          <p:nvPr/>
        </p:nvSpPr>
        <p:spPr>
          <a:xfrm>
            <a:off x="1027612" y="3849187"/>
            <a:ext cx="10138628" cy="830997"/>
          </a:xfrm>
          <a:prstGeom prst="rect">
            <a:avLst/>
          </a:prstGeom>
          <a:noFill/>
        </p:spPr>
        <p:txBody>
          <a:bodyPr wrap="square" rtlCol="0">
            <a:spAutoFit/>
          </a:bodyPr>
          <a:lstStyle/>
          <a:p>
            <a:pPr algn="ctr"/>
            <a:r>
              <a:rPr lang="en-US" sz="2400" b="1" dirty="0">
                <a:latin typeface="Georgia" panose="02040502050405020303" pitchFamily="18" charset="0"/>
              </a:rPr>
              <a:t>What staining should be used to look at those areas histologically?</a:t>
            </a:r>
          </a:p>
        </p:txBody>
      </p:sp>
    </p:spTree>
    <p:extLst>
      <p:ext uri="{BB962C8B-B14F-4D97-AF65-F5344CB8AC3E}">
        <p14:creationId xmlns:p14="http://schemas.microsoft.com/office/powerpoint/2010/main" val="349154481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51D9658-DD64-489E-A47E-7DD7DDCE4035}"/>
              </a:ext>
            </a:extLst>
          </p:cNvPr>
          <p:cNvPicPr>
            <a:picLocks noChangeAspect="1"/>
          </p:cNvPicPr>
          <p:nvPr/>
        </p:nvPicPr>
        <p:blipFill>
          <a:blip r:embed="rId3"/>
          <a:stretch>
            <a:fillRect/>
          </a:stretch>
        </p:blipFill>
        <p:spPr>
          <a:xfrm>
            <a:off x="3176179" y="156535"/>
            <a:ext cx="5839640" cy="3019846"/>
          </a:xfrm>
          <a:prstGeom prst="rect">
            <a:avLst/>
          </a:prstGeom>
        </p:spPr>
      </p:pic>
      <p:pic>
        <p:nvPicPr>
          <p:cNvPr id="5" name="Picture 4">
            <a:extLst>
              <a:ext uri="{FF2B5EF4-FFF2-40B4-BE49-F238E27FC236}">
                <a16:creationId xmlns:a16="http://schemas.microsoft.com/office/drawing/2014/main" id="{AB4F29A8-C26A-4268-A0BC-15BBBD1792EB}"/>
              </a:ext>
            </a:extLst>
          </p:cNvPr>
          <p:cNvPicPr>
            <a:picLocks noChangeAspect="1"/>
          </p:cNvPicPr>
          <p:nvPr/>
        </p:nvPicPr>
        <p:blipFill>
          <a:blip r:embed="rId4"/>
          <a:stretch>
            <a:fillRect/>
          </a:stretch>
        </p:blipFill>
        <p:spPr>
          <a:xfrm>
            <a:off x="904149" y="3336891"/>
            <a:ext cx="10383699" cy="2991267"/>
          </a:xfrm>
          <a:prstGeom prst="rect">
            <a:avLst/>
          </a:prstGeom>
        </p:spPr>
      </p:pic>
      <p:sp>
        <p:nvSpPr>
          <p:cNvPr id="7" name="TextBox 6">
            <a:extLst>
              <a:ext uri="{FF2B5EF4-FFF2-40B4-BE49-F238E27FC236}">
                <a16:creationId xmlns:a16="http://schemas.microsoft.com/office/drawing/2014/main" id="{17E8448A-3E4C-4896-86D7-53B3657AF326}"/>
              </a:ext>
            </a:extLst>
          </p:cNvPr>
          <p:cNvSpPr txBox="1"/>
          <p:nvPr/>
        </p:nvSpPr>
        <p:spPr>
          <a:xfrm>
            <a:off x="3048000" y="6488668"/>
            <a:ext cx="9144000" cy="369332"/>
          </a:xfrm>
          <a:prstGeom prst="rect">
            <a:avLst/>
          </a:prstGeom>
          <a:noFill/>
        </p:spPr>
        <p:txBody>
          <a:bodyPr wrap="square">
            <a:spAutoFit/>
          </a:bodyPr>
          <a:lstStyle/>
          <a:p>
            <a:pPr algn="r"/>
            <a:r>
              <a:rPr lang="en-US" dirty="0"/>
              <a:t>Nat Rev Dis Primers. 2018 Sep 6;4(1):21.</a:t>
            </a:r>
          </a:p>
        </p:txBody>
      </p:sp>
      <p:sp>
        <p:nvSpPr>
          <p:cNvPr id="6" name="TextBox 5">
            <a:extLst>
              <a:ext uri="{FF2B5EF4-FFF2-40B4-BE49-F238E27FC236}">
                <a16:creationId xmlns:a16="http://schemas.microsoft.com/office/drawing/2014/main" id="{B01A28CF-8A75-4C0B-A557-4B94924CF731}"/>
              </a:ext>
            </a:extLst>
          </p:cNvPr>
          <p:cNvSpPr txBox="1"/>
          <p:nvPr/>
        </p:nvSpPr>
        <p:spPr>
          <a:xfrm>
            <a:off x="297942" y="1485114"/>
            <a:ext cx="2750058" cy="830997"/>
          </a:xfrm>
          <a:prstGeom prst="rect">
            <a:avLst/>
          </a:prstGeom>
          <a:noFill/>
        </p:spPr>
        <p:txBody>
          <a:bodyPr wrap="square" rtlCol="0">
            <a:spAutoFit/>
          </a:bodyPr>
          <a:lstStyle/>
          <a:p>
            <a:pPr algn="ctr"/>
            <a:r>
              <a:rPr lang="en-US" sz="2400" b="1" dirty="0">
                <a:solidFill>
                  <a:srgbClr val="6590CB"/>
                </a:solidFill>
                <a:latin typeface="Georgia" panose="02040502050405020303" pitchFamily="18" charset="0"/>
              </a:rPr>
              <a:t>IRON staining</a:t>
            </a:r>
          </a:p>
          <a:p>
            <a:pPr algn="ctr"/>
            <a:r>
              <a:rPr lang="en-US" sz="2400" b="1" dirty="0">
                <a:solidFill>
                  <a:srgbClr val="6590CB"/>
                </a:solidFill>
                <a:latin typeface="Georgia" panose="02040502050405020303" pitchFamily="18" charset="0"/>
              </a:rPr>
              <a:t>not copper!</a:t>
            </a:r>
          </a:p>
        </p:txBody>
      </p:sp>
      <p:sp>
        <p:nvSpPr>
          <p:cNvPr id="8" name="TextBox 7">
            <a:extLst>
              <a:ext uri="{FF2B5EF4-FFF2-40B4-BE49-F238E27FC236}">
                <a16:creationId xmlns:a16="http://schemas.microsoft.com/office/drawing/2014/main" id="{ACA1F232-727F-41F2-9BD5-40FB4D4F6A94}"/>
              </a:ext>
            </a:extLst>
          </p:cNvPr>
          <p:cNvSpPr txBox="1"/>
          <p:nvPr/>
        </p:nvSpPr>
        <p:spPr>
          <a:xfrm>
            <a:off x="9015819" y="1485114"/>
            <a:ext cx="2750058" cy="830997"/>
          </a:xfrm>
          <a:prstGeom prst="rect">
            <a:avLst/>
          </a:prstGeom>
          <a:noFill/>
        </p:spPr>
        <p:txBody>
          <a:bodyPr wrap="square" rtlCol="0">
            <a:spAutoFit/>
          </a:bodyPr>
          <a:lstStyle/>
          <a:p>
            <a:pPr algn="ctr"/>
            <a:r>
              <a:rPr lang="en-US" sz="2400" b="1" dirty="0">
                <a:solidFill>
                  <a:srgbClr val="6590CB"/>
                </a:solidFill>
                <a:latin typeface="Georgia" panose="02040502050405020303" pitchFamily="18" charset="0"/>
              </a:rPr>
              <a:t>IRON staining</a:t>
            </a:r>
          </a:p>
          <a:p>
            <a:pPr algn="ctr"/>
            <a:r>
              <a:rPr lang="en-US" sz="2400" b="1" dirty="0">
                <a:solidFill>
                  <a:srgbClr val="6590CB"/>
                </a:solidFill>
                <a:latin typeface="Georgia" panose="02040502050405020303" pitchFamily="18" charset="0"/>
              </a:rPr>
              <a:t>not copper!</a:t>
            </a:r>
          </a:p>
        </p:txBody>
      </p:sp>
    </p:spTree>
    <p:extLst>
      <p:ext uri="{BB962C8B-B14F-4D97-AF65-F5344CB8AC3E}">
        <p14:creationId xmlns:p14="http://schemas.microsoft.com/office/powerpoint/2010/main" val="6547493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icroscope view of a cell&#10;&#10;Description automatically generated">
            <a:extLst>
              <a:ext uri="{FF2B5EF4-FFF2-40B4-BE49-F238E27FC236}">
                <a16:creationId xmlns:a16="http://schemas.microsoft.com/office/drawing/2014/main" id="{F0C05451-A97C-4251-99DE-92AF732404BD}"/>
              </a:ext>
            </a:extLst>
          </p:cNvPr>
          <p:cNvPicPr>
            <a:picLocks noChangeAspect="1"/>
          </p:cNvPicPr>
          <p:nvPr/>
        </p:nvPicPr>
        <p:blipFill>
          <a:blip r:embed="rId3"/>
          <a:stretch>
            <a:fillRect/>
          </a:stretch>
        </p:blipFill>
        <p:spPr>
          <a:xfrm>
            <a:off x="2216239" y="571500"/>
            <a:ext cx="7759522" cy="5715000"/>
          </a:xfrm>
          <a:prstGeom prst="rect">
            <a:avLst/>
          </a:prstGeom>
        </p:spPr>
      </p:pic>
    </p:spTree>
    <p:extLst>
      <p:ext uri="{BB962C8B-B14F-4D97-AF65-F5344CB8AC3E}">
        <p14:creationId xmlns:p14="http://schemas.microsoft.com/office/powerpoint/2010/main" val="315191430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microscope view of a cell&#10;&#10;Description automatically generated">
            <a:extLst>
              <a:ext uri="{FF2B5EF4-FFF2-40B4-BE49-F238E27FC236}">
                <a16:creationId xmlns:a16="http://schemas.microsoft.com/office/drawing/2014/main" id="{F0C05451-A97C-4251-99DE-92AF732404BD}"/>
              </a:ext>
            </a:extLst>
          </p:cNvPr>
          <p:cNvPicPr>
            <a:picLocks noChangeAspect="1"/>
          </p:cNvPicPr>
          <p:nvPr/>
        </p:nvPicPr>
        <p:blipFill>
          <a:blip r:embed="rId3"/>
          <a:stretch>
            <a:fillRect/>
          </a:stretch>
        </p:blipFill>
        <p:spPr>
          <a:xfrm>
            <a:off x="2216239" y="571500"/>
            <a:ext cx="7759522" cy="5715000"/>
          </a:xfrm>
          <a:prstGeom prst="rect">
            <a:avLst/>
          </a:prstGeom>
        </p:spPr>
      </p:pic>
      <p:sp>
        <p:nvSpPr>
          <p:cNvPr id="2" name="TextBox 1">
            <a:extLst>
              <a:ext uri="{FF2B5EF4-FFF2-40B4-BE49-F238E27FC236}">
                <a16:creationId xmlns:a16="http://schemas.microsoft.com/office/drawing/2014/main" id="{F1D02F58-8638-49C1-8B25-7D4D47D73434}"/>
              </a:ext>
            </a:extLst>
          </p:cNvPr>
          <p:cNvSpPr txBox="1"/>
          <p:nvPr/>
        </p:nvSpPr>
        <p:spPr>
          <a:xfrm>
            <a:off x="6807200" y="3784600"/>
            <a:ext cx="1293944" cy="369332"/>
          </a:xfrm>
          <a:prstGeom prst="rect">
            <a:avLst/>
          </a:prstGeom>
          <a:noFill/>
        </p:spPr>
        <p:txBody>
          <a:bodyPr wrap="none" rtlCol="0">
            <a:spAutoFit/>
          </a:bodyPr>
          <a:lstStyle/>
          <a:p>
            <a:r>
              <a:rPr lang="en-US" b="1" dirty="0" err="1">
                <a:effectLst>
                  <a:glow rad="444500">
                    <a:schemeClr val="bg1">
                      <a:alpha val="74000"/>
                    </a:schemeClr>
                  </a:glow>
                </a:effectLst>
              </a:rPr>
              <a:t>Opalski</a:t>
            </a:r>
            <a:r>
              <a:rPr lang="en-US" b="1" dirty="0">
                <a:effectLst>
                  <a:glow rad="444500">
                    <a:schemeClr val="bg1">
                      <a:alpha val="74000"/>
                    </a:schemeClr>
                  </a:glow>
                </a:effectLst>
              </a:rPr>
              <a:t> Cell</a:t>
            </a:r>
          </a:p>
        </p:txBody>
      </p:sp>
    </p:spTree>
    <p:extLst>
      <p:ext uri="{BB962C8B-B14F-4D97-AF65-F5344CB8AC3E}">
        <p14:creationId xmlns:p14="http://schemas.microsoft.com/office/powerpoint/2010/main" val="54644550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932BEAA-BD85-47FE-8383-4CDDFFB38F87}"/>
              </a:ext>
            </a:extLst>
          </p:cNvPr>
          <p:cNvPicPr>
            <a:picLocks noChangeAspect="1"/>
          </p:cNvPicPr>
          <p:nvPr/>
        </p:nvPicPr>
        <p:blipFill>
          <a:blip r:embed="rId2"/>
          <a:stretch>
            <a:fillRect/>
          </a:stretch>
        </p:blipFill>
        <p:spPr>
          <a:xfrm>
            <a:off x="2476500" y="0"/>
            <a:ext cx="7239000" cy="2650526"/>
          </a:xfrm>
          <a:prstGeom prst="rect">
            <a:avLst/>
          </a:prstGeom>
        </p:spPr>
      </p:pic>
      <p:pic>
        <p:nvPicPr>
          <p:cNvPr id="5" name="Picture 4">
            <a:extLst>
              <a:ext uri="{FF2B5EF4-FFF2-40B4-BE49-F238E27FC236}">
                <a16:creationId xmlns:a16="http://schemas.microsoft.com/office/drawing/2014/main" id="{A08BE963-C80A-4C3A-9BD3-07DF44A6A685}"/>
              </a:ext>
            </a:extLst>
          </p:cNvPr>
          <p:cNvPicPr>
            <a:picLocks noChangeAspect="1"/>
          </p:cNvPicPr>
          <p:nvPr/>
        </p:nvPicPr>
        <p:blipFill>
          <a:blip r:embed="rId3"/>
          <a:stretch>
            <a:fillRect/>
          </a:stretch>
        </p:blipFill>
        <p:spPr>
          <a:xfrm>
            <a:off x="3733800" y="2871673"/>
            <a:ext cx="4724400" cy="3834950"/>
          </a:xfrm>
          <a:prstGeom prst="rect">
            <a:avLst/>
          </a:prstGeom>
        </p:spPr>
      </p:pic>
      <p:sp>
        <p:nvSpPr>
          <p:cNvPr id="7" name="TextBox 6">
            <a:extLst>
              <a:ext uri="{FF2B5EF4-FFF2-40B4-BE49-F238E27FC236}">
                <a16:creationId xmlns:a16="http://schemas.microsoft.com/office/drawing/2014/main" id="{FC2101F4-0CDC-4B89-AA84-C86F7976BCEF}"/>
              </a:ext>
            </a:extLst>
          </p:cNvPr>
          <p:cNvSpPr txBox="1"/>
          <p:nvPr/>
        </p:nvSpPr>
        <p:spPr>
          <a:xfrm>
            <a:off x="0" y="1265531"/>
            <a:ext cx="2984500" cy="1384995"/>
          </a:xfrm>
          <a:prstGeom prst="rect">
            <a:avLst/>
          </a:prstGeom>
          <a:noFill/>
        </p:spPr>
        <p:txBody>
          <a:bodyPr wrap="square">
            <a:spAutoFit/>
          </a:bodyPr>
          <a:lstStyle/>
          <a:p>
            <a:pPr algn="ctr"/>
            <a:r>
              <a:rPr lang="en-US" sz="1050" b="1" i="1" dirty="0">
                <a:solidFill>
                  <a:srgbClr val="353740"/>
                </a:solidFill>
                <a:effectLst/>
                <a:latin typeface="Georgia" panose="02040502050405020303" pitchFamily="18" charset="0"/>
              </a:rPr>
              <a:t>On a special type of glial cells in the Wilson's </a:t>
            </a:r>
            <a:r>
              <a:rPr lang="en-US" sz="1050" b="1" i="1" dirty="0" err="1">
                <a:solidFill>
                  <a:srgbClr val="353740"/>
                </a:solidFill>
                <a:effectLst/>
                <a:latin typeface="Georgia" panose="02040502050405020303" pitchFamily="18" charset="0"/>
              </a:rPr>
              <a:t>pseudosclerosis</a:t>
            </a:r>
            <a:r>
              <a:rPr lang="en-US" sz="1050" b="1" i="1" dirty="0">
                <a:solidFill>
                  <a:srgbClr val="353740"/>
                </a:solidFill>
                <a:effectLst/>
                <a:latin typeface="Georgia" panose="02040502050405020303" pitchFamily="18" charset="0"/>
              </a:rPr>
              <a:t> group.</a:t>
            </a:r>
          </a:p>
          <a:p>
            <a:pPr algn="ctr"/>
            <a:endParaRPr lang="en-US" sz="1050" b="0" i="1" dirty="0">
              <a:solidFill>
                <a:srgbClr val="353740"/>
              </a:solidFill>
              <a:effectLst/>
              <a:latin typeface="Georgia" panose="02040502050405020303" pitchFamily="18" charset="0"/>
            </a:endParaRPr>
          </a:p>
          <a:p>
            <a:pPr algn="ctr"/>
            <a:r>
              <a:rPr lang="en-US" sz="1050" b="0" i="1" dirty="0">
                <a:solidFill>
                  <a:srgbClr val="353740"/>
                </a:solidFill>
                <a:effectLst/>
                <a:latin typeface="Georgia" panose="02040502050405020303" pitchFamily="18" charset="0"/>
              </a:rPr>
              <a:t>By </a:t>
            </a:r>
          </a:p>
          <a:p>
            <a:pPr algn="ctr"/>
            <a:r>
              <a:rPr lang="en-US" sz="1050" b="1" i="1" dirty="0">
                <a:solidFill>
                  <a:srgbClr val="353740"/>
                </a:solidFill>
                <a:effectLst/>
                <a:latin typeface="Georgia" panose="02040502050405020303" pitchFamily="18" charset="0"/>
              </a:rPr>
              <a:t>A. </a:t>
            </a:r>
            <a:r>
              <a:rPr lang="en-US" sz="1050" b="1" i="1" dirty="0" err="1">
                <a:solidFill>
                  <a:srgbClr val="353740"/>
                </a:solidFill>
                <a:effectLst/>
                <a:latin typeface="Georgia" panose="02040502050405020303" pitchFamily="18" charset="0"/>
              </a:rPr>
              <a:t>Opalski</a:t>
            </a:r>
            <a:r>
              <a:rPr lang="en-US" sz="1050" b="1" i="1" dirty="0">
                <a:solidFill>
                  <a:srgbClr val="353740"/>
                </a:solidFill>
                <a:effectLst/>
                <a:latin typeface="Georgia" panose="02040502050405020303" pitchFamily="18" charset="0"/>
              </a:rPr>
              <a:t>, </a:t>
            </a:r>
          </a:p>
          <a:p>
            <a:pPr algn="ctr"/>
            <a:endParaRPr lang="en-US" sz="1050" b="1" i="1" dirty="0">
              <a:solidFill>
                <a:srgbClr val="353740"/>
              </a:solidFill>
              <a:effectLst/>
              <a:latin typeface="Georgia" panose="02040502050405020303" pitchFamily="18" charset="0"/>
            </a:endParaRPr>
          </a:p>
          <a:p>
            <a:pPr algn="ctr"/>
            <a:r>
              <a:rPr lang="en-US" sz="1050" b="0" i="1" dirty="0">
                <a:solidFill>
                  <a:srgbClr val="353740"/>
                </a:solidFill>
                <a:effectLst/>
                <a:latin typeface="Georgia" panose="02040502050405020303" pitchFamily="18" charset="0"/>
              </a:rPr>
              <a:t>Assistant at the Neurological Clinic of the University of Warsaw.</a:t>
            </a:r>
          </a:p>
        </p:txBody>
      </p:sp>
      <p:sp>
        <p:nvSpPr>
          <p:cNvPr id="11" name="TextBox 10">
            <a:extLst>
              <a:ext uri="{FF2B5EF4-FFF2-40B4-BE49-F238E27FC236}">
                <a16:creationId xmlns:a16="http://schemas.microsoft.com/office/drawing/2014/main" id="{14165DB8-94CC-4F93-9571-2055B37C4DBA}"/>
              </a:ext>
            </a:extLst>
          </p:cNvPr>
          <p:cNvSpPr txBox="1"/>
          <p:nvPr/>
        </p:nvSpPr>
        <p:spPr>
          <a:xfrm>
            <a:off x="8915400" y="3080988"/>
            <a:ext cx="2794000" cy="3416320"/>
          </a:xfrm>
          <a:prstGeom prst="rect">
            <a:avLst/>
          </a:prstGeom>
          <a:noFill/>
        </p:spPr>
        <p:txBody>
          <a:bodyPr wrap="square">
            <a:spAutoFit/>
          </a:bodyPr>
          <a:lstStyle/>
          <a:p>
            <a:r>
              <a:rPr lang="en-US" i="1" dirty="0">
                <a:latin typeface="Georgia" panose="02040502050405020303" pitchFamily="18" charset="0"/>
              </a:rPr>
              <a:t>A large (up to 35 </a:t>
            </a:r>
            <a:r>
              <a:rPr lang="en-US" i="1" dirty="0" err="1">
                <a:latin typeface="Georgia" panose="02040502050405020303" pitchFamily="18" charset="0"/>
              </a:rPr>
              <a:t>μm</a:t>
            </a:r>
            <a:r>
              <a:rPr lang="en-US" i="1" dirty="0">
                <a:latin typeface="Georgia" panose="02040502050405020303" pitchFamily="18" charset="0"/>
              </a:rPr>
              <a:t> in diameter) altered</a:t>
            </a:r>
            <a:r>
              <a:rPr lang="en-US" b="1" i="1" dirty="0">
                <a:latin typeface="Georgia" panose="02040502050405020303" pitchFamily="18" charset="0"/>
              </a:rPr>
              <a:t> glial cell</a:t>
            </a:r>
            <a:r>
              <a:rPr lang="en-US" i="1" dirty="0">
                <a:latin typeface="Georgia" panose="02040502050405020303" pitchFamily="18" charset="0"/>
              </a:rPr>
              <a:t>, originated from degenerating astrocytes, with small, eccentric, pyknotic, densely staining nuclei (single or multiple) displaced to the periphery, and fine granular cytoplasm, found in the cortical and subcortical regions</a:t>
            </a:r>
          </a:p>
        </p:txBody>
      </p:sp>
    </p:spTree>
    <p:extLst>
      <p:ext uri="{BB962C8B-B14F-4D97-AF65-F5344CB8AC3E}">
        <p14:creationId xmlns:p14="http://schemas.microsoft.com/office/powerpoint/2010/main" val="330572968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255F18-868B-4FB0-BD06-F364FD97B261}"/>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CEB8B5A1-78D1-4B7C-AC23-DB540BE18ACE}"/>
              </a:ext>
            </a:extLst>
          </p:cNvPr>
          <p:cNvSpPr>
            <a:spLocks noGrp="1"/>
          </p:cNvSpPr>
          <p:nvPr>
            <p:ph idx="1"/>
          </p:nvPr>
        </p:nvSpPr>
        <p:spPr/>
        <p:txBody>
          <a:bodyPr/>
          <a:lstStyle/>
          <a:p>
            <a:r>
              <a:rPr lang="en-US" dirty="0"/>
              <a:t>Which of the following is the </a:t>
            </a:r>
            <a:r>
              <a:rPr lang="en-US" b="1" dirty="0"/>
              <a:t>first </a:t>
            </a:r>
            <a:r>
              <a:rPr lang="en-US" dirty="0"/>
              <a:t>and which one is </a:t>
            </a:r>
            <a:r>
              <a:rPr lang="en-US" b="1" dirty="0"/>
              <a:t>the most common </a:t>
            </a:r>
            <a:r>
              <a:rPr lang="en-US" dirty="0"/>
              <a:t>neurologic symptom of Wilson Disease?</a:t>
            </a:r>
          </a:p>
          <a:p>
            <a:endParaRPr lang="en-US" dirty="0"/>
          </a:p>
          <a:p>
            <a:pPr marL="971550" lvl="1" indent="-514350">
              <a:buAutoNum type="alphaUcParenR"/>
            </a:pPr>
            <a:r>
              <a:rPr lang="en-US" dirty="0"/>
              <a:t>Dysarthria</a:t>
            </a:r>
          </a:p>
          <a:p>
            <a:pPr marL="971550" lvl="1" indent="-514350">
              <a:buAutoNum type="alphaUcParenR"/>
            </a:pPr>
            <a:r>
              <a:rPr lang="en-US" dirty="0"/>
              <a:t>Gait disturbances</a:t>
            </a:r>
          </a:p>
          <a:p>
            <a:pPr marL="971550" lvl="1" indent="-514350">
              <a:buAutoNum type="alphaUcParenR"/>
            </a:pPr>
            <a:r>
              <a:rPr lang="en-US" dirty="0"/>
              <a:t>Dystonia</a:t>
            </a:r>
          </a:p>
          <a:p>
            <a:pPr marL="971550" lvl="1" indent="-514350">
              <a:buAutoNum type="alphaUcParenR"/>
            </a:pPr>
            <a:r>
              <a:rPr lang="en-US" dirty="0"/>
              <a:t>Parkinsonism</a:t>
            </a:r>
          </a:p>
          <a:p>
            <a:pPr marL="971550" lvl="1" indent="-514350">
              <a:buAutoNum type="alphaUcParenR"/>
            </a:pPr>
            <a:r>
              <a:rPr lang="en-US" dirty="0"/>
              <a:t>Ataxia</a:t>
            </a:r>
          </a:p>
        </p:txBody>
      </p:sp>
    </p:spTree>
    <p:extLst>
      <p:ext uri="{BB962C8B-B14F-4D97-AF65-F5344CB8AC3E}">
        <p14:creationId xmlns:p14="http://schemas.microsoft.com/office/powerpoint/2010/main" val="380885904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9CDC3-C12B-4787-834C-2ABB89CC7238}"/>
              </a:ext>
            </a:extLst>
          </p:cNvPr>
          <p:cNvSpPr>
            <a:spLocks noGrp="1"/>
          </p:cNvSpPr>
          <p:nvPr>
            <p:ph type="title"/>
          </p:nvPr>
        </p:nvSpPr>
        <p:spPr/>
        <p:txBody>
          <a:bodyPr/>
          <a:lstStyle/>
          <a:p>
            <a:r>
              <a:rPr lang="en-US" dirty="0"/>
              <a:t>Neurologic Wilson Disease</a:t>
            </a:r>
          </a:p>
        </p:txBody>
      </p:sp>
      <p:sp>
        <p:nvSpPr>
          <p:cNvPr id="3" name="Content Placeholder 2">
            <a:extLst>
              <a:ext uri="{FF2B5EF4-FFF2-40B4-BE49-F238E27FC236}">
                <a16:creationId xmlns:a16="http://schemas.microsoft.com/office/drawing/2014/main" id="{C0F5A2DF-8BEB-46D0-BF55-7C93E139F486}"/>
              </a:ext>
            </a:extLst>
          </p:cNvPr>
          <p:cNvSpPr>
            <a:spLocks noGrp="1"/>
          </p:cNvSpPr>
          <p:nvPr>
            <p:ph idx="1"/>
          </p:nvPr>
        </p:nvSpPr>
        <p:spPr>
          <a:xfrm>
            <a:off x="469900" y="1600200"/>
            <a:ext cx="11252200" cy="4978400"/>
          </a:xfrm>
        </p:spPr>
        <p:txBody>
          <a:bodyPr>
            <a:normAutofit fontScale="92500" lnSpcReduction="10000"/>
          </a:bodyPr>
          <a:lstStyle/>
          <a:p>
            <a:r>
              <a:rPr lang="en-US" u="sng" dirty="0"/>
              <a:t>Dystonia</a:t>
            </a:r>
            <a:r>
              <a:rPr lang="en-US" dirty="0"/>
              <a:t> is the </a:t>
            </a:r>
            <a:r>
              <a:rPr lang="en-US" b="1" dirty="0"/>
              <a:t>first</a:t>
            </a:r>
            <a:r>
              <a:rPr lang="en-US" dirty="0"/>
              <a:t> symptom in up to 65% of patients</a:t>
            </a:r>
          </a:p>
          <a:p>
            <a:pPr lvl="1"/>
            <a:r>
              <a:rPr lang="en-US" dirty="0"/>
              <a:t>Focal, segmental, multi-segmental or generalized</a:t>
            </a:r>
          </a:p>
          <a:p>
            <a:r>
              <a:rPr lang="en-US" u="sng" dirty="0"/>
              <a:t>Dysarthria</a:t>
            </a:r>
            <a:r>
              <a:rPr lang="en-US" dirty="0"/>
              <a:t> is the </a:t>
            </a:r>
            <a:r>
              <a:rPr lang="en-US" b="1" dirty="0"/>
              <a:t>most common</a:t>
            </a:r>
            <a:r>
              <a:rPr lang="en-US" dirty="0"/>
              <a:t> symptom up to 97%</a:t>
            </a:r>
          </a:p>
          <a:p>
            <a:endParaRPr lang="en-US" dirty="0"/>
          </a:p>
          <a:p>
            <a:r>
              <a:rPr lang="en-US" u="sng" dirty="0" err="1"/>
              <a:t>Risus</a:t>
            </a:r>
            <a:r>
              <a:rPr lang="en-US" u="sng" dirty="0"/>
              <a:t> sardonicus </a:t>
            </a:r>
            <a:r>
              <a:rPr lang="en-US" dirty="0"/>
              <a:t>is one of the characteristic findings</a:t>
            </a:r>
          </a:p>
          <a:p>
            <a:r>
              <a:rPr lang="en-US" u="sng" dirty="0" err="1"/>
              <a:t>Parkonsinism</a:t>
            </a:r>
            <a:r>
              <a:rPr lang="en-US" dirty="0"/>
              <a:t> in up to 62% of patients</a:t>
            </a:r>
          </a:p>
          <a:p>
            <a:pPr lvl="1"/>
            <a:r>
              <a:rPr lang="en-US" b="1" dirty="0"/>
              <a:t>Symmetric </a:t>
            </a:r>
            <a:r>
              <a:rPr lang="en-US" dirty="0"/>
              <a:t>bradykinesia</a:t>
            </a:r>
          </a:p>
          <a:p>
            <a:pPr lvl="1"/>
            <a:r>
              <a:rPr lang="en-US" dirty="0"/>
              <a:t>Rigidity</a:t>
            </a:r>
          </a:p>
          <a:p>
            <a:pPr lvl="1"/>
            <a:r>
              <a:rPr lang="en-US" dirty="0"/>
              <a:t>Hypomimia</a:t>
            </a:r>
          </a:p>
          <a:p>
            <a:pPr lvl="1"/>
            <a:r>
              <a:rPr lang="en-US" dirty="0"/>
              <a:t>Gait/posture disturbances</a:t>
            </a:r>
          </a:p>
          <a:p>
            <a:pPr lvl="1"/>
            <a:r>
              <a:rPr lang="en-US" dirty="0"/>
              <a:t>Dysphagia, drooling</a:t>
            </a:r>
          </a:p>
          <a:p>
            <a:r>
              <a:rPr lang="en-US" dirty="0"/>
              <a:t>Cerebellar symptoms in ~30% of patients</a:t>
            </a:r>
          </a:p>
        </p:txBody>
      </p:sp>
      <p:sp>
        <p:nvSpPr>
          <p:cNvPr id="4" name="TextBox 3">
            <a:extLst>
              <a:ext uri="{FF2B5EF4-FFF2-40B4-BE49-F238E27FC236}">
                <a16:creationId xmlns:a16="http://schemas.microsoft.com/office/drawing/2014/main" id="{E73404FF-878E-4369-AF4E-30B2811A9CEC}"/>
              </a:ext>
            </a:extLst>
          </p:cNvPr>
          <p:cNvSpPr txBox="1"/>
          <p:nvPr/>
        </p:nvSpPr>
        <p:spPr>
          <a:xfrm>
            <a:off x="3048000" y="6488668"/>
            <a:ext cx="9144000" cy="369332"/>
          </a:xfrm>
          <a:prstGeom prst="rect">
            <a:avLst/>
          </a:prstGeom>
          <a:noFill/>
        </p:spPr>
        <p:txBody>
          <a:bodyPr wrap="square">
            <a:spAutoFit/>
          </a:bodyPr>
          <a:lstStyle/>
          <a:p>
            <a:pPr algn="r"/>
            <a:r>
              <a:rPr lang="en-US" dirty="0"/>
              <a:t>Nat Rev Dis Primers. 2018 Sep 6;4(1):21.</a:t>
            </a:r>
          </a:p>
        </p:txBody>
      </p:sp>
    </p:spTree>
    <p:extLst>
      <p:ext uri="{BB962C8B-B14F-4D97-AF65-F5344CB8AC3E}">
        <p14:creationId xmlns:p14="http://schemas.microsoft.com/office/powerpoint/2010/main" val="42439286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child's anatomy and its organs&#10;&#10;Description automatically generated">
            <a:extLst>
              <a:ext uri="{FF2B5EF4-FFF2-40B4-BE49-F238E27FC236}">
                <a16:creationId xmlns:a16="http://schemas.microsoft.com/office/drawing/2014/main" id="{6B862C7B-386D-478B-A4D4-3143967D8F93}"/>
              </a:ext>
            </a:extLst>
          </p:cNvPr>
          <p:cNvPicPr>
            <a:picLocks noChangeAspect="1"/>
          </p:cNvPicPr>
          <p:nvPr/>
        </p:nvPicPr>
        <p:blipFill>
          <a:blip r:embed="rId2"/>
          <a:stretch>
            <a:fillRect/>
          </a:stretch>
        </p:blipFill>
        <p:spPr>
          <a:xfrm>
            <a:off x="3441700" y="254157"/>
            <a:ext cx="5308600" cy="6349686"/>
          </a:xfrm>
          <a:prstGeom prst="rect">
            <a:avLst/>
          </a:prstGeom>
        </p:spPr>
      </p:pic>
    </p:spTree>
    <p:extLst>
      <p:ext uri="{BB962C8B-B14F-4D97-AF65-F5344CB8AC3E}">
        <p14:creationId xmlns:p14="http://schemas.microsoft.com/office/powerpoint/2010/main" val="4263637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MDC3-2-47-s001">
            <a:hlinkClick r:id="" action="ppaction://media"/>
            <a:extLst>
              <a:ext uri="{FF2B5EF4-FFF2-40B4-BE49-F238E27FC236}">
                <a16:creationId xmlns:a16="http://schemas.microsoft.com/office/drawing/2014/main" id="{AB8964B8-1AFD-4940-9B16-741C71D0B390}"/>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798944" y="381000"/>
            <a:ext cx="4572000" cy="6096000"/>
          </a:xfrm>
          <a:prstGeom prst="rect">
            <a:avLst/>
          </a:prstGeom>
        </p:spPr>
      </p:pic>
      <p:pic>
        <p:nvPicPr>
          <p:cNvPr id="3" name="videoplayback">
            <a:hlinkClick r:id="" action="ppaction://media"/>
            <a:extLst>
              <a:ext uri="{FF2B5EF4-FFF2-40B4-BE49-F238E27FC236}">
                <a16:creationId xmlns:a16="http://schemas.microsoft.com/office/drawing/2014/main" id="{86ECA73E-D423-4B8C-95DE-3AC9C2835928}"/>
              </a:ext>
            </a:extLst>
          </p:cNvPr>
          <p:cNvPicPr>
            <a:picLocks noChangeAspect="1"/>
          </p:cNvPicPr>
          <p:nvPr>
            <a:videoFile r:link="rId4"/>
            <p:extLst>
              <p:ext uri="{DAA4B4D4-6D71-4841-9C94-3DE7FCFB9230}">
                <p14:media xmlns:p14="http://schemas.microsoft.com/office/powerpoint/2010/main" r:embed="rId3"/>
              </p:ext>
            </p:extLst>
          </p:nvPr>
        </p:nvPicPr>
        <p:blipFill>
          <a:blip r:embed="rId7"/>
          <a:stretch>
            <a:fillRect/>
          </a:stretch>
        </p:blipFill>
        <p:spPr>
          <a:xfrm>
            <a:off x="5769552" y="1143000"/>
            <a:ext cx="6096000" cy="4572000"/>
          </a:xfrm>
          <a:prstGeom prst="rect">
            <a:avLst/>
          </a:prstGeom>
        </p:spPr>
      </p:pic>
      <p:sp>
        <p:nvSpPr>
          <p:cNvPr id="4" name="TextBox 3">
            <a:extLst>
              <a:ext uri="{FF2B5EF4-FFF2-40B4-BE49-F238E27FC236}">
                <a16:creationId xmlns:a16="http://schemas.microsoft.com/office/drawing/2014/main" id="{51A20B17-0673-477D-B8E8-6FC53C7E966D}"/>
              </a:ext>
            </a:extLst>
          </p:cNvPr>
          <p:cNvSpPr txBox="1"/>
          <p:nvPr/>
        </p:nvSpPr>
        <p:spPr>
          <a:xfrm>
            <a:off x="7362825" y="523875"/>
            <a:ext cx="2723823" cy="523220"/>
          </a:xfrm>
          <a:prstGeom prst="rect">
            <a:avLst/>
          </a:prstGeom>
          <a:noFill/>
        </p:spPr>
        <p:txBody>
          <a:bodyPr wrap="none" rtlCol="0">
            <a:spAutoFit/>
          </a:bodyPr>
          <a:lstStyle/>
          <a:p>
            <a:r>
              <a:rPr lang="en-US" sz="2800" dirty="0">
                <a:solidFill>
                  <a:schemeClr val="bg1"/>
                </a:solidFill>
                <a:latin typeface="Georgia" panose="02040502050405020303" pitchFamily="18" charset="0"/>
              </a:rPr>
              <a:t>Name this sign?</a:t>
            </a:r>
          </a:p>
        </p:txBody>
      </p:sp>
    </p:spTree>
    <p:extLst>
      <p:ext uri="{BB962C8B-B14F-4D97-AF65-F5344CB8AC3E}">
        <p14:creationId xmlns:p14="http://schemas.microsoft.com/office/powerpoint/2010/main" val="38813616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8658" fill="hold"/>
                                        <p:tgtEl>
                                          <p:spTgt spid="2"/>
                                        </p:tgtEl>
                                      </p:cBhvr>
                                    </p:cmd>
                                  </p:childTnLst>
                                </p:cTn>
                              </p:par>
                            </p:childTnLst>
                          </p:cTn>
                        </p:par>
                      </p:childTnLst>
                    </p:cTn>
                  </p:par>
                  <p:par>
                    <p:cTn id="7" fill="hold">
                      <p:stCondLst>
                        <p:cond delay="indefinite"/>
                      </p:stCondLst>
                      <p:childTnLst>
                        <p:par>
                          <p:cTn id="8" fill="hold">
                            <p:stCondLst>
                              <p:cond delay="0"/>
                            </p:stCondLst>
                            <p:childTnLst>
                              <p:par>
                                <p:cTn id="9" presetID="1" presetClass="mediacall" presetSubtype="0" fill="hold" nodeType="clickEffect">
                                  <p:stCondLst>
                                    <p:cond delay="0"/>
                                  </p:stCondLst>
                                  <p:childTnLst>
                                    <p:cmd type="call" cmd="playFrom(0.0)">
                                      <p:cBhvr>
                                        <p:cTn id="10" dur="18184"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11" fill="hold" display="0">
                  <p:stCondLst>
                    <p:cond delay="indefinite"/>
                  </p:stCondLst>
                </p:cTn>
                <p:tgtEl>
                  <p:spTgt spid="2"/>
                </p:tgtEl>
              </p:cMediaNode>
            </p:video>
            <p:seq concurrent="1" nextAc="seek">
              <p:cTn id="12" restart="whenNotActive" fill="hold" evtFilter="cancelBubble" nodeType="interactiveSeq">
                <p:stCondLst>
                  <p:cond evt="onClick" delay="0">
                    <p:tgtEl>
                      <p:spTgt spid="2"/>
                    </p:tgtEl>
                  </p:cond>
                </p:stCondLst>
                <p:endSync evt="end" delay="0">
                  <p:rtn val="all"/>
                </p:endSync>
                <p:childTnLst>
                  <p:par>
                    <p:cTn id="13" fill="hold">
                      <p:stCondLst>
                        <p:cond delay="0"/>
                      </p:stCondLst>
                      <p:childTnLst>
                        <p:par>
                          <p:cTn id="14" fill="hold">
                            <p:stCondLst>
                              <p:cond delay="0"/>
                            </p:stCondLst>
                            <p:childTnLst>
                              <p:par>
                                <p:cTn id="15" presetID="2" presetClass="mediacall" presetSubtype="0" fill="hold" nodeType="clickEffect">
                                  <p:stCondLst>
                                    <p:cond delay="0"/>
                                  </p:stCondLst>
                                  <p:childTnLst>
                                    <p:cmd type="call" cmd="togglePause">
                                      <p:cBhvr>
                                        <p:cTn id="16" dur="1" fill="hold"/>
                                        <p:tgtEl>
                                          <p:spTgt spid="2"/>
                                        </p:tgtEl>
                                      </p:cBhvr>
                                    </p:cmd>
                                  </p:childTnLst>
                                </p:cTn>
                              </p:par>
                            </p:childTnLst>
                          </p:cTn>
                        </p:par>
                      </p:childTnLst>
                    </p:cTn>
                  </p:par>
                </p:childTnLst>
              </p:cTn>
              <p:nextCondLst>
                <p:cond evt="onClick" delay="0">
                  <p:tgtEl>
                    <p:spTgt spid="2"/>
                  </p:tgtEl>
                </p:cond>
              </p:nextCondLst>
            </p:seq>
            <p:video>
              <p:cMediaNode vol="80000" mute="1">
                <p:cTn id="17" fill="hold" display="0">
                  <p:stCondLst>
                    <p:cond delay="indefinite"/>
                  </p:stCondLst>
                </p:cTn>
                <p:tgtEl>
                  <p:spTgt spid="3"/>
                </p:tgtEl>
              </p:cMediaNode>
            </p:video>
            <p:seq concurrent="1" nextAc="seek">
              <p:cTn id="18" restart="whenNotActive" fill="hold" evtFilter="cancelBubble" nodeType="interactiveSeq">
                <p:stCondLst>
                  <p:cond evt="onClick" delay="0">
                    <p:tgtEl>
                      <p:spTgt spid="3"/>
                    </p:tgtEl>
                  </p:cond>
                </p:stCondLst>
                <p:endSync evt="end" delay="0">
                  <p:rtn val="all"/>
                </p:endSync>
                <p:childTnLst>
                  <p:par>
                    <p:cTn id="19" fill="hold">
                      <p:stCondLst>
                        <p:cond delay="0"/>
                      </p:stCondLst>
                      <p:childTnLst>
                        <p:par>
                          <p:cTn id="20" fill="hold">
                            <p:stCondLst>
                              <p:cond delay="0"/>
                            </p:stCondLst>
                            <p:childTnLst>
                              <p:par>
                                <p:cTn id="21" presetID="2" presetClass="mediacall" presetSubtype="0" fill="hold" nodeType="clickEffect">
                                  <p:stCondLst>
                                    <p:cond delay="0"/>
                                  </p:stCondLst>
                                  <p:childTnLst>
                                    <p:cmd type="call" cmd="togglePause">
                                      <p:cBhvr>
                                        <p:cTn id="2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874EF-75A8-40C3-B0E7-3BF01803C802}"/>
              </a:ext>
            </a:extLst>
          </p:cNvPr>
          <p:cNvPicPr>
            <a:picLocks noChangeAspect="1"/>
          </p:cNvPicPr>
          <p:nvPr/>
        </p:nvPicPr>
        <p:blipFill>
          <a:blip r:embed="rId2"/>
          <a:stretch>
            <a:fillRect/>
          </a:stretch>
        </p:blipFill>
        <p:spPr>
          <a:xfrm>
            <a:off x="2642703" y="250675"/>
            <a:ext cx="6906589" cy="4772691"/>
          </a:xfrm>
          <a:prstGeom prst="rect">
            <a:avLst/>
          </a:prstGeom>
        </p:spPr>
      </p:pic>
      <p:sp>
        <p:nvSpPr>
          <p:cNvPr id="2" name="TextBox 1">
            <a:extLst>
              <a:ext uri="{FF2B5EF4-FFF2-40B4-BE49-F238E27FC236}">
                <a16:creationId xmlns:a16="http://schemas.microsoft.com/office/drawing/2014/main" id="{B2538CAC-4095-436B-AA1C-B0C106CED3C9}"/>
              </a:ext>
            </a:extLst>
          </p:cNvPr>
          <p:cNvSpPr txBox="1"/>
          <p:nvPr/>
        </p:nvSpPr>
        <p:spPr>
          <a:xfrm>
            <a:off x="3091552" y="5105400"/>
            <a:ext cx="6008889" cy="369332"/>
          </a:xfrm>
          <a:prstGeom prst="rect">
            <a:avLst/>
          </a:prstGeom>
          <a:noFill/>
        </p:spPr>
        <p:txBody>
          <a:bodyPr wrap="none" rtlCol="0">
            <a:spAutoFit/>
          </a:bodyPr>
          <a:lstStyle/>
          <a:p>
            <a:r>
              <a:rPr lang="en-US" b="1" dirty="0"/>
              <a:t>What percent of patients with Wilson Disease have this sign?</a:t>
            </a:r>
          </a:p>
        </p:txBody>
      </p:sp>
    </p:spTree>
    <p:extLst>
      <p:ext uri="{BB962C8B-B14F-4D97-AF65-F5344CB8AC3E}">
        <p14:creationId xmlns:p14="http://schemas.microsoft.com/office/powerpoint/2010/main" val="181148530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DB874EF-75A8-40C3-B0E7-3BF01803C802}"/>
              </a:ext>
            </a:extLst>
          </p:cNvPr>
          <p:cNvPicPr>
            <a:picLocks noChangeAspect="1"/>
          </p:cNvPicPr>
          <p:nvPr/>
        </p:nvPicPr>
        <p:blipFill>
          <a:blip r:embed="rId2"/>
          <a:stretch>
            <a:fillRect/>
          </a:stretch>
        </p:blipFill>
        <p:spPr>
          <a:xfrm>
            <a:off x="2642703" y="250675"/>
            <a:ext cx="6906589" cy="4772691"/>
          </a:xfrm>
          <a:prstGeom prst="rect">
            <a:avLst/>
          </a:prstGeom>
        </p:spPr>
      </p:pic>
      <p:sp>
        <p:nvSpPr>
          <p:cNvPr id="2" name="TextBox 1">
            <a:extLst>
              <a:ext uri="{FF2B5EF4-FFF2-40B4-BE49-F238E27FC236}">
                <a16:creationId xmlns:a16="http://schemas.microsoft.com/office/drawing/2014/main" id="{B2538CAC-4095-436B-AA1C-B0C106CED3C9}"/>
              </a:ext>
            </a:extLst>
          </p:cNvPr>
          <p:cNvSpPr txBox="1"/>
          <p:nvPr/>
        </p:nvSpPr>
        <p:spPr>
          <a:xfrm>
            <a:off x="3091552" y="5105400"/>
            <a:ext cx="6008889" cy="369332"/>
          </a:xfrm>
          <a:prstGeom prst="rect">
            <a:avLst/>
          </a:prstGeom>
          <a:noFill/>
        </p:spPr>
        <p:txBody>
          <a:bodyPr wrap="none" rtlCol="0">
            <a:spAutoFit/>
          </a:bodyPr>
          <a:lstStyle/>
          <a:p>
            <a:r>
              <a:rPr lang="en-US" b="1" dirty="0"/>
              <a:t>What percent of patients with Wilson Disease have this sign?</a:t>
            </a:r>
          </a:p>
        </p:txBody>
      </p:sp>
      <p:sp>
        <p:nvSpPr>
          <p:cNvPr id="4" name="TextBox 3">
            <a:extLst>
              <a:ext uri="{FF2B5EF4-FFF2-40B4-BE49-F238E27FC236}">
                <a16:creationId xmlns:a16="http://schemas.microsoft.com/office/drawing/2014/main" id="{3139CBFB-7CFD-41FD-8BD9-361E546BEC22}"/>
              </a:ext>
            </a:extLst>
          </p:cNvPr>
          <p:cNvSpPr txBox="1"/>
          <p:nvPr/>
        </p:nvSpPr>
        <p:spPr>
          <a:xfrm>
            <a:off x="3724962" y="5474732"/>
            <a:ext cx="4742067" cy="923330"/>
          </a:xfrm>
          <a:prstGeom prst="rect">
            <a:avLst/>
          </a:prstGeom>
          <a:noFill/>
        </p:spPr>
        <p:txBody>
          <a:bodyPr wrap="none" rtlCol="0">
            <a:spAutoFit/>
          </a:bodyPr>
          <a:lstStyle/>
          <a:p>
            <a:r>
              <a:rPr lang="en-US" dirty="0"/>
              <a:t>100% of patients with neurologic Wilson Disease</a:t>
            </a:r>
          </a:p>
          <a:p>
            <a:r>
              <a:rPr lang="en-US" dirty="0"/>
              <a:t>~50% of patients with hepatic Wilson Disease</a:t>
            </a:r>
          </a:p>
          <a:p>
            <a:r>
              <a:rPr lang="en-US" dirty="0"/>
              <a:t>~25% of </a:t>
            </a:r>
            <a:r>
              <a:rPr lang="en-US" dirty="0" err="1"/>
              <a:t>presymptomatic</a:t>
            </a:r>
            <a:r>
              <a:rPr lang="en-US" dirty="0"/>
              <a:t> Wilson Disease</a:t>
            </a:r>
          </a:p>
        </p:txBody>
      </p:sp>
    </p:spTree>
    <p:extLst>
      <p:ext uri="{BB962C8B-B14F-4D97-AF65-F5344CB8AC3E}">
        <p14:creationId xmlns:p14="http://schemas.microsoft.com/office/powerpoint/2010/main" val="417059187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Close-up of an eye&#10;&#10;Description automatically generated">
            <a:extLst>
              <a:ext uri="{FF2B5EF4-FFF2-40B4-BE49-F238E27FC236}">
                <a16:creationId xmlns:a16="http://schemas.microsoft.com/office/drawing/2014/main" id="{3E6EE042-6ACB-4CF7-A339-25AE41E6A15A}"/>
              </a:ext>
            </a:extLst>
          </p:cNvPr>
          <p:cNvPicPr>
            <a:picLocks noChangeAspect="1"/>
          </p:cNvPicPr>
          <p:nvPr/>
        </p:nvPicPr>
        <p:blipFill>
          <a:blip r:embed="rId2"/>
          <a:stretch>
            <a:fillRect/>
          </a:stretch>
        </p:blipFill>
        <p:spPr>
          <a:xfrm>
            <a:off x="1210630" y="733425"/>
            <a:ext cx="9770740" cy="5391150"/>
          </a:xfrm>
          <a:prstGeom prst="rect">
            <a:avLst/>
          </a:prstGeom>
        </p:spPr>
      </p:pic>
      <p:sp>
        <p:nvSpPr>
          <p:cNvPr id="8" name="TextBox 7">
            <a:extLst>
              <a:ext uri="{FF2B5EF4-FFF2-40B4-BE49-F238E27FC236}">
                <a16:creationId xmlns:a16="http://schemas.microsoft.com/office/drawing/2014/main" id="{08A0F352-668A-440A-BF4B-CC28E9E64A48}"/>
              </a:ext>
            </a:extLst>
          </p:cNvPr>
          <p:cNvSpPr txBox="1"/>
          <p:nvPr/>
        </p:nvSpPr>
        <p:spPr>
          <a:xfrm>
            <a:off x="6096000" y="6488668"/>
            <a:ext cx="6096000" cy="369332"/>
          </a:xfrm>
          <a:prstGeom prst="rect">
            <a:avLst/>
          </a:prstGeom>
          <a:noFill/>
        </p:spPr>
        <p:txBody>
          <a:bodyPr wrap="square" anchor="ctr">
            <a:spAutoFit/>
          </a:bodyPr>
          <a:lstStyle/>
          <a:p>
            <a:pPr algn="r"/>
            <a:r>
              <a:rPr lang="en-US" dirty="0"/>
              <a:t>Transplant Direct. 2023 Jan 12;9(2):e1434</a:t>
            </a:r>
          </a:p>
        </p:txBody>
      </p:sp>
      <p:sp>
        <p:nvSpPr>
          <p:cNvPr id="7" name="TextBox 6">
            <a:extLst>
              <a:ext uri="{FF2B5EF4-FFF2-40B4-BE49-F238E27FC236}">
                <a16:creationId xmlns:a16="http://schemas.microsoft.com/office/drawing/2014/main" id="{5013A525-2E52-4BE1-9CEB-8F572335C613}"/>
              </a:ext>
            </a:extLst>
          </p:cNvPr>
          <p:cNvSpPr txBox="1"/>
          <p:nvPr/>
        </p:nvSpPr>
        <p:spPr>
          <a:xfrm>
            <a:off x="11325224" y="3738563"/>
            <a:ext cx="827471" cy="646331"/>
          </a:xfrm>
          <a:prstGeom prst="rect">
            <a:avLst/>
          </a:prstGeom>
          <a:noFill/>
        </p:spPr>
        <p:txBody>
          <a:bodyPr wrap="none" rtlCol="0">
            <a:spAutoFit/>
          </a:bodyPr>
          <a:lstStyle/>
          <a:p>
            <a:r>
              <a:rPr lang="en-US" sz="3600" b="1" dirty="0">
                <a:solidFill>
                  <a:schemeClr val="accent2">
                    <a:lumMod val="75000"/>
                  </a:schemeClr>
                </a:solidFill>
                <a:latin typeface="Georgia" panose="02040502050405020303" pitchFamily="18" charset="0"/>
              </a:rPr>
              <a:t>Cu</a:t>
            </a:r>
          </a:p>
        </p:txBody>
      </p:sp>
      <p:cxnSp>
        <p:nvCxnSpPr>
          <p:cNvPr id="11" name="Straight Arrow Connector 10">
            <a:extLst>
              <a:ext uri="{FF2B5EF4-FFF2-40B4-BE49-F238E27FC236}">
                <a16:creationId xmlns:a16="http://schemas.microsoft.com/office/drawing/2014/main" id="{FD7B3D71-7D81-4033-B3BF-835359341CF2}"/>
              </a:ext>
            </a:extLst>
          </p:cNvPr>
          <p:cNvCxnSpPr>
            <a:cxnSpLocks/>
            <a:stCxn id="7" idx="1"/>
          </p:cNvCxnSpPr>
          <p:nvPr/>
        </p:nvCxnSpPr>
        <p:spPr>
          <a:xfrm flipH="1">
            <a:off x="10943270" y="4061729"/>
            <a:ext cx="381954" cy="0"/>
          </a:xfrm>
          <a:prstGeom prst="straightConnector1">
            <a:avLst/>
          </a:prstGeom>
          <a:ln w="57150">
            <a:solidFill>
              <a:schemeClr val="accent2">
                <a:lumMod val="75000"/>
              </a:schemeClr>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5195193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rgbClr val="0A0A0A"/>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D3A1043-67B4-4A64-8AEA-5685CCE5A220}"/>
              </a:ext>
            </a:extLst>
          </p:cNvPr>
          <p:cNvPicPr>
            <a:picLocks noChangeAspect="1"/>
          </p:cNvPicPr>
          <p:nvPr/>
        </p:nvPicPr>
        <p:blipFill>
          <a:blip r:embed="rId3"/>
          <a:stretch>
            <a:fillRect/>
          </a:stretch>
        </p:blipFill>
        <p:spPr>
          <a:xfrm>
            <a:off x="1950819" y="0"/>
            <a:ext cx="6118661" cy="6858000"/>
          </a:xfrm>
          <a:prstGeom prst="rect">
            <a:avLst/>
          </a:prstGeom>
        </p:spPr>
      </p:pic>
      <p:sp>
        <p:nvSpPr>
          <p:cNvPr id="4" name="TextBox 3">
            <a:extLst>
              <a:ext uri="{FF2B5EF4-FFF2-40B4-BE49-F238E27FC236}">
                <a16:creationId xmlns:a16="http://schemas.microsoft.com/office/drawing/2014/main" id="{3C051270-86F8-4FF1-A461-89BBBC73B4B8}"/>
              </a:ext>
            </a:extLst>
          </p:cNvPr>
          <p:cNvSpPr txBox="1"/>
          <p:nvPr/>
        </p:nvSpPr>
        <p:spPr>
          <a:xfrm>
            <a:off x="3048000" y="6488668"/>
            <a:ext cx="9144000" cy="369332"/>
          </a:xfrm>
          <a:prstGeom prst="rect">
            <a:avLst/>
          </a:prstGeom>
          <a:noFill/>
        </p:spPr>
        <p:txBody>
          <a:bodyPr wrap="square">
            <a:spAutoFit/>
          </a:bodyPr>
          <a:lstStyle/>
          <a:p>
            <a:pPr algn="r"/>
            <a:r>
              <a:rPr lang="en-US" dirty="0">
                <a:solidFill>
                  <a:schemeClr val="bg1"/>
                </a:solidFill>
              </a:rPr>
              <a:t>Nat Rev Dis Primers. 2018 Sep 6;4(1):21.</a:t>
            </a:r>
          </a:p>
        </p:txBody>
      </p:sp>
    </p:spTree>
    <p:extLst>
      <p:ext uri="{BB962C8B-B14F-4D97-AF65-F5344CB8AC3E}">
        <p14:creationId xmlns:p14="http://schemas.microsoft.com/office/powerpoint/2010/main" val="317623120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7EE03-9048-4D9D-858C-3FCDB21A9274}"/>
              </a:ext>
            </a:extLst>
          </p:cNvPr>
          <p:cNvPicPr>
            <a:picLocks noChangeAspect="1"/>
          </p:cNvPicPr>
          <p:nvPr/>
        </p:nvPicPr>
        <p:blipFill>
          <a:blip r:embed="rId2"/>
          <a:stretch>
            <a:fillRect/>
          </a:stretch>
        </p:blipFill>
        <p:spPr>
          <a:xfrm>
            <a:off x="2656995" y="547369"/>
            <a:ext cx="6878010" cy="4563112"/>
          </a:xfrm>
          <a:prstGeom prst="rect">
            <a:avLst/>
          </a:prstGeom>
        </p:spPr>
      </p:pic>
    </p:spTree>
    <p:extLst>
      <p:ext uri="{BB962C8B-B14F-4D97-AF65-F5344CB8AC3E}">
        <p14:creationId xmlns:p14="http://schemas.microsoft.com/office/powerpoint/2010/main" val="155095146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6C7EE03-9048-4D9D-858C-3FCDB21A9274}"/>
              </a:ext>
            </a:extLst>
          </p:cNvPr>
          <p:cNvPicPr>
            <a:picLocks noChangeAspect="1"/>
          </p:cNvPicPr>
          <p:nvPr/>
        </p:nvPicPr>
        <p:blipFill>
          <a:blip r:embed="rId2"/>
          <a:stretch>
            <a:fillRect/>
          </a:stretch>
        </p:blipFill>
        <p:spPr>
          <a:xfrm>
            <a:off x="2656995" y="547369"/>
            <a:ext cx="6878010" cy="4563112"/>
          </a:xfrm>
          <a:prstGeom prst="rect">
            <a:avLst/>
          </a:prstGeom>
        </p:spPr>
      </p:pic>
      <p:sp>
        <p:nvSpPr>
          <p:cNvPr id="2" name="TextBox 1">
            <a:extLst>
              <a:ext uri="{FF2B5EF4-FFF2-40B4-BE49-F238E27FC236}">
                <a16:creationId xmlns:a16="http://schemas.microsoft.com/office/drawing/2014/main" id="{5E568509-1B88-40FE-9557-582A974D07F6}"/>
              </a:ext>
            </a:extLst>
          </p:cNvPr>
          <p:cNvSpPr txBox="1"/>
          <p:nvPr/>
        </p:nvSpPr>
        <p:spPr>
          <a:xfrm>
            <a:off x="1427895" y="5334000"/>
            <a:ext cx="9336210" cy="461665"/>
          </a:xfrm>
          <a:prstGeom prst="rect">
            <a:avLst/>
          </a:prstGeom>
          <a:noFill/>
        </p:spPr>
        <p:txBody>
          <a:bodyPr wrap="none" rtlCol="0">
            <a:spAutoFit/>
          </a:bodyPr>
          <a:lstStyle/>
          <a:p>
            <a:pPr algn="ctr"/>
            <a:r>
              <a:rPr lang="en-US" sz="2400" dirty="0">
                <a:latin typeface="Georgia" panose="02040502050405020303" pitchFamily="18" charset="0"/>
              </a:rPr>
              <a:t>Sunflower cataracts occur in 2-20% of patients with Wilson Disease</a:t>
            </a:r>
          </a:p>
        </p:txBody>
      </p:sp>
    </p:spTree>
    <p:extLst>
      <p:ext uri="{BB962C8B-B14F-4D97-AF65-F5344CB8AC3E}">
        <p14:creationId xmlns:p14="http://schemas.microsoft.com/office/powerpoint/2010/main" val="52187514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anda bear with black and white fur&#10;&#10;Description automatically generated">
            <a:extLst>
              <a:ext uri="{FF2B5EF4-FFF2-40B4-BE49-F238E27FC236}">
                <a16:creationId xmlns:a16="http://schemas.microsoft.com/office/drawing/2014/main" id="{BDA1E797-D530-4F3E-BC58-0B6482CEDC93}"/>
              </a:ext>
            </a:extLst>
          </p:cNvPr>
          <p:cNvPicPr>
            <a:picLocks noChangeAspect="1"/>
          </p:cNvPicPr>
          <p:nvPr/>
        </p:nvPicPr>
        <p:blipFill>
          <a:blip r:embed="rId3"/>
          <a:stretch>
            <a:fillRect/>
          </a:stretch>
        </p:blipFill>
        <p:spPr>
          <a:xfrm>
            <a:off x="552830" y="378393"/>
            <a:ext cx="6169984" cy="6156023"/>
          </a:xfrm>
          <a:prstGeom prst="rect">
            <a:avLst/>
          </a:prstGeom>
        </p:spPr>
      </p:pic>
      <p:sp>
        <p:nvSpPr>
          <p:cNvPr id="20" name="TextBox 19">
            <a:extLst>
              <a:ext uri="{FF2B5EF4-FFF2-40B4-BE49-F238E27FC236}">
                <a16:creationId xmlns:a16="http://schemas.microsoft.com/office/drawing/2014/main" id="{2A523FA7-326D-4BC9-BFB7-FEFFB206D8C2}"/>
              </a:ext>
            </a:extLst>
          </p:cNvPr>
          <p:cNvSpPr txBox="1"/>
          <p:nvPr/>
        </p:nvSpPr>
        <p:spPr>
          <a:xfrm>
            <a:off x="7124701" y="949893"/>
            <a:ext cx="4800600" cy="461665"/>
          </a:xfrm>
          <a:prstGeom prst="rect">
            <a:avLst/>
          </a:prstGeom>
          <a:noFill/>
        </p:spPr>
        <p:txBody>
          <a:bodyPr wrap="square" rtlCol="0">
            <a:spAutoFit/>
          </a:bodyPr>
          <a:lstStyle/>
          <a:p>
            <a:pPr algn="ctr"/>
            <a:r>
              <a:rPr lang="en-US" sz="2400" b="1" dirty="0">
                <a:latin typeface="Georgia" panose="02040502050405020303" pitchFamily="18" charset="0"/>
              </a:rPr>
              <a:t>Panda and Wilson Disease?</a:t>
            </a:r>
          </a:p>
        </p:txBody>
      </p:sp>
      <p:pic>
        <p:nvPicPr>
          <p:cNvPr id="22" name="Picture 21" descr="A panda bear with black and white fur&#10;&#10;Description automatically generated">
            <a:extLst>
              <a:ext uri="{FF2B5EF4-FFF2-40B4-BE49-F238E27FC236}">
                <a16:creationId xmlns:a16="http://schemas.microsoft.com/office/drawing/2014/main" id="{D5261902-8485-4E21-BFEB-78B157CAB5CB}"/>
              </a:ext>
            </a:extLst>
          </p:cNvPr>
          <p:cNvPicPr>
            <a:picLocks noChangeAspect="1"/>
          </p:cNvPicPr>
          <p:nvPr/>
        </p:nvPicPr>
        <p:blipFill>
          <a:blip r:embed="rId3"/>
          <a:stretch>
            <a:fillRect/>
          </a:stretch>
        </p:blipFill>
        <p:spPr>
          <a:xfrm>
            <a:off x="2408369" y="5772686"/>
            <a:ext cx="763456" cy="761730"/>
          </a:xfrm>
          <a:prstGeom prst="rect">
            <a:avLst/>
          </a:prstGeom>
        </p:spPr>
      </p:pic>
    </p:spTree>
    <p:extLst>
      <p:ext uri="{BB962C8B-B14F-4D97-AF65-F5344CB8AC3E}">
        <p14:creationId xmlns:p14="http://schemas.microsoft.com/office/powerpoint/2010/main" val="289607591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A panda bear with black and white fur&#10;&#10;Description automatically generated">
            <a:extLst>
              <a:ext uri="{FF2B5EF4-FFF2-40B4-BE49-F238E27FC236}">
                <a16:creationId xmlns:a16="http://schemas.microsoft.com/office/drawing/2014/main" id="{BDA1E797-D530-4F3E-BC58-0B6482CEDC93}"/>
              </a:ext>
            </a:extLst>
          </p:cNvPr>
          <p:cNvPicPr>
            <a:picLocks noChangeAspect="1"/>
          </p:cNvPicPr>
          <p:nvPr/>
        </p:nvPicPr>
        <p:blipFill>
          <a:blip r:embed="rId3"/>
          <a:stretch>
            <a:fillRect/>
          </a:stretch>
        </p:blipFill>
        <p:spPr>
          <a:xfrm>
            <a:off x="552830" y="378393"/>
            <a:ext cx="6169984" cy="6156023"/>
          </a:xfrm>
          <a:prstGeom prst="rect">
            <a:avLst/>
          </a:prstGeom>
        </p:spPr>
      </p:pic>
      <p:sp>
        <p:nvSpPr>
          <p:cNvPr id="20" name="TextBox 19">
            <a:extLst>
              <a:ext uri="{FF2B5EF4-FFF2-40B4-BE49-F238E27FC236}">
                <a16:creationId xmlns:a16="http://schemas.microsoft.com/office/drawing/2014/main" id="{2A523FA7-326D-4BC9-BFB7-FEFFB206D8C2}"/>
              </a:ext>
            </a:extLst>
          </p:cNvPr>
          <p:cNvSpPr txBox="1"/>
          <p:nvPr/>
        </p:nvSpPr>
        <p:spPr>
          <a:xfrm>
            <a:off x="7124701" y="949893"/>
            <a:ext cx="4800600" cy="461665"/>
          </a:xfrm>
          <a:prstGeom prst="rect">
            <a:avLst/>
          </a:prstGeom>
          <a:noFill/>
        </p:spPr>
        <p:txBody>
          <a:bodyPr wrap="square" rtlCol="0">
            <a:spAutoFit/>
          </a:bodyPr>
          <a:lstStyle/>
          <a:p>
            <a:pPr algn="ctr"/>
            <a:r>
              <a:rPr lang="en-US" sz="2400" b="1" dirty="0">
                <a:latin typeface="Georgia" panose="02040502050405020303" pitchFamily="18" charset="0"/>
              </a:rPr>
              <a:t>Panda and Wilson Disease?</a:t>
            </a:r>
          </a:p>
        </p:txBody>
      </p:sp>
      <p:sp>
        <p:nvSpPr>
          <p:cNvPr id="21" name="TextBox 20">
            <a:extLst>
              <a:ext uri="{FF2B5EF4-FFF2-40B4-BE49-F238E27FC236}">
                <a16:creationId xmlns:a16="http://schemas.microsoft.com/office/drawing/2014/main" id="{C2F2188F-9927-481E-ADBB-9D040276EF66}"/>
              </a:ext>
            </a:extLst>
          </p:cNvPr>
          <p:cNvSpPr txBox="1"/>
          <p:nvPr/>
        </p:nvSpPr>
        <p:spPr>
          <a:xfrm>
            <a:off x="7229476" y="2578668"/>
            <a:ext cx="4800600" cy="1938992"/>
          </a:xfrm>
          <a:prstGeom prst="rect">
            <a:avLst/>
          </a:prstGeom>
          <a:noFill/>
        </p:spPr>
        <p:txBody>
          <a:bodyPr wrap="square" rtlCol="0">
            <a:spAutoFit/>
          </a:bodyPr>
          <a:lstStyle/>
          <a:p>
            <a:pPr algn="ctr"/>
            <a:r>
              <a:rPr lang="en-US" sz="2400" dirty="0">
                <a:latin typeface="Georgia" panose="02040502050405020303" pitchFamily="18" charset="0"/>
              </a:rPr>
              <a:t>Face of the Giant Panda</a:t>
            </a:r>
          </a:p>
          <a:p>
            <a:pPr algn="ctr"/>
            <a:r>
              <a:rPr lang="en-US" sz="2400" b="1" dirty="0">
                <a:latin typeface="Georgia" panose="02040502050405020303" pitchFamily="18" charset="0"/>
              </a:rPr>
              <a:t>+</a:t>
            </a:r>
          </a:p>
          <a:p>
            <a:pPr algn="ctr"/>
            <a:r>
              <a:rPr lang="en-US" sz="2400" dirty="0">
                <a:latin typeface="Georgia" panose="02040502050405020303" pitchFamily="18" charset="0"/>
              </a:rPr>
              <a:t>Face of the miniature Panda</a:t>
            </a:r>
          </a:p>
          <a:p>
            <a:pPr algn="ctr"/>
            <a:r>
              <a:rPr lang="en-US" sz="2400" b="1" dirty="0">
                <a:latin typeface="Georgia" panose="02040502050405020303" pitchFamily="18" charset="0"/>
              </a:rPr>
              <a:t>=</a:t>
            </a:r>
          </a:p>
          <a:p>
            <a:pPr algn="ctr"/>
            <a:r>
              <a:rPr lang="en-US" sz="2400" b="1" dirty="0">
                <a:latin typeface="Georgia" panose="02040502050405020303" pitchFamily="18" charset="0"/>
              </a:rPr>
              <a:t>Double Panda Sign!</a:t>
            </a:r>
          </a:p>
        </p:txBody>
      </p:sp>
      <p:pic>
        <p:nvPicPr>
          <p:cNvPr id="22" name="Picture 21" descr="A panda bear with black and white fur&#10;&#10;Description automatically generated">
            <a:extLst>
              <a:ext uri="{FF2B5EF4-FFF2-40B4-BE49-F238E27FC236}">
                <a16:creationId xmlns:a16="http://schemas.microsoft.com/office/drawing/2014/main" id="{D5261902-8485-4E21-BFEB-78B157CAB5CB}"/>
              </a:ext>
            </a:extLst>
          </p:cNvPr>
          <p:cNvPicPr>
            <a:picLocks noChangeAspect="1"/>
          </p:cNvPicPr>
          <p:nvPr/>
        </p:nvPicPr>
        <p:blipFill>
          <a:blip r:embed="rId3"/>
          <a:stretch>
            <a:fillRect/>
          </a:stretch>
        </p:blipFill>
        <p:spPr>
          <a:xfrm>
            <a:off x="2408369" y="5772686"/>
            <a:ext cx="763456" cy="761730"/>
          </a:xfrm>
          <a:prstGeom prst="rect">
            <a:avLst/>
          </a:prstGeom>
        </p:spPr>
      </p:pic>
    </p:spTree>
    <p:extLst>
      <p:ext uri="{BB962C8B-B14F-4D97-AF65-F5344CB8AC3E}">
        <p14:creationId xmlns:p14="http://schemas.microsoft.com/office/powerpoint/2010/main" val="220599233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7F4C40-3241-4635-8CEF-26EDAE1C0105}"/>
              </a:ext>
            </a:extLst>
          </p:cNvPr>
          <p:cNvSpPr>
            <a:spLocks noGrp="1"/>
          </p:cNvSpPr>
          <p:nvPr>
            <p:ph type="title"/>
          </p:nvPr>
        </p:nvSpPr>
        <p:spPr/>
        <p:txBody>
          <a:bodyPr/>
          <a:lstStyle/>
          <a:p>
            <a:r>
              <a:rPr lang="en-US" dirty="0"/>
              <a:t>Quiz</a:t>
            </a:r>
          </a:p>
        </p:txBody>
      </p:sp>
      <p:sp>
        <p:nvSpPr>
          <p:cNvPr id="6" name="Content Placeholder 5">
            <a:extLst>
              <a:ext uri="{FF2B5EF4-FFF2-40B4-BE49-F238E27FC236}">
                <a16:creationId xmlns:a16="http://schemas.microsoft.com/office/drawing/2014/main" id="{74B08296-9EAA-4206-B5E4-8ECD7A78DC14}"/>
              </a:ext>
            </a:extLst>
          </p:cNvPr>
          <p:cNvSpPr>
            <a:spLocks noGrp="1"/>
          </p:cNvSpPr>
          <p:nvPr>
            <p:ph idx="1"/>
          </p:nvPr>
        </p:nvSpPr>
        <p:spPr>
          <a:xfrm>
            <a:off x="215348" y="1600200"/>
            <a:ext cx="11761304" cy="1057275"/>
          </a:xfrm>
        </p:spPr>
        <p:txBody>
          <a:bodyPr/>
          <a:lstStyle/>
          <a:p>
            <a:r>
              <a:rPr lang="en-US" dirty="0"/>
              <a:t>The face of the Giant Panda is formed by differentials of intensities on T2 weighted MRI images of the following structures:</a:t>
            </a:r>
            <a:endParaRPr lang="en-US" b="1" dirty="0"/>
          </a:p>
          <a:p>
            <a:pPr marL="0" indent="0">
              <a:buNone/>
            </a:pPr>
            <a:endParaRPr lang="en-US" dirty="0"/>
          </a:p>
        </p:txBody>
      </p:sp>
      <p:graphicFrame>
        <p:nvGraphicFramePr>
          <p:cNvPr id="8" name="Table 7">
            <a:extLst>
              <a:ext uri="{FF2B5EF4-FFF2-40B4-BE49-F238E27FC236}">
                <a16:creationId xmlns:a16="http://schemas.microsoft.com/office/drawing/2014/main" id="{0FA56FF6-2E2E-4895-95C5-29F0FCEEFB72}"/>
              </a:ext>
            </a:extLst>
          </p:cNvPr>
          <p:cNvGraphicFramePr>
            <a:graphicFrameLocks noGrp="1"/>
          </p:cNvGraphicFramePr>
          <p:nvPr>
            <p:extLst>
              <p:ext uri="{D42A27DB-BD31-4B8C-83A1-F6EECF244321}">
                <p14:modId xmlns:p14="http://schemas.microsoft.com/office/powerpoint/2010/main" val="4228686224"/>
              </p:ext>
            </p:extLst>
          </p:nvPr>
        </p:nvGraphicFramePr>
        <p:xfrm>
          <a:off x="812801" y="2945131"/>
          <a:ext cx="7359651" cy="2776535"/>
        </p:xfrm>
        <a:graphic>
          <a:graphicData uri="http://schemas.openxmlformats.org/drawingml/2006/table">
            <a:tbl>
              <a:tblPr firstRow="1" bandRow="1">
                <a:tableStyleId>{5940675A-B579-460E-94D1-54222C63F5DA}</a:tableStyleId>
              </a:tblPr>
              <a:tblGrid>
                <a:gridCol w="2453217">
                  <a:extLst>
                    <a:ext uri="{9D8B030D-6E8A-4147-A177-3AD203B41FA5}">
                      <a16:colId xmlns:a16="http://schemas.microsoft.com/office/drawing/2014/main" val="2878434499"/>
                    </a:ext>
                  </a:extLst>
                </a:gridCol>
                <a:gridCol w="2453217">
                  <a:extLst>
                    <a:ext uri="{9D8B030D-6E8A-4147-A177-3AD203B41FA5}">
                      <a16:colId xmlns:a16="http://schemas.microsoft.com/office/drawing/2014/main" val="908227631"/>
                    </a:ext>
                  </a:extLst>
                </a:gridCol>
                <a:gridCol w="2453217">
                  <a:extLst>
                    <a:ext uri="{9D8B030D-6E8A-4147-A177-3AD203B41FA5}">
                      <a16:colId xmlns:a16="http://schemas.microsoft.com/office/drawing/2014/main" val="3172688603"/>
                    </a:ext>
                  </a:extLst>
                </a:gridCol>
              </a:tblGrid>
              <a:tr h="555307">
                <a:tc>
                  <a:txBody>
                    <a:bodyPr/>
                    <a:lstStyle/>
                    <a:p>
                      <a:pPr algn="ctr"/>
                      <a:r>
                        <a:rPr lang="en-US" sz="2000" b="1" dirty="0"/>
                        <a:t>Structure</a:t>
                      </a:r>
                    </a:p>
                  </a:txBody>
                  <a:tcPr anchor="ctr"/>
                </a:tc>
                <a:tc>
                  <a:txBody>
                    <a:bodyPr/>
                    <a:lstStyle/>
                    <a:p>
                      <a:pPr algn="ctr"/>
                      <a:r>
                        <a:rPr lang="en-US" sz="2000" b="1" dirty="0"/>
                        <a:t>Intensity</a:t>
                      </a:r>
                    </a:p>
                  </a:txBody>
                  <a:tcPr anchor="ctr"/>
                </a:tc>
                <a:tc>
                  <a:txBody>
                    <a:bodyPr/>
                    <a:lstStyle/>
                    <a:p>
                      <a:pPr algn="ctr"/>
                      <a:r>
                        <a:rPr lang="en-US" sz="2000" b="1" dirty="0"/>
                        <a:t>Giant Panda Part</a:t>
                      </a:r>
                    </a:p>
                  </a:txBody>
                  <a:tcPr anchor="ctr"/>
                </a:tc>
                <a:extLst>
                  <a:ext uri="{0D108BD9-81ED-4DB2-BD59-A6C34878D82A}">
                    <a16:rowId xmlns:a16="http://schemas.microsoft.com/office/drawing/2014/main" val="1601578882"/>
                  </a:ext>
                </a:extLst>
              </a:tr>
              <a:tr h="555307">
                <a:tc>
                  <a:txBody>
                    <a:bodyPr/>
                    <a:lstStyle/>
                    <a:p>
                      <a:pPr algn="ctr"/>
                      <a:r>
                        <a:rPr lang="en-US" b="1" dirty="0"/>
                        <a:t>Tegmentum</a:t>
                      </a:r>
                    </a:p>
                  </a:txBody>
                  <a:tcPr anchor="ctr"/>
                </a:tc>
                <a:tc>
                  <a:txBody>
                    <a:bodyPr/>
                    <a:lstStyle/>
                    <a:p>
                      <a:pPr algn="ctr"/>
                      <a:endParaRPr lang="en-US" dirty="0"/>
                    </a:p>
                  </a:txBody>
                  <a:tcPr anchor="ctr"/>
                </a:tc>
                <a:tc>
                  <a:txBody>
                    <a:bodyPr/>
                    <a:lstStyle/>
                    <a:p>
                      <a:pPr algn="ctr"/>
                      <a:endParaRPr lang="en-US" i="1" dirty="0"/>
                    </a:p>
                  </a:txBody>
                  <a:tcPr anchor="ctr"/>
                </a:tc>
                <a:extLst>
                  <a:ext uri="{0D108BD9-81ED-4DB2-BD59-A6C34878D82A}">
                    <a16:rowId xmlns:a16="http://schemas.microsoft.com/office/drawing/2014/main" val="972594676"/>
                  </a:ext>
                </a:extLst>
              </a:tr>
              <a:tr h="555307">
                <a:tc>
                  <a:txBody>
                    <a:bodyPr/>
                    <a:lstStyle/>
                    <a:p>
                      <a:pPr algn="ctr"/>
                      <a:r>
                        <a:rPr lang="en-US" b="1" dirty="0"/>
                        <a:t>Red nucleus</a:t>
                      </a:r>
                    </a:p>
                  </a:txBody>
                  <a:tcPr anchor="ctr"/>
                </a:tc>
                <a:tc>
                  <a:txBody>
                    <a:bodyPr/>
                    <a:lstStyle/>
                    <a:p>
                      <a:pPr algn="ctr"/>
                      <a:endParaRPr lang="en-US" dirty="0"/>
                    </a:p>
                  </a:txBody>
                  <a:tcPr anchor="ctr"/>
                </a:tc>
                <a:tc>
                  <a:txBody>
                    <a:bodyPr/>
                    <a:lstStyle/>
                    <a:p>
                      <a:pPr algn="ctr"/>
                      <a:endParaRPr lang="en-US" i="1" dirty="0"/>
                    </a:p>
                  </a:txBody>
                  <a:tcPr anchor="ctr"/>
                </a:tc>
                <a:extLst>
                  <a:ext uri="{0D108BD9-81ED-4DB2-BD59-A6C34878D82A}">
                    <a16:rowId xmlns:a16="http://schemas.microsoft.com/office/drawing/2014/main" val="2644641068"/>
                  </a:ext>
                </a:extLst>
              </a:tr>
              <a:tr h="555307">
                <a:tc>
                  <a:txBody>
                    <a:bodyPr/>
                    <a:lstStyle/>
                    <a:p>
                      <a:pPr algn="ctr"/>
                      <a:r>
                        <a:rPr lang="en-US" b="1" dirty="0"/>
                        <a:t>Pars reticulata of SN</a:t>
                      </a:r>
                    </a:p>
                  </a:txBody>
                  <a:tcPr anchor="ctr"/>
                </a:tc>
                <a:tc>
                  <a:txBody>
                    <a:bodyPr/>
                    <a:lstStyle/>
                    <a:p>
                      <a:pPr algn="ctr"/>
                      <a:endParaRPr lang="en-US" dirty="0"/>
                    </a:p>
                  </a:txBody>
                  <a:tcPr anchor="ctr"/>
                </a:tc>
                <a:tc>
                  <a:txBody>
                    <a:bodyPr/>
                    <a:lstStyle/>
                    <a:p>
                      <a:pPr algn="ctr"/>
                      <a:endParaRPr lang="en-US" i="1" dirty="0"/>
                    </a:p>
                  </a:txBody>
                  <a:tcPr anchor="ctr"/>
                </a:tc>
                <a:extLst>
                  <a:ext uri="{0D108BD9-81ED-4DB2-BD59-A6C34878D82A}">
                    <a16:rowId xmlns:a16="http://schemas.microsoft.com/office/drawing/2014/main" val="3440479572"/>
                  </a:ext>
                </a:extLst>
              </a:tr>
              <a:tr h="555307">
                <a:tc>
                  <a:txBody>
                    <a:bodyPr/>
                    <a:lstStyle/>
                    <a:p>
                      <a:pPr algn="ctr"/>
                      <a:r>
                        <a:rPr lang="en-US" b="1" dirty="0"/>
                        <a:t>Superior colliculus</a:t>
                      </a:r>
                    </a:p>
                  </a:txBody>
                  <a:tcPr anchor="ctr"/>
                </a:tc>
                <a:tc>
                  <a:txBody>
                    <a:bodyPr/>
                    <a:lstStyle/>
                    <a:p>
                      <a:pPr algn="ctr"/>
                      <a:endParaRPr lang="en-US" dirty="0"/>
                    </a:p>
                  </a:txBody>
                  <a:tcPr anchor="ctr"/>
                </a:tc>
                <a:tc>
                  <a:txBody>
                    <a:bodyPr/>
                    <a:lstStyle/>
                    <a:p>
                      <a:pPr algn="ctr"/>
                      <a:endParaRPr lang="en-US" i="1" dirty="0"/>
                    </a:p>
                  </a:txBody>
                  <a:tcPr anchor="ctr"/>
                </a:tc>
                <a:extLst>
                  <a:ext uri="{0D108BD9-81ED-4DB2-BD59-A6C34878D82A}">
                    <a16:rowId xmlns:a16="http://schemas.microsoft.com/office/drawing/2014/main" val="383534634"/>
                  </a:ext>
                </a:extLst>
              </a:tr>
            </a:tbl>
          </a:graphicData>
        </a:graphic>
      </p:graphicFrame>
    </p:spTree>
    <p:extLst>
      <p:ext uri="{BB962C8B-B14F-4D97-AF65-F5344CB8AC3E}">
        <p14:creationId xmlns:p14="http://schemas.microsoft.com/office/powerpoint/2010/main" val="190268871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4A7F4C40-3241-4635-8CEF-26EDAE1C0105}"/>
              </a:ext>
            </a:extLst>
          </p:cNvPr>
          <p:cNvSpPr>
            <a:spLocks noGrp="1"/>
          </p:cNvSpPr>
          <p:nvPr>
            <p:ph type="title"/>
          </p:nvPr>
        </p:nvSpPr>
        <p:spPr/>
        <p:txBody>
          <a:bodyPr/>
          <a:lstStyle/>
          <a:p>
            <a:r>
              <a:rPr lang="en-US" dirty="0"/>
              <a:t>Quiz</a:t>
            </a:r>
          </a:p>
        </p:txBody>
      </p:sp>
      <p:sp>
        <p:nvSpPr>
          <p:cNvPr id="6" name="Content Placeholder 5">
            <a:extLst>
              <a:ext uri="{FF2B5EF4-FFF2-40B4-BE49-F238E27FC236}">
                <a16:creationId xmlns:a16="http://schemas.microsoft.com/office/drawing/2014/main" id="{74B08296-9EAA-4206-B5E4-8ECD7A78DC14}"/>
              </a:ext>
            </a:extLst>
          </p:cNvPr>
          <p:cNvSpPr>
            <a:spLocks noGrp="1"/>
          </p:cNvSpPr>
          <p:nvPr>
            <p:ph idx="1"/>
          </p:nvPr>
        </p:nvSpPr>
        <p:spPr>
          <a:xfrm>
            <a:off x="215348" y="1600200"/>
            <a:ext cx="11761304" cy="1057275"/>
          </a:xfrm>
        </p:spPr>
        <p:txBody>
          <a:bodyPr/>
          <a:lstStyle/>
          <a:p>
            <a:r>
              <a:rPr lang="en-US" dirty="0"/>
              <a:t>The face of the Giant Panda is formed by differentials of intensities on T2 weighted MRI images of the following structures:</a:t>
            </a:r>
            <a:endParaRPr lang="en-US" b="1" dirty="0"/>
          </a:p>
          <a:p>
            <a:pPr marL="0" indent="0">
              <a:buNone/>
            </a:pPr>
            <a:endParaRPr lang="en-US" dirty="0"/>
          </a:p>
        </p:txBody>
      </p:sp>
      <p:graphicFrame>
        <p:nvGraphicFramePr>
          <p:cNvPr id="7" name="Table 7">
            <a:extLst>
              <a:ext uri="{FF2B5EF4-FFF2-40B4-BE49-F238E27FC236}">
                <a16:creationId xmlns:a16="http://schemas.microsoft.com/office/drawing/2014/main" id="{CA42CDB4-68DD-41F9-A85A-B05734FF24B1}"/>
              </a:ext>
            </a:extLst>
          </p:cNvPr>
          <p:cNvGraphicFramePr>
            <a:graphicFrameLocks noGrp="1"/>
          </p:cNvGraphicFramePr>
          <p:nvPr>
            <p:extLst>
              <p:ext uri="{D42A27DB-BD31-4B8C-83A1-F6EECF244321}">
                <p14:modId xmlns:p14="http://schemas.microsoft.com/office/powerpoint/2010/main" val="302086214"/>
              </p:ext>
            </p:extLst>
          </p:nvPr>
        </p:nvGraphicFramePr>
        <p:xfrm>
          <a:off x="812801" y="2945131"/>
          <a:ext cx="7359651" cy="2776535"/>
        </p:xfrm>
        <a:graphic>
          <a:graphicData uri="http://schemas.openxmlformats.org/drawingml/2006/table">
            <a:tbl>
              <a:tblPr firstRow="1" bandRow="1">
                <a:tableStyleId>{5940675A-B579-460E-94D1-54222C63F5DA}</a:tableStyleId>
              </a:tblPr>
              <a:tblGrid>
                <a:gridCol w="2453217">
                  <a:extLst>
                    <a:ext uri="{9D8B030D-6E8A-4147-A177-3AD203B41FA5}">
                      <a16:colId xmlns:a16="http://schemas.microsoft.com/office/drawing/2014/main" val="2878434499"/>
                    </a:ext>
                  </a:extLst>
                </a:gridCol>
                <a:gridCol w="2453217">
                  <a:extLst>
                    <a:ext uri="{9D8B030D-6E8A-4147-A177-3AD203B41FA5}">
                      <a16:colId xmlns:a16="http://schemas.microsoft.com/office/drawing/2014/main" val="908227631"/>
                    </a:ext>
                  </a:extLst>
                </a:gridCol>
                <a:gridCol w="2453217">
                  <a:extLst>
                    <a:ext uri="{9D8B030D-6E8A-4147-A177-3AD203B41FA5}">
                      <a16:colId xmlns:a16="http://schemas.microsoft.com/office/drawing/2014/main" val="3172688603"/>
                    </a:ext>
                  </a:extLst>
                </a:gridCol>
              </a:tblGrid>
              <a:tr h="555307">
                <a:tc>
                  <a:txBody>
                    <a:bodyPr/>
                    <a:lstStyle/>
                    <a:p>
                      <a:pPr algn="ctr"/>
                      <a:r>
                        <a:rPr lang="en-US" sz="2000" b="1" dirty="0"/>
                        <a:t>Structure</a:t>
                      </a:r>
                    </a:p>
                  </a:txBody>
                  <a:tcPr anchor="ctr"/>
                </a:tc>
                <a:tc>
                  <a:txBody>
                    <a:bodyPr/>
                    <a:lstStyle/>
                    <a:p>
                      <a:pPr algn="ctr"/>
                      <a:r>
                        <a:rPr lang="en-US" sz="2000" b="1" dirty="0"/>
                        <a:t>Intensity</a:t>
                      </a:r>
                    </a:p>
                  </a:txBody>
                  <a:tcPr anchor="ctr"/>
                </a:tc>
                <a:tc>
                  <a:txBody>
                    <a:bodyPr/>
                    <a:lstStyle/>
                    <a:p>
                      <a:pPr algn="ctr"/>
                      <a:r>
                        <a:rPr lang="en-US" sz="2000" b="1" dirty="0"/>
                        <a:t>Giant Panda Part</a:t>
                      </a:r>
                    </a:p>
                  </a:txBody>
                  <a:tcPr anchor="ctr"/>
                </a:tc>
                <a:extLst>
                  <a:ext uri="{0D108BD9-81ED-4DB2-BD59-A6C34878D82A}">
                    <a16:rowId xmlns:a16="http://schemas.microsoft.com/office/drawing/2014/main" val="1601578882"/>
                  </a:ext>
                </a:extLst>
              </a:tr>
              <a:tr h="555307">
                <a:tc>
                  <a:txBody>
                    <a:bodyPr/>
                    <a:lstStyle/>
                    <a:p>
                      <a:pPr algn="ctr"/>
                      <a:r>
                        <a:rPr lang="en-US" b="1" dirty="0"/>
                        <a:t>Tegmentum</a:t>
                      </a:r>
                    </a:p>
                  </a:txBody>
                  <a:tcPr anchor="ctr"/>
                </a:tc>
                <a:tc>
                  <a:txBody>
                    <a:bodyPr/>
                    <a:lstStyle/>
                    <a:p>
                      <a:pPr algn="ctr"/>
                      <a:r>
                        <a:rPr lang="en-US" dirty="0"/>
                        <a:t>High</a:t>
                      </a:r>
                    </a:p>
                  </a:txBody>
                  <a:tcPr anchor="ctr"/>
                </a:tc>
                <a:tc>
                  <a:txBody>
                    <a:bodyPr/>
                    <a:lstStyle/>
                    <a:p>
                      <a:pPr algn="ctr"/>
                      <a:r>
                        <a:rPr lang="en-US" i="1" dirty="0"/>
                        <a:t>Face</a:t>
                      </a:r>
                    </a:p>
                  </a:txBody>
                  <a:tcPr anchor="ctr"/>
                </a:tc>
                <a:extLst>
                  <a:ext uri="{0D108BD9-81ED-4DB2-BD59-A6C34878D82A}">
                    <a16:rowId xmlns:a16="http://schemas.microsoft.com/office/drawing/2014/main" val="972594676"/>
                  </a:ext>
                </a:extLst>
              </a:tr>
              <a:tr h="555307">
                <a:tc>
                  <a:txBody>
                    <a:bodyPr/>
                    <a:lstStyle/>
                    <a:p>
                      <a:pPr algn="ctr"/>
                      <a:r>
                        <a:rPr lang="en-US" b="1" dirty="0"/>
                        <a:t>Red nucleus</a:t>
                      </a:r>
                    </a:p>
                  </a:txBody>
                  <a:tcPr anchor="ctr"/>
                </a:tc>
                <a:tc>
                  <a:txBody>
                    <a:bodyPr/>
                    <a:lstStyle/>
                    <a:p>
                      <a:pPr algn="ctr"/>
                      <a:r>
                        <a:rPr lang="en-US" dirty="0"/>
                        <a:t>Normal</a:t>
                      </a:r>
                    </a:p>
                  </a:txBody>
                  <a:tcPr anchor="ctr"/>
                </a:tc>
                <a:tc>
                  <a:txBody>
                    <a:bodyPr/>
                    <a:lstStyle/>
                    <a:p>
                      <a:pPr algn="ctr"/>
                      <a:r>
                        <a:rPr lang="en-US" i="1" dirty="0"/>
                        <a:t>Eyes</a:t>
                      </a:r>
                    </a:p>
                  </a:txBody>
                  <a:tcPr anchor="ctr"/>
                </a:tc>
                <a:extLst>
                  <a:ext uri="{0D108BD9-81ED-4DB2-BD59-A6C34878D82A}">
                    <a16:rowId xmlns:a16="http://schemas.microsoft.com/office/drawing/2014/main" val="2644641068"/>
                  </a:ext>
                </a:extLst>
              </a:tr>
              <a:tr h="555307">
                <a:tc>
                  <a:txBody>
                    <a:bodyPr/>
                    <a:lstStyle/>
                    <a:p>
                      <a:pPr algn="ctr"/>
                      <a:r>
                        <a:rPr lang="en-US" b="1" dirty="0"/>
                        <a:t>Pars reticulata of SN</a:t>
                      </a:r>
                    </a:p>
                  </a:txBody>
                  <a:tcPr anchor="ctr"/>
                </a:tc>
                <a:tc>
                  <a:txBody>
                    <a:bodyPr/>
                    <a:lstStyle/>
                    <a:p>
                      <a:pPr algn="ctr"/>
                      <a:r>
                        <a:rPr lang="en-US" dirty="0"/>
                        <a:t>Normal</a:t>
                      </a:r>
                    </a:p>
                  </a:txBody>
                  <a:tcPr anchor="ctr"/>
                </a:tc>
                <a:tc>
                  <a:txBody>
                    <a:bodyPr/>
                    <a:lstStyle/>
                    <a:p>
                      <a:pPr algn="ctr"/>
                      <a:r>
                        <a:rPr lang="en-US" i="1" dirty="0"/>
                        <a:t>Ears</a:t>
                      </a:r>
                    </a:p>
                  </a:txBody>
                  <a:tcPr anchor="ctr"/>
                </a:tc>
                <a:extLst>
                  <a:ext uri="{0D108BD9-81ED-4DB2-BD59-A6C34878D82A}">
                    <a16:rowId xmlns:a16="http://schemas.microsoft.com/office/drawing/2014/main" val="3440479572"/>
                  </a:ext>
                </a:extLst>
              </a:tr>
              <a:tr h="555307">
                <a:tc>
                  <a:txBody>
                    <a:bodyPr/>
                    <a:lstStyle/>
                    <a:p>
                      <a:pPr algn="ctr"/>
                      <a:r>
                        <a:rPr lang="en-US" b="1" dirty="0"/>
                        <a:t>Superior colliculus</a:t>
                      </a:r>
                    </a:p>
                  </a:txBody>
                  <a:tcPr anchor="ctr"/>
                </a:tc>
                <a:tc>
                  <a:txBody>
                    <a:bodyPr/>
                    <a:lstStyle/>
                    <a:p>
                      <a:pPr algn="ctr"/>
                      <a:r>
                        <a:rPr lang="en-US" dirty="0"/>
                        <a:t>Low</a:t>
                      </a:r>
                    </a:p>
                  </a:txBody>
                  <a:tcPr anchor="ctr"/>
                </a:tc>
                <a:tc>
                  <a:txBody>
                    <a:bodyPr/>
                    <a:lstStyle/>
                    <a:p>
                      <a:pPr algn="ctr"/>
                      <a:r>
                        <a:rPr lang="en-US" i="1" dirty="0"/>
                        <a:t>Mouth</a:t>
                      </a:r>
                    </a:p>
                  </a:txBody>
                  <a:tcPr anchor="ctr"/>
                </a:tc>
                <a:extLst>
                  <a:ext uri="{0D108BD9-81ED-4DB2-BD59-A6C34878D82A}">
                    <a16:rowId xmlns:a16="http://schemas.microsoft.com/office/drawing/2014/main" val="383534634"/>
                  </a:ext>
                </a:extLst>
              </a:tr>
            </a:tbl>
          </a:graphicData>
        </a:graphic>
      </p:graphicFrame>
      <p:pic>
        <p:nvPicPr>
          <p:cNvPr id="3" name="Picture 2">
            <a:extLst>
              <a:ext uri="{FF2B5EF4-FFF2-40B4-BE49-F238E27FC236}">
                <a16:creationId xmlns:a16="http://schemas.microsoft.com/office/drawing/2014/main" id="{C062CFE6-4603-4E29-A4F4-3B7D13DAB702}"/>
              </a:ext>
            </a:extLst>
          </p:cNvPr>
          <p:cNvPicPr>
            <a:picLocks noChangeAspect="1"/>
          </p:cNvPicPr>
          <p:nvPr/>
        </p:nvPicPr>
        <p:blipFill>
          <a:blip r:embed="rId2"/>
          <a:stretch>
            <a:fillRect/>
          </a:stretch>
        </p:blipFill>
        <p:spPr>
          <a:xfrm>
            <a:off x="8400809" y="3156896"/>
            <a:ext cx="3448531" cy="2353003"/>
          </a:xfrm>
          <a:prstGeom prst="rect">
            <a:avLst/>
          </a:prstGeom>
        </p:spPr>
      </p:pic>
    </p:spTree>
    <p:extLst>
      <p:ext uri="{BB962C8B-B14F-4D97-AF65-F5344CB8AC3E}">
        <p14:creationId xmlns:p14="http://schemas.microsoft.com/office/powerpoint/2010/main" val="402339938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77784-E009-4E4F-97D5-9751998FFFCF}"/>
              </a:ext>
            </a:extLst>
          </p:cNvPr>
          <p:cNvSpPr>
            <a:spLocks noGrp="1"/>
          </p:cNvSpPr>
          <p:nvPr>
            <p:ph type="title"/>
          </p:nvPr>
        </p:nvSpPr>
        <p:spPr/>
        <p:txBody>
          <a:bodyPr/>
          <a:lstStyle/>
          <a:p>
            <a:r>
              <a:rPr lang="en-US" dirty="0"/>
              <a:t>Face of the miniature Panda</a:t>
            </a:r>
          </a:p>
        </p:txBody>
      </p:sp>
      <p:pic>
        <p:nvPicPr>
          <p:cNvPr id="5" name="Content Placeholder 4">
            <a:extLst>
              <a:ext uri="{FF2B5EF4-FFF2-40B4-BE49-F238E27FC236}">
                <a16:creationId xmlns:a16="http://schemas.microsoft.com/office/drawing/2014/main" id="{E7313E0D-BECC-486C-B956-ECDD73B2808A}"/>
              </a:ext>
            </a:extLst>
          </p:cNvPr>
          <p:cNvPicPr>
            <a:picLocks noGrp="1" noChangeAspect="1"/>
          </p:cNvPicPr>
          <p:nvPr>
            <p:ph idx="1"/>
          </p:nvPr>
        </p:nvPicPr>
        <p:blipFill>
          <a:blip r:embed="rId2"/>
          <a:stretch>
            <a:fillRect/>
          </a:stretch>
        </p:blipFill>
        <p:spPr>
          <a:xfrm>
            <a:off x="3810001" y="1614068"/>
            <a:ext cx="4571998" cy="4833936"/>
          </a:xfrm>
        </p:spPr>
      </p:pic>
    </p:spTree>
    <p:extLst>
      <p:ext uri="{BB962C8B-B14F-4D97-AF65-F5344CB8AC3E}">
        <p14:creationId xmlns:p14="http://schemas.microsoft.com/office/powerpoint/2010/main" val="417714262"/>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9324-E4C2-4CE4-B162-7549B11C548E}"/>
              </a:ext>
            </a:extLst>
          </p:cNvPr>
          <p:cNvSpPr>
            <a:spLocks noGrp="1"/>
          </p:cNvSpPr>
          <p:nvPr>
            <p:ph type="title"/>
          </p:nvPr>
        </p:nvSpPr>
        <p:spPr/>
        <p:txBody>
          <a:bodyPr/>
          <a:lstStyle/>
          <a:p>
            <a:r>
              <a:rPr lang="en-US" dirty="0">
                <a:solidFill>
                  <a:schemeClr val="bg1"/>
                </a:solidFill>
              </a:rPr>
              <a:t>MRI Findings in Wilson Disease</a:t>
            </a:r>
          </a:p>
        </p:txBody>
      </p:sp>
      <mc:AlternateContent xmlns:mc="http://schemas.openxmlformats.org/markup-compatibility/2006">
        <mc:Choice xmlns:psuz="http://schemas.microsoft.com/office/powerpoint/2016/summaryzoom" Requires="psuz">
          <p:graphicFrame>
            <p:nvGraphicFramePr>
              <p:cNvPr id="5" name="Summary Zoom 4">
                <a:extLst>
                  <a:ext uri="{FF2B5EF4-FFF2-40B4-BE49-F238E27FC236}">
                    <a16:creationId xmlns:a16="http://schemas.microsoft.com/office/drawing/2014/main" id="{4492CCC3-3FAD-4063-BB11-185CED99AC6F}"/>
                  </a:ext>
                </a:extLst>
              </p:cNvPr>
              <p:cNvGraphicFramePr>
                <a:graphicFrameLocks noChangeAspect="1"/>
              </p:cNvGraphicFramePr>
              <p:nvPr>
                <p:extLst>
                  <p:ext uri="{D42A27DB-BD31-4B8C-83A1-F6EECF244321}">
                    <p14:modId xmlns:p14="http://schemas.microsoft.com/office/powerpoint/2010/main" val="3077594539"/>
                  </p:ext>
                </p:extLst>
              </p:nvPr>
            </p:nvGraphicFramePr>
            <p:xfrm>
              <a:off x="215900" y="1600200"/>
              <a:ext cx="11760200" cy="4467225"/>
            </p:xfrm>
            <a:graphic>
              <a:graphicData uri="http://schemas.microsoft.com/office/powerpoint/2016/summaryzoom">
                <psuz:summaryZm>
                  <psuz:summaryZmObj sectionId="{39257411-15CE-4467-B189-7A51748A0D92}">
                    <psuz:zmPr id="{357747FD-1BE5-4227-8F30-D410AB5281C6}" transitionDur="1000">
                      <p166:blipFill xmlns:p166="http://schemas.microsoft.com/office/powerpoint/2016/6/main">
                        <a:blip r:embed="rId3"/>
                        <a:stretch>
                          <a:fillRect/>
                        </a:stretch>
                      </p166:blipFill>
                      <p166:spPr xmlns:p166="http://schemas.microsoft.com/office/powerpoint/2016/6/main">
                        <a:xfrm>
                          <a:off x="2239312" y="156353"/>
                          <a:ext cx="3573779" cy="2010251"/>
                        </a:xfrm>
                        <a:prstGeom prst="rect">
                          <a:avLst/>
                        </a:prstGeom>
                        <a:ln w="3175">
                          <a:solidFill>
                            <a:prstClr val="ltGray"/>
                          </a:solidFill>
                        </a:ln>
                      </p166:spPr>
                    </psuz:zmPr>
                  </psuz:summaryZmObj>
                  <psuz:summaryZmObj sectionId="{347745DF-CF9C-4694-AD16-1176B285EF91}">
                    <psuz:zmPr id="{6F502037-DD50-43FE-A61C-8A9E0345D9A3}" transitionDur="1000">
                      <p166:blipFill xmlns:p166="http://schemas.microsoft.com/office/powerpoint/2016/6/main">
                        <a:blip r:embed="rId4"/>
                        <a:stretch>
                          <a:fillRect/>
                        </a:stretch>
                      </p166:blipFill>
                      <p166:spPr xmlns:p166="http://schemas.microsoft.com/office/powerpoint/2016/6/main">
                        <a:xfrm>
                          <a:off x="5947108" y="156353"/>
                          <a:ext cx="3573779" cy="2010251"/>
                        </a:xfrm>
                        <a:prstGeom prst="rect">
                          <a:avLst/>
                        </a:prstGeom>
                        <a:ln w="3175">
                          <a:solidFill>
                            <a:prstClr val="ltGray"/>
                          </a:solidFill>
                        </a:ln>
                      </p166:spPr>
                    </psuz:zmPr>
                  </psuz:summaryZmObj>
                  <psuz:summaryZmObj sectionId="{20DA32A2-4509-485D-83E7-2ED1B45B9471}">
                    <psuz:zmPr id="{8AF04A68-E70A-409B-AFE2-217CAF09858A}" transitionDur="1000">
                      <p166:blipFill xmlns:p166="http://schemas.microsoft.com/office/powerpoint/2016/6/main">
                        <a:blip r:embed="rId5"/>
                        <a:stretch>
                          <a:fillRect/>
                        </a:stretch>
                      </p166:blipFill>
                      <p166:spPr xmlns:p166="http://schemas.microsoft.com/office/powerpoint/2016/6/main">
                        <a:xfrm>
                          <a:off x="2239312" y="2300621"/>
                          <a:ext cx="3573779" cy="2010251"/>
                        </a:xfrm>
                        <a:prstGeom prst="rect">
                          <a:avLst/>
                        </a:prstGeom>
                        <a:ln w="3175">
                          <a:solidFill>
                            <a:prstClr val="ltGray"/>
                          </a:solidFill>
                        </a:ln>
                      </p166:spPr>
                    </psuz:zmPr>
                  </psuz:summaryZmObj>
                  <psuz:summaryZmObj sectionId="{6E58E363-8DD8-41EF-9A95-F3E3BF7FB023}">
                    <psuz:zmPr id="{11018613-13BC-41E4-8B96-3C1AD4A93E06}" transitionDur="1000">
                      <p166:blipFill xmlns:p166="http://schemas.microsoft.com/office/powerpoint/2016/6/main">
                        <a:blip r:embed="rId6"/>
                        <a:stretch>
                          <a:fillRect/>
                        </a:stretch>
                      </p166:blipFill>
                      <p166:spPr xmlns:p166="http://schemas.microsoft.com/office/powerpoint/2016/6/main">
                        <a:xfrm>
                          <a:off x="5947108" y="2300621"/>
                          <a:ext cx="3573779" cy="2010251"/>
                        </a:xfrm>
                        <a:prstGeom prst="rect">
                          <a:avLst/>
                        </a:prstGeom>
                        <a:ln w="3175">
                          <a:solidFill>
                            <a:prstClr val="ltGray"/>
                          </a:solidFill>
                        </a:ln>
                      </p166:spPr>
                    </psuz:zmPr>
                  </psuz:summaryZmObj>
                  <psuz:gridLayout/>
                </psuz:summaryZm>
              </a:graphicData>
            </a:graphic>
          </p:graphicFrame>
        </mc:Choice>
        <mc:Fallback>
          <p:grpSp>
            <p:nvGrpSpPr>
              <p:cNvPr id="5" name="Summary Zoom 4">
                <a:extLst>
                  <a:ext uri="{FF2B5EF4-FFF2-40B4-BE49-F238E27FC236}">
                    <a16:creationId xmlns:a16="http://schemas.microsoft.com/office/drawing/2014/main" id="{4492CCC3-3FAD-4063-BB11-185CED99AC6F}"/>
                  </a:ext>
                </a:extLst>
              </p:cNvPr>
              <p:cNvGrpSpPr>
                <a:grpSpLocks noGrp="1" noUngrp="1" noRot="1" noChangeAspect="1" noMove="1" noResize="1"/>
              </p:cNvGrpSpPr>
              <p:nvPr/>
            </p:nvGrpSpPr>
            <p:grpSpPr>
              <a:xfrm>
                <a:off x="215900" y="1600200"/>
                <a:ext cx="11760200" cy="4467225"/>
                <a:chOff x="215900" y="1600200"/>
                <a:chExt cx="11760200" cy="4467225"/>
              </a:xfrm>
            </p:grpSpPr>
            <p:pic>
              <p:nvPicPr>
                <p:cNvPr id="6" name="Picture 6">
                  <a:hlinkClick r:id="rId7" action="ppaction://hlinksldjump"/>
                </p:cNvPr>
                <p:cNvPicPr>
                  <a:picLocks noSelect="1" noRot="1" noChangeAspect="1" noMove="1" noResize="1" noEditPoints="1" noAdjustHandles="1" noChangeArrowheads="1" noChangeShapeType="1"/>
                </p:cNvPicPr>
                <p:nvPr/>
              </p:nvPicPr>
              <p:blipFill>
                <a:blip r:embed="rId3"/>
                <a:stretch>
                  <a:fillRect/>
                </a:stretch>
              </p:blipFill>
              <p:spPr>
                <a:xfrm>
                  <a:off x="2455212" y="1756553"/>
                  <a:ext cx="3573779" cy="2010251"/>
                </a:xfrm>
                <a:prstGeom prst="rect">
                  <a:avLst/>
                </a:prstGeom>
                <a:ln w="3175">
                  <a:solidFill>
                    <a:prstClr val="ltGray"/>
                  </a:solidFill>
                </a:ln>
              </p:spPr>
            </p:pic>
            <p:pic>
              <p:nvPicPr>
                <p:cNvPr id="7" name="Picture 7">
                  <a:hlinkClick r:id="rId8" action="ppaction://hlinksldjump"/>
                </p:cNvPr>
                <p:cNvPicPr>
                  <a:picLocks noSelect="1" noRot="1" noChangeAspect="1" noMove="1" noResize="1" noEditPoints="1" noAdjustHandles="1" noChangeArrowheads="1" noChangeShapeType="1"/>
                </p:cNvPicPr>
                <p:nvPr/>
              </p:nvPicPr>
              <p:blipFill>
                <a:blip r:embed="rId4"/>
                <a:stretch>
                  <a:fillRect/>
                </a:stretch>
              </p:blipFill>
              <p:spPr>
                <a:xfrm>
                  <a:off x="6163008" y="1756553"/>
                  <a:ext cx="3573779" cy="2010251"/>
                </a:xfrm>
                <a:prstGeom prst="rect">
                  <a:avLst/>
                </a:prstGeom>
                <a:ln w="3175">
                  <a:solidFill>
                    <a:prstClr val="ltGray"/>
                  </a:solidFill>
                </a:ln>
              </p:spPr>
            </p:pic>
            <p:pic>
              <p:nvPicPr>
                <p:cNvPr id="8" name="Picture 8">
                  <a:hlinkClick r:id="rId9" action="ppaction://hlinksldjump"/>
                </p:cNvPr>
                <p:cNvPicPr>
                  <a:picLocks noSelect="1" noRot="1" noChangeAspect="1" noMove="1" noResize="1" noEditPoints="1" noAdjustHandles="1" noChangeArrowheads="1" noChangeShapeType="1"/>
                </p:cNvPicPr>
                <p:nvPr/>
              </p:nvPicPr>
              <p:blipFill>
                <a:blip r:embed="rId5"/>
                <a:stretch>
                  <a:fillRect/>
                </a:stretch>
              </p:blipFill>
              <p:spPr>
                <a:xfrm>
                  <a:off x="2455212" y="3900821"/>
                  <a:ext cx="3573779" cy="2010251"/>
                </a:xfrm>
                <a:prstGeom prst="rect">
                  <a:avLst/>
                </a:prstGeom>
                <a:ln w="3175">
                  <a:solidFill>
                    <a:prstClr val="ltGray"/>
                  </a:solidFill>
                </a:ln>
              </p:spPr>
            </p:pic>
            <p:pic>
              <p:nvPicPr>
                <p:cNvPr id="9" name="Picture 9">
                  <a:hlinkClick r:id="rId10" action="ppaction://hlinksldjump"/>
                </p:cNvPr>
                <p:cNvPicPr>
                  <a:picLocks noSelect="1" noRot="1" noChangeAspect="1" noMove="1" noResize="1" noEditPoints="1" noAdjustHandles="1" noChangeArrowheads="1" noChangeShapeType="1"/>
                </p:cNvPicPr>
                <p:nvPr/>
              </p:nvPicPr>
              <p:blipFill>
                <a:blip r:embed="rId6"/>
                <a:stretch>
                  <a:fillRect/>
                </a:stretch>
              </p:blipFill>
              <p:spPr>
                <a:xfrm>
                  <a:off x="6163008" y="3900821"/>
                  <a:ext cx="3573779" cy="2010251"/>
                </a:xfrm>
                <a:prstGeom prst="rect">
                  <a:avLst/>
                </a:prstGeom>
                <a:ln w="3175">
                  <a:solidFill>
                    <a:prstClr val="ltGray"/>
                  </a:solidFill>
                </a:ln>
              </p:spPr>
            </p:pic>
          </p:grpSp>
        </mc:Fallback>
      </mc:AlternateContent>
    </p:spTree>
    <p:extLst>
      <p:ext uri="{BB962C8B-B14F-4D97-AF65-F5344CB8AC3E}">
        <p14:creationId xmlns:p14="http://schemas.microsoft.com/office/powerpoint/2010/main" val="337302940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5" name="Picture 4">
            <a:extLst>
              <a:ext uri="{FF2B5EF4-FFF2-40B4-BE49-F238E27FC236}">
                <a16:creationId xmlns:a16="http://schemas.microsoft.com/office/drawing/2014/main" id="{8A76F919-F8A4-4316-AC81-128756FE9BBA}"/>
              </a:ext>
            </a:extLst>
          </p:cNvPr>
          <p:cNvPicPr>
            <a:picLocks noChangeAspect="1"/>
          </p:cNvPicPr>
          <p:nvPr/>
        </p:nvPicPr>
        <p:blipFill>
          <a:blip r:embed="rId2"/>
          <a:stretch>
            <a:fillRect/>
          </a:stretch>
        </p:blipFill>
        <p:spPr>
          <a:xfrm>
            <a:off x="381001" y="397706"/>
            <a:ext cx="11429998" cy="6062588"/>
          </a:xfrm>
          <a:prstGeom prst="rect">
            <a:avLst/>
          </a:prstGeom>
        </p:spPr>
      </p:pic>
    </p:spTree>
    <p:extLst>
      <p:ext uri="{BB962C8B-B14F-4D97-AF65-F5344CB8AC3E}">
        <p14:creationId xmlns:p14="http://schemas.microsoft.com/office/powerpoint/2010/main" val="683193544"/>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1256DF99-5262-47AF-9EE9-8822061FA12C}"/>
              </a:ext>
            </a:extLst>
          </p:cNvPr>
          <p:cNvPicPr>
            <a:picLocks noChangeAspect="1"/>
          </p:cNvPicPr>
          <p:nvPr/>
        </p:nvPicPr>
        <p:blipFill>
          <a:blip r:embed="rId2"/>
          <a:stretch>
            <a:fillRect/>
          </a:stretch>
        </p:blipFill>
        <p:spPr>
          <a:xfrm>
            <a:off x="1160503" y="371475"/>
            <a:ext cx="9870994" cy="6115050"/>
          </a:xfrm>
          <a:prstGeom prst="rect">
            <a:avLst/>
          </a:prstGeom>
        </p:spPr>
      </p:pic>
    </p:spTree>
    <p:extLst>
      <p:ext uri="{BB962C8B-B14F-4D97-AF65-F5344CB8AC3E}">
        <p14:creationId xmlns:p14="http://schemas.microsoft.com/office/powerpoint/2010/main" val="151530088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4" name="Picture 3">
            <a:extLst>
              <a:ext uri="{FF2B5EF4-FFF2-40B4-BE49-F238E27FC236}">
                <a16:creationId xmlns:a16="http://schemas.microsoft.com/office/drawing/2014/main" id="{BDBC2240-0677-444D-8271-7C516E0061B1}"/>
              </a:ext>
            </a:extLst>
          </p:cNvPr>
          <p:cNvPicPr>
            <a:picLocks noChangeAspect="1"/>
          </p:cNvPicPr>
          <p:nvPr/>
        </p:nvPicPr>
        <p:blipFill>
          <a:blip r:embed="rId2"/>
          <a:stretch>
            <a:fillRect/>
          </a:stretch>
        </p:blipFill>
        <p:spPr>
          <a:xfrm>
            <a:off x="886037" y="371475"/>
            <a:ext cx="10419926" cy="6115050"/>
          </a:xfrm>
          <a:prstGeom prst="rect">
            <a:avLst/>
          </a:prstGeom>
        </p:spPr>
      </p:pic>
    </p:spTree>
    <p:extLst>
      <p:ext uri="{BB962C8B-B14F-4D97-AF65-F5344CB8AC3E}">
        <p14:creationId xmlns:p14="http://schemas.microsoft.com/office/powerpoint/2010/main" val="419089305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42A4FC2C-047E-45A5-965D-8E1E3BF09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524" y="0"/>
            <a:ext cx="12188952" cy="685800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3" name="Picture 2">
            <a:extLst>
              <a:ext uri="{FF2B5EF4-FFF2-40B4-BE49-F238E27FC236}">
                <a16:creationId xmlns:a16="http://schemas.microsoft.com/office/drawing/2014/main" id="{A21F4F94-0F88-4DD9-82F2-7F9671D53A98}"/>
              </a:ext>
            </a:extLst>
          </p:cNvPr>
          <p:cNvPicPr>
            <a:picLocks noChangeAspect="1"/>
          </p:cNvPicPr>
          <p:nvPr/>
        </p:nvPicPr>
        <p:blipFill>
          <a:blip r:embed="rId2"/>
          <a:stretch>
            <a:fillRect/>
          </a:stretch>
        </p:blipFill>
        <p:spPr>
          <a:xfrm>
            <a:off x="914401" y="308264"/>
            <a:ext cx="10363198" cy="6241472"/>
          </a:xfrm>
          <a:prstGeom prst="rect">
            <a:avLst/>
          </a:prstGeom>
        </p:spPr>
      </p:pic>
    </p:spTree>
    <p:extLst>
      <p:ext uri="{BB962C8B-B14F-4D97-AF65-F5344CB8AC3E}">
        <p14:creationId xmlns:p14="http://schemas.microsoft.com/office/powerpoint/2010/main" val="103244492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47EF0E-EE28-4A5A-92BF-BE8961984B60}"/>
              </a:ext>
            </a:extLst>
          </p:cNvPr>
          <p:cNvSpPr>
            <a:spLocks noGrp="1"/>
          </p:cNvSpPr>
          <p:nvPr>
            <p:ph type="title"/>
          </p:nvPr>
        </p:nvSpPr>
        <p:spPr>
          <a:xfrm>
            <a:off x="831850" y="3551238"/>
            <a:ext cx="10515600" cy="2852737"/>
          </a:xfrm>
        </p:spPr>
        <p:txBody>
          <a:bodyPr/>
          <a:lstStyle/>
          <a:p>
            <a:r>
              <a:rPr lang="en-US" dirty="0"/>
              <a:t>How to diagnose neurologic Wilson Disease?</a:t>
            </a:r>
          </a:p>
        </p:txBody>
      </p:sp>
      <p:pic>
        <p:nvPicPr>
          <p:cNvPr id="5" name="Picture 4">
            <a:extLst>
              <a:ext uri="{FF2B5EF4-FFF2-40B4-BE49-F238E27FC236}">
                <a16:creationId xmlns:a16="http://schemas.microsoft.com/office/drawing/2014/main" id="{4F8C5D5C-083A-47A1-9DDA-132B75A3D157}"/>
              </a:ext>
            </a:extLst>
          </p:cNvPr>
          <p:cNvPicPr>
            <a:picLocks noChangeAspect="1"/>
          </p:cNvPicPr>
          <p:nvPr/>
        </p:nvPicPr>
        <p:blipFill>
          <a:blip r:embed="rId2"/>
          <a:stretch>
            <a:fillRect/>
          </a:stretch>
        </p:blipFill>
        <p:spPr>
          <a:xfrm>
            <a:off x="3771575" y="245786"/>
            <a:ext cx="4648849" cy="3953427"/>
          </a:xfrm>
          <a:prstGeom prst="rect">
            <a:avLst/>
          </a:prstGeom>
        </p:spPr>
      </p:pic>
    </p:spTree>
    <p:extLst>
      <p:ext uri="{BB962C8B-B14F-4D97-AF65-F5344CB8AC3E}">
        <p14:creationId xmlns:p14="http://schemas.microsoft.com/office/powerpoint/2010/main" val="420474982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diagram of a patient's flowchart&#10;&#10;Description automatically generated">
            <a:extLst>
              <a:ext uri="{FF2B5EF4-FFF2-40B4-BE49-F238E27FC236}">
                <a16:creationId xmlns:a16="http://schemas.microsoft.com/office/drawing/2014/main" id="{0B6E7E05-4EEF-4238-9425-557734815854}"/>
              </a:ext>
            </a:extLst>
          </p:cNvPr>
          <p:cNvPicPr>
            <a:picLocks noChangeAspect="1"/>
          </p:cNvPicPr>
          <p:nvPr/>
        </p:nvPicPr>
        <p:blipFill rotWithShape="1">
          <a:blip r:embed="rId2"/>
          <a:srcRect b="50000"/>
          <a:stretch/>
        </p:blipFill>
        <p:spPr>
          <a:xfrm>
            <a:off x="1744501" y="769159"/>
            <a:ext cx="8702998" cy="5319681"/>
          </a:xfrm>
          <a:prstGeom prst="rect">
            <a:avLst/>
          </a:prstGeom>
        </p:spPr>
      </p:pic>
      <p:sp>
        <p:nvSpPr>
          <p:cNvPr id="5" name="TextBox 4">
            <a:extLst>
              <a:ext uri="{FF2B5EF4-FFF2-40B4-BE49-F238E27FC236}">
                <a16:creationId xmlns:a16="http://schemas.microsoft.com/office/drawing/2014/main" id="{DBD8D389-14A5-46AA-88D8-431F6C568437}"/>
              </a:ext>
            </a:extLst>
          </p:cNvPr>
          <p:cNvSpPr txBox="1"/>
          <p:nvPr/>
        </p:nvSpPr>
        <p:spPr>
          <a:xfrm>
            <a:off x="6096000" y="6488668"/>
            <a:ext cx="6096000" cy="369332"/>
          </a:xfrm>
          <a:prstGeom prst="rect">
            <a:avLst/>
          </a:prstGeom>
          <a:noFill/>
        </p:spPr>
        <p:txBody>
          <a:bodyPr wrap="square">
            <a:spAutoFit/>
          </a:bodyPr>
          <a:lstStyle/>
          <a:p>
            <a:pPr algn="r"/>
            <a:r>
              <a:rPr lang="en-US" dirty="0"/>
              <a:t>Hepatology. 2022 Dec 7. </a:t>
            </a:r>
            <a:r>
              <a:rPr lang="en-US" dirty="0" err="1"/>
              <a:t>doi</a:t>
            </a:r>
            <a:r>
              <a:rPr lang="en-US" dirty="0"/>
              <a:t>: 10.1002/hep.32801</a:t>
            </a:r>
          </a:p>
        </p:txBody>
      </p:sp>
    </p:spTree>
    <p:extLst>
      <p:ext uri="{BB962C8B-B14F-4D97-AF65-F5344CB8AC3E}">
        <p14:creationId xmlns:p14="http://schemas.microsoft.com/office/powerpoint/2010/main" val="418599449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DBD8D389-14A5-46AA-88D8-431F6C568437}"/>
              </a:ext>
            </a:extLst>
          </p:cNvPr>
          <p:cNvSpPr txBox="1"/>
          <p:nvPr/>
        </p:nvSpPr>
        <p:spPr>
          <a:xfrm>
            <a:off x="6096000" y="6488668"/>
            <a:ext cx="6096000" cy="369332"/>
          </a:xfrm>
          <a:prstGeom prst="rect">
            <a:avLst/>
          </a:prstGeom>
          <a:noFill/>
        </p:spPr>
        <p:txBody>
          <a:bodyPr wrap="square">
            <a:spAutoFit/>
          </a:bodyPr>
          <a:lstStyle/>
          <a:p>
            <a:pPr algn="r"/>
            <a:r>
              <a:rPr lang="en-US" dirty="0"/>
              <a:t>Hepatology. 2022 Dec 7. </a:t>
            </a:r>
            <a:r>
              <a:rPr lang="en-US" dirty="0" err="1"/>
              <a:t>doi</a:t>
            </a:r>
            <a:r>
              <a:rPr lang="en-US" dirty="0"/>
              <a:t>: 10.1002/hep.32801</a:t>
            </a:r>
          </a:p>
        </p:txBody>
      </p:sp>
      <p:pic>
        <p:nvPicPr>
          <p:cNvPr id="4" name="Picture 3" descr="A diagram of a patient's flowchart&#10;&#10;Description automatically generated">
            <a:extLst>
              <a:ext uri="{FF2B5EF4-FFF2-40B4-BE49-F238E27FC236}">
                <a16:creationId xmlns:a16="http://schemas.microsoft.com/office/drawing/2014/main" id="{CA323B8F-2154-4563-B9B1-A1F8B62EE357}"/>
              </a:ext>
            </a:extLst>
          </p:cNvPr>
          <p:cNvPicPr>
            <a:picLocks noChangeAspect="1"/>
          </p:cNvPicPr>
          <p:nvPr/>
        </p:nvPicPr>
        <p:blipFill rotWithShape="1">
          <a:blip r:embed="rId2"/>
          <a:srcRect t="53653"/>
          <a:stretch/>
        </p:blipFill>
        <p:spPr>
          <a:xfrm>
            <a:off x="1445623" y="584604"/>
            <a:ext cx="9300753" cy="5269691"/>
          </a:xfrm>
          <a:prstGeom prst="rect">
            <a:avLst/>
          </a:prstGeom>
        </p:spPr>
      </p:pic>
    </p:spTree>
    <p:extLst>
      <p:ext uri="{BB962C8B-B14F-4D97-AF65-F5344CB8AC3E}">
        <p14:creationId xmlns:p14="http://schemas.microsoft.com/office/powerpoint/2010/main" val="86329936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3BAFAE-D632-46AE-BABB-2A09CE46BB49}"/>
              </a:ext>
            </a:extLst>
          </p:cNvPr>
          <p:cNvSpPr>
            <a:spLocks noGrp="1"/>
          </p:cNvSpPr>
          <p:nvPr>
            <p:ph type="title"/>
          </p:nvPr>
        </p:nvSpPr>
        <p:spPr/>
        <p:txBody>
          <a:bodyPr/>
          <a:lstStyle/>
          <a:p>
            <a:r>
              <a:rPr lang="en-US" dirty="0"/>
              <a:t>Treatment</a:t>
            </a:r>
          </a:p>
        </p:txBody>
      </p:sp>
      <p:sp>
        <p:nvSpPr>
          <p:cNvPr id="3" name="Content Placeholder 2">
            <a:extLst>
              <a:ext uri="{FF2B5EF4-FFF2-40B4-BE49-F238E27FC236}">
                <a16:creationId xmlns:a16="http://schemas.microsoft.com/office/drawing/2014/main" id="{4AF742E6-FD94-49AF-BB1E-57D5AC3CD849}"/>
              </a:ext>
            </a:extLst>
          </p:cNvPr>
          <p:cNvSpPr>
            <a:spLocks noGrp="1"/>
          </p:cNvSpPr>
          <p:nvPr>
            <p:ph idx="1"/>
          </p:nvPr>
        </p:nvSpPr>
        <p:spPr/>
        <p:txBody>
          <a:bodyPr/>
          <a:lstStyle/>
          <a:p>
            <a:r>
              <a:rPr lang="en-US" dirty="0"/>
              <a:t>Chelation with </a:t>
            </a:r>
            <a:r>
              <a:rPr lang="en-US" dirty="0" err="1"/>
              <a:t>trientine</a:t>
            </a:r>
            <a:r>
              <a:rPr lang="en-US" dirty="0"/>
              <a:t> or D-penicillamine</a:t>
            </a:r>
          </a:p>
          <a:p>
            <a:r>
              <a:rPr lang="en-US" dirty="0"/>
              <a:t>Zinc adjuvant therapy</a:t>
            </a:r>
          </a:p>
          <a:p>
            <a:r>
              <a:rPr lang="en-US" dirty="0"/>
              <a:t>Liver transplant!</a:t>
            </a:r>
          </a:p>
        </p:txBody>
      </p:sp>
    </p:spTree>
    <p:extLst>
      <p:ext uri="{BB962C8B-B14F-4D97-AF65-F5344CB8AC3E}">
        <p14:creationId xmlns:p14="http://schemas.microsoft.com/office/powerpoint/2010/main" val="1044945889"/>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9983-D53A-478D-BBEF-730EF992C30C}"/>
              </a:ext>
            </a:extLst>
          </p:cNvPr>
          <p:cNvSpPr>
            <a:spLocks noGrp="1"/>
          </p:cNvSpPr>
          <p:nvPr>
            <p:ph type="title"/>
          </p:nvPr>
        </p:nvSpPr>
        <p:spPr>
          <a:xfrm>
            <a:off x="215348" y="-9215"/>
            <a:ext cx="11761304" cy="799583"/>
          </a:xfrm>
        </p:spPr>
        <p:txBody>
          <a:bodyPr/>
          <a:lstStyle/>
          <a:p>
            <a:r>
              <a:rPr lang="en-US" dirty="0"/>
              <a:t>Quiz</a:t>
            </a:r>
          </a:p>
        </p:txBody>
      </p:sp>
      <p:sp>
        <p:nvSpPr>
          <p:cNvPr id="3" name="Content Placeholder 2">
            <a:extLst>
              <a:ext uri="{FF2B5EF4-FFF2-40B4-BE49-F238E27FC236}">
                <a16:creationId xmlns:a16="http://schemas.microsoft.com/office/drawing/2014/main" id="{36739979-EB05-4BF8-B7DE-EF28567A2A60}"/>
              </a:ext>
            </a:extLst>
          </p:cNvPr>
          <p:cNvSpPr>
            <a:spLocks noGrp="1"/>
          </p:cNvSpPr>
          <p:nvPr>
            <p:ph idx="1"/>
          </p:nvPr>
        </p:nvSpPr>
        <p:spPr>
          <a:xfrm>
            <a:off x="1028700" y="790367"/>
            <a:ext cx="10134600" cy="6067633"/>
          </a:xfrm>
        </p:spPr>
        <p:txBody>
          <a:bodyPr>
            <a:normAutofit/>
          </a:bodyPr>
          <a:lstStyle/>
          <a:p>
            <a:pPr marL="0" indent="0">
              <a:buNone/>
            </a:pPr>
            <a:r>
              <a:rPr lang="en-US" sz="2400" dirty="0"/>
              <a:t>A 54-year-old man presents to your clinic with a 6-month history of chronic diarrhea, abdominal pain, and weight loss. He reports intermittent cognitive impairment, difficulty with balance and coordination, and recent seizures. </a:t>
            </a:r>
          </a:p>
          <a:p>
            <a:pPr marL="0" indent="0">
              <a:buNone/>
            </a:pPr>
            <a:endParaRPr lang="en-US" sz="2400" dirty="0"/>
          </a:p>
          <a:p>
            <a:pPr marL="0" indent="0">
              <a:buNone/>
            </a:pPr>
            <a:r>
              <a:rPr lang="en-US" sz="2400" dirty="0"/>
              <a:t>On neurological examination, the patient is alert but disoriented to time and place. He has a mild-moderate dysmetria and dysdiadochokinesia in both upper and lower extremities. His deep tendon reflexes are brisk, and he displays a positive Romberg sign. Sensory examination is unremarkable, and there are no signs of peripheral neuropathy. Cranial nerve examination reveals vertical gaze palsy but no other abnormalities. Muscle strength is preserved throughout, and no signs of spasticity or rigidity are noted.</a:t>
            </a:r>
          </a:p>
          <a:p>
            <a:pPr marL="0" indent="0">
              <a:buNone/>
            </a:pPr>
            <a:endParaRPr lang="en-US" sz="2400" dirty="0"/>
          </a:p>
          <a:p>
            <a:pPr marL="0" indent="0">
              <a:buNone/>
            </a:pPr>
            <a:r>
              <a:rPr lang="en-US" sz="2400" dirty="0"/>
              <a:t>Your attending comes in and examines the patient again, and here is what they find:</a:t>
            </a:r>
          </a:p>
        </p:txBody>
      </p:sp>
    </p:spTree>
    <p:extLst>
      <p:ext uri="{BB962C8B-B14F-4D97-AF65-F5344CB8AC3E}">
        <p14:creationId xmlns:p14="http://schemas.microsoft.com/office/powerpoint/2010/main" val="58011787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2" name="oculomasticatory myorhythmia">
            <a:hlinkClick r:id="" action="ppaction://media"/>
            <a:extLst>
              <a:ext uri="{FF2B5EF4-FFF2-40B4-BE49-F238E27FC236}">
                <a16:creationId xmlns:a16="http://schemas.microsoft.com/office/drawing/2014/main" id="{9A944B69-00C3-403A-BE19-F6799F440B1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6996640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2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69983-D53A-478D-BBEF-730EF992C30C}"/>
              </a:ext>
            </a:extLst>
          </p:cNvPr>
          <p:cNvSpPr>
            <a:spLocks noGrp="1"/>
          </p:cNvSpPr>
          <p:nvPr>
            <p:ph type="title"/>
          </p:nvPr>
        </p:nvSpPr>
        <p:spPr>
          <a:xfrm>
            <a:off x="215348" y="-9215"/>
            <a:ext cx="11761304" cy="799583"/>
          </a:xfrm>
        </p:spPr>
        <p:txBody>
          <a:bodyPr/>
          <a:lstStyle/>
          <a:p>
            <a:r>
              <a:rPr lang="en-US" dirty="0"/>
              <a:t>Quiz</a:t>
            </a:r>
          </a:p>
        </p:txBody>
      </p:sp>
      <p:sp>
        <p:nvSpPr>
          <p:cNvPr id="3" name="Content Placeholder 2">
            <a:extLst>
              <a:ext uri="{FF2B5EF4-FFF2-40B4-BE49-F238E27FC236}">
                <a16:creationId xmlns:a16="http://schemas.microsoft.com/office/drawing/2014/main" id="{36739979-EB05-4BF8-B7DE-EF28567A2A60}"/>
              </a:ext>
            </a:extLst>
          </p:cNvPr>
          <p:cNvSpPr>
            <a:spLocks noGrp="1"/>
          </p:cNvSpPr>
          <p:nvPr>
            <p:ph idx="1"/>
          </p:nvPr>
        </p:nvSpPr>
        <p:spPr>
          <a:xfrm>
            <a:off x="2070100" y="790367"/>
            <a:ext cx="8051800" cy="5130599"/>
          </a:xfrm>
        </p:spPr>
        <p:txBody>
          <a:bodyPr anchor="ctr">
            <a:normAutofit/>
          </a:bodyPr>
          <a:lstStyle/>
          <a:p>
            <a:pPr marL="0" indent="0">
              <a:buNone/>
            </a:pPr>
            <a:r>
              <a:rPr lang="en-US" dirty="0"/>
              <a:t>Which of the following investigations is the most appropriate next step to confirm the diagnosis?</a:t>
            </a:r>
          </a:p>
          <a:p>
            <a:pPr marL="0" indent="0">
              <a:buNone/>
            </a:pPr>
            <a:endParaRPr lang="en-US" dirty="0"/>
          </a:p>
          <a:p>
            <a:pPr marL="457200" lvl="1" indent="0">
              <a:buNone/>
            </a:pPr>
            <a:r>
              <a:rPr lang="en-US" dirty="0"/>
              <a:t>A) Brain MRI</a:t>
            </a:r>
          </a:p>
          <a:p>
            <a:pPr marL="457200" lvl="1" indent="0">
              <a:buNone/>
            </a:pPr>
            <a:r>
              <a:rPr lang="en-US" dirty="0"/>
              <a:t>B) Cerebrospinal fluid analysis</a:t>
            </a:r>
          </a:p>
          <a:p>
            <a:pPr marL="457200" lvl="1" indent="0">
              <a:buNone/>
            </a:pPr>
            <a:r>
              <a:rPr lang="en-US" dirty="0"/>
              <a:t>C) Upper endoscopy (EGD)</a:t>
            </a:r>
          </a:p>
          <a:p>
            <a:pPr marL="457200" lvl="1" indent="0">
              <a:buNone/>
            </a:pPr>
            <a:r>
              <a:rPr lang="en-US" dirty="0"/>
              <a:t>D) Electroencephalogram (EEG)</a:t>
            </a:r>
          </a:p>
          <a:p>
            <a:pPr marL="457200" lvl="1" indent="0">
              <a:buNone/>
            </a:pPr>
            <a:r>
              <a:rPr lang="en-US" dirty="0"/>
              <a:t>E) Serum anti-neuronal antibodies</a:t>
            </a:r>
          </a:p>
        </p:txBody>
      </p:sp>
    </p:spTree>
    <p:extLst>
      <p:ext uri="{BB962C8B-B14F-4D97-AF65-F5344CB8AC3E}">
        <p14:creationId xmlns:p14="http://schemas.microsoft.com/office/powerpoint/2010/main" val="25743391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5D330F84-003A-480F-B42F-AACD54B5BA1F}"/>
              </a:ext>
            </a:extLst>
          </p:cNvPr>
          <p:cNvPicPr>
            <a:picLocks noChangeAspect="1"/>
          </p:cNvPicPr>
          <p:nvPr/>
        </p:nvPicPr>
        <p:blipFill>
          <a:blip r:embed="rId2"/>
          <a:stretch>
            <a:fillRect/>
          </a:stretch>
        </p:blipFill>
        <p:spPr>
          <a:xfrm>
            <a:off x="156333" y="809349"/>
            <a:ext cx="11879333" cy="1895740"/>
          </a:xfrm>
          <a:prstGeom prst="rect">
            <a:avLst/>
          </a:prstGeom>
        </p:spPr>
      </p:pic>
      <p:pic>
        <p:nvPicPr>
          <p:cNvPr id="9" name="Picture 8">
            <a:extLst>
              <a:ext uri="{FF2B5EF4-FFF2-40B4-BE49-F238E27FC236}">
                <a16:creationId xmlns:a16="http://schemas.microsoft.com/office/drawing/2014/main" id="{D3124E64-307B-44EE-8CEA-8A1278750B70}"/>
              </a:ext>
            </a:extLst>
          </p:cNvPr>
          <p:cNvPicPr>
            <a:picLocks noChangeAspect="1"/>
          </p:cNvPicPr>
          <p:nvPr/>
        </p:nvPicPr>
        <p:blipFill rotWithShape="1">
          <a:blip r:embed="rId3"/>
          <a:srcRect t="2703"/>
          <a:stretch/>
        </p:blipFill>
        <p:spPr>
          <a:xfrm>
            <a:off x="1947283" y="3429000"/>
            <a:ext cx="8297433" cy="2576738"/>
          </a:xfrm>
          <a:prstGeom prst="rect">
            <a:avLst/>
          </a:prstGeom>
        </p:spPr>
      </p:pic>
      <p:pic>
        <p:nvPicPr>
          <p:cNvPr id="11" name="Picture 10">
            <a:extLst>
              <a:ext uri="{FF2B5EF4-FFF2-40B4-BE49-F238E27FC236}">
                <a16:creationId xmlns:a16="http://schemas.microsoft.com/office/drawing/2014/main" id="{DEFC72E5-C62A-429B-B624-BBC83D4960F0}"/>
              </a:ext>
            </a:extLst>
          </p:cNvPr>
          <p:cNvPicPr>
            <a:picLocks noChangeAspect="1"/>
          </p:cNvPicPr>
          <p:nvPr/>
        </p:nvPicPr>
        <p:blipFill>
          <a:blip r:embed="rId4"/>
          <a:stretch>
            <a:fillRect/>
          </a:stretch>
        </p:blipFill>
        <p:spPr>
          <a:xfrm>
            <a:off x="184912" y="47288"/>
            <a:ext cx="1762371" cy="400106"/>
          </a:xfrm>
          <a:prstGeom prst="rect">
            <a:avLst/>
          </a:prstGeom>
        </p:spPr>
      </p:pic>
    </p:spTree>
    <p:extLst>
      <p:ext uri="{BB962C8B-B14F-4D97-AF65-F5344CB8AC3E}">
        <p14:creationId xmlns:p14="http://schemas.microsoft.com/office/powerpoint/2010/main" val="166166201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8CB08B-F989-4FD5-8F34-F4E8C0577A7B}"/>
              </a:ext>
            </a:extLst>
          </p:cNvPr>
          <p:cNvSpPr>
            <a:spLocks noGrp="1"/>
          </p:cNvSpPr>
          <p:nvPr>
            <p:ph type="title"/>
          </p:nvPr>
        </p:nvSpPr>
        <p:spPr/>
        <p:txBody>
          <a:bodyPr/>
          <a:lstStyle/>
          <a:p>
            <a:r>
              <a:rPr lang="en-US" dirty="0"/>
              <a:t>Whipple Disease</a:t>
            </a:r>
          </a:p>
        </p:txBody>
      </p:sp>
      <p:sp>
        <p:nvSpPr>
          <p:cNvPr id="3" name="Text Placeholder 2">
            <a:extLst>
              <a:ext uri="{FF2B5EF4-FFF2-40B4-BE49-F238E27FC236}">
                <a16:creationId xmlns:a16="http://schemas.microsoft.com/office/drawing/2014/main" id="{2EDF0E3A-4325-4FAD-B3EC-73BDCAD76023}"/>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91807747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0F151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D8DA95-28BB-4ACB-83C7-FF79C55C68FF}"/>
              </a:ext>
            </a:extLst>
          </p:cNvPr>
          <p:cNvPicPr>
            <a:picLocks noChangeAspect="1"/>
          </p:cNvPicPr>
          <p:nvPr/>
        </p:nvPicPr>
        <p:blipFill>
          <a:blip r:embed="rId2"/>
          <a:stretch>
            <a:fillRect/>
          </a:stretch>
        </p:blipFill>
        <p:spPr>
          <a:xfrm>
            <a:off x="933244" y="904523"/>
            <a:ext cx="2936420" cy="5048954"/>
          </a:xfrm>
          <a:prstGeom prst="rect">
            <a:avLst/>
          </a:prstGeom>
        </p:spPr>
      </p:pic>
      <p:pic>
        <p:nvPicPr>
          <p:cNvPr id="5" name="Picture 4">
            <a:extLst>
              <a:ext uri="{FF2B5EF4-FFF2-40B4-BE49-F238E27FC236}">
                <a16:creationId xmlns:a16="http://schemas.microsoft.com/office/drawing/2014/main" id="{E4D0542E-1ACE-46E1-85D1-D065E821B428}"/>
              </a:ext>
            </a:extLst>
          </p:cNvPr>
          <p:cNvPicPr>
            <a:picLocks noChangeAspect="1"/>
          </p:cNvPicPr>
          <p:nvPr/>
        </p:nvPicPr>
        <p:blipFill>
          <a:blip r:embed="rId3"/>
          <a:stretch>
            <a:fillRect/>
          </a:stretch>
        </p:blipFill>
        <p:spPr>
          <a:xfrm>
            <a:off x="5146507" y="904524"/>
            <a:ext cx="6554114" cy="5048954"/>
          </a:xfrm>
          <a:prstGeom prst="rect">
            <a:avLst/>
          </a:prstGeom>
        </p:spPr>
      </p:pic>
      <p:sp>
        <p:nvSpPr>
          <p:cNvPr id="2" name="TextBox 1">
            <a:extLst>
              <a:ext uri="{FF2B5EF4-FFF2-40B4-BE49-F238E27FC236}">
                <a16:creationId xmlns:a16="http://schemas.microsoft.com/office/drawing/2014/main" id="{98465674-FC3C-46B8-B227-AD26F11D634B}"/>
              </a:ext>
            </a:extLst>
          </p:cNvPr>
          <p:cNvSpPr txBox="1"/>
          <p:nvPr/>
        </p:nvSpPr>
        <p:spPr>
          <a:xfrm>
            <a:off x="4564971" y="95250"/>
            <a:ext cx="3062057" cy="584775"/>
          </a:xfrm>
          <a:prstGeom prst="rect">
            <a:avLst/>
          </a:prstGeom>
          <a:noFill/>
        </p:spPr>
        <p:txBody>
          <a:bodyPr wrap="none" rtlCol="0">
            <a:spAutoFit/>
          </a:bodyPr>
          <a:lstStyle/>
          <a:p>
            <a:pPr algn="ctr"/>
            <a:r>
              <a:rPr lang="en-US" sz="3200" i="1" dirty="0">
                <a:solidFill>
                  <a:schemeClr val="bg1"/>
                </a:solidFill>
                <a:latin typeface="Georgia" panose="02040502050405020303" pitchFamily="18" charset="0"/>
              </a:rPr>
              <a:t>Who’s this guy?</a:t>
            </a:r>
          </a:p>
        </p:txBody>
      </p:sp>
    </p:spTree>
    <p:extLst>
      <p:ext uri="{BB962C8B-B14F-4D97-AF65-F5344CB8AC3E}">
        <p14:creationId xmlns:p14="http://schemas.microsoft.com/office/powerpoint/2010/main" val="4136263248"/>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rgbClr val="0F1510"/>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D8DA95-28BB-4ACB-83C7-FF79C55C68FF}"/>
              </a:ext>
            </a:extLst>
          </p:cNvPr>
          <p:cNvPicPr>
            <a:picLocks noChangeAspect="1"/>
          </p:cNvPicPr>
          <p:nvPr/>
        </p:nvPicPr>
        <p:blipFill>
          <a:blip r:embed="rId2"/>
          <a:stretch>
            <a:fillRect/>
          </a:stretch>
        </p:blipFill>
        <p:spPr>
          <a:xfrm>
            <a:off x="933244" y="904523"/>
            <a:ext cx="2936420" cy="5048954"/>
          </a:xfrm>
          <a:prstGeom prst="rect">
            <a:avLst/>
          </a:prstGeom>
        </p:spPr>
      </p:pic>
      <p:pic>
        <p:nvPicPr>
          <p:cNvPr id="5" name="Picture 4">
            <a:extLst>
              <a:ext uri="{FF2B5EF4-FFF2-40B4-BE49-F238E27FC236}">
                <a16:creationId xmlns:a16="http://schemas.microsoft.com/office/drawing/2014/main" id="{E4D0542E-1ACE-46E1-85D1-D065E821B428}"/>
              </a:ext>
            </a:extLst>
          </p:cNvPr>
          <p:cNvPicPr>
            <a:picLocks noChangeAspect="1"/>
          </p:cNvPicPr>
          <p:nvPr/>
        </p:nvPicPr>
        <p:blipFill>
          <a:blip r:embed="rId3"/>
          <a:stretch>
            <a:fillRect/>
          </a:stretch>
        </p:blipFill>
        <p:spPr>
          <a:xfrm>
            <a:off x="5146507" y="904524"/>
            <a:ext cx="6554114" cy="5048954"/>
          </a:xfrm>
          <a:prstGeom prst="rect">
            <a:avLst/>
          </a:prstGeom>
        </p:spPr>
      </p:pic>
      <p:sp>
        <p:nvSpPr>
          <p:cNvPr id="2" name="TextBox 1">
            <a:extLst>
              <a:ext uri="{FF2B5EF4-FFF2-40B4-BE49-F238E27FC236}">
                <a16:creationId xmlns:a16="http://schemas.microsoft.com/office/drawing/2014/main" id="{98465674-FC3C-46B8-B227-AD26F11D634B}"/>
              </a:ext>
            </a:extLst>
          </p:cNvPr>
          <p:cNvSpPr txBox="1"/>
          <p:nvPr/>
        </p:nvSpPr>
        <p:spPr>
          <a:xfrm>
            <a:off x="4039988" y="95250"/>
            <a:ext cx="4344459" cy="584775"/>
          </a:xfrm>
          <a:prstGeom prst="rect">
            <a:avLst/>
          </a:prstGeom>
          <a:noFill/>
        </p:spPr>
        <p:txBody>
          <a:bodyPr wrap="none" rtlCol="0">
            <a:spAutoFit/>
          </a:bodyPr>
          <a:lstStyle/>
          <a:p>
            <a:r>
              <a:rPr lang="en-US" sz="3200" i="1" dirty="0" err="1">
                <a:solidFill>
                  <a:schemeClr val="bg1"/>
                </a:solidFill>
                <a:latin typeface="Georgia" panose="02040502050405020303" pitchFamily="18" charset="0"/>
              </a:rPr>
              <a:t>Tropheryma</a:t>
            </a:r>
            <a:r>
              <a:rPr lang="en-US" sz="3200" i="1" dirty="0">
                <a:solidFill>
                  <a:schemeClr val="bg1"/>
                </a:solidFill>
                <a:latin typeface="Georgia" panose="02040502050405020303" pitchFamily="18" charset="0"/>
              </a:rPr>
              <a:t> </a:t>
            </a:r>
            <a:r>
              <a:rPr lang="en-US" sz="3200" i="1" dirty="0" err="1">
                <a:solidFill>
                  <a:schemeClr val="bg1"/>
                </a:solidFill>
                <a:latin typeface="Georgia" panose="02040502050405020303" pitchFamily="18" charset="0"/>
              </a:rPr>
              <a:t>whipplei</a:t>
            </a:r>
            <a:endParaRPr lang="en-US" sz="3200" i="1" dirty="0">
              <a:solidFill>
                <a:schemeClr val="bg1"/>
              </a:solidFill>
              <a:latin typeface="Georgia" panose="02040502050405020303" pitchFamily="18" charset="0"/>
            </a:endParaRPr>
          </a:p>
        </p:txBody>
      </p:sp>
    </p:spTree>
    <p:extLst>
      <p:ext uri="{BB962C8B-B14F-4D97-AF65-F5344CB8AC3E}">
        <p14:creationId xmlns:p14="http://schemas.microsoft.com/office/powerpoint/2010/main" val="208834949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A9B9B3-9203-4745-9BC5-6CD1915338D4}"/>
              </a:ext>
            </a:extLst>
          </p:cNvPr>
          <p:cNvSpPr>
            <a:spLocks noGrp="1"/>
          </p:cNvSpPr>
          <p:nvPr>
            <p:ph type="title"/>
          </p:nvPr>
        </p:nvSpPr>
        <p:spPr/>
        <p:txBody>
          <a:bodyPr/>
          <a:lstStyle/>
          <a:p>
            <a:r>
              <a:rPr lang="en-US" dirty="0"/>
              <a:t>Whipple Disease</a:t>
            </a:r>
          </a:p>
        </p:txBody>
      </p:sp>
      <p:sp>
        <p:nvSpPr>
          <p:cNvPr id="3" name="Content Placeholder 2">
            <a:extLst>
              <a:ext uri="{FF2B5EF4-FFF2-40B4-BE49-F238E27FC236}">
                <a16:creationId xmlns:a16="http://schemas.microsoft.com/office/drawing/2014/main" id="{CCBEBFA1-2989-4086-8131-0C72F3035F17}"/>
              </a:ext>
            </a:extLst>
          </p:cNvPr>
          <p:cNvSpPr>
            <a:spLocks noGrp="1"/>
          </p:cNvSpPr>
          <p:nvPr>
            <p:ph idx="1"/>
          </p:nvPr>
        </p:nvSpPr>
        <p:spPr/>
        <p:txBody>
          <a:bodyPr/>
          <a:lstStyle/>
          <a:p>
            <a:r>
              <a:rPr lang="en-US" dirty="0"/>
              <a:t>Systemic infectious disease, mainly of the gut</a:t>
            </a:r>
          </a:p>
          <a:p>
            <a:r>
              <a:rPr lang="en-US" dirty="0"/>
              <a:t>Most common in </a:t>
            </a:r>
            <a:r>
              <a:rPr lang="en-US" b="1" dirty="0"/>
              <a:t>middle-aged white men</a:t>
            </a:r>
          </a:p>
          <a:p>
            <a:r>
              <a:rPr lang="en-US" dirty="0"/>
              <a:t>GI symptoms can be severe -&gt; chronic diarrhea, weight loss, malabsorption</a:t>
            </a:r>
          </a:p>
          <a:p>
            <a:r>
              <a:rPr lang="en-US" dirty="0"/>
              <a:t>Arthralgia and arthritis is usually present in association </a:t>
            </a:r>
          </a:p>
          <a:p>
            <a:r>
              <a:rPr lang="en-US" dirty="0"/>
              <a:t>May be one of the causes of culture-negative endocarditis</a:t>
            </a:r>
          </a:p>
        </p:txBody>
      </p:sp>
    </p:spTree>
    <p:extLst>
      <p:ext uri="{BB962C8B-B14F-4D97-AF65-F5344CB8AC3E}">
        <p14:creationId xmlns:p14="http://schemas.microsoft.com/office/powerpoint/2010/main" val="148027203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7D235C-2777-4CB1-9510-1CA698573077}"/>
              </a:ext>
            </a:extLst>
          </p:cNvPr>
          <p:cNvPicPr>
            <a:picLocks noChangeAspect="1"/>
          </p:cNvPicPr>
          <p:nvPr/>
        </p:nvPicPr>
        <p:blipFill>
          <a:blip r:embed="rId2"/>
          <a:stretch>
            <a:fillRect/>
          </a:stretch>
        </p:blipFill>
        <p:spPr>
          <a:xfrm>
            <a:off x="5329382" y="525583"/>
            <a:ext cx="5391902" cy="5887272"/>
          </a:xfrm>
          <a:prstGeom prst="rect">
            <a:avLst/>
          </a:prstGeom>
        </p:spPr>
      </p:pic>
      <p:pic>
        <p:nvPicPr>
          <p:cNvPr id="7" name="Picture 6">
            <a:extLst>
              <a:ext uri="{FF2B5EF4-FFF2-40B4-BE49-F238E27FC236}">
                <a16:creationId xmlns:a16="http://schemas.microsoft.com/office/drawing/2014/main" id="{3D0EAB21-FFA3-4C5C-99C2-841509FB21A9}"/>
              </a:ext>
            </a:extLst>
          </p:cNvPr>
          <p:cNvPicPr>
            <a:picLocks noChangeAspect="1"/>
          </p:cNvPicPr>
          <p:nvPr/>
        </p:nvPicPr>
        <p:blipFill>
          <a:blip r:embed="rId3"/>
          <a:stretch>
            <a:fillRect/>
          </a:stretch>
        </p:blipFill>
        <p:spPr>
          <a:xfrm>
            <a:off x="1213436" y="565802"/>
            <a:ext cx="3441691" cy="5806834"/>
          </a:xfrm>
          <a:prstGeom prst="rect">
            <a:avLst/>
          </a:prstGeom>
        </p:spPr>
      </p:pic>
    </p:spTree>
    <p:extLst>
      <p:ext uri="{BB962C8B-B14F-4D97-AF65-F5344CB8AC3E}">
        <p14:creationId xmlns:p14="http://schemas.microsoft.com/office/powerpoint/2010/main" val="1216857628"/>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rgbClr val="060C0E"/>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75CA108-AA9E-4252-8303-44A63E5E8D82}"/>
              </a:ext>
            </a:extLst>
          </p:cNvPr>
          <p:cNvPicPr>
            <a:picLocks noChangeAspect="1"/>
          </p:cNvPicPr>
          <p:nvPr/>
        </p:nvPicPr>
        <p:blipFill rotWithShape="1">
          <a:blip r:embed="rId2"/>
          <a:srcRect l="2056" t="2056" r="2056" b="2056"/>
          <a:stretch/>
        </p:blipFill>
        <p:spPr>
          <a:xfrm>
            <a:off x="2691232" y="0"/>
            <a:ext cx="6809536" cy="6858000"/>
          </a:xfrm>
          <a:prstGeom prst="rect">
            <a:avLst/>
          </a:prstGeom>
        </p:spPr>
      </p:pic>
    </p:spTree>
    <p:extLst>
      <p:ext uri="{BB962C8B-B14F-4D97-AF65-F5344CB8AC3E}">
        <p14:creationId xmlns:p14="http://schemas.microsoft.com/office/powerpoint/2010/main" val="56570573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1494-68D5-49E2-804A-212D6CFF61E6}"/>
              </a:ext>
            </a:extLst>
          </p:cNvPr>
          <p:cNvSpPr>
            <a:spLocks noGrp="1"/>
          </p:cNvSpPr>
          <p:nvPr>
            <p:ph type="title"/>
          </p:nvPr>
        </p:nvSpPr>
        <p:spPr/>
        <p:txBody>
          <a:bodyPr/>
          <a:lstStyle/>
          <a:p>
            <a:r>
              <a:rPr lang="en-US" dirty="0"/>
              <a:t>Neurologic Manifestations of Whipple Disease</a:t>
            </a:r>
          </a:p>
        </p:txBody>
      </p:sp>
      <p:sp>
        <p:nvSpPr>
          <p:cNvPr id="3" name="Content Placeholder 2">
            <a:extLst>
              <a:ext uri="{FF2B5EF4-FFF2-40B4-BE49-F238E27FC236}">
                <a16:creationId xmlns:a16="http://schemas.microsoft.com/office/drawing/2014/main" id="{FED66971-13AE-4F73-A8D6-52029D2A84EE}"/>
              </a:ext>
            </a:extLst>
          </p:cNvPr>
          <p:cNvSpPr>
            <a:spLocks noGrp="1"/>
          </p:cNvSpPr>
          <p:nvPr>
            <p:ph idx="1"/>
          </p:nvPr>
        </p:nvSpPr>
        <p:spPr/>
        <p:txBody>
          <a:bodyPr/>
          <a:lstStyle/>
          <a:p>
            <a:r>
              <a:rPr lang="en-US" dirty="0"/>
              <a:t>CNS involvement in 90% of patients</a:t>
            </a:r>
          </a:p>
          <a:p>
            <a:r>
              <a:rPr lang="en-US" dirty="0"/>
              <a:t>Neuropsychiatric manifestations are the </a:t>
            </a:r>
            <a:r>
              <a:rPr lang="en-US" b="1" dirty="0"/>
              <a:t>most common</a:t>
            </a:r>
            <a:r>
              <a:rPr lang="en-US" dirty="0"/>
              <a:t> up to 71%</a:t>
            </a:r>
          </a:p>
          <a:p>
            <a:r>
              <a:rPr lang="en-US" dirty="0"/>
              <a:t>Vertical gaze palsy + cerebellar ataxia in 45% </a:t>
            </a:r>
          </a:p>
        </p:txBody>
      </p:sp>
    </p:spTree>
    <p:extLst>
      <p:ext uri="{BB962C8B-B14F-4D97-AF65-F5344CB8AC3E}">
        <p14:creationId xmlns:p14="http://schemas.microsoft.com/office/powerpoint/2010/main" val="2662945039"/>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tx1">
            <a:lumMod val="95000"/>
            <a:lumOff val="5000"/>
          </a:schemeClr>
        </a:solidFill>
        <a:effectLst/>
      </p:bgPr>
    </p:bg>
    <p:spTree>
      <p:nvGrpSpPr>
        <p:cNvPr id="1" name=""/>
        <p:cNvGrpSpPr/>
        <p:nvPr/>
      </p:nvGrpSpPr>
      <p:grpSpPr>
        <a:xfrm>
          <a:off x="0" y="0"/>
          <a:ext cx="0" cy="0"/>
          <a:chOff x="0" y="0"/>
          <a:chExt cx="0" cy="0"/>
        </a:xfrm>
      </p:grpSpPr>
      <p:pic>
        <p:nvPicPr>
          <p:cNvPr id="2" name="oculomasticatory myorhythmia">
            <a:hlinkClick r:id="" action="ppaction://media"/>
            <a:extLst>
              <a:ext uri="{FF2B5EF4-FFF2-40B4-BE49-F238E27FC236}">
                <a16:creationId xmlns:a16="http://schemas.microsoft.com/office/drawing/2014/main" id="{9A944B69-00C3-403A-BE19-F6799F440B14}"/>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1524000" y="0"/>
            <a:ext cx="9144000" cy="6858000"/>
          </a:xfrm>
          <a:prstGeom prst="rect">
            <a:avLst/>
          </a:prstGeom>
        </p:spPr>
      </p:pic>
    </p:spTree>
    <p:extLst>
      <p:ext uri="{BB962C8B-B14F-4D97-AF65-F5344CB8AC3E}">
        <p14:creationId xmlns:p14="http://schemas.microsoft.com/office/powerpoint/2010/main" val="40221542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1269"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mute="1">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F3D5-56DC-4F2B-8911-0C8EC1D60C85}"/>
              </a:ext>
            </a:extLst>
          </p:cNvPr>
          <p:cNvSpPr>
            <a:spLocks noGrp="1"/>
          </p:cNvSpPr>
          <p:nvPr>
            <p:ph type="title"/>
          </p:nvPr>
        </p:nvSpPr>
        <p:spPr/>
        <p:txBody>
          <a:bodyPr/>
          <a:lstStyle/>
          <a:p>
            <a:r>
              <a:rPr lang="en-US" dirty="0" err="1"/>
              <a:t>Oculomasticatory</a:t>
            </a:r>
            <a:r>
              <a:rPr lang="en-US" dirty="0"/>
              <a:t> </a:t>
            </a:r>
            <a:r>
              <a:rPr lang="en-US" dirty="0" err="1"/>
              <a:t>Myorrhythmia</a:t>
            </a:r>
            <a:endParaRPr lang="en-US" dirty="0"/>
          </a:p>
        </p:txBody>
      </p:sp>
      <p:sp>
        <p:nvSpPr>
          <p:cNvPr id="3" name="Content Placeholder 2">
            <a:extLst>
              <a:ext uri="{FF2B5EF4-FFF2-40B4-BE49-F238E27FC236}">
                <a16:creationId xmlns:a16="http://schemas.microsoft.com/office/drawing/2014/main" id="{A3E1935A-5C93-47D1-89BE-63B3EDE525A9}"/>
              </a:ext>
            </a:extLst>
          </p:cNvPr>
          <p:cNvSpPr>
            <a:spLocks noGrp="1"/>
          </p:cNvSpPr>
          <p:nvPr>
            <p:ph idx="1"/>
          </p:nvPr>
        </p:nvSpPr>
        <p:spPr/>
        <p:txBody>
          <a:bodyPr/>
          <a:lstStyle/>
          <a:p>
            <a:r>
              <a:rPr lang="en-US" dirty="0"/>
              <a:t>Pendular convergence nystagmus with concurrent slow, rhythmic synchronous contractions of the masticatory muscles + supranuclear vertical gaze paresis</a:t>
            </a:r>
          </a:p>
          <a:p>
            <a:r>
              <a:rPr lang="en-US" dirty="0"/>
              <a:t>Extremities may be involved -&gt;</a:t>
            </a:r>
            <a:r>
              <a:rPr lang="en-US" b="1" dirty="0"/>
              <a:t> What would you call this?</a:t>
            </a:r>
            <a:endParaRPr lang="en-US" dirty="0"/>
          </a:p>
        </p:txBody>
      </p:sp>
    </p:spTree>
    <p:extLst>
      <p:ext uri="{BB962C8B-B14F-4D97-AF65-F5344CB8AC3E}">
        <p14:creationId xmlns:p14="http://schemas.microsoft.com/office/powerpoint/2010/main" val="199412291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05F3D5-56DC-4F2B-8911-0C8EC1D60C85}"/>
              </a:ext>
            </a:extLst>
          </p:cNvPr>
          <p:cNvSpPr>
            <a:spLocks noGrp="1"/>
          </p:cNvSpPr>
          <p:nvPr>
            <p:ph type="title"/>
          </p:nvPr>
        </p:nvSpPr>
        <p:spPr/>
        <p:txBody>
          <a:bodyPr/>
          <a:lstStyle/>
          <a:p>
            <a:r>
              <a:rPr lang="en-US" dirty="0" err="1"/>
              <a:t>Oculomasticatory</a:t>
            </a:r>
            <a:r>
              <a:rPr lang="en-US" dirty="0"/>
              <a:t> </a:t>
            </a:r>
            <a:r>
              <a:rPr lang="en-US" dirty="0" err="1"/>
              <a:t>Myorrhythmia</a:t>
            </a:r>
            <a:endParaRPr lang="en-US" dirty="0"/>
          </a:p>
        </p:txBody>
      </p:sp>
      <p:sp>
        <p:nvSpPr>
          <p:cNvPr id="3" name="Content Placeholder 2">
            <a:extLst>
              <a:ext uri="{FF2B5EF4-FFF2-40B4-BE49-F238E27FC236}">
                <a16:creationId xmlns:a16="http://schemas.microsoft.com/office/drawing/2014/main" id="{A3E1935A-5C93-47D1-89BE-63B3EDE525A9}"/>
              </a:ext>
            </a:extLst>
          </p:cNvPr>
          <p:cNvSpPr>
            <a:spLocks noGrp="1"/>
          </p:cNvSpPr>
          <p:nvPr>
            <p:ph idx="1"/>
          </p:nvPr>
        </p:nvSpPr>
        <p:spPr/>
        <p:txBody>
          <a:bodyPr/>
          <a:lstStyle/>
          <a:p>
            <a:r>
              <a:rPr lang="en-US" dirty="0"/>
              <a:t>Pendular convergence nystagmus with concurrent slow, rhythmic synchronous contractions of the masticatory muscles + supranuclear vertical gaze paresis</a:t>
            </a:r>
          </a:p>
          <a:p>
            <a:r>
              <a:rPr lang="en-US" dirty="0"/>
              <a:t>Extremities may be involved -&gt;</a:t>
            </a:r>
            <a:r>
              <a:rPr lang="en-US" b="1" dirty="0"/>
              <a:t> </a:t>
            </a:r>
            <a:r>
              <a:rPr lang="en-US" dirty="0" err="1"/>
              <a:t>oculofacioskeletal</a:t>
            </a:r>
            <a:r>
              <a:rPr lang="en-US" dirty="0"/>
              <a:t> </a:t>
            </a:r>
            <a:r>
              <a:rPr lang="en-US" dirty="0" err="1"/>
              <a:t>myorrhythmia</a:t>
            </a:r>
            <a:endParaRPr lang="en-US" dirty="0"/>
          </a:p>
          <a:p>
            <a:r>
              <a:rPr lang="en-US" b="1" dirty="0"/>
              <a:t>No other neurologic syndrome or disease can cause this</a:t>
            </a:r>
          </a:p>
          <a:p>
            <a:r>
              <a:rPr lang="en-US" b="1" dirty="0"/>
              <a:t>Highly specific to Whipple disease</a:t>
            </a:r>
          </a:p>
          <a:p>
            <a:endParaRPr lang="en-US" dirty="0"/>
          </a:p>
        </p:txBody>
      </p:sp>
    </p:spTree>
    <p:extLst>
      <p:ext uri="{BB962C8B-B14F-4D97-AF65-F5344CB8AC3E}">
        <p14:creationId xmlns:p14="http://schemas.microsoft.com/office/powerpoint/2010/main" val="359577561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9A1494-68D5-49E2-804A-212D6CFF61E6}"/>
              </a:ext>
            </a:extLst>
          </p:cNvPr>
          <p:cNvSpPr>
            <a:spLocks noGrp="1"/>
          </p:cNvSpPr>
          <p:nvPr>
            <p:ph type="title"/>
          </p:nvPr>
        </p:nvSpPr>
        <p:spPr/>
        <p:txBody>
          <a:bodyPr/>
          <a:lstStyle/>
          <a:p>
            <a:r>
              <a:rPr lang="en-US" dirty="0"/>
              <a:t>Neurologic Manifestations of Whipple Disease</a:t>
            </a:r>
          </a:p>
        </p:txBody>
      </p:sp>
      <p:sp>
        <p:nvSpPr>
          <p:cNvPr id="3" name="Content Placeholder 2">
            <a:extLst>
              <a:ext uri="{FF2B5EF4-FFF2-40B4-BE49-F238E27FC236}">
                <a16:creationId xmlns:a16="http://schemas.microsoft.com/office/drawing/2014/main" id="{FED66971-13AE-4F73-A8D6-52029D2A84EE}"/>
              </a:ext>
            </a:extLst>
          </p:cNvPr>
          <p:cNvSpPr>
            <a:spLocks noGrp="1"/>
          </p:cNvSpPr>
          <p:nvPr>
            <p:ph idx="1"/>
          </p:nvPr>
        </p:nvSpPr>
        <p:spPr/>
        <p:txBody>
          <a:bodyPr/>
          <a:lstStyle/>
          <a:p>
            <a:r>
              <a:rPr lang="en-US" dirty="0"/>
              <a:t>CNS involvement in 90% of patients</a:t>
            </a:r>
          </a:p>
          <a:p>
            <a:r>
              <a:rPr lang="en-US" dirty="0"/>
              <a:t>Neuropsychiatric manifestations are the </a:t>
            </a:r>
            <a:r>
              <a:rPr lang="en-US" b="1" dirty="0"/>
              <a:t>most common</a:t>
            </a:r>
            <a:r>
              <a:rPr lang="en-US" dirty="0"/>
              <a:t> up to 71%</a:t>
            </a:r>
          </a:p>
          <a:p>
            <a:r>
              <a:rPr lang="en-US" dirty="0"/>
              <a:t>Vertical gaze palsy + cerebellar ataxia in 45% </a:t>
            </a:r>
          </a:p>
          <a:p>
            <a:r>
              <a:rPr lang="en-US" dirty="0" err="1"/>
              <a:t>Oculomasticatory</a:t>
            </a:r>
            <a:r>
              <a:rPr lang="en-US" dirty="0"/>
              <a:t> or </a:t>
            </a:r>
            <a:r>
              <a:rPr lang="en-US" dirty="0" err="1"/>
              <a:t>oculofacioskeletal</a:t>
            </a:r>
            <a:r>
              <a:rPr lang="en-US" dirty="0"/>
              <a:t> </a:t>
            </a:r>
            <a:r>
              <a:rPr lang="en-US" dirty="0" err="1"/>
              <a:t>myorrhythmia</a:t>
            </a:r>
            <a:endParaRPr lang="en-US" dirty="0"/>
          </a:p>
          <a:p>
            <a:r>
              <a:rPr lang="en-US" dirty="0"/>
              <a:t>Sleep disorders</a:t>
            </a:r>
          </a:p>
        </p:txBody>
      </p:sp>
    </p:spTree>
    <p:extLst>
      <p:ext uri="{BB962C8B-B14F-4D97-AF65-F5344CB8AC3E}">
        <p14:creationId xmlns:p14="http://schemas.microsoft.com/office/powerpoint/2010/main" val="359380712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14ADC0-5570-4F74-8A96-B8A274D40981}"/>
              </a:ext>
            </a:extLst>
          </p:cNvPr>
          <p:cNvSpPr>
            <a:spLocks noGrp="1"/>
          </p:cNvSpPr>
          <p:nvPr>
            <p:ph type="title"/>
          </p:nvPr>
        </p:nvSpPr>
        <p:spPr/>
        <p:txBody>
          <a:bodyPr/>
          <a:lstStyle/>
          <a:p>
            <a:r>
              <a:rPr lang="en-US" dirty="0"/>
              <a:t>Diagnosis</a:t>
            </a:r>
          </a:p>
        </p:txBody>
      </p:sp>
      <p:sp>
        <p:nvSpPr>
          <p:cNvPr id="3" name="Content Placeholder 2">
            <a:extLst>
              <a:ext uri="{FF2B5EF4-FFF2-40B4-BE49-F238E27FC236}">
                <a16:creationId xmlns:a16="http://schemas.microsoft.com/office/drawing/2014/main" id="{80104E16-CC09-4574-8496-3FF726EF6501}"/>
              </a:ext>
            </a:extLst>
          </p:cNvPr>
          <p:cNvSpPr>
            <a:spLocks noGrp="1"/>
          </p:cNvSpPr>
          <p:nvPr>
            <p:ph idx="1"/>
          </p:nvPr>
        </p:nvSpPr>
        <p:spPr/>
        <p:txBody>
          <a:bodyPr/>
          <a:lstStyle/>
          <a:p>
            <a:r>
              <a:rPr lang="en-US" dirty="0"/>
              <a:t>Upper endoscopy with small bowel biopsies</a:t>
            </a:r>
          </a:p>
          <a:p>
            <a:r>
              <a:rPr lang="en-US" dirty="0"/>
              <a:t>PAS positive inclusions in macrophages (foamy)</a:t>
            </a:r>
          </a:p>
          <a:p>
            <a:r>
              <a:rPr lang="en-US" i="1" dirty="0"/>
              <a:t>T. </a:t>
            </a:r>
            <a:r>
              <a:rPr lang="en-US" i="1" dirty="0" err="1"/>
              <a:t>whippleii</a:t>
            </a:r>
            <a:r>
              <a:rPr lang="en-US" i="1" dirty="0"/>
              <a:t> </a:t>
            </a:r>
            <a:r>
              <a:rPr lang="en-US" dirty="0"/>
              <a:t>PCR is diagnostic</a:t>
            </a:r>
          </a:p>
          <a:p>
            <a:endParaRPr lang="en-US" dirty="0"/>
          </a:p>
          <a:p>
            <a:r>
              <a:rPr lang="en-US" dirty="0"/>
              <a:t>50% of patients with Whipple disease have asymptomatic CNS involvement</a:t>
            </a:r>
          </a:p>
          <a:p>
            <a:r>
              <a:rPr lang="en-US" b="1" dirty="0"/>
              <a:t>PCR assessment of CSF is recommended in all patients!</a:t>
            </a:r>
          </a:p>
          <a:p>
            <a:r>
              <a:rPr lang="en-US" b="1" dirty="0"/>
              <a:t>Treatment: </a:t>
            </a:r>
            <a:r>
              <a:rPr lang="en-US" dirty="0"/>
              <a:t>IV CTX 2g/d 2 weeks -&gt; Bactrim 12 months</a:t>
            </a:r>
          </a:p>
        </p:txBody>
      </p:sp>
    </p:spTree>
    <p:extLst>
      <p:ext uri="{BB962C8B-B14F-4D97-AF65-F5344CB8AC3E}">
        <p14:creationId xmlns:p14="http://schemas.microsoft.com/office/powerpoint/2010/main" val="428428497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39F9-C984-4B83-8222-377328419E3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8176FC1B-B857-4E7A-BF99-6F406783F51D}"/>
              </a:ext>
            </a:extLst>
          </p:cNvPr>
          <p:cNvSpPr>
            <a:spLocks noGrp="1"/>
          </p:cNvSpPr>
          <p:nvPr>
            <p:ph idx="1"/>
          </p:nvPr>
        </p:nvSpPr>
        <p:spPr/>
        <p:txBody>
          <a:bodyPr>
            <a:normAutofit/>
          </a:bodyPr>
          <a:lstStyle/>
          <a:p>
            <a:pPr marL="0" indent="0">
              <a:buNone/>
            </a:pPr>
            <a:r>
              <a:rPr lang="en-US" dirty="0"/>
              <a:t>A 34-year-old woman with a history of alcohol-related liver disease, now status post deceased donor liver transplantation 14 days ago, presents with acute-onset headache, confusion, and visual disturbances. Her blood pressure is 190/120 mmHg.</a:t>
            </a:r>
          </a:p>
        </p:txBody>
      </p:sp>
    </p:spTree>
    <p:extLst>
      <p:ext uri="{BB962C8B-B14F-4D97-AF65-F5344CB8AC3E}">
        <p14:creationId xmlns:p14="http://schemas.microsoft.com/office/powerpoint/2010/main" val="47212219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pic>
        <p:nvPicPr>
          <p:cNvPr id="6" name="screen-recorder-thu-jun-20-2024-10-56-08(1)">
            <a:hlinkClick r:id="" action="ppaction://media"/>
            <a:extLst>
              <a:ext uri="{FF2B5EF4-FFF2-40B4-BE49-F238E27FC236}">
                <a16:creationId xmlns:a16="http://schemas.microsoft.com/office/drawing/2014/main" id="{8169D3AE-87F6-4EC4-9BBE-BC5B39B00DA1}"/>
              </a:ext>
            </a:extLst>
          </p:cNvPr>
          <p:cNvPicPr>
            <a:picLocks noChangeAspect="1"/>
          </p:cNvPicPr>
          <p:nvPr>
            <a:videoFile r:link="rId2"/>
            <p:extLst>
              <p:ext uri="{DAA4B4D4-6D71-4841-9C94-3DE7FCFB9230}">
                <p14:media xmlns:p14="http://schemas.microsoft.com/office/powerpoint/2010/main" r:embed="rId1"/>
              </p:ext>
            </p:extLst>
          </p:nvPr>
        </p:nvPicPr>
        <p:blipFill rotWithShape="1">
          <a:blip r:embed="rId4"/>
          <a:srcRect l="26060" t="15663" r="43864" b="4929"/>
          <a:stretch/>
        </p:blipFill>
        <p:spPr>
          <a:xfrm>
            <a:off x="3736109" y="57709"/>
            <a:ext cx="4719782" cy="6800291"/>
          </a:xfrm>
          <a:prstGeom prst="rect">
            <a:avLst/>
          </a:prstGeom>
        </p:spPr>
      </p:pic>
    </p:spTree>
    <p:extLst>
      <p:ext uri="{BB962C8B-B14F-4D97-AF65-F5344CB8AC3E}">
        <p14:creationId xmlns:p14="http://schemas.microsoft.com/office/powerpoint/2010/main" val="1066990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3244"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39F9-C984-4B83-8222-377328419E3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8176FC1B-B857-4E7A-BF99-6F406783F51D}"/>
              </a:ext>
            </a:extLst>
          </p:cNvPr>
          <p:cNvSpPr>
            <a:spLocks noGrp="1"/>
          </p:cNvSpPr>
          <p:nvPr>
            <p:ph idx="1"/>
          </p:nvPr>
        </p:nvSpPr>
        <p:spPr/>
        <p:txBody>
          <a:bodyPr>
            <a:normAutofit/>
          </a:bodyPr>
          <a:lstStyle/>
          <a:p>
            <a:pPr marL="0" indent="0">
              <a:buNone/>
            </a:pPr>
            <a:r>
              <a:rPr lang="en-US" dirty="0"/>
              <a:t>What’s the diagnosis?</a:t>
            </a:r>
          </a:p>
          <a:p>
            <a:pPr marL="0" indent="0">
              <a:buNone/>
            </a:pPr>
            <a:endParaRPr lang="en-US" dirty="0"/>
          </a:p>
          <a:p>
            <a:pPr marL="514350" indent="-514350">
              <a:buAutoNum type="alphaUcParenR"/>
            </a:pPr>
            <a:r>
              <a:rPr lang="en-US" dirty="0"/>
              <a:t>Posterior reversible encephalopathy syndrome (PRES)</a:t>
            </a:r>
          </a:p>
          <a:p>
            <a:pPr marL="514350" indent="-514350">
              <a:buAutoNum type="alphaUcParenR"/>
            </a:pPr>
            <a:r>
              <a:rPr lang="en-US" dirty="0" err="1"/>
              <a:t>Hyperperfusion</a:t>
            </a:r>
            <a:r>
              <a:rPr lang="en-US" dirty="0"/>
              <a:t> encephalopathy</a:t>
            </a:r>
          </a:p>
          <a:p>
            <a:pPr marL="514350" indent="-514350">
              <a:buAutoNum type="alphaUcParenR"/>
            </a:pPr>
            <a:r>
              <a:rPr lang="en-US" dirty="0"/>
              <a:t>Reversible posterior leukoencephalopathy syndrome (RPLS)</a:t>
            </a:r>
          </a:p>
          <a:p>
            <a:pPr marL="514350" indent="-514350">
              <a:buAutoNum type="alphaUcParenR"/>
            </a:pPr>
            <a:r>
              <a:rPr lang="en-US" dirty="0"/>
              <a:t>Brain capillary leak syndrome</a:t>
            </a:r>
          </a:p>
        </p:txBody>
      </p:sp>
    </p:spTree>
    <p:extLst>
      <p:ext uri="{BB962C8B-B14F-4D97-AF65-F5344CB8AC3E}">
        <p14:creationId xmlns:p14="http://schemas.microsoft.com/office/powerpoint/2010/main" val="413801749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A35A-6947-4354-9148-DFC072C2091D}"/>
              </a:ext>
            </a:extLst>
          </p:cNvPr>
          <p:cNvSpPr>
            <a:spLocks noGrp="1"/>
          </p:cNvSpPr>
          <p:nvPr>
            <p:ph type="title"/>
          </p:nvPr>
        </p:nvSpPr>
        <p:spPr/>
        <p:txBody>
          <a:bodyPr/>
          <a:lstStyle/>
          <a:p>
            <a:r>
              <a:rPr lang="en-US" dirty="0"/>
              <a:t>RPLS/PRES</a:t>
            </a:r>
          </a:p>
        </p:txBody>
      </p:sp>
      <p:pic>
        <p:nvPicPr>
          <p:cNvPr id="5" name="Content Placeholder 4">
            <a:extLst>
              <a:ext uri="{FF2B5EF4-FFF2-40B4-BE49-F238E27FC236}">
                <a16:creationId xmlns:a16="http://schemas.microsoft.com/office/drawing/2014/main" id="{AF7599D8-FD8E-41D4-B20E-68C7E6A68925}"/>
              </a:ext>
            </a:extLst>
          </p:cNvPr>
          <p:cNvPicPr>
            <a:picLocks noGrp="1" noChangeAspect="1"/>
          </p:cNvPicPr>
          <p:nvPr>
            <p:ph idx="1"/>
          </p:nvPr>
        </p:nvPicPr>
        <p:blipFill>
          <a:blip r:embed="rId2"/>
          <a:stretch>
            <a:fillRect/>
          </a:stretch>
        </p:blipFill>
        <p:spPr>
          <a:xfrm>
            <a:off x="1356651" y="2314363"/>
            <a:ext cx="9478698" cy="3038899"/>
          </a:xfrm>
        </p:spPr>
      </p:pic>
    </p:spTree>
    <p:extLst>
      <p:ext uri="{BB962C8B-B14F-4D97-AF65-F5344CB8AC3E}">
        <p14:creationId xmlns:p14="http://schemas.microsoft.com/office/powerpoint/2010/main" val="42432274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8DA35A-6947-4354-9148-DFC072C2091D}"/>
              </a:ext>
            </a:extLst>
          </p:cNvPr>
          <p:cNvSpPr>
            <a:spLocks noGrp="1"/>
          </p:cNvSpPr>
          <p:nvPr>
            <p:ph type="title"/>
          </p:nvPr>
        </p:nvSpPr>
        <p:spPr/>
        <p:txBody>
          <a:bodyPr/>
          <a:lstStyle/>
          <a:p>
            <a:r>
              <a:rPr lang="en-US" dirty="0"/>
              <a:t>RPLS/PRES</a:t>
            </a:r>
          </a:p>
        </p:txBody>
      </p:sp>
      <p:sp>
        <p:nvSpPr>
          <p:cNvPr id="4" name="Content Placeholder 3">
            <a:extLst>
              <a:ext uri="{FF2B5EF4-FFF2-40B4-BE49-F238E27FC236}">
                <a16:creationId xmlns:a16="http://schemas.microsoft.com/office/drawing/2014/main" id="{A8B75355-15C6-436A-BB16-69A7343F69F7}"/>
              </a:ext>
            </a:extLst>
          </p:cNvPr>
          <p:cNvSpPr>
            <a:spLocks noGrp="1"/>
          </p:cNvSpPr>
          <p:nvPr>
            <p:ph idx="1"/>
          </p:nvPr>
        </p:nvSpPr>
        <p:spPr/>
        <p:txBody>
          <a:bodyPr/>
          <a:lstStyle/>
          <a:p>
            <a:r>
              <a:rPr lang="en-US" dirty="0"/>
              <a:t>Encephalopathy</a:t>
            </a:r>
          </a:p>
          <a:p>
            <a:r>
              <a:rPr lang="en-US" dirty="0"/>
              <a:t>Headache</a:t>
            </a:r>
          </a:p>
          <a:p>
            <a:r>
              <a:rPr lang="en-US" dirty="0"/>
              <a:t>Seizures (SE in 18%)</a:t>
            </a:r>
          </a:p>
          <a:p>
            <a:r>
              <a:rPr lang="en-US" dirty="0"/>
              <a:t>Visual deficits/neglect/hallucinations</a:t>
            </a:r>
          </a:p>
          <a:p>
            <a:r>
              <a:rPr lang="en-US" b="1" dirty="0"/>
              <a:t>Hypertension</a:t>
            </a:r>
            <a:r>
              <a:rPr lang="en-US" dirty="0"/>
              <a:t> (not always present though)</a:t>
            </a:r>
            <a:endParaRPr lang="en-US" b="1" dirty="0"/>
          </a:p>
          <a:p>
            <a:endParaRPr lang="en-US" dirty="0"/>
          </a:p>
        </p:txBody>
      </p:sp>
    </p:spTree>
    <p:extLst>
      <p:ext uri="{BB962C8B-B14F-4D97-AF65-F5344CB8AC3E}">
        <p14:creationId xmlns:p14="http://schemas.microsoft.com/office/powerpoint/2010/main" val="36857759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rgbClr val="43464B"/>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6ACD732-0DC6-48AE-9382-BA6EA63FAD30}"/>
              </a:ext>
            </a:extLst>
          </p:cNvPr>
          <p:cNvPicPr>
            <a:picLocks noChangeAspect="1"/>
          </p:cNvPicPr>
          <p:nvPr/>
        </p:nvPicPr>
        <p:blipFill rotWithShape="1">
          <a:blip r:embed="rId2"/>
          <a:srcRect l="2018" t="1388" r="1143" b="1619"/>
          <a:stretch/>
        </p:blipFill>
        <p:spPr>
          <a:xfrm>
            <a:off x="578841" y="428052"/>
            <a:ext cx="3546764" cy="5809672"/>
          </a:xfrm>
          <a:prstGeom prst="rect">
            <a:avLst/>
          </a:prstGeom>
        </p:spPr>
      </p:pic>
      <p:pic>
        <p:nvPicPr>
          <p:cNvPr id="11" name="Picture 10">
            <a:extLst>
              <a:ext uri="{FF2B5EF4-FFF2-40B4-BE49-F238E27FC236}">
                <a16:creationId xmlns:a16="http://schemas.microsoft.com/office/drawing/2014/main" id="{30C658D1-344B-4427-9906-31DD83A2999C}"/>
              </a:ext>
            </a:extLst>
          </p:cNvPr>
          <p:cNvPicPr>
            <a:picLocks noChangeAspect="1"/>
          </p:cNvPicPr>
          <p:nvPr/>
        </p:nvPicPr>
        <p:blipFill>
          <a:blip r:embed="rId3"/>
          <a:stretch>
            <a:fillRect/>
          </a:stretch>
        </p:blipFill>
        <p:spPr>
          <a:xfrm>
            <a:off x="4806309" y="1"/>
            <a:ext cx="3299059" cy="4128380"/>
          </a:xfrm>
          <a:prstGeom prst="rect">
            <a:avLst/>
          </a:prstGeom>
        </p:spPr>
      </p:pic>
      <p:pic>
        <p:nvPicPr>
          <p:cNvPr id="13" name="Picture 12">
            <a:extLst>
              <a:ext uri="{FF2B5EF4-FFF2-40B4-BE49-F238E27FC236}">
                <a16:creationId xmlns:a16="http://schemas.microsoft.com/office/drawing/2014/main" id="{70767DCD-4C3C-48A5-A085-DD4B7BFE0FF5}"/>
              </a:ext>
            </a:extLst>
          </p:cNvPr>
          <p:cNvPicPr>
            <a:picLocks noChangeAspect="1"/>
          </p:cNvPicPr>
          <p:nvPr/>
        </p:nvPicPr>
        <p:blipFill>
          <a:blip r:embed="rId4"/>
          <a:stretch>
            <a:fillRect/>
          </a:stretch>
        </p:blipFill>
        <p:spPr>
          <a:xfrm>
            <a:off x="8254840" y="1"/>
            <a:ext cx="3201054" cy="4128380"/>
          </a:xfrm>
          <a:prstGeom prst="rect">
            <a:avLst/>
          </a:prstGeom>
        </p:spPr>
      </p:pic>
      <p:pic>
        <p:nvPicPr>
          <p:cNvPr id="15" name="Picture 14">
            <a:extLst>
              <a:ext uri="{FF2B5EF4-FFF2-40B4-BE49-F238E27FC236}">
                <a16:creationId xmlns:a16="http://schemas.microsoft.com/office/drawing/2014/main" id="{81CAD319-37BE-430F-AE97-A04DA6C5ACA8}"/>
              </a:ext>
            </a:extLst>
          </p:cNvPr>
          <p:cNvPicPr>
            <a:picLocks noChangeAspect="1"/>
          </p:cNvPicPr>
          <p:nvPr/>
        </p:nvPicPr>
        <p:blipFill>
          <a:blip r:embed="rId5"/>
          <a:stretch>
            <a:fillRect/>
          </a:stretch>
        </p:blipFill>
        <p:spPr>
          <a:xfrm>
            <a:off x="6619653" y="4225956"/>
            <a:ext cx="3220124" cy="2165136"/>
          </a:xfrm>
          <a:prstGeom prst="rect">
            <a:avLst/>
          </a:prstGeom>
        </p:spPr>
      </p:pic>
      <p:sp>
        <p:nvSpPr>
          <p:cNvPr id="17" name="TextBox 16">
            <a:extLst>
              <a:ext uri="{FF2B5EF4-FFF2-40B4-BE49-F238E27FC236}">
                <a16:creationId xmlns:a16="http://schemas.microsoft.com/office/drawing/2014/main" id="{EFD607B8-CA19-4DB6-934B-C54F385F6D83}"/>
              </a:ext>
            </a:extLst>
          </p:cNvPr>
          <p:cNvSpPr txBox="1"/>
          <p:nvPr/>
        </p:nvSpPr>
        <p:spPr>
          <a:xfrm>
            <a:off x="6094492" y="6488668"/>
            <a:ext cx="6097508" cy="369332"/>
          </a:xfrm>
          <a:prstGeom prst="rect">
            <a:avLst/>
          </a:prstGeom>
          <a:noFill/>
        </p:spPr>
        <p:txBody>
          <a:bodyPr wrap="square">
            <a:spAutoFit/>
          </a:bodyPr>
          <a:lstStyle/>
          <a:p>
            <a:pPr algn="r"/>
            <a:r>
              <a:rPr lang="en-US" dirty="0">
                <a:solidFill>
                  <a:schemeClr val="bg1"/>
                </a:solidFill>
              </a:rPr>
              <a:t>N </a:t>
            </a:r>
            <a:r>
              <a:rPr lang="en-US" dirty="0" err="1">
                <a:solidFill>
                  <a:schemeClr val="bg1"/>
                </a:solidFill>
              </a:rPr>
              <a:t>Engl</a:t>
            </a:r>
            <a:r>
              <a:rPr lang="en-US" dirty="0">
                <a:solidFill>
                  <a:schemeClr val="bg1"/>
                </a:solidFill>
              </a:rPr>
              <a:t> J Med. 2023 Jun 8;388(23):2171-2178</a:t>
            </a:r>
          </a:p>
        </p:txBody>
      </p:sp>
    </p:spTree>
    <p:extLst>
      <p:ext uri="{BB962C8B-B14F-4D97-AF65-F5344CB8AC3E}">
        <p14:creationId xmlns:p14="http://schemas.microsoft.com/office/powerpoint/2010/main" val="1151238739"/>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EAAA9E-D4BE-4726-90DD-8A797B163CB0}"/>
              </a:ext>
            </a:extLst>
          </p:cNvPr>
          <p:cNvSpPr>
            <a:spLocks noGrp="1"/>
          </p:cNvSpPr>
          <p:nvPr>
            <p:ph type="title"/>
          </p:nvPr>
        </p:nvSpPr>
        <p:spPr/>
        <p:txBody>
          <a:bodyPr/>
          <a:lstStyle/>
          <a:p>
            <a:r>
              <a:rPr lang="en-US" dirty="0"/>
              <a:t>Quiz</a:t>
            </a:r>
          </a:p>
        </p:txBody>
      </p:sp>
      <p:sp>
        <p:nvSpPr>
          <p:cNvPr id="3" name="Content Placeholder 2">
            <a:extLst>
              <a:ext uri="{FF2B5EF4-FFF2-40B4-BE49-F238E27FC236}">
                <a16:creationId xmlns:a16="http://schemas.microsoft.com/office/drawing/2014/main" id="{AAF99A24-9B97-418F-9F1B-3C35C8B1D751}"/>
              </a:ext>
            </a:extLst>
          </p:cNvPr>
          <p:cNvSpPr>
            <a:spLocks noGrp="1"/>
          </p:cNvSpPr>
          <p:nvPr>
            <p:ph idx="1"/>
          </p:nvPr>
        </p:nvSpPr>
        <p:spPr/>
        <p:txBody>
          <a:bodyPr/>
          <a:lstStyle/>
          <a:p>
            <a:pPr marL="0" indent="0">
              <a:buNone/>
            </a:pPr>
            <a:r>
              <a:rPr lang="en-US" dirty="0"/>
              <a:t>Which of the following is present in the AAN practice guidelines for the diagnosis of RPLS?</a:t>
            </a:r>
          </a:p>
          <a:p>
            <a:pPr marL="0" indent="0">
              <a:buNone/>
            </a:pPr>
            <a:endParaRPr lang="en-US" dirty="0"/>
          </a:p>
          <a:p>
            <a:pPr marL="514350" indent="-514350">
              <a:buAutoNum type="alphaUcParenR"/>
            </a:pPr>
            <a:r>
              <a:rPr lang="en-US" dirty="0"/>
              <a:t>Hypertension</a:t>
            </a:r>
          </a:p>
          <a:p>
            <a:pPr marL="514350" indent="-514350">
              <a:buAutoNum type="alphaUcParenR"/>
            </a:pPr>
            <a:r>
              <a:rPr lang="en-US" dirty="0"/>
              <a:t>Immunosuppressive therapy</a:t>
            </a:r>
          </a:p>
          <a:p>
            <a:pPr marL="514350" indent="-514350">
              <a:buAutoNum type="alphaUcParenR"/>
            </a:pPr>
            <a:r>
              <a:rPr lang="en-US" dirty="0"/>
              <a:t>Typical MRI findings</a:t>
            </a:r>
          </a:p>
          <a:p>
            <a:pPr marL="514350" indent="-514350">
              <a:buAutoNum type="alphaUcParenR"/>
            </a:pPr>
            <a:r>
              <a:rPr lang="en-US" dirty="0"/>
              <a:t>Seizures</a:t>
            </a:r>
          </a:p>
        </p:txBody>
      </p:sp>
    </p:spTree>
    <p:extLst>
      <p:ext uri="{BB962C8B-B14F-4D97-AF65-F5344CB8AC3E}">
        <p14:creationId xmlns:p14="http://schemas.microsoft.com/office/powerpoint/2010/main" val="350251785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8C1C5F-401A-4358-BC01-1E7D10DD9602}"/>
              </a:ext>
            </a:extLst>
          </p:cNvPr>
          <p:cNvSpPr>
            <a:spLocks noGrp="1"/>
          </p:cNvSpPr>
          <p:nvPr>
            <p:ph type="title"/>
          </p:nvPr>
        </p:nvSpPr>
        <p:spPr/>
        <p:txBody>
          <a:bodyPr/>
          <a:lstStyle/>
          <a:p>
            <a:r>
              <a:rPr lang="en-US" dirty="0"/>
              <a:t>RPLS/PRES</a:t>
            </a:r>
          </a:p>
        </p:txBody>
      </p:sp>
      <p:sp>
        <p:nvSpPr>
          <p:cNvPr id="3" name="Content Placeholder 2">
            <a:extLst>
              <a:ext uri="{FF2B5EF4-FFF2-40B4-BE49-F238E27FC236}">
                <a16:creationId xmlns:a16="http://schemas.microsoft.com/office/drawing/2014/main" id="{E6C169DA-208F-44F0-9BCA-2BDB170800BC}"/>
              </a:ext>
            </a:extLst>
          </p:cNvPr>
          <p:cNvSpPr>
            <a:spLocks noGrp="1"/>
          </p:cNvSpPr>
          <p:nvPr>
            <p:ph idx="1"/>
          </p:nvPr>
        </p:nvSpPr>
        <p:spPr/>
        <p:txBody>
          <a:bodyPr/>
          <a:lstStyle/>
          <a:p>
            <a:r>
              <a:rPr lang="en-US" dirty="0"/>
              <a:t>No formal criteria had been set forth to diagnose this</a:t>
            </a:r>
          </a:p>
          <a:p>
            <a:r>
              <a:rPr lang="en-US" dirty="0"/>
              <a:t>For post transplant patients, we typically switch immunosuppression to same class or out of class</a:t>
            </a:r>
          </a:p>
          <a:p>
            <a:pPr lvl="1"/>
            <a:r>
              <a:rPr lang="en-US" dirty="0"/>
              <a:t>i.e. Switch tacrolimus to cyclosporine, or sirolimus</a:t>
            </a:r>
          </a:p>
        </p:txBody>
      </p:sp>
    </p:spTree>
    <p:extLst>
      <p:ext uri="{BB962C8B-B14F-4D97-AF65-F5344CB8AC3E}">
        <p14:creationId xmlns:p14="http://schemas.microsoft.com/office/powerpoint/2010/main" val="712902410"/>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353FA-0346-41C2-A7C0-7D24505F2F5E}"/>
              </a:ext>
            </a:extLst>
          </p:cNvPr>
          <p:cNvSpPr>
            <a:spLocks noGrp="1"/>
          </p:cNvSpPr>
          <p:nvPr>
            <p:ph type="title"/>
          </p:nvPr>
        </p:nvSpPr>
        <p:spPr/>
        <p:txBody>
          <a:bodyPr/>
          <a:lstStyle/>
          <a:p>
            <a:r>
              <a:rPr lang="en-US" dirty="0"/>
              <a:t>Take home points</a:t>
            </a:r>
          </a:p>
        </p:txBody>
      </p:sp>
      <p:sp>
        <p:nvSpPr>
          <p:cNvPr id="3" name="Content Placeholder 2">
            <a:extLst>
              <a:ext uri="{FF2B5EF4-FFF2-40B4-BE49-F238E27FC236}">
                <a16:creationId xmlns:a16="http://schemas.microsoft.com/office/drawing/2014/main" id="{E9E7B4F4-193D-4357-9981-134CCD00E416}"/>
              </a:ext>
            </a:extLst>
          </p:cNvPr>
          <p:cNvSpPr>
            <a:spLocks noGrp="1"/>
          </p:cNvSpPr>
          <p:nvPr>
            <p:ph idx="1"/>
          </p:nvPr>
        </p:nvSpPr>
        <p:spPr>
          <a:xfrm>
            <a:off x="469900" y="1187329"/>
            <a:ext cx="11252200" cy="1233535"/>
          </a:xfrm>
        </p:spPr>
        <p:txBody>
          <a:bodyPr anchor="ctr"/>
          <a:lstStyle/>
          <a:p>
            <a:pPr marL="0" indent="0" algn="ctr">
              <a:buNone/>
            </a:pPr>
            <a:r>
              <a:rPr lang="en-US" dirty="0"/>
              <a:t>Don’t get your neurology knowledge from a liver doctor!</a:t>
            </a:r>
          </a:p>
        </p:txBody>
      </p:sp>
      <p:pic>
        <p:nvPicPr>
          <p:cNvPr id="5" name="Picture 4" descr="A cartoon of a liver holding a coffee cup&#10;&#10;Description automatically generated">
            <a:extLst>
              <a:ext uri="{FF2B5EF4-FFF2-40B4-BE49-F238E27FC236}">
                <a16:creationId xmlns:a16="http://schemas.microsoft.com/office/drawing/2014/main" id="{8BC5A73A-2D8A-4A0E-A88F-01A2357170FE}"/>
              </a:ext>
            </a:extLst>
          </p:cNvPr>
          <p:cNvPicPr>
            <a:picLocks noChangeAspect="1"/>
          </p:cNvPicPr>
          <p:nvPr/>
        </p:nvPicPr>
        <p:blipFill>
          <a:blip r:embed="rId2"/>
          <a:stretch>
            <a:fillRect/>
          </a:stretch>
        </p:blipFill>
        <p:spPr>
          <a:xfrm>
            <a:off x="3573101" y="2420864"/>
            <a:ext cx="5244974" cy="4317884"/>
          </a:xfrm>
          <a:prstGeom prst="rect">
            <a:avLst/>
          </a:prstGeom>
        </p:spPr>
      </p:pic>
    </p:spTree>
    <p:extLst>
      <p:ext uri="{BB962C8B-B14F-4D97-AF65-F5344CB8AC3E}">
        <p14:creationId xmlns:p14="http://schemas.microsoft.com/office/powerpoint/2010/main" val="30740445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16773</TotalTime>
  <Words>3083</Words>
  <Application>Microsoft Office PowerPoint</Application>
  <PresentationFormat>Widescreen</PresentationFormat>
  <Paragraphs>424</Paragraphs>
  <Slides>109</Slides>
  <Notes>11</Notes>
  <HiddenSlides>0</HiddenSlides>
  <MMClips>6</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109</vt:i4>
      </vt:variant>
    </vt:vector>
  </HeadingPairs>
  <TitlesOfParts>
    <vt:vector size="114" baseType="lpstr">
      <vt:lpstr>Aptos</vt:lpstr>
      <vt:lpstr>Arial</vt:lpstr>
      <vt:lpstr>Georgia</vt:lpstr>
      <vt:lpstr>Lucida Handwriting</vt:lpstr>
      <vt:lpstr>Office Theme</vt:lpstr>
      <vt:lpstr>Neurologic Complications of Liver and GI Diseases</vt:lpstr>
      <vt:lpstr>Liver-Gut-Brain Axis</vt:lpstr>
      <vt:lpstr>Hepatic Encephalopathy</vt:lpstr>
      <vt:lpstr>Hepatic Encephalopathy</vt:lpstr>
      <vt:lpstr>PowerPoint Presentation</vt:lpstr>
      <vt:lpstr>Neuropathophysiology</vt:lpstr>
      <vt:lpstr>PowerPoint Presentation</vt:lpstr>
      <vt:lpstr>PowerPoint Presentation</vt:lpstr>
      <vt:lpstr>PowerPoint Presentation</vt:lpstr>
      <vt:lpstr>PowerPoint Presentation</vt:lpstr>
      <vt:lpstr>PowerPoint Presentation</vt:lpstr>
      <vt:lpstr>Axes of Hepatic Encephalopathy</vt:lpstr>
      <vt:lpstr>PowerPoint Presentation</vt:lpstr>
      <vt:lpstr>PowerPoint Presentation</vt:lpstr>
      <vt:lpstr>Clinical Hepatic Encephalopathy</vt:lpstr>
      <vt:lpstr>Minimal or covert HE</vt:lpstr>
      <vt:lpstr>Anything on EEG?</vt:lpstr>
      <vt:lpstr>PowerPoint Presentation</vt:lpstr>
      <vt:lpstr>EEG in hepatic encephalopathy</vt:lpstr>
      <vt:lpstr>Stroop Test</vt:lpstr>
      <vt:lpstr>PowerPoint Presentation</vt:lpstr>
      <vt:lpstr>PowerPoint Presentation</vt:lpstr>
      <vt:lpstr>PowerPoint Presentation</vt:lpstr>
      <vt:lpstr>Asterixis</vt:lpstr>
      <vt:lpstr>Asterixis</vt:lpstr>
      <vt:lpstr>PowerPoint Presentation</vt:lpstr>
      <vt:lpstr>Quiz</vt:lpstr>
      <vt:lpstr>PowerPoint Presentation</vt:lpstr>
      <vt:lpstr>Quiz</vt:lpstr>
      <vt:lpstr>PowerPoint Presentation</vt:lpstr>
      <vt:lpstr>How about ammonia levels?</vt:lpstr>
      <vt:lpstr>PowerPoint Presentation</vt:lpstr>
      <vt:lpstr>PowerPoint Presentation</vt:lpstr>
      <vt:lpstr>PowerPoint Presentation</vt:lpstr>
      <vt:lpstr>Treatment of Hepatic Encephalopathy</vt:lpstr>
      <vt:lpstr>Quiz</vt:lpstr>
      <vt:lpstr>Acquired Non-Wilsonian  Hepatocerebral Degeneration</vt:lpstr>
      <vt:lpstr>Hepatocerebral Degeneration</vt:lpstr>
      <vt:lpstr>PowerPoint Presentation</vt:lpstr>
      <vt:lpstr>How to differentiate from Wilson?</vt:lpstr>
      <vt:lpstr>How to differentiate from Wilson?</vt:lpstr>
      <vt:lpstr>So if Manganese is so toxic, why not chelate it?</vt:lpstr>
      <vt:lpstr>Treatment of Hepatocerebral Degeneration</vt:lpstr>
      <vt:lpstr>Treatment of Hepatocerebral Degeneration</vt:lpstr>
      <vt:lpstr>Treatment of Hepatocerebral Degeneration</vt:lpstr>
      <vt:lpstr>Does liver transplant reverse hepatocerebral degeneration?</vt:lpstr>
      <vt:lpstr>PowerPoint Presentation</vt:lpstr>
      <vt:lpstr>PowerPoint Presentation</vt:lpstr>
      <vt:lpstr>Quiz</vt:lpstr>
      <vt:lpstr>PowerPoint Presentation</vt:lpstr>
      <vt:lpstr>Wilson Disease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Quiz</vt:lpstr>
      <vt:lpstr>Neurologic Wilson Disease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Quiz</vt:lpstr>
      <vt:lpstr>Quiz</vt:lpstr>
      <vt:lpstr>Face of the miniature Panda</vt:lpstr>
      <vt:lpstr>MRI Findings in Wilson Disease</vt:lpstr>
      <vt:lpstr>PowerPoint Presentation</vt:lpstr>
      <vt:lpstr>PowerPoint Presentation</vt:lpstr>
      <vt:lpstr>PowerPoint Presentation</vt:lpstr>
      <vt:lpstr>PowerPoint Presentation</vt:lpstr>
      <vt:lpstr>How to diagnose neurologic Wilson Disease?</vt:lpstr>
      <vt:lpstr>PowerPoint Presentation</vt:lpstr>
      <vt:lpstr>PowerPoint Presentation</vt:lpstr>
      <vt:lpstr>Treatment</vt:lpstr>
      <vt:lpstr>Quiz</vt:lpstr>
      <vt:lpstr>PowerPoint Presentation</vt:lpstr>
      <vt:lpstr>Quiz</vt:lpstr>
      <vt:lpstr>PowerPoint Presentation</vt:lpstr>
      <vt:lpstr>Whipple Disease</vt:lpstr>
      <vt:lpstr>PowerPoint Presentation</vt:lpstr>
      <vt:lpstr>PowerPoint Presentation</vt:lpstr>
      <vt:lpstr>Whipple Disease</vt:lpstr>
      <vt:lpstr>PowerPoint Presentation</vt:lpstr>
      <vt:lpstr>PowerPoint Presentation</vt:lpstr>
      <vt:lpstr>Neurologic Manifestations of Whipple Disease</vt:lpstr>
      <vt:lpstr>PowerPoint Presentation</vt:lpstr>
      <vt:lpstr>Oculomasticatory Myorrhythmia</vt:lpstr>
      <vt:lpstr>Oculomasticatory Myorrhythmia</vt:lpstr>
      <vt:lpstr>Neurologic Manifestations of Whipple Disease</vt:lpstr>
      <vt:lpstr>Diagnosis</vt:lpstr>
      <vt:lpstr>Quiz</vt:lpstr>
      <vt:lpstr>PowerPoint Presentation</vt:lpstr>
      <vt:lpstr>Quiz</vt:lpstr>
      <vt:lpstr>RPLS/PRES</vt:lpstr>
      <vt:lpstr>RPLS/PRES</vt:lpstr>
      <vt:lpstr>PowerPoint Presentation</vt:lpstr>
      <vt:lpstr>Quiz</vt:lpstr>
      <vt:lpstr>RPLS/PRES</vt:lpstr>
      <vt:lpstr>Take home points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Neurologic Complications of Liver and GI Diseases</dc:title>
  <dc:creator>Mohammad Almeqdadi</dc:creator>
  <cp:lastModifiedBy>Almeqdadi, Mohammad</cp:lastModifiedBy>
  <cp:revision>188</cp:revision>
  <dcterms:created xsi:type="dcterms:W3CDTF">2024-05-27T14:10:13Z</dcterms:created>
  <dcterms:modified xsi:type="dcterms:W3CDTF">2024-06-21T18:23:10Z</dcterms:modified>
</cp:coreProperties>
</file>