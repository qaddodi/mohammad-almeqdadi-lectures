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5b2764-33e8-e915-520e-03cac68c5e35}">
          <p14:sldIdLst>
            <p14:sldId id="256"/>
            <p14:sldId id="257"/>
            <p14:sldId id="258"/>
          </p14:sldIdLst>
        </p14:section>
        <p14:section name="How we got here" id="{e2cd1de4-6cc5-c929-c8c9-dcced719c58a}">
          <p14:sldIdLst>
            <p14:sldId id="259"/>
            <p14:sldId id="260"/>
            <p14:sldId id="261"/>
          </p14:sldIdLst>
        </p14:section>
        <p14:section name="Is it worth it?" id="{acf7c480-7638-dc9c-a34f-b9ab35beed12}">
          <p14:sldIdLst>
            <p14:sldId id="262"/>
            <p14:sldId id="263"/>
          </p14:sldIdLst>
        </p14:section>
        <p14:section name="When to refer" id="{e69fba6f-fa30-5e40-cc82-1cdf060bc287}">
          <p14:sldIdLst>
            <p14:sldId id="264"/>
            <p14:sldId id="265"/>
            <p14:sldId id="266"/>
            <p14:sldId id="267"/>
            <p14:sldId id="268"/>
            <p14:sldId id="269"/>
            <p14:sldId id="270"/>
            <p14:sldId id="271"/>
          </p14:sldIdLst>
        </p14:section>
        <p14:section name="Who can get a liver now" id="{7e959807-0e69-e9c3-28ea-5da223369f75}">
          <p14:sldIdLst>
            <p14:sldId id="272"/>
            <p14:sldId id="273"/>
            <p14:sldId id="274"/>
            <p14:sldId id="275"/>
            <p14:sldId id="276"/>
            <p14:sldId id="277"/>
            <p14:sldId id="278"/>
            <p14:sldId id="279"/>
            <p14:sldId id="280"/>
            <p14:sldId id="281"/>
            <p14:sldId id="282"/>
            <p14:sldId id="283"/>
          </p14:sldIdLst>
        </p14:section>
        <p14:section name="From Maine to Boston" id="{933a20bc-3e90-98de-9d32-a08a10996615}">
          <p14:sldIdLst>
            <p14:sldId id="284"/>
            <p14:sldId id="285"/>
            <p14:sldId id="286"/>
            <p14:sldId id="287"/>
            <p14:sldId id="288"/>
          </p14:sldIdLst>
        </p14:section>
        <p14:section name="Where the livers come from" id="{3dff5a27-4a3c-5594-280c-6da65484b412}">
          <p14:sldIdLst>
            <p14:sldId id="289"/>
            <p14:sldId id="290"/>
            <p14:sldId id="291"/>
            <p14:sldId id="292"/>
            <p14:sldId id="293"/>
            <p14:sldId id="294"/>
            <p14:sldId id="295"/>
            <p14:sldId id="296"/>
          </p14:sldIdLst>
        </p14:section>
        <p14:section name="Your patient had a transplant" id="{92e21a4c-d66f-fa88-e856-70a7caa85155}">
          <p14:sldIdLst>
            <p14:sldId id="297"/>
            <p14:sldId id="298"/>
            <p14:sldId id="299"/>
            <p14:sldId id="300"/>
            <p14:sldId id="301"/>
            <p14:sldId id="302"/>
            <p14:sldId id="303"/>
            <p14:sldId id="304"/>
          </p14:sldIdLst>
        </p14:section>
        <p14:section name="Appendix" id="{19a08067-ba12-8e32-e5ee-c1bb2382ba62}">
          <p14:sldIdLst>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Below 15, transplant raised the one-year risk of death compared with staying on the list. At 15-17 the risk tipped toward benefit, though not yet significantly, and from 18 up the benefit was clear and grew with MELD. So 15 was the crossover. It set the old benefit threshold for transplant; it was never a study of when to refer. That was 2005 data. Next: what MELD 3.0 changed, and what the new guideline says about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raised the 1-year risk of death vs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raised it</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Crossover: benefit begins</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Clear benefit, larger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Statement 1: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92040"/>
            <a:ext cx="11094415" cy="128016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 (statements 3-4). </a:t>
            </a: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(statement 2).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74720"/>
                <a:gridCol w="6217920"/>
                <a:gridCol w="1399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4" name="Sign"/>
          <p:cNvSpPr txBox="1"/>
          <p:nvPr/>
        </p:nvSpPr>
        <p:spPr>
          <a:xfrm>
            <a:off x="8647774" y="1908578"/>
            <a:ext cx="1821591" cy="849394"/>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I-95 SOUTH</a:t>
            </a:r>
            <a:endParaRPr lang="en-US" sz="1300" dirty="0"/>
          </a:p>
          <a:p>
            <a:pPr algn="ctr" indent="0" marL="0">
              <a:buNone/>
            </a:pPr>
            <a:r>
              <a:rPr lang="en-US" sz="2600" b="1" dirty="0">
                <a:solidFill>
                  <a:srgbClr val="FFFFFF"/>
                </a:solidFill>
                <a:latin typeface="Calibri" pitchFamily="34" charset="0"/>
                <a:ea typeface="Calibri" pitchFamily="34" charset="-122"/>
                <a:cs typeface="Calibri" pitchFamily="34" charset="-120"/>
              </a:rPr>
              <a:t>Boston</a:t>
            </a:r>
            <a:endParaRPr lang="en-US" sz="13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148840"/>
                <a:gridCol w="7589520"/>
                <a:gridCol w="1536192"/>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93976"/>
                <a:gridCol w="7680960"/>
                <a:gridCol w="149961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2026-10-27T19:58:44Z</dcterms:created>
  <dcterms:modified xsi:type="dcterms:W3CDTF">2026-10-27T19:58:44Z</dcterms:modified>
</cp:coreProperties>
</file>