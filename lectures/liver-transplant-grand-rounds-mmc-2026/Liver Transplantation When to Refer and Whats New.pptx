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295198-9488-7dc0-a57f-8a4c7d619743}">
          <p14:sldIdLst>
            <p14:sldId id="256"/>
            <p14:sldId id="257"/>
            <p14:sldId id="258"/>
          </p14:sldIdLst>
        </p14:section>
        <p14:section name="How we got here" id="{2fff6b1e-72f9-9102-530d-b0385246217f}">
          <p14:sldIdLst>
            <p14:sldId id="259"/>
            <p14:sldId id="260"/>
            <p14:sldId id="261"/>
          </p14:sldIdLst>
        </p14:section>
        <p14:section name="Is it worth it?" id="{5c80b951-730b-1e40-99ff-7c35ea1a6b0b}">
          <p14:sldIdLst>
            <p14:sldId id="262"/>
            <p14:sldId id="263"/>
          </p14:sldIdLst>
        </p14:section>
        <p14:section name="When to refer" id="{25f4d819-ccbf-70f7-a6ce-3f570d969aa4}">
          <p14:sldIdLst>
            <p14:sldId id="264"/>
            <p14:sldId id="265"/>
            <p14:sldId id="266"/>
            <p14:sldId id="267"/>
            <p14:sldId id="268"/>
            <p14:sldId id="269"/>
            <p14:sldId id="270"/>
            <p14:sldId id="271"/>
          </p14:sldIdLst>
        </p14:section>
        <p14:section name="Who can get a liver now" id="{298dea0e-6562-fc68-1aaf-1355ebd19804}">
          <p14:sldIdLst>
            <p14:sldId id="272"/>
            <p14:sldId id="273"/>
            <p14:sldId id="274"/>
            <p14:sldId id="275"/>
            <p14:sldId id="276"/>
            <p14:sldId id="277"/>
            <p14:sldId id="278"/>
            <p14:sldId id="279"/>
            <p14:sldId id="280"/>
            <p14:sldId id="281"/>
            <p14:sldId id="282"/>
          </p14:sldIdLst>
        </p14:section>
        <p14:section name="From Maine to Boston" id="{86c9c1e8-ccb3-3ca8-806e-4d1fa390a368}">
          <p14:sldIdLst>
            <p14:sldId id="283"/>
            <p14:sldId id="284"/>
            <p14:sldId id="285"/>
            <p14:sldId id="286"/>
            <p14:sldId id="287"/>
          </p14:sldIdLst>
        </p14:section>
        <p14:section name="Where the livers come from" id="{c2278026-42f2-6b8b-16e5-7ff85b00f0ff}">
          <p14:sldIdLst>
            <p14:sldId id="288"/>
            <p14:sldId id="289"/>
            <p14:sldId id="290"/>
            <p14:sldId id="291"/>
            <p14:sldId id="292"/>
            <p14:sldId id="293"/>
            <p14:sldId id="294"/>
            <p14:sldId id="295"/>
            <p14:sldId id="296"/>
            <p14:sldId id="297"/>
            <p14:sldId id="298"/>
            <p14:sldId id="299"/>
          </p14:sldIdLst>
        </p14:section>
        <p14:section name="Your patient had a transplant" id="{a9154a99-fc74-8913-f37d-9cdf689a5605}">
          <p14:sldIdLst>
            <p14:sldId id="300"/>
            <p14:sldId id="301"/>
            <p14:sldId id="302"/>
            <p14:sldId id="303"/>
            <p14:sldId id="304"/>
            <p14:sldId id="305"/>
            <p14:sldId id="306"/>
          </p14:sldIdLst>
        </p14:section>
        <p14:section name="Appendix" id="{e2b51f58-be74-4bde-9071-16753a4ccb2d}">
          <p14:sldIdLst>
            <p14:sldId id="307"/>
            <p14:sldId id="308"/>
            <p14:sldId id="309"/>
            <p14:sldId id="310"/>
            <p14:sldId id="31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 Start by thanking the people who invited me, by name, and the Maine Med hepatology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 Say that last sentence out loud, so the cardiologists and surgeons know to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 Optional line: "The case report gives his alkaline phosphatase in Bodansky units. I had to look that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 Optional line: "MELD was built to predict who would die after a TIPS. A year later it was deciding who gets a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comparing transplant with staying on the list. Below 15, transplant raised the one-year risk of death. At 15-17 there was no significant difference either way; that was the crossover. From 18 up the benefit was clear and grew with MELD. A 2009 decision analysis (Perkins) came to the same threshold. The newer data move it down. Malamon 2023, in the MELD-Na era, found a one-year benefit from deceased donor transplant starting at MELD-Na 12 (HR 0.74), whether or not the patient had HCC. That is what the 2025 guideline cites for 'may start at 12'. With a living donor, Jackson 2022 found benefit from MELD-Na 11; that's later in the talk. The guideline says there isn't contemporary data for a MELD 3.0 threshold. These are waitlist studies: they compare transplant with staying on the list, not when to refer. Refer after any decompensation whatever the score; without one, the guideline's writing group still sees 15 as reasonable. Evaluation and listing take time, so referral comes before the point of benefit, not at it. Backup if asked: a 2025 Liver Transplantation analysis reported benefit at MELD 3.0 12-14 (PMID 41378690); I haven't verified it, and the guideline doesn't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line before the formula: "I know what you're thinking... no, nobody has to calculate it." 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2025 AASLD/AST guidelines number each recommendation as a statement; the numbers are in the footers if anyone wants to look one up. In the figure,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For ALF the guideline says barriers like insurance, substance use or infection shouldn't stop the referral, because experienced centers can often get around them, and complications can make the transfer unsafe later. For ACLF it says to consider referral; calling the same day is our practice, not the guideline's wording.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Scores: HCC, HPS and PoPH get MMaT minus 3; colorectal metastases MMaT minus 20 with a floor of 15; iCCA MMaT minus 3. HPS needs room-air PaO2 under 60 with documented shunting, portal hypertension and no significant primary lung disease. PoPH needs mPAP 35 or more and PVR 3 WU or more before treatment, and after treatment mPAP under 35 with PVR under 5, or mPAP 35 to under 45 with PVR under 3. HCC, HPS and PoPH are standard exceptions in policy; the two oncology rows go through the review board under its guidance, in place since February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 The US series ran from December 2017 to March 2025, and exception points have gone through the review board since February 2025.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 Optional line: "Many of you know this drive. Your patients make it in February, with a caregiver and a bag of pill bottles."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The circles are always drawn around the donor hospital, and where a patient stands in them depends on the hospital where they're listed. Portland is roughly 85 nautical miles from Boston (check before saying it), so a liver donated here falls inside the first 150-mile circle for patients listed in Boston.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 Many DCD livers start in ICUs like yours; Maine's donor hospitals work with New England Donor Services, the same organization as Boston's (confirm with the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what happens in a DCD donation before showing the clocks. Ask: when do you think the liver starts to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the ICU people here have seen: withdrawal in the ICU or the OR, the family there, and the wait. The clock that matters most is functional warm ischemia: from the moment saturation drops below 80% or mean pressure below 60, to the cold flush. That is the ILTS definition; ASTS used a mean pressure below 60, and the UK a saturation below 70 or systolic below 50. The ILTS doesn't set a hard cutoff: past 30 minutes graft loss goes up, and the call weighs the donor, the graft, the recipient and how the liver will be preserved. ASTS suggested 20 to 30 minutes at most, and the UK doesn't use the liver past 30. If the donor doesn't die within the program's window after withdrawal, the liver isn't used. Withdrawal in the OR shortens the functional time, which is what ILTS recommends where local rules allow. The no-touch wait after the heart stops ranges from 2 to 20 minutes around the world and is usually 5 in the US. Nobody touches the donor during it, and death is declared by a team that has nothing to do with the transplant. Hepatectomy time, from the flush until the liver is on ice, matters too. After that come cold storage and the recipient's own warm ischemia during the implant. NRP restarts warm oxygenated blood flow to the abdominal organs after death is declared, and in observational studies NRP livers have had fewer bile duct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 In the diagram, the left side is brain-death donors and the right side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allograft dysfunction is the Olthoff definition: bilirubin 10 or more or INR 1.6 or more on day 7, or AST or ALT over 2000 in the first week. Non-anastomotic strictures are the ischemic cholangiopathy from two slides back. Nasralla randomized 220 transplants and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would you expect better or worse livers, and do you think it is legal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NRP comes in two forms: abdominal only, or thoraco-abdominal, where the heart beats again in the body (diagram in the appendix). The vessels to the brain are clamped and cut first either way. This is a retrospective US multicenter study, not a trial; the Spanish and UK registry data point the same way, with fewer bile duct problems after NRP. On the rules: the US has no statute that permits or bans NRP. Critics, including the American College of Physicians, argue that restarting circulation after death is declared may not fit the Uniform Determination of Death Act, which almost every state has adopted. HRSA has been asking the OPTN for NRP data since 2024, the November 2025 safety notice made the vessel steps explicit, and the OPTN workgroup's draft policy still has to go to the board. This is likely to change, so check before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 Show of hands: who has had a transplant patient on their service in the last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Maine Med has its own kidney transplant program, so: "Your kidney transplant colleagues know this list better than anyone." Optional line: "The usual story: Paxlovid from urgent care, and a tacrolimus level of 40 three days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Skin cancer is the most common cancer after transplant. Also in the guideline: BP, weight, glucose and lipids every year; metformin first for diabetes otherwise; amlodipine or felodipine for blood pressure, or an ACE inhibitor or ARB with CVD or CKD; GLP-1 RA for obesity; nephrology at CKD stage 4, and for CKD the transplant team lowers tacrolimus, so please don't stop it. Pregnancy waits a year with 6 months of stable graft function, and mycophenolate is stopped 6 weeks before conception in women and 90 days in men. The guideline also covers bone health and a yearly check for depression and alcohol use. The transplant team manages immunosuppression around surgery.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MELD at transplant in Boston: have the current median for our area ready as a rough number. How do your patients do: point to the SRTR program-specific report and the national 93.5% at one year; no Tufts survival numbers. Relapse after early transplant for alcohol-associated hepatitis: describe the alcohol program and monitoring after transplant. MaineCare and out-of-state transplant, and travel or lodging help for families. Listing at more than one center. Whether the patient has to stay within a few hours of Boston once listed. Whether NRP is done in Maine hospitals: ask the hosts or New England Donor Services beforehand. Pig livers: one sentence on the 2026 J Hepatol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start only after death is declared and the no-touch wait is over. The circuit is basically ECMO: reservoir, pump, oxygenator and heater. The liver gets warm oxygenated blood again, usually for an hour or two, and the team follows lactate and liver tests to decide whether to use it. TA-NRP is one of the two ways DCD hearts are recovered in the US; the other takes the heart straight onto a machine. Cutting and venting the vessels is what keeps blood from reaching the brain. The November 2025 OPTN/HRSA safety notice spelled those steps out for both setups after concerns about unintended brain reperfusion.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Text 1"/>
          <p:cNvSpPr txBox="1"/>
          <p:nvPr/>
        </p:nvSpPr>
        <p:spPr>
          <a:xfrm>
            <a:off x="457200" y="1371600"/>
            <a:ext cx="1920240" cy="685800"/>
          </a:xfrm>
          <a:prstGeom prst="rect">
            <a:avLst/>
          </a:prstGeom>
          <a:noFill/>
          <a:ln/>
        </p:spPr>
        <p:txBody>
          <a:bodyPr wrap="square" lIns="25400" tIns="25400" rIns="25400" bIns="25400" rtlCol="0" anchor="ctr"/>
          <a:lstStyle/>
          <a:p>
            <a:pPr algn="r" indent="0" marL="0">
              <a:buNone/>
            </a:pPr>
            <a:r>
              <a:rPr lang="en-US" sz="1500" b="1" dirty="0">
                <a:solidFill>
                  <a:srgbClr val="000000"/>
                </a:solidFill>
                <a:latin typeface="Georgia" pitchFamily="34" charset="0"/>
                <a:ea typeface="Georgia" pitchFamily="34" charset="-122"/>
                <a:cs typeface="Georgia" pitchFamily="34" charset="-120"/>
              </a:rPr>
              <a:t>2005</a:t>
            </a:r>
            <a:endParaRPr lang="en-US" sz="1500" dirty="0"/>
          </a:p>
          <a:p>
            <a:pPr algn="r" indent="0" marL="0">
              <a:buNone/>
            </a:pPr>
            <a:r>
              <a:rPr lang="en-US" sz="1300" b="1" dirty="0">
                <a:solidFill>
                  <a:srgbClr val="000000"/>
                </a:solidFill>
                <a:latin typeface="Georgia" pitchFamily="34" charset="0"/>
                <a:ea typeface="Georgia" pitchFamily="34" charset="-122"/>
                <a:cs typeface="Georgia" pitchFamily="34" charset="-120"/>
              </a:rPr>
              <a:t>MELD</a:t>
            </a:r>
            <a:endParaRPr lang="en-US" sz="1500" dirty="0"/>
          </a:p>
        </p:txBody>
      </p:sp>
      <p:sp>
        <p:nvSpPr>
          <p:cNvPr id="4" name="Shape 2"/>
          <p:cNvSpPr/>
          <p:nvPr/>
        </p:nvSpPr>
        <p:spPr>
          <a:xfrm>
            <a:off x="2514600" y="1371600"/>
            <a:ext cx="2377440" cy="685800"/>
          </a:xfrm>
          <a:prstGeom prst="rect">
            <a:avLst/>
          </a:prstGeom>
          <a:solidFill>
            <a:srgbClr val="C00000"/>
          </a:solidFill>
          <a:ln w="19050">
            <a:solidFill>
              <a:srgbClr val="FFFFFF"/>
            </a:solidFill>
            <a:prstDash val="solid"/>
          </a:ln>
        </p:spPr>
      </p:sp>
      <p:sp>
        <p:nvSpPr>
          <p:cNvPr id="5" name="Text 3"/>
          <p:cNvSpPr txBox="1"/>
          <p:nvPr/>
        </p:nvSpPr>
        <p:spPr>
          <a:xfrm>
            <a:off x="2514600" y="1371600"/>
            <a:ext cx="237744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6" name="Text 4"/>
          <p:cNvSpPr txBox="1"/>
          <p:nvPr/>
        </p:nvSpPr>
        <p:spPr>
          <a:xfrm>
            <a:off x="2542032" y="2112264"/>
            <a:ext cx="232257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Transplant raised the 1-year risk of death (HR 3.6)</a:t>
            </a:r>
            <a:endParaRPr lang="en-US" sz="1400" dirty="0"/>
          </a:p>
        </p:txBody>
      </p:sp>
      <p:sp>
        <p:nvSpPr>
          <p:cNvPr id="7" name="Shape 5"/>
          <p:cNvSpPr/>
          <p:nvPr/>
        </p:nvSpPr>
        <p:spPr>
          <a:xfrm>
            <a:off x="4892040" y="1371600"/>
            <a:ext cx="1828800" cy="685800"/>
          </a:xfrm>
          <a:prstGeom prst="rect">
            <a:avLst/>
          </a:prstGeom>
          <a:solidFill>
            <a:srgbClr val="E8B4B4"/>
          </a:solidFill>
          <a:ln w="19050">
            <a:solidFill>
              <a:srgbClr val="FFFFFF"/>
            </a:solidFill>
            <a:prstDash val="solid"/>
          </a:ln>
        </p:spPr>
      </p:sp>
      <p:sp>
        <p:nvSpPr>
          <p:cNvPr id="8" name="Text 6"/>
          <p:cNvSpPr txBox="1"/>
          <p:nvPr/>
        </p:nvSpPr>
        <p:spPr>
          <a:xfrm>
            <a:off x="4892040" y="1371600"/>
            <a:ext cx="182880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9" name="Text 7"/>
          <p:cNvSpPr txBox="1"/>
          <p:nvPr/>
        </p:nvSpPr>
        <p:spPr>
          <a:xfrm>
            <a:off x="4919472" y="2112264"/>
            <a:ext cx="177393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Still raised it (HR 2.4)</a:t>
            </a:r>
            <a:endParaRPr lang="en-US" sz="1400" dirty="0"/>
          </a:p>
        </p:txBody>
      </p:sp>
      <p:sp>
        <p:nvSpPr>
          <p:cNvPr id="10" name="Shape 8"/>
          <p:cNvSpPr/>
          <p:nvPr/>
        </p:nvSpPr>
        <p:spPr>
          <a:xfrm>
            <a:off x="6720840" y="1371600"/>
            <a:ext cx="1828800" cy="685800"/>
          </a:xfrm>
          <a:prstGeom prst="rect">
            <a:avLst/>
          </a:prstGeom>
          <a:solidFill>
            <a:srgbClr val="D9D9D9"/>
          </a:solidFill>
          <a:ln w="19050">
            <a:solidFill>
              <a:srgbClr val="FFFFFF"/>
            </a:solidFill>
            <a:prstDash val="solid"/>
          </a:ln>
        </p:spPr>
      </p:sp>
      <p:sp>
        <p:nvSpPr>
          <p:cNvPr id="11" name="Text 9"/>
          <p:cNvSpPr txBox="1"/>
          <p:nvPr/>
        </p:nvSpPr>
        <p:spPr>
          <a:xfrm>
            <a:off x="6720840" y="1371600"/>
            <a:ext cx="182880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2" name="Text 10"/>
          <p:cNvSpPr txBox="1"/>
          <p:nvPr/>
        </p:nvSpPr>
        <p:spPr>
          <a:xfrm>
            <a:off x="6748272" y="2112264"/>
            <a:ext cx="177393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No significant difference: the crossover</a:t>
            </a:r>
            <a:endParaRPr lang="en-US" sz="1400" dirty="0"/>
          </a:p>
        </p:txBody>
      </p:sp>
      <p:sp>
        <p:nvSpPr>
          <p:cNvPr id="13" name="Shape 11"/>
          <p:cNvSpPr/>
          <p:nvPr/>
        </p:nvSpPr>
        <p:spPr>
          <a:xfrm>
            <a:off x="8549640" y="1371600"/>
            <a:ext cx="3093415" cy="685800"/>
          </a:xfrm>
          <a:prstGeom prst="rect">
            <a:avLst/>
          </a:prstGeom>
          <a:solidFill>
            <a:srgbClr val="1F4E79"/>
          </a:solidFill>
          <a:ln w="19050">
            <a:solidFill>
              <a:srgbClr val="FFFFFF"/>
            </a:solidFill>
            <a:prstDash val="solid"/>
          </a:ln>
        </p:spPr>
      </p:sp>
      <p:sp>
        <p:nvSpPr>
          <p:cNvPr id="14" name="Text 12"/>
          <p:cNvSpPr txBox="1"/>
          <p:nvPr/>
        </p:nvSpPr>
        <p:spPr>
          <a:xfrm>
            <a:off x="8549640" y="1371600"/>
            <a:ext cx="3093415"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5" name="Text 13"/>
          <p:cNvSpPr txBox="1"/>
          <p:nvPr/>
        </p:nvSpPr>
        <p:spPr>
          <a:xfrm>
            <a:off x="8577072" y="2112264"/>
            <a:ext cx="3038551"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38% lower risk at 18-20, 96% lower at 40</a:t>
            </a:r>
            <a:endParaRPr lang="en-US" sz="1400" dirty="0"/>
          </a:p>
        </p:txBody>
      </p:sp>
      <p:sp>
        <p:nvSpPr>
          <p:cNvPr id="16" name="Text 14"/>
          <p:cNvSpPr txBox="1"/>
          <p:nvPr/>
        </p:nvSpPr>
        <p:spPr>
          <a:xfrm>
            <a:off x="457200" y="2971800"/>
            <a:ext cx="1920240" cy="685800"/>
          </a:xfrm>
          <a:prstGeom prst="rect">
            <a:avLst/>
          </a:prstGeom>
          <a:noFill/>
          <a:ln/>
        </p:spPr>
        <p:txBody>
          <a:bodyPr wrap="square" lIns="25400" tIns="25400" rIns="25400" bIns="25400" rtlCol="0" anchor="ctr"/>
          <a:lstStyle/>
          <a:p>
            <a:pPr algn="r" indent="0" marL="0">
              <a:buNone/>
            </a:pPr>
            <a:r>
              <a:rPr lang="en-US" sz="1500" b="1" dirty="0">
                <a:solidFill>
                  <a:srgbClr val="000000"/>
                </a:solidFill>
                <a:latin typeface="Georgia" pitchFamily="34" charset="0"/>
                <a:ea typeface="Georgia" pitchFamily="34" charset="-122"/>
                <a:cs typeface="Georgia" pitchFamily="34" charset="-120"/>
              </a:rPr>
              <a:t>2023</a:t>
            </a:r>
            <a:endParaRPr lang="en-US" sz="1500" dirty="0"/>
          </a:p>
          <a:p>
            <a:pPr algn="r" indent="0" marL="0">
              <a:buNone/>
            </a:pPr>
            <a:r>
              <a:rPr lang="en-US" sz="1300" b="1" dirty="0">
                <a:solidFill>
                  <a:srgbClr val="000000"/>
                </a:solidFill>
                <a:latin typeface="Georgia" pitchFamily="34" charset="0"/>
                <a:ea typeface="Georgia" pitchFamily="34" charset="-122"/>
                <a:cs typeface="Georgia" pitchFamily="34" charset="-120"/>
              </a:rPr>
              <a:t>MELD-Na</a:t>
            </a:r>
            <a:endParaRPr lang="en-US" sz="1500" dirty="0"/>
          </a:p>
        </p:txBody>
      </p:sp>
      <p:sp>
        <p:nvSpPr>
          <p:cNvPr id="17" name="Shape 15"/>
          <p:cNvSpPr/>
          <p:nvPr/>
        </p:nvSpPr>
        <p:spPr>
          <a:xfrm>
            <a:off x="2514600" y="2971800"/>
            <a:ext cx="2377440" cy="685800"/>
          </a:xfrm>
          <a:prstGeom prst="rect">
            <a:avLst/>
          </a:prstGeom>
          <a:solidFill>
            <a:srgbClr val="E8B4B4"/>
          </a:solidFill>
          <a:ln w="19050">
            <a:solidFill>
              <a:srgbClr val="FFFFFF"/>
            </a:solidFill>
            <a:prstDash val="solid"/>
          </a:ln>
        </p:spPr>
      </p:sp>
      <p:sp>
        <p:nvSpPr>
          <p:cNvPr id="18" name="Text 16"/>
          <p:cNvSpPr txBox="1"/>
          <p:nvPr/>
        </p:nvSpPr>
        <p:spPr>
          <a:xfrm>
            <a:off x="2514600" y="2971800"/>
            <a:ext cx="2377440" cy="6858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Below 12</a:t>
            </a:r>
            <a:endParaRPr lang="en-US" sz="1600" dirty="0"/>
          </a:p>
        </p:txBody>
      </p:sp>
      <p:sp>
        <p:nvSpPr>
          <p:cNvPr id="19" name="Text 17"/>
          <p:cNvSpPr txBox="1"/>
          <p:nvPr/>
        </p:nvSpPr>
        <p:spPr>
          <a:xfrm>
            <a:off x="2542032" y="3712464"/>
            <a:ext cx="2322576"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No significant benefit</a:t>
            </a:r>
            <a:endParaRPr lang="en-US" sz="1400" dirty="0"/>
          </a:p>
        </p:txBody>
      </p:sp>
      <p:sp>
        <p:nvSpPr>
          <p:cNvPr id="20" name="Shape 18"/>
          <p:cNvSpPr/>
          <p:nvPr/>
        </p:nvSpPr>
        <p:spPr>
          <a:xfrm>
            <a:off x="4892040" y="2971800"/>
            <a:ext cx="6751015" cy="685800"/>
          </a:xfrm>
          <a:prstGeom prst="rect">
            <a:avLst/>
          </a:prstGeom>
          <a:solidFill>
            <a:srgbClr val="1F4E79"/>
          </a:solidFill>
          <a:ln w="19050">
            <a:solidFill>
              <a:srgbClr val="FFFFFF"/>
            </a:solidFill>
            <a:prstDash val="solid"/>
          </a:ln>
        </p:spPr>
      </p:sp>
      <p:sp>
        <p:nvSpPr>
          <p:cNvPr id="21" name="Text 19"/>
          <p:cNvSpPr txBox="1"/>
          <p:nvPr/>
        </p:nvSpPr>
        <p:spPr>
          <a:xfrm>
            <a:off x="4892040" y="2971800"/>
            <a:ext cx="6751015"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 and up</a:t>
            </a:r>
            <a:endParaRPr lang="en-US" sz="1600" dirty="0"/>
          </a:p>
        </p:txBody>
      </p:sp>
      <p:sp>
        <p:nvSpPr>
          <p:cNvPr id="22" name="Text 20"/>
          <p:cNvSpPr txBox="1"/>
          <p:nvPr/>
        </p:nvSpPr>
        <p:spPr>
          <a:xfrm>
            <a:off x="4919472" y="3712464"/>
            <a:ext cx="6696151" cy="6858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Calibri" pitchFamily="34" charset="0"/>
                <a:ea typeface="Calibri" pitchFamily="34" charset="-122"/>
                <a:cs typeface="Calibri" pitchFamily="34" charset="-120"/>
              </a:rPr>
              <a:t>1-year benefit (HR 0.74), more than 9 life-years gained at 12</a:t>
            </a:r>
            <a:endParaRPr lang="en-US" sz="1400" dirty="0"/>
          </a:p>
        </p:txBody>
      </p:sp>
      <p:sp>
        <p:nvSpPr>
          <p:cNvPr id="23" name="Text 21"/>
          <p:cNvSpPr txBox="1"/>
          <p:nvPr/>
        </p:nvSpPr>
        <p:spPr>
          <a:xfrm>
            <a:off x="822960" y="4800600"/>
            <a:ext cx="10545775" cy="9144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Neither number has been set for MELD 3.0. Referral is a separate question: refer after any decompensating event, whatever the MELD. Without one, 15 is still reasonable.</a:t>
            </a:r>
            <a:endParaRPr lang="en-US" sz="1900" dirty="0"/>
          </a:p>
        </p:txBody>
      </p:sp>
      <p:sp>
        <p:nvSpPr>
          <p:cNvPr id="2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Malamon JS et al. Int J Surg 2023;109(9):2714-20 [PMID: 37226874]. Dove L et al. Hepatology 2026, statement 1 [PMID: 41405234]</a:t>
            </a:r>
            <a:endParaRPr lang="en-US" sz="1000" dirty="0"/>
          </a:p>
        </p:txBody>
      </p:sp>
      <p:sp>
        <p:nvSpPr>
          <p:cNvPr id="2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The 2025 guideline: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redrawn from Dove L et al. AASLD/AST candidate evaluation guideline. Hepatology 2026;83(6):1609-45 [PMID: 41405234], statement 1</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46320"/>
            <a:ext cx="11094415" cy="137160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Insurance, substance use or infection shouldn't hold up the call.</a:t>
            </a:r>
            <a:endParaRPr lang="en-US" sz="1700" dirty="0"/>
          </a:p>
          <a:p>
            <a:pPr algn="ctr" indent="0" marL="0">
              <a:spcBef>
                <a:spcPts val="1000"/>
              </a:spcBef>
              <a:buNone/>
            </a:pP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consider referral early, while the patient can still travel.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 statements 37-38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977640"/>
                <a:gridCol w="7114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 2025 AASLD/AST guideline says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with a living donor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None of these is a cutoff on its own.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 38, 41, 43, 48-49, 51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463040"/>
          <a:ext cx="11277295" cy="914400"/>
        </p:xfrm>
        <a:graphic>
          <a:graphicData uri="http://schemas.openxmlformats.org/drawingml/2006/table">
            <a:tbl>
              <a:tblPr/>
              <a:tblGrid>
                <a:gridCol w="6601968"/>
                <a:gridCol w="4672584"/>
              </a:tblGrid>
              <a:tr h="9144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Exception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What's needed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Hepatocellular carcinoma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 lesion 2-5 cm, or 2-3 lesions each 1-3 cm</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AFP ≤1000 (if &gt;1000, must fall below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Hepatopulmonary syndrome or portopulmonary 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Confirmed by testing; a standard exception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Colorectal metastases or intrahepatic cholangiocarcinoma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Case by case, through the review board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34440"/>
            <a:ext cx="4526280" cy="5029200"/>
          </a:xfrm>
          <a:prstGeom prst="rect">
            <a:avLst/>
          </a:prstGeom>
          <a:noFill/>
          <a:ln/>
        </p:spPr>
        <p:txBody>
          <a:bodyPr wrap="square" lIns="50800" tIns="50800" rIns="50800" bIns="50800" rtlCol="0" anchor="t"/>
          <a:lstStyle/>
          <a:p>
            <a:pPr marL="228600" indent="-228600">
              <a:spcBef>
                <a:spcPts val="1000"/>
              </a:spcBef>
              <a:buSzPct val="100000"/>
              <a:buChar char="–"/>
            </a:pPr>
            <a:r>
              <a:rPr lang="en-US" sz="1600" b="1" dirty="0">
                <a:solidFill>
                  <a:srgbClr val="000000"/>
                </a:solidFill>
                <a:latin typeface="Georgia" pitchFamily="34" charset="0"/>
                <a:ea typeface="Georgia" pitchFamily="34" charset="-122"/>
                <a:cs typeface="Georgia" pitchFamily="34" charset="-120"/>
              </a:rPr>
              <a:t>20 centers in France, Belgium and Italy, not the US</a:t>
            </a:r>
            <a:endParaRPr lang="en-US" sz="1600" dirty="0"/>
          </a:p>
          <a:p>
            <a:pPr marL="228600" indent="-228600">
              <a:spcBef>
                <a:spcPts val="1000"/>
              </a:spcBef>
              <a:buSzPct val="100000"/>
              <a:buChar char="–"/>
            </a:pPr>
            <a:r>
              <a:rPr lang="en-US" sz="16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600" dirty="0"/>
          </a:p>
          <a:p>
            <a:pPr marL="228600" indent="-228600">
              <a:spcBef>
                <a:spcPts val="1000"/>
              </a:spcBef>
              <a:buSzPct val="100000"/>
              <a:buChar char="–"/>
            </a:pPr>
            <a:r>
              <a:rPr lang="en-US" sz="16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600" dirty="0"/>
          </a:p>
          <a:p>
            <a:pPr marL="228600" indent="-228600">
              <a:spcBef>
                <a:spcPts val="1000"/>
              </a:spcBef>
              <a:buSzPct val="100000"/>
              <a:buChar char="–"/>
            </a:pPr>
            <a:r>
              <a:rPr lang="en-US" sz="16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600" dirty="0"/>
          </a:p>
          <a:p>
            <a:pPr marL="228600" indent="-228600">
              <a:spcBef>
                <a:spcPts val="1000"/>
              </a:spcBef>
              <a:buSzPct val="100000"/>
              <a:buChar char="–"/>
            </a:pPr>
            <a:r>
              <a:rPr lang="en-US" sz="1600" b="1" dirty="0">
                <a:solidFill>
                  <a:srgbClr val="000000"/>
                </a:solidFill>
                <a:latin typeface="Georgia" pitchFamily="34" charset="0"/>
                <a:ea typeface="Georgia" pitchFamily="34" charset="-122"/>
                <a:cs typeface="Georgia" pitchFamily="34" charset="-120"/>
              </a:rPr>
              <a:t>In the US: 158 transplants at 33 centers, 3-year survival 67%, about half from living donors</a:t>
            </a:r>
            <a:endParaRPr lang="en-US" sz="1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 Chávez-Villa M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snowy highway heading south, with a sign for I-95 South to Bost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Use the Liver Frailty Index; it takes 3 minutes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 statements 33, 44-45</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Arrow"/>
          <p:cNvSpPr/>
          <p:nvPr/>
        </p:nvSpPr>
        <p:spPr>
          <a:xfrm>
            <a:off x="731520" y="3246120"/>
            <a:ext cx="10789920" cy="914"/>
          </a:xfrm>
          <a:prstGeom prst="line">
            <a:avLst/>
          </a:prstGeom>
          <a:noFill/>
          <a:ln w="19050">
            <a:solidFill>
              <a:srgbClr val="000000"/>
            </a:solidFill>
            <a:prstDash val="solid"/>
            <a:tailEnd type="triangle"/>
          </a:ln>
        </p:spPr>
      </p:sp>
      <p:sp>
        <p:nvSpPr>
          <p:cNvPr id="6" name="Tick"/>
          <p:cNvSpPr/>
          <p:nvPr/>
        </p:nvSpPr>
        <p:spPr>
          <a:xfrm>
            <a:off x="1005840" y="3136392"/>
            <a:ext cx="0" cy="219456"/>
          </a:xfrm>
          <a:prstGeom prst="line">
            <a:avLst/>
          </a:prstGeom>
          <a:noFill/>
          <a:ln w="19050">
            <a:solidFill>
              <a:srgbClr val="000000"/>
            </a:solidFill>
            <a:prstDash val="solid"/>
          </a:ln>
        </p:spPr>
      </p:sp>
      <p:sp>
        <p:nvSpPr>
          <p:cNvPr id="7" name="Text 5"/>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8" name="Tick"/>
          <p:cNvSpPr/>
          <p:nvPr/>
        </p:nvSpPr>
        <p:spPr>
          <a:xfrm>
            <a:off x="5943600" y="3136392"/>
            <a:ext cx="0" cy="219456"/>
          </a:xfrm>
          <a:prstGeom prst="line">
            <a:avLst/>
          </a:prstGeom>
          <a:noFill/>
          <a:ln w="19050">
            <a:solidFill>
              <a:srgbClr val="000000"/>
            </a:solidFill>
            <a:prstDash val="solid"/>
          </a:ln>
        </p:spPr>
      </p:sp>
      <p:sp>
        <p:nvSpPr>
          <p:cNvPr id="9" name="Text 7"/>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0" name="Tick"/>
          <p:cNvSpPr/>
          <p:nvPr/>
        </p:nvSpPr>
        <p:spPr>
          <a:xfrm>
            <a:off x="7406640" y="3136392"/>
            <a:ext cx="0" cy="219456"/>
          </a:xfrm>
          <a:prstGeom prst="line">
            <a:avLst/>
          </a:prstGeom>
          <a:noFill/>
          <a:ln w="19050">
            <a:solidFill>
              <a:srgbClr val="000000"/>
            </a:solidFill>
            <a:prstDash val="solid"/>
          </a:ln>
        </p:spPr>
      </p:sp>
      <p:sp>
        <p:nvSpPr>
          <p:cNvPr id="11" name="Text 9"/>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2" name="Tick"/>
          <p:cNvSpPr/>
          <p:nvPr/>
        </p:nvSpPr>
        <p:spPr>
          <a:xfrm>
            <a:off x="8869680" y="3136392"/>
            <a:ext cx="0" cy="219456"/>
          </a:xfrm>
          <a:prstGeom prst="line">
            <a:avLst/>
          </a:prstGeom>
          <a:noFill/>
          <a:ln w="19050">
            <a:solidFill>
              <a:srgbClr val="000000"/>
            </a:solidFill>
            <a:prstDash val="solid"/>
          </a:ln>
        </p:spPr>
      </p:sp>
      <p:sp>
        <p:nvSpPr>
          <p:cNvPr id="13" name="Text 11"/>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4" name="Tick"/>
          <p:cNvSpPr/>
          <p:nvPr/>
        </p:nvSpPr>
        <p:spPr>
          <a:xfrm>
            <a:off x="10607040" y="3136392"/>
            <a:ext cx="0" cy="219456"/>
          </a:xfrm>
          <a:prstGeom prst="line">
            <a:avLst/>
          </a:prstGeom>
          <a:noFill/>
          <a:ln w="19050">
            <a:solidFill>
              <a:srgbClr val="000000"/>
            </a:solidFill>
            <a:prstDash val="solid"/>
          </a:ln>
        </p:spPr>
      </p:sp>
      <p:sp>
        <p:nvSpPr>
          <p:cNvPr id="15" name="Text 13"/>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Threshold"/>
          <p:cNvSpPr/>
          <p:nvPr/>
        </p:nvSpPr>
        <p:spPr>
          <a:xfrm>
            <a:off x="822960" y="2377440"/>
            <a:ext cx="8046720" cy="0"/>
          </a:xfrm>
          <a:prstGeom prst="line">
            <a:avLst/>
          </a:prstGeom>
          <a:noFill/>
          <a:ln w="15875">
            <a:solidFill>
              <a:srgbClr val="C00000"/>
            </a:solidFill>
            <a:prstDash val="dash"/>
          </a:ln>
        </p:spPr>
      </p:sp>
      <p:sp>
        <p:nvSpPr>
          <p:cNvPr id="6" name="Text 4"/>
          <p:cNvSpPr txBox="1"/>
          <p:nvPr/>
        </p:nvSpPr>
        <p:spPr>
          <a:xfrm>
            <a:off x="822960" y="2423160"/>
            <a:ext cx="2743200" cy="320040"/>
          </a:xfrm>
          <a:prstGeom prst="rect">
            <a:avLst/>
          </a:prstGeom>
          <a:noFill/>
          <a:ln/>
        </p:spPr>
        <p:txBody>
          <a:bodyPr wrap="square" lIns="25400" tIns="25400" rIns="25400" bIns="25400" rtlCol="0" anchor="t"/>
          <a:lstStyle/>
          <a:p>
            <a:pPr algn="l" indent="0" marL="0">
              <a:buNone/>
            </a:pPr>
            <a:r>
              <a:rPr lang="en-US" sz="1400" dirty="0">
                <a:solidFill>
                  <a:srgbClr val="C00000"/>
                </a:solidFill>
                <a:latin typeface="Georgia" pitchFamily="34" charset="0"/>
                <a:ea typeface="Georgia" pitchFamily="34" charset="-122"/>
                <a:cs typeface="Georgia" pitchFamily="34" charset="-120"/>
              </a:rPr>
              <a:t>SpO2 &lt;80% or MAP &lt;60</a:t>
            </a:r>
            <a:endParaRPr lang="en-US" sz="1400" dirty="0"/>
          </a:p>
        </p:txBody>
      </p:sp>
      <p:sp>
        <p:nvSpPr>
          <p:cNvPr id="7" name="Arrow"/>
          <p:cNvSpPr/>
          <p:nvPr/>
        </p:nvSpPr>
        <p:spPr>
          <a:xfrm>
            <a:off x="731520" y="3246120"/>
            <a:ext cx="10789920" cy="914"/>
          </a:xfrm>
          <a:prstGeom prst="line">
            <a:avLst/>
          </a:prstGeom>
          <a:noFill/>
          <a:ln w="19050">
            <a:solidFill>
              <a:srgbClr val="000000"/>
            </a:solidFill>
            <a:prstDash val="solid"/>
            <a:tailEnd type="triangle"/>
          </a:ln>
        </p:spPr>
      </p:sp>
      <p:sp>
        <p:nvSpPr>
          <p:cNvPr id="8" name="Tick"/>
          <p:cNvSpPr/>
          <p:nvPr/>
        </p:nvSpPr>
        <p:spPr>
          <a:xfrm>
            <a:off x="1005840" y="3136392"/>
            <a:ext cx="0" cy="219456"/>
          </a:xfrm>
          <a:prstGeom prst="line">
            <a:avLst/>
          </a:prstGeom>
          <a:noFill/>
          <a:ln w="19050">
            <a:solidFill>
              <a:srgbClr val="000000"/>
            </a:solidFill>
            <a:prstDash val="solid"/>
          </a:ln>
        </p:spPr>
      </p:sp>
      <p:sp>
        <p:nvSpPr>
          <p:cNvPr id="9" name="Text 7"/>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10" name="Tick"/>
          <p:cNvSpPr/>
          <p:nvPr/>
        </p:nvSpPr>
        <p:spPr>
          <a:xfrm>
            <a:off x="4023360" y="3136392"/>
            <a:ext cx="0" cy="219456"/>
          </a:xfrm>
          <a:prstGeom prst="line">
            <a:avLst/>
          </a:prstGeom>
          <a:noFill/>
          <a:ln w="19050">
            <a:solidFill>
              <a:srgbClr val="000000"/>
            </a:solidFill>
            <a:prstDash val="solid"/>
          </a:ln>
        </p:spPr>
      </p:sp>
      <p:sp>
        <p:nvSpPr>
          <p:cNvPr id="11" name="Text 9"/>
          <p:cNvSpPr txBox="1"/>
          <p:nvPr/>
        </p:nvSpPr>
        <p:spPr>
          <a:xfrm>
            <a:off x="329184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C00000"/>
                </a:solidFill>
                <a:latin typeface="Georgia" pitchFamily="34" charset="0"/>
                <a:ea typeface="Georgia" pitchFamily="34" charset="-122"/>
                <a:cs typeface="Georgia" pitchFamily="34" charset="-120"/>
              </a:rPr>
              <a:t>Below threshold</a:t>
            </a:r>
            <a:endParaRPr lang="en-US" sz="1400" dirty="0"/>
          </a:p>
        </p:txBody>
      </p:sp>
      <p:sp>
        <p:nvSpPr>
          <p:cNvPr id="12" name="Tick"/>
          <p:cNvSpPr/>
          <p:nvPr/>
        </p:nvSpPr>
        <p:spPr>
          <a:xfrm>
            <a:off x="5943600" y="3136392"/>
            <a:ext cx="0" cy="219456"/>
          </a:xfrm>
          <a:prstGeom prst="line">
            <a:avLst/>
          </a:prstGeom>
          <a:noFill/>
          <a:ln w="19050">
            <a:solidFill>
              <a:srgbClr val="000000"/>
            </a:solidFill>
            <a:prstDash val="solid"/>
          </a:ln>
        </p:spPr>
      </p:sp>
      <p:sp>
        <p:nvSpPr>
          <p:cNvPr id="13" name="Text 11"/>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4" name="Tick"/>
          <p:cNvSpPr/>
          <p:nvPr/>
        </p:nvSpPr>
        <p:spPr>
          <a:xfrm>
            <a:off x="7406640" y="3136392"/>
            <a:ext cx="0" cy="219456"/>
          </a:xfrm>
          <a:prstGeom prst="line">
            <a:avLst/>
          </a:prstGeom>
          <a:noFill/>
          <a:ln w="19050">
            <a:solidFill>
              <a:srgbClr val="000000"/>
            </a:solidFill>
            <a:prstDash val="solid"/>
          </a:ln>
        </p:spPr>
      </p:sp>
      <p:sp>
        <p:nvSpPr>
          <p:cNvPr id="15" name="Text 13"/>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6" name="Tick"/>
          <p:cNvSpPr/>
          <p:nvPr/>
        </p:nvSpPr>
        <p:spPr>
          <a:xfrm>
            <a:off x="8869680" y="3136392"/>
            <a:ext cx="0" cy="219456"/>
          </a:xfrm>
          <a:prstGeom prst="line">
            <a:avLst/>
          </a:prstGeom>
          <a:noFill/>
          <a:ln w="19050">
            <a:solidFill>
              <a:srgbClr val="000000"/>
            </a:solidFill>
            <a:prstDash val="solid"/>
          </a:ln>
        </p:spPr>
      </p:sp>
      <p:sp>
        <p:nvSpPr>
          <p:cNvPr id="17" name="Text 15"/>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8" name="Tick"/>
          <p:cNvSpPr/>
          <p:nvPr/>
        </p:nvSpPr>
        <p:spPr>
          <a:xfrm>
            <a:off x="10607040" y="3136392"/>
            <a:ext cx="0" cy="219456"/>
          </a:xfrm>
          <a:prstGeom prst="line">
            <a:avLst/>
          </a:prstGeom>
          <a:noFill/>
          <a:ln w="19050">
            <a:solidFill>
              <a:srgbClr val="000000"/>
            </a:solidFill>
            <a:prstDash val="solid"/>
          </a:ln>
        </p:spPr>
      </p:sp>
      <p:sp>
        <p:nvSpPr>
          <p:cNvPr id="19" name="Text 17"/>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20" name="Window"/>
          <p:cNvSpPr/>
          <p:nvPr/>
        </p:nvSpPr>
        <p:spPr>
          <a:xfrm>
            <a:off x="1005840" y="4434840"/>
            <a:ext cx="7863840" cy="365760"/>
          </a:xfrm>
          <a:prstGeom prst="rect">
            <a:avLst/>
          </a:prstGeom>
          <a:solidFill>
            <a:srgbClr val="9DB4CA"/>
          </a:solidFill>
          <a:ln w="12700">
            <a:solidFill>
              <a:srgbClr val="9DB4CA"/>
            </a:solidFill>
            <a:prstDash val="solid"/>
          </a:ln>
        </p:spPr>
      </p:sp>
      <p:sp>
        <p:nvSpPr>
          <p:cNvPr id="21" name="Text 19"/>
          <p:cNvSpPr txBox="1"/>
          <p:nvPr/>
        </p:nvSpPr>
        <p:spPr>
          <a:xfrm>
            <a:off x="1005840" y="4434840"/>
            <a:ext cx="786384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Total donor warm ischemia</a:t>
            </a:r>
            <a:endParaRPr lang="en-US" sz="1300" dirty="0"/>
          </a:p>
        </p:txBody>
      </p:sp>
      <p:sp>
        <p:nvSpPr>
          <p:cNvPr id="22" name="Window"/>
          <p:cNvSpPr/>
          <p:nvPr/>
        </p:nvSpPr>
        <p:spPr>
          <a:xfrm>
            <a:off x="8869680" y="4434840"/>
            <a:ext cx="1737360" cy="365760"/>
          </a:xfrm>
          <a:prstGeom prst="rect">
            <a:avLst/>
          </a:prstGeom>
          <a:solidFill>
            <a:srgbClr val="E7E6E6"/>
          </a:solidFill>
          <a:ln w="12700">
            <a:solidFill>
              <a:srgbClr val="E7E6E6"/>
            </a:solidFill>
            <a:prstDash val="solid"/>
          </a:ln>
        </p:spPr>
      </p:sp>
      <p:sp>
        <p:nvSpPr>
          <p:cNvPr id="23" name="Text 21"/>
          <p:cNvSpPr txBox="1"/>
          <p:nvPr/>
        </p:nvSpPr>
        <p:spPr>
          <a:xfrm>
            <a:off x="8869680" y="4434840"/>
            <a:ext cx="17373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Hepatectomy</a:t>
            </a:r>
            <a:endParaRPr lang="en-US" sz="1300" dirty="0"/>
          </a:p>
        </p:txBody>
      </p:sp>
      <p:sp>
        <p:nvSpPr>
          <p:cNvPr id="24" name="Window"/>
          <p:cNvSpPr/>
          <p:nvPr/>
        </p:nvSpPr>
        <p:spPr>
          <a:xfrm>
            <a:off x="4023360" y="4892040"/>
            <a:ext cx="4846320" cy="365760"/>
          </a:xfrm>
          <a:prstGeom prst="rect">
            <a:avLst/>
          </a:prstGeom>
          <a:solidFill>
            <a:srgbClr val="1F4E79"/>
          </a:solidFill>
          <a:ln w="12700">
            <a:solidFill>
              <a:srgbClr val="1F4E79"/>
            </a:solidFill>
            <a:prstDash val="solid"/>
          </a:ln>
        </p:spPr>
      </p:sp>
      <p:sp>
        <p:nvSpPr>
          <p:cNvPr id="25" name="Text 23"/>
          <p:cNvSpPr txBox="1"/>
          <p:nvPr/>
        </p:nvSpPr>
        <p:spPr>
          <a:xfrm>
            <a:off x="4023360" y="4892040"/>
            <a:ext cx="484632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Functional warm ischemia: risk rises past 30 min</a:t>
            </a:r>
            <a:endParaRPr lang="en-US" sz="1300" dirty="0"/>
          </a:p>
        </p:txBody>
      </p:sp>
      <p:sp>
        <p:nvSpPr>
          <p:cNvPr id="26" name="Window"/>
          <p:cNvSpPr/>
          <p:nvPr/>
        </p:nvSpPr>
        <p:spPr>
          <a:xfrm>
            <a:off x="1005840" y="5349240"/>
            <a:ext cx="4937760" cy="365760"/>
          </a:xfrm>
          <a:prstGeom prst="rect">
            <a:avLst/>
          </a:prstGeom>
          <a:solidFill>
            <a:srgbClr val="E7E6E6"/>
          </a:solidFill>
          <a:ln w="12700">
            <a:solidFill>
              <a:srgbClr val="E7E6E6"/>
            </a:solidFill>
            <a:prstDash val="solid"/>
          </a:ln>
        </p:spPr>
      </p:sp>
      <p:sp>
        <p:nvSpPr>
          <p:cNvPr id="27" name="Text 25"/>
          <p:cNvSpPr txBox="1"/>
          <p:nvPr/>
        </p:nvSpPr>
        <p:spPr>
          <a:xfrm>
            <a:off x="1005840" y="5349240"/>
            <a:ext cx="49377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Agonal phase</a:t>
            </a:r>
            <a:endParaRPr lang="en-US" sz="1300" dirty="0"/>
          </a:p>
        </p:txBody>
      </p:sp>
      <p:sp>
        <p:nvSpPr>
          <p:cNvPr id="28" name="Window"/>
          <p:cNvSpPr/>
          <p:nvPr/>
        </p:nvSpPr>
        <p:spPr>
          <a:xfrm>
            <a:off x="5943600" y="5349240"/>
            <a:ext cx="2926080" cy="365760"/>
          </a:xfrm>
          <a:prstGeom prst="rect">
            <a:avLst/>
          </a:prstGeom>
          <a:solidFill>
            <a:srgbClr val="2E7D8C"/>
          </a:solidFill>
          <a:ln w="12700">
            <a:solidFill>
              <a:srgbClr val="2E7D8C"/>
            </a:solidFill>
            <a:prstDash val="solid"/>
          </a:ln>
        </p:spPr>
      </p:sp>
      <p:sp>
        <p:nvSpPr>
          <p:cNvPr id="29" name="Text 27"/>
          <p:cNvSpPr txBox="1"/>
          <p:nvPr/>
        </p:nvSpPr>
        <p:spPr>
          <a:xfrm>
            <a:off x="5943600" y="5349240"/>
            <a:ext cx="292608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Asystolic warm ischemia</a:t>
            </a:r>
            <a:endParaRPr lang="en-US" sz="1300" dirty="0"/>
          </a:p>
        </p:txBody>
      </p:sp>
      <p:sp>
        <p:nvSpPr>
          <p:cNvPr id="30" name="Text 28"/>
          <p:cNvSpPr txBox="1"/>
          <p:nvPr/>
        </p:nvSpPr>
        <p:spPr>
          <a:xfrm>
            <a:off x="822960" y="5806440"/>
            <a:ext cx="10545775" cy="41148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With NRP, warm oxygenated blood reaches the liver again soon after death is declared</a:t>
            </a:r>
            <a:endParaRPr lang="en-US" sz="1700" dirty="0"/>
          </a:p>
        </p:txBody>
      </p:sp>
      <p:sp>
        <p:nvSpPr>
          <p:cNvPr id="3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3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Options for machine perfusion and regional perfusion for DBD and DCD livers">    </p:cNvPr>
          <p:cNvPicPr>
            <a:picLocks noChangeAspect="1"/>
          </p:cNvPicPr>
          <p:nvPr/>
        </p:nvPicPr>
        <p:blipFill>
          <a:blip r:embed="rId1"/>
          <a:stretch>
            <a:fillRect/>
          </a:stretch>
        </p:blipFill>
        <p:spPr>
          <a:xfrm>
            <a:off x="365760" y="1234440"/>
            <a:ext cx="7223760" cy="4229525"/>
          </a:xfrm>
          <a:prstGeom prst="rect">
            <a:avLst/>
          </a:prstGeom>
        </p:spPr>
      </p:pic>
      <p:sp>
        <p:nvSpPr>
          <p:cNvPr id="4" name="Body"/>
          <p:cNvSpPr txBox="1"/>
          <p:nvPr/>
        </p:nvSpPr>
        <p:spPr>
          <a:xfrm>
            <a:off x="7863840" y="1371600"/>
            <a:ext cx="4023360" cy="484632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HOPE keeps the liver cold but gives it oxygen, usually at the transplant center just before the implant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NMP keeps it warm on blood; the liver makes bile and can be tested before anyone commits to it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NRP restarts oxygenated blood flow to the donor's abdominal organs after death is declared</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 Clin Exp Hepatol 2024;14(2):101309 [PMID: 38274508]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6675120" cy="914400"/>
        </p:xfrm>
        <a:graphic>
          <a:graphicData uri="http://schemas.openxmlformats.org/drawingml/2006/table">
            <a:tbl>
              <a:tblPr/>
              <a:tblGrid>
                <a:gridCol w="2551176"/>
                <a:gridCol w="1197864"/>
                <a:gridCol w="2926080"/>
              </a:tblGrid>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Machine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Main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Nasralla, Nature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NMP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Peak AST and discard</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50% lower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71728">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PROTECT, JAMA Surg 2022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NMP (OCS)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Early allograft dysfunction</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18% vs 31%</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Ischemic biliary 2.6% vs 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71728">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DHOPE-DCD, NEJM 2021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DHOPE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Symptomatic non-anastomotic</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strictures 6% vs 18%</a:t>
                      </a:r>
                      <a:endParaRPr lang="en-US" sz="1600" dirty="0">
                        <a:latin typeface="Calibri" charset="0"/>
                        <a:ea typeface="Calibri" charset="0"/>
                        <a:cs typeface="Calibri" charset="0"/>
                      </a:endParaRPr>
                    </a:p>
                    <a:p>
                      <a:pPr algn="l" indent="0" marL="0">
                        <a:buNone/>
                      </a:pPr>
                      <a:r>
                        <a:rPr lang="en-US" sz="1600" dirty="0">
                          <a:solidFill>
                            <a:srgbClr val="000000"/>
                          </a:solidFill>
                          <a:latin typeface="Calibri" pitchFamily="34" charset="0"/>
                          <a:ea typeface="Calibri" pitchFamily="34" charset="-122"/>
                          <a:cs typeface="Calibri" pitchFamily="34" charset="-120"/>
                        </a:rPr>
                        <a:t>at 6 months, RR 0.36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symptomatic non-anastomotic strictures over 6 months, machine perfusion vs control">    </p:cNvPr>
          <p:cNvPicPr>
            <a:picLocks noChangeAspect="1"/>
          </p:cNvPicPr>
          <p:nvPr/>
        </p:nvPicPr>
        <p:blipFill>
          <a:blip r:embed="rId1"/>
          <a:stretch>
            <a:fillRect/>
          </a:stretch>
        </p:blipFill>
        <p:spPr>
          <a:xfrm>
            <a:off x="7223760" y="1325880"/>
            <a:ext cx="4663440" cy="2717956"/>
          </a:xfrm>
          <a:prstGeom prst="rect">
            <a:avLst/>
          </a:prstGeom>
        </p:spPr>
      </p:pic>
      <p:sp>
        <p:nvSpPr>
          <p:cNvPr id="5" name="Text 1"/>
          <p:cNvSpPr txBox="1"/>
          <p:nvPr/>
        </p:nvSpPr>
        <p:spPr>
          <a:xfrm>
            <a:off x="7223760" y="4089556"/>
            <a:ext cx="466344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DHOPE-DCD: symptomatic non-anastomotic strictures (%), by month</a:t>
            </a:r>
            <a:endParaRPr lang="en-US" sz="1300" dirty="0"/>
          </a:p>
        </p:txBody>
      </p:sp>
      <p:sp>
        <p:nvSpPr>
          <p:cNvPr id="6" name="Text 2"/>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Brubaker AL et al. JAMA Surg 2024;159(6):677-85 [PMID: 38568597]. OPTN/HRSA NRP safety notice, November 21, 2025. HRSA, NRP policy issue page (accessed 10/2026)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NRP help the liver, and is it allowed?</a:t>
            </a:r>
            <a:endParaRPr lang="en-US" sz="30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217920" cy="914400"/>
        </p:xfrm>
        <a:graphic>
          <a:graphicData uri="http://schemas.openxmlformats.org/drawingml/2006/table">
            <a:tbl>
              <a:tblPr/>
              <a:tblGrid>
                <a:gridCol w="2862072"/>
                <a:gridCol w="3355848"/>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17 US centers, 2017-2023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NRP (106) vs super-rapid (136)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Early allograft dysfunction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 with NRP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Hospital stay, median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7 vs 10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Primary nonfunction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vs 2 grafts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Patient and graft survival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Similar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949440" y="1371600"/>
            <a:ext cx="4846320" cy="457200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 federal or state law names NRP; the argument is over the dead donor rule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November 2025: OPTN/HRSA safety notice on cutting and venting the vessels to the brain</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An OPTN workgroup has been drafting national NRP policy since October 2025</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Brubaker AL et al. JAMA Surg 2024;159(6):677-85 [PMID: 38568597]. OPTN/HRSA NRP safety notice, November 21, 2025. HRSA, NRP policy issue page (accessed 10/2026)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14016"/>
                <a:gridCol w="8860536"/>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Skin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Skin exam every year, plus age-appropriate cancer 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or SGLT2i first if high CV, heart failure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transplant,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9, 19-20, 44-45, 59, 62, 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45/47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MELD 15 is still reasonable, and a low MELD alone shouldn't stop a referral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47/47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TA-NRP and A-NRP differ?</a:t>
            </a:r>
            <a:endParaRPr lang="en-US" sz="3000" dirty="0"/>
          </a:p>
        </p:txBody>
      </p:sp>
      <p:pic>
        <p:nvPicPr>
          <p:cNvPr id="3" name="Image 0" descr="Thoraco-abdominal and abdominal normothermic regional perfusion circuits: reservoir, roller pump, oxygenator, gas mixer and heat exchanger">    </p:cNvPr>
          <p:cNvPicPr>
            <a:picLocks noChangeAspect="1"/>
          </p:cNvPicPr>
          <p:nvPr/>
        </p:nvPicPr>
        <p:blipFill>
          <a:blip r:embed="rId1"/>
          <a:stretch>
            <a:fillRect/>
          </a:stretch>
        </p:blipFill>
        <p:spPr>
          <a:xfrm>
            <a:off x="1520301" y="1097280"/>
            <a:ext cx="9151094" cy="3931920"/>
          </a:xfrm>
          <a:prstGeom prst="rect">
            <a:avLst/>
          </a:prstGeom>
        </p:spPr>
      </p:pic>
      <p:sp>
        <p:nvSpPr>
          <p:cNvPr id="4" name="Text 1"/>
          <p:cNvSpPr txBox="1"/>
          <p:nvPr/>
        </p:nvSpPr>
        <p:spPr>
          <a:xfrm>
            <a:off x="548640"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TA-NRP: </a:t>
            </a:r>
            <a:r>
              <a:rPr lang="en-US" sz="1500" dirty="0">
                <a:solidFill>
                  <a:srgbClr val="000000"/>
                </a:solidFill>
                <a:latin typeface="Georgia" pitchFamily="34" charset="0"/>
                <a:ea typeface="Georgia" pitchFamily="34" charset="-122"/>
                <a:cs typeface="Georgia" pitchFamily="34" charset="-120"/>
              </a:rPr>
              <a:t>the chest is opened and the arteries to the head are clamped, cut and vented. The heart beats again, so heart, lungs and abdominal organs can all be used.</a:t>
            </a:r>
            <a:endParaRPr lang="en-US" sz="1500" dirty="0"/>
          </a:p>
        </p:txBody>
      </p:sp>
      <p:sp>
        <p:nvSpPr>
          <p:cNvPr id="5" name="Text 2"/>
          <p:cNvSpPr txBox="1"/>
          <p:nvPr/>
        </p:nvSpPr>
        <p:spPr>
          <a:xfrm>
            <a:off x="6248095" y="5074920"/>
            <a:ext cx="5394960" cy="1188720"/>
          </a:xfrm>
          <a:prstGeom prst="rect">
            <a:avLst/>
          </a:prstGeom>
          <a:noFill/>
          <a:ln/>
        </p:spPr>
        <p:txBody>
          <a:bodyPr wrap="square" lIns="25400" tIns="25400" rIns="25400" bIns="25400" rtlCol="0" anchor="t"/>
          <a:lstStyle/>
          <a:p>
            <a:pPr algn="ctr" indent="0" marL="0">
              <a:buNone/>
            </a:pPr>
            <a:r>
              <a:rPr lang="en-US" sz="1500" b="1" dirty="0">
                <a:solidFill>
                  <a:srgbClr val="000000"/>
                </a:solidFill>
                <a:latin typeface="Georgia" pitchFamily="34" charset="0"/>
                <a:ea typeface="Georgia" pitchFamily="34" charset="-122"/>
                <a:cs typeface="Georgia" pitchFamily="34" charset="-120"/>
              </a:rPr>
              <a:t>A-NRP: </a:t>
            </a:r>
            <a:r>
              <a:rPr lang="en-US" sz="1500" dirty="0">
                <a:solidFill>
                  <a:srgbClr val="000000"/>
                </a:solidFill>
                <a:latin typeface="Georgia" pitchFamily="34" charset="0"/>
                <a:ea typeface="Georgia" pitchFamily="34" charset="-122"/>
                <a:cs typeface="Georgia" pitchFamily="34" charset="-120"/>
              </a:rPr>
              <a:t>the aorta is blocked above the celiac and cut above the block. Only the abdominal organs get blood; the heart doesn't restart.</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Alamouti-Fard E, Garg P, Wadiwala IJ, et al. Cureus 2022;14(6):e26437, CC BY 4.0. Vessel steps: OPTN/HRSA NRP safety notice, November 21, 2025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Malamon JS et al. Survival benefit of DDLT. Int J Surg 2023 [PMID: 37226874]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Kalisvaart M et al. ILTS donor warm ischemia time. Transplantation 2021 [PMID: 34048418]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Machine and regional perfusion options.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(4)</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Brubaker AL et al. NRP vs super-rapid recovery. JAMA Surg 2024 [PMID: 38568597]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Alamouti-Fard E et al. NRP in DCD heart transplantation. Cureus 2022;14(6):e26437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OPTN/HRSA NRP safety notice, November 21, 2025, and HRSA NRP policy issue page</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2026-10-27T22:13:36Z</dcterms:created>
  <dcterms:modified xsi:type="dcterms:W3CDTF">2026-10-27T22:13:36Z</dcterms:modified>
</cp:coreProperties>
</file>