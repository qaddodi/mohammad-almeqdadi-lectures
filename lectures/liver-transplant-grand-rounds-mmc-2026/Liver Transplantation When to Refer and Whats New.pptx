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387467-f90c-9b9b-fe04-4e1d069fafbf}">
          <p14:sldIdLst>
            <p14:sldId id="256"/>
            <p14:sldId id="257"/>
            <p14:sldId id="258"/>
          </p14:sldIdLst>
        </p14:section>
        <p14:section name="How we got here" id="{3d6dfd3d-93e1-d8ab-6af6-1283bb115ae7}">
          <p14:sldIdLst>
            <p14:sldId id="259"/>
            <p14:sldId id="260"/>
            <p14:sldId id="261"/>
          </p14:sldIdLst>
        </p14:section>
        <p14:section name="Is it worth it?" id="{b27a8be5-348b-9c1c-45ef-2020d32dcacf}">
          <p14:sldIdLst>
            <p14:sldId id="262"/>
            <p14:sldId id="263"/>
          </p14:sldIdLst>
        </p14:section>
        <p14:section name="When to refer" id="{1af9ab50-22a0-24c0-5ef0-eb8f21841152}">
          <p14:sldIdLst>
            <p14:sldId id="264"/>
            <p14:sldId id="265"/>
            <p14:sldId id="266"/>
            <p14:sldId id="267"/>
            <p14:sldId id="268"/>
            <p14:sldId id="269"/>
            <p14:sldId id="270"/>
            <p14:sldId id="271"/>
          </p14:sldIdLst>
        </p14:section>
        <p14:section name="Who can get a liver now" id="{fe286536-90ad-ba6c-6e59-2b8b0541d0b4}">
          <p14:sldIdLst>
            <p14:sldId id="272"/>
            <p14:sldId id="273"/>
            <p14:sldId id="274"/>
            <p14:sldId id="275"/>
            <p14:sldId id="276"/>
            <p14:sldId id="277"/>
            <p14:sldId id="278"/>
            <p14:sldId id="279"/>
            <p14:sldId id="280"/>
            <p14:sldId id="281"/>
            <p14:sldId id="282"/>
            <p14:sldId id="283"/>
          </p14:sldIdLst>
        </p14:section>
        <p14:section name="From Maine to Boston" id="{77ce89ba-9db4-e9d1-3a9c-4b3d4346d316}">
          <p14:sldIdLst>
            <p14:sldId id="284"/>
            <p14:sldId id="285"/>
            <p14:sldId id="286"/>
            <p14:sldId id="287"/>
            <p14:sldId id="288"/>
          </p14:sldIdLst>
        </p14:section>
        <p14:section name="Where the livers come from" id="{98715c1b-a773-ac92-65a3-c4aaf00b1301}">
          <p14:sldIdLst>
            <p14:sldId id="289"/>
            <p14:sldId id="290"/>
            <p14:sldId id="291"/>
            <p14:sldId id="292"/>
            <p14:sldId id="293"/>
            <p14:sldId id="294"/>
            <p14:sldId id="295"/>
            <p14:sldId id="296"/>
            <p14:sldId id="297"/>
            <p14:sldId id="298"/>
          </p14:sldIdLst>
        </p14:section>
        <p14:section name="Your patient had a transplant" id="{d717499b-0dd2-f646-111c-dc18c307b4d3}">
          <p14:sldIdLst>
            <p14:sldId id="299"/>
            <p14:sldId id="300"/>
            <p14:sldId id="301"/>
            <p14:sldId id="302"/>
            <p14:sldId id="303"/>
            <p14:sldId id="304"/>
            <p14:sldId id="305"/>
            <p14:sldId id="306"/>
          </p14:sldIdLst>
        </p14:section>
        <p14:section name="Appendix" id="{02320925-ca61-c103-d47d-50ce9e31caad}">
          <p14:sldIdLst>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After a short history, five parts that follow the patient: when to refer, who can be a candidate now, what happens after the referral,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in the order a patient goes through them. The first two are for everyone who sees patients with liver disease, the donor part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Below 15, transplant raised the one-year risk of death compared with staying on the list. At 15-17 the risk tipped toward benefit, though not yet significantly, and from 18 up the benefit was clear and grew with MELD. So 15 was the crossover. It set the old benefit threshold for transplant; it was never a study of when to refer. That was 2005 data. Next: what MELD 3.0 changed, and what the new guideline says about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2025 AASLD/AST guidelines number each recommendation as a statement; the numbers are in the footers if anyone wants to look one up. In the figure,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MMaT is the median MELD at transplant for recent transplants near the donor hospital, so an exception score moves with the region. 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 Which brings us to where those livers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what happens in a DCD donation before showing the clocks. Ask: when do you think the liver starts to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Withdrawal happens in the ICU or the OR, usually with the family there. The clock that matters most is functional warm ischemia: from the moment saturation drops below 80% or mean pressure below 60, to the cold flush. That is the ILTS definition; ASTS used a mean pressure below 60, and the UK a saturation below 70 or systolic below 50. The ILTS doesn't set a hard cutoff: past 30 minutes graft loss goes up, and the call weighs the donor, the graft, the recipient and how the liver will be preserved. ASTS suggested 20 to 30 minutes at most, and the UK doesn't use the liver past 30. If the donor doesn't die within the program's window after withdrawal, the liver isn't used. Withdrawal in the OR shortens the functional time, which is what ILTS recommends where local rules allow. The no-touch wait after the heart stops ranges from 2 to 20 minutes around the world and is usually 5 in the US. Nobody touches the donor during it, and death is declared by a team that has nothing to do with the transplant. Hepatectomy time, from the flush until the liver is on ice, matters too. After that come cold storage and the recipient's own warm ischemia during the implant. NRP restarts warm oxygenated blood flow to the abdominal organs after death is declared, and in observational studies NRP livers have had fewer bile duct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allograft dysfunction is the Olthoff definition: bilirubin 10 or more or INR 1.6 or more on day 7, or AST or ALT over 2000 in the first week. Non-anastomotic strictures are the ischemic cholangiopathy from two slides back. 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jp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463040"/>
            <a:ext cx="566928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Recognize who to refer, and who needs a call the same day</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See who can be a transplant candidate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Walk through what happens after the referral</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Understand where donor livers come from now</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Care for a transplant recipient on your service</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raised the 1-year risk of death vs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raised it</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Crossover: benefit begins</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Clear benefit, larger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The 2025 guideline: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redrawn from Dove L et al. AASLD/AST candidate evaluation guideline. Hepatology 2026;83(6):1609-45 [PMID: 41405234], statement 1</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46320"/>
            <a:ext cx="11094415" cy="137160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a:t>
            </a:r>
            <a:endParaRPr lang="en-US" sz="1700" dirty="0"/>
          </a:p>
          <a:p>
            <a:pPr algn="ctr" indent="0" marL="0">
              <a:spcBef>
                <a:spcPts val="1000"/>
              </a:spcBef>
              <a:buNone/>
            </a:pP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977640"/>
                <a:gridCol w="7114032"/>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 2025 AASLD/AST guideline says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493776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statements 2, 38, 41, 43, 48-49, 51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snowy highway heading south, with a sign for I-95 South to Bost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822192"/>
                <a:gridCol w="672084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Home support, alcohol and drug use,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 statements 33, 44-45</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Arrow"/>
          <p:cNvSpPr/>
          <p:nvPr/>
        </p:nvSpPr>
        <p:spPr>
          <a:xfrm>
            <a:off x="731520" y="3246120"/>
            <a:ext cx="10789920" cy="914"/>
          </a:xfrm>
          <a:prstGeom prst="line">
            <a:avLst/>
          </a:prstGeom>
          <a:noFill/>
          <a:ln w="19050">
            <a:solidFill>
              <a:srgbClr val="000000"/>
            </a:solidFill>
            <a:prstDash val="solid"/>
            <a:tailEnd type="triangle"/>
          </a:ln>
        </p:spPr>
      </p:sp>
      <p:sp>
        <p:nvSpPr>
          <p:cNvPr id="6" name="Tick"/>
          <p:cNvSpPr/>
          <p:nvPr/>
        </p:nvSpPr>
        <p:spPr>
          <a:xfrm>
            <a:off x="1005840" y="3136392"/>
            <a:ext cx="0" cy="219456"/>
          </a:xfrm>
          <a:prstGeom prst="line">
            <a:avLst/>
          </a:prstGeom>
          <a:noFill/>
          <a:ln w="19050">
            <a:solidFill>
              <a:srgbClr val="000000"/>
            </a:solidFill>
            <a:prstDash val="solid"/>
          </a:ln>
        </p:spPr>
      </p:sp>
      <p:sp>
        <p:nvSpPr>
          <p:cNvPr id="7" name="Text 5"/>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8" name="Tick"/>
          <p:cNvSpPr/>
          <p:nvPr/>
        </p:nvSpPr>
        <p:spPr>
          <a:xfrm>
            <a:off x="5943600" y="3136392"/>
            <a:ext cx="0" cy="219456"/>
          </a:xfrm>
          <a:prstGeom prst="line">
            <a:avLst/>
          </a:prstGeom>
          <a:noFill/>
          <a:ln w="19050">
            <a:solidFill>
              <a:srgbClr val="000000"/>
            </a:solidFill>
            <a:prstDash val="solid"/>
          </a:ln>
        </p:spPr>
      </p:sp>
      <p:sp>
        <p:nvSpPr>
          <p:cNvPr id="9" name="Text 7"/>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0" name="Tick"/>
          <p:cNvSpPr/>
          <p:nvPr/>
        </p:nvSpPr>
        <p:spPr>
          <a:xfrm>
            <a:off x="7406640" y="3136392"/>
            <a:ext cx="0" cy="219456"/>
          </a:xfrm>
          <a:prstGeom prst="line">
            <a:avLst/>
          </a:prstGeom>
          <a:noFill/>
          <a:ln w="19050">
            <a:solidFill>
              <a:srgbClr val="000000"/>
            </a:solidFill>
            <a:prstDash val="solid"/>
          </a:ln>
        </p:spPr>
      </p:sp>
      <p:sp>
        <p:nvSpPr>
          <p:cNvPr id="11" name="Text 9"/>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2" name="Tick"/>
          <p:cNvSpPr/>
          <p:nvPr/>
        </p:nvSpPr>
        <p:spPr>
          <a:xfrm>
            <a:off x="8869680" y="3136392"/>
            <a:ext cx="0" cy="219456"/>
          </a:xfrm>
          <a:prstGeom prst="line">
            <a:avLst/>
          </a:prstGeom>
          <a:noFill/>
          <a:ln w="19050">
            <a:solidFill>
              <a:srgbClr val="000000"/>
            </a:solidFill>
            <a:prstDash val="solid"/>
          </a:ln>
        </p:spPr>
      </p:sp>
      <p:sp>
        <p:nvSpPr>
          <p:cNvPr id="13" name="Text 11"/>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4" name="Tick"/>
          <p:cNvSpPr/>
          <p:nvPr/>
        </p:nvSpPr>
        <p:spPr>
          <a:xfrm>
            <a:off x="10607040" y="3136392"/>
            <a:ext cx="0" cy="219456"/>
          </a:xfrm>
          <a:prstGeom prst="line">
            <a:avLst/>
          </a:prstGeom>
          <a:noFill/>
          <a:ln w="19050">
            <a:solidFill>
              <a:srgbClr val="000000"/>
            </a:solidFill>
            <a:prstDash val="solid"/>
          </a:ln>
        </p:spPr>
      </p:sp>
      <p:sp>
        <p:nvSpPr>
          <p:cNvPr id="15" name="Text 13"/>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does the warm ischemia clock start?</a:t>
            </a:r>
            <a:endParaRPr lang="en-US" sz="3000" dirty="0"/>
          </a:p>
        </p:txBody>
      </p:sp>
      <p:sp>
        <p:nvSpPr>
          <p:cNvPr id="3" name="Text 1"/>
          <p:cNvSpPr txBox="1"/>
          <p:nvPr/>
        </p:nvSpPr>
        <p:spPr>
          <a:xfrm>
            <a:off x="1737360" y="1188720"/>
            <a:ext cx="5486400" cy="320040"/>
          </a:xfrm>
          <a:prstGeom prst="rect">
            <a:avLst/>
          </a:prstGeom>
          <a:noFill/>
          <a:ln/>
        </p:spPr>
        <p:txBody>
          <a:bodyPr wrap="square" lIns="25400" tIns="25400" rIns="25400" bIns="25400" rtlCol="0" anchor="t"/>
          <a:lstStyle/>
          <a:p>
            <a:pPr algn="l" indent="0" marL="0">
              <a:buNone/>
            </a:pPr>
            <a:r>
              <a:rPr lang="en-US" sz="1400" i="1" dirty="0">
                <a:solidFill>
                  <a:srgbClr val="595959"/>
                </a:solidFill>
                <a:latin typeface="Georgia" pitchFamily="34" charset="0"/>
                <a:ea typeface="Georgia" pitchFamily="34" charset="-122"/>
                <a:cs typeface="Georgia" pitchFamily="34" charset="-120"/>
              </a:rPr>
              <a:t>Donor blood pressure and oxygen saturation</a:t>
            </a:r>
            <a:endParaRPr lang="en-US" sz="1400" dirty="0"/>
          </a:p>
        </p:txBody>
      </p:sp>
      <p:sp>
        <p:nvSpPr>
          <p:cNvPr id="4" name="Curve"/>
          <p:cNvSpPr/>
          <p:nvPr/>
        </p:nvSpPr>
        <p:spPr>
          <a:xfrm>
            <a:off x="1005840" y="1463040"/>
            <a:ext cx="7863840" cy="1664208"/>
          </a:xfrm>
          <a:custGeom>
            <a:avLst/>
            <a:gdLst/>
            <a:ahLst/>
            <a:cxnLst/>
            <a:rect l="l" t="t" r="r" b="b"/>
            <a:pathLst>
              <a:path w="7863840" h="1664208">
                <a:moveTo>
                  <a:pt x="0" y="0"/>
                </a:moveTo>
                <a:lnTo>
                  <a:pt x="731520" y="0"/>
                </a:lnTo>
                <a:cubicBezTo>
                  <a:pt x="1737360" y="0"/>
                  <a:pt x="2377440" y="502920"/>
                  <a:pt x="3017520" y="914400"/>
                </a:cubicBezTo>
                <a:cubicBezTo>
                  <a:pt x="3657600" y="1325880"/>
                  <a:pt x="4206240" y="1664208"/>
                  <a:pt x="4937760" y="1664208"/>
                </a:cubicBezTo>
                <a:lnTo>
                  <a:pt x="7863840" y="1664208"/>
                </a:lnTo>
              </a:path>
            </a:pathLst>
          </a:custGeom>
          <a:noFill/>
          <a:ln w="31750">
            <a:solidFill>
              <a:srgbClr val="1F4E79"/>
            </a:solidFill>
            <a:prstDash val="solid"/>
          </a:ln>
        </p:spPr>
      </p:sp>
      <p:sp>
        <p:nvSpPr>
          <p:cNvPr id="5" name="Threshold"/>
          <p:cNvSpPr/>
          <p:nvPr/>
        </p:nvSpPr>
        <p:spPr>
          <a:xfrm>
            <a:off x="822960" y="2377440"/>
            <a:ext cx="8046720" cy="0"/>
          </a:xfrm>
          <a:prstGeom prst="line">
            <a:avLst/>
          </a:prstGeom>
          <a:noFill/>
          <a:ln w="15875">
            <a:solidFill>
              <a:srgbClr val="C00000"/>
            </a:solidFill>
            <a:prstDash val="dash"/>
          </a:ln>
        </p:spPr>
      </p:sp>
      <p:sp>
        <p:nvSpPr>
          <p:cNvPr id="6" name="Text 4"/>
          <p:cNvSpPr txBox="1"/>
          <p:nvPr/>
        </p:nvSpPr>
        <p:spPr>
          <a:xfrm>
            <a:off x="822960" y="2423160"/>
            <a:ext cx="2743200" cy="320040"/>
          </a:xfrm>
          <a:prstGeom prst="rect">
            <a:avLst/>
          </a:prstGeom>
          <a:noFill/>
          <a:ln/>
        </p:spPr>
        <p:txBody>
          <a:bodyPr wrap="square" lIns="25400" tIns="25400" rIns="25400" bIns="25400" rtlCol="0" anchor="t"/>
          <a:lstStyle/>
          <a:p>
            <a:pPr algn="l" indent="0" marL="0">
              <a:buNone/>
            </a:pPr>
            <a:r>
              <a:rPr lang="en-US" sz="1400" dirty="0">
                <a:solidFill>
                  <a:srgbClr val="C00000"/>
                </a:solidFill>
                <a:latin typeface="Georgia" pitchFamily="34" charset="0"/>
                <a:ea typeface="Georgia" pitchFamily="34" charset="-122"/>
                <a:cs typeface="Georgia" pitchFamily="34" charset="-120"/>
              </a:rPr>
              <a:t>SpO2 &lt;80% or MAP &lt;60</a:t>
            </a:r>
            <a:endParaRPr lang="en-US" sz="1400" dirty="0"/>
          </a:p>
        </p:txBody>
      </p:sp>
      <p:sp>
        <p:nvSpPr>
          <p:cNvPr id="7" name="Arrow"/>
          <p:cNvSpPr/>
          <p:nvPr/>
        </p:nvSpPr>
        <p:spPr>
          <a:xfrm>
            <a:off x="731520" y="3246120"/>
            <a:ext cx="10789920" cy="914"/>
          </a:xfrm>
          <a:prstGeom prst="line">
            <a:avLst/>
          </a:prstGeom>
          <a:noFill/>
          <a:ln w="19050">
            <a:solidFill>
              <a:srgbClr val="000000"/>
            </a:solidFill>
            <a:prstDash val="solid"/>
            <a:tailEnd type="triangle"/>
          </a:ln>
        </p:spPr>
      </p:sp>
      <p:sp>
        <p:nvSpPr>
          <p:cNvPr id="8" name="Tick"/>
          <p:cNvSpPr/>
          <p:nvPr/>
        </p:nvSpPr>
        <p:spPr>
          <a:xfrm>
            <a:off x="1005840" y="3136392"/>
            <a:ext cx="0" cy="219456"/>
          </a:xfrm>
          <a:prstGeom prst="line">
            <a:avLst/>
          </a:prstGeom>
          <a:noFill/>
          <a:ln w="19050">
            <a:solidFill>
              <a:srgbClr val="000000"/>
            </a:solidFill>
            <a:prstDash val="solid"/>
          </a:ln>
        </p:spPr>
      </p:sp>
      <p:sp>
        <p:nvSpPr>
          <p:cNvPr id="9" name="Text 7"/>
          <p:cNvSpPr txBox="1"/>
          <p:nvPr/>
        </p:nvSpPr>
        <p:spPr>
          <a:xfrm>
            <a:off x="2743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Withdrawal of life support</a:t>
            </a:r>
            <a:endParaRPr lang="en-US" sz="1400" dirty="0"/>
          </a:p>
        </p:txBody>
      </p:sp>
      <p:sp>
        <p:nvSpPr>
          <p:cNvPr id="10" name="Tick"/>
          <p:cNvSpPr/>
          <p:nvPr/>
        </p:nvSpPr>
        <p:spPr>
          <a:xfrm>
            <a:off x="4023360" y="3136392"/>
            <a:ext cx="0" cy="219456"/>
          </a:xfrm>
          <a:prstGeom prst="line">
            <a:avLst/>
          </a:prstGeom>
          <a:noFill/>
          <a:ln w="19050">
            <a:solidFill>
              <a:srgbClr val="000000"/>
            </a:solidFill>
            <a:prstDash val="solid"/>
          </a:ln>
        </p:spPr>
      </p:sp>
      <p:sp>
        <p:nvSpPr>
          <p:cNvPr id="11" name="Text 9"/>
          <p:cNvSpPr txBox="1"/>
          <p:nvPr/>
        </p:nvSpPr>
        <p:spPr>
          <a:xfrm>
            <a:off x="329184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C00000"/>
                </a:solidFill>
                <a:latin typeface="Georgia" pitchFamily="34" charset="0"/>
                <a:ea typeface="Georgia" pitchFamily="34" charset="-122"/>
                <a:cs typeface="Georgia" pitchFamily="34" charset="-120"/>
              </a:rPr>
              <a:t>Below threshold</a:t>
            </a:r>
            <a:endParaRPr lang="en-US" sz="1400" dirty="0"/>
          </a:p>
        </p:txBody>
      </p:sp>
      <p:sp>
        <p:nvSpPr>
          <p:cNvPr id="12" name="Tick"/>
          <p:cNvSpPr/>
          <p:nvPr/>
        </p:nvSpPr>
        <p:spPr>
          <a:xfrm>
            <a:off x="5943600" y="3136392"/>
            <a:ext cx="0" cy="219456"/>
          </a:xfrm>
          <a:prstGeom prst="line">
            <a:avLst/>
          </a:prstGeom>
          <a:noFill/>
          <a:ln w="19050">
            <a:solidFill>
              <a:srgbClr val="000000"/>
            </a:solidFill>
            <a:prstDash val="solid"/>
          </a:ln>
        </p:spPr>
      </p:sp>
      <p:sp>
        <p:nvSpPr>
          <p:cNvPr id="13" name="Text 11"/>
          <p:cNvSpPr txBox="1"/>
          <p:nvPr/>
        </p:nvSpPr>
        <p:spPr>
          <a:xfrm>
            <a:off x="521208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Circulation stops</a:t>
            </a:r>
            <a:endParaRPr lang="en-US" sz="1400" dirty="0"/>
          </a:p>
        </p:txBody>
      </p:sp>
      <p:sp>
        <p:nvSpPr>
          <p:cNvPr id="14" name="Tick"/>
          <p:cNvSpPr/>
          <p:nvPr/>
        </p:nvSpPr>
        <p:spPr>
          <a:xfrm>
            <a:off x="7406640" y="3136392"/>
            <a:ext cx="0" cy="219456"/>
          </a:xfrm>
          <a:prstGeom prst="line">
            <a:avLst/>
          </a:prstGeom>
          <a:noFill/>
          <a:ln w="19050">
            <a:solidFill>
              <a:srgbClr val="000000"/>
            </a:solidFill>
            <a:prstDash val="solid"/>
          </a:ln>
        </p:spPr>
      </p:sp>
      <p:sp>
        <p:nvSpPr>
          <p:cNvPr id="15" name="Text 13"/>
          <p:cNvSpPr txBox="1"/>
          <p:nvPr/>
        </p:nvSpPr>
        <p:spPr>
          <a:xfrm>
            <a:off x="66751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Death declared, after a 5-min wait</a:t>
            </a:r>
            <a:endParaRPr lang="en-US" sz="1400" dirty="0"/>
          </a:p>
        </p:txBody>
      </p:sp>
      <p:sp>
        <p:nvSpPr>
          <p:cNvPr id="16" name="Tick"/>
          <p:cNvSpPr/>
          <p:nvPr/>
        </p:nvSpPr>
        <p:spPr>
          <a:xfrm>
            <a:off x="8869680" y="3136392"/>
            <a:ext cx="0" cy="219456"/>
          </a:xfrm>
          <a:prstGeom prst="line">
            <a:avLst/>
          </a:prstGeom>
          <a:noFill/>
          <a:ln w="19050">
            <a:solidFill>
              <a:srgbClr val="000000"/>
            </a:solidFill>
            <a:prstDash val="solid"/>
          </a:ln>
        </p:spPr>
      </p:sp>
      <p:sp>
        <p:nvSpPr>
          <p:cNvPr id="17" name="Text 15"/>
          <p:cNvSpPr txBox="1"/>
          <p:nvPr/>
        </p:nvSpPr>
        <p:spPr>
          <a:xfrm>
            <a:off x="813816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Cold flush</a:t>
            </a:r>
            <a:endParaRPr lang="en-US" sz="1400" dirty="0"/>
          </a:p>
        </p:txBody>
      </p:sp>
      <p:sp>
        <p:nvSpPr>
          <p:cNvPr id="18" name="Tick"/>
          <p:cNvSpPr/>
          <p:nvPr/>
        </p:nvSpPr>
        <p:spPr>
          <a:xfrm>
            <a:off x="10607040" y="3136392"/>
            <a:ext cx="0" cy="219456"/>
          </a:xfrm>
          <a:prstGeom prst="line">
            <a:avLst/>
          </a:prstGeom>
          <a:noFill/>
          <a:ln w="19050">
            <a:solidFill>
              <a:srgbClr val="000000"/>
            </a:solidFill>
            <a:prstDash val="solid"/>
          </a:ln>
        </p:spPr>
      </p:sp>
      <p:sp>
        <p:nvSpPr>
          <p:cNvPr id="19" name="Text 17"/>
          <p:cNvSpPr txBox="1"/>
          <p:nvPr/>
        </p:nvSpPr>
        <p:spPr>
          <a:xfrm>
            <a:off x="9875520" y="3410712"/>
            <a:ext cx="1463040" cy="914400"/>
          </a:xfrm>
          <a:prstGeom prst="rect">
            <a:avLst/>
          </a:prstGeom>
          <a:noFill/>
          <a:ln/>
        </p:spPr>
        <p:txBody>
          <a:bodyPr wrap="square" lIns="25400" tIns="25400" rIns="25400" bIns="25400" rtlCol="0" anchor="t"/>
          <a:lstStyle/>
          <a:p>
            <a:pPr algn="ctr" indent="0" marL="0">
              <a:buNone/>
            </a:pPr>
            <a:r>
              <a:rPr lang="en-US" sz="1400" dirty="0">
                <a:solidFill>
                  <a:srgbClr val="000000"/>
                </a:solidFill>
                <a:latin typeface="Georgia" pitchFamily="34" charset="0"/>
                <a:ea typeface="Georgia" pitchFamily="34" charset="-122"/>
                <a:cs typeface="Georgia" pitchFamily="34" charset="-120"/>
              </a:rPr>
              <a:t>Liver out, on ice</a:t>
            </a:r>
            <a:endParaRPr lang="en-US" sz="1400" dirty="0"/>
          </a:p>
        </p:txBody>
      </p:sp>
      <p:sp>
        <p:nvSpPr>
          <p:cNvPr id="20" name="Window"/>
          <p:cNvSpPr/>
          <p:nvPr/>
        </p:nvSpPr>
        <p:spPr>
          <a:xfrm>
            <a:off x="1005840" y="4434840"/>
            <a:ext cx="7863840" cy="365760"/>
          </a:xfrm>
          <a:prstGeom prst="rect">
            <a:avLst/>
          </a:prstGeom>
          <a:solidFill>
            <a:srgbClr val="9DB4CA"/>
          </a:solidFill>
          <a:ln w="12700">
            <a:solidFill>
              <a:srgbClr val="9DB4CA"/>
            </a:solidFill>
            <a:prstDash val="solid"/>
          </a:ln>
        </p:spPr>
      </p:sp>
      <p:sp>
        <p:nvSpPr>
          <p:cNvPr id="21" name="Text 19"/>
          <p:cNvSpPr txBox="1"/>
          <p:nvPr/>
        </p:nvSpPr>
        <p:spPr>
          <a:xfrm>
            <a:off x="1005840" y="4434840"/>
            <a:ext cx="786384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Total donor warm ischemia</a:t>
            </a:r>
            <a:endParaRPr lang="en-US" sz="1300" dirty="0"/>
          </a:p>
        </p:txBody>
      </p:sp>
      <p:sp>
        <p:nvSpPr>
          <p:cNvPr id="22" name="Window"/>
          <p:cNvSpPr/>
          <p:nvPr/>
        </p:nvSpPr>
        <p:spPr>
          <a:xfrm>
            <a:off x="8869680" y="4434840"/>
            <a:ext cx="1737360" cy="365760"/>
          </a:xfrm>
          <a:prstGeom prst="rect">
            <a:avLst/>
          </a:prstGeom>
          <a:solidFill>
            <a:srgbClr val="E7E6E6"/>
          </a:solidFill>
          <a:ln w="12700">
            <a:solidFill>
              <a:srgbClr val="E7E6E6"/>
            </a:solidFill>
            <a:prstDash val="solid"/>
          </a:ln>
        </p:spPr>
      </p:sp>
      <p:sp>
        <p:nvSpPr>
          <p:cNvPr id="23" name="Text 21"/>
          <p:cNvSpPr txBox="1"/>
          <p:nvPr/>
        </p:nvSpPr>
        <p:spPr>
          <a:xfrm>
            <a:off x="8869680" y="4434840"/>
            <a:ext cx="17373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Hepatectomy</a:t>
            </a:r>
            <a:endParaRPr lang="en-US" sz="1300" dirty="0"/>
          </a:p>
        </p:txBody>
      </p:sp>
      <p:sp>
        <p:nvSpPr>
          <p:cNvPr id="24" name="Window"/>
          <p:cNvSpPr/>
          <p:nvPr/>
        </p:nvSpPr>
        <p:spPr>
          <a:xfrm>
            <a:off x="4023360" y="4892040"/>
            <a:ext cx="4846320" cy="365760"/>
          </a:xfrm>
          <a:prstGeom prst="rect">
            <a:avLst/>
          </a:prstGeom>
          <a:solidFill>
            <a:srgbClr val="1F4E79"/>
          </a:solidFill>
          <a:ln w="12700">
            <a:solidFill>
              <a:srgbClr val="1F4E79"/>
            </a:solidFill>
            <a:prstDash val="solid"/>
          </a:ln>
        </p:spPr>
      </p:sp>
      <p:sp>
        <p:nvSpPr>
          <p:cNvPr id="25" name="Text 23"/>
          <p:cNvSpPr txBox="1"/>
          <p:nvPr/>
        </p:nvSpPr>
        <p:spPr>
          <a:xfrm>
            <a:off x="4023360" y="4892040"/>
            <a:ext cx="484632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Functional warm ischemia: risk rises past 30 min</a:t>
            </a:r>
            <a:endParaRPr lang="en-US" sz="1300" dirty="0"/>
          </a:p>
        </p:txBody>
      </p:sp>
      <p:sp>
        <p:nvSpPr>
          <p:cNvPr id="26" name="Window"/>
          <p:cNvSpPr/>
          <p:nvPr/>
        </p:nvSpPr>
        <p:spPr>
          <a:xfrm>
            <a:off x="1005840" y="5349240"/>
            <a:ext cx="4937760" cy="365760"/>
          </a:xfrm>
          <a:prstGeom prst="rect">
            <a:avLst/>
          </a:prstGeom>
          <a:solidFill>
            <a:srgbClr val="E7E6E6"/>
          </a:solidFill>
          <a:ln w="12700">
            <a:solidFill>
              <a:srgbClr val="E7E6E6"/>
            </a:solidFill>
            <a:prstDash val="solid"/>
          </a:ln>
        </p:spPr>
      </p:sp>
      <p:sp>
        <p:nvSpPr>
          <p:cNvPr id="27" name="Text 25"/>
          <p:cNvSpPr txBox="1"/>
          <p:nvPr/>
        </p:nvSpPr>
        <p:spPr>
          <a:xfrm>
            <a:off x="1005840" y="5349240"/>
            <a:ext cx="4937760" cy="365760"/>
          </a:xfrm>
          <a:prstGeom prst="rect">
            <a:avLst/>
          </a:prstGeom>
          <a:noFill/>
          <a:ln/>
        </p:spPr>
        <p:txBody>
          <a:bodyPr wrap="square" lIns="25400" tIns="25400" rIns="25400" bIns="25400" rtlCol="0" anchor="ctr"/>
          <a:lstStyle/>
          <a:p>
            <a:pPr algn="ctr" indent="0" marL="0">
              <a:buNone/>
            </a:pPr>
            <a:r>
              <a:rPr lang="en-US" sz="1300" dirty="0">
                <a:solidFill>
                  <a:srgbClr val="000000"/>
                </a:solidFill>
                <a:latin typeface="Georgia" pitchFamily="34" charset="0"/>
                <a:ea typeface="Georgia" pitchFamily="34" charset="-122"/>
                <a:cs typeface="Georgia" pitchFamily="34" charset="-120"/>
              </a:rPr>
              <a:t>Agonal phase</a:t>
            </a:r>
            <a:endParaRPr lang="en-US" sz="1300" dirty="0"/>
          </a:p>
        </p:txBody>
      </p:sp>
      <p:sp>
        <p:nvSpPr>
          <p:cNvPr id="28" name="Window"/>
          <p:cNvSpPr/>
          <p:nvPr/>
        </p:nvSpPr>
        <p:spPr>
          <a:xfrm>
            <a:off x="5943600" y="5349240"/>
            <a:ext cx="2926080" cy="365760"/>
          </a:xfrm>
          <a:prstGeom prst="rect">
            <a:avLst/>
          </a:prstGeom>
          <a:solidFill>
            <a:srgbClr val="2E7D8C"/>
          </a:solidFill>
          <a:ln w="12700">
            <a:solidFill>
              <a:srgbClr val="2E7D8C"/>
            </a:solidFill>
            <a:prstDash val="solid"/>
          </a:ln>
        </p:spPr>
      </p:sp>
      <p:sp>
        <p:nvSpPr>
          <p:cNvPr id="29" name="Text 27"/>
          <p:cNvSpPr txBox="1"/>
          <p:nvPr/>
        </p:nvSpPr>
        <p:spPr>
          <a:xfrm>
            <a:off x="5943600" y="5349240"/>
            <a:ext cx="2926080" cy="365760"/>
          </a:xfrm>
          <a:prstGeom prst="rect">
            <a:avLst/>
          </a:prstGeom>
          <a:noFill/>
          <a:ln/>
        </p:spPr>
        <p:txBody>
          <a:bodyPr wrap="square" lIns="25400" tIns="25400" rIns="25400" bIns="25400" rtlCol="0" anchor="ctr"/>
          <a:lstStyle/>
          <a:p>
            <a:pPr algn="ctr" indent="0" marL="0">
              <a:buNone/>
            </a:pPr>
            <a:r>
              <a:rPr lang="en-US" sz="1300" dirty="0">
                <a:solidFill>
                  <a:srgbClr val="FFFFFF"/>
                </a:solidFill>
                <a:latin typeface="Georgia" pitchFamily="34" charset="0"/>
                <a:ea typeface="Georgia" pitchFamily="34" charset="-122"/>
                <a:cs typeface="Georgia" pitchFamily="34" charset="-120"/>
              </a:rPr>
              <a:t>Asystolic warm ischemia</a:t>
            </a:r>
            <a:endParaRPr lang="en-US" sz="1300" dirty="0"/>
          </a:p>
        </p:txBody>
      </p:sp>
      <p:sp>
        <p:nvSpPr>
          <p:cNvPr id="30" name="Text 28"/>
          <p:cNvSpPr txBox="1"/>
          <p:nvPr/>
        </p:nvSpPr>
        <p:spPr>
          <a:xfrm>
            <a:off x="822960" y="5806440"/>
            <a:ext cx="10545775" cy="41148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With NRP, warm oxygenated blood reaches the liver again soon after death is declared</a:t>
            </a:r>
            <a:endParaRPr lang="en-US" sz="1700" dirty="0"/>
          </a:p>
        </p:txBody>
      </p:sp>
      <p:sp>
        <p:nvSpPr>
          <p:cNvPr id="3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Definitions from Kalisvaart M, Croome KP, Hernandez-Alejandro R, et al. ILTS consensus working group. Transplantation 2021;105(6):1156-64 [PMID: 34048418]</a:t>
            </a:r>
            <a:endParaRPr lang="en-US" sz="1000" dirty="0"/>
          </a:p>
        </p:txBody>
      </p:sp>
      <p:sp>
        <p:nvSpPr>
          <p:cNvPr id="3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821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Early allograft dysfunction</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821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non-anastomotic</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strictures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44/48</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87168"/>
                <a:gridCol w="8787384"/>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53, 58-62, 64, 76, 79, 82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414016"/>
                <a:gridCol w="886053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the 2025 AASLD/AST guideline says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 statements 9, 19-20, 24, 26, 44-45, 83-84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47/48</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48/48</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2026-10-27T20:37:34Z</dcterms:created>
  <dcterms:modified xsi:type="dcterms:W3CDTF">2026-10-27T20:37:34Z</dcterms:modified>
</cp:coreProperties>
</file>