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a27792-c00d-5e5d-20d5-c3a033f481a3}">
          <p14:sldIdLst>
            <p14:sldId id="256"/>
            <p14:sldId id="257"/>
            <p14:sldId id="258"/>
          </p14:sldIdLst>
        </p14:section>
        <p14:section name="How we got here" id="{20f28fb5-1795-0ec8-eb1c-eafb903076f6}">
          <p14:sldIdLst>
            <p14:sldId id="259"/>
            <p14:sldId id="260"/>
            <p14:sldId id="261"/>
          </p14:sldIdLst>
        </p14:section>
        <p14:section name="Is it worth it?" id="{890dde5f-b487-ad68-1c3e-7def4a478e8f}">
          <p14:sldIdLst>
            <p14:sldId id="262"/>
            <p14:sldId id="263"/>
          </p14:sldIdLst>
        </p14:section>
        <p14:section name="When to refer" id="{896d4ff4-f343-3526-f43e-dc3dd8628d2c}">
          <p14:sldIdLst>
            <p14:sldId id="264"/>
            <p14:sldId id="265"/>
            <p14:sldId id="266"/>
            <p14:sldId id="267"/>
            <p14:sldId id="268"/>
            <p14:sldId id="269"/>
            <p14:sldId id="270"/>
            <p14:sldId id="271"/>
          </p14:sldIdLst>
        </p14:section>
        <p14:section name="Who can get a liver now" id="{1221ca00-3fd3-a90b-aa76-eacaf690ef01}">
          <p14:sldIdLst>
            <p14:sldId id="272"/>
            <p14:sldId id="273"/>
            <p14:sldId id="274"/>
            <p14:sldId id="275"/>
            <p14:sldId id="276"/>
            <p14:sldId id="277"/>
            <p14:sldId id="278"/>
            <p14:sldId id="279"/>
            <p14:sldId id="280"/>
            <p14:sldId id="281"/>
            <p14:sldId id="282"/>
            <p14:sldId id="283"/>
          </p14:sldIdLst>
        </p14:section>
        <p14:section name="From Maine to Boston" id="{32169d45-d3a2-d4a5-ac3a-b668f664767c}">
          <p14:sldIdLst>
            <p14:sldId id="284"/>
            <p14:sldId id="285"/>
            <p14:sldId id="286"/>
            <p14:sldId id="287"/>
            <p14:sldId id="288"/>
          </p14:sldIdLst>
        </p14:section>
        <p14:section name="Where the livers come from" id="{47dc444b-e8c6-fb26-0c79-f35b06debd42}">
          <p14:sldIdLst>
            <p14:sldId id="289"/>
            <p14:sldId id="290"/>
            <p14:sldId id="291"/>
            <p14:sldId id="292"/>
            <p14:sldId id="293"/>
            <p14:sldId id="294"/>
            <p14:sldId id="295"/>
            <p14:sldId id="296"/>
            <p14:sldId id="297"/>
            <p14:sldId id="298"/>
            <p14:sldId id="299"/>
            <p14:sldId id="300"/>
            <p14:sldId id="301"/>
          </p14:sldIdLst>
        </p14:section>
        <p14:section name="Your patient had a transplant" id="{ae8ff71b-691e-4808-8c1f-0893fcfb3f32}">
          <p14:sldIdLst>
            <p14:sldId id="302"/>
            <p14:sldId id="303"/>
            <p14:sldId id="304"/>
            <p14:sldId id="305"/>
            <p14:sldId id="306"/>
            <p14:sldId id="307"/>
            <p14:sldId id="308"/>
            <p14:sldId id="309"/>
          </p14:sldIdLst>
        </p14:section>
        <p14:section name="Appendix" id="{c6a5d010-88e6-8808-3827-5d035a59cb28}">
          <p14:sldIdLst>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Below 15, transplant raised the one-year risk of death compared with staying on the list. At 15-17 the risk tipped toward benefit, though not yet significantly, and from 18 up the benefit was clear and grew with MELD. So 15 was the crossover.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Withdrawal happens in the ICU or the OR, usually with the family there.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start only after death is declared and the no-touch wait is over. The circuit is basically ECMO: reservoir, pump, oxygenator and heater. The liver gets warm oxygenated blood again, usually for an hour or two, and the team follows lactate and liver tests to decide whether to use it. TA-NRP is one of the two ways DCD hearts are recovered in the US; the other takes the heart straight onto a machine. Cutting and venting the vessels is what keeps blood from reaching the brain. The November 2025 OPTN/HRSA safety notice spelled those steps out for both setups after concerns about unintended brain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would you expect better or worse livers, and do you think it is legal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retrospective US multicenter study, not a trial; the Spanish and UK registry data point the same way, with fewer bile duct problems after NRP. On the rules: the US has no statute that permits or bans NRP. Critics, including the American College of Physicians, argue that restarting circulation after death is declared may not fit the Uniform Determination of Death Act, which almost every state has adopted. HRSA has been asking the OPTN for NRP data since 2024, the November 2025 safety notice made the vessel steps explicit, and the OPTN workgroup's draft policy still has to go to the board. This is likely to change, so check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raised the 1-year risk of death vs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raised it</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Crossover: benefit begins</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Clear benefit, larger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TA-NRP and A-NRP differ?</a:t>
            </a:r>
            <a:endParaRPr lang="en-US" sz="3000" dirty="0"/>
          </a:p>
        </p:txBody>
      </p:sp>
      <p:pic>
        <p:nvPicPr>
          <p:cNvPr id="3" name="Image 0" descr="Thoraco-abdominal and abdominal normothermic regional perfusion circuits: reservoir, roller pump, oxygenator, gas mixer and heat exchanger">    </p:cNvPr>
          <p:cNvPicPr>
            <a:picLocks noChangeAspect="1"/>
          </p:cNvPicPr>
          <p:nvPr/>
        </p:nvPicPr>
        <p:blipFill>
          <a:blip r:embed="rId1"/>
          <a:stretch>
            <a:fillRect/>
          </a:stretch>
        </p:blipFill>
        <p:spPr>
          <a:xfrm>
            <a:off x="1520301" y="1097280"/>
            <a:ext cx="9151094" cy="3931920"/>
          </a:xfrm>
          <a:prstGeom prst="rect">
            <a:avLst/>
          </a:prstGeom>
        </p:spPr>
      </p:pic>
      <p:sp>
        <p:nvSpPr>
          <p:cNvPr id="4" name="Text 1"/>
          <p:cNvSpPr txBox="1"/>
          <p:nvPr/>
        </p:nvSpPr>
        <p:spPr>
          <a:xfrm>
            <a:off x="548640"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TA-NRP: </a:t>
            </a:r>
            <a:r>
              <a:rPr lang="en-US" sz="1500" dirty="0">
                <a:solidFill>
                  <a:srgbClr val="000000"/>
                </a:solidFill>
                <a:latin typeface="Georgia" pitchFamily="34" charset="0"/>
                <a:ea typeface="Georgia" pitchFamily="34" charset="-122"/>
                <a:cs typeface="Georgia" pitchFamily="34" charset="-120"/>
              </a:rPr>
              <a:t>the chest is opened and the arteries to the head are clamped, cut and vented. The heart beats again, so heart, lungs and abdominal organs can all be used.</a:t>
            </a:r>
            <a:endParaRPr lang="en-US" sz="1500" dirty="0"/>
          </a:p>
        </p:txBody>
      </p:sp>
      <p:sp>
        <p:nvSpPr>
          <p:cNvPr id="5" name="Text 2"/>
          <p:cNvSpPr txBox="1"/>
          <p:nvPr/>
        </p:nvSpPr>
        <p:spPr>
          <a:xfrm>
            <a:off x="6248095"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A-NRP: </a:t>
            </a:r>
            <a:r>
              <a:rPr lang="en-US" sz="1500" dirty="0">
                <a:solidFill>
                  <a:srgbClr val="000000"/>
                </a:solidFill>
                <a:latin typeface="Georgia" pitchFamily="34" charset="0"/>
                <a:ea typeface="Georgia" pitchFamily="34" charset="-122"/>
                <a:cs typeface="Georgia" pitchFamily="34" charset="-120"/>
              </a:rPr>
              <a:t>the aorta is blocked above the celiac and cut above the block. Only the abdominal organs get blood; the heart doesn't restart.</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Alamouti-Fard E, Garg P, Wadiwala IJ, et al. Cureus 2022;14(6):e26437, CC BY 4.0. Vessel steps: OPTN/HRSA NRP safety notice, November 21, 2025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Schnickel GT et al. JAMA Surg 2024;159(6):677-85. OPTN/HRSA NRP safety notice, November 21, 2025. HRSA, NRP policy issue page (accessed 10/2026)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7 vs 10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vs 2 grafts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Similar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949440" y="1371600"/>
            <a:ext cx="4846320" cy="457200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 federal or state law names NRP; the argument is over the dead donor rule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November 2025: OPTN/HRSA safety notice on cutting and venting the vessels to the brain</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An OPTN workgroup has been drafting national NRP policy since October 2025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Schnickel GT et al. JAMA Surg 2024;159(6):677-85. OPTN/HRSA NRP safety notice, November 21, 2025. HRSA, NRP policy issue page (accessed 10/2026)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Early allograft dysfunction</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non-anastomotic</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strictures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48/50</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49/50</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2026-10-27T20:47:44Z</dcterms:created>
  <dcterms:modified xsi:type="dcterms:W3CDTF">2026-10-27T20:47:44Z</dcterms:modified>
</cp:coreProperties>
</file>