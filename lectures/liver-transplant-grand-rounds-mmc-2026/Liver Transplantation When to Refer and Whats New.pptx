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f0ec0c-513d-81b5-8e1f-3fa6f8361afb}">
          <p14:sldIdLst>
            <p14:sldId id="256"/>
            <p14:sldId id="257"/>
            <p14:sldId id="258"/>
          </p14:sldIdLst>
        </p14:section>
        <p14:section name="Is it worth it?" id="{012abe67-1e1c-04e9-282e-6208c0c66ed9}">
          <p14:sldIdLst>
            <p14:sldId id="259"/>
            <p14:sldId id="260"/>
          </p14:sldIdLst>
        </p14:section>
        <p14:section name="When to refer" id="{fad1aa6d-5f07-8d67-ad86-0259ea809b28}">
          <p14:sldIdLst>
            <p14:sldId id="261"/>
            <p14:sldId id="262"/>
            <p14:sldId id="263"/>
            <p14:sldId id="264"/>
            <p14:sldId id="265"/>
            <p14:sldId id="266"/>
            <p14:sldId id="267"/>
            <p14:sldId id="268"/>
            <p14:sldId id="269"/>
          </p14:sldIdLst>
        </p14:section>
        <p14:section name="From Maine to Boston" id="{eb69dd38-b81b-eda5-fb73-d201e47525df}">
          <p14:sldIdLst>
            <p14:sldId id="270"/>
            <p14:sldId id="271"/>
            <p14:sldId id="272"/>
            <p14:sldId id="273"/>
          </p14:sldIdLst>
        </p14:section>
        <p14:section name="Who can get a liver now" id="{b0e161d0-93ea-e227-3df6-7cc0670f21de}">
          <p14:sldIdLst>
            <p14:sldId id="274"/>
            <p14:sldId id="275"/>
            <p14:sldId id="276"/>
            <p14:sldId id="277"/>
            <p14:sldId id="278"/>
            <p14:sldId id="279"/>
            <p14:sldId id="280"/>
            <p14:sldId id="281"/>
            <p14:sldId id="282"/>
            <p14:sldId id="283"/>
            <p14:sldId id="284"/>
            <p14:sldId id="285"/>
          </p14:sldIdLst>
        </p14:section>
        <p14:section name="Where the livers come from" id="{620672cf-5391-bef3-681e-6a6c2ebea255}">
          <p14:sldIdLst>
            <p14:sldId id="286"/>
            <p14:sldId id="287"/>
            <p14:sldId id="288"/>
            <p14:sldId id="289"/>
            <p14:sldId id="290"/>
            <p14:sldId id="291"/>
            <p14:sldId id="292"/>
          </p14:sldIdLst>
        </p14:section>
        <p14:section name="Your patient had a transplant" id="{aa38efe0-ab3f-867e-4772-9d2ad85f9afc}">
          <p14:sldIdLst>
            <p14:sldId id="293"/>
            <p14:sldId id="294"/>
            <p14:sldId id="295"/>
            <p14:sldId id="296"/>
            <p14:sldId id="297"/>
            <p14:sldId id="298"/>
            <p14:sldId id="299"/>
            <p14:sldId id="300"/>
          </p14:sldIdLst>
        </p14:section>
        <p14:section name="Appendix" id="{9aeef776-2b5e-3789-51d7-0187a3a55b85}">
          <p14:sldIdLst>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Alcohol relapse after transplant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 (case-fatality)</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Before machine perfusion</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Two halves: when to refer and who can be a candidate now, then what's new in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 first half is for everyone who sees patients with liver disease. The second half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the share of adult recipients who had died by that point, by the year they were transplanted. All of them trend down. One-year patient survival after a deceased donor liver is now 93.5%. About one in three recipients transplanted in 2014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Part of that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Any one of these events is a reason to call. The 2013 guideline said MELD 15. The new one says the benefit may start at 12, and a low MELD alone shouldn't stop a referral. They still see 15 as reasonable when there are no portal hypertensive complications, but with complications, any MELD is fine to refer.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Below 15, the risk of the operation outweighed the risk of waiting, so we told people to refer at 15. That was 2005 data, and the next slide is the living donor data that pushed the number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This is one reason the new guideline moved to 12.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The female term is there because creatinine underestimates kidney dysfunction in smaller patients, mostly women.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found the odds of transplant for women were 1.36 times higher right after the change, 1.18 at 3 months, and the effect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these were common reasons for a center to say no, or for a referring doctor not to call. The 2025 guideline says none of them should end the conversation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every patient here makes this drive.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Allocation starts at the donor hospital, not at the transplant center. For a patient from Maine, what matters is the MELD and being listed, not the zip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evaluation can be done in a few visits. Listing isn't the end of the work,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this is done by the referring team, not by us.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that used to be turned away: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The patients who did well are the ones who stopped drinking, which is why the relapse plan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early group is everyone offered early transplant, transplanted or not. The survival benefit is large; the cost is more relapse and more heavy drinking. Days abstinent were not different (82% vs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now say the same thing in different words. The AASLD/AST guideline has no numbered statement on early transplant for alcohol-associated hepatitis itself; it says to refer early and not to use the length of abstinence alone to exclude.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Even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HCC, the exception starts at the calculated MELD and goes to MMaT minus 3 from the second extension. The two oncology pathways are new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Recurrence is common but often treatable. The 5-year survival with chemotherapy alone was 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Some of you will have read about the federal review of a Kentucky procurement organization in July 2025. DCD has strict rules: death is declared by a team that has nothing to do with the transplant, and there is a waiting period after the heart stops. That review led to new national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 also used 51% of the DCD livers it assessed vs 26% in the control arm. Nasralla's machine kept livers 54% longer. These trials are the basis for the guideline recommendations on the next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guideline says to discuss living donation with every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the first three lines are our practice.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Nirmatrelvir-ritonavir is a common one now: it can push levels very high within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most of what kills transplant recipients is metabolic, cardiovascular, kidney disease and cancer, not the graft.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554480"/>
            <a:ext cx="566928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Know when to refer a patient with liver disease for transplant evaluation</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Know who can be a transplant candidate today</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Know where donor livers come from now</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Care for a transplant recipient on your service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liver transplant worth all the trouble?</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More liver transplants than ever</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2020-2024 Annual Data Reports.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5074920"/>
            <a:ext cx="10545775" cy="1005840"/>
          </a:xfrm>
          <a:prstGeom prst="rect">
            <a:avLst/>
          </a:prstGeom>
          <a:noFill/>
          <a:ln/>
        </p:spPr>
        <p:txBody>
          <a:bodyPr wrap="square" lIns="25400" tIns="25400" rIns="25400" bIns="25400" rtlCol="0" anchor="t"/>
          <a:lstStyle/>
          <a:p>
            <a:pPr algn="ctr" indent="0" marL="0">
              <a:buNone/>
            </a:pPr>
            <a:r>
              <a:rPr lang="en-US" sz="1800" b="1" dirty="0">
                <a:solidFill>
                  <a:srgbClr val="000000"/>
                </a:solidFill>
                <a:latin typeface="Georgia" pitchFamily="34" charset="0"/>
                <a:ea typeface="Georgia" pitchFamily="34" charset="-122"/>
                <a:cs typeface="Georgia" pitchFamily="34" charset="-120"/>
              </a:rPr>
              <a:t>Statement 1: </a:t>
            </a:r>
            <a:r>
              <a:rPr lang="en-US" sz="1800" dirty="0">
                <a:solidFill>
                  <a:srgbClr val="000000"/>
                </a:solidFill>
                <a:latin typeface="Georgia" pitchFamily="34" charset="0"/>
                <a:ea typeface="Georgia" pitchFamily="34" charset="-122"/>
                <a:cs typeface="Georgia" pitchFamily="34" charset="-120"/>
              </a:rPr>
              <a:t>refer after any decompensating event. Survival benefit may start at MELD ≥12. “MELD score alone should not be a barrier to referral for transplantation.”</a:t>
            </a:r>
            <a:endParaRPr lang="en-US" sz="18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and statement 1 redrawn from Dove L et al. AASLD/AST candidate evaluation guideline. Hepatology 2026;83(6):1609-45 [PMID: 41405234]</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Death risk after transplant higher than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higher</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About even</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comes out ahead, more so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Survival benefit analysis of US waitlist candidates: transplant vs staying on the list, by MELD at listing</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Liver Transpl 2009;15(2):242-54</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A: one-year hazard ratio of death with living donor LT vs staying on the list, by MELD-Na category">    </p:cNvPr>
          <p:cNvPicPr>
            <a:picLocks noChangeAspect="1"/>
          </p:cNvPicPr>
          <p:nvPr/>
        </p:nvPicPr>
        <p:blipFill>
          <a:blip r:embed="rId2"/>
          <a:stretch>
            <a:fillRect/>
          </a:stretch>
        </p:blipFill>
        <p:spPr>
          <a:xfrm>
            <a:off x="684933" y="2377440"/>
            <a:ext cx="539669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40233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40233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34924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patients are too frail to wait?</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 (statement 33)</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 (44-45)</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29000"/>
                <a:gridCol w="6281928"/>
                <a:gridCol w="1380744"/>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2025 AASLD/AST guideline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Statement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 criterion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37-39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Frailty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Assess it with a standard tool; not a sole contraindication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44-45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48-49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 contraindication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2, 43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48640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Watercolor of a snowy highway heading south through pine tree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The sickest candidates in the closest circle get the first offers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685032"/>
                <a:gridCol w="685800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Support at home, alcohol and drug history,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Nutrition: protein 1.2-1.5 g/kg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17/43</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Severe alcohol-associated hepatitis not responding to steroids, first liver presentation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19/43</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follow-up, 347 patients: 5-year survival 83%; continued harmful drinking, aHR 3.59 for death</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2-year survival 70.6% offered early LT vs 28.3% not eligible</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40864"/>
                <a:gridCol w="8933688"/>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Refer ALD early; length of abstinence alone is not an exclusion (37-38)</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Methadone or buprenorphine: no denial, no taper (41)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720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No ACLF: 9% died within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24/43</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547872"/>
                <a:gridCol w="5404104"/>
                <a:gridCol w="2322576"/>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with PVR &lt;5, or 35-44 with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Review board, since Feb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Review board, since Feb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25/43</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371600"/>
            <a:ext cx="4526280" cy="4754880"/>
          </a:xfrm>
          <a:prstGeom prst="rect">
            <a:avLst/>
          </a:prstGeom>
          <a:noFill/>
          <a:ln/>
        </p:spPr>
        <p:txBody>
          <a:bodyPr wrap="square" lIns="50800" tIns="50800" rIns="50800" bIns="50800" rtlCol="0" anchor="t"/>
          <a:lstStyle/>
          <a:p>
            <a:pPr marL="228600" indent="-228600">
              <a:spcBef>
                <a:spcPts val="1400"/>
              </a:spcBef>
              <a:buSzPct val="100000"/>
              <a:buChar char="–"/>
            </a:pPr>
            <a:r>
              <a:rPr lang="en-US" sz="1800" b="1" dirty="0">
                <a:solidFill>
                  <a:srgbClr val="000000"/>
                </a:solidFill>
                <a:latin typeface="Georgia" pitchFamily="34" charset="0"/>
                <a:ea typeface="Georgia" pitchFamily="34" charset="-122"/>
                <a:cs typeface="Georgia" pitchFamily="34" charset="-120"/>
              </a:rPr>
              <a:t>20 centers in France, Belgium and Italy, not the US</a:t>
            </a:r>
            <a:endParaRPr lang="en-US" sz="1800" dirty="0"/>
          </a:p>
          <a:p>
            <a:pPr marL="228600" indent="-228600">
              <a:spcBef>
                <a:spcPts val="1400"/>
              </a:spcBef>
              <a:buSzPct val="100000"/>
              <a:buChar char="–"/>
            </a:pPr>
            <a:r>
              <a:rPr lang="en-US" sz="1800" dirty="0">
                <a:solidFill>
                  <a:srgbClr val="000000"/>
                </a:solidFill>
                <a:latin typeface="Georgia" pitchFamily="34" charset="0"/>
                <a:ea typeface="Georgia" pitchFamily="34" charset="-122"/>
                <a:cs typeface="Georgia" pitchFamily="34" charset="-120"/>
              </a:rPr>
              <a:t>94 randomized: age 18-65, BRAF wild-type, primary resected, liver-only disease responding to chemotherapy</a:t>
            </a:r>
            <a:endParaRPr lang="en-US" sz="1800" dirty="0"/>
          </a:p>
          <a:p>
            <a:pPr marL="228600" indent="-228600">
              <a:spcBef>
                <a:spcPts val="1400"/>
              </a:spcBef>
              <a:buSzPct val="100000"/>
              <a:buChar char="–"/>
            </a:pPr>
            <a:r>
              <a:rPr lang="en-US" sz="1800" dirty="0">
                <a:solidFill>
                  <a:srgbClr val="000000"/>
                </a:solidFill>
                <a:latin typeface="Georgia" pitchFamily="34" charset="0"/>
                <a:ea typeface="Georgia" pitchFamily="34" charset="-122"/>
                <a:cs typeface="Georgia" pitchFamily="34" charset="-120"/>
              </a:rPr>
              <a:t>5-year survival 56.6% vs 12.6% (HR 0.37)</a:t>
            </a:r>
            <a:endParaRPr lang="en-US" sz="1800" dirty="0"/>
          </a:p>
          <a:p>
            <a:pPr marL="228600" indent="-228600">
              <a:spcBef>
                <a:spcPts val="1400"/>
              </a:spcBef>
              <a:buSzPct val="100000"/>
              <a:buChar char="–"/>
            </a:pPr>
            <a:r>
              <a:rPr lang="en-US" sz="18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26/43</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75488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27/43</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Intrahepatic cholangiocarcinoma</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cm, 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Stable on observation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28/43</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365760" y="3657600"/>
            <a:ext cx="1828800" cy="914400"/>
          </a:xfrm>
          <a:prstGeom prst="rect">
            <a:avLst/>
          </a:prstGeom>
          <a:solidFill>
            <a:srgbClr val="FFFFFF"/>
          </a:solidFill>
          <a:ln w="12700">
            <a:solidFill>
              <a:srgbClr val="000000"/>
            </a:solidFill>
            <a:prstDash val="solid"/>
          </a:ln>
        </p:spPr>
      </p:sp>
      <p:sp>
        <p:nvSpPr>
          <p:cNvPr id="12" name="Text 10"/>
          <p:cNvSpPr txBox="1"/>
          <p:nvPr/>
        </p:nvSpPr>
        <p:spPr>
          <a:xfrm>
            <a:off x="365760" y="3657600"/>
            <a:ext cx="182880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1280160" y="3108960"/>
            <a:ext cx="2103120" cy="548640"/>
          </a:xfrm>
          <a:prstGeom prst="line">
            <a:avLst/>
          </a:prstGeom>
          <a:noFill/>
          <a:ln w="19050">
            <a:solidFill>
              <a:srgbClr val="000000"/>
            </a:solidFill>
            <a:prstDash val="solid"/>
            <a:tailEnd type="triangle"/>
          </a:ln>
        </p:spPr>
      </p:sp>
      <p:sp>
        <p:nvSpPr>
          <p:cNvPr id="14" name="Box"/>
          <p:cNvSpPr/>
          <p:nvPr/>
        </p:nvSpPr>
        <p:spPr>
          <a:xfrm>
            <a:off x="2377440" y="3657600"/>
            <a:ext cx="1828800" cy="914400"/>
          </a:xfrm>
          <a:prstGeom prst="rect">
            <a:avLst/>
          </a:prstGeom>
          <a:solidFill>
            <a:srgbClr val="FFFFFF"/>
          </a:solidFill>
          <a:ln w="12700">
            <a:solidFill>
              <a:srgbClr val="000000"/>
            </a:solidFill>
            <a:prstDash val="solid"/>
          </a:ln>
        </p:spPr>
      </p:sp>
      <p:sp>
        <p:nvSpPr>
          <p:cNvPr id="15" name="Text 13"/>
          <p:cNvSpPr txBox="1"/>
          <p:nvPr/>
        </p:nvSpPr>
        <p:spPr>
          <a:xfrm>
            <a:off x="2377440" y="3657600"/>
            <a:ext cx="182880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flipH="1">
            <a:off x="3291840" y="3108960"/>
            <a:ext cx="91440" cy="548640"/>
          </a:xfrm>
          <a:prstGeom prst="line">
            <a:avLst/>
          </a:prstGeom>
          <a:noFill/>
          <a:ln w="19050">
            <a:solidFill>
              <a:srgbClr val="000000"/>
            </a:solidFill>
            <a:prstDash val="solid"/>
            <a:tailEnd type="triangle"/>
          </a:ln>
        </p:spPr>
      </p:sp>
      <p:sp>
        <p:nvSpPr>
          <p:cNvPr id="17" name="Box"/>
          <p:cNvSpPr/>
          <p:nvPr/>
        </p:nvSpPr>
        <p:spPr>
          <a:xfrm>
            <a:off x="4389120" y="3657600"/>
            <a:ext cx="1828800" cy="914400"/>
          </a:xfrm>
          <a:prstGeom prst="rect">
            <a:avLst/>
          </a:prstGeom>
          <a:solidFill>
            <a:srgbClr val="FFFFFF"/>
          </a:solidFill>
          <a:ln w="12700">
            <a:solidFill>
              <a:srgbClr val="000000"/>
            </a:solidFill>
            <a:prstDash val="solid"/>
          </a:ln>
        </p:spPr>
      </p:sp>
      <p:sp>
        <p:nvSpPr>
          <p:cNvPr id="18" name="Text 16"/>
          <p:cNvSpPr txBox="1"/>
          <p:nvPr/>
        </p:nvSpPr>
        <p:spPr>
          <a:xfrm>
            <a:off x="4389120" y="3657600"/>
            <a:ext cx="182880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Split liver</a:t>
            </a:r>
            <a:endParaRPr lang="en-US" sz="1500" dirty="0"/>
          </a:p>
        </p:txBody>
      </p:sp>
      <p:sp>
        <p:nvSpPr>
          <p:cNvPr id="19" name="Arrow"/>
          <p:cNvSpPr/>
          <p:nvPr/>
        </p:nvSpPr>
        <p:spPr>
          <a:xfrm>
            <a:off x="3383280" y="3108960"/>
            <a:ext cx="1920240" cy="548640"/>
          </a:xfrm>
          <a:prstGeom prst="line">
            <a:avLst/>
          </a:prstGeom>
          <a:noFill/>
          <a:ln w="19050">
            <a:solidFill>
              <a:srgbClr val="000000"/>
            </a:solidFill>
            <a:prstDash val="solid"/>
            <a:tailEnd type="triangle"/>
          </a:ln>
        </p:spPr>
      </p:sp>
      <p:sp>
        <p:nvSpPr>
          <p:cNvPr id="20"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22" name="Arrow"/>
          <p:cNvSpPr/>
          <p:nvPr/>
        </p:nvSpPr>
        <p:spPr>
          <a:xfrm flipH="1">
            <a:off x="7391095" y="3108960"/>
            <a:ext cx="1417320" cy="548640"/>
          </a:xfrm>
          <a:prstGeom prst="line">
            <a:avLst/>
          </a:prstGeom>
          <a:noFill/>
          <a:ln w="19050">
            <a:solidFill>
              <a:srgbClr val="000000"/>
            </a:solidFill>
            <a:prstDash val="solid"/>
            <a:tailEnd type="triangle"/>
          </a:ln>
        </p:spPr>
      </p:sp>
      <p:sp>
        <p:nvSpPr>
          <p:cNvPr id="23"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4" name="Text 22"/>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5" name="Arrow"/>
          <p:cNvSpPr/>
          <p:nvPr/>
        </p:nvSpPr>
        <p:spPr>
          <a:xfrm>
            <a:off x="8808415" y="3108960"/>
            <a:ext cx="868680" cy="548640"/>
          </a:xfrm>
          <a:prstGeom prst="line">
            <a:avLst/>
          </a:prstGeom>
          <a:noFill/>
          <a:ln w="19050">
            <a:solidFill>
              <a:srgbClr val="000000"/>
            </a:solidFill>
            <a:prstDash val="solid"/>
            <a:tailEnd type="triangle"/>
          </a:ln>
        </p:spPr>
      </p:sp>
      <p:sp>
        <p:nvSpPr>
          <p:cNvPr id="26" name="Text 24"/>
          <p:cNvSpPr txBox="1"/>
          <p:nvPr/>
        </p:nvSpPr>
        <p:spPr>
          <a:xfrm>
            <a:off x="365760" y="480060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7" name="Text 25"/>
          <p:cNvSpPr txBox="1"/>
          <p:nvPr/>
        </p:nvSpPr>
        <p:spPr>
          <a:xfrm>
            <a:off x="6339535" y="480060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3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30/43</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Median time on the waitlist fell from 112 to 62 days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The bile ducts get their blood only from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32/43</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for 1-2 hours at the transplant center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the donor's own abdominal organs are reperfused after circulatory death</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J Clin Exp Hepatol 2024;14(2):101309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33/43</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2962656"/>
                <a:gridCol w="1188720"/>
                <a:gridCol w="3163824"/>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Graft injury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EAD 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Biliary 2.6% vs 9.9% at 1 year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NAS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34/43</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Graft-to-recipient weight ratio at least 0.8%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The benefit starts at low MELD (Jackson 2022)</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35/43</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36/43</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800"/>
              </a:spcBef>
              <a:buSzPct val="100000"/>
              <a:buChar char="–"/>
            </a:pPr>
            <a:r>
              <a:rPr lang="en-US" sz="2100" dirty="0">
                <a:solidFill>
                  <a:srgbClr val="000000"/>
                </a:solidFill>
                <a:latin typeface="Georgia" pitchFamily="34" charset="0"/>
                <a:ea typeface="Georgia" pitchFamily="34" charset="-122"/>
                <a:cs typeface="Georgia" pitchFamily="34" charset="-120"/>
              </a:rPr>
              <a:t>Treat it as rejection until proven otherwise</a:t>
            </a:r>
            <a:endParaRPr lang="en-US" sz="2100" dirty="0"/>
          </a:p>
          <a:p>
            <a:pPr marL="228600" indent="-228600">
              <a:spcBef>
                <a:spcPts val="1800"/>
              </a:spcBef>
              <a:buSzPct val="100000"/>
              <a:buChar char="–"/>
            </a:pPr>
            <a:r>
              <a:rPr lang="en-US" sz="2100" dirty="0">
                <a:solidFill>
                  <a:srgbClr val="000000"/>
                </a:solidFill>
                <a:latin typeface="Georgia" pitchFamily="34" charset="0"/>
                <a:ea typeface="Georgia" pitchFamily="34" charset="-122"/>
                <a:cs typeface="Georgia" pitchFamily="34" charset="-120"/>
              </a:rPr>
              <a:t>Same day: Doppler ultrasound and a tacrolimus level</a:t>
            </a:r>
            <a:endParaRPr lang="en-US" sz="2100" dirty="0"/>
          </a:p>
          <a:p>
            <a:pPr marL="228600" indent="-228600">
              <a:spcBef>
                <a:spcPts val="1800"/>
              </a:spcBef>
              <a:buSzPct val="100000"/>
              <a:buChar char="–"/>
            </a:pPr>
            <a:r>
              <a:rPr lang="en-US" sz="2100" dirty="0">
                <a:solidFill>
                  <a:srgbClr val="000000"/>
                </a:solidFill>
                <a:latin typeface="Georgia" pitchFamily="34" charset="0"/>
                <a:ea typeface="Georgia" pitchFamily="34" charset="-122"/>
                <a:cs typeface="Georgia" pitchFamily="34" charset="-120"/>
              </a:rPr>
              <a:t>Call transplant hepatology</a:t>
            </a:r>
            <a:endParaRPr lang="en-US" sz="2100" dirty="0"/>
          </a:p>
          <a:p>
            <a:pPr marL="228600" indent="-228600">
              <a:spcBef>
                <a:spcPts val="1800"/>
              </a:spcBef>
              <a:buSzPct val="100000"/>
              <a:buChar char="–"/>
            </a:pPr>
            <a:r>
              <a:rPr lang="en-US" sz="2100" dirty="0">
                <a:solidFill>
                  <a:srgbClr val="000000"/>
                </a:solidFill>
                <a:latin typeface="Georgia" pitchFamily="34" charset="0"/>
                <a:ea typeface="Georgia" pitchFamily="34" charset="-122"/>
                <a:cs typeface="Georgia" pitchFamily="34" charset="-120"/>
              </a:rPr>
              <a:t>Biopsy is the gold standard; the transplant team decides on it</a:t>
            </a:r>
            <a:endParaRPr lang="en-US" sz="21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37/43</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843016"/>
                <a:gridCol w="3419856"/>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Irreversible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38/43</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6656832"/>
                <a:gridCol w="3886200"/>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other 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66360"/>
            <a:ext cx="10545775" cy="54864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No herbal supplements without asking the transplant team, and no grapefruit (statements 2-3).</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39/43</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84832"/>
                <a:gridCol w="7690104"/>
                <a:gridCol w="1499616"/>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first; GLP-1 RA or SGLT2i if high CV or kidney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58-59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60-61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Nephrology at stage 4; the team lowers tacrolimus, don't stop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76, 79, 82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40/43</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29968"/>
                <a:gridCol w="7790688"/>
                <a:gridCol w="145389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44-45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the team manages immunosuppression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83-84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at least a year; stop mycophenolate beforehand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24, 26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325880"/>
            <a:ext cx="630936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Refer after any decompensating event, or from MELD 12. A low MELD alone is not a reason to wait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Recent drinking alone is not a reason to say no. Call transplant hepatology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Check every new drug against tacrolimus</a:t>
            </a:r>
            <a:endParaRPr lang="en-US" sz="2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43/43</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2024 Annual Data Report: Liver. Am J Transplant 2026 [PMID: 42276697]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Am J Transplant 2013; Kohli DR et al. ASGE. Gastrointest Endosc 2023</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2026-10-27T18:32:35Z</dcterms:created>
  <dcterms:modified xsi:type="dcterms:W3CDTF">2026-10-27T18:32:35Z</dcterms:modified>
</cp:coreProperties>
</file>