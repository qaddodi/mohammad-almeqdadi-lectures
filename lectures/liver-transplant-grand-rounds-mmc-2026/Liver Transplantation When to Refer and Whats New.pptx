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61a535a-9919-a014-e3ae-438689868543}">
          <p14:sldIdLst>
            <p14:sldId id="256"/>
            <p14:sldId id="257"/>
            <p14:sldId id="258"/>
          </p14:sldIdLst>
        </p14:section>
        <p14:section name="How we got here" id="{4501909b-49f3-156d-a02c-03d7e0ebe1cd}">
          <p14:sldIdLst>
            <p14:sldId id="259"/>
            <p14:sldId id="260"/>
            <p14:sldId id="261"/>
          </p14:sldIdLst>
        </p14:section>
        <p14:section name="Is it worth it?" id="{691a72ba-801e-6082-36ee-77e543385e3b}">
          <p14:sldIdLst>
            <p14:sldId id="262"/>
            <p14:sldId id="263"/>
          </p14:sldIdLst>
        </p14:section>
        <p14:section name="When to refer" id="{00620af2-db4c-79b6-f737-21d642dbfe8c}">
          <p14:sldIdLst>
            <p14:sldId id="264"/>
            <p14:sldId id="265"/>
            <p14:sldId id="266"/>
            <p14:sldId id="267"/>
            <p14:sldId id="268"/>
            <p14:sldId id="269"/>
            <p14:sldId id="270"/>
            <p14:sldId id="271"/>
          </p14:sldIdLst>
        </p14:section>
        <p14:section name="Who can get a liver now" id="{bb34bb6f-4907-dc3c-4dec-a3d74a1a0aea}">
          <p14:sldIdLst>
            <p14:sldId id="272"/>
            <p14:sldId id="273"/>
            <p14:sldId id="274"/>
            <p14:sldId id="275"/>
            <p14:sldId id="276"/>
            <p14:sldId id="277"/>
            <p14:sldId id="278"/>
            <p14:sldId id="279"/>
            <p14:sldId id="280"/>
            <p14:sldId id="281"/>
            <p14:sldId id="282"/>
          </p14:sldIdLst>
        </p14:section>
        <p14:section name="From Maine to Boston" id="{28889046-5592-6c55-9a94-4a837a7e3e26}">
          <p14:sldIdLst>
            <p14:sldId id="283"/>
            <p14:sldId id="284"/>
            <p14:sldId id="285"/>
            <p14:sldId id="286"/>
            <p14:sldId id="287"/>
          </p14:sldIdLst>
        </p14:section>
        <p14:section name="Where the livers come from" id="{3e3a44f0-08b4-28d1-2552-8942d342f1e2}">
          <p14:sldIdLst>
            <p14:sldId id="288"/>
            <p14:sldId id="289"/>
            <p14:sldId id="290"/>
            <p14:sldId id="291"/>
            <p14:sldId id="292"/>
            <p14:sldId id="293"/>
            <p14:sldId id="294"/>
            <p14:sldId id="295"/>
            <p14:sldId id="296"/>
            <p14:sldId id="297"/>
            <p14:sldId id="298"/>
            <p14:sldId id="299"/>
          </p14:sldIdLst>
        </p14:section>
        <p14:section name="Your patient had a transplant" id="{407f9972-0a67-a548-6185-b215c3deed47}">
          <p14:sldIdLst>
            <p14:sldId id="300"/>
            <p14:sldId id="301"/>
            <p14:sldId id="302"/>
            <p14:sldId id="303"/>
            <p14:sldId id="304"/>
            <p14:sldId id="305"/>
            <p14:sldId id="306"/>
          </p14:sldIdLst>
        </p14:section>
        <p14:section name="Appendix" id="{708a5096-392b-7e8b-b515-39ab7334fb33}">
          <p14:sldIdLst>
            <p14:sldId id="307"/>
            <p14:sldId id="308"/>
            <p14:sldId id="309"/>
            <p14:sldId id="310"/>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Liver transplants</c:v>
                </c:pt>
              </c:strCache>
            </c:strRef>
          </c:tx>
          <c:spPr>
            <a:solidFill>
              <a:srgbClr val="1F4E79"/>
            </a:solidFill>
            <a:effectLst/>
          </c:spPr>
          <c:invertIfNegative val="0"/>
          <c:dLbls>
            <c:numFmt formatCode="#,##0"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2020</c:v>
                  </c:pt>
                  <c:pt idx="1">
                    <c:v>2021</c:v>
                  </c:pt>
                  <c:pt idx="2">
                    <c:v>2022</c:v>
                  </c:pt>
                  <c:pt idx="3">
                    <c:v>2023</c:v>
                  </c:pt>
                  <c:pt idx="4">
                    <c:v>2024</c:v>
                  </c:pt>
                </c:lvl>
              </c:multiLvlStrCache>
            </c:multiLvlStrRef>
          </c:cat>
          <c:val>
            <c:numRef>
              <c:f>Sheet1!$B$2:$B$6</c:f>
              <c:numCache>
                <c:formatCode>General</c:formatCode>
                <c:ptCount val="5"/>
                <c:pt idx="0">
                  <c:v>8906</c:v>
                </c:pt>
                <c:pt idx="1">
                  <c:v>9234</c:v>
                </c:pt>
                <c:pt idx="2">
                  <c:v>9527</c:v>
                </c:pt>
                <c:pt idx="3">
                  <c:v>10659</c:v>
                </c:pt>
                <c:pt idx="4">
                  <c:v>11458</c:v>
                </c:pt>
              </c:numCache>
            </c:numRef>
          </c:val>
        </c:ser>
        <c:dLbls>
          <c:numFmt formatCode="#,##0"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200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MELD 3.0</c:v>
                </c:pt>
              </c:strCache>
            </c:strRef>
          </c:tx>
          <c:spPr>
            <a:solidFill>
              <a:srgbClr val="9DB4CA"/>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Transplants going to women</c:v>
                  </c:pt>
                  <c:pt idx="1">
                    <c:v>90-day waitlist dropout, women</c:v>
                  </c:pt>
                </c:lvl>
              </c:multiLvlStrCache>
            </c:multiLvlStrRef>
          </c:cat>
          <c:val>
            <c:numRef>
              <c:f>Sheet1!$B$2:$B$3</c:f>
              <c:numCache>
                <c:formatCode>General</c:formatCode>
                <c:ptCount val="2"/>
                <c:pt idx="0">
                  <c:v>0</c:v>
                </c:pt>
                <c:pt idx="1">
                  <c:v>0</c:v>
                </c:pt>
              </c:numCache>
            </c:numRef>
          </c:val>
        </c:ser>
        <c:ser>
          <c:idx val="1"/>
          <c:order val="1"/>
          <c:tx>
            <c:strRef>
              <c:f>Sheet1!$C$1</c:f>
              <c:strCache>
                <c:ptCount val="1"/>
                <c:pt idx="0">
                  <c:v>After MELD 3.0</c:v>
                </c:pt>
              </c:strCache>
            </c:strRef>
          </c:tx>
          <c:spPr>
            <a:solidFill>
              <a:srgbClr val="1F4E79"/>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Transplants going to women</c:v>
                  </c:pt>
                  <c:pt idx="1">
                    <c:v>90-day waitlist dropout, women</c:v>
                  </c:pt>
                </c:lvl>
              </c:multiLvlStrCache>
            </c:multiLvlStrRef>
          </c:cat>
          <c:val>
            <c:numRef>
              <c:f>Sheet1!$C$2:$C$3</c:f>
              <c:numCache>
                <c:formatCode>General</c:formatCode>
                <c:ptCount val="2"/>
                <c:pt idx="0">
                  <c:v>0</c:v>
                </c:pt>
                <c:pt idx="1">
                  <c:v>0</c:v>
                </c:pt>
              </c:numCache>
            </c:numRef>
          </c:val>
        </c:ser>
        <c:dLbls>
          <c:numFmt formatCode="0.0&quot;%&quot;" sourceLinked="0"/>
          <c:txPr>
            <a:bodyPr/>
            <a:lstStyle/>
            <a:p>
              <a:pPr>
                <a:defRPr b="1" i="0" strike="noStrike" sz="1600" u="none">
                  <a:solidFill>
                    <a:srgbClr val="000000"/>
                  </a:solidFill>
                  <a:latin typeface="Calibri"/>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MELD 3.0</c:v>
                </c:pt>
              </c:strCache>
            </c:strRef>
          </c:tx>
          <c:spPr>
            <a:solidFill>
              <a:srgbClr val="9DB4CA"/>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Transplants going to women</c:v>
                  </c:pt>
                  <c:pt idx="1">
                    <c:v>90-day waitlist dropout, women</c:v>
                  </c:pt>
                </c:lvl>
              </c:multiLvlStrCache>
            </c:multiLvlStrRef>
          </c:cat>
          <c:val>
            <c:numRef>
              <c:f>Sheet1!$B$2:$B$3</c:f>
              <c:numCache>
                <c:formatCode>General</c:formatCode>
                <c:ptCount val="2"/>
                <c:pt idx="0">
                  <c:v>37</c:v>
                </c:pt>
                <c:pt idx="1">
                  <c:v>14.4</c:v>
                </c:pt>
              </c:numCache>
            </c:numRef>
          </c:val>
        </c:ser>
        <c:ser>
          <c:idx val="1"/>
          <c:order val="1"/>
          <c:tx>
            <c:strRef>
              <c:f>Sheet1!$C$1</c:f>
              <c:strCache>
                <c:ptCount val="1"/>
                <c:pt idx="0">
                  <c:v>After MELD 3.0</c:v>
                </c:pt>
              </c:strCache>
            </c:strRef>
          </c:tx>
          <c:spPr>
            <a:solidFill>
              <a:srgbClr val="1F4E79"/>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Transplants going to women</c:v>
                  </c:pt>
                  <c:pt idx="1">
                    <c:v>90-day waitlist dropout, women</c:v>
                  </c:pt>
                </c:lvl>
              </c:multiLvlStrCache>
            </c:multiLvlStrRef>
          </c:cat>
          <c:val>
            <c:numRef>
              <c:f>Sheet1!$C$2:$C$3</c:f>
              <c:numCache>
                <c:formatCode>General</c:formatCode>
                <c:ptCount val="2"/>
                <c:pt idx="0">
                  <c:v>41.7</c:v>
                </c:pt>
                <c:pt idx="1">
                  <c:v>9.1</c:v>
                </c:pt>
              </c:numCache>
            </c:numRef>
          </c:val>
        </c:ser>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Relapse in transplanted patients: early vs standard LT</a:t>
            </a:r>
          </a:p>
        </c:rich>
      </c:tx>
      <c:layout/>
      <c:overlay val="0"/>
    </c:title>
    <c:autoTitleDeleted val="0"/>
    <c:plotArea>
      <c:layout/>
      <c:barChart>
        <c:barDir val="col"/>
        <c:grouping val="clustered"/>
        <c:varyColors val="0"/>
        <c:ser>
          <c:idx val="0"/>
          <c:order val="0"/>
          <c:tx>
            <c:strRef>
              <c:f>Sheet1!$B$1</c:f>
              <c:strCache>
                <c:ptCount val="1"/>
                <c:pt idx="0">
                  <c:v>Early LT</c:v>
                </c:pt>
              </c:strCache>
            </c:strRef>
          </c:tx>
          <c:spPr>
            <a:solidFill>
              <a:srgbClr val="1F4E79"/>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Any relapse</c:v>
                  </c:pt>
                  <c:pt idx="1">
                    <c:v>High alcohol intake</c:v>
                  </c:pt>
                </c:lvl>
              </c:multiLvlStrCache>
            </c:multiLvlStrRef>
          </c:cat>
          <c:val>
            <c:numRef>
              <c:f>Sheet1!$B$2:$B$3</c:f>
              <c:numCache>
                <c:formatCode>General</c:formatCode>
                <c:ptCount val="2"/>
                <c:pt idx="0">
                  <c:v>34</c:v>
                </c:pt>
                <c:pt idx="1">
                  <c:v>22</c:v>
                </c:pt>
              </c:numCache>
            </c:numRef>
          </c:val>
        </c:ser>
        <c:ser>
          <c:idx val="1"/>
          <c:order val="1"/>
          <c:tx>
            <c:strRef>
              <c:f>Sheet1!$C$1</c:f>
              <c:strCache>
                <c:ptCount val="1"/>
                <c:pt idx="0">
                  <c:v>Standard LT</c:v>
                </c:pt>
              </c:strCache>
            </c:strRef>
          </c:tx>
          <c:spPr>
            <a:solidFill>
              <a:srgbClr val="9DB4CA"/>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Any relapse</c:v>
                  </c:pt>
                  <c:pt idx="1">
                    <c:v>High alcohol intake</c:v>
                  </c:pt>
                </c:lvl>
              </c:multiLvlStrCache>
            </c:multiLvlStrRef>
          </c:cat>
          <c:val>
            <c:numRef>
              <c:f>Sheet1!$C$2:$C$3</c:f>
              <c:numCache>
                <c:formatCode>General</c:formatCode>
                <c:ptCount val="2"/>
                <c:pt idx="0">
                  <c:v>25</c:v>
                </c:pt>
                <c:pt idx="1">
                  <c:v>5</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Alcohol-associated cirrhosis</c:v>
                </c:pt>
              </c:strCache>
            </c:strRef>
          </c:tx>
          <c:spPr>
            <a:solidFill>
              <a:srgbClr val="1F4E79"/>
            </a:solidFill>
            <a:effectLst/>
          </c:spPr>
          <c:invertIfNegative val="0"/>
          <c:dLbls>
            <c:numFmt formatCode="0.0&quot;%&quot;" sourceLinked="0"/>
            <c:txPr>
              <a:bodyPr/>
              <a:lstStyle/>
              <a:p>
                <a:pPr>
                  <a:defRPr b="1" i="0" strike="noStrike" sz="2000" u="none">
                    <a:solidFill>
                      <a:srgbClr val="FFFFFF"/>
                    </a:solidFill>
                    <a:latin typeface="Calibri"/>
                  </a:defRPr>
                </a:pPr>
              </a:p>
            </c:txPr>
            <c:showLegendKey val="0"/>
            <c:showVal val="0"/>
            <c:showCatName val="0"/>
            <c:showSerName val="0"/>
            <c:showPercent val="0"/>
            <c:showBubbleSize val="0"/>
            <c:showLeaderLines val="0"/>
          </c:dLbls>
          <c:cat>
            <c:multiLvlStrRef>
              <c:f>Sheet1!$A$2:$A$2</c:f>
              <c:multiLvlStrCache>
                <c:ptCount val="1"/>
                <c:lvl>
                  <c:pt idx="0">
                    <c:v>US adult recipients, 2024</c:v>
                  </c:pt>
                </c:lvl>
              </c:multiLvlStrCache>
            </c:multiLvlStrRef>
          </c:cat>
          <c:val>
            <c:numRef>
              <c:f>Sheet1!$B$2:$B$2</c:f>
              <c:numCache>
                <c:formatCode>General</c:formatCode>
                <c:ptCount val="1"/>
                <c:pt idx="0">
                  <c:v>0</c:v>
                </c:pt>
              </c:numCache>
            </c:numRef>
          </c:val>
        </c:ser>
        <c:ser>
          <c:idx val="1"/>
          <c:order val="1"/>
          <c:tx>
            <c:strRef>
              <c:f>Sheet1!$C$1</c:f>
              <c:strCache>
                <c:ptCount val="1"/>
                <c:pt idx="0">
                  <c:v>Alcohol-associated hepatitis</c:v>
                </c:pt>
              </c:strCache>
            </c:strRef>
          </c:tx>
          <c:spPr>
            <a:solidFill>
              <a:srgbClr val="2E7D8C"/>
            </a:solidFill>
            <a:effectLst/>
          </c:spPr>
          <c:invertIfNegative val="0"/>
          <c:dLbls>
            <c:numFmt formatCode="0.0&quot;%&quot;" sourceLinked="0"/>
            <c:txPr>
              <a:bodyPr/>
              <a:lstStyle/>
              <a:p>
                <a:pPr>
                  <a:defRPr b="1" i="0" strike="noStrike" sz="2000" u="none">
                    <a:solidFill>
                      <a:srgbClr val="FFFFFF"/>
                    </a:solidFill>
                    <a:latin typeface="Calibri"/>
                  </a:defRPr>
                </a:pPr>
              </a:p>
            </c:txPr>
            <c:showLegendKey val="0"/>
            <c:showVal val="0"/>
            <c:showCatName val="0"/>
            <c:showSerName val="0"/>
            <c:showPercent val="0"/>
            <c:showBubbleSize val="0"/>
            <c:showLeaderLines val="0"/>
          </c:dLbls>
          <c:cat>
            <c:multiLvlStrRef>
              <c:f>Sheet1!$A$2:$A$2</c:f>
              <c:multiLvlStrCache>
                <c:ptCount val="1"/>
                <c:lvl>
                  <c:pt idx="0">
                    <c:v>US adult recipients, 2024</c:v>
                  </c:pt>
                </c:lvl>
              </c:multiLvlStrCache>
            </c:multiLvlStrRef>
          </c:cat>
          <c:val>
            <c:numRef>
              <c:f>Sheet1!$C$2:$C$2</c:f>
              <c:numCache>
                <c:formatCode>General</c:formatCode>
                <c:ptCount val="1"/>
                <c:pt idx="0">
                  <c:v>0</c:v>
                </c:pt>
              </c:numCache>
            </c:numRef>
          </c:val>
        </c:ser>
        <c:ser>
          <c:idx val="2"/>
          <c:order val="2"/>
          <c:tx>
            <c:strRef>
              <c:f>Sheet1!$D$1</c:f>
              <c:strCache>
                <c:ptCount val="1"/>
                <c:pt idx="0">
                  <c:v>Everything else</c:v>
                </c:pt>
              </c:strCache>
            </c:strRef>
          </c:tx>
          <c:spPr>
            <a:solidFill>
              <a:srgbClr val="9DB4CA"/>
            </a:solidFill>
            <a:effectLst/>
          </c:spPr>
          <c:invertIfNegative val="0"/>
          <c:dLbls>
            <c:numFmt formatCode="0.0&quot;%&quot;" sourceLinked="0"/>
            <c:txPr>
              <a:bodyPr/>
              <a:lstStyle/>
              <a:p>
                <a:pPr>
                  <a:defRPr b="1" i="0" strike="noStrike" sz="2000" u="none">
                    <a:solidFill>
                      <a:srgbClr val="FFFFFF"/>
                    </a:solidFill>
                    <a:latin typeface="Calibri"/>
                  </a:defRPr>
                </a:pPr>
              </a:p>
            </c:txPr>
            <c:showLegendKey val="0"/>
            <c:showVal val="0"/>
            <c:showCatName val="0"/>
            <c:showSerName val="0"/>
            <c:showPercent val="0"/>
            <c:showBubbleSize val="0"/>
            <c:showLeaderLines val="0"/>
          </c:dLbls>
          <c:cat>
            <c:multiLvlStrRef>
              <c:f>Sheet1!$A$2:$A$2</c:f>
              <c:multiLvlStrCache>
                <c:ptCount val="1"/>
                <c:lvl>
                  <c:pt idx="0">
                    <c:v>US adult recipients, 2024</c:v>
                  </c:pt>
                </c:lvl>
              </c:multiLvlStrCache>
            </c:multiLvlStrRef>
          </c:cat>
          <c:val>
            <c:numRef>
              <c:f>Sheet1!$D$2:$D$2</c:f>
              <c:numCache>
                <c:formatCode>General</c:formatCode>
                <c:ptCount val="1"/>
                <c:pt idx="0">
                  <c:v>0</c:v>
                </c:pt>
              </c:numCache>
            </c:numRef>
          </c:val>
        </c:ser>
        <c:dLbls>
          <c:numFmt formatCode="0.0&quot;%&quot;" sourceLinked="0"/>
          <c:txPr>
            <a:bodyPr/>
            <a:lstStyle/>
            <a:p>
              <a:pPr>
                <a:defRPr b="1" i="0" strike="noStrike" sz="2000" u="none">
                  <a:solidFill>
                    <a:srgbClr val="FFFFFF"/>
                  </a:solidFill>
                  <a:latin typeface="Calibri"/>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6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Alcohol-associated cirrhosis</c:v>
                </c:pt>
              </c:strCache>
            </c:strRef>
          </c:tx>
          <c:spPr>
            <a:solidFill>
              <a:srgbClr val="1F4E79"/>
            </a:solidFill>
            <a:effectLst/>
          </c:spPr>
          <c:invertIfNegative val="0"/>
          <c:dLbls>
            <c:numFmt formatCode="0.0&quot;%&quot;" sourceLinked="0"/>
            <c:txPr>
              <a:bodyPr/>
              <a:lstStyle/>
              <a:p>
                <a:pPr>
                  <a:defRPr b="1" i="0" strike="noStrike" sz="2000" u="none">
                    <a:solidFill>
                      <a:srgbClr val="FFFFFF"/>
                    </a:solidFill>
                    <a:latin typeface="Calibri"/>
                  </a:defRPr>
                </a:pPr>
              </a:p>
            </c:txPr>
            <c:showLegendKey val="0"/>
            <c:showVal val="1"/>
            <c:showCatName val="0"/>
            <c:showSerName val="0"/>
            <c:showPercent val="0"/>
            <c:showBubbleSize val="0"/>
            <c:showLeaderLines val="0"/>
          </c:dLbls>
          <c:cat>
            <c:multiLvlStrRef>
              <c:f>Sheet1!$A$2:$A$2</c:f>
              <c:multiLvlStrCache>
                <c:ptCount val="1"/>
                <c:lvl>
                  <c:pt idx="0">
                    <c:v>US adult recipients, 2024</c:v>
                  </c:pt>
                </c:lvl>
              </c:multiLvlStrCache>
            </c:multiLvlStrRef>
          </c:cat>
          <c:val>
            <c:numRef>
              <c:f>Sheet1!$B$2:$B$2</c:f>
              <c:numCache>
                <c:formatCode>General</c:formatCode>
                <c:ptCount val="1"/>
                <c:pt idx="0">
                  <c:v>33.9</c:v>
                </c:pt>
              </c:numCache>
            </c:numRef>
          </c:val>
        </c:ser>
        <c:ser>
          <c:idx val="1"/>
          <c:order val="1"/>
          <c:tx>
            <c:strRef>
              <c:f>Sheet1!$C$1</c:f>
              <c:strCache>
                <c:ptCount val="1"/>
                <c:pt idx="0">
                  <c:v>Alcohol-associated hepatitis</c:v>
                </c:pt>
              </c:strCache>
            </c:strRef>
          </c:tx>
          <c:spPr>
            <a:solidFill>
              <a:srgbClr val="2E7D8C"/>
            </a:solidFill>
            <a:effectLst/>
          </c:spPr>
          <c:invertIfNegative val="0"/>
          <c:dLbls>
            <c:numFmt formatCode="0.0&quot;%&quot;" sourceLinked="0"/>
            <c:txPr>
              <a:bodyPr/>
              <a:lstStyle/>
              <a:p>
                <a:pPr>
                  <a:defRPr b="1" i="0" strike="noStrike" sz="2000" u="none">
                    <a:solidFill>
                      <a:srgbClr val="FFFFFF"/>
                    </a:solidFill>
                    <a:latin typeface="Calibri"/>
                  </a:defRPr>
                </a:pPr>
              </a:p>
            </c:txPr>
            <c:showLegendKey val="0"/>
            <c:showVal val="1"/>
            <c:showCatName val="0"/>
            <c:showSerName val="0"/>
            <c:showPercent val="0"/>
            <c:showBubbleSize val="0"/>
            <c:showLeaderLines val="0"/>
          </c:dLbls>
          <c:cat>
            <c:multiLvlStrRef>
              <c:f>Sheet1!$A$2:$A$2</c:f>
              <c:multiLvlStrCache>
                <c:ptCount val="1"/>
                <c:lvl>
                  <c:pt idx="0">
                    <c:v>US adult recipients, 2024</c:v>
                  </c:pt>
                </c:lvl>
              </c:multiLvlStrCache>
            </c:multiLvlStrRef>
          </c:cat>
          <c:val>
            <c:numRef>
              <c:f>Sheet1!$C$2:$C$2</c:f>
              <c:numCache>
                <c:formatCode>General</c:formatCode>
                <c:ptCount val="1"/>
                <c:pt idx="0">
                  <c:v>7.3</c:v>
                </c:pt>
              </c:numCache>
            </c:numRef>
          </c:val>
        </c:ser>
        <c:ser>
          <c:idx val="2"/>
          <c:order val="2"/>
          <c:tx>
            <c:strRef>
              <c:f>Sheet1!$D$1</c:f>
              <c:strCache>
                <c:ptCount val="1"/>
                <c:pt idx="0">
                  <c:v>Everything else</c:v>
                </c:pt>
              </c:strCache>
            </c:strRef>
          </c:tx>
          <c:spPr>
            <a:solidFill>
              <a:srgbClr val="9DB4CA"/>
            </a:solidFill>
            <a:effectLst/>
          </c:spPr>
          <c:invertIfNegative val="0"/>
          <c:dLbls>
            <c:numFmt formatCode="0.0&quot;%&quot;" sourceLinked="0"/>
            <c:txPr>
              <a:bodyPr/>
              <a:lstStyle/>
              <a:p>
                <a:pPr>
                  <a:defRPr b="1" i="0" strike="noStrike" sz="2000" u="none">
                    <a:solidFill>
                      <a:srgbClr val="FFFFFF"/>
                    </a:solidFill>
                    <a:latin typeface="Calibri"/>
                  </a:defRPr>
                </a:pPr>
              </a:p>
            </c:txPr>
            <c:showLegendKey val="0"/>
            <c:showVal val="1"/>
            <c:showCatName val="0"/>
            <c:showSerName val="0"/>
            <c:showPercent val="0"/>
            <c:showBubbleSize val="0"/>
            <c:showLeaderLines val="0"/>
          </c:dLbls>
          <c:cat>
            <c:multiLvlStrRef>
              <c:f>Sheet1!$A$2:$A$2</c:f>
              <c:multiLvlStrCache>
                <c:ptCount val="1"/>
                <c:lvl>
                  <c:pt idx="0">
                    <c:v>US adult recipients, 2024</c:v>
                  </c:pt>
                </c:lvl>
              </c:multiLvlStrCache>
            </c:multiLvlStrRef>
          </c:cat>
          <c:val>
            <c:numRef>
              <c:f>Sheet1!$D$2:$D$2</c:f>
              <c:numCache>
                <c:formatCode>General</c:formatCode>
                <c:ptCount val="1"/>
                <c:pt idx="0">
                  <c:v>58.8</c:v>
                </c:pt>
              </c:numCache>
            </c:numRef>
          </c:val>
        </c:ser>
        <c:dLbls>
          <c:numFmt formatCode="0.0&quot;%&quot;" sourceLinked="0"/>
          <c:txPr>
            <a:bodyPr/>
            <a:lstStyle/>
            <a:p>
              <a:pPr>
                <a:defRPr b="1" i="0" strike="noStrike" sz="2000" u="none">
                  <a:solidFill>
                    <a:srgbClr val="FFFFFF"/>
                  </a:solidFill>
                  <a:latin typeface="Calibri"/>
                </a:defRPr>
              </a:pPr>
            </a:p>
          </c:txP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6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Died within a year</a:t>
            </a:r>
          </a:p>
        </c:rich>
      </c:tx>
      <c:layout/>
      <c:overlay val="0"/>
    </c:title>
    <c:autoTitleDeleted val="0"/>
    <c:plotArea>
      <c:layout/>
      <c:barChart>
        <c:barDir val="col"/>
        <c:grouping val="clustered"/>
        <c:varyColors val="0"/>
        <c:ser>
          <c:idx val="0"/>
          <c:order val="0"/>
          <c:tx>
            <c:strRef>
              <c:f>Sheet1!$B$1</c:f>
              <c:strCache>
                <c:ptCount val="1"/>
                <c:pt idx="0">
                  <c:v>Transplanted</c:v>
                </c:pt>
              </c:strCache>
            </c:strRef>
          </c:tx>
          <c:spPr>
            <a:solidFill>
              <a:srgbClr val="1F4E79"/>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ACLF-2</c:v>
                  </c:pt>
                  <c:pt idx="1">
                    <c:v>ACLF-3</c:v>
                  </c:pt>
                </c:lvl>
              </c:multiLvlStrCache>
            </c:multiLvlStrRef>
          </c:cat>
          <c:val>
            <c:numRef>
              <c:f>Sheet1!$B$2:$B$3</c:f>
              <c:numCache>
                <c:formatCode>General</c:formatCode>
                <c:ptCount val="2"/>
                <c:pt idx="0">
                  <c:v>10.5</c:v>
                </c:pt>
                <c:pt idx="1">
                  <c:v>21</c:v>
                </c:pt>
              </c:numCache>
            </c:numRef>
          </c:val>
        </c:ser>
        <c:ser>
          <c:idx val="1"/>
          <c:order val="1"/>
          <c:tx>
            <c:strRef>
              <c:f>Sheet1!$C$1</c:f>
              <c:strCache>
                <c:ptCount val="1"/>
                <c:pt idx="0">
                  <c:v>Declined</c:v>
                </c:pt>
              </c:strCache>
            </c:strRef>
          </c:tx>
          <c:spPr>
            <a:solidFill>
              <a:srgbClr val="C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ACLF-2</c:v>
                  </c:pt>
                  <c:pt idx="1">
                    <c:v>ACLF-3</c:v>
                  </c:pt>
                </c:lvl>
              </c:multiLvlStrCache>
            </c:multiLvlStrRef>
          </c:cat>
          <c:val>
            <c:numRef>
              <c:f>Sheet1!$C$2:$C$3</c:f>
              <c:numCache>
                <c:formatCode>General</c:formatCode>
                <c:ptCount val="2"/>
                <c:pt idx="0">
                  <c:v>73</c:v>
                </c:pt>
                <c:pt idx="1">
                  <c:v>88</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DCD share of deceased donor LTs</a:t>
            </a:r>
          </a:p>
        </c:rich>
      </c:tx>
      <c:layout/>
      <c:overlay val="0"/>
    </c:title>
    <c:autoTitleDeleted val="0"/>
    <c:plotArea>
      <c:layout/>
      <c:barChart>
        <c:barDir val="col"/>
        <c:grouping val="clustered"/>
        <c:varyColors val="0"/>
        <c:ser>
          <c:idx val="0"/>
          <c:order val="0"/>
          <c:tx>
            <c:strRef>
              <c:f>Sheet1!$B$1</c:f>
              <c:strCache>
                <c:ptCount val="1"/>
                <c:pt idx="0">
                  <c:v>DCD share</c:v>
                </c:pt>
              </c:strCache>
            </c:strRef>
          </c:tx>
          <c:spPr>
            <a:solidFill>
              <a:srgbClr val="1F4E79"/>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2016</c:v>
                  </c:pt>
                  <c:pt idx="1">
                    <c:v>2025</c:v>
                  </c:pt>
                </c:lvl>
              </c:multiLvlStrCache>
            </c:multiLvlStrRef>
          </c:cat>
          <c:val>
            <c:numRef>
              <c:f>Sheet1!$B$2:$B$3</c:f>
              <c:numCache>
                <c:formatCode>General</c:formatCode>
                <c:ptCount val="2"/>
                <c:pt idx="0">
                  <c:v>7.4</c:v>
                </c:pt>
                <c:pt idx="1">
                  <c:v>43.2</c:v>
                </c:pt>
              </c:numCache>
            </c:numRef>
          </c:val>
        </c:ser>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Use of NRP and NMP</a:t>
            </a:r>
          </a:p>
        </c:rich>
      </c:tx>
      <c:layout/>
      <c:overlay val="0"/>
    </c:title>
    <c:autoTitleDeleted val="0"/>
    <c:plotArea>
      <c:layout/>
      <c:barChart>
        <c:barDir val="col"/>
        <c:grouping val="clustered"/>
        <c:varyColors val="0"/>
        <c:ser>
          <c:idx val="0"/>
          <c:order val="0"/>
          <c:tx>
            <c:strRef>
              <c:f>Sheet1!$B$1</c:f>
              <c:strCache>
                <c:ptCount val="1"/>
                <c:pt idx="0">
                  <c:v>Pre-MP era</c:v>
                </c:pt>
              </c:strCache>
            </c:strRef>
          </c:tx>
          <c:spPr>
            <a:solidFill>
              <a:srgbClr val="9DB4CA"/>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NRP</c:v>
                  </c:pt>
                  <c:pt idx="1">
                    <c:v>NMP</c:v>
                  </c:pt>
                </c:lvl>
              </c:multiLvlStrCache>
            </c:multiLvlStrRef>
          </c:cat>
          <c:val>
            <c:numRef>
              <c:f>Sheet1!$B$2:$B$3</c:f>
              <c:numCache>
                <c:formatCode>General</c:formatCode>
                <c:ptCount val="2"/>
                <c:pt idx="0">
                  <c:v>3</c:v>
                </c:pt>
                <c:pt idx="1">
                  <c:v>2.3</c:v>
                </c:pt>
              </c:numCache>
            </c:numRef>
          </c:val>
        </c:ser>
        <c:ser>
          <c:idx val="1"/>
          <c:order val="1"/>
          <c:tx>
            <c:strRef>
              <c:f>Sheet1!$C$1</c:f>
              <c:strCache>
                <c:ptCount val="1"/>
                <c:pt idx="0">
                  <c:v>Machine perfusion era</c:v>
                </c:pt>
              </c:strCache>
            </c:strRef>
          </c:tx>
          <c:spPr>
            <a:solidFill>
              <a:srgbClr val="1F4E79"/>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NRP</c:v>
                  </c:pt>
                  <c:pt idx="1">
                    <c:v>NMP</c:v>
                  </c:pt>
                </c:lvl>
              </c:multiLvlStrCache>
            </c:multiLvlStrRef>
          </c:cat>
          <c:val>
            <c:numRef>
              <c:f>Sheet1!$C$2:$C$3</c:f>
              <c:numCache>
                <c:formatCode>General</c:formatCode>
                <c:ptCount val="2"/>
                <c:pt idx="0">
                  <c:v>21.7</c:v>
                </c:pt>
                <c:pt idx="1">
                  <c:v>35.6</c:v>
                </c:pt>
              </c:numCache>
            </c:numRef>
          </c:val>
        </c:ser>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Maine Medical Center grand rounds. About 45 minutes, then questions. After a short history, five parts that follow the patient: when to refer, who can be a candidate now, what happens after the referral, where the livers come from, and what to do when a transplant patient lands on your service. Start by thanking the people who invited me, by name, and the Maine Med hepatology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in the order a patient goes through them. The first two are for everyone who sees patients with liver disease, the donor part has the newer data, and the last part is for anyone who admits a transplant patient. Say that last sentence out loud, so the cardiologists and surgeons know to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human liver transplant was attempted by Thomas Starzl in Denver in March 1963, in a child with biliary atresia who didn't survive the operation. The next several patients died within weeks, and programs stopped. In 1967 Starzl had the first patient who lived more than a year. What made it a real treatment was immunosuppression: Calne's cyclosporine at the end of the 1970s, and the 1983 NIH consensus conference that called liver transplant a treatment for end-stage liver disease rather than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moved to Pittsburgh in 1981, and tacrolimus (FK506) came out of his program there in 1989. He died at home in Pittsburgh.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paper, from Denver. The first child died on the table of hemorrhage from a profound clotting defect, which the paper describes in detail. The next two lived long enough to show the operation could be done, and both died of pulmonary emboli. After more deaths, programs stopped in 1964 until Starzl tried again in 1967. Optional line: "The case report gives his alkaline phosphatase in Bodansky units. I had to look that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mortality lines, not survival curves: each line is the share of adult recipients who had died by that point, by the year they were transplanted. Mortality has come down at most time points, though not every year. One-year patient survival for adults who got a deceased donor liver in 2023 was 93.5%. Of adults transplanted in 2014, 33.6% had died by 10 years [PMID: 42276697].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year since 2020 has been a record. The 2024 report gives 70.3% more than in 2014. Part of the growth is more DCD livers and machine perfusion, which we'll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of the talk that matters most for most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MELD started as a TIPS score. Fredric Gordon, one of the authors of the original paper, is our colleague at Tufts. Optional line: "MELD was built to predict who would die after a TIPS. A year later it was deciding who gets a 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15 came from. Merion used MELD as it changed on the list, comparing transplant with staying on the list. Below 15, transplant raised the one-year risk of death. At 15-17 there was no significant difference either way; that was the crossover. From 18 up the benefit was clear and grew with MELD. A 2009 decision analysis (Perkins) came to the same threshold. The newer data move it down. Malamon 2023, in the MELD-Na era, found a one-year benefit from deceased donor transplant starting at MELD-Na 12 (HR 0.74), whether or not the patient had HCC. That is what the 2025 guideline cites for 'may start at 12'. With a living donor, Jackson 2022 found benefit from MELD-Na 11; that's later in the talk. The guideline says there isn't contemporary data for a MELD 3.0 threshold. These are waitlist studies: they compare transplant with staying on the list, not when to refer. Refer after any decompensation whatever the score; without one, the guideline's writing group still sees 15 as reasonable. Evaluation and listing take time, so referral comes before the point of benefit, not at it. Backup if asked: a 2025 Liver Transplantation analysis reported benefit at MELD 3.0 12-14 (PMID 41378690); I haven't verified it, and the guideline doesn't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line before the formula: "I know what you're thinking... no, nobody has to calculate it." MELD 3.0 = 1.33 (if female) + 4.56 ln(bilirubin) + 0.82 (137 − Na) − 0.24 (137 − Na) ln(bilirubin) + 9.09 ln(INR) + 11.14 ln(creatinine) + 1.85 (3.5 − albumin) − 1.83 (3.5 − albumin) ln(creatinine) + 6. Women had higher waitlist mortality at the same lab values; the sex term covers part of that, and the access gap tied to body size is still there. For real numbers use the OPTN calculator, which applies the lab bounds (sodium 125-137, albumin 1.5-3.5, creatinine 1-3), the dialysis rule, rounding, and the 6-40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the share of transplants that went to women, and how many waitlisted women dropped out within 90 days, before and after July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Transplants to women went from 37.0% to 41.7%, and 90-day dropout in women fell from 14.4% to 9.1% (conference data). Tanaka compared the change in women with the change in men: the relative gain in transplant access for women was OR 1.36 at implementation and 1.18 at 3 months, and it faded later. The gap hasn't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1 of the new guideline, redrawn. The 2025 AASLD/AST guidelines number each recommendation as a statement; the numbers are in the footers if anyone wants to look one up. In the figure, the MELD 3.0 ≥12 box is theirs. Any one of these events is a reason to call. The 2013 guideline said MELD 15. The MELD 12 number comes from studies of patients already on the waitlist, which weren't designed to answer when to refer. So without complications there is no firm cutoff, and 15 is still reasonable. With uncontrolled portal hypertensive complications, refer at any MELD.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that matters most for a hospital without a transplant program. About a third of ALF patients get a transplant, a third recover, and the transplant center can help with both. Don't wait for King's College criteria or for encephalopathy to get worse. For ALF the guideline says barriers like insurance, substance use or infection shouldn't stop the referral, because experienced centers can often get around them, and complications can make the transfer unsafe later. For ACLF it says to consider referral; calling the same day is our practice, not the guideline's wording. The ICU side of ALF and ACLF is in my ALF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has changed for three groups: severe alcohol-associated hepatitis, ACLF, and some cancers.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paper that broke the 6-month rule. Very selected patients, and the benefit was large: 77 ± 8% vs 23 ± 8% at 6 months, P&lt;0.001.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1-year survival 94% and 3-year 84%. Sustained use was 10% at 1 year and 17% at 3 years. In the 2025 analysis, continued harmful drinking carried an aHR of 3.59 (2.17-5.95) for death, and patients who got back to abstinence had predicted survival close to those who never drank harmfully. Finding and treating a return to drinking after transplant matters as much as the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panels compare different groups. The survival curve is everyone offered early transplant, transplanted or not, against patients who weren't eligible. The relapse bars are transplanted patients only, early vs standard transplant. High alcohol intake was more common after early transplant, and non-inferiority for any relapse wasn't shown. Days abstinent were 81.9% vs 88.5% in the early-LT strategy and ineligible groups (p=0.16).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EASL and ACG speak directly to selected patients with severe alcohol-associated hepatitis. The AASLD/AST guideline has no numbered statement on early transplant for alcohol-associated hepatitis itself; it says to refer early and not to use the length of abstinence alone to exclude. It also says patients on methadone or buprenorphine shouldn't be denied or made to taper.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US adult recipients in 2024 with alcohol-associated liver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of adult recipients, a third with alcohol-associated cirrhosis and 7% with alcohol-associated hepatitis.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case-fatality numbers, not survival. This was a prospective observational study, not randomized: the transplanted patients were selected. Even so, ACLF-3 did reasonably well after transplant, and most of the declined patients died. The ICU side of this is in my ALF and ACLF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should stop a first referral on its own. The 2025 guideline says each is weighed with everything else, not used as a cutoff.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MMaT is the median MELD at transplant for recent transplants near the donor hospital, so an exception score moves with the region. For HCC, the exception starts at the calculated MELD and goes to MMaT minus 3 after the first extension. Scores: HCC, HPS and PoPH get MMaT minus 3; colorectal metastases MMaT minus 20 with a floor of 15; iCCA MMaT minus 3. HPS needs room-air PaO2 under 60 with documented shunting, portal hypertension and no significant primary lung disease. PoPH needs mPAP 35 or more and PVR 3 WU or more before treatment, and after treatment mPAP under 35 with PVR under 5, or mPAP 35 to under 45 with PVR under 3. HCC, HPS and PoPH are standard exceptions in policy; the two oncology rows go through the review board under its guidance, in place since February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randomized trial, which is rare in transplant. HR 0.37 (0.21-0.65), p=0.0003. Recurrence is common but often treatable: of 36 transplanted per protocol, 26 recurred, and 12 had the recurrence resected or ablated. The US series ran from December 2017 to March 2025, and exception points have gone through the review board since February 2025. If a patient with colorectal metastases asks about transplant, it's worth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Maine has no liver transplant program, so for many patients here transplant care means travel out of state. Travel, lodging and a caregiver are part of the plan from the first visit. Optional line: "Many of you know this drive. Your patients make it in February, with a caregiver and a bag of pill bottles."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visits it takes depends on how sick the patient is and what has already been done locally; send what you have. Referral, evaluation, listing and exception points are separate decisions. Listing isn't the end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Takes about 3 minutes in clinic. The calculator is free online. Frailty is something the referring team can work on while the patient waits.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 best as shared care, with a clear owner for labs, HCC surveillance, nutrition and addiction treatment. Patients with known HCC are imaged on a different schedule by the transplant team. The patient who comes to transplant with muscle and without drinking does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1 (mostly acute liver failure) gets the broadest priority, then MELD within each circle. Distance is measured from the donor hospital to the transplant hospital, not to the patient's home. The circles are always drawn around the donor hospital, and where a patient stands in them depends on the hospital where they're listed. Portland is roughly 85 nautical miles from Boston (check before saying it), so a liver donated here falls inside the first 150-mile circle for patients listed in Boston. Which brings us to where those livers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transplant numbers are going up. Many DCD livers start in ICUs like yours; Maine's donor hospitals work with New England Donor Services, the same organization as Boston's (confirm with the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split liver goes to two recipients, usually an adult and a child. The growth is almost all DCD.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DCD went from about 1 in 14 deceased donor livers to more than 4 in 10. The paper gives end points and era comparisons, not every year. The shorter wait is for adult DCD recipients only, and the paper doesn't show that perfusion caused it. The earlier era already had some perfusion in trials. Some of you will have read about the federal review of a Kentucky procurement organization in July 2025. DCD has strict rules: death is declared by a team that has nothing to do with the transplant, and there is a waiting period after the heart stops. That review led HRSA to ask for new national safeguards. The OPTN board approved them in 2026: anyone involved, the family included, can call a pause, and families get a standard set of information. They take effect November 18, 2026, the day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complication that kept DCD use low for years, and it's what the perfusion machines are meant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what happens in a DCD donation before showing the clocks. Ask: when do you think the liver starts to suffer?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 the ICU people here have seen: withdrawal in the ICU or the OR, the family there, and the wait. The clock that matters most is functional warm ischemia: from the moment saturation drops below 80% or mean pressure below 60, to the cold flush. That is the ILTS definition; ASTS used a mean pressure below 60, and the UK a saturation below 70 or systolic below 50. The ILTS doesn't set a hard cutoff: past 30 minutes graft loss goes up, and the call weighs the donor, the graft, the recipient and how the liver will be preserved. ASTS suggested 20 to 30 minutes at most, and the UK doesn't use the liver past 30. If the donor doesn't die within the program's window after withdrawal, the liver isn't used. Withdrawal in the OR shortens the functional time, which is what ILTS recommends where local rules allow. The no-touch wait after the heart stops ranges from 2 to 20 minutes around the world and is usually 5 in the US. Nobody touches the donor during it, and death is declared by a team that has nothing to do with the transplant. Hepatectomy time, from the flush until the liver is on ice, matters too. After that come cold storage and the recipient's own warm ischemia during the implant. NRP restarts warm oxygenated blood flow to the abdominal organs after death is declared, and in observational studies NRP livers have had fewer bile duct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storage just slows metabolism down. The machines either replace oxygen cold or keep the liver working at body temperature, and the warm ones let us see whether the liver works before we commit to it. In the diagram, the left side is brain-death donors and the right side DCD.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allograft dysfunction is the Olthoff definition: bilirubin 10 or more or INR 1.6 or more on day 7, or AST or ALT over 2000 in the first week. Non-anastomotic strictures are the ischemic cholangiopathy from two slides back. Nasralla randomized 220 transplants and measured graft injury as peak AST. PROTECT's ischemic biliary complications are at 12 months, and it also used 51% of the DCD livers it assessed vs 26% in the control arm. Nasralla's machine kept livers 54% longer. The three trials studied different livers and end points; none compared one machine with another. They are the basis for the guideline recommendations on the line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would you expect better or worse livers, and do you think it is legal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NRP comes in two forms: abdominal only, or thoraco-abdominal, where the heart beats again in the body (diagram in the appendix). The vessels to the brain are clamped and cut first either way. This is a retrospective US multicenter study, not a trial; the Spanish and UK registry data point the same way, with fewer bile duct problems after NRP. On the rules: the US has no statute that permits or bans NRP. Critics, including the American College of Physicians, argue that restarting circulation after death is declared may not fit the Uniform Determination of Death Act, which almost every state has adopted. HRSA has been asking the OPTN for NRP data since 2024, the November 2025 safety notice made the vessel steps explicit, and the OPTN workgroup's draft policy still has to go to the board. This is likely to change, so check before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Adult recipients mostly get a right lobe. The graft size ratio is a planning target, not a hard cutoff. The main message: bring up living donation early, at the first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living donor the benefit starts well below 15, so living donation is worth raising before a patient reaches the old deceased donor threshold. Figure 1B, adjusted for age at listing, sex and primary diagnosis. James Pomposelli, one of the authors, is now our colleague at Tufts.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everyone who admits or follows a transplant patient. Show of hands: who has had a transplant patient on their service in the last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guideline has no numbered algorithm for abnormal tests; statement 34 covers the biopsy, and the rest is our practice. Rejection is one cause among several, so please call us before giving steroids.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ASGE guideline lands in the same place: MRCP when the diagnosis is unclear, ERCP when you expect to treat.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photograph. Any new drug in a transplant patient, check it against tacrolimus, and stopping a drug matters as much as starting one. Nirmatrelvir/ritonavir is a common one now: it can push levels very high within days. No herbal supplements without asking the transplant team, and no grapefruit. Maine Med has its own kidney transplant program, so: "Your kidney transplant colleagues know this list better than anyone." Optional line: "The usual story: Paxlovid from urgent care, and a tacrolimus level of 40 three days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first year, the long-term problems are cardiovascular disease, kidney disease, cancer and the side effects of immunosuppression, more than the graft. Skin cancer is the most common cancer after transplant. Also in the guideline: BP, weight, glucose and lipids every year; metformin first for diabetes otherwise; amlodipine or felodipine for blood pressure, or an ACE inhibitor or ARB with CVD or CKD; GLP-1 RA for obesity; nephrology at CKD stage 4, and for CKD the transplant team lowers tacrolimus, so please don't stop it. Pregnancy waits a year with 6 months of stable graft function, and mycophenolate is stopped 6 weeks before conception in women and 90 days in men. The guideline also covers bone health and a yearly check for depression and alcohol use. The transplant team manages immunosuppression around surgery.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MELD at transplant in Boston: have the current median for our area ready as a rough number. How do your patients do: point to the SRTR program-specific report and the national 93.5% at one year; no Tufts survival numbers. Relapse after early transplant for alcohol-associated hepatitis: describe the alcohol program and monitoring after transplant. MaineCare and out-of-state transplant, and travel or lodging help for families. Listing at more than one center. Whether the patient has to stay within a few hours of Boston once listed. Whether NRP is done in Maine hospitals: ask the hosts or New England Donor Services beforehand. Pig livers: one sentence on the 2026 J Hepatol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if running long. Small tumors in cirrhosis, often found on the explant, did well, which is where this started. The guideline says under 3 cm; the OPTN review guidance says 3 cm or less. The treatment before listing can be local or systemic. Once listed, imaging every 3 months has to show no growth and no new tumors.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start only after death is declared and the no-touch wait is over. The circuit is basically ECMO: reservoir, pump, oxygenator and heater. The liver gets warm oxygenated blood again, usually for an hour or two, and the team follows lactate and liver tests to decide whether to use it. TA-NRP is one of the two ways DCD hearts are recovered in the US; the other takes the heart straight onto a machine. Cutting and venting the vessels is what keeps blood from reaching the brain. The November 2025 OPTN/HRSA safety notice spelled those steps out for both setups after concerns about unintended brain reperfusion.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lstStyle>
            <a:lvl1pPr algn="ctr" indent="0" marL="0">
              <a:buNone/>
              <a:defRPr lang="en-US" sz="30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728655" cy="1280160"/>
          </a:xfrm>
          <a:prstGeom prst="rect">
            <a:avLst/>
          </a:prstGeom>
          <a:noFill/>
          <a:ln/>
        </p:spPr>
        <p:txBody>
          <a:bodyPr wrap="square" rtlCol="0"/>
          <a:lstStyle>
            <a:lvl1pPr algn="ctr" indent="0" marL="0">
              <a:buNone/>
              <a:defRPr lang="en-US" sz="44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20-1.png"/><Relationship Id="rId2" Type="http://schemas.openxmlformats.org/officeDocument/2006/relationships/image" Target="../media/image-20-2.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atercolor of a coastal road in Maine running south toward a distant city">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320040" y="1097280"/>
            <a:ext cx="5394960" cy="1463040"/>
          </a:xfrm>
          <a:prstGeom prst="rect">
            <a:avLst/>
          </a:prstGeom>
          <a:noFill/>
          <a:ln/>
        </p:spPr>
        <p:txBody>
          <a:bodyPr wrap="square" lIns="0" tIns="0" rIns="0" bIns="0" rtlCol="0" anchor="ctr"/>
          <a:lstStyle/>
          <a:p>
            <a:pPr algn="ctr" indent="0" marL="0">
              <a:buNone/>
            </a:pPr>
            <a:r>
              <a:rPr lang="en-US" sz="3200" b="1" dirty="0">
                <a:solidFill>
                  <a:srgbClr val="000000"/>
                </a:solidFill>
                <a:latin typeface="Georgia" pitchFamily="34" charset="0"/>
                <a:ea typeface="Georgia" pitchFamily="34" charset="-122"/>
                <a:cs typeface="Georgia" pitchFamily="34" charset="-120"/>
              </a:rPr>
              <a:t>Liver Transplantation</a:t>
            </a:r>
            <a:endParaRPr lang="en-US" sz="3200" dirty="0"/>
          </a:p>
          <a:p>
            <a:pPr algn="ctr" indent="0" marL="0">
              <a:buNone/>
            </a:pPr>
            <a:r>
              <a:rPr lang="en-US" sz="2300" b="1" dirty="0">
                <a:solidFill>
                  <a:srgbClr val="000000"/>
                </a:solidFill>
                <a:latin typeface="Georgia" pitchFamily="34" charset="0"/>
                <a:ea typeface="Georgia" pitchFamily="34" charset="-122"/>
                <a:cs typeface="Georgia" pitchFamily="34" charset="-120"/>
              </a:rPr>
              <a:t>When to Refer and What's New</a:t>
            </a:r>
            <a:endParaRPr lang="en-US" sz="3200" dirty="0"/>
          </a:p>
        </p:txBody>
      </p:sp>
      <p:sp>
        <p:nvSpPr>
          <p:cNvPr id="4" name="Shape 1"/>
          <p:cNvSpPr/>
          <p:nvPr/>
        </p:nvSpPr>
        <p:spPr>
          <a:xfrm>
            <a:off x="1508760" y="2834640"/>
            <a:ext cx="3017520" cy="0"/>
          </a:xfrm>
          <a:prstGeom prst="line">
            <a:avLst/>
          </a:prstGeom>
          <a:noFill/>
          <a:ln w="12700">
            <a:solidFill>
              <a:srgbClr val="A6A6A6"/>
            </a:solidFill>
            <a:prstDash val="solid"/>
          </a:ln>
        </p:spPr>
      </p:sp>
      <p:sp>
        <p:nvSpPr>
          <p:cNvPr id="5" name="Text 2"/>
          <p:cNvSpPr txBox="1"/>
          <p:nvPr/>
        </p:nvSpPr>
        <p:spPr>
          <a:xfrm>
            <a:off x="320040" y="3063240"/>
            <a:ext cx="5394960" cy="1783080"/>
          </a:xfrm>
          <a:prstGeom prst="rect">
            <a:avLst/>
          </a:prstGeom>
          <a:noFill/>
          <a:ln/>
        </p:spPr>
        <p:txBody>
          <a:bodyPr wrap="square" lIns="0" tIns="0" rIns="0" bIns="0" rtlCol="0" anchor="t"/>
          <a:lstStyle/>
          <a:p>
            <a:pPr algn="ctr" indent="0" marL="0">
              <a:spcAft>
                <a:spcPts val="400"/>
              </a:spcAft>
              <a:buNone/>
            </a:pPr>
            <a:r>
              <a:rPr lang="en-US" sz="2000" b="1" dirty="0">
                <a:solidFill>
                  <a:srgbClr val="000000"/>
                </a:solidFill>
                <a:latin typeface="Georgia" pitchFamily="34" charset="0"/>
                <a:ea typeface="Georgia" pitchFamily="34" charset="-122"/>
                <a:cs typeface="Georgia" pitchFamily="34" charset="-120"/>
              </a:rPr>
              <a:t>Mohammad Almeqdadi, MD</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Transplant Hepatologist, Tufts Medical Center</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Assistant Professor of Medicine and Surgery</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Tufts University School of Medicine</a:t>
            </a:r>
            <a:endParaRPr lang="en-US" sz="2000" dirty="0"/>
          </a:p>
          <a:p>
            <a:pPr algn="ctr" indent="0" marL="0">
              <a:spcAft>
                <a:spcPts val="400"/>
              </a:spcAft>
              <a:buNone/>
            </a:pPr>
            <a:r>
              <a:rPr lang="en-US" sz="1600" dirty="0">
                <a:solidFill>
                  <a:srgbClr val="595959"/>
                </a:solidFill>
                <a:latin typeface="Georgia" pitchFamily="34" charset="0"/>
                <a:ea typeface="Georgia" pitchFamily="34" charset="-122"/>
                <a:cs typeface="Georgia" pitchFamily="34" charset="-120"/>
              </a:rPr>
              <a:t>X: @mfalmeqdadi</a:t>
            </a:r>
            <a:endParaRPr lang="en-US" sz="2000" dirty="0"/>
          </a:p>
        </p:txBody>
      </p:sp>
      <p:pic>
        <p:nvPicPr>
          <p:cNvPr id="6" name="Image 1" descr="Tufts University School of Medicine">    </p:cNvPr>
          <p:cNvPicPr>
            <a:picLocks noChangeAspect="1"/>
          </p:cNvPicPr>
          <p:nvPr/>
        </p:nvPicPr>
        <p:blipFill>
          <a:blip r:embed="rId2"/>
          <a:stretch>
            <a:fillRect/>
          </a:stretch>
        </p:blipFill>
        <p:spPr>
          <a:xfrm>
            <a:off x="365760" y="5257800"/>
            <a:ext cx="3200400" cy="649224"/>
          </a:xfrm>
          <a:prstGeom prst="rect">
            <a:avLst/>
          </a:prstGeom>
        </p:spPr>
      </p:pic>
      <p:pic>
        <p:nvPicPr>
          <p:cNvPr id="7" name="Image 2" descr="QR code linking to the slides PDF">    </p:cNvPr>
          <p:cNvPicPr>
            <a:picLocks noChangeAspect="1"/>
          </p:cNvPicPr>
          <p:nvPr/>
        </p:nvPicPr>
        <p:blipFill>
          <a:blip r:embed="rId3"/>
          <a:stretch>
            <a:fillRect/>
          </a:stretch>
        </p:blipFill>
        <p:spPr>
          <a:xfrm>
            <a:off x="4389120" y="4937760"/>
            <a:ext cx="1188720" cy="1188720"/>
          </a:xfrm>
          <a:prstGeom prst="rect">
            <a:avLst/>
          </a:prstGeom>
        </p:spPr>
      </p:pic>
      <p:sp>
        <p:nvSpPr>
          <p:cNvPr id="8" name="Text 3"/>
          <p:cNvSpPr txBox="1"/>
          <p:nvPr/>
        </p:nvSpPr>
        <p:spPr>
          <a:xfrm>
            <a:off x="4270248" y="6172200"/>
            <a:ext cx="1417320" cy="274320"/>
          </a:xfrm>
          <a:prstGeom prst="rect">
            <a:avLst/>
          </a:prstGeom>
          <a:noFill/>
          <a:ln/>
        </p:spPr>
        <p:txBody>
          <a:bodyPr wrap="square" lIns="0" tIns="0" rIns="0" bIns="0" rtlCol="0" anchor="ctr"/>
          <a:lstStyle/>
          <a:p>
            <a:pPr algn="ctr" indent="0" marL="0">
              <a:buNone/>
            </a:pPr>
            <a:r>
              <a:rPr lang="en-US" sz="1100" dirty="0">
                <a:solidFill>
                  <a:srgbClr val="595959"/>
                </a:solidFill>
                <a:latin typeface="Georgia" pitchFamily="34" charset="0"/>
                <a:ea typeface="Georgia" pitchFamily="34" charset="-122"/>
                <a:cs typeface="Georgia" pitchFamily="34" charset="-120"/>
              </a:rPr>
              <a:t>Slides (PDF)</a:t>
            </a:r>
            <a:endParaRPr lang="en-US" sz="1100" dirty="0"/>
          </a:p>
        </p:txBody>
      </p:sp>
      <p:sp>
        <p:nvSpPr>
          <p:cNvPr id="9" name="Text 4"/>
          <p:cNvSpPr txBox="1"/>
          <p:nvPr/>
        </p:nvSpPr>
        <p:spPr>
          <a:xfrm>
            <a:off x="365760" y="6473952"/>
            <a:ext cx="4572000" cy="274320"/>
          </a:xfrm>
          <a:prstGeom prst="rect">
            <a:avLst/>
          </a:prstGeom>
          <a:noFill/>
          <a:ln/>
        </p:spPr>
        <p:txBody>
          <a:bodyPr wrap="square" lIns="0" tIns="0" rIns="0" bIns="0" rtlCol="0" anchor="ctr"/>
          <a:lstStyle/>
          <a:p>
            <a:pPr indent="0" marL="0">
              <a:buNone/>
            </a:pPr>
            <a:r>
              <a:rPr lang="en-US" sz="1100" i="1" dirty="0">
                <a:solidFill>
                  <a:srgbClr val="7F7F7F"/>
                </a:solidFill>
                <a:latin typeface="Georgia" pitchFamily="34" charset="0"/>
                <a:ea typeface="Georgia" pitchFamily="34" charset="-122"/>
                <a:cs typeface="Georgia" pitchFamily="34" charset="-120"/>
              </a:rPr>
              <a:t>Illustrations generated with Google Gemini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Disclosures</a:t>
            </a:r>
            <a:endParaRPr lang="en-US" sz="3000" dirty="0"/>
          </a:p>
        </p:txBody>
      </p:sp>
      <p:sp>
        <p:nvSpPr>
          <p:cNvPr id="3" name="Text 1"/>
          <p:cNvSpPr txBox="1"/>
          <p:nvPr/>
        </p:nvSpPr>
        <p:spPr>
          <a:xfrm>
            <a:off x="822960" y="2926080"/>
            <a:ext cx="10545775" cy="731520"/>
          </a:xfrm>
          <a:prstGeom prst="rect">
            <a:avLst/>
          </a:prstGeom>
          <a:noFill/>
          <a:ln/>
        </p:spPr>
        <p:txBody>
          <a:bodyPr wrap="square" lIns="25400" tIns="25400" rIns="25400" bIns="25400" rtlCol="0" anchor="ctr"/>
          <a:lstStyle/>
          <a:p>
            <a:pPr algn="ctr" indent="0" marL="0">
              <a:buNone/>
            </a:pPr>
            <a:r>
              <a:rPr lang="en-US" sz="2600" dirty="0">
                <a:solidFill>
                  <a:srgbClr val="000000"/>
                </a:solidFill>
                <a:latin typeface="Georgia" pitchFamily="34" charset="0"/>
                <a:ea typeface="Georgia" pitchFamily="34" charset="-122"/>
                <a:cs typeface="Georgia" pitchFamily="34" charset="-120"/>
              </a:rPr>
              <a:t>No relevant financial relationships to disclose.</a:t>
            </a:r>
            <a:endParaRPr lang="en-US" sz="26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2/47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Objectives</a:t>
            </a:r>
            <a:endParaRPr lang="en-US" sz="3000" dirty="0"/>
          </a:p>
        </p:txBody>
      </p:sp>
      <p:pic>
        <p:nvPicPr>
          <p:cNvPr id="3" name="Image 0" descr="Watercolor of a lighthouse on a rocky Maine shore">    </p:cNvPr>
          <p:cNvPicPr>
            <a:picLocks noChangeAspect="1"/>
          </p:cNvPicPr>
          <p:nvPr/>
        </p:nvPicPr>
        <p:blipFill>
          <a:blip r:embed="rId1"/>
          <a:stretch>
            <a:fillRect/>
          </a:stretch>
        </p:blipFill>
        <p:spPr>
          <a:xfrm>
            <a:off x="6309360" y="1920240"/>
            <a:ext cx="5669280" cy="3160624"/>
          </a:xfrm>
          <a:prstGeom prst="rect">
            <a:avLst/>
          </a:prstGeom>
        </p:spPr>
      </p:pic>
      <p:sp>
        <p:nvSpPr>
          <p:cNvPr id="4" name="Body"/>
          <p:cNvSpPr txBox="1"/>
          <p:nvPr/>
        </p:nvSpPr>
        <p:spPr>
          <a:xfrm>
            <a:off x="457200" y="1463040"/>
            <a:ext cx="5669280" cy="4572000"/>
          </a:xfrm>
          <a:prstGeom prst="rect">
            <a:avLst/>
          </a:prstGeom>
          <a:noFill/>
          <a:ln/>
        </p:spPr>
        <p:txBody>
          <a:bodyPr wrap="square" lIns="50800" tIns="50800" rIns="50800" bIns="50800" rtlCol="0" anchor="t"/>
          <a:lstStyle/>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Recognize who to refer, and who needs a call the same day</a:t>
            </a:r>
            <a:endParaRPr lang="en-US" sz="2100" dirty="0"/>
          </a:p>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See who can be a transplant candidate now</a:t>
            </a:r>
            <a:endParaRPr lang="en-US" sz="2100" dirty="0"/>
          </a:p>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Walk through what happens after the referral</a:t>
            </a:r>
            <a:endParaRPr lang="en-US" sz="2100" dirty="0"/>
          </a:p>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Understand where donor livers come from now</a:t>
            </a:r>
            <a:endParaRPr lang="en-US" sz="2100" dirty="0"/>
          </a:p>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Care for a transplant recipient on your service</a:t>
            </a:r>
            <a:endParaRPr lang="en-US" sz="21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3/47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How did liver transplant start?</a:t>
            </a:r>
            <a:endParaRPr lang="en-US" sz="3000" dirty="0"/>
          </a:p>
        </p:txBody>
      </p:sp>
      <p:pic>
        <p:nvPicPr>
          <p:cNvPr id="3" name="Image 0" descr="Timeline of milestones in liver transplantation, 1952 to 2013">    </p:cNvPr>
          <p:cNvPicPr>
            <a:picLocks noChangeAspect="1"/>
          </p:cNvPicPr>
          <p:nvPr/>
        </p:nvPicPr>
        <p:blipFill>
          <a:blip r:embed="rId1"/>
          <a:stretch>
            <a:fillRect/>
          </a:stretch>
        </p:blipFill>
        <p:spPr>
          <a:xfrm>
            <a:off x="598060" y="1188720"/>
            <a:ext cx="10995576" cy="5029200"/>
          </a:xfrm>
          <a:prstGeom prst="rect">
            <a:avLst/>
          </a:prstGeom>
        </p:spPr>
      </p:pic>
      <p:sp>
        <p:nvSpPr>
          <p:cNvPr id="4" name="Highlight"/>
          <p:cNvSpPr/>
          <p:nvPr/>
        </p:nvSpPr>
        <p:spPr>
          <a:xfrm>
            <a:off x="746523" y="5067328"/>
            <a:ext cx="2301184" cy="612412"/>
          </a:xfrm>
          <a:prstGeom prst="rect">
            <a:avLst/>
          </a:prstGeom>
          <a:ln w="28575">
            <a:solidFill>
              <a:srgbClr val="C00000"/>
            </a:solidFill>
            <a:prstDash val="solid"/>
          </a:ln>
        </p:spPr>
      </p:sp>
      <p:sp>
        <p:nvSpPr>
          <p:cNvPr id="5" name="Highlight"/>
          <p:cNvSpPr/>
          <p:nvPr/>
        </p:nvSpPr>
        <p:spPr>
          <a:xfrm>
            <a:off x="2787896" y="4139431"/>
            <a:ext cx="1484635" cy="835107"/>
          </a:xfrm>
          <a:prstGeom prst="rect">
            <a:avLst/>
          </a:prstGeom>
          <a:ln w="28575">
            <a:solidFill>
              <a:srgbClr val="C00000"/>
            </a:solidFill>
            <a:prstDash val="solid"/>
          </a:ln>
        </p:spPr>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Timeline 1 from Zarrinpar A, Busuttil RW. Nat Rev Gastroenterol Hepatol 2013;10(7):434-40 [PMID: 23752825]</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4/47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was Thomas Starzl?</a:t>
            </a:r>
            <a:endParaRPr lang="en-US" sz="3000" dirty="0"/>
          </a:p>
        </p:txBody>
      </p:sp>
      <p:pic>
        <p:nvPicPr>
          <p:cNvPr id="3" name="Image 0" descr="New York Times headline: Dr. Thomas E. Starzl, Pioneering Liver Surgeon, Dies at 90">    </p:cNvPr>
          <p:cNvPicPr>
            <a:picLocks noChangeAspect="1"/>
          </p:cNvPicPr>
          <p:nvPr/>
        </p:nvPicPr>
        <p:blipFill>
          <a:blip r:embed="rId1"/>
          <a:stretch>
            <a:fillRect/>
          </a:stretch>
        </p:blipFill>
        <p:spPr>
          <a:xfrm>
            <a:off x="365760" y="2377440"/>
            <a:ext cx="4937760" cy="1159099"/>
          </a:xfrm>
          <a:prstGeom prst="rect">
            <a:avLst/>
          </a:prstGeom>
        </p:spPr>
      </p:pic>
      <p:sp>
        <p:nvSpPr>
          <p:cNvPr id="4" name="Body"/>
          <p:cNvSpPr txBox="1"/>
          <p:nvPr/>
        </p:nvSpPr>
        <p:spPr>
          <a:xfrm>
            <a:off x="5486400" y="1463040"/>
            <a:ext cx="6309360" cy="4663440"/>
          </a:xfrm>
          <a:prstGeom prst="rect">
            <a:avLst/>
          </a:prstGeom>
          <a:noFill/>
          <a:ln/>
        </p:spPr>
        <p:txBody>
          <a:bodyPr wrap="square" lIns="50800" tIns="50800" rIns="50800" bIns="50800" rtlCol="0" anchor="t"/>
          <a:lstStyle/>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1963, Denver: first human liver transplant attempt</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1967: first patient to live more than a year after one</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1980: cyclosporine with steroids; survival finally good enough to offer it widely</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1989, Pittsburgh: tacrolimus</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Died March 4, 2017, at 90</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The New York Times, March 5, 2017. Starzl TE et al. Homotransplantation of the liver in humans. Surg Gynecol Obstet 1963;117:659-76 [PMID: 14100514]</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5/47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How did the first liver transplants go?</a:t>
            </a:r>
            <a:endParaRPr lang="en-US" sz="3000" dirty="0"/>
          </a:p>
        </p:txBody>
      </p:sp>
      <p:pic>
        <p:nvPicPr>
          <p:cNvPr id="3" name="Image 0" descr="Starzl TE et al. Homotransplantation of the liver in humans. Surg Gynecol Obstet, December 1963: title block">    </p:cNvPr>
          <p:cNvPicPr>
            <a:picLocks noChangeAspect="1"/>
          </p:cNvPicPr>
          <p:nvPr/>
        </p:nvPicPr>
        <p:blipFill>
          <a:blip r:embed="rId1"/>
          <a:stretch>
            <a:fillRect/>
          </a:stretch>
        </p:blipFill>
        <p:spPr>
          <a:xfrm>
            <a:off x="457200" y="1234440"/>
            <a:ext cx="5852160" cy="3015426"/>
          </a:xfrm>
          <a:prstGeom prst="rect">
            <a:avLst/>
          </a:prstGeom>
        </p:spPr>
      </p:pic>
      <p:sp>
        <p:nvSpPr>
          <p:cNvPr id="4" name="Body"/>
          <p:cNvSpPr txBox="1"/>
          <p:nvPr/>
        </p:nvSpPr>
        <p:spPr>
          <a:xfrm>
            <a:off x="457200" y="4343400"/>
            <a:ext cx="5852160" cy="1828800"/>
          </a:xfrm>
          <a:prstGeom prst="rect">
            <a:avLst/>
          </a:prstGeom>
          <a:noFill/>
          <a:ln/>
        </p:spPr>
        <p:txBody>
          <a:bodyPr wrap="square" lIns="50800" tIns="50800" rIns="50800" bIns="50800" rtlCol="0" anchor="t"/>
          <a:lstStyle/>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Patient 1, 1 March 1963: a 3-year-old with biliary atresia, died of bleeding on the operating table</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Patients 2 and 3 died 22 and 7½ days later, of pulmonary emboli</a:t>
            </a:r>
            <a:endParaRPr lang="en-US" sz="1900" dirty="0"/>
          </a:p>
        </p:txBody>
      </p:sp>
      <p:pic>
        <p:nvPicPr>
          <p:cNvPr id="5" name="Image 1" descr="Excerpt from the 1963 paper describing the three patients and patient 1">    </p:cNvPr>
          <p:cNvPicPr>
            <a:picLocks noChangeAspect="1"/>
          </p:cNvPicPr>
          <p:nvPr/>
        </p:nvPicPr>
        <p:blipFill>
          <a:blip r:embed="rId2"/>
          <a:stretch>
            <a:fillRect/>
          </a:stretch>
        </p:blipFill>
        <p:spPr>
          <a:xfrm>
            <a:off x="6583680" y="1188720"/>
            <a:ext cx="5212080" cy="4559808"/>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Starzl TE et al. Surg Gynecol Obstet 1963;117:659-76 [PMID: 14100514]. Scan: University of Pittsburgh D-Scholarship</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6/47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How do patients do after a liver transplant?</a:t>
            </a:r>
            <a:endParaRPr lang="en-US" sz="3000" dirty="0"/>
          </a:p>
        </p:txBody>
      </p:sp>
      <p:pic>
        <p:nvPicPr>
          <p:cNvPr id="3" name="Image 0" descr="SRTR 2024 Figure LI 59: percentage of adult liver recipients who died by 6 months, 1, 3, 5 and 10 years, by transplant year">    </p:cNvPr>
          <p:cNvPicPr>
            <a:picLocks noChangeAspect="1"/>
          </p:cNvPicPr>
          <p:nvPr/>
        </p:nvPicPr>
        <p:blipFill>
          <a:blip r:embed="rId1"/>
          <a:stretch>
            <a:fillRect/>
          </a:stretch>
        </p:blipFill>
        <p:spPr>
          <a:xfrm>
            <a:off x="1624712" y="1188720"/>
            <a:ext cx="8942272" cy="5029200"/>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OPTN/SRTR 2024 Annual Data Report, Figure LI 59. Am J Transplant 2026;26(8S1):S214-S320 [PMID: 42276697]</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7/47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How much has liver transplant grown?</a:t>
            </a:r>
            <a:endParaRPr lang="en-US" sz="3000" dirty="0"/>
          </a:p>
        </p:txBody>
      </p:sp>
      <p:graphicFrame>
        <p:nvGraphicFramePr>
          <p:cNvPr id="3" name="Chart 0" descr=""/>
          <p:cNvGraphicFramePr/>
          <p:nvPr/>
        </p:nvGraphicFramePr>
        <p:xfrm>
          <a:off x="1280160" y="1234440"/>
          <a:ext cx="9631375"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22960" y="5577840"/>
            <a:ext cx="10545775" cy="502920"/>
          </a:xfrm>
          <a:prstGeom prst="rect">
            <a:avLst/>
          </a:prstGeom>
          <a:noFill/>
          <a:ln/>
        </p:spPr>
        <p:txBody>
          <a:bodyPr wrap="square" lIns="25400" tIns="25400" rIns="25400" bIns="25400" rtlCol="0" anchor="t"/>
          <a:lstStyle/>
          <a:p>
            <a:pPr algn="ctr" indent="0" marL="0">
              <a:buNone/>
            </a:pPr>
            <a:r>
              <a:rPr lang="en-US" sz="2200" dirty="0">
                <a:solidFill>
                  <a:srgbClr val="000000"/>
                </a:solidFill>
                <a:latin typeface="Georgia" pitchFamily="34" charset="0"/>
                <a:ea typeface="Georgia" pitchFamily="34" charset="-122"/>
                <a:cs typeface="Georgia" pitchFamily="34" charset="-120"/>
              </a:rPr>
              <a:t>11,458 in 2024 (10,886 adults), 70% more than in 2014</a:t>
            </a:r>
            <a:endParaRPr lang="en-US" sz="22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OPTN/SRTR Annual Data Reports, Liver, 2020-2024 [PMIDs: 35266621, 37132348, 38431359, 39947804, 42276697]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8/47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Watercolor of a clinic exam room desk with a referral lett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When to refer</a:t>
            </a:r>
            <a:endParaRPr lang="en-US" sz="48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9/47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Where did MELD come from?</a:t>
            </a:r>
            <a:endParaRPr lang="en-US" sz="3000" dirty="0"/>
          </a:p>
        </p:txBody>
      </p:sp>
      <p:pic>
        <p:nvPicPr>
          <p:cNvPr id="3" name="Image 0" descr="Malinchoc M et al. Hepatology 2000: title block">    </p:cNvPr>
          <p:cNvPicPr>
            <a:picLocks noChangeAspect="1"/>
          </p:cNvPicPr>
          <p:nvPr/>
        </p:nvPicPr>
        <p:blipFill>
          <a:blip r:embed="rId1"/>
          <a:stretch>
            <a:fillRect/>
          </a:stretch>
        </p:blipFill>
        <p:spPr>
          <a:xfrm>
            <a:off x="548640" y="1280160"/>
            <a:ext cx="6400800" cy="2034119"/>
          </a:xfrm>
          <a:prstGeom prst="rect">
            <a:avLst/>
          </a:prstGeom>
        </p:spPr>
      </p:pic>
      <p:sp>
        <p:nvSpPr>
          <p:cNvPr id="4" name="Highlight"/>
          <p:cNvSpPr/>
          <p:nvPr/>
        </p:nvSpPr>
        <p:spPr>
          <a:xfrm>
            <a:off x="2543491" y="3023691"/>
            <a:ext cx="785374" cy="204197"/>
          </a:xfrm>
          <a:prstGeom prst="rect">
            <a:avLst/>
          </a:prstGeom>
          <a:solidFill>
            <a:srgbClr val="FFFF00">
              <a:alpha val="45000"/>
            </a:srgbClr>
          </a:solidFill>
          <a:ln/>
        </p:spPr>
      </p:sp>
      <p:pic>
        <p:nvPicPr>
          <p:cNvPr id="5" name="Image 1" descr="Kamath PS et al. Hepatology 2001: title block">    </p:cNvPr>
          <p:cNvPicPr>
            <a:picLocks noChangeAspect="1"/>
          </p:cNvPicPr>
          <p:nvPr/>
        </p:nvPicPr>
        <p:blipFill>
          <a:blip r:embed="rId2"/>
          <a:stretch>
            <a:fillRect/>
          </a:stretch>
        </p:blipFill>
        <p:spPr>
          <a:xfrm>
            <a:off x="548640" y="3840480"/>
            <a:ext cx="6400800" cy="1824307"/>
          </a:xfrm>
          <a:prstGeom prst="rect">
            <a:avLst/>
          </a:prstGeom>
        </p:spPr>
      </p:pic>
      <p:sp>
        <p:nvSpPr>
          <p:cNvPr id="6" name="Body"/>
          <p:cNvSpPr txBox="1"/>
          <p:nvPr/>
        </p:nvSpPr>
        <p:spPr>
          <a:xfrm>
            <a:off x="7315200" y="1645920"/>
            <a:ext cx="4480560" cy="4389120"/>
          </a:xfrm>
          <a:prstGeom prst="rect">
            <a:avLst/>
          </a:prstGeom>
          <a:noFill/>
          <a:ln/>
        </p:spPr>
        <p:txBody>
          <a:bodyPr wrap="square" lIns="50800" tIns="50800" rIns="50800" bIns="50800" rtlCol="0" anchor="t"/>
          <a:lstStyle/>
          <a:p>
            <a:pPr marL="228600" indent="-228600">
              <a:spcBef>
                <a:spcPts val="1800"/>
              </a:spcBef>
              <a:buSzPct val="100000"/>
              <a:buChar char="–"/>
            </a:pPr>
            <a:r>
              <a:rPr lang="en-US" sz="2000" dirty="0">
                <a:solidFill>
                  <a:srgbClr val="000000"/>
                </a:solidFill>
                <a:latin typeface="Georgia" pitchFamily="34" charset="0"/>
                <a:ea typeface="Georgia" pitchFamily="34" charset="-122"/>
                <a:cs typeface="Georgia" pitchFamily="34" charset="-120"/>
              </a:rPr>
              <a:t>2000: built at Mayo to predict death after an elective TIPS</a:t>
            </a:r>
            <a:endParaRPr lang="en-US" sz="2000" dirty="0"/>
          </a:p>
          <a:p>
            <a:pPr marL="228600" indent="-228600">
              <a:spcBef>
                <a:spcPts val="1800"/>
              </a:spcBef>
              <a:buSzPct val="100000"/>
              <a:buChar char="–"/>
            </a:pPr>
            <a:r>
              <a:rPr lang="en-US" sz="2000" dirty="0">
                <a:solidFill>
                  <a:srgbClr val="000000"/>
                </a:solidFill>
                <a:latin typeface="Georgia" pitchFamily="34" charset="0"/>
                <a:ea typeface="Georgia" pitchFamily="34" charset="-122"/>
                <a:cs typeface="Georgia" pitchFamily="34" charset="-120"/>
              </a:rPr>
              <a:t>2001: worked just as well across end-stage liver disease</a:t>
            </a:r>
            <a:endParaRPr lang="en-US" sz="2000" dirty="0"/>
          </a:p>
          <a:p>
            <a:pPr marL="228600" indent="-228600">
              <a:spcBef>
                <a:spcPts val="1800"/>
              </a:spcBef>
              <a:buSzPct val="100000"/>
              <a:buChar char="–"/>
            </a:pPr>
            <a:r>
              <a:rPr lang="en-US" sz="2000" dirty="0">
                <a:solidFill>
                  <a:srgbClr val="000000"/>
                </a:solidFill>
                <a:latin typeface="Georgia" pitchFamily="34" charset="0"/>
                <a:ea typeface="Georgia" pitchFamily="34" charset="-122"/>
                <a:cs typeface="Georgia" pitchFamily="34" charset="-120"/>
              </a:rPr>
              <a:t>2002: became the basis for US liver allocation</a:t>
            </a:r>
            <a:endParaRPr lang="en-US" sz="20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Malinchoc M, Kamath PS, </a:t>
            </a:r>
            <a:r>
              <a:rPr lang="en-US" sz="1000" i="1" dirty="0">
                <a:solidFill>
                  <a:srgbClr val="595959"/>
                </a:solidFill>
                <a:highlight>
                  <a:srgbClr val="FFFF00"/>
                </a:highlight>
                <a:latin typeface="Georgia" pitchFamily="34" charset="0"/>
                <a:ea typeface="Georgia" pitchFamily="34" charset="-122"/>
                <a:cs typeface="Georgia" pitchFamily="34" charset="-120"/>
              </a:rPr>
              <a:t>Gordon FD</a:t>
            </a:r>
            <a:r>
              <a:rPr lang="en-US" sz="1000" i="1" dirty="0">
                <a:solidFill>
                  <a:srgbClr val="595959"/>
                </a:solidFill>
                <a:latin typeface="Georgia" pitchFamily="34" charset="0"/>
                <a:ea typeface="Georgia" pitchFamily="34" charset="-122"/>
                <a:cs typeface="Georgia" pitchFamily="34" charset="-120"/>
              </a:rPr>
              <a:t>, et al. Hepatology 2000;31(4):864-71 [PMID: 10733541]. Kamath PS et al. Hepatology 2001;33(2):464-70 [PMID: 11172350]</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10/47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did MELD 15 become the rule?</a:t>
            </a:r>
            <a:endParaRPr lang="en-US" sz="3000" dirty="0"/>
          </a:p>
        </p:txBody>
      </p:sp>
      <p:sp>
        <p:nvSpPr>
          <p:cNvPr id="3" name="Text 1"/>
          <p:cNvSpPr txBox="1"/>
          <p:nvPr/>
        </p:nvSpPr>
        <p:spPr>
          <a:xfrm>
            <a:off x="457200" y="1371600"/>
            <a:ext cx="1920240" cy="685800"/>
          </a:xfrm>
          <a:prstGeom prst="rect">
            <a:avLst/>
          </a:prstGeom>
          <a:noFill/>
          <a:ln/>
        </p:spPr>
        <p:txBody>
          <a:bodyPr wrap="square" lIns="25400" tIns="25400" rIns="25400" bIns="25400" rtlCol="0" anchor="ctr"/>
          <a:lstStyle/>
          <a:p>
            <a:pPr algn="r" indent="0" marL="0">
              <a:buNone/>
            </a:pPr>
            <a:r>
              <a:rPr lang="en-US" sz="1500" b="1" dirty="0">
                <a:solidFill>
                  <a:srgbClr val="000000"/>
                </a:solidFill>
                <a:latin typeface="Georgia" pitchFamily="34" charset="0"/>
                <a:ea typeface="Georgia" pitchFamily="34" charset="-122"/>
                <a:cs typeface="Georgia" pitchFamily="34" charset="-120"/>
              </a:rPr>
              <a:t>2005</a:t>
            </a:r>
            <a:endParaRPr lang="en-US" sz="1500" dirty="0"/>
          </a:p>
          <a:p>
            <a:pPr algn="r" indent="0" marL="0">
              <a:buNone/>
            </a:pPr>
            <a:r>
              <a:rPr lang="en-US" sz="1300" b="1" dirty="0">
                <a:solidFill>
                  <a:srgbClr val="000000"/>
                </a:solidFill>
                <a:latin typeface="Georgia" pitchFamily="34" charset="0"/>
                <a:ea typeface="Georgia" pitchFamily="34" charset="-122"/>
                <a:cs typeface="Georgia" pitchFamily="34" charset="-120"/>
              </a:rPr>
              <a:t>MELD</a:t>
            </a:r>
            <a:endParaRPr lang="en-US" sz="1500" dirty="0"/>
          </a:p>
        </p:txBody>
      </p:sp>
      <p:sp>
        <p:nvSpPr>
          <p:cNvPr id="4" name="Shape 2"/>
          <p:cNvSpPr/>
          <p:nvPr/>
        </p:nvSpPr>
        <p:spPr>
          <a:xfrm>
            <a:off x="2514600" y="1371600"/>
            <a:ext cx="2377440" cy="685800"/>
          </a:xfrm>
          <a:prstGeom prst="rect">
            <a:avLst/>
          </a:prstGeom>
          <a:solidFill>
            <a:srgbClr val="C00000"/>
          </a:solidFill>
          <a:ln w="19050">
            <a:solidFill>
              <a:srgbClr val="FFFFFF"/>
            </a:solidFill>
            <a:prstDash val="solid"/>
          </a:ln>
        </p:spPr>
      </p:sp>
      <p:sp>
        <p:nvSpPr>
          <p:cNvPr id="5" name="Text 3"/>
          <p:cNvSpPr txBox="1"/>
          <p:nvPr/>
        </p:nvSpPr>
        <p:spPr>
          <a:xfrm>
            <a:off x="2514600" y="1371600"/>
            <a:ext cx="2377440" cy="685800"/>
          </a:xfrm>
          <a:prstGeom prst="rect">
            <a:avLst/>
          </a:prstGeom>
          <a:noFill/>
          <a:ln/>
        </p:spPr>
        <p:txBody>
          <a:bodyPr wrap="square" lIns="25400" tIns="25400" rIns="25400" bIns="254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MELD 6-11</a:t>
            </a:r>
            <a:endParaRPr lang="en-US" sz="1600" dirty="0"/>
          </a:p>
        </p:txBody>
      </p:sp>
      <p:sp>
        <p:nvSpPr>
          <p:cNvPr id="6" name="Text 4"/>
          <p:cNvSpPr txBox="1"/>
          <p:nvPr/>
        </p:nvSpPr>
        <p:spPr>
          <a:xfrm>
            <a:off x="2542032" y="2112264"/>
            <a:ext cx="2322576" cy="6858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Calibri" pitchFamily="34" charset="0"/>
                <a:ea typeface="Calibri" pitchFamily="34" charset="-122"/>
                <a:cs typeface="Calibri" pitchFamily="34" charset="-120"/>
              </a:rPr>
              <a:t>Transplant raised the 1-year risk of death (HR 3.6)</a:t>
            </a:r>
            <a:endParaRPr lang="en-US" sz="1400" dirty="0"/>
          </a:p>
        </p:txBody>
      </p:sp>
      <p:sp>
        <p:nvSpPr>
          <p:cNvPr id="7" name="Shape 5"/>
          <p:cNvSpPr/>
          <p:nvPr/>
        </p:nvSpPr>
        <p:spPr>
          <a:xfrm>
            <a:off x="4892040" y="1371600"/>
            <a:ext cx="1828800" cy="685800"/>
          </a:xfrm>
          <a:prstGeom prst="rect">
            <a:avLst/>
          </a:prstGeom>
          <a:solidFill>
            <a:srgbClr val="E8B4B4"/>
          </a:solidFill>
          <a:ln w="19050">
            <a:solidFill>
              <a:srgbClr val="FFFFFF"/>
            </a:solidFill>
            <a:prstDash val="solid"/>
          </a:ln>
        </p:spPr>
      </p:sp>
      <p:sp>
        <p:nvSpPr>
          <p:cNvPr id="8" name="Text 6"/>
          <p:cNvSpPr txBox="1"/>
          <p:nvPr/>
        </p:nvSpPr>
        <p:spPr>
          <a:xfrm>
            <a:off x="4892040" y="1371600"/>
            <a:ext cx="1828800" cy="685800"/>
          </a:xfrm>
          <a:prstGeom prst="rect">
            <a:avLst/>
          </a:prstGeom>
          <a:noFill/>
          <a:ln/>
        </p:spPr>
        <p:txBody>
          <a:bodyPr wrap="square" lIns="25400" tIns="25400" rIns="25400" bIns="25400"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12-14</a:t>
            </a:r>
            <a:endParaRPr lang="en-US" sz="1600" dirty="0"/>
          </a:p>
        </p:txBody>
      </p:sp>
      <p:sp>
        <p:nvSpPr>
          <p:cNvPr id="9" name="Text 7"/>
          <p:cNvSpPr txBox="1"/>
          <p:nvPr/>
        </p:nvSpPr>
        <p:spPr>
          <a:xfrm>
            <a:off x="4919472" y="2112264"/>
            <a:ext cx="1773936" cy="6858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Calibri" pitchFamily="34" charset="0"/>
                <a:ea typeface="Calibri" pitchFamily="34" charset="-122"/>
                <a:cs typeface="Calibri" pitchFamily="34" charset="-120"/>
              </a:rPr>
              <a:t>Still raised it (HR 2.4)</a:t>
            </a:r>
            <a:endParaRPr lang="en-US" sz="1400" dirty="0"/>
          </a:p>
        </p:txBody>
      </p:sp>
      <p:sp>
        <p:nvSpPr>
          <p:cNvPr id="10" name="Shape 8"/>
          <p:cNvSpPr/>
          <p:nvPr/>
        </p:nvSpPr>
        <p:spPr>
          <a:xfrm>
            <a:off x="6720840" y="1371600"/>
            <a:ext cx="1828800" cy="685800"/>
          </a:xfrm>
          <a:prstGeom prst="rect">
            <a:avLst/>
          </a:prstGeom>
          <a:solidFill>
            <a:srgbClr val="D9D9D9"/>
          </a:solidFill>
          <a:ln w="19050">
            <a:solidFill>
              <a:srgbClr val="FFFFFF"/>
            </a:solidFill>
            <a:prstDash val="solid"/>
          </a:ln>
        </p:spPr>
      </p:sp>
      <p:sp>
        <p:nvSpPr>
          <p:cNvPr id="11" name="Text 9"/>
          <p:cNvSpPr txBox="1"/>
          <p:nvPr/>
        </p:nvSpPr>
        <p:spPr>
          <a:xfrm>
            <a:off x="6720840" y="1371600"/>
            <a:ext cx="1828800" cy="685800"/>
          </a:xfrm>
          <a:prstGeom prst="rect">
            <a:avLst/>
          </a:prstGeom>
          <a:noFill/>
          <a:ln/>
        </p:spPr>
        <p:txBody>
          <a:bodyPr wrap="square" lIns="25400" tIns="25400" rIns="25400" bIns="25400"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15-17</a:t>
            </a:r>
            <a:endParaRPr lang="en-US" sz="1600" dirty="0"/>
          </a:p>
        </p:txBody>
      </p:sp>
      <p:sp>
        <p:nvSpPr>
          <p:cNvPr id="12" name="Text 10"/>
          <p:cNvSpPr txBox="1"/>
          <p:nvPr/>
        </p:nvSpPr>
        <p:spPr>
          <a:xfrm>
            <a:off x="6748272" y="2112264"/>
            <a:ext cx="1773936" cy="6858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Calibri" pitchFamily="34" charset="0"/>
                <a:ea typeface="Calibri" pitchFamily="34" charset="-122"/>
                <a:cs typeface="Calibri" pitchFamily="34" charset="-120"/>
              </a:rPr>
              <a:t>No significant difference: the crossover</a:t>
            </a:r>
            <a:endParaRPr lang="en-US" sz="1400" dirty="0"/>
          </a:p>
        </p:txBody>
      </p:sp>
      <p:sp>
        <p:nvSpPr>
          <p:cNvPr id="13" name="Shape 11"/>
          <p:cNvSpPr/>
          <p:nvPr/>
        </p:nvSpPr>
        <p:spPr>
          <a:xfrm>
            <a:off x="8549640" y="1371600"/>
            <a:ext cx="3093415" cy="685800"/>
          </a:xfrm>
          <a:prstGeom prst="rect">
            <a:avLst/>
          </a:prstGeom>
          <a:solidFill>
            <a:srgbClr val="1F4E79"/>
          </a:solidFill>
          <a:ln w="19050">
            <a:solidFill>
              <a:srgbClr val="FFFFFF"/>
            </a:solidFill>
            <a:prstDash val="solid"/>
          </a:ln>
        </p:spPr>
      </p:sp>
      <p:sp>
        <p:nvSpPr>
          <p:cNvPr id="14" name="Text 12"/>
          <p:cNvSpPr txBox="1"/>
          <p:nvPr/>
        </p:nvSpPr>
        <p:spPr>
          <a:xfrm>
            <a:off x="8549640" y="1371600"/>
            <a:ext cx="3093415" cy="685800"/>
          </a:xfrm>
          <a:prstGeom prst="rect">
            <a:avLst/>
          </a:prstGeom>
          <a:noFill/>
          <a:ln/>
        </p:spPr>
        <p:txBody>
          <a:bodyPr wrap="square" lIns="25400" tIns="25400" rIns="25400" bIns="254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18 and up</a:t>
            </a:r>
            <a:endParaRPr lang="en-US" sz="1600" dirty="0"/>
          </a:p>
        </p:txBody>
      </p:sp>
      <p:sp>
        <p:nvSpPr>
          <p:cNvPr id="15" name="Text 13"/>
          <p:cNvSpPr txBox="1"/>
          <p:nvPr/>
        </p:nvSpPr>
        <p:spPr>
          <a:xfrm>
            <a:off x="8577072" y="2112264"/>
            <a:ext cx="3038551" cy="6858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Calibri" pitchFamily="34" charset="0"/>
                <a:ea typeface="Calibri" pitchFamily="34" charset="-122"/>
                <a:cs typeface="Calibri" pitchFamily="34" charset="-120"/>
              </a:rPr>
              <a:t>38% lower risk at 18-20, 96% lower at 40</a:t>
            </a:r>
            <a:endParaRPr lang="en-US" sz="1400" dirty="0"/>
          </a:p>
        </p:txBody>
      </p:sp>
      <p:sp>
        <p:nvSpPr>
          <p:cNvPr id="16" name="Text 14"/>
          <p:cNvSpPr txBox="1"/>
          <p:nvPr/>
        </p:nvSpPr>
        <p:spPr>
          <a:xfrm>
            <a:off x="457200" y="2971800"/>
            <a:ext cx="1920240" cy="685800"/>
          </a:xfrm>
          <a:prstGeom prst="rect">
            <a:avLst/>
          </a:prstGeom>
          <a:noFill/>
          <a:ln/>
        </p:spPr>
        <p:txBody>
          <a:bodyPr wrap="square" lIns="25400" tIns="25400" rIns="25400" bIns="25400" rtlCol="0" anchor="ctr"/>
          <a:lstStyle/>
          <a:p>
            <a:pPr algn="r" indent="0" marL="0">
              <a:buNone/>
            </a:pPr>
            <a:r>
              <a:rPr lang="en-US" sz="1500" b="1" dirty="0">
                <a:solidFill>
                  <a:srgbClr val="000000"/>
                </a:solidFill>
                <a:latin typeface="Georgia" pitchFamily="34" charset="0"/>
                <a:ea typeface="Georgia" pitchFamily="34" charset="-122"/>
                <a:cs typeface="Georgia" pitchFamily="34" charset="-120"/>
              </a:rPr>
              <a:t>2023</a:t>
            </a:r>
            <a:endParaRPr lang="en-US" sz="1500" dirty="0"/>
          </a:p>
          <a:p>
            <a:pPr algn="r" indent="0" marL="0">
              <a:buNone/>
            </a:pPr>
            <a:r>
              <a:rPr lang="en-US" sz="1300" b="1" dirty="0">
                <a:solidFill>
                  <a:srgbClr val="000000"/>
                </a:solidFill>
                <a:latin typeface="Georgia" pitchFamily="34" charset="0"/>
                <a:ea typeface="Georgia" pitchFamily="34" charset="-122"/>
                <a:cs typeface="Georgia" pitchFamily="34" charset="-120"/>
              </a:rPr>
              <a:t>MELD-Na</a:t>
            </a:r>
            <a:endParaRPr lang="en-US" sz="1500" dirty="0"/>
          </a:p>
        </p:txBody>
      </p:sp>
      <p:sp>
        <p:nvSpPr>
          <p:cNvPr id="17" name="Shape 15"/>
          <p:cNvSpPr/>
          <p:nvPr/>
        </p:nvSpPr>
        <p:spPr>
          <a:xfrm>
            <a:off x="2514600" y="2971800"/>
            <a:ext cx="2377440" cy="685800"/>
          </a:xfrm>
          <a:prstGeom prst="rect">
            <a:avLst/>
          </a:prstGeom>
          <a:solidFill>
            <a:srgbClr val="E8B4B4"/>
          </a:solidFill>
          <a:ln w="19050">
            <a:solidFill>
              <a:srgbClr val="FFFFFF"/>
            </a:solidFill>
            <a:prstDash val="solid"/>
          </a:ln>
        </p:spPr>
      </p:sp>
      <p:sp>
        <p:nvSpPr>
          <p:cNvPr id="18" name="Text 16"/>
          <p:cNvSpPr txBox="1"/>
          <p:nvPr/>
        </p:nvSpPr>
        <p:spPr>
          <a:xfrm>
            <a:off x="2514600" y="2971800"/>
            <a:ext cx="2377440" cy="685800"/>
          </a:xfrm>
          <a:prstGeom prst="rect">
            <a:avLst/>
          </a:prstGeom>
          <a:noFill/>
          <a:ln/>
        </p:spPr>
        <p:txBody>
          <a:bodyPr wrap="square" lIns="25400" tIns="25400" rIns="25400" bIns="25400"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Below 12</a:t>
            </a:r>
            <a:endParaRPr lang="en-US" sz="1600" dirty="0"/>
          </a:p>
        </p:txBody>
      </p:sp>
      <p:sp>
        <p:nvSpPr>
          <p:cNvPr id="19" name="Text 17"/>
          <p:cNvSpPr txBox="1"/>
          <p:nvPr/>
        </p:nvSpPr>
        <p:spPr>
          <a:xfrm>
            <a:off x="2542032" y="3712464"/>
            <a:ext cx="2322576" cy="6858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Calibri" pitchFamily="34" charset="0"/>
                <a:ea typeface="Calibri" pitchFamily="34" charset="-122"/>
                <a:cs typeface="Calibri" pitchFamily="34" charset="-120"/>
              </a:rPr>
              <a:t>No significant benefit</a:t>
            </a:r>
            <a:endParaRPr lang="en-US" sz="1400" dirty="0"/>
          </a:p>
        </p:txBody>
      </p:sp>
      <p:sp>
        <p:nvSpPr>
          <p:cNvPr id="20" name="Shape 18"/>
          <p:cNvSpPr/>
          <p:nvPr/>
        </p:nvSpPr>
        <p:spPr>
          <a:xfrm>
            <a:off x="4892040" y="2971800"/>
            <a:ext cx="6751015" cy="685800"/>
          </a:xfrm>
          <a:prstGeom prst="rect">
            <a:avLst/>
          </a:prstGeom>
          <a:solidFill>
            <a:srgbClr val="1F4E79"/>
          </a:solidFill>
          <a:ln w="19050">
            <a:solidFill>
              <a:srgbClr val="FFFFFF"/>
            </a:solidFill>
            <a:prstDash val="solid"/>
          </a:ln>
        </p:spPr>
      </p:sp>
      <p:sp>
        <p:nvSpPr>
          <p:cNvPr id="21" name="Text 19"/>
          <p:cNvSpPr txBox="1"/>
          <p:nvPr/>
        </p:nvSpPr>
        <p:spPr>
          <a:xfrm>
            <a:off x="4892040" y="2971800"/>
            <a:ext cx="6751015" cy="685800"/>
          </a:xfrm>
          <a:prstGeom prst="rect">
            <a:avLst/>
          </a:prstGeom>
          <a:noFill/>
          <a:ln/>
        </p:spPr>
        <p:txBody>
          <a:bodyPr wrap="square" lIns="25400" tIns="25400" rIns="25400" bIns="254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 and up</a:t>
            </a:r>
            <a:endParaRPr lang="en-US" sz="1600" dirty="0"/>
          </a:p>
        </p:txBody>
      </p:sp>
      <p:sp>
        <p:nvSpPr>
          <p:cNvPr id="22" name="Text 20"/>
          <p:cNvSpPr txBox="1"/>
          <p:nvPr/>
        </p:nvSpPr>
        <p:spPr>
          <a:xfrm>
            <a:off x="4919472" y="3712464"/>
            <a:ext cx="6696151" cy="6858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Calibri" pitchFamily="34" charset="0"/>
                <a:ea typeface="Calibri" pitchFamily="34" charset="-122"/>
                <a:cs typeface="Calibri" pitchFamily="34" charset="-120"/>
              </a:rPr>
              <a:t>1-year benefit (HR 0.74), more than 9 life-years gained at 12</a:t>
            </a:r>
            <a:endParaRPr lang="en-US" sz="1400" dirty="0"/>
          </a:p>
        </p:txBody>
      </p:sp>
      <p:sp>
        <p:nvSpPr>
          <p:cNvPr id="23" name="Text 21"/>
          <p:cNvSpPr txBox="1"/>
          <p:nvPr/>
        </p:nvSpPr>
        <p:spPr>
          <a:xfrm>
            <a:off x="822960" y="4800600"/>
            <a:ext cx="10545775" cy="914400"/>
          </a:xfrm>
          <a:prstGeom prst="rect">
            <a:avLst/>
          </a:prstGeom>
          <a:noFill/>
          <a:ln/>
        </p:spPr>
        <p:txBody>
          <a:bodyPr wrap="square" lIns="25400" tIns="25400" rIns="25400" bIns="25400" rtlCol="0" anchor="t"/>
          <a:lstStyle/>
          <a:p>
            <a:pPr algn="ctr" indent="0" marL="0">
              <a:buNone/>
            </a:pPr>
            <a:r>
              <a:rPr lang="en-US" sz="1900" dirty="0">
                <a:solidFill>
                  <a:srgbClr val="000000"/>
                </a:solidFill>
                <a:latin typeface="Georgia" pitchFamily="34" charset="0"/>
                <a:ea typeface="Georgia" pitchFamily="34" charset="-122"/>
                <a:cs typeface="Georgia" pitchFamily="34" charset="-120"/>
              </a:rPr>
              <a:t>Neither number has been set for MELD 3.0. Referral is a separate question: refer after any decompensating event, whatever the MELD. Without one, 15 is still reasonable.</a:t>
            </a:r>
            <a:endParaRPr lang="en-US" sz="1900" dirty="0"/>
          </a:p>
        </p:txBody>
      </p:sp>
      <p:sp>
        <p:nvSpPr>
          <p:cNvPr id="2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Merion RM et al. Am J Transplant 2005;5(2):307-13 [PMID: 15643990]. Malamon JS et al. Int J Surg 2023;109(9):2714-20 [PMID: 37226874]. Dove L et al. Hepatology 2026, statement 1 [PMID: 41405234]</a:t>
            </a:r>
            <a:endParaRPr lang="en-US" sz="1000" dirty="0"/>
          </a:p>
        </p:txBody>
      </p:sp>
      <p:sp>
        <p:nvSpPr>
          <p:cNvPr id="2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11/47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What's new in MELD 3.0?</a:t>
            </a:r>
            <a:endParaRPr lang="en-US" sz="30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2267712"/>
                <a:gridCol w="1527048"/>
                <a:gridCol w="2788920"/>
              </a:tblGrid>
              <a:tr h="512064">
                <a:tc>
                  <a:txBody>
                    <a:bodyPr/>
                    <a:lstStyle/>
                    <a:p>
                      <a:pPr algn="l" indent="0" marL="0">
                        <a:buNone/>
                      </a:pP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MELD-Na</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MELD 3.0</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12064">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Bilirubin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12064">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INR</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12064">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Creatinine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 (cap 4.0)</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 (cap 3.0)</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12064">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Sodium</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12064">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Albumin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12064">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Female sex</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 (+1.33)</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12064">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Interaction terms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MELD × Na</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Bili × Na, albumin × Cr</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7498080" y="1737360"/>
            <a:ext cx="4297680" cy="4206240"/>
          </a:xfrm>
          <a:prstGeom prst="rect">
            <a:avLst/>
          </a:prstGeom>
          <a:noFill/>
          <a:ln/>
        </p:spPr>
        <p:txBody>
          <a:bodyPr wrap="square" lIns="50800" tIns="50800" rIns="50800" bIns="50800" rtlCol="0" anchor="t"/>
          <a:lstStyle/>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Used for allocation since July 2023</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90-day mortality: C-statistic 0.869 vs 0.862</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In simulation, at least 20 fewer waitlist deaths a year</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Kim WR, Mannalithara A, Heimbach JK, et al. Gastroenterology 2021;161(6):1887-1895.e4 [PMID: 34481845]</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12/47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Did MELD 3.0 help women?</a:t>
            </a:r>
            <a:endParaRPr lang="en-US" sz="3000" dirty="0"/>
          </a:p>
        </p:txBody>
      </p:sp>
      <p:graphicFrame>
        <p:nvGraphicFramePr>
          <p:cNvPr id="3" name="Chart 0" descr=""/>
          <p:cNvGraphicFramePr/>
          <p:nvPr/>
        </p:nvGraphicFramePr>
        <p:xfrm>
          <a:off x="1463040" y="1188720"/>
          <a:ext cx="9265615" cy="3794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22960" y="4983480"/>
            <a:ext cx="10545775" cy="320040"/>
          </a:xfrm>
          <a:prstGeom prst="rect">
            <a:avLst/>
          </a:prstGeom>
          <a:noFill/>
          <a:ln/>
        </p:spPr>
        <p:txBody>
          <a:bodyPr wrap="square" lIns="25400" tIns="25400" rIns="25400" bIns="25400" rtlCol="0" anchor="t"/>
          <a:lstStyle/>
          <a:p>
            <a:pPr algn="ctr" indent="0" marL="0">
              <a:buNone/>
            </a:pPr>
            <a:r>
              <a:rPr lang="en-US" sz="1400" i="1" dirty="0">
                <a:solidFill>
                  <a:srgbClr val="595959"/>
                </a:solidFill>
                <a:latin typeface="Georgia" pitchFamily="34" charset="0"/>
                <a:ea typeface="Georgia" pitchFamily="34" charset="-122"/>
                <a:cs typeface="Georgia" pitchFamily="34" charset="-120"/>
              </a:rPr>
              <a:t>Conference analysis, 12 months before vs 12 months after July 2023. Dropout: died or too sick for transplant</a:t>
            </a:r>
            <a:endParaRPr lang="en-US" sz="14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Kwong AJ, The Liver Meeting 2024, abstract 5002 (conference data). Tanaka T et al. Hepatology 2026;84(1):106-16 [PMID: 41100798]. Di Napoli M et al. Front Transplant 2026 [PMID: 42266471]. SRTR 2024 ADR [PMID: 42276697]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13/47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Did MELD 3.0 help women?</a:t>
            </a:r>
            <a:endParaRPr lang="en-US" sz="3000" dirty="0"/>
          </a:p>
        </p:txBody>
      </p:sp>
      <p:graphicFrame>
        <p:nvGraphicFramePr>
          <p:cNvPr id="3" name="Chart 0" descr=""/>
          <p:cNvGraphicFramePr/>
          <p:nvPr/>
        </p:nvGraphicFramePr>
        <p:xfrm>
          <a:off x="1463040" y="1188720"/>
          <a:ext cx="9265615" cy="3794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22960" y="4983480"/>
            <a:ext cx="10545775" cy="320040"/>
          </a:xfrm>
          <a:prstGeom prst="rect">
            <a:avLst/>
          </a:prstGeom>
          <a:noFill/>
          <a:ln/>
        </p:spPr>
        <p:txBody>
          <a:bodyPr wrap="square" lIns="25400" tIns="25400" rIns="25400" bIns="25400" rtlCol="0" anchor="t"/>
          <a:lstStyle/>
          <a:p>
            <a:pPr algn="ctr" indent="0" marL="0">
              <a:buNone/>
            </a:pPr>
            <a:r>
              <a:rPr lang="en-US" sz="1400" i="1" dirty="0">
                <a:solidFill>
                  <a:srgbClr val="595959"/>
                </a:solidFill>
                <a:latin typeface="Georgia" pitchFamily="34" charset="0"/>
                <a:ea typeface="Georgia" pitchFamily="34" charset="-122"/>
                <a:cs typeface="Georgia" pitchFamily="34" charset="-120"/>
              </a:rPr>
              <a:t>Conference analysis, 12 months before vs 12 months after July 2023. Dropout: died or too sick for transplant</a:t>
            </a:r>
            <a:endParaRPr lang="en-US" sz="1400" dirty="0"/>
          </a:p>
        </p:txBody>
      </p:sp>
      <p:sp>
        <p:nvSpPr>
          <p:cNvPr id="5" name="Text 2"/>
          <p:cNvSpPr txBox="1"/>
          <p:nvPr/>
        </p:nvSpPr>
        <p:spPr>
          <a:xfrm>
            <a:off x="822960" y="5394960"/>
            <a:ext cx="10545775" cy="822960"/>
          </a:xfrm>
          <a:prstGeom prst="rect">
            <a:avLst/>
          </a:prstGeom>
          <a:noFill/>
          <a:ln/>
        </p:spPr>
        <p:txBody>
          <a:bodyPr wrap="square" lIns="25400" tIns="25400" rIns="25400" bIns="25400" rtlCol="0" anchor="t"/>
          <a:lstStyle/>
          <a:p>
            <a:pPr algn="ctr" indent="0" marL="0">
              <a:buNone/>
            </a:pPr>
            <a:r>
              <a:rPr lang="en-US" sz="1900" dirty="0">
                <a:solidFill>
                  <a:srgbClr val="000000"/>
                </a:solidFill>
                <a:latin typeface="Georgia" pitchFamily="34" charset="0"/>
                <a:ea typeface="Georgia" pitchFamily="34" charset="-122"/>
                <a:cs typeface="Georgia" pitchFamily="34" charset="-120"/>
              </a:rPr>
              <a:t>The gain was largest right after the change and narrowed over time. Waitlisted women still die more often: 15.0 vs 12.4 per 100 patient-years in 2024.</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Kwong AJ, The Liver Meeting 2024, abstract 5002 (conference data). Tanaka T et al. Hepatology 2026;84(1):106-16 [PMID: 41100798]. Di Napoli M et al. Front Transplant 2026 [PMID: 42266471]. SRTR 2024 ADR [PMID: 42276697]</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13/47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should a patient with cirrhosis be referred?</a:t>
            </a:r>
            <a:endParaRPr lang="en-US" sz="3000" dirty="0"/>
          </a:p>
        </p:txBody>
      </p:sp>
      <p:pic>
        <p:nvPicPr>
          <p:cNvPr id="3" name="Image 0" descr="AASLD/AST candidate evaluation guideline 2025: title block">    </p:cNvPr>
          <p:cNvPicPr>
            <a:picLocks noChangeAspect="1"/>
          </p:cNvPicPr>
          <p:nvPr/>
        </p:nvPicPr>
        <p:blipFill>
          <a:blip r:embed="rId1"/>
          <a:stretch>
            <a:fillRect/>
          </a:stretch>
        </p:blipFill>
        <p:spPr>
          <a:xfrm>
            <a:off x="3925142" y="1143000"/>
            <a:ext cx="4341412" cy="640080"/>
          </a:xfrm>
          <a:prstGeom prst="rect">
            <a:avLst/>
          </a:prstGeom>
        </p:spPr>
      </p:pic>
      <p:sp>
        <p:nvSpPr>
          <p:cNvPr id="4" name="Box"/>
          <p:cNvSpPr/>
          <p:nvPr/>
        </p:nvSpPr>
        <p:spPr>
          <a:xfrm>
            <a:off x="548640" y="2011680"/>
            <a:ext cx="3429000" cy="841248"/>
          </a:xfrm>
          <a:prstGeom prst="rect">
            <a:avLst/>
          </a:prstGeom>
          <a:solidFill>
            <a:srgbClr val="FFFFFF"/>
          </a:solidFill>
          <a:ln w="12700">
            <a:solidFill>
              <a:srgbClr val="7F7F7F"/>
            </a:solidFill>
            <a:prstDash val="solid"/>
          </a:ln>
        </p:spPr>
      </p:sp>
      <p:sp>
        <p:nvSpPr>
          <p:cNvPr id="5" name="Text 2"/>
          <p:cNvSpPr txBox="1"/>
          <p:nvPr/>
        </p:nvSpPr>
        <p:spPr>
          <a:xfrm>
            <a:off x="548640" y="2011680"/>
            <a:ext cx="3429000" cy="841248"/>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Ascites, with or without SBP</a:t>
            </a:r>
            <a:endParaRPr lang="en-US" sz="1600" dirty="0"/>
          </a:p>
        </p:txBody>
      </p:sp>
      <p:sp>
        <p:nvSpPr>
          <p:cNvPr id="6" name="Arrow"/>
          <p:cNvSpPr/>
          <p:nvPr/>
        </p:nvSpPr>
        <p:spPr>
          <a:xfrm>
            <a:off x="3977640" y="2432304"/>
            <a:ext cx="731520" cy="1005840"/>
          </a:xfrm>
          <a:prstGeom prst="line">
            <a:avLst/>
          </a:prstGeom>
          <a:noFill/>
          <a:ln w="19050">
            <a:solidFill>
              <a:srgbClr val="000000"/>
            </a:solidFill>
            <a:prstDash val="solid"/>
            <a:tailEnd type="triangle"/>
          </a:ln>
        </p:spPr>
      </p:sp>
      <p:sp>
        <p:nvSpPr>
          <p:cNvPr id="7" name="Box"/>
          <p:cNvSpPr/>
          <p:nvPr/>
        </p:nvSpPr>
        <p:spPr>
          <a:xfrm>
            <a:off x="548640" y="3017520"/>
            <a:ext cx="3429000" cy="841248"/>
          </a:xfrm>
          <a:prstGeom prst="rect">
            <a:avLst/>
          </a:prstGeom>
          <a:solidFill>
            <a:srgbClr val="FFFFFF"/>
          </a:solidFill>
          <a:ln w="12700">
            <a:solidFill>
              <a:srgbClr val="7F7F7F"/>
            </a:solidFill>
            <a:prstDash val="solid"/>
          </a:ln>
        </p:spPr>
      </p:sp>
      <p:sp>
        <p:nvSpPr>
          <p:cNvPr id="8" name="Text 5"/>
          <p:cNvSpPr txBox="1"/>
          <p:nvPr/>
        </p:nvSpPr>
        <p:spPr>
          <a:xfrm>
            <a:off x="548640" y="3017520"/>
            <a:ext cx="3429000" cy="841248"/>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Variceal or portal hypertensive gastropathy bleeding</a:t>
            </a:r>
            <a:endParaRPr lang="en-US" sz="1600" dirty="0"/>
          </a:p>
        </p:txBody>
      </p:sp>
      <p:sp>
        <p:nvSpPr>
          <p:cNvPr id="9" name="Arrow"/>
          <p:cNvSpPr/>
          <p:nvPr/>
        </p:nvSpPr>
        <p:spPr>
          <a:xfrm>
            <a:off x="3977640" y="3438144"/>
            <a:ext cx="731520" cy="914"/>
          </a:xfrm>
          <a:prstGeom prst="line">
            <a:avLst/>
          </a:prstGeom>
          <a:noFill/>
          <a:ln w="19050">
            <a:solidFill>
              <a:srgbClr val="000000"/>
            </a:solidFill>
            <a:prstDash val="solid"/>
            <a:tailEnd type="triangle"/>
          </a:ln>
        </p:spPr>
      </p:sp>
      <p:sp>
        <p:nvSpPr>
          <p:cNvPr id="10" name="Box"/>
          <p:cNvSpPr/>
          <p:nvPr/>
        </p:nvSpPr>
        <p:spPr>
          <a:xfrm>
            <a:off x="548640" y="4023360"/>
            <a:ext cx="3429000" cy="841248"/>
          </a:xfrm>
          <a:prstGeom prst="rect">
            <a:avLst/>
          </a:prstGeom>
          <a:solidFill>
            <a:srgbClr val="FFFFFF"/>
          </a:solidFill>
          <a:ln w="12700">
            <a:solidFill>
              <a:srgbClr val="7F7F7F"/>
            </a:solidFill>
            <a:prstDash val="solid"/>
          </a:ln>
        </p:spPr>
      </p:sp>
      <p:sp>
        <p:nvSpPr>
          <p:cNvPr id="11" name="Text 8"/>
          <p:cNvSpPr txBox="1"/>
          <p:nvPr/>
        </p:nvSpPr>
        <p:spPr>
          <a:xfrm>
            <a:off x="548640" y="4023360"/>
            <a:ext cx="3429000" cy="841248"/>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Hepatic encephalopathy</a:t>
            </a:r>
            <a:endParaRPr lang="en-US" sz="1600" dirty="0"/>
          </a:p>
        </p:txBody>
      </p:sp>
      <p:sp>
        <p:nvSpPr>
          <p:cNvPr id="12" name="Arrow"/>
          <p:cNvSpPr/>
          <p:nvPr/>
        </p:nvSpPr>
        <p:spPr>
          <a:xfrm flipV="1">
            <a:off x="3977640" y="3438144"/>
            <a:ext cx="731520" cy="1005840"/>
          </a:xfrm>
          <a:prstGeom prst="line">
            <a:avLst/>
          </a:prstGeom>
          <a:noFill/>
          <a:ln w="19050">
            <a:solidFill>
              <a:srgbClr val="000000"/>
            </a:solidFill>
            <a:prstDash val="solid"/>
            <a:tailEnd type="triangle"/>
          </a:ln>
        </p:spPr>
      </p:sp>
      <p:sp>
        <p:nvSpPr>
          <p:cNvPr id="13" name="Box"/>
          <p:cNvSpPr/>
          <p:nvPr/>
        </p:nvSpPr>
        <p:spPr>
          <a:xfrm>
            <a:off x="8214055" y="2011680"/>
            <a:ext cx="3429000" cy="841248"/>
          </a:xfrm>
          <a:prstGeom prst="rect">
            <a:avLst/>
          </a:prstGeom>
          <a:solidFill>
            <a:srgbClr val="FFFFFF"/>
          </a:solidFill>
          <a:ln w="12700">
            <a:solidFill>
              <a:srgbClr val="7F7F7F"/>
            </a:solidFill>
            <a:prstDash val="solid"/>
          </a:ln>
        </p:spPr>
      </p:sp>
      <p:sp>
        <p:nvSpPr>
          <p:cNvPr id="14" name="Text 11"/>
          <p:cNvSpPr txBox="1"/>
          <p:nvPr/>
        </p:nvSpPr>
        <p:spPr>
          <a:xfrm>
            <a:off x="8214055" y="2011680"/>
            <a:ext cx="3429000" cy="841248"/>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Hepatocellular carcinoma</a:t>
            </a:r>
            <a:endParaRPr lang="en-US" sz="1600" dirty="0"/>
          </a:p>
        </p:txBody>
      </p:sp>
      <p:sp>
        <p:nvSpPr>
          <p:cNvPr id="15" name="Arrow"/>
          <p:cNvSpPr/>
          <p:nvPr/>
        </p:nvSpPr>
        <p:spPr>
          <a:xfrm flipH="1">
            <a:off x="7482535" y="2432304"/>
            <a:ext cx="731520" cy="1005840"/>
          </a:xfrm>
          <a:prstGeom prst="line">
            <a:avLst/>
          </a:prstGeom>
          <a:noFill/>
          <a:ln w="19050">
            <a:solidFill>
              <a:srgbClr val="000000"/>
            </a:solidFill>
            <a:prstDash val="solid"/>
            <a:tailEnd type="triangle"/>
          </a:ln>
        </p:spPr>
      </p:sp>
      <p:sp>
        <p:nvSpPr>
          <p:cNvPr id="16" name="Box"/>
          <p:cNvSpPr/>
          <p:nvPr/>
        </p:nvSpPr>
        <p:spPr>
          <a:xfrm>
            <a:off x="8214055" y="3017520"/>
            <a:ext cx="3429000" cy="841248"/>
          </a:xfrm>
          <a:prstGeom prst="rect">
            <a:avLst/>
          </a:prstGeom>
          <a:solidFill>
            <a:srgbClr val="FFFFFF"/>
          </a:solidFill>
          <a:ln w="12700">
            <a:solidFill>
              <a:srgbClr val="7F7F7F"/>
            </a:solidFill>
            <a:prstDash val="solid"/>
          </a:ln>
        </p:spPr>
      </p:sp>
      <p:sp>
        <p:nvSpPr>
          <p:cNvPr id="17" name="Text 14"/>
          <p:cNvSpPr txBox="1"/>
          <p:nvPr/>
        </p:nvSpPr>
        <p:spPr>
          <a:xfrm>
            <a:off x="8214055" y="3017520"/>
            <a:ext cx="3429000" cy="841248"/>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Hepatopulmonary syndrome or portopulmonary hypertension</a:t>
            </a:r>
            <a:endParaRPr lang="en-US" sz="1600" dirty="0"/>
          </a:p>
        </p:txBody>
      </p:sp>
      <p:sp>
        <p:nvSpPr>
          <p:cNvPr id="18" name="Arrow"/>
          <p:cNvSpPr/>
          <p:nvPr/>
        </p:nvSpPr>
        <p:spPr>
          <a:xfrm flipH="1">
            <a:off x="7482535" y="3438144"/>
            <a:ext cx="731520" cy="914"/>
          </a:xfrm>
          <a:prstGeom prst="line">
            <a:avLst/>
          </a:prstGeom>
          <a:noFill/>
          <a:ln w="19050">
            <a:solidFill>
              <a:srgbClr val="000000"/>
            </a:solidFill>
            <a:prstDash val="solid"/>
            <a:tailEnd type="triangle"/>
          </a:ln>
        </p:spPr>
      </p:sp>
      <p:sp>
        <p:nvSpPr>
          <p:cNvPr id="19" name="Box"/>
          <p:cNvSpPr/>
          <p:nvPr/>
        </p:nvSpPr>
        <p:spPr>
          <a:xfrm>
            <a:off x="8214055" y="4023360"/>
            <a:ext cx="3429000" cy="841248"/>
          </a:xfrm>
          <a:prstGeom prst="rect">
            <a:avLst/>
          </a:prstGeom>
          <a:solidFill>
            <a:srgbClr val="FFFFFF"/>
          </a:solidFill>
          <a:ln w="12700">
            <a:solidFill>
              <a:srgbClr val="7F7F7F"/>
            </a:solidFill>
            <a:prstDash val="solid"/>
          </a:ln>
        </p:spPr>
      </p:sp>
      <p:sp>
        <p:nvSpPr>
          <p:cNvPr id="20" name="Text 17"/>
          <p:cNvSpPr txBox="1"/>
          <p:nvPr/>
        </p:nvSpPr>
        <p:spPr>
          <a:xfrm>
            <a:off x="8214055" y="4023360"/>
            <a:ext cx="3429000" cy="841248"/>
          </a:xfrm>
          <a:prstGeom prst="rect">
            <a:avLst/>
          </a:prstGeom>
          <a:noFill/>
          <a:ln/>
        </p:spPr>
        <p:txBody>
          <a:bodyPr wrap="square" lIns="50800" tIns="50800" rIns="50800" bIns="50800" rtlCol="0" anchor="ctr"/>
          <a:lstStyle/>
          <a:p>
            <a:pPr algn="ctr" indent="0" marL="0">
              <a:buNone/>
            </a:pPr>
            <a:r>
              <a:rPr lang="en-US" sz="1600" b="1" dirty="0">
                <a:solidFill>
                  <a:srgbClr val="000000"/>
                </a:solidFill>
                <a:latin typeface="Georgia" pitchFamily="34" charset="0"/>
                <a:ea typeface="Georgia" pitchFamily="34" charset="-122"/>
                <a:cs typeface="Georgia" pitchFamily="34" charset="-120"/>
              </a:rPr>
              <a:t>MELD 3.0 ≥12</a:t>
            </a:r>
            <a:endParaRPr lang="en-US" sz="1600" dirty="0"/>
          </a:p>
        </p:txBody>
      </p:sp>
      <p:sp>
        <p:nvSpPr>
          <p:cNvPr id="21" name="Arrow"/>
          <p:cNvSpPr/>
          <p:nvPr/>
        </p:nvSpPr>
        <p:spPr>
          <a:xfrm flipH="1" flipV="1">
            <a:off x="7482535" y="3438144"/>
            <a:ext cx="731520" cy="1005840"/>
          </a:xfrm>
          <a:prstGeom prst="line">
            <a:avLst/>
          </a:prstGeom>
          <a:noFill/>
          <a:ln w="19050">
            <a:solidFill>
              <a:srgbClr val="000000"/>
            </a:solidFill>
            <a:prstDash val="solid"/>
            <a:tailEnd type="triangle"/>
          </a:ln>
        </p:spPr>
      </p:sp>
      <p:sp>
        <p:nvSpPr>
          <p:cNvPr id="22" name="Box"/>
          <p:cNvSpPr/>
          <p:nvPr/>
        </p:nvSpPr>
        <p:spPr>
          <a:xfrm>
            <a:off x="4709160" y="2926080"/>
            <a:ext cx="2773375" cy="1024128"/>
          </a:xfrm>
          <a:prstGeom prst="rect">
            <a:avLst/>
          </a:prstGeom>
          <a:solidFill>
            <a:srgbClr val="F2F2F2"/>
          </a:solidFill>
          <a:ln w="12700">
            <a:solidFill>
              <a:srgbClr val="000000"/>
            </a:solidFill>
            <a:prstDash val="solid"/>
          </a:ln>
        </p:spPr>
      </p:sp>
      <p:sp>
        <p:nvSpPr>
          <p:cNvPr id="23" name="Text 20"/>
          <p:cNvSpPr txBox="1"/>
          <p:nvPr/>
        </p:nvSpPr>
        <p:spPr>
          <a:xfrm>
            <a:off x="4709160" y="2926080"/>
            <a:ext cx="2773375" cy="1024128"/>
          </a:xfrm>
          <a:prstGeom prst="rect">
            <a:avLst/>
          </a:prstGeom>
          <a:noFill/>
          <a:ln/>
        </p:spPr>
        <p:txBody>
          <a:bodyPr wrap="square" lIns="50800" tIns="50800" rIns="50800" bIns="5080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Refer for liver transplant evaluation</a:t>
            </a:r>
            <a:endParaRPr lang="en-US" sz="1800" dirty="0"/>
          </a:p>
        </p:txBody>
      </p:sp>
      <p:sp>
        <p:nvSpPr>
          <p:cNvPr id="24" name="Text 21"/>
          <p:cNvSpPr txBox="1"/>
          <p:nvPr/>
        </p:nvSpPr>
        <p:spPr>
          <a:xfrm>
            <a:off x="822960" y="4983480"/>
            <a:ext cx="10545775" cy="1188720"/>
          </a:xfrm>
          <a:prstGeom prst="rect">
            <a:avLst/>
          </a:prstGeom>
          <a:noFill/>
          <a:ln/>
        </p:spPr>
        <p:txBody>
          <a:bodyPr wrap="square" lIns="25400" tIns="25400" rIns="25400" bIns="25400" rtlCol="0" anchor="t"/>
          <a:lstStyle/>
          <a:p>
            <a:pPr algn="ctr" indent="0" marL="0">
              <a:buNone/>
            </a:pPr>
            <a:r>
              <a:rPr lang="en-US" sz="1700" b="1" dirty="0">
                <a:solidFill>
                  <a:srgbClr val="000000"/>
                </a:solidFill>
                <a:latin typeface="Georgia" pitchFamily="34" charset="0"/>
                <a:ea typeface="Georgia" pitchFamily="34" charset="-122"/>
                <a:cs typeface="Georgia" pitchFamily="34" charset="-120"/>
              </a:rPr>
              <a:t>The 2025 guideline: </a:t>
            </a:r>
            <a:r>
              <a:rPr lang="en-US" sz="1700" dirty="0">
                <a:solidFill>
                  <a:srgbClr val="000000"/>
                </a:solidFill>
                <a:latin typeface="Georgia" pitchFamily="34" charset="0"/>
                <a:ea typeface="Georgia" pitchFamily="34" charset="-122"/>
                <a:cs typeface="Georgia" pitchFamily="34" charset="-120"/>
              </a:rPr>
              <a:t>refer after any decompensating event. Without one, the MELD threshold is unclear: benefit may start at 12 in waitlisted patients, and most of the writing group still sees 15 as reasonable. “MELD score alone should not be a barrier to referral.”</a:t>
            </a:r>
            <a:endParaRPr lang="en-US" sz="1700" dirty="0"/>
          </a:p>
        </p:txBody>
      </p:sp>
      <p:sp>
        <p:nvSpPr>
          <p:cNvPr id="2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Figure 1 redrawn from Dove L et al. AASLD/AST candidate evaluation guideline. Hepatology 2026;83(6):1609-45 [PMID: 41405234], statement 1</a:t>
            </a:r>
            <a:endParaRPr lang="en-US" sz="1000" dirty="0"/>
          </a:p>
        </p:txBody>
      </p:sp>
      <p:sp>
        <p:nvSpPr>
          <p:cNvPr id="2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14/47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needs a call the same day?</a:t>
            </a:r>
            <a:endParaRPr lang="en-US" sz="3000" dirty="0"/>
          </a:p>
        </p:txBody>
      </p:sp>
      <p:sp>
        <p:nvSpPr>
          <p:cNvPr id="3" name="Box"/>
          <p:cNvSpPr/>
          <p:nvPr/>
        </p:nvSpPr>
        <p:spPr>
          <a:xfrm>
            <a:off x="548640" y="1371600"/>
            <a:ext cx="4206240" cy="960120"/>
          </a:xfrm>
          <a:prstGeom prst="rect">
            <a:avLst/>
          </a:prstGeom>
          <a:solidFill>
            <a:srgbClr val="FFFFFF"/>
          </a:solidFill>
          <a:ln w="12700">
            <a:solidFill>
              <a:srgbClr val="7F7F7F"/>
            </a:solidFill>
            <a:prstDash val="solid"/>
          </a:ln>
        </p:spPr>
      </p:sp>
      <p:sp>
        <p:nvSpPr>
          <p:cNvPr id="4" name="Text 2"/>
          <p:cNvSpPr txBox="1"/>
          <p:nvPr/>
        </p:nvSpPr>
        <p:spPr>
          <a:xfrm>
            <a:off x="548640" y="1371600"/>
            <a:ext cx="4206240" cy="960120"/>
          </a:xfrm>
          <a:prstGeom prst="rect">
            <a:avLst/>
          </a:prstGeom>
          <a:noFill/>
          <a:ln/>
        </p:spPr>
        <p:txBody>
          <a:bodyPr wrap="square" lIns="50800" tIns="50800" rIns="50800" bIns="5080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Acute liver failure</a:t>
            </a:r>
            <a:endParaRPr lang="en-US" sz="1800" dirty="0"/>
          </a:p>
          <a:p>
            <a:pPr algn="ctr" indent="0" marL="0">
              <a:buNone/>
            </a:pPr>
            <a:r>
              <a:rPr lang="en-US" sz="1500" dirty="0">
                <a:solidFill>
                  <a:srgbClr val="000000"/>
                </a:solidFill>
                <a:latin typeface="Georgia" pitchFamily="34" charset="0"/>
                <a:ea typeface="Georgia" pitchFamily="34" charset="-122"/>
                <a:cs typeface="Georgia" pitchFamily="34" charset="-120"/>
              </a:rPr>
              <a:t>INR ≥1.5 and any encephalopathy, no cirrhosis</a:t>
            </a:r>
            <a:endParaRPr lang="en-US" sz="1800" dirty="0"/>
          </a:p>
        </p:txBody>
      </p:sp>
      <p:sp>
        <p:nvSpPr>
          <p:cNvPr id="5" name="Arrow"/>
          <p:cNvSpPr/>
          <p:nvPr/>
        </p:nvSpPr>
        <p:spPr>
          <a:xfrm>
            <a:off x="4754880" y="1851660"/>
            <a:ext cx="731520" cy="891540"/>
          </a:xfrm>
          <a:prstGeom prst="line">
            <a:avLst/>
          </a:prstGeom>
          <a:noFill/>
          <a:ln w="19050">
            <a:solidFill>
              <a:srgbClr val="000000"/>
            </a:solidFill>
            <a:prstDash val="solid"/>
            <a:tailEnd type="triangle"/>
          </a:ln>
        </p:spPr>
      </p:sp>
      <p:sp>
        <p:nvSpPr>
          <p:cNvPr id="6" name="Box"/>
          <p:cNvSpPr/>
          <p:nvPr/>
        </p:nvSpPr>
        <p:spPr>
          <a:xfrm>
            <a:off x="548640" y="2560320"/>
            <a:ext cx="4206240" cy="960120"/>
          </a:xfrm>
          <a:prstGeom prst="rect">
            <a:avLst/>
          </a:prstGeom>
          <a:solidFill>
            <a:srgbClr val="FFFFFF"/>
          </a:solidFill>
          <a:ln w="12700">
            <a:solidFill>
              <a:srgbClr val="7F7F7F"/>
            </a:solidFill>
            <a:prstDash val="solid"/>
          </a:ln>
        </p:spPr>
      </p:sp>
      <p:sp>
        <p:nvSpPr>
          <p:cNvPr id="7" name="Text 5"/>
          <p:cNvSpPr txBox="1"/>
          <p:nvPr/>
        </p:nvSpPr>
        <p:spPr>
          <a:xfrm>
            <a:off x="548640" y="2560320"/>
            <a:ext cx="4206240" cy="960120"/>
          </a:xfrm>
          <a:prstGeom prst="rect">
            <a:avLst/>
          </a:prstGeom>
          <a:noFill/>
          <a:ln/>
        </p:spPr>
        <p:txBody>
          <a:bodyPr wrap="square" lIns="50800" tIns="50800" rIns="50800" bIns="5080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Severe acute liver injury</a:t>
            </a:r>
            <a:endParaRPr lang="en-US" sz="1800" dirty="0"/>
          </a:p>
          <a:p>
            <a:pPr algn="ctr" indent="0" marL="0">
              <a:buNone/>
            </a:pPr>
            <a:r>
              <a:rPr lang="en-US" sz="1500" dirty="0">
                <a:solidFill>
                  <a:srgbClr val="000000"/>
                </a:solidFill>
                <a:latin typeface="Georgia" pitchFamily="34" charset="0"/>
                <a:ea typeface="Georgia" pitchFamily="34" charset="-122"/>
                <a:cs typeface="Georgia" pitchFamily="34" charset="-120"/>
              </a:rPr>
              <a:t>Jaundice and a rising INR, still awake</a:t>
            </a:r>
            <a:endParaRPr lang="en-US" sz="1800" dirty="0"/>
          </a:p>
        </p:txBody>
      </p:sp>
      <p:sp>
        <p:nvSpPr>
          <p:cNvPr id="8" name="Arrow"/>
          <p:cNvSpPr/>
          <p:nvPr/>
        </p:nvSpPr>
        <p:spPr>
          <a:xfrm flipV="1">
            <a:off x="4754880" y="2743200"/>
            <a:ext cx="731520" cy="297180"/>
          </a:xfrm>
          <a:prstGeom prst="line">
            <a:avLst/>
          </a:prstGeom>
          <a:noFill/>
          <a:ln w="19050">
            <a:solidFill>
              <a:srgbClr val="000000"/>
            </a:solidFill>
            <a:prstDash val="solid"/>
            <a:tailEnd type="triangle"/>
          </a:ln>
        </p:spPr>
      </p:sp>
      <p:sp>
        <p:nvSpPr>
          <p:cNvPr id="9" name="Box"/>
          <p:cNvSpPr/>
          <p:nvPr/>
        </p:nvSpPr>
        <p:spPr>
          <a:xfrm>
            <a:off x="548640" y="3749040"/>
            <a:ext cx="4206240" cy="960120"/>
          </a:xfrm>
          <a:prstGeom prst="rect">
            <a:avLst/>
          </a:prstGeom>
          <a:solidFill>
            <a:srgbClr val="FFFFFF"/>
          </a:solidFill>
          <a:ln w="12700">
            <a:solidFill>
              <a:srgbClr val="7F7F7F"/>
            </a:solidFill>
            <a:prstDash val="solid"/>
          </a:ln>
        </p:spPr>
      </p:sp>
      <p:sp>
        <p:nvSpPr>
          <p:cNvPr id="10" name="Text 8"/>
          <p:cNvSpPr txBox="1"/>
          <p:nvPr/>
        </p:nvSpPr>
        <p:spPr>
          <a:xfrm>
            <a:off x="548640" y="3749040"/>
            <a:ext cx="4206240" cy="960120"/>
          </a:xfrm>
          <a:prstGeom prst="rect">
            <a:avLst/>
          </a:prstGeom>
          <a:noFill/>
          <a:ln/>
        </p:spPr>
        <p:txBody>
          <a:bodyPr wrap="square" lIns="50800" tIns="50800" rIns="50800" bIns="5080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ACLF</a:t>
            </a:r>
            <a:endParaRPr lang="en-US" sz="1800" dirty="0"/>
          </a:p>
          <a:p>
            <a:pPr algn="ctr" indent="0" marL="0">
              <a:buNone/>
            </a:pPr>
            <a:r>
              <a:rPr lang="en-US" sz="1500" dirty="0">
                <a:solidFill>
                  <a:srgbClr val="000000"/>
                </a:solidFill>
                <a:latin typeface="Georgia" pitchFamily="34" charset="0"/>
                <a:ea typeface="Georgia" pitchFamily="34" charset="-122"/>
                <a:cs typeface="Georgia" pitchFamily="34" charset="-120"/>
              </a:rPr>
              <a:t>Cirrhosis with new organ failure</a:t>
            </a:r>
            <a:endParaRPr lang="en-US" sz="1800" dirty="0"/>
          </a:p>
        </p:txBody>
      </p:sp>
      <p:sp>
        <p:nvSpPr>
          <p:cNvPr id="11" name="Arrow"/>
          <p:cNvSpPr/>
          <p:nvPr/>
        </p:nvSpPr>
        <p:spPr>
          <a:xfrm flipV="1">
            <a:off x="4754880" y="2743200"/>
            <a:ext cx="731520" cy="1485900"/>
          </a:xfrm>
          <a:prstGeom prst="line">
            <a:avLst/>
          </a:prstGeom>
          <a:noFill/>
          <a:ln w="19050">
            <a:solidFill>
              <a:srgbClr val="000000"/>
            </a:solidFill>
            <a:prstDash val="solid"/>
            <a:tailEnd type="triangle"/>
          </a:ln>
        </p:spPr>
      </p:sp>
      <p:sp>
        <p:nvSpPr>
          <p:cNvPr id="12" name="Box"/>
          <p:cNvSpPr/>
          <p:nvPr/>
        </p:nvSpPr>
        <p:spPr>
          <a:xfrm>
            <a:off x="5486400" y="2240280"/>
            <a:ext cx="2377440" cy="1005840"/>
          </a:xfrm>
          <a:prstGeom prst="rect">
            <a:avLst/>
          </a:prstGeom>
          <a:solidFill>
            <a:srgbClr val="F2F2F2"/>
          </a:solidFill>
          <a:ln w="12700">
            <a:solidFill>
              <a:srgbClr val="000000"/>
            </a:solidFill>
            <a:prstDash val="solid"/>
          </a:ln>
        </p:spPr>
      </p:sp>
      <p:sp>
        <p:nvSpPr>
          <p:cNvPr id="13" name="Text 11"/>
          <p:cNvSpPr txBox="1"/>
          <p:nvPr/>
        </p:nvSpPr>
        <p:spPr>
          <a:xfrm>
            <a:off x="5486400" y="2240280"/>
            <a:ext cx="2377440" cy="1005840"/>
          </a:xfrm>
          <a:prstGeom prst="rect">
            <a:avLst/>
          </a:prstGeom>
          <a:noFill/>
          <a:ln/>
        </p:spPr>
        <p:txBody>
          <a:bodyPr wrap="square" lIns="50800" tIns="50800" rIns="50800" bIns="5080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Call transplant hepatology</a:t>
            </a:r>
            <a:endParaRPr lang="en-US" sz="1800" dirty="0"/>
          </a:p>
        </p:txBody>
      </p:sp>
      <p:pic>
        <p:nvPicPr>
          <p:cNvPr id="14" name="Image 0" descr="Watercolor of a desk phone with the handset off the hook">    </p:cNvPr>
          <p:cNvPicPr>
            <a:picLocks noChangeAspect="1"/>
          </p:cNvPicPr>
          <p:nvPr/>
        </p:nvPicPr>
        <p:blipFill>
          <a:blip r:embed="rId1"/>
          <a:stretch>
            <a:fillRect/>
          </a:stretch>
        </p:blipFill>
        <p:spPr>
          <a:xfrm>
            <a:off x="8138160" y="1280160"/>
            <a:ext cx="3749040" cy="3219284"/>
          </a:xfrm>
          <a:prstGeom prst="rect">
            <a:avLst/>
          </a:prstGeom>
        </p:spPr>
      </p:pic>
      <p:sp>
        <p:nvSpPr>
          <p:cNvPr id="15" name="Text 12"/>
          <p:cNvSpPr txBox="1"/>
          <p:nvPr/>
        </p:nvSpPr>
        <p:spPr>
          <a:xfrm>
            <a:off x="548640" y="4846320"/>
            <a:ext cx="11094415" cy="1371600"/>
          </a:xfrm>
          <a:prstGeom prst="rect">
            <a:avLst/>
          </a:prstGeom>
          <a:noFill/>
          <a:ln/>
        </p:spPr>
        <p:txBody>
          <a:bodyPr wrap="square" lIns="25400" tIns="25400" rIns="25400" bIns="25400" rtlCol="0" anchor="t"/>
          <a:lstStyle/>
          <a:p>
            <a:pPr algn="ctr" indent="0" marL="0">
              <a:buNone/>
            </a:pPr>
            <a:r>
              <a:rPr lang="en-US" sz="1700" b="1" dirty="0">
                <a:solidFill>
                  <a:srgbClr val="000000"/>
                </a:solidFill>
                <a:latin typeface="Georgia" pitchFamily="34" charset="0"/>
                <a:ea typeface="Georgia" pitchFamily="34" charset="-122"/>
                <a:cs typeface="Georgia" pitchFamily="34" charset="-120"/>
              </a:rPr>
              <a:t>ALF: </a:t>
            </a:r>
            <a:r>
              <a:rPr lang="en-US" sz="1700" dirty="0">
                <a:solidFill>
                  <a:srgbClr val="000000"/>
                </a:solidFill>
                <a:latin typeface="Georgia" pitchFamily="34" charset="0"/>
                <a:ea typeface="Georgia" pitchFamily="34" charset="-122"/>
                <a:cs typeface="Georgia" pitchFamily="34" charset="-120"/>
              </a:rPr>
              <a:t>call “in the first few hours after presentation, and prior to meeting ALF diagnostic criteria.” Insurance, substance use or infection shouldn't hold up the call.</a:t>
            </a:r>
            <a:endParaRPr lang="en-US" sz="1700" dirty="0"/>
          </a:p>
          <a:p>
            <a:pPr algn="ctr" indent="0" marL="0">
              <a:spcBef>
                <a:spcPts val="1000"/>
              </a:spcBef>
              <a:buNone/>
            </a:pPr>
            <a:r>
              <a:rPr lang="en-US" sz="1700" b="1" dirty="0">
                <a:solidFill>
                  <a:srgbClr val="000000"/>
                </a:solidFill>
                <a:latin typeface="Georgia" pitchFamily="34" charset="0"/>
                <a:ea typeface="Georgia" pitchFamily="34" charset="-122"/>
                <a:cs typeface="Georgia" pitchFamily="34" charset="-120"/>
              </a:rPr>
              <a:t>ACLF: </a:t>
            </a:r>
            <a:r>
              <a:rPr lang="en-US" sz="1700" dirty="0">
                <a:solidFill>
                  <a:srgbClr val="000000"/>
                </a:solidFill>
                <a:latin typeface="Georgia" pitchFamily="34" charset="0"/>
                <a:ea typeface="Georgia" pitchFamily="34" charset="-122"/>
                <a:cs typeface="Georgia" pitchFamily="34" charset="-120"/>
              </a:rPr>
              <a:t>consider referral early, while the patient can still travel.</a:t>
            </a:r>
            <a:endParaRPr lang="en-US" sz="1700" dirty="0"/>
          </a:p>
        </p:txBody>
      </p:sp>
      <p:sp>
        <p:nvSpPr>
          <p:cNvPr id="1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Dove L et al. AASLD/AST candidate evaluation guideline. Hepatology 2026;83(6):1609-45 [PMID: 41405234], statements 2-4. ACG ALF guideline 2023 [PMID: 37377263]</a:t>
            </a:r>
            <a:endParaRPr lang="en-US" sz="1000" dirty="0"/>
          </a:p>
        </p:txBody>
      </p:sp>
      <p:sp>
        <p:nvSpPr>
          <p:cNvPr id="1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15/47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Watercolor of an empty waiting room chair with a coat over the arm">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Who can get a liver now</a:t>
            </a:r>
            <a:endParaRPr lang="en-US" sz="48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16/47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a patient who drank last month get a liver?</a:t>
            </a:r>
            <a:endParaRPr lang="en-US" sz="3000" dirty="0"/>
          </a:p>
        </p:txBody>
      </p:sp>
      <p:pic>
        <p:nvPicPr>
          <p:cNvPr id="3" name="Image 0" descr="Mathurin 2011: survival after early transplant vs matched controls">    </p:cNvPr>
          <p:cNvPicPr>
            <a:picLocks noChangeAspect="1"/>
          </p:cNvPicPr>
          <p:nvPr/>
        </p:nvPicPr>
        <p:blipFill>
          <a:blip r:embed="rId1"/>
          <a:stretch>
            <a:fillRect/>
          </a:stretch>
        </p:blipFill>
        <p:spPr>
          <a:xfrm>
            <a:off x="457200" y="1234440"/>
            <a:ext cx="6400800" cy="4538749"/>
          </a:xfrm>
          <a:prstGeom prst="rect">
            <a:avLst/>
          </a:prstGeom>
        </p:spPr>
      </p:pic>
      <p:sp>
        <p:nvSpPr>
          <p:cNvPr id="4" name="Body"/>
          <p:cNvSpPr txBox="1"/>
          <p:nvPr/>
        </p:nvSpPr>
        <p:spPr>
          <a:xfrm>
            <a:off x="7132320" y="1645920"/>
            <a:ext cx="4663440" cy="4480560"/>
          </a:xfrm>
          <a:prstGeom prst="rect">
            <a:avLst/>
          </a:prstGeom>
          <a:noFill/>
          <a:ln/>
        </p:spPr>
        <p:txBody>
          <a:bodyPr wrap="square" lIns="50800" tIns="50800" rIns="50800" bIns="50800" rtlCol="0" anchor="t"/>
          <a:lstStyle/>
          <a:p>
            <a:pPr marL="228600" indent="-228600">
              <a:spcBef>
                <a:spcPts val="1600"/>
              </a:spcBef>
              <a:buSzPct val="100000"/>
              <a:buChar char="–"/>
            </a:pPr>
            <a:r>
              <a:rPr lang="en-US" sz="2000" b="1" dirty="0">
                <a:solidFill>
                  <a:srgbClr val="000000"/>
                </a:solidFill>
                <a:latin typeface="Georgia" pitchFamily="34" charset="0"/>
                <a:ea typeface="Georgia" pitchFamily="34" charset="-122"/>
                <a:cs typeface="Georgia" pitchFamily="34" charset="-120"/>
              </a:rPr>
              <a:t>France and Belgium, not the US</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First episode of severe AH, not responding to steroids, strict medical and psychosocial selection</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26 patients, fewer than 2% of severe AH admissions</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6-month survival 77% vs 23% in matched controls</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Mathurin P, Moreno C, Samuel D, et al. N Engl J Med 2011;365(19):1790-800 [PMID: 22070476]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17/47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Did it hold up in the US?</a:t>
            </a:r>
            <a:endParaRPr lang="en-US" sz="3000" dirty="0"/>
          </a:p>
        </p:txBody>
      </p:sp>
      <p:pic>
        <p:nvPicPr>
          <p:cNvPr id="3" name="Image 0" descr="ACCELERATE-AH: survival and sustained alcohol use after early transplant">    </p:cNvPr>
          <p:cNvPicPr>
            <a:picLocks noChangeAspect="1"/>
          </p:cNvPicPr>
          <p:nvPr/>
        </p:nvPicPr>
        <p:blipFill>
          <a:blip r:embed="rId1"/>
          <a:stretch>
            <a:fillRect/>
          </a:stretch>
        </p:blipFill>
        <p:spPr>
          <a:xfrm>
            <a:off x="2379719" y="1188720"/>
            <a:ext cx="7432257" cy="3017520"/>
          </a:xfrm>
          <a:prstGeom prst="rect">
            <a:avLst/>
          </a:prstGeom>
        </p:spPr>
      </p:pic>
      <p:sp>
        <p:nvSpPr>
          <p:cNvPr id="4" name="Body"/>
          <p:cNvSpPr txBox="1"/>
          <p:nvPr/>
        </p:nvSpPr>
        <p:spPr>
          <a:xfrm>
            <a:off x="822960" y="4434840"/>
            <a:ext cx="10545775" cy="1737360"/>
          </a:xfrm>
          <a:prstGeom prst="rect">
            <a:avLst/>
          </a:prstGeom>
          <a:noFill/>
          <a:ln/>
        </p:spPr>
        <p:txBody>
          <a:bodyPr wrap="square" lIns="50800" tIns="50800" rIns="50800" bIns="50800" rtlCol="0" anchor="t"/>
          <a:lstStyle/>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ACCELERATE-AH, 147 patients: sustained alcohol use carried a higher risk of death (HR 4.59)</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2025 analysis, 347 patients alive at discharge: 5-year survival 83.1%</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Lee BP et al. Gastroenterology 2018;155(2):422-430.e1 [PMID: 29655837]. Dukewich M et al. Am J Gastroenterol 2025;120(4):827-36 [PMID: 38994850]</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18/47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about relapse?</a:t>
            </a:r>
            <a:endParaRPr lang="en-US" sz="3000" dirty="0"/>
          </a:p>
        </p:txBody>
      </p:sp>
      <p:pic>
        <p:nvPicPr>
          <p:cNvPr id="3" name="Image 0" descr="Louvet A et al. QuickTrans, Lancet Gastroenterol Hepatol 2022: title block">    </p:cNvPr>
          <p:cNvPicPr>
            <a:picLocks noChangeAspect="1"/>
          </p:cNvPicPr>
          <p:nvPr/>
        </p:nvPicPr>
        <p:blipFill>
          <a:blip r:embed="rId1"/>
          <a:stretch>
            <a:fillRect/>
          </a:stretch>
        </p:blipFill>
        <p:spPr>
          <a:xfrm>
            <a:off x="3628007" y="1143000"/>
            <a:ext cx="4935682" cy="868680"/>
          </a:xfrm>
          <a:prstGeom prst="rect">
            <a:avLst/>
          </a:prstGeom>
        </p:spPr>
      </p:pic>
      <p:pic>
        <p:nvPicPr>
          <p:cNvPr id="4" name="Image 1" descr="QuickTrans: overall survival in the early transplant group vs patients not eligible">    </p:cNvPr>
          <p:cNvPicPr>
            <a:picLocks noChangeAspect="1"/>
          </p:cNvPicPr>
          <p:nvPr/>
        </p:nvPicPr>
        <p:blipFill>
          <a:blip r:embed="rId2"/>
          <a:stretch>
            <a:fillRect/>
          </a:stretch>
        </p:blipFill>
        <p:spPr>
          <a:xfrm>
            <a:off x="915982" y="2148840"/>
            <a:ext cx="4568836" cy="3474720"/>
          </a:xfrm>
          <a:prstGeom prst="rect">
            <a:avLst/>
          </a:prstGeom>
        </p:spPr>
      </p:pic>
      <p:sp>
        <p:nvSpPr>
          <p:cNvPr id="5" name="Text 1"/>
          <p:cNvSpPr txBox="1"/>
          <p:nvPr/>
        </p:nvSpPr>
        <p:spPr>
          <a:xfrm>
            <a:off x="548640" y="5669280"/>
            <a:ext cx="5303520" cy="548640"/>
          </a:xfrm>
          <a:prstGeom prst="rect">
            <a:avLst/>
          </a:prstGeom>
          <a:noFill/>
          <a:ln/>
        </p:spPr>
        <p:txBody>
          <a:bodyPr wrap="square" lIns="25400" tIns="25400" rIns="25400" bIns="25400" rtlCol="0" anchor="t"/>
          <a:lstStyle/>
          <a:p>
            <a:pPr algn="ctr" indent="0" marL="0">
              <a:buNone/>
            </a:pPr>
            <a:r>
              <a:rPr lang="en-US" sz="1600" dirty="0">
                <a:solidFill>
                  <a:srgbClr val="000000"/>
                </a:solidFill>
                <a:latin typeface="Georgia" pitchFamily="34" charset="0"/>
                <a:ea typeface="Georgia" pitchFamily="34" charset="-122"/>
                <a:cs typeface="Georgia" pitchFamily="34" charset="-120"/>
              </a:rPr>
              <a:t>Early-LT strategy vs patients not eligible: 2-year survival 70.6% vs 28.3%</a:t>
            </a:r>
            <a:endParaRPr lang="en-US" sz="1600" dirty="0"/>
          </a:p>
        </p:txBody>
      </p:sp>
      <p:graphicFrame>
        <p:nvGraphicFramePr>
          <p:cNvPr id="6" name="Chart 0" descr=""/>
          <p:cNvGraphicFramePr/>
          <p:nvPr/>
        </p:nvGraphicFramePr>
        <p:xfrm>
          <a:off x="6309360" y="2103120"/>
          <a:ext cx="5394960" cy="3566160"/>
        </p:xfrm>
        <a:graphic xmlns:a="http://schemas.openxmlformats.org/drawingml/2006/main">
          <a:graphicData uri="http://schemas.openxmlformats.org/drawingml/2006/chart">
            <c:chart xmlns:c="http://schemas.openxmlformats.org/drawingml/2006/chart" r:id="rId3"/>
          </a:graphicData>
        </a:graphic>
      </p:graphicFrame>
      <p:sp>
        <p:nvSpPr>
          <p:cNvPr id="7" name="Text 2"/>
          <p:cNvSpPr txBox="1"/>
          <p:nvPr/>
        </p:nvSpPr>
        <p:spPr>
          <a:xfrm>
            <a:off x="6309360" y="5669280"/>
            <a:ext cx="5394960" cy="548640"/>
          </a:xfrm>
          <a:prstGeom prst="rect">
            <a:avLst/>
          </a:prstGeom>
          <a:noFill/>
          <a:ln/>
        </p:spPr>
        <p:txBody>
          <a:bodyPr wrap="square" lIns="25400" tIns="25400" rIns="25400" bIns="25400" rtlCol="0" anchor="t"/>
          <a:lstStyle/>
          <a:p>
            <a:pPr algn="ctr" indent="0" marL="0">
              <a:buNone/>
            </a:pPr>
            <a:r>
              <a:rPr lang="en-US" sz="1600" dirty="0">
                <a:solidFill>
                  <a:srgbClr val="000000"/>
                </a:solidFill>
                <a:latin typeface="Georgia" pitchFamily="34" charset="0"/>
                <a:ea typeface="Georgia" pitchFamily="34" charset="-122"/>
                <a:cs typeface="Georgia" pitchFamily="34" charset="-120"/>
              </a:rPr>
              <a:t>Non-inferiority for relapse not shown</a:t>
            </a:r>
            <a:endParaRPr lang="en-US" sz="1600" dirty="0"/>
          </a:p>
        </p:txBody>
      </p:sp>
      <p:sp>
        <p:nvSpPr>
          <p:cNvPr id="8"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Louvet A, Labreuche J, Moreno C, et al. Lancet Gastroenterol Hepatol 2022;7(5):416-25 [PMID: 35202597]</a:t>
            </a:r>
            <a:endParaRPr lang="en-US" sz="1000" dirty="0"/>
          </a:p>
        </p:txBody>
      </p:sp>
      <p:sp>
        <p:nvSpPr>
          <p:cNvPr id="10"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19/47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do the guidelines say now?</a:t>
            </a:r>
            <a:endParaRPr lang="en-US" sz="30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457200" y="1554480"/>
          <a:ext cx="11277295" cy="914400"/>
        </p:xfrm>
        <a:graphic>
          <a:graphicData uri="http://schemas.openxmlformats.org/drawingml/2006/table">
            <a:tbl>
              <a:tblPr/>
              <a:tblGrid>
                <a:gridCol w="2395728"/>
                <a:gridCol w="8878824"/>
              </a:tblGrid>
              <a:tr h="86868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Guideline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Early transplant for alcohol-associated hepatitis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EASL 2024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Selected non-responders with favorable sobriety predictors (strong)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ACG 2024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Carefully selected non-responders at low risk of relapse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AASLD/AST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Refer ALD early; abstinence duration alone doesn't exclude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CPG on liver transplantation. J Hepatol 2024;81(6):1040-86, p.1044 [PMID: 39487043]. Jophlin LL et al. Am J Gastroenterol 2024;119(1):30-54 [PMID: 38174913]. Dove L et al. Hepatology 2026;83(6):1609-45 [PMID: 41405234], statements 37-38</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20/47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do US adults get a liver for?</a:t>
            </a:r>
            <a:endParaRPr lang="en-US" sz="3000" dirty="0"/>
          </a:p>
        </p:txBody>
      </p:sp>
      <p:graphicFrame>
        <p:nvGraphicFramePr>
          <p:cNvPr id="3" name="Chart 0" descr=""/>
          <p:cNvGraphicFramePr/>
          <p:nvPr/>
        </p:nvGraphicFramePr>
        <p:xfrm>
          <a:off x="822960" y="1463040"/>
          <a:ext cx="10545775" cy="3108960"/>
        </p:xfrm>
        <a:graphic xmlns:a="http://schemas.openxmlformats.org/drawingml/2006/main">
          <a:graphicData uri="http://schemas.openxmlformats.org/drawingml/2006/chart">
            <c:chart xmlns:c="http://schemas.openxmlformats.org/drawingml/2006/chart" r:id="rId1"/>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OPTN/SRTR 2024 Annual Data Report, Table LI 7. Kwong AJ et al. OPTN/SRTR 2024 Annual Data Report: Liver. Am J Transplant 2026;26(8S1):S214-S320 [PMID: 42276697]</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21/47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do US adults get a liver for?</a:t>
            </a:r>
            <a:endParaRPr lang="en-US" sz="3000" dirty="0"/>
          </a:p>
        </p:txBody>
      </p:sp>
      <p:graphicFrame>
        <p:nvGraphicFramePr>
          <p:cNvPr id="3" name="Chart 0" descr=""/>
          <p:cNvGraphicFramePr/>
          <p:nvPr/>
        </p:nvGraphicFramePr>
        <p:xfrm>
          <a:off x="822960" y="1463040"/>
          <a:ext cx="10545775" cy="31089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22960" y="4937760"/>
            <a:ext cx="10545775" cy="548640"/>
          </a:xfrm>
          <a:prstGeom prst="rect">
            <a:avLst/>
          </a:prstGeom>
          <a:noFill/>
          <a:ln/>
        </p:spPr>
        <p:txBody>
          <a:bodyPr wrap="square" lIns="25400" tIns="25400" rIns="25400" bIns="25400" rtlCol="0" anchor="t"/>
          <a:lstStyle/>
          <a:p>
            <a:pPr algn="ctr" indent="0" marL="0">
              <a:buNone/>
            </a:pPr>
            <a:r>
              <a:rPr lang="en-US" sz="2100" dirty="0">
                <a:solidFill>
                  <a:srgbClr val="000000"/>
                </a:solidFill>
                <a:latin typeface="Georgia" pitchFamily="34" charset="0"/>
                <a:ea typeface="Georgia" pitchFamily="34" charset="-122"/>
                <a:cs typeface="Georgia" pitchFamily="34" charset="-120"/>
              </a:rPr>
              <a:t>Alcohol-associated liver disease: 41.1% of US adult recipients, the top diagnosis</a:t>
            </a:r>
            <a:endParaRPr lang="en-US" sz="2100" dirty="0"/>
          </a:p>
        </p:txBody>
      </p:sp>
      <p:sp>
        <p:nvSpPr>
          <p:cNvPr id="5" name="Text 2"/>
          <p:cNvSpPr txBox="1"/>
          <p:nvPr/>
        </p:nvSpPr>
        <p:spPr>
          <a:xfrm>
            <a:off x="822960" y="5760720"/>
            <a:ext cx="10545775" cy="320040"/>
          </a:xfrm>
          <a:prstGeom prst="rect">
            <a:avLst/>
          </a:prstGeom>
          <a:noFill/>
          <a:ln/>
        </p:spPr>
        <p:txBody>
          <a:bodyPr wrap="square" lIns="25400" tIns="25400" rIns="25400" bIns="25400" rtlCol="0" anchor="t"/>
          <a:lstStyle/>
          <a:p>
            <a:pPr algn="ctr" indent="0" marL="0">
              <a:buNone/>
            </a:pPr>
            <a:r>
              <a:rPr lang="en-US" sz="1400" i="1" dirty="0">
                <a:solidFill>
                  <a:srgbClr val="595959"/>
                </a:solidFill>
                <a:latin typeface="Georgia" pitchFamily="34" charset="0"/>
                <a:ea typeface="Georgia" pitchFamily="34" charset="-122"/>
                <a:cs typeface="Georgia" pitchFamily="34" charset="-120"/>
              </a:rPr>
              <a:t>Parts are rounded, so they add to 41.2%</a:t>
            </a:r>
            <a:endParaRPr lang="en-US" sz="1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OPTN/SRTR 2024 Annual Data Report, Table LI 7. Kwong AJ et al. OPTN/SRTR 2024 Annual Data Report: Liver. Am J Transplant 2026;26(8S1):S214-S320 [PMID: 42276697]</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21/47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patients with ACLF get a liver?</a:t>
            </a:r>
            <a:endParaRPr lang="en-US" sz="3000" dirty="0"/>
          </a:p>
        </p:txBody>
      </p:sp>
      <p:graphicFrame>
        <p:nvGraphicFramePr>
          <p:cNvPr id="3" name="Chart 0" descr=""/>
          <p:cNvGraphicFramePr/>
          <p:nvPr/>
        </p:nvGraphicFramePr>
        <p:xfrm>
          <a:off x="457200" y="1188720"/>
          <a:ext cx="6400800" cy="4526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274320" y="5760720"/>
            <a:ext cx="6766560" cy="365760"/>
          </a:xfrm>
          <a:prstGeom prst="rect">
            <a:avLst/>
          </a:prstGeom>
          <a:noFill/>
          <a:ln/>
        </p:spPr>
        <p:txBody>
          <a:bodyPr wrap="square" lIns="25400" tIns="25400" rIns="25400" bIns="25400" rtlCol="0" anchor="t"/>
          <a:lstStyle/>
          <a:p>
            <a:pPr algn="ctr" indent="0" marL="0">
              <a:buNone/>
            </a:pPr>
            <a:r>
              <a:rPr lang="en-US" sz="1300" i="1" dirty="0">
                <a:solidFill>
                  <a:srgbClr val="595959"/>
                </a:solidFill>
                <a:latin typeface="Georgia" pitchFamily="34" charset="0"/>
                <a:ea typeface="Georgia" pitchFamily="34" charset="-122"/>
                <a:cs typeface="Georgia" pitchFamily="34" charset="-120"/>
              </a:rPr>
              <a:t>Transplanted: case-fatality, no retransplant. Declined: 1-year mortality</a:t>
            </a:r>
            <a:endParaRPr lang="en-US" sz="1300" dirty="0"/>
          </a:p>
        </p:txBody>
      </p:sp>
      <p:sp>
        <p:nvSpPr>
          <p:cNvPr id="5" name="Body"/>
          <p:cNvSpPr txBox="1"/>
          <p:nvPr/>
        </p:nvSpPr>
        <p:spPr>
          <a:xfrm>
            <a:off x="7132320" y="1463040"/>
            <a:ext cx="4663440" cy="4663440"/>
          </a:xfrm>
          <a:prstGeom prst="rect">
            <a:avLst/>
          </a:prstGeom>
          <a:noFill/>
          <a:ln/>
        </p:spPr>
        <p:txBody>
          <a:bodyPr wrap="square" lIns="50800" tIns="50800" rIns="50800" bIns="50800" rtlCol="0" anchor="t"/>
          <a:lstStyle/>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CHANCE: 612 transplanted, 144 declined, 63 centers</a:t>
            </a:r>
            <a:endParaRPr lang="en-US" sz="1900" dirty="0"/>
          </a:p>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Without ACLF: 9% case-fatality at a year after transplant</a:t>
            </a:r>
            <a:endParaRPr lang="en-US" sz="1900" dirty="0"/>
          </a:p>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AASLD 2024: selected patients with ACLF may warrant expedited transplant; palliative care can run alongside the evaluation</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Gustot T, Bernal W, Fernández J, et al. CHANCE. J Hepatol 2026 [PMID: 42822699]. Karvellas CJ et al. Hepatology 2024;79(6):1463-1502, statements 47, 51 [PMID: 37939273]</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22/47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no longer rules a patient out?</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977640"/>
                <a:gridCol w="7114032"/>
              </a:tblGrid>
              <a:tr h="530352">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On its own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What the 2025 AASLD/AST guideline says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30352">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Length of abstinence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Duration alone doesn't exclude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30352">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Methadone or buprenorphine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No denial, no taper needed</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30352">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BMI &gt;40 or &lt;18.5</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Screen nutrition and muscle; BMI alone doesn't exclude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30352">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ACLF or MELD &gt;40</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Doesn't exclude by itself</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30352">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Older age, with a living donor</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Not an exclusion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822960" y="4937760"/>
            <a:ext cx="10545775" cy="457200"/>
          </a:xfrm>
          <a:prstGeom prst="rect">
            <a:avLst/>
          </a:prstGeom>
          <a:noFill/>
          <a:ln/>
        </p:spPr>
        <p:txBody>
          <a:bodyPr wrap="square" lIns="25400" tIns="25400" rIns="25400" bIns="25400" rtlCol="0" anchor="t"/>
          <a:lstStyle/>
          <a:p>
            <a:pPr algn="ctr" indent="0" marL="0">
              <a:buNone/>
            </a:pPr>
            <a:r>
              <a:rPr lang="en-US" sz="1900" i="1" dirty="0">
                <a:solidFill>
                  <a:srgbClr val="000000"/>
                </a:solidFill>
                <a:latin typeface="Georgia" pitchFamily="34" charset="0"/>
                <a:ea typeface="Georgia" pitchFamily="34" charset="-122"/>
                <a:cs typeface="Georgia" pitchFamily="34" charset="-120"/>
              </a:rPr>
              <a:t>None of these is a cutoff on its own.</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Dove L et al. AASLD/AST candidate evaluation guideline. Hepatology 2026;83(6):1609-45 [PMID: 41405234], statements 2, 38, 41, 43, 48-49, 51</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23/47</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gets exception points?</a:t>
            </a:r>
            <a:endParaRPr lang="en-US" sz="300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457200" y="1463040"/>
          <a:ext cx="11277295" cy="914400"/>
        </p:xfrm>
        <a:graphic>
          <a:graphicData uri="http://schemas.openxmlformats.org/drawingml/2006/table">
            <a:tbl>
              <a:tblPr/>
              <a:tblGrid>
                <a:gridCol w="6601968"/>
                <a:gridCol w="4672584"/>
              </a:tblGrid>
              <a:tr h="91440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Exception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What's needed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9144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Hepatocellular carcinoma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1 lesion 2-5 cm, or 2-3 lesions each 1-3 cm</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AFP ≤1000 (if &gt;1000, must fall below 500)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Hepatopulmonary syndrome or portopulmonary hypertension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Confirmed by testing; a standard exception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Colorectal metastases or intrahepatic cholangiocarcinoma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Case by case, through the review board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OPTN Policies 9.5.E, 9.5.G, 9.5.I (effective 10/1/2026); OPTN adult MELD exception transplant oncology review guidance</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24/47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a liver transplant help colorectal metastases?</a:t>
            </a:r>
            <a:endParaRPr lang="en-US" sz="3000" dirty="0"/>
          </a:p>
        </p:txBody>
      </p:sp>
      <p:pic>
        <p:nvPicPr>
          <p:cNvPr id="3" name="Image 0" descr="Adam R et al. TransMet, Lancet 2024: title block">    </p:cNvPr>
          <p:cNvPicPr>
            <a:picLocks noChangeAspect="1"/>
          </p:cNvPicPr>
          <p:nvPr/>
        </p:nvPicPr>
        <p:blipFill>
          <a:blip r:embed="rId1"/>
          <a:stretch>
            <a:fillRect/>
          </a:stretch>
        </p:blipFill>
        <p:spPr>
          <a:xfrm>
            <a:off x="1632328" y="1143000"/>
            <a:ext cx="4324865" cy="1280160"/>
          </a:xfrm>
          <a:prstGeom prst="rect">
            <a:avLst/>
          </a:prstGeom>
        </p:spPr>
      </p:pic>
      <p:pic>
        <p:nvPicPr>
          <p:cNvPr id="4" name="Image 1" descr="TransMet: overall survival, transplant plus chemotherapy vs chemotherapy alone">    </p:cNvPr>
          <p:cNvPicPr>
            <a:picLocks noChangeAspect="1"/>
          </p:cNvPicPr>
          <p:nvPr/>
        </p:nvPicPr>
        <p:blipFill>
          <a:blip r:embed="rId2"/>
          <a:stretch>
            <a:fillRect/>
          </a:stretch>
        </p:blipFill>
        <p:spPr>
          <a:xfrm>
            <a:off x="457200" y="2560320"/>
            <a:ext cx="6675120" cy="2842953"/>
          </a:xfrm>
          <a:prstGeom prst="rect">
            <a:avLst/>
          </a:prstGeom>
        </p:spPr>
      </p:pic>
      <p:sp>
        <p:nvSpPr>
          <p:cNvPr id="5" name="Body"/>
          <p:cNvSpPr txBox="1"/>
          <p:nvPr/>
        </p:nvSpPr>
        <p:spPr>
          <a:xfrm>
            <a:off x="7315200" y="1234440"/>
            <a:ext cx="4526280" cy="5029200"/>
          </a:xfrm>
          <a:prstGeom prst="rect">
            <a:avLst/>
          </a:prstGeom>
          <a:noFill/>
          <a:ln/>
        </p:spPr>
        <p:txBody>
          <a:bodyPr wrap="square" lIns="50800" tIns="50800" rIns="50800" bIns="50800" rtlCol="0" anchor="t"/>
          <a:lstStyle/>
          <a:p>
            <a:pPr marL="228600" indent="-228600">
              <a:spcBef>
                <a:spcPts val="1000"/>
              </a:spcBef>
              <a:buSzPct val="100000"/>
              <a:buChar char="–"/>
            </a:pPr>
            <a:r>
              <a:rPr lang="en-US" sz="1600" b="1" dirty="0">
                <a:solidFill>
                  <a:srgbClr val="000000"/>
                </a:solidFill>
                <a:latin typeface="Georgia" pitchFamily="34" charset="0"/>
                <a:ea typeface="Georgia" pitchFamily="34" charset="-122"/>
                <a:cs typeface="Georgia" pitchFamily="34" charset="-120"/>
              </a:rPr>
              <a:t>20 centers in France, Belgium and Italy, not the US</a:t>
            </a:r>
            <a:endParaRPr lang="en-US" sz="1600" dirty="0"/>
          </a:p>
          <a:p>
            <a:pPr marL="228600" indent="-228600">
              <a:spcBef>
                <a:spcPts val="1000"/>
              </a:spcBef>
              <a:buSzPct val="100000"/>
              <a:buChar char="–"/>
            </a:pPr>
            <a:r>
              <a:rPr lang="en-US" sz="1600" dirty="0">
                <a:solidFill>
                  <a:srgbClr val="000000"/>
                </a:solidFill>
                <a:latin typeface="Georgia" pitchFamily="34" charset="0"/>
                <a:ea typeface="Georgia" pitchFamily="34" charset="-122"/>
                <a:cs typeface="Georgia" pitchFamily="34" charset="-120"/>
              </a:rPr>
              <a:t>94 randomized: age 18-65, BRAF wild-type, primary resected, permanently unresectable liver-only disease responding to chemotherapy</a:t>
            </a:r>
            <a:endParaRPr lang="en-US" sz="1600" dirty="0"/>
          </a:p>
          <a:p>
            <a:pPr marL="228600" indent="-228600">
              <a:spcBef>
                <a:spcPts val="1000"/>
              </a:spcBef>
              <a:buSzPct val="100000"/>
              <a:buChar char="–"/>
            </a:pPr>
            <a:r>
              <a:rPr lang="en-US" sz="1600" dirty="0">
                <a:solidFill>
                  <a:srgbClr val="000000"/>
                </a:solidFill>
                <a:latin typeface="Georgia" pitchFamily="34" charset="0"/>
                <a:ea typeface="Georgia" pitchFamily="34" charset="-122"/>
                <a:cs typeface="Georgia" pitchFamily="34" charset="-120"/>
              </a:rPr>
              <a:t>5-year survival (intention to treat): 56.6% with LT plus chemotherapy vs 12.6% with chemotherapy</a:t>
            </a:r>
            <a:endParaRPr lang="en-US" sz="1600" dirty="0"/>
          </a:p>
          <a:p>
            <a:pPr marL="228600" indent="-228600">
              <a:spcBef>
                <a:spcPts val="1000"/>
              </a:spcBef>
              <a:buSzPct val="100000"/>
              <a:buChar char="–"/>
            </a:pPr>
            <a:r>
              <a:rPr lang="en-US" sz="1600" dirty="0">
                <a:solidFill>
                  <a:srgbClr val="000000"/>
                </a:solidFill>
                <a:latin typeface="Georgia" pitchFamily="34" charset="0"/>
                <a:ea typeface="Georgia" pitchFamily="34" charset="-122"/>
                <a:cs typeface="Georgia" pitchFamily="34" charset="-120"/>
              </a:rPr>
              <a:t>72% of transplanted patients recurred, mostly in the lungs; almost half of recurrences were resected or ablated</a:t>
            </a:r>
            <a:endParaRPr lang="en-US" sz="1600" dirty="0"/>
          </a:p>
          <a:p>
            <a:pPr marL="228600" indent="-228600">
              <a:spcBef>
                <a:spcPts val="1000"/>
              </a:spcBef>
              <a:buSzPct val="100000"/>
              <a:buChar char="–"/>
            </a:pPr>
            <a:r>
              <a:rPr lang="en-US" sz="1600" b="1" dirty="0">
                <a:solidFill>
                  <a:srgbClr val="000000"/>
                </a:solidFill>
                <a:latin typeface="Georgia" pitchFamily="34" charset="0"/>
                <a:ea typeface="Georgia" pitchFamily="34" charset="-122"/>
                <a:cs typeface="Georgia" pitchFamily="34" charset="-120"/>
              </a:rPr>
              <a:t>In the US: 158 transplants at 33 centers, 3-year survival 67%, about half from living donors</a:t>
            </a:r>
            <a:endParaRPr lang="en-US" sz="16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Adam R, Piedvache C, Chiche L, et al. Lancet 2024;404(10458):1107-18 [PMID: 39306468]. Chávez-Villa M et al. Liver Transpl 2026;32(4):508-17 [PMID: 41086433]</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25/47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Watercolor of a snowy highway heading south, with a sign for I-95 South to Boston">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From Maine to Boston</a:t>
            </a:r>
            <a:endParaRPr lang="en-US" sz="48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26/47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happens after the referral?</a:t>
            </a:r>
            <a:endParaRPr lang="en-US" sz="3000" dirty="0"/>
          </a:p>
        </p:txBody>
      </p:sp>
      <p:sp>
        <p:nvSpPr>
          <p:cNvPr id="3" name="Box"/>
          <p:cNvSpPr/>
          <p:nvPr/>
        </p:nvSpPr>
        <p:spPr>
          <a:xfrm>
            <a:off x="586588" y="1417320"/>
            <a:ext cx="1874520" cy="777240"/>
          </a:xfrm>
          <a:prstGeom prst="rect">
            <a:avLst/>
          </a:prstGeom>
          <a:solidFill>
            <a:srgbClr val="FFFFFF"/>
          </a:solidFill>
          <a:ln w="12700">
            <a:solidFill>
              <a:srgbClr val="000000"/>
            </a:solidFill>
            <a:prstDash val="solid"/>
          </a:ln>
        </p:spPr>
      </p:sp>
      <p:sp>
        <p:nvSpPr>
          <p:cNvPr id="4" name="Text 2"/>
          <p:cNvSpPr txBox="1"/>
          <p:nvPr/>
        </p:nvSpPr>
        <p:spPr>
          <a:xfrm>
            <a:off x="586588" y="1417320"/>
            <a:ext cx="187452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Referral</a:t>
            </a:r>
            <a:endParaRPr lang="en-US" sz="1600" dirty="0"/>
          </a:p>
        </p:txBody>
      </p:sp>
      <p:sp>
        <p:nvSpPr>
          <p:cNvPr id="5" name="Arrow"/>
          <p:cNvSpPr/>
          <p:nvPr/>
        </p:nvSpPr>
        <p:spPr>
          <a:xfrm>
            <a:off x="2461108" y="1805940"/>
            <a:ext cx="411480" cy="914"/>
          </a:xfrm>
          <a:prstGeom prst="line">
            <a:avLst/>
          </a:prstGeom>
          <a:noFill/>
          <a:ln w="19050">
            <a:solidFill>
              <a:srgbClr val="000000"/>
            </a:solidFill>
            <a:prstDash val="solid"/>
            <a:tailEnd type="triangle"/>
          </a:ln>
        </p:spPr>
      </p:sp>
      <p:sp>
        <p:nvSpPr>
          <p:cNvPr id="6" name="Box"/>
          <p:cNvSpPr/>
          <p:nvPr/>
        </p:nvSpPr>
        <p:spPr>
          <a:xfrm>
            <a:off x="2872588" y="1417320"/>
            <a:ext cx="1874520" cy="777240"/>
          </a:xfrm>
          <a:prstGeom prst="rect">
            <a:avLst/>
          </a:prstGeom>
          <a:solidFill>
            <a:srgbClr val="F2F2F2"/>
          </a:solidFill>
          <a:ln w="12700">
            <a:solidFill>
              <a:srgbClr val="000000"/>
            </a:solidFill>
            <a:prstDash val="solid"/>
          </a:ln>
        </p:spPr>
      </p:sp>
      <p:sp>
        <p:nvSpPr>
          <p:cNvPr id="7" name="Text 5"/>
          <p:cNvSpPr txBox="1"/>
          <p:nvPr/>
        </p:nvSpPr>
        <p:spPr>
          <a:xfrm>
            <a:off x="2872588" y="1417320"/>
            <a:ext cx="1874520" cy="777240"/>
          </a:xfrm>
          <a:prstGeom prst="rect">
            <a:avLst/>
          </a:prstGeom>
          <a:noFill/>
          <a:ln/>
        </p:spPr>
        <p:txBody>
          <a:bodyPr wrap="square" lIns="50800" tIns="50800" rIns="50800" bIns="50800" rtlCol="0" anchor="ctr"/>
          <a:lstStyle/>
          <a:p>
            <a:pPr algn="ctr" indent="0" marL="0">
              <a:buNone/>
            </a:pPr>
            <a:r>
              <a:rPr lang="en-US" sz="1600" b="1" dirty="0">
                <a:solidFill>
                  <a:srgbClr val="000000"/>
                </a:solidFill>
                <a:latin typeface="Georgia" pitchFamily="34" charset="0"/>
                <a:ea typeface="Georgia" pitchFamily="34" charset="-122"/>
                <a:cs typeface="Georgia" pitchFamily="34" charset="-120"/>
              </a:rPr>
              <a:t>Evaluation</a:t>
            </a:r>
            <a:endParaRPr lang="en-US" sz="1600" dirty="0"/>
          </a:p>
        </p:txBody>
      </p:sp>
      <p:sp>
        <p:nvSpPr>
          <p:cNvPr id="8" name="Arrow"/>
          <p:cNvSpPr/>
          <p:nvPr/>
        </p:nvSpPr>
        <p:spPr>
          <a:xfrm>
            <a:off x="4747108" y="1805940"/>
            <a:ext cx="411480" cy="914"/>
          </a:xfrm>
          <a:prstGeom prst="line">
            <a:avLst/>
          </a:prstGeom>
          <a:noFill/>
          <a:ln w="19050">
            <a:solidFill>
              <a:srgbClr val="000000"/>
            </a:solidFill>
            <a:prstDash val="solid"/>
            <a:tailEnd type="triangle"/>
          </a:ln>
        </p:spPr>
      </p:sp>
      <p:sp>
        <p:nvSpPr>
          <p:cNvPr id="9" name="Box"/>
          <p:cNvSpPr/>
          <p:nvPr/>
        </p:nvSpPr>
        <p:spPr>
          <a:xfrm>
            <a:off x="5158588" y="1417320"/>
            <a:ext cx="1874520" cy="777240"/>
          </a:xfrm>
          <a:prstGeom prst="rect">
            <a:avLst/>
          </a:prstGeom>
          <a:solidFill>
            <a:srgbClr val="FFFFFF"/>
          </a:solidFill>
          <a:ln w="12700">
            <a:solidFill>
              <a:srgbClr val="000000"/>
            </a:solidFill>
            <a:prstDash val="solid"/>
          </a:ln>
        </p:spPr>
      </p:sp>
      <p:sp>
        <p:nvSpPr>
          <p:cNvPr id="10" name="Text 8"/>
          <p:cNvSpPr txBox="1"/>
          <p:nvPr/>
        </p:nvSpPr>
        <p:spPr>
          <a:xfrm>
            <a:off x="5158588" y="1417320"/>
            <a:ext cx="187452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Selection committee</a:t>
            </a:r>
            <a:endParaRPr lang="en-US" sz="1600" dirty="0"/>
          </a:p>
        </p:txBody>
      </p:sp>
      <p:sp>
        <p:nvSpPr>
          <p:cNvPr id="11" name="Arrow"/>
          <p:cNvSpPr/>
          <p:nvPr/>
        </p:nvSpPr>
        <p:spPr>
          <a:xfrm>
            <a:off x="7033108" y="1805940"/>
            <a:ext cx="411480" cy="914"/>
          </a:xfrm>
          <a:prstGeom prst="line">
            <a:avLst/>
          </a:prstGeom>
          <a:noFill/>
          <a:ln w="19050">
            <a:solidFill>
              <a:srgbClr val="000000"/>
            </a:solidFill>
            <a:prstDash val="solid"/>
            <a:tailEnd type="triangle"/>
          </a:ln>
        </p:spPr>
      </p:sp>
      <p:sp>
        <p:nvSpPr>
          <p:cNvPr id="12" name="Box"/>
          <p:cNvSpPr/>
          <p:nvPr/>
        </p:nvSpPr>
        <p:spPr>
          <a:xfrm>
            <a:off x="7444588" y="1417320"/>
            <a:ext cx="1874520" cy="777240"/>
          </a:xfrm>
          <a:prstGeom prst="rect">
            <a:avLst/>
          </a:prstGeom>
          <a:solidFill>
            <a:srgbClr val="FFFFFF"/>
          </a:solidFill>
          <a:ln w="12700">
            <a:solidFill>
              <a:srgbClr val="000000"/>
            </a:solidFill>
            <a:prstDash val="solid"/>
          </a:ln>
        </p:spPr>
      </p:sp>
      <p:sp>
        <p:nvSpPr>
          <p:cNvPr id="13" name="Text 11"/>
          <p:cNvSpPr txBox="1"/>
          <p:nvPr/>
        </p:nvSpPr>
        <p:spPr>
          <a:xfrm>
            <a:off x="7444588" y="1417320"/>
            <a:ext cx="187452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Listing</a:t>
            </a:r>
            <a:endParaRPr lang="en-US" sz="1600" dirty="0"/>
          </a:p>
        </p:txBody>
      </p:sp>
      <p:sp>
        <p:nvSpPr>
          <p:cNvPr id="14" name="Arrow"/>
          <p:cNvSpPr/>
          <p:nvPr/>
        </p:nvSpPr>
        <p:spPr>
          <a:xfrm>
            <a:off x="9319108" y="1805940"/>
            <a:ext cx="411480" cy="914"/>
          </a:xfrm>
          <a:prstGeom prst="line">
            <a:avLst/>
          </a:prstGeom>
          <a:noFill/>
          <a:ln w="19050">
            <a:solidFill>
              <a:srgbClr val="000000"/>
            </a:solidFill>
            <a:prstDash val="solid"/>
            <a:tailEnd type="triangle"/>
          </a:ln>
        </p:spPr>
      </p:sp>
      <p:sp>
        <p:nvSpPr>
          <p:cNvPr id="15" name="Box"/>
          <p:cNvSpPr/>
          <p:nvPr/>
        </p:nvSpPr>
        <p:spPr>
          <a:xfrm>
            <a:off x="9730588" y="1417320"/>
            <a:ext cx="1874520" cy="777240"/>
          </a:xfrm>
          <a:prstGeom prst="rect">
            <a:avLst/>
          </a:prstGeom>
          <a:solidFill>
            <a:srgbClr val="FFFFFF"/>
          </a:solidFill>
          <a:ln w="12700">
            <a:solidFill>
              <a:srgbClr val="000000"/>
            </a:solidFill>
            <a:prstDash val="solid"/>
          </a:ln>
        </p:spPr>
      </p:sp>
      <p:sp>
        <p:nvSpPr>
          <p:cNvPr id="16" name="Text 14"/>
          <p:cNvSpPr txBox="1"/>
          <p:nvPr/>
        </p:nvSpPr>
        <p:spPr>
          <a:xfrm>
            <a:off x="9730588" y="1417320"/>
            <a:ext cx="187452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Waiting</a:t>
            </a:r>
            <a:endParaRPr lang="en-US" sz="160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822960" y="2651760"/>
          <a:ext cx="10545775" cy="914400"/>
        </p:xfrm>
        <a:graphic>
          <a:graphicData uri="http://schemas.openxmlformats.org/drawingml/2006/table">
            <a:tbl>
              <a:tblPr/>
              <a:tblGrid>
                <a:gridCol w="3822192"/>
                <a:gridCol w="6720840"/>
              </a:tblGrid>
              <a:tr h="566928">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Part of the evaluation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What it involves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Hepatology and surgery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Visits, labs, CT or MRI of the liver</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Heart and lungs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ECG and echo, then coronary testing by risk</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Social work and addiction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Home support, alcohol and drug use, treatment plan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Nutrition and physical therapy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Muscle, frailty, protein intake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Other</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Dental, cancer screening, vaccines, financial counseling</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18"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Dove L et al. AASLD/AST candidate evaluation guideline. Hepatology 2026;83(6):1609-45 [PMID: 41405234]</a:t>
            </a:r>
            <a:endParaRPr lang="en-US" sz="1000" dirty="0"/>
          </a:p>
        </p:txBody>
      </p:sp>
      <p:sp>
        <p:nvSpPr>
          <p:cNvPr id="20"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27/47</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How should frailty change the evaluation?</a:t>
            </a:r>
            <a:endParaRPr lang="en-US" sz="3000" dirty="0"/>
          </a:p>
        </p:txBody>
      </p:sp>
      <p:sp>
        <p:nvSpPr>
          <p:cNvPr id="3" name="Box"/>
          <p:cNvSpPr/>
          <p:nvPr/>
        </p:nvSpPr>
        <p:spPr>
          <a:xfrm>
            <a:off x="457200" y="1463040"/>
            <a:ext cx="1965960" cy="914400"/>
          </a:xfrm>
          <a:prstGeom prst="rect">
            <a:avLst/>
          </a:prstGeom>
          <a:solidFill>
            <a:srgbClr val="FFFFFF"/>
          </a:solidFill>
          <a:ln w="12700">
            <a:solidFill>
              <a:srgbClr val="7F7F7F"/>
            </a:solidFill>
            <a:prstDash val="solid"/>
          </a:ln>
        </p:spPr>
      </p:sp>
      <p:sp>
        <p:nvSpPr>
          <p:cNvPr id="4" name="Text 2"/>
          <p:cNvSpPr txBox="1"/>
          <p:nvPr/>
        </p:nvSpPr>
        <p:spPr>
          <a:xfrm>
            <a:off x="457200" y="1463040"/>
            <a:ext cx="1965960" cy="914400"/>
          </a:xfrm>
          <a:prstGeom prst="rect">
            <a:avLst/>
          </a:prstGeom>
          <a:noFill/>
          <a:ln/>
        </p:spPr>
        <p:txBody>
          <a:bodyPr wrap="square" lIns="50800" tIns="50800" rIns="50800" bIns="50800" rtlCol="0" anchor="ctr"/>
          <a:lstStyle/>
          <a:p>
            <a:pPr algn="ctr" indent="0" marL="0">
              <a:buNone/>
            </a:pPr>
            <a:r>
              <a:rPr lang="en-US" sz="1700" dirty="0">
                <a:solidFill>
                  <a:srgbClr val="000000"/>
                </a:solidFill>
                <a:latin typeface="Georgia" pitchFamily="34" charset="0"/>
                <a:ea typeface="Georgia" pitchFamily="34" charset="-122"/>
                <a:cs typeface="Georgia" pitchFamily="34" charset="-120"/>
              </a:rPr>
              <a:t>Grip strength</a:t>
            </a:r>
            <a:endParaRPr lang="en-US" sz="1700" dirty="0"/>
          </a:p>
        </p:txBody>
      </p:sp>
      <p:sp>
        <p:nvSpPr>
          <p:cNvPr id="5" name="Arrow"/>
          <p:cNvSpPr/>
          <p:nvPr/>
        </p:nvSpPr>
        <p:spPr>
          <a:xfrm>
            <a:off x="1440180" y="2377440"/>
            <a:ext cx="2171700" cy="685800"/>
          </a:xfrm>
          <a:prstGeom prst="line">
            <a:avLst/>
          </a:prstGeom>
          <a:noFill/>
          <a:ln w="19050">
            <a:solidFill>
              <a:srgbClr val="000000"/>
            </a:solidFill>
            <a:prstDash val="solid"/>
            <a:tailEnd type="triangle"/>
          </a:ln>
        </p:spPr>
      </p:sp>
      <p:sp>
        <p:nvSpPr>
          <p:cNvPr id="6" name="Box"/>
          <p:cNvSpPr/>
          <p:nvPr/>
        </p:nvSpPr>
        <p:spPr>
          <a:xfrm>
            <a:off x="2606040" y="1463040"/>
            <a:ext cx="1965960" cy="914400"/>
          </a:xfrm>
          <a:prstGeom prst="rect">
            <a:avLst/>
          </a:prstGeom>
          <a:solidFill>
            <a:srgbClr val="FFFFFF"/>
          </a:solidFill>
          <a:ln w="12700">
            <a:solidFill>
              <a:srgbClr val="7F7F7F"/>
            </a:solidFill>
            <a:prstDash val="solid"/>
          </a:ln>
        </p:spPr>
      </p:sp>
      <p:sp>
        <p:nvSpPr>
          <p:cNvPr id="7" name="Text 5"/>
          <p:cNvSpPr txBox="1"/>
          <p:nvPr/>
        </p:nvSpPr>
        <p:spPr>
          <a:xfrm>
            <a:off x="2606040" y="1463040"/>
            <a:ext cx="1965960" cy="914400"/>
          </a:xfrm>
          <a:prstGeom prst="rect">
            <a:avLst/>
          </a:prstGeom>
          <a:noFill/>
          <a:ln/>
        </p:spPr>
        <p:txBody>
          <a:bodyPr wrap="square" lIns="50800" tIns="50800" rIns="50800" bIns="50800" rtlCol="0" anchor="ctr"/>
          <a:lstStyle/>
          <a:p>
            <a:pPr algn="ctr" indent="0" marL="0">
              <a:buNone/>
            </a:pPr>
            <a:r>
              <a:rPr lang="en-US" sz="1700" dirty="0">
                <a:solidFill>
                  <a:srgbClr val="000000"/>
                </a:solidFill>
                <a:latin typeface="Georgia" pitchFamily="34" charset="0"/>
                <a:ea typeface="Georgia" pitchFamily="34" charset="-122"/>
                <a:cs typeface="Georgia" pitchFamily="34" charset="-120"/>
              </a:rPr>
              <a:t>Chair stands (5)</a:t>
            </a:r>
            <a:endParaRPr lang="en-US" sz="1700" dirty="0"/>
          </a:p>
        </p:txBody>
      </p:sp>
      <p:sp>
        <p:nvSpPr>
          <p:cNvPr id="8" name="Arrow"/>
          <p:cNvSpPr/>
          <p:nvPr/>
        </p:nvSpPr>
        <p:spPr>
          <a:xfrm>
            <a:off x="3589020" y="2377440"/>
            <a:ext cx="22860" cy="685800"/>
          </a:xfrm>
          <a:prstGeom prst="line">
            <a:avLst/>
          </a:prstGeom>
          <a:noFill/>
          <a:ln w="19050">
            <a:solidFill>
              <a:srgbClr val="000000"/>
            </a:solidFill>
            <a:prstDash val="solid"/>
            <a:tailEnd type="triangle"/>
          </a:ln>
        </p:spPr>
      </p:sp>
      <p:sp>
        <p:nvSpPr>
          <p:cNvPr id="9" name="Box"/>
          <p:cNvSpPr/>
          <p:nvPr/>
        </p:nvSpPr>
        <p:spPr>
          <a:xfrm>
            <a:off x="4754880" y="1463040"/>
            <a:ext cx="1965960" cy="914400"/>
          </a:xfrm>
          <a:prstGeom prst="rect">
            <a:avLst/>
          </a:prstGeom>
          <a:solidFill>
            <a:srgbClr val="FFFFFF"/>
          </a:solidFill>
          <a:ln w="12700">
            <a:solidFill>
              <a:srgbClr val="7F7F7F"/>
            </a:solidFill>
            <a:prstDash val="solid"/>
          </a:ln>
        </p:spPr>
      </p:sp>
      <p:sp>
        <p:nvSpPr>
          <p:cNvPr id="10" name="Text 8"/>
          <p:cNvSpPr txBox="1"/>
          <p:nvPr/>
        </p:nvSpPr>
        <p:spPr>
          <a:xfrm>
            <a:off x="4754880" y="1463040"/>
            <a:ext cx="1965960" cy="914400"/>
          </a:xfrm>
          <a:prstGeom prst="rect">
            <a:avLst/>
          </a:prstGeom>
          <a:noFill/>
          <a:ln/>
        </p:spPr>
        <p:txBody>
          <a:bodyPr wrap="square" lIns="50800" tIns="50800" rIns="50800" bIns="50800" rtlCol="0" anchor="ctr"/>
          <a:lstStyle/>
          <a:p>
            <a:pPr algn="ctr" indent="0" marL="0">
              <a:buNone/>
            </a:pPr>
            <a:r>
              <a:rPr lang="en-US" sz="1700" dirty="0">
                <a:solidFill>
                  <a:srgbClr val="000000"/>
                </a:solidFill>
                <a:latin typeface="Georgia" pitchFamily="34" charset="0"/>
                <a:ea typeface="Georgia" pitchFamily="34" charset="-122"/>
                <a:cs typeface="Georgia" pitchFamily="34" charset="-120"/>
              </a:rPr>
              <a:t>Balance (3 positions)</a:t>
            </a:r>
            <a:endParaRPr lang="en-US" sz="1700" dirty="0"/>
          </a:p>
        </p:txBody>
      </p:sp>
      <p:sp>
        <p:nvSpPr>
          <p:cNvPr id="11" name="Arrow"/>
          <p:cNvSpPr/>
          <p:nvPr/>
        </p:nvSpPr>
        <p:spPr>
          <a:xfrm flipH="1">
            <a:off x="3611880" y="2377440"/>
            <a:ext cx="2125980" cy="685800"/>
          </a:xfrm>
          <a:prstGeom prst="line">
            <a:avLst/>
          </a:prstGeom>
          <a:noFill/>
          <a:ln w="19050">
            <a:solidFill>
              <a:srgbClr val="000000"/>
            </a:solidFill>
            <a:prstDash val="solid"/>
            <a:tailEnd type="triangle"/>
          </a:ln>
        </p:spPr>
      </p:sp>
      <p:sp>
        <p:nvSpPr>
          <p:cNvPr id="12" name="Box"/>
          <p:cNvSpPr/>
          <p:nvPr/>
        </p:nvSpPr>
        <p:spPr>
          <a:xfrm>
            <a:off x="1920240" y="3063240"/>
            <a:ext cx="3383280" cy="822960"/>
          </a:xfrm>
          <a:prstGeom prst="rect">
            <a:avLst/>
          </a:prstGeom>
          <a:solidFill>
            <a:srgbClr val="F2F2F2"/>
          </a:solidFill>
          <a:ln w="12700">
            <a:solidFill>
              <a:srgbClr val="000000"/>
            </a:solidFill>
            <a:prstDash val="solid"/>
          </a:ln>
        </p:spPr>
      </p:sp>
      <p:sp>
        <p:nvSpPr>
          <p:cNvPr id="13" name="Text 11"/>
          <p:cNvSpPr txBox="1"/>
          <p:nvPr/>
        </p:nvSpPr>
        <p:spPr>
          <a:xfrm>
            <a:off x="1920240" y="3063240"/>
            <a:ext cx="3383280" cy="822960"/>
          </a:xfrm>
          <a:prstGeom prst="rect">
            <a:avLst/>
          </a:prstGeom>
          <a:noFill/>
          <a:ln/>
        </p:spPr>
        <p:txBody>
          <a:bodyPr wrap="square" lIns="50800" tIns="50800" rIns="50800" bIns="50800" rtlCol="0" anchor="ctr"/>
          <a:lstStyle/>
          <a:p>
            <a:pPr algn="ctr" indent="0" marL="0">
              <a:buNone/>
            </a:pPr>
            <a:r>
              <a:rPr lang="en-US" sz="2000" b="1" dirty="0">
                <a:solidFill>
                  <a:srgbClr val="000000"/>
                </a:solidFill>
                <a:latin typeface="Georgia" pitchFamily="34" charset="0"/>
                <a:ea typeface="Georgia" pitchFamily="34" charset="-122"/>
                <a:cs typeface="Georgia" pitchFamily="34" charset="-120"/>
              </a:rPr>
              <a:t>Liver Frailty Index</a:t>
            </a:r>
            <a:endParaRPr lang="en-US" sz="2000" dirty="0"/>
          </a:p>
        </p:txBody>
      </p:sp>
      <p:sp>
        <p:nvSpPr>
          <p:cNvPr id="14" name="Shape 12"/>
          <p:cNvSpPr/>
          <p:nvPr/>
        </p:nvSpPr>
        <p:spPr>
          <a:xfrm>
            <a:off x="457200" y="4572000"/>
            <a:ext cx="2523744" cy="1005840"/>
          </a:xfrm>
          <a:prstGeom prst="rect">
            <a:avLst/>
          </a:prstGeom>
          <a:solidFill>
            <a:srgbClr val="9DB4CA"/>
          </a:solidFill>
          <a:ln w="19050">
            <a:solidFill>
              <a:srgbClr val="FFFFFF"/>
            </a:solidFill>
            <a:prstDash val="solid"/>
          </a:ln>
        </p:spPr>
      </p:sp>
      <p:sp>
        <p:nvSpPr>
          <p:cNvPr id="15" name="Text 13"/>
          <p:cNvSpPr txBox="1"/>
          <p:nvPr/>
        </p:nvSpPr>
        <p:spPr>
          <a:xfrm>
            <a:off x="457200" y="4572000"/>
            <a:ext cx="2523744" cy="1005840"/>
          </a:xfrm>
          <a:prstGeom prst="rect">
            <a:avLst/>
          </a:prstGeom>
          <a:noFill/>
          <a:ln/>
        </p:spPr>
        <p:txBody>
          <a:bodyPr wrap="square" lIns="25400" tIns="25400" rIns="25400" bIns="25400"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Robust</a:t>
            </a:r>
            <a:endParaRPr lang="en-US" sz="1800" dirty="0"/>
          </a:p>
          <a:p>
            <a:pPr algn="ctr" indent="0" marL="0">
              <a:buNone/>
            </a:pPr>
            <a:r>
              <a:rPr lang="en-US" sz="1800" dirty="0">
                <a:solidFill>
                  <a:srgbClr val="000000"/>
                </a:solidFill>
                <a:latin typeface="Calibri" pitchFamily="34" charset="0"/>
                <a:ea typeface="Calibri" pitchFamily="34" charset="-122"/>
                <a:cs typeface="Calibri" pitchFamily="34" charset="-120"/>
              </a:rPr>
              <a:t>&lt;3.2</a:t>
            </a:r>
            <a:endParaRPr lang="en-US" sz="1800" dirty="0"/>
          </a:p>
        </p:txBody>
      </p:sp>
      <p:sp>
        <p:nvSpPr>
          <p:cNvPr id="16" name="Shape 14"/>
          <p:cNvSpPr/>
          <p:nvPr/>
        </p:nvSpPr>
        <p:spPr>
          <a:xfrm>
            <a:off x="2980944" y="4572000"/>
            <a:ext cx="2208276" cy="1005840"/>
          </a:xfrm>
          <a:prstGeom prst="rect">
            <a:avLst/>
          </a:prstGeom>
          <a:solidFill>
            <a:srgbClr val="D9D9D9"/>
          </a:solidFill>
          <a:ln w="19050">
            <a:solidFill>
              <a:srgbClr val="FFFFFF"/>
            </a:solidFill>
            <a:prstDash val="solid"/>
          </a:ln>
        </p:spPr>
      </p:sp>
      <p:sp>
        <p:nvSpPr>
          <p:cNvPr id="17" name="Text 15"/>
          <p:cNvSpPr txBox="1"/>
          <p:nvPr/>
        </p:nvSpPr>
        <p:spPr>
          <a:xfrm>
            <a:off x="2980944" y="4572000"/>
            <a:ext cx="2208276" cy="1005840"/>
          </a:xfrm>
          <a:prstGeom prst="rect">
            <a:avLst/>
          </a:prstGeom>
          <a:noFill/>
          <a:ln/>
        </p:spPr>
        <p:txBody>
          <a:bodyPr wrap="square" lIns="25400" tIns="25400" rIns="25400" bIns="25400"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Prefrail</a:t>
            </a:r>
            <a:endParaRPr lang="en-US" sz="1800" dirty="0"/>
          </a:p>
          <a:p>
            <a:pPr algn="ctr" indent="0" marL="0">
              <a:buNone/>
            </a:pPr>
            <a:r>
              <a:rPr lang="en-US" sz="1800" dirty="0">
                <a:solidFill>
                  <a:srgbClr val="000000"/>
                </a:solidFill>
                <a:latin typeface="Calibri" pitchFamily="34" charset="0"/>
                <a:ea typeface="Calibri" pitchFamily="34" charset="-122"/>
                <a:cs typeface="Calibri" pitchFamily="34" charset="-120"/>
              </a:rPr>
              <a:t>3.2-4.3</a:t>
            </a:r>
            <a:endParaRPr lang="en-US" sz="1800" dirty="0"/>
          </a:p>
        </p:txBody>
      </p:sp>
      <p:sp>
        <p:nvSpPr>
          <p:cNvPr id="18" name="Shape 16"/>
          <p:cNvSpPr/>
          <p:nvPr/>
        </p:nvSpPr>
        <p:spPr>
          <a:xfrm>
            <a:off x="5189220" y="4572000"/>
            <a:ext cx="1577340" cy="1005840"/>
          </a:xfrm>
          <a:prstGeom prst="rect">
            <a:avLst/>
          </a:prstGeom>
          <a:solidFill>
            <a:srgbClr val="1F4E79"/>
          </a:solidFill>
          <a:ln w="19050">
            <a:solidFill>
              <a:srgbClr val="FFFFFF"/>
            </a:solidFill>
            <a:prstDash val="solid"/>
          </a:ln>
        </p:spPr>
      </p:sp>
      <p:sp>
        <p:nvSpPr>
          <p:cNvPr id="19" name="Text 17"/>
          <p:cNvSpPr txBox="1"/>
          <p:nvPr/>
        </p:nvSpPr>
        <p:spPr>
          <a:xfrm>
            <a:off x="5189220" y="4572000"/>
            <a:ext cx="1577340" cy="1005840"/>
          </a:xfrm>
          <a:prstGeom prst="rect">
            <a:avLst/>
          </a:prstGeom>
          <a:noFill/>
          <a:ln/>
        </p:spPr>
        <p:txBody>
          <a:bodyPr wrap="square" lIns="25400" tIns="25400" rIns="25400" bIns="254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Frail</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≥4.4</a:t>
            </a:r>
            <a:endParaRPr lang="en-US" sz="1800" dirty="0"/>
          </a:p>
        </p:txBody>
      </p:sp>
      <p:sp>
        <p:nvSpPr>
          <p:cNvPr id="20" name="Arrow"/>
          <p:cNvSpPr/>
          <p:nvPr/>
        </p:nvSpPr>
        <p:spPr>
          <a:xfrm>
            <a:off x="3611880" y="3886200"/>
            <a:ext cx="914" cy="685800"/>
          </a:xfrm>
          <a:prstGeom prst="line">
            <a:avLst/>
          </a:prstGeom>
          <a:noFill/>
          <a:ln w="19050">
            <a:solidFill>
              <a:srgbClr val="000000"/>
            </a:solidFill>
            <a:prstDash val="solid"/>
            <a:tailEnd type="triangle"/>
          </a:ln>
        </p:spPr>
      </p:sp>
      <p:sp>
        <p:nvSpPr>
          <p:cNvPr id="21" name="Body"/>
          <p:cNvSpPr txBox="1"/>
          <p:nvPr/>
        </p:nvSpPr>
        <p:spPr>
          <a:xfrm>
            <a:off x="7132320" y="1554480"/>
            <a:ext cx="4663440" cy="4389120"/>
          </a:xfrm>
          <a:prstGeom prst="rect">
            <a:avLst/>
          </a:prstGeom>
          <a:noFill/>
          <a:ln/>
        </p:spPr>
        <p:txBody>
          <a:bodyPr wrap="square" lIns="50800" tIns="50800" rIns="50800" bIns="50800" rtlCol="0" anchor="t"/>
          <a:lstStyle/>
          <a:p>
            <a:pPr marL="228600" indent="-228600">
              <a:spcBef>
                <a:spcPts val="1800"/>
              </a:spcBef>
              <a:buSzPct val="100000"/>
              <a:buChar char="–"/>
            </a:pPr>
            <a:r>
              <a:rPr lang="en-US" sz="2000" dirty="0">
                <a:solidFill>
                  <a:srgbClr val="000000"/>
                </a:solidFill>
                <a:latin typeface="Georgia" pitchFamily="34" charset="0"/>
                <a:ea typeface="Georgia" pitchFamily="34" charset="-122"/>
                <a:cs typeface="Georgia" pitchFamily="34" charset="-120"/>
              </a:rPr>
              <a:t>Use the Liver Frailty Index; it takes 3 minutes</a:t>
            </a:r>
            <a:endParaRPr lang="en-US" sz="2000" dirty="0"/>
          </a:p>
          <a:p>
            <a:pPr marL="228600" indent="-228600">
              <a:spcBef>
                <a:spcPts val="1800"/>
              </a:spcBef>
              <a:buSzPct val="100000"/>
              <a:buChar char="–"/>
            </a:pPr>
            <a:r>
              <a:rPr lang="en-US" sz="2000" dirty="0">
                <a:solidFill>
                  <a:srgbClr val="000000"/>
                </a:solidFill>
                <a:latin typeface="Georgia" pitchFamily="34" charset="0"/>
                <a:ea typeface="Georgia" pitchFamily="34" charset="-122"/>
                <a:cs typeface="Georgia" pitchFamily="34" charset="-120"/>
              </a:rPr>
              <a:t>Frailty raises the risk after transplant, but alone it doesn't rule a patient out</a:t>
            </a:r>
            <a:endParaRPr lang="en-US" sz="2000" dirty="0"/>
          </a:p>
          <a:p>
            <a:pPr marL="228600" indent="-228600">
              <a:spcBef>
                <a:spcPts val="1800"/>
              </a:spcBef>
              <a:buSzPct val="100000"/>
              <a:buChar char="–"/>
            </a:pPr>
            <a:r>
              <a:rPr lang="en-US" sz="2000" dirty="0">
                <a:solidFill>
                  <a:srgbClr val="000000"/>
                </a:solidFill>
                <a:latin typeface="Georgia" pitchFamily="34" charset="0"/>
                <a:ea typeface="Georgia" pitchFamily="34" charset="-122"/>
                <a:cs typeface="Georgia" pitchFamily="34" charset="-120"/>
              </a:rPr>
              <a:t>Frailty also predicts death on the waitlist</a:t>
            </a:r>
            <a:endParaRPr lang="en-US" sz="2000" dirty="0"/>
          </a:p>
        </p:txBody>
      </p:sp>
      <p:sp>
        <p:nvSpPr>
          <p:cNvPr id="22"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Lai JC, Tandon P, Bernal W, et al. Hepatology 2021;74(3):1611-44 [PMID: 34233031]. Dove L et al. Hepatology 2026;83(6):1609-45 [PMID: 41405234], statements 33, 44-45</a:t>
            </a:r>
            <a:endParaRPr lang="en-US" sz="1000" dirty="0"/>
          </a:p>
        </p:txBody>
      </p:sp>
      <p:sp>
        <p:nvSpPr>
          <p:cNvPr id="2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28/47</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can you do while the patient waits?</a:t>
            </a:r>
            <a:endParaRPr lang="en-US" sz="3000" dirty="0"/>
          </a:p>
        </p:txBody>
      </p:sp>
      <p:sp>
        <p:nvSpPr>
          <p:cNvPr id="3" name="Body"/>
          <p:cNvSpPr txBox="1"/>
          <p:nvPr/>
        </p:nvSpPr>
        <p:spPr>
          <a:xfrm>
            <a:off x="548640" y="1325880"/>
            <a:ext cx="6400800" cy="4846320"/>
          </a:xfrm>
          <a:prstGeom prst="rect">
            <a:avLst/>
          </a:prstGeom>
          <a:noFill/>
          <a:ln/>
        </p:spPr>
        <p:txBody>
          <a:bodyPr wrap="square" lIns="50800" tIns="50800" rIns="50800" bIns="50800" rtlCol="0" anchor="t"/>
          <a:lstStyle/>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Treat alcohol use disorder, with medicines and counseling</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Protein 1.2-1.5 g/kg ideal body weight a day, a late-evening snack</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Exercise for frailty</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Vaccines before transplant</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No known HCC: surveillance every 6 months</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Keep the MELD labs current</a:t>
            </a:r>
            <a:endParaRPr lang="en-US" sz="2000" dirty="0"/>
          </a:p>
        </p:txBody>
      </p:sp>
      <p:pic>
        <p:nvPicPr>
          <p:cNvPr id="4" name="Image 0" descr="Watercolor of a grip-strength meter, a pill organizer and a vaccine vial">    </p:cNvPr>
          <p:cNvPicPr>
            <a:picLocks noChangeAspect="1"/>
          </p:cNvPicPr>
          <p:nvPr/>
        </p:nvPicPr>
        <p:blipFill>
          <a:blip r:embed="rId1"/>
          <a:stretch>
            <a:fillRect/>
          </a:stretch>
        </p:blipFill>
        <p:spPr>
          <a:xfrm>
            <a:off x="7132320" y="1234440"/>
            <a:ext cx="4754880" cy="3683272"/>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Dove L et al. Hepatology 2026;83(6):1609-45 [PMID: 41405234]. Lai JC et al. Hepatology 2021 [PMID: 34233031]</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29/47</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How does a liver get from a donor to a patient?</a:t>
            </a:r>
            <a:endParaRPr lang="en-US" sz="3000" dirty="0"/>
          </a:p>
        </p:txBody>
      </p:sp>
      <p:pic>
        <p:nvPicPr>
          <p:cNvPr id="3" name="Image 0" descr="Acuity circles of 150, 250 and 500 nautical miles around a donor hospital">    </p:cNvPr>
          <p:cNvPicPr>
            <a:picLocks noChangeAspect="1"/>
          </p:cNvPicPr>
          <p:nvPr/>
        </p:nvPicPr>
        <p:blipFill>
          <a:blip r:embed="rId1"/>
          <a:stretch>
            <a:fillRect/>
          </a:stretch>
        </p:blipFill>
        <p:spPr>
          <a:xfrm>
            <a:off x="457200" y="1280160"/>
            <a:ext cx="6949440" cy="3909060"/>
          </a:xfrm>
          <a:prstGeom prst="rect">
            <a:avLst/>
          </a:prstGeom>
        </p:spPr>
      </p:pic>
      <p:sp>
        <p:nvSpPr>
          <p:cNvPr id="4" name="Body"/>
          <p:cNvSpPr txBox="1"/>
          <p:nvPr/>
        </p:nvSpPr>
        <p:spPr>
          <a:xfrm>
            <a:off x="7680960" y="1463040"/>
            <a:ext cx="4114800" cy="4572000"/>
          </a:xfrm>
          <a:prstGeom prst="rect">
            <a:avLst/>
          </a:prstGeom>
          <a:noFill/>
          <a:ln/>
        </p:spPr>
        <p:txBody>
          <a:bodyPr wrap="square" lIns="50800" tIns="50800" rIns="50800" bIns="50800" rtlCol="0" anchor="t"/>
          <a:lstStyle/>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Circles of 150, 250 and 500 nautical miles around the donor hospital</a:t>
            </a:r>
            <a:endParaRPr lang="en-US" sz="1900" dirty="0"/>
          </a:p>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Offers follow urgency first, then distance from the donor hospital</a:t>
            </a:r>
            <a:endParaRPr lang="en-US" sz="1900" dirty="0"/>
          </a:p>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Exception points are set from the median MELD at transplant (MMaT) near the donor hospital</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OPTN Policy 9, liver allocation (acuity circles since February 2020)</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30/47</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Watercolor of an organ transport cooler on a hospital cart">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Where the livers come from</a:t>
            </a:r>
            <a:endParaRPr lang="en-US" sz="48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31/47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kinds of donors are there?</a:t>
            </a:r>
            <a:endParaRPr lang="en-US" sz="3000" dirty="0"/>
          </a:p>
        </p:txBody>
      </p:sp>
      <p:sp>
        <p:nvSpPr>
          <p:cNvPr id="3" name="Box"/>
          <p:cNvSpPr/>
          <p:nvPr/>
        </p:nvSpPr>
        <p:spPr>
          <a:xfrm>
            <a:off x="4724248" y="1280160"/>
            <a:ext cx="2743200" cy="640080"/>
          </a:xfrm>
          <a:prstGeom prst="rect">
            <a:avLst/>
          </a:prstGeom>
          <a:solidFill>
            <a:srgbClr val="F2F2F2"/>
          </a:solidFill>
          <a:ln w="12700">
            <a:solidFill>
              <a:srgbClr val="000000"/>
            </a:solidFill>
            <a:prstDash val="solid"/>
          </a:ln>
        </p:spPr>
      </p:sp>
      <p:sp>
        <p:nvSpPr>
          <p:cNvPr id="4" name="Text 2"/>
          <p:cNvSpPr txBox="1"/>
          <p:nvPr/>
        </p:nvSpPr>
        <p:spPr>
          <a:xfrm>
            <a:off x="4724248" y="1280160"/>
            <a:ext cx="2743200" cy="640080"/>
          </a:xfrm>
          <a:prstGeom prst="rect">
            <a:avLst/>
          </a:prstGeom>
          <a:noFill/>
          <a:ln/>
        </p:spPr>
        <p:txBody>
          <a:bodyPr wrap="square" lIns="50800" tIns="50800" rIns="50800" bIns="5080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Donor livers</a:t>
            </a:r>
            <a:endParaRPr lang="en-US" sz="1800" dirty="0"/>
          </a:p>
        </p:txBody>
      </p:sp>
      <p:sp>
        <p:nvSpPr>
          <p:cNvPr id="5" name="Box"/>
          <p:cNvSpPr/>
          <p:nvPr/>
        </p:nvSpPr>
        <p:spPr>
          <a:xfrm>
            <a:off x="1371600" y="2423160"/>
            <a:ext cx="4023360" cy="685800"/>
          </a:xfrm>
          <a:prstGeom prst="rect">
            <a:avLst/>
          </a:prstGeom>
          <a:solidFill>
            <a:srgbClr val="FFFFFF"/>
          </a:solidFill>
          <a:ln w="12700">
            <a:solidFill>
              <a:srgbClr val="000000"/>
            </a:solidFill>
            <a:prstDash val="solid"/>
          </a:ln>
        </p:spPr>
      </p:sp>
      <p:sp>
        <p:nvSpPr>
          <p:cNvPr id="6" name="Text 4"/>
          <p:cNvSpPr txBox="1"/>
          <p:nvPr/>
        </p:nvSpPr>
        <p:spPr>
          <a:xfrm>
            <a:off x="1371600" y="2423160"/>
            <a:ext cx="4023360" cy="685800"/>
          </a:xfrm>
          <a:prstGeom prst="rect">
            <a:avLst/>
          </a:prstGeom>
          <a:noFill/>
          <a:ln/>
        </p:spPr>
        <p:txBody>
          <a:bodyPr wrap="square" lIns="50800" tIns="50800" rIns="50800" bIns="5080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Deceased donor</a:t>
            </a:r>
            <a:endParaRPr lang="en-US" sz="1800" dirty="0"/>
          </a:p>
        </p:txBody>
      </p:sp>
      <p:sp>
        <p:nvSpPr>
          <p:cNvPr id="7" name="Box"/>
          <p:cNvSpPr/>
          <p:nvPr/>
        </p:nvSpPr>
        <p:spPr>
          <a:xfrm>
            <a:off x="6796735" y="2423160"/>
            <a:ext cx="4023360" cy="685800"/>
          </a:xfrm>
          <a:prstGeom prst="rect">
            <a:avLst/>
          </a:prstGeom>
          <a:solidFill>
            <a:srgbClr val="FFFFFF"/>
          </a:solidFill>
          <a:ln w="12700">
            <a:solidFill>
              <a:srgbClr val="000000"/>
            </a:solidFill>
            <a:prstDash val="solid"/>
          </a:ln>
        </p:spPr>
      </p:sp>
      <p:sp>
        <p:nvSpPr>
          <p:cNvPr id="8" name="Text 6"/>
          <p:cNvSpPr txBox="1"/>
          <p:nvPr/>
        </p:nvSpPr>
        <p:spPr>
          <a:xfrm>
            <a:off x="6796735" y="2423160"/>
            <a:ext cx="4023360" cy="685800"/>
          </a:xfrm>
          <a:prstGeom prst="rect">
            <a:avLst/>
          </a:prstGeom>
          <a:noFill/>
          <a:ln/>
        </p:spPr>
        <p:txBody>
          <a:bodyPr wrap="square" lIns="50800" tIns="50800" rIns="50800" bIns="5080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Living donor</a:t>
            </a:r>
            <a:endParaRPr lang="en-US" sz="1800" dirty="0"/>
          </a:p>
        </p:txBody>
      </p:sp>
      <p:sp>
        <p:nvSpPr>
          <p:cNvPr id="9" name="Arrow"/>
          <p:cNvSpPr/>
          <p:nvPr/>
        </p:nvSpPr>
        <p:spPr>
          <a:xfrm flipH="1">
            <a:off x="3383280" y="1920240"/>
            <a:ext cx="2712568" cy="502920"/>
          </a:xfrm>
          <a:prstGeom prst="line">
            <a:avLst/>
          </a:prstGeom>
          <a:noFill/>
          <a:ln w="19050">
            <a:solidFill>
              <a:srgbClr val="000000"/>
            </a:solidFill>
            <a:prstDash val="solid"/>
            <a:tailEnd type="triangle"/>
          </a:ln>
        </p:spPr>
      </p:sp>
      <p:sp>
        <p:nvSpPr>
          <p:cNvPr id="10" name="Arrow"/>
          <p:cNvSpPr/>
          <p:nvPr/>
        </p:nvSpPr>
        <p:spPr>
          <a:xfrm>
            <a:off x="6095848" y="1920240"/>
            <a:ext cx="2712568" cy="502920"/>
          </a:xfrm>
          <a:prstGeom prst="line">
            <a:avLst/>
          </a:prstGeom>
          <a:noFill/>
          <a:ln w="19050">
            <a:solidFill>
              <a:srgbClr val="000000"/>
            </a:solidFill>
            <a:prstDash val="solid"/>
            <a:tailEnd type="triangle"/>
          </a:ln>
        </p:spPr>
      </p:sp>
      <p:sp>
        <p:nvSpPr>
          <p:cNvPr id="11" name="Box"/>
          <p:cNvSpPr/>
          <p:nvPr/>
        </p:nvSpPr>
        <p:spPr>
          <a:xfrm>
            <a:off x="1005840" y="3657600"/>
            <a:ext cx="2011680" cy="914400"/>
          </a:xfrm>
          <a:prstGeom prst="rect">
            <a:avLst/>
          </a:prstGeom>
          <a:solidFill>
            <a:srgbClr val="FFFFFF"/>
          </a:solidFill>
          <a:ln w="12700">
            <a:solidFill>
              <a:srgbClr val="000000"/>
            </a:solidFill>
            <a:prstDash val="solid"/>
          </a:ln>
        </p:spPr>
      </p:sp>
      <p:sp>
        <p:nvSpPr>
          <p:cNvPr id="12" name="Text 10"/>
          <p:cNvSpPr txBox="1"/>
          <p:nvPr/>
        </p:nvSpPr>
        <p:spPr>
          <a:xfrm>
            <a:off x="1005840" y="3657600"/>
            <a:ext cx="2011680" cy="914400"/>
          </a:xfrm>
          <a:prstGeom prst="rect">
            <a:avLst/>
          </a:prstGeom>
          <a:noFill/>
          <a:ln/>
        </p:spPr>
        <p:txBody>
          <a:bodyPr wrap="square" lIns="50800" tIns="50800" rIns="50800" bIns="50800" rtlCol="0" anchor="ctr"/>
          <a:lstStyle/>
          <a:p>
            <a:pPr algn="ctr" indent="0" marL="0">
              <a:buNone/>
            </a:pPr>
            <a:r>
              <a:rPr lang="en-US" sz="1500" dirty="0">
                <a:solidFill>
                  <a:srgbClr val="000000"/>
                </a:solidFill>
                <a:latin typeface="Georgia" pitchFamily="34" charset="0"/>
                <a:ea typeface="Georgia" pitchFamily="34" charset="-122"/>
                <a:cs typeface="Georgia" pitchFamily="34" charset="-120"/>
              </a:rPr>
              <a:t>Brain death (DBD)</a:t>
            </a:r>
            <a:endParaRPr lang="en-US" sz="1500" dirty="0"/>
          </a:p>
        </p:txBody>
      </p:sp>
      <p:sp>
        <p:nvSpPr>
          <p:cNvPr id="13" name="Arrow"/>
          <p:cNvSpPr/>
          <p:nvPr/>
        </p:nvSpPr>
        <p:spPr>
          <a:xfrm flipH="1">
            <a:off x="2011680" y="3108960"/>
            <a:ext cx="1371600" cy="548640"/>
          </a:xfrm>
          <a:prstGeom prst="line">
            <a:avLst/>
          </a:prstGeom>
          <a:noFill/>
          <a:ln w="19050">
            <a:solidFill>
              <a:srgbClr val="000000"/>
            </a:solidFill>
            <a:prstDash val="solid"/>
            <a:tailEnd type="triangle"/>
          </a:ln>
        </p:spPr>
      </p:sp>
      <p:sp>
        <p:nvSpPr>
          <p:cNvPr id="14" name="Box"/>
          <p:cNvSpPr/>
          <p:nvPr/>
        </p:nvSpPr>
        <p:spPr>
          <a:xfrm>
            <a:off x="3474720" y="3657600"/>
            <a:ext cx="2011680" cy="914400"/>
          </a:xfrm>
          <a:prstGeom prst="rect">
            <a:avLst/>
          </a:prstGeom>
          <a:solidFill>
            <a:srgbClr val="FFFFFF"/>
          </a:solidFill>
          <a:ln w="12700">
            <a:solidFill>
              <a:srgbClr val="000000"/>
            </a:solidFill>
            <a:prstDash val="solid"/>
          </a:ln>
        </p:spPr>
      </p:sp>
      <p:sp>
        <p:nvSpPr>
          <p:cNvPr id="15" name="Text 13"/>
          <p:cNvSpPr txBox="1"/>
          <p:nvPr/>
        </p:nvSpPr>
        <p:spPr>
          <a:xfrm>
            <a:off x="3474720" y="3657600"/>
            <a:ext cx="2011680" cy="914400"/>
          </a:xfrm>
          <a:prstGeom prst="rect">
            <a:avLst/>
          </a:prstGeom>
          <a:noFill/>
          <a:ln/>
        </p:spPr>
        <p:txBody>
          <a:bodyPr wrap="square" lIns="50800" tIns="50800" rIns="50800" bIns="50800" rtlCol="0" anchor="ctr"/>
          <a:lstStyle/>
          <a:p>
            <a:pPr algn="ctr" indent="0" marL="0">
              <a:buNone/>
            </a:pPr>
            <a:r>
              <a:rPr lang="en-US" sz="1500" dirty="0">
                <a:solidFill>
                  <a:srgbClr val="000000"/>
                </a:solidFill>
                <a:latin typeface="Georgia" pitchFamily="34" charset="0"/>
                <a:ea typeface="Georgia" pitchFamily="34" charset="-122"/>
                <a:cs typeface="Georgia" pitchFamily="34" charset="-120"/>
              </a:rPr>
              <a:t>Circulatory death (DCD)</a:t>
            </a:r>
            <a:endParaRPr lang="en-US" sz="1500" dirty="0"/>
          </a:p>
        </p:txBody>
      </p:sp>
      <p:sp>
        <p:nvSpPr>
          <p:cNvPr id="16" name="Arrow"/>
          <p:cNvSpPr/>
          <p:nvPr/>
        </p:nvSpPr>
        <p:spPr>
          <a:xfrm>
            <a:off x="3383280" y="3108960"/>
            <a:ext cx="1097280" cy="548640"/>
          </a:xfrm>
          <a:prstGeom prst="line">
            <a:avLst/>
          </a:prstGeom>
          <a:noFill/>
          <a:ln w="19050">
            <a:solidFill>
              <a:srgbClr val="000000"/>
            </a:solidFill>
            <a:prstDash val="solid"/>
            <a:tailEnd type="triangle"/>
          </a:ln>
        </p:spPr>
      </p:sp>
      <p:sp>
        <p:nvSpPr>
          <p:cNvPr id="17" name="Box"/>
          <p:cNvSpPr/>
          <p:nvPr/>
        </p:nvSpPr>
        <p:spPr>
          <a:xfrm>
            <a:off x="6339535" y="3657600"/>
            <a:ext cx="2103120" cy="914400"/>
          </a:xfrm>
          <a:prstGeom prst="rect">
            <a:avLst/>
          </a:prstGeom>
          <a:solidFill>
            <a:srgbClr val="FFFFFF"/>
          </a:solidFill>
          <a:ln w="12700">
            <a:solidFill>
              <a:srgbClr val="000000"/>
            </a:solidFill>
            <a:prstDash val="solid"/>
          </a:ln>
        </p:spPr>
      </p:sp>
      <p:sp>
        <p:nvSpPr>
          <p:cNvPr id="18" name="Text 16"/>
          <p:cNvSpPr txBox="1"/>
          <p:nvPr/>
        </p:nvSpPr>
        <p:spPr>
          <a:xfrm>
            <a:off x="6339535" y="3657600"/>
            <a:ext cx="2103120" cy="914400"/>
          </a:xfrm>
          <a:prstGeom prst="rect">
            <a:avLst/>
          </a:prstGeom>
          <a:noFill/>
          <a:ln/>
        </p:spPr>
        <p:txBody>
          <a:bodyPr wrap="square" lIns="50800" tIns="50800" rIns="50800" bIns="50800" rtlCol="0" anchor="ctr"/>
          <a:lstStyle/>
          <a:p>
            <a:pPr algn="ctr" indent="0" marL="0">
              <a:buNone/>
            </a:pPr>
            <a:r>
              <a:rPr lang="en-US" sz="1500" dirty="0">
                <a:solidFill>
                  <a:srgbClr val="000000"/>
                </a:solidFill>
                <a:latin typeface="Georgia" pitchFamily="34" charset="0"/>
                <a:ea typeface="Georgia" pitchFamily="34" charset="-122"/>
                <a:cs typeface="Georgia" pitchFamily="34" charset="-120"/>
              </a:rPr>
              <a:t>Right lobe</a:t>
            </a:r>
            <a:endParaRPr lang="en-US" sz="1500" dirty="0"/>
          </a:p>
        </p:txBody>
      </p:sp>
      <p:sp>
        <p:nvSpPr>
          <p:cNvPr id="19" name="Arrow"/>
          <p:cNvSpPr/>
          <p:nvPr/>
        </p:nvSpPr>
        <p:spPr>
          <a:xfrm flipH="1">
            <a:off x="7391095" y="3108960"/>
            <a:ext cx="1417320" cy="548640"/>
          </a:xfrm>
          <a:prstGeom prst="line">
            <a:avLst/>
          </a:prstGeom>
          <a:noFill/>
          <a:ln w="19050">
            <a:solidFill>
              <a:srgbClr val="000000"/>
            </a:solidFill>
            <a:prstDash val="solid"/>
            <a:tailEnd type="triangle"/>
          </a:ln>
        </p:spPr>
      </p:sp>
      <p:sp>
        <p:nvSpPr>
          <p:cNvPr id="20" name="Box"/>
          <p:cNvSpPr/>
          <p:nvPr/>
        </p:nvSpPr>
        <p:spPr>
          <a:xfrm>
            <a:off x="8625535" y="3657600"/>
            <a:ext cx="2103120" cy="914400"/>
          </a:xfrm>
          <a:prstGeom prst="rect">
            <a:avLst/>
          </a:prstGeom>
          <a:solidFill>
            <a:srgbClr val="FFFFFF"/>
          </a:solidFill>
          <a:ln w="12700">
            <a:solidFill>
              <a:srgbClr val="000000"/>
            </a:solidFill>
            <a:prstDash val="solid"/>
          </a:ln>
        </p:spPr>
      </p:sp>
      <p:sp>
        <p:nvSpPr>
          <p:cNvPr id="21" name="Text 19"/>
          <p:cNvSpPr txBox="1"/>
          <p:nvPr/>
        </p:nvSpPr>
        <p:spPr>
          <a:xfrm>
            <a:off x="8625535" y="3657600"/>
            <a:ext cx="2103120" cy="914400"/>
          </a:xfrm>
          <a:prstGeom prst="rect">
            <a:avLst/>
          </a:prstGeom>
          <a:noFill/>
          <a:ln/>
        </p:spPr>
        <p:txBody>
          <a:bodyPr wrap="square" lIns="50800" tIns="50800" rIns="50800" bIns="50800" rtlCol="0" anchor="ctr"/>
          <a:lstStyle/>
          <a:p>
            <a:pPr algn="ctr" indent="0" marL="0">
              <a:buNone/>
            </a:pPr>
            <a:r>
              <a:rPr lang="en-US" sz="1500" dirty="0">
                <a:solidFill>
                  <a:srgbClr val="000000"/>
                </a:solidFill>
                <a:latin typeface="Georgia" pitchFamily="34" charset="0"/>
                <a:ea typeface="Georgia" pitchFamily="34" charset="-122"/>
                <a:cs typeface="Georgia" pitchFamily="34" charset="-120"/>
              </a:rPr>
              <a:t>Left lobe or left lateral segment</a:t>
            </a:r>
            <a:endParaRPr lang="en-US" sz="1500" dirty="0"/>
          </a:p>
        </p:txBody>
      </p:sp>
      <p:sp>
        <p:nvSpPr>
          <p:cNvPr id="22" name="Arrow"/>
          <p:cNvSpPr/>
          <p:nvPr/>
        </p:nvSpPr>
        <p:spPr>
          <a:xfrm>
            <a:off x="8808415" y="3108960"/>
            <a:ext cx="868680" cy="548640"/>
          </a:xfrm>
          <a:prstGeom prst="line">
            <a:avLst/>
          </a:prstGeom>
          <a:noFill/>
          <a:ln w="19050">
            <a:solidFill>
              <a:srgbClr val="000000"/>
            </a:solidFill>
            <a:prstDash val="solid"/>
            <a:tailEnd type="triangle"/>
          </a:ln>
        </p:spPr>
      </p:sp>
      <p:sp>
        <p:nvSpPr>
          <p:cNvPr id="23" name="Text 21"/>
          <p:cNvSpPr txBox="1"/>
          <p:nvPr/>
        </p:nvSpPr>
        <p:spPr>
          <a:xfrm>
            <a:off x="365760" y="4663440"/>
            <a:ext cx="5852160" cy="365760"/>
          </a:xfrm>
          <a:prstGeom prst="rect">
            <a:avLst/>
          </a:prstGeom>
          <a:noFill/>
          <a:ln/>
        </p:spPr>
        <p:txBody>
          <a:bodyPr wrap="square" lIns="25400" tIns="25400" rIns="25400" bIns="25400" rtlCol="0" anchor="t"/>
          <a:lstStyle/>
          <a:p>
            <a:pPr algn="ctr" indent="0" marL="0">
              <a:buNone/>
            </a:pPr>
            <a:r>
              <a:rPr lang="en-US" sz="1500" i="1" dirty="0">
                <a:solidFill>
                  <a:srgbClr val="595959"/>
                </a:solidFill>
                <a:latin typeface="Georgia" pitchFamily="34" charset="0"/>
                <a:ea typeface="Georgia" pitchFamily="34" charset="-122"/>
                <a:cs typeface="Georgia" pitchFamily="34" charset="-120"/>
              </a:rPr>
              <a:t>Either can go whole or be split</a:t>
            </a:r>
            <a:endParaRPr lang="en-US" sz="1500" dirty="0"/>
          </a:p>
        </p:txBody>
      </p:sp>
      <p:sp>
        <p:nvSpPr>
          <p:cNvPr id="24" name="Text 22"/>
          <p:cNvSpPr txBox="1"/>
          <p:nvPr/>
        </p:nvSpPr>
        <p:spPr>
          <a:xfrm>
            <a:off x="365760" y="5120640"/>
            <a:ext cx="5852160" cy="822960"/>
          </a:xfrm>
          <a:prstGeom prst="rect">
            <a:avLst/>
          </a:prstGeom>
          <a:noFill/>
          <a:ln/>
        </p:spPr>
        <p:txBody>
          <a:bodyPr wrap="square" lIns="25400" tIns="25400" rIns="25400" bIns="25400" rtlCol="0" anchor="t"/>
          <a:lstStyle/>
          <a:p>
            <a:pPr algn="ctr" indent="0" marL="0">
              <a:buNone/>
            </a:pPr>
            <a:r>
              <a:rPr lang="en-US" sz="1700" dirty="0">
                <a:solidFill>
                  <a:srgbClr val="000000"/>
                </a:solidFill>
                <a:latin typeface="Georgia" pitchFamily="34" charset="0"/>
                <a:ea typeface="Georgia" pitchFamily="34" charset="-122"/>
                <a:cs typeface="Georgia" pitchFamily="34" charset="-120"/>
              </a:rPr>
              <a:t>DCD: 43% of US deceased donor liver transplants in 2025</a:t>
            </a:r>
            <a:endParaRPr lang="en-US" sz="1700" dirty="0"/>
          </a:p>
        </p:txBody>
      </p:sp>
      <p:sp>
        <p:nvSpPr>
          <p:cNvPr id="25" name="Text 23"/>
          <p:cNvSpPr txBox="1"/>
          <p:nvPr/>
        </p:nvSpPr>
        <p:spPr>
          <a:xfrm>
            <a:off x="6339535" y="5120640"/>
            <a:ext cx="5486400" cy="822960"/>
          </a:xfrm>
          <a:prstGeom prst="rect">
            <a:avLst/>
          </a:prstGeom>
          <a:noFill/>
          <a:ln/>
        </p:spPr>
        <p:txBody>
          <a:bodyPr wrap="square" lIns="25400" tIns="25400" rIns="25400" bIns="25400" rtlCol="0" anchor="t"/>
          <a:lstStyle/>
          <a:p>
            <a:pPr algn="ctr" indent="0" marL="0">
              <a:buNone/>
            </a:pPr>
            <a:r>
              <a:rPr lang="en-US" sz="1700" dirty="0">
                <a:solidFill>
                  <a:srgbClr val="000000"/>
                </a:solidFill>
                <a:latin typeface="Georgia" pitchFamily="34" charset="0"/>
                <a:ea typeface="Georgia" pitchFamily="34" charset="-122"/>
                <a:cs typeface="Georgia" pitchFamily="34" charset="-120"/>
              </a:rPr>
              <a:t>Living donor: 4.5% of US adult liver transplants in 2024</a:t>
            </a:r>
            <a:endParaRPr lang="en-US" sz="1700" dirty="0"/>
          </a:p>
        </p:txBody>
      </p:sp>
      <p:sp>
        <p:nvSpPr>
          <p:cNvPr id="2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Giorgakis E et al. Transpl Int 2026;39:16689 [PMID: 42294094]. Kwong AJ et al. OPTN/SRTR 2024 Annual Data Report: Liver. Am J Transplant 2026;26(8S1):S214-S320 [PMID: 42276697]</a:t>
            </a:r>
            <a:endParaRPr lang="en-US" sz="1000" dirty="0"/>
          </a:p>
        </p:txBody>
      </p:sp>
      <p:sp>
        <p:nvSpPr>
          <p:cNvPr id="2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32/47</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How much has DCD grown?</a:t>
            </a:r>
            <a:endParaRPr lang="en-US" sz="3000" dirty="0"/>
          </a:p>
        </p:txBody>
      </p:sp>
      <p:graphicFrame>
        <p:nvGraphicFramePr>
          <p:cNvPr id="3" name="Chart 0" descr=""/>
          <p:cNvGraphicFramePr/>
          <p:nvPr/>
        </p:nvGraphicFramePr>
        <p:xfrm>
          <a:off x="457200" y="1188720"/>
          <a:ext cx="493776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5760720" y="1188720"/>
          <a:ext cx="6035040" cy="41148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822960" y="5486400"/>
            <a:ext cx="10545775" cy="685800"/>
          </a:xfrm>
          <a:prstGeom prst="rect">
            <a:avLst/>
          </a:prstGeom>
          <a:noFill/>
          <a:ln/>
        </p:spPr>
        <p:txBody>
          <a:bodyPr wrap="square" lIns="25400" tIns="25400" rIns="25400" bIns="25400" rtlCol="0" anchor="t"/>
          <a:lstStyle/>
          <a:p>
            <a:pPr algn="ctr" indent="0" marL="0">
              <a:buNone/>
            </a:pPr>
            <a:r>
              <a:rPr lang="en-US" sz="1900" dirty="0">
                <a:solidFill>
                  <a:srgbClr val="000000"/>
                </a:solidFill>
                <a:latin typeface="Georgia" pitchFamily="34" charset="0"/>
                <a:ea typeface="Georgia" pitchFamily="34" charset="-122"/>
                <a:cs typeface="Georgia" pitchFamily="34" charset="-120"/>
              </a:rPr>
              <a:t>Adult DCD recipients: median wait 112 vs 62 days, earlier vs later era</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Giorgakis E, Ziogas IA, Moris D, et al. Transpl Int 2026;39:16689 [PMID: 42294094]</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33/47</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did DCD livers worry us?</a:t>
            </a:r>
            <a:endParaRPr lang="en-US" sz="3000" dirty="0"/>
          </a:p>
        </p:txBody>
      </p:sp>
      <p:pic>
        <p:nvPicPr>
          <p:cNvPr id="3" name="Image 0" descr="Causes of non-anastomotic biliary strictures: ischemic, immunologic and bile salt injury, with the peribiliary plexus">    </p:cNvPr>
          <p:cNvPicPr>
            <a:picLocks noChangeAspect="1"/>
          </p:cNvPicPr>
          <p:nvPr/>
        </p:nvPicPr>
        <p:blipFill>
          <a:blip r:embed="rId1"/>
          <a:stretch>
            <a:fillRect/>
          </a:stretch>
        </p:blipFill>
        <p:spPr>
          <a:xfrm>
            <a:off x="457200" y="1188720"/>
            <a:ext cx="6675120" cy="4823847"/>
          </a:xfrm>
          <a:prstGeom prst="rect">
            <a:avLst/>
          </a:prstGeom>
        </p:spPr>
      </p:pic>
      <p:sp>
        <p:nvSpPr>
          <p:cNvPr id="4" name="Body"/>
          <p:cNvSpPr txBox="1"/>
          <p:nvPr/>
        </p:nvSpPr>
        <p:spPr>
          <a:xfrm>
            <a:off x="7406640" y="1463040"/>
            <a:ext cx="4389120" cy="4663440"/>
          </a:xfrm>
          <a:prstGeom prst="rect">
            <a:avLst/>
          </a:prstGeom>
          <a:noFill/>
          <a:ln/>
        </p:spPr>
        <p:txBody>
          <a:bodyPr wrap="square" lIns="50800" tIns="50800" rIns="50800" bIns="50800" rtlCol="0" anchor="t"/>
          <a:lstStyle/>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After transplant, the donor bile ducts depend on the hepatic artery, through the peribiliary plexus</a:t>
            </a:r>
            <a:endParaRPr lang="en-US" sz="1900" dirty="0"/>
          </a:p>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Warm ischemia during DCD injures that plexus and the duct lining</a:t>
            </a:r>
            <a:endParaRPr lang="en-US" sz="1900" dirty="0"/>
          </a:p>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Weeks to months later: non-anastomotic strictures, sometimes needing retransplant</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Seehofer D, Eurich D, Veltzke-Schlieker W, Neuhaus P. Am J Transplant 2013;13(2):253-65 [PMID: 23331505]</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34/47</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does the warm ischemia clock start?</a:t>
            </a:r>
            <a:endParaRPr lang="en-US" sz="3000" dirty="0"/>
          </a:p>
        </p:txBody>
      </p:sp>
      <p:sp>
        <p:nvSpPr>
          <p:cNvPr id="3" name="Text 1"/>
          <p:cNvSpPr txBox="1"/>
          <p:nvPr/>
        </p:nvSpPr>
        <p:spPr>
          <a:xfrm>
            <a:off x="1737360" y="1188720"/>
            <a:ext cx="5486400" cy="320040"/>
          </a:xfrm>
          <a:prstGeom prst="rect">
            <a:avLst/>
          </a:prstGeom>
          <a:noFill/>
          <a:ln/>
        </p:spPr>
        <p:txBody>
          <a:bodyPr wrap="square" lIns="25400" tIns="25400" rIns="25400" bIns="25400" rtlCol="0" anchor="t"/>
          <a:lstStyle/>
          <a:p>
            <a:pPr algn="l" indent="0" marL="0">
              <a:buNone/>
            </a:pPr>
            <a:r>
              <a:rPr lang="en-US" sz="1400" i="1" dirty="0">
                <a:solidFill>
                  <a:srgbClr val="595959"/>
                </a:solidFill>
                <a:latin typeface="Georgia" pitchFamily="34" charset="0"/>
                <a:ea typeface="Georgia" pitchFamily="34" charset="-122"/>
                <a:cs typeface="Georgia" pitchFamily="34" charset="-120"/>
              </a:rPr>
              <a:t>Donor blood pressure and oxygen saturation</a:t>
            </a:r>
            <a:endParaRPr lang="en-US" sz="1400" dirty="0"/>
          </a:p>
        </p:txBody>
      </p:sp>
      <p:sp>
        <p:nvSpPr>
          <p:cNvPr id="4" name="Curve"/>
          <p:cNvSpPr/>
          <p:nvPr/>
        </p:nvSpPr>
        <p:spPr>
          <a:xfrm>
            <a:off x="1005840" y="1463040"/>
            <a:ext cx="7863840" cy="1664208"/>
          </a:xfrm>
          <a:custGeom>
            <a:avLst/>
            <a:gdLst/>
            <a:ahLst/>
            <a:cxnLst/>
            <a:rect l="l" t="t" r="r" b="b"/>
            <a:pathLst>
              <a:path w="7863840" h="1664208">
                <a:moveTo>
                  <a:pt x="0" y="0"/>
                </a:moveTo>
                <a:lnTo>
                  <a:pt x="731520" y="0"/>
                </a:lnTo>
                <a:cubicBezTo>
                  <a:pt x="1737360" y="0"/>
                  <a:pt x="2377440" y="502920"/>
                  <a:pt x="3017520" y="914400"/>
                </a:cubicBezTo>
                <a:cubicBezTo>
                  <a:pt x="3657600" y="1325880"/>
                  <a:pt x="4206240" y="1664208"/>
                  <a:pt x="4937760" y="1664208"/>
                </a:cubicBezTo>
                <a:lnTo>
                  <a:pt x="7863840" y="1664208"/>
                </a:lnTo>
              </a:path>
            </a:pathLst>
          </a:custGeom>
          <a:noFill/>
          <a:ln w="31750">
            <a:solidFill>
              <a:srgbClr val="1F4E79"/>
            </a:solidFill>
            <a:prstDash val="solid"/>
          </a:ln>
        </p:spPr>
      </p:sp>
      <p:sp>
        <p:nvSpPr>
          <p:cNvPr id="5" name="Arrow"/>
          <p:cNvSpPr/>
          <p:nvPr/>
        </p:nvSpPr>
        <p:spPr>
          <a:xfrm>
            <a:off x="731520" y="3246120"/>
            <a:ext cx="10789920" cy="914"/>
          </a:xfrm>
          <a:prstGeom prst="line">
            <a:avLst/>
          </a:prstGeom>
          <a:noFill/>
          <a:ln w="19050">
            <a:solidFill>
              <a:srgbClr val="000000"/>
            </a:solidFill>
            <a:prstDash val="solid"/>
            <a:tailEnd type="triangle"/>
          </a:ln>
        </p:spPr>
      </p:sp>
      <p:sp>
        <p:nvSpPr>
          <p:cNvPr id="6" name="Tick"/>
          <p:cNvSpPr/>
          <p:nvPr/>
        </p:nvSpPr>
        <p:spPr>
          <a:xfrm>
            <a:off x="1005840" y="3136392"/>
            <a:ext cx="0" cy="219456"/>
          </a:xfrm>
          <a:prstGeom prst="line">
            <a:avLst/>
          </a:prstGeom>
          <a:noFill/>
          <a:ln w="19050">
            <a:solidFill>
              <a:srgbClr val="000000"/>
            </a:solidFill>
            <a:prstDash val="solid"/>
          </a:ln>
        </p:spPr>
      </p:sp>
      <p:sp>
        <p:nvSpPr>
          <p:cNvPr id="7" name="Text 5"/>
          <p:cNvSpPr txBox="1"/>
          <p:nvPr/>
        </p:nvSpPr>
        <p:spPr>
          <a:xfrm>
            <a:off x="27432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Withdrawal of life support</a:t>
            </a:r>
            <a:endParaRPr lang="en-US" sz="1400" dirty="0"/>
          </a:p>
        </p:txBody>
      </p:sp>
      <p:sp>
        <p:nvSpPr>
          <p:cNvPr id="8" name="Tick"/>
          <p:cNvSpPr/>
          <p:nvPr/>
        </p:nvSpPr>
        <p:spPr>
          <a:xfrm>
            <a:off x="5943600" y="3136392"/>
            <a:ext cx="0" cy="219456"/>
          </a:xfrm>
          <a:prstGeom prst="line">
            <a:avLst/>
          </a:prstGeom>
          <a:noFill/>
          <a:ln w="19050">
            <a:solidFill>
              <a:srgbClr val="000000"/>
            </a:solidFill>
            <a:prstDash val="solid"/>
          </a:ln>
        </p:spPr>
      </p:sp>
      <p:sp>
        <p:nvSpPr>
          <p:cNvPr id="9" name="Text 7"/>
          <p:cNvSpPr txBox="1"/>
          <p:nvPr/>
        </p:nvSpPr>
        <p:spPr>
          <a:xfrm>
            <a:off x="521208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Circulation stops</a:t>
            </a:r>
            <a:endParaRPr lang="en-US" sz="1400" dirty="0"/>
          </a:p>
        </p:txBody>
      </p:sp>
      <p:sp>
        <p:nvSpPr>
          <p:cNvPr id="10" name="Tick"/>
          <p:cNvSpPr/>
          <p:nvPr/>
        </p:nvSpPr>
        <p:spPr>
          <a:xfrm>
            <a:off x="7406640" y="3136392"/>
            <a:ext cx="0" cy="219456"/>
          </a:xfrm>
          <a:prstGeom prst="line">
            <a:avLst/>
          </a:prstGeom>
          <a:noFill/>
          <a:ln w="19050">
            <a:solidFill>
              <a:srgbClr val="000000"/>
            </a:solidFill>
            <a:prstDash val="solid"/>
          </a:ln>
        </p:spPr>
      </p:sp>
      <p:sp>
        <p:nvSpPr>
          <p:cNvPr id="11" name="Text 9"/>
          <p:cNvSpPr txBox="1"/>
          <p:nvPr/>
        </p:nvSpPr>
        <p:spPr>
          <a:xfrm>
            <a:off x="667512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Death declared, after a 5-min wait</a:t>
            </a:r>
            <a:endParaRPr lang="en-US" sz="1400" dirty="0"/>
          </a:p>
        </p:txBody>
      </p:sp>
      <p:sp>
        <p:nvSpPr>
          <p:cNvPr id="12" name="Tick"/>
          <p:cNvSpPr/>
          <p:nvPr/>
        </p:nvSpPr>
        <p:spPr>
          <a:xfrm>
            <a:off x="8869680" y="3136392"/>
            <a:ext cx="0" cy="219456"/>
          </a:xfrm>
          <a:prstGeom prst="line">
            <a:avLst/>
          </a:prstGeom>
          <a:noFill/>
          <a:ln w="19050">
            <a:solidFill>
              <a:srgbClr val="000000"/>
            </a:solidFill>
            <a:prstDash val="solid"/>
          </a:ln>
        </p:spPr>
      </p:sp>
      <p:sp>
        <p:nvSpPr>
          <p:cNvPr id="13" name="Text 11"/>
          <p:cNvSpPr txBox="1"/>
          <p:nvPr/>
        </p:nvSpPr>
        <p:spPr>
          <a:xfrm>
            <a:off x="813816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Cold flush</a:t>
            </a:r>
            <a:endParaRPr lang="en-US" sz="1400" dirty="0"/>
          </a:p>
        </p:txBody>
      </p:sp>
      <p:sp>
        <p:nvSpPr>
          <p:cNvPr id="14" name="Tick"/>
          <p:cNvSpPr/>
          <p:nvPr/>
        </p:nvSpPr>
        <p:spPr>
          <a:xfrm>
            <a:off x="10607040" y="3136392"/>
            <a:ext cx="0" cy="219456"/>
          </a:xfrm>
          <a:prstGeom prst="line">
            <a:avLst/>
          </a:prstGeom>
          <a:noFill/>
          <a:ln w="19050">
            <a:solidFill>
              <a:srgbClr val="000000"/>
            </a:solidFill>
            <a:prstDash val="solid"/>
          </a:ln>
        </p:spPr>
      </p:sp>
      <p:sp>
        <p:nvSpPr>
          <p:cNvPr id="15" name="Text 13"/>
          <p:cNvSpPr txBox="1"/>
          <p:nvPr/>
        </p:nvSpPr>
        <p:spPr>
          <a:xfrm>
            <a:off x="987552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Liver out, on ice</a:t>
            </a:r>
            <a:endParaRPr lang="en-US" sz="1400" dirty="0"/>
          </a:p>
        </p:txBody>
      </p:sp>
      <p:sp>
        <p:nvSpPr>
          <p:cNvPr id="1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Definitions from Kalisvaart M, Croome KP, Hernandez-Alejandro R, et al. ILTS consensus working group. Transplantation 2021;105(6):1156-64 [PMID: 34048418]</a:t>
            </a:r>
            <a:endParaRPr lang="en-US" sz="1000" dirty="0"/>
          </a:p>
        </p:txBody>
      </p:sp>
      <p:sp>
        <p:nvSpPr>
          <p:cNvPr id="1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35/47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does the warm ischemia clock start?</a:t>
            </a:r>
            <a:endParaRPr lang="en-US" sz="3000" dirty="0"/>
          </a:p>
        </p:txBody>
      </p:sp>
      <p:sp>
        <p:nvSpPr>
          <p:cNvPr id="3" name="Text 1"/>
          <p:cNvSpPr txBox="1"/>
          <p:nvPr/>
        </p:nvSpPr>
        <p:spPr>
          <a:xfrm>
            <a:off x="1737360" y="1188720"/>
            <a:ext cx="5486400" cy="320040"/>
          </a:xfrm>
          <a:prstGeom prst="rect">
            <a:avLst/>
          </a:prstGeom>
          <a:noFill/>
          <a:ln/>
        </p:spPr>
        <p:txBody>
          <a:bodyPr wrap="square" lIns="25400" tIns="25400" rIns="25400" bIns="25400" rtlCol="0" anchor="t"/>
          <a:lstStyle/>
          <a:p>
            <a:pPr algn="l" indent="0" marL="0">
              <a:buNone/>
            </a:pPr>
            <a:r>
              <a:rPr lang="en-US" sz="1400" i="1" dirty="0">
                <a:solidFill>
                  <a:srgbClr val="595959"/>
                </a:solidFill>
                <a:latin typeface="Georgia" pitchFamily="34" charset="0"/>
                <a:ea typeface="Georgia" pitchFamily="34" charset="-122"/>
                <a:cs typeface="Georgia" pitchFamily="34" charset="-120"/>
              </a:rPr>
              <a:t>Donor blood pressure and oxygen saturation</a:t>
            </a:r>
            <a:endParaRPr lang="en-US" sz="1400" dirty="0"/>
          </a:p>
        </p:txBody>
      </p:sp>
      <p:sp>
        <p:nvSpPr>
          <p:cNvPr id="4" name="Curve"/>
          <p:cNvSpPr/>
          <p:nvPr/>
        </p:nvSpPr>
        <p:spPr>
          <a:xfrm>
            <a:off x="1005840" y="1463040"/>
            <a:ext cx="7863840" cy="1664208"/>
          </a:xfrm>
          <a:custGeom>
            <a:avLst/>
            <a:gdLst/>
            <a:ahLst/>
            <a:cxnLst/>
            <a:rect l="l" t="t" r="r" b="b"/>
            <a:pathLst>
              <a:path w="7863840" h="1664208">
                <a:moveTo>
                  <a:pt x="0" y="0"/>
                </a:moveTo>
                <a:lnTo>
                  <a:pt x="731520" y="0"/>
                </a:lnTo>
                <a:cubicBezTo>
                  <a:pt x="1737360" y="0"/>
                  <a:pt x="2377440" y="502920"/>
                  <a:pt x="3017520" y="914400"/>
                </a:cubicBezTo>
                <a:cubicBezTo>
                  <a:pt x="3657600" y="1325880"/>
                  <a:pt x="4206240" y="1664208"/>
                  <a:pt x="4937760" y="1664208"/>
                </a:cubicBezTo>
                <a:lnTo>
                  <a:pt x="7863840" y="1664208"/>
                </a:lnTo>
              </a:path>
            </a:pathLst>
          </a:custGeom>
          <a:noFill/>
          <a:ln w="31750">
            <a:solidFill>
              <a:srgbClr val="1F4E79"/>
            </a:solidFill>
            <a:prstDash val="solid"/>
          </a:ln>
        </p:spPr>
      </p:sp>
      <p:sp>
        <p:nvSpPr>
          <p:cNvPr id="5" name="Threshold"/>
          <p:cNvSpPr/>
          <p:nvPr/>
        </p:nvSpPr>
        <p:spPr>
          <a:xfrm>
            <a:off x="822960" y="2377440"/>
            <a:ext cx="8046720" cy="0"/>
          </a:xfrm>
          <a:prstGeom prst="line">
            <a:avLst/>
          </a:prstGeom>
          <a:noFill/>
          <a:ln w="15875">
            <a:solidFill>
              <a:srgbClr val="C00000"/>
            </a:solidFill>
            <a:prstDash val="dash"/>
          </a:ln>
        </p:spPr>
      </p:sp>
      <p:sp>
        <p:nvSpPr>
          <p:cNvPr id="6" name="Text 4"/>
          <p:cNvSpPr txBox="1"/>
          <p:nvPr/>
        </p:nvSpPr>
        <p:spPr>
          <a:xfrm>
            <a:off x="822960" y="2423160"/>
            <a:ext cx="2743200" cy="320040"/>
          </a:xfrm>
          <a:prstGeom prst="rect">
            <a:avLst/>
          </a:prstGeom>
          <a:noFill/>
          <a:ln/>
        </p:spPr>
        <p:txBody>
          <a:bodyPr wrap="square" lIns="25400" tIns="25400" rIns="25400" bIns="25400" rtlCol="0" anchor="t"/>
          <a:lstStyle/>
          <a:p>
            <a:pPr algn="l" indent="0" marL="0">
              <a:buNone/>
            </a:pPr>
            <a:r>
              <a:rPr lang="en-US" sz="1400" dirty="0">
                <a:solidFill>
                  <a:srgbClr val="C00000"/>
                </a:solidFill>
                <a:latin typeface="Georgia" pitchFamily="34" charset="0"/>
                <a:ea typeface="Georgia" pitchFamily="34" charset="-122"/>
                <a:cs typeface="Georgia" pitchFamily="34" charset="-120"/>
              </a:rPr>
              <a:t>SpO2 &lt;80% or MAP &lt;60</a:t>
            </a:r>
            <a:endParaRPr lang="en-US" sz="1400" dirty="0"/>
          </a:p>
        </p:txBody>
      </p:sp>
      <p:sp>
        <p:nvSpPr>
          <p:cNvPr id="7" name="Arrow"/>
          <p:cNvSpPr/>
          <p:nvPr/>
        </p:nvSpPr>
        <p:spPr>
          <a:xfrm>
            <a:off x="731520" y="3246120"/>
            <a:ext cx="10789920" cy="914"/>
          </a:xfrm>
          <a:prstGeom prst="line">
            <a:avLst/>
          </a:prstGeom>
          <a:noFill/>
          <a:ln w="19050">
            <a:solidFill>
              <a:srgbClr val="000000"/>
            </a:solidFill>
            <a:prstDash val="solid"/>
            <a:tailEnd type="triangle"/>
          </a:ln>
        </p:spPr>
      </p:sp>
      <p:sp>
        <p:nvSpPr>
          <p:cNvPr id="8" name="Tick"/>
          <p:cNvSpPr/>
          <p:nvPr/>
        </p:nvSpPr>
        <p:spPr>
          <a:xfrm>
            <a:off x="1005840" y="3136392"/>
            <a:ext cx="0" cy="219456"/>
          </a:xfrm>
          <a:prstGeom prst="line">
            <a:avLst/>
          </a:prstGeom>
          <a:noFill/>
          <a:ln w="19050">
            <a:solidFill>
              <a:srgbClr val="000000"/>
            </a:solidFill>
            <a:prstDash val="solid"/>
          </a:ln>
        </p:spPr>
      </p:sp>
      <p:sp>
        <p:nvSpPr>
          <p:cNvPr id="9" name="Text 7"/>
          <p:cNvSpPr txBox="1"/>
          <p:nvPr/>
        </p:nvSpPr>
        <p:spPr>
          <a:xfrm>
            <a:off x="27432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Withdrawal of life support</a:t>
            </a:r>
            <a:endParaRPr lang="en-US" sz="1400" dirty="0"/>
          </a:p>
        </p:txBody>
      </p:sp>
      <p:sp>
        <p:nvSpPr>
          <p:cNvPr id="10" name="Tick"/>
          <p:cNvSpPr/>
          <p:nvPr/>
        </p:nvSpPr>
        <p:spPr>
          <a:xfrm>
            <a:off x="4023360" y="3136392"/>
            <a:ext cx="0" cy="219456"/>
          </a:xfrm>
          <a:prstGeom prst="line">
            <a:avLst/>
          </a:prstGeom>
          <a:noFill/>
          <a:ln w="19050">
            <a:solidFill>
              <a:srgbClr val="000000"/>
            </a:solidFill>
            <a:prstDash val="solid"/>
          </a:ln>
        </p:spPr>
      </p:sp>
      <p:sp>
        <p:nvSpPr>
          <p:cNvPr id="11" name="Text 9"/>
          <p:cNvSpPr txBox="1"/>
          <p:nvPr/>
        </p:nvSpPr>
        <p:spPr>
          <a:xfrm>
            <a:off x="329184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C00000"/>
                </a:solidFill>
                <a:latin typeface="Georgia" pitchFamily="34" charset="0"/>
                <a:ea typeface="Georgia" pitchFamily="34" charset="-122"/>
                <a:cs typeface="Georgia" pitchFamily="34" charset="-120"/>
              </a:rPr>
              <a:t>Below threshold</a:t>
            </a:r>
            <a:endParaRPr lang="en-US" sz="1400" dirty="0"/>
          </a:p>
        </p:txBody>
      </p:sp>
      <p:sp>
        <p:nvSpPr>
          <p:cNvPr id="12" name="Tick"/>
          <p:cNvSpPr/>
          <p:nvPr/>
        </p:nvSpPr>
        <p:spPr>
          <a:xfrm>
            <a:off x="5943600" y="3136392"/>
            <a:ext cx="0" cy="219456"/>
          </a:xfrm>
          <a:prstGeom prst="line">
            <a:avLst/>
          </a:prstGeom>
          <a:noFill/>
          <a:ln w="19050">
            <a:solidFill>
              <a:srgbClr val="000000"/>
            </a:solidFill>
            <a:prstDash val="solid"/>
          </a:ln>
        </p:spPr>
      </p:sp>
      <p:sp>
        <p:nvSpPr>
          <p:cNvPr id="13" name="Text 11"/>
          <p:cNvSpPr txBox="1"/>
          <p:nvPr/>
        </p:nvSpPr>
        <p:spPr>
          <a:xfrm>
            <a:off x="521208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Circulation stops</a:t>
            </a:r>
            <a:endParaRPr lang="en-US" sz="1400" dirty="0"/>
          </a:p>
        </p:txBody>
      </p:sp>
      <p:sp>
        <p:nvSpPr>
          <p:cNvPr id="14" name="Tick"/>
          <p:cNvSpPr/>
          <p:nvPr/>
        </p:nvSpPr>
        <p:spPr>
          <a:xfrm>
            <a:off x="7406640" y="3136392"/>
            <a:ext cx="0" cy="219456"/>
          </a:xfrm>
          <a:prstGeom prst="line">
            <a:avLst/>
          </a:prstGeom>
          <a:noFill/>
          <a:ln w="19050">
            <a:solidFill>
              <a:srgbClr val="000000"/>
            </a:solidFill>
            <a:prstDash val="solid"/>
          </a:ln>
        </p:spPr>
      </p:sp>
      <p:sp>
        <p:nvSpPr>
          <p:cNvPr id="15" name="Text 13"/>
          <p:cNvSpPr txBox="1"/>
          <p:nvPr/>
        </p:nvSpPr>
        <p:spPr>
          <a:xfrm>
            <a:off x="667512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Death declared, after a 5-min wait</a:t>
            </a:r>
            <a:endParaRPr lang="en-US" sz="1400" dirty="0"/>
          </a:p>
        </p:txBody>
      </p:sp>
      <p:sp>
        <p:nvSpPr>
          <p:cNvPr id="16" name="Tick"/>
          <p:cNvSpPr/>
          <p:nvPr/>
        </p:nvSpPr>
        <p:spPr>
          <a:xfrm>
            <a:off x="8869680" y="3136392"/>
            <a:ext cx="0" cy="219456"/>
          </a:xfrm>
          <a:prstGeom prst="line">
            <a:avLst/>
          </a:prstGeom>
          <a:noFill/>
          <a:ln w="19050">
            <a:solidFill>
              <a:srgbClr val="000000"/>
            </a:solidFill>
            <a:prstDash val="solid"/>
          </a:ln>
        </p:spPr>
      </p:sp>
      <p:sp>
        <p:nvSpPr>
          <p:cNvPr id="17" name="Text 15"/>
          <p:cNvSpPr txBox="1"/>
          <p:nvPr/>
        </p:nvSpPr>
        <p:spPr>
          <a:xfrm>
            <a:off x="813816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Cold flush</a:t>
            </a:r>
            <a:endParaRPr lang="en-US" sz="1400" dirty="0"/>
          </a:p>
        </p:txBody>
      </p:sp>
      <p:sp>
        <p:nvSpPr>
          <p:cNvPr id="18" name="Tick"/>
          <p:cNvSpPr/>
          <p:nvPr/>
        </p:nvSpPr>
        <p:spPr>
          <a:xfrm>
            <a:off x="10607040" y="3136392"/>
            <a:ext cx="0" cy="219456"/>
          </a:xfrm>
          <a:prstGeom prst="line">
            <a:avLst/>
          </a:prstGeom>
          <a:noFill/>
          <a:ln w="19050">
            <a:solidFill>
              <a:srgbClr val="000000"/>
            </a:solidFill>
            <a:prstDash val="solid"/>
          </a:ln>
        </p:spPr>
      </p:sp>
      <p:sp>
        <p:nvSpPr>
          <p:cNvPr id="19" name="Text 17"/>
          <p:cNvSpPr txBox="1"/>
          <p:nvPr/>
        </p:nvSpPr>
        <p:spPr>
          <a:xfrm>
            <a:off x="9875520" y="3410712"/>
            <a:ext cx="1463040" cy="914400"/>
          </a:xfrm>
          <a:prstGeom prst="rect">
            <a:avLst/>
          </a:prstGeom>
          <a:noFill/>
          <a:ln/>
        </p:spPr>
        <p:txBody>
          <a:bodyPr wrap="square" lIns="25400" tIns="25400" rIns="25400" bIns="25400" rtlCol="0" anchor="t"/>
          <a:lstStyle/>
          <a:p>
            <a:pPr algn="ctr" indent="0" marL="0">
              <a:buNone/>
            </a:pPr>
            <a:r>
              <a:rPr lang="en-US" sz="1400" dirty="0">
                <a:solidFill>
                  <a:srgbClr val="000000"/>
                </a:solidFill>
                <a:latin typeface="Georgia" pitchFamily="34" charset="0"/>
                <a:ea typeface="Georgia" pitchFamily="34" charset="-122"/>
                <a:cs typeface="Georgia" pitchFamily="34" charset="-120"/>
              </a:rPr>
              <a:t>Liver out, on ice</a:t>
            </a:r>
            <a:endParaRPr lang="en-US" sz="1400" dirty="0"/>
          </a:p>
        </p:txBody>
      </p:sp>
      <p:sp>
        <p:nvSpPr>
          <p:cNvPr id="20" name="Window"/>
          <p:cNvSpPr/>
          <p:nvPr/>
        </p:nvSpPr>
        <p:spPr>
          <a:xfrm>
            <a:off x="1005840" y="4434840"/>
            <a:ext cx="7863840" cy="365760"/>
          </a:xfrm>
          <a:prstGeom prst="rect">
            <a:avLst/>
          </a:prstGeom>
          <a:solidFill>
            <a:srgbClr val="9DB4CA"/>
          </a:solidFill>
          <a:ln w="12700">
            <a:solidFill>
              <a:srgbClr val="9DB4CA"/>
            </a:solidFill>
            <a:prstDash val="solid"/>
          </a:ln>
        </p:spPr>
      </p:sp>
      <p:sp>
        <p:nvSpPr>
          <p:cNvPr id="21" name="Text 19"/>
          <p:cNvSpPr txBox="1"/>
          <p:nvPr/>
        </p:nvSpPr>
        <p:spPr>
          <a:xfrm>
            <a:off x="1005840" y="4434840"/>
            <a:ext cx="7863840" cy="365760"/>
          </a:xfrm>
          <a:prstGeom prst="rect">
            <a:avLst/>
          </a:prstGeom>
          <a:noFill/>
          <a:ln/>
        </p:spPr>
        <p:txBody>
          <a:bodyPr wrap="square" lIns="25400" tIns="25400" rIns="25400" bIns="25400" rtlCol="0" anchor="ctr"/>
          <a:lstStyle/>
          <a:p>
            <a:pPr algn="ctr" indent="0" marL="0">
              <a:buNone/>
            </a:pPr>
            <a:r>
              <a:rPr lang="en-US" sz="1300" dirty="0">
                <a:solidFill>
                  <a:srgbClr val="000000"/>
                </a:solidFill>
                <a:latin typeface="Georgia" pitchFamily="34" charset="0"/>
                <a:ea typeface="Georgia" pitchFamily="34" charset="-122"/>
                <a:cs typeface="Georgia" pitchFamily="34" charset="-120"/>
              </a:rPr>
              <a:t>Total donor warm ischemia</a:t>
            </a:r>
            <a:endParaRPr lang="en-US" sz="1300" dirty="0"/>
          </a:p>
        </p:txBody>
      </p:sp>
      <p:sp>
        <p:nvSpPr>
          <p:cNvPr id="22" name="Window"/>
          <p:cNvSpPr/>
          <p:nvPr/>
        </p:nvSpPr>
        <p:spPr>
          <a:xfrm>
            <a:off x="8869680" y="4434840"/>
            <a:ext cx="1737360" cy="365760"/>
          </a:xfrm>
          <a:prstGeom prst="rect">
            <a:avLst/>
          </a:prstGeom>
          <a:solidFill>
            <a:srgbClr val="E7E6E6"/>
          </a:solidFill>
          <a:ln w="12700">
            <a:solidFill>
              <a:srgbClr val="E7E6E6"/>
            </a:solidFill>
            <a:prstDash val="solid"/>
          </a:ln>
        </p:spPr>
      </p:sp>
      <p:sp>
        <p:nvSpPr>
          <p:cNvPr id="23" name="Text 21"/>
          <p:cNvSpPr txBox="1"/>
          <p:nvPr/>
        </p:nvSpPr>
        <p:spPr>
          <a:xfrm>
            <a:off x="8869680" y="4434840"/>
            <a:ext cx="1737360" cy="365760"/>
          </a:xfrm>
          <a:prstGeom prst="rect">
            <a:avLst/>
          </a:prstGeom>
          <a:noFill/>
          <a:ln/>
        </p:spPr>
        <p:txBody>
          <a:bodyPr wrap="square" lIns="25400" tIns="25400" rIns="25400" bIns="25400" rtlCol="0" anchor="ctr"/>
          <a:lstStyle/>
          <a:p>
            <a:pPr algn="ctr" indent="0" marL="0">
              <a:buNone/>
            </a:pPr>
            <a:r>
              <a:rPr lang="en-US" sz="1300" dirty="0">
                <a:solidFill>
                  <a:srgbClr val="000000"/>
                </a:solidFill>
                <a:latin typeface="Georgia" pitchFamily="34" charset="0"/>
                <a:ea typeface="Georgia" pitchFamily="34" charset="-122"/>
                <a:cs typeface="Georgia" pitchFamily="34" charset="-120"/>
              </a:rPr>
              <a:t>Hepatectomy</a:t>
            </a:r>
            <a:endParaRPr lang="en-US" sz="1300" dirty="0"/>
          </a:p>
        </p:txBody>
      </p:sp>
      <p:sp>
        <p:nvSpPr>
          <p:cNvPr id="24" name="Window"/>
          <p:cNvSpPr/>
          <p:nvPr/>
        </p:nvSpPr>
        <p:spPr>
          <a:xfrm>
            <a:off x="4023360" y="4892040"/>
            <a:ext cx="4846320" cy="365760"/>
          </a:xfrm>
          <a:prstGeom prst="rect">
            <a:avLst/>
          </a:prstGeom>
          <a:solidFill>
            <a:srgbClr val="1F4E79"/>
          </a:solidFill>
          <a:ln w="12700">
            <a:solidFill>
              <a:srgbClr val="1F4E79"/>
            </a:solidFill>
            <a:prstDash val="solid"/>
          </a:ln>
        </p:spPr>
      </p:sp>
      <p:sp>
        <p:nvSpPr>
          <p:cNvPr id="25" name="Text 23"/>
          <p:cNvSpPr txBox="1"/>
          <p:nvPr/>
        </p:nvSpPr>
        <p:spPr>
          <a:xfrm>
            <a:off x="4023360" y="4892040"/>
            <a:ext cx="4846320" cy="365760"/>
          </a:xfrm>
          <a:prstGeom prst="rect">
            <a:avLst/>
          </a:prstGeom>
          <a:noFill/>
          <a:ln/>
        </p:spPr>
        <p:txBody>
          <a:bodyPr wrap="square" lIns="25400" tIns="25400" rIns="25400" bIns="25400" rtlCol="0" anchor="ctr"/>
          <a:lstStyle/>
          <a:p>
            <a:pPr algn="ctr" indent="0" marL="0">
              <a:buNone/>
            </a:pPr>
            <a:r>
              <a:rPr lang="en-US" sz="1300" dirty="0">
                <a:solidFill>
                  <a:srgbClr val="FFFFFF"/>
                </a:solidFill>
                <a:latin typeface="Georgia" pitchFamily="34" charset="0"/>
                <a:ea typeface="Georgia" pitchFamily="34" charset="-122"/>
                <a:cs typeface="Georgia" pitchFamily="34" charset="-120"/>
              </a:rPr>
              <a:t>Functional warm ischemia: risk rises past 30 min</a:t>
            </a:r>
            <a:endParaRPr lang="en-US" sz="1300" dirty="0"/>
          </a:p>
        </p:txBody>
      </p:sp>
      <p:sp>
        <p:nvSpPr>
          <p:cNvPr id="26" name="Window"/>
          <p:cNvSpPr/>
          <p:nvPr/>
        </p:nvSpPr>
        <p:spPr>
          <a:xfrm>
            <a:off x="1005840" y="5349240"/>
            <a:ext cx="4937760" cy="365760"/>
          </a:xfrm>
          <a:prstGeom prst="rect">
            <a:avLst/>
          </a:prstGeom>
          <a:solidFill>
            <a:srgbClr val="E7E6E6"/>
          </a:solidFill>
          <a:ln w="12700">
            <a:solidFill>
              <a:srgbClr val="E7E6E6"/>
            </a:solidFill>
            <a:prstDash val="solid"/>
          </a:ln>
        </p:spPr>
      </p:sp>
      <p:sp>
        <p:nvSpPr>
          <p:cNvPr id="27" name="Text 25"/>
          <p:cNvSpPr txBox="1"/>
          <p:nvPr/>
        </p:nvSpPr>
        <p:spPr>
          <a:xfrm>
            <a:off x="1005840" y="5349240"/>
            <a:ext cx="4937760" cy="365760"/>
          </a:xfrm>
          <a:prstGeom prst="rect">
            <a:avLst/>
          </a:prstGeom>
          <a:noFill/>
          <a:ln/>
        </p:spPr>
        <p:txBody>
          <a:bodyPr wrap="square" lIns="25400" tIns="25400" rIns="25400" bIns="25400" rtlCol="0" anchor="ctr"/>
          <a:lstStyle/>
          <a:p>
            <a:pPr algn="ctr" indent="0" marL="0">
              <a:buNone/>
            </a:pPr>
            <a:r>
              <a:rPr lang="en-US" sz="1300" dirty="0">
                <a:solidFill>
                  <a:srgbClr val="000000"/>
                </a:solidFill>
                <a:latin typeface="Georgia" pitchFamily="34" charset="0"/>
                <a:ea typeface="Georgia" pitchFamily="34" charset="-122"/>
                <a:cs typeface="Georgia" pitchFamily="34" charset="-120"/>
              </a:rPr>
              <a:t>Agonal phase</a:t>
            </a:r>
            <a:endParaRPr lang="en-US" sz="1300" dirty="0"/>
          </a:p>
        </p:txBody>
      </p:sp>
      <p:sp>
        <p:nvSpPr>
          <p:cNvPr id="28" name="Window"/>
          <p:cNvSpPr/>
          <p:nvPr/>
        </p:nvSpPr>
        <p:spPr>
          <a:xfrm>
            <a:off x="5943600" y="5349240"/>
            <a:ext cx="2926080" cy="365760"/>
          </a:xfrm>
          <a:prstGeom prst="rect">
            <a:avLst/>
          </a:prstGeom>
          <a:solidFill>
            <a:srgbClr val="2E7D8C"/>
          </a:solidFill>
          <a:ln w="12700">
            <a:solidFill>
              <a:srgbClr val="2E7D8C"/>
            </a:solidFill>
            <a:prstDash val="solid"/>
          </a:ln>
        </p:spPr>
      </p:sp>
      <p:sp>
        <p:nvSpPr>
          <p:cNvPr id="29" name="Text 27"/>
          <p:cNvSpPr txBox="1"/>
          <p:nvPr/>
        </p:nvSpPr>
        <p:spPr>
          <a:xfrm>
            <a:off x="5943600" y="5349240"/>
            <a:ext cx="2926080" cy="365760"/>
          </a:xfrm>
          <a:prstGeom prst="rect">
            <a:avLst/>
          </a:prstGeom>
          <a:noFill/>
          <a:ln/>
        </p:spPr>
        <p:txBody>
          <a:bodyPr wrap="square" lIns="25400" tIns="25400" rIns="25400" bIns="25400" rtlCol="0" anchor="ctr"/>
          <a:lstStyle/>
          <a:p>
            <a:pPr algn="ctr" indent="0" marL="0">
              <a:buNone/>
            </a:pPr>
            <a:r>
              <a:rPr lang="en-US" sz="1300" dirty="0">
                <a:solidFill>
                  <a:srgbClr val="FFFFFF"/>
                </a:solidFill>
                <a:latin typeface="Georgia" pitchFamily="34" charset="0"/>
                <a:ea typeface="Georgia" pitchFamily="34" charset="-122"/>
                <a:cs typeface="Georgia" pitchFamily="34" charset="-120"/>
              </a:rPr>
              <a:t>Asystolic warm ischemia</a:t>
            </a:r>
            <a:endParaRPr lang="en-US" sz="1300" dirty="0"/>
          </a:p>
        </p:txBody>
      </p:sp>
      <p:sp>
        <p:nvSpPr>
          <p:cNvPr id="30" name="Text 28"/>
          <p:cNvSpPr txBox="1"/>
          <p:nvPr/>
        </p:nvSpPr>
        <p:spPr>
          <a:xfrm>
            <a:off x="822960" y="5806440"/>
            <a:ext cx="10545775" cy="411480"/>
          </a:xfrm>
          <a:prstGeom prst="rect">
            <a:avLst/>
          </a:prstGeom>
          <a:noFill/>
          <a:ln/>
        </p:spPr>
        <p:txBody>
          <a:bodyPr wrap="square" lIns="25400" tIns="25400" rIns="25400" bIns="25400" rtlCol="0" anchor="t"/>
          <a:lstStyle/>
          <a:p>
            <a:pPr algn="ctr" indent="0" marL="0">
              <a:buNone/>
            </a:pPr>
            <a:r>
              <a:rPr lang="en-US" sz="1700" dirty="0">
                <a:solidFill>
                  <a:srgbClr val="000000"/>
                </a:solidFill>
                <a:latin typeface="Georgia" pitchFamily="34" charset="0"/>
                <a:ea typeface="Georgia" pitchFamily="34" charset="-122"/>
                <a:cs typeface="Georgia" pitchFamily="34" charset="-120"/>
              </a:rPr>
              <a:t>With NRP, warm oxygenated blood reaches the liver again soon after death is declared</a:t>
            </a:r>
            <a:endParaRPr lang="en-US" sz="1700" dirty="0"/>
          </a:p>
        </p:txBody>
      </p:sp>
      <p:sp>
        <p:nvSpPr>
          <p:cNvPr id="31"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Definitions from Kalisvaart M, Croome KP, Hernandez-Alejandro R, et al. ILTS consensus working group. Transplantation 2021;105(6):1156-64 [PMID: 34048418]</a:t>
            </a:r>
            <a:endParaRPr lang="en-US" sz="1000" dirty="0"/>
          </a:p>
        </p:txBody>
      </p:sp>
      <p:sp>
        <p:nvSpPr>
          <p:cNvPr id="33"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35/47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does a perfusion machine do?</a:t>
            </a:r>
            <a:endParaRPr lang="en-US" sz="3000" dirty="0"/>
          </a:p>
        </p:txBody>
      </p:sp>
      <p:pic>
        <p:nvPicPr>
          <p:cNvPr id="3" name="Image 0" descr="Options for machine perfusion and regional perfusion for DBD and DCD livers">    </p:cNvPr>
          <p:cNvPicPr>
            <a:picLocks noChangeAspect="1"/>
          </p:cNvPicPr>
          <p:nvPr/>
        </p:nvPicPr>
        <p:blipFill>
          <a:blip r:embed="rId1"/>
          <a:stretch>
            <a:fillRect/>
          </a:stretch>
        </p:blipFill>
        <p:spPr>
          <a:xfrm>
            <a:off x="365760" y="1234440"/>
            <a:ext cx="7223760" cy="4229525"/>
          </a:xfrm>
          <a:prstGeom prst="rect">
            <a:avLst/>
          </a:prstGeom>
        </p:spPr>
      </p:pic>
      <p:sp>
        <p:nvSpPr>
          <p:cNvPr id="4" name="Body"/>
          <p:cNvSpPr txBox="1"/>
          <p:nvPr/>
        </p:nvSpPr>
        <p:spPr>
          <a:xfrm>
            <a:off x="7863840" y="1371600"/>
            <a:ext cx="4023360" cy="4846320"/>
          </a:xfrm>
          <a:prstGeom prst="rect">
            <a:avLst/>
          </a:prstGeom>
          <a:noFill/>
          <a:ln/>
        </p:spPr>
        <p:txBody>
          <a:bodyPr wrap="square" lIns="50800" tIns="50800" rIns="50800" bIns="50800" rtlCol="0" anchor="t"/>
          <a:lstStyle/>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HOPE keeps the liver cold but gives it oxygen, usually at the transplant center just before the implant</a:t>
            </a:r>
            <a:endParaRPr lang="en-US" sz="1900" dirty="0"/>
          </a:p>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NMP keeps it warm on blood; the liver makes bile and can be tested before anyone commits to it</a:t>
            </a:r>
            <a:endParaRPr lang="en-US" sz="1900" dirty="0"/>
          </a:p>
          <a:p>
            <a:pPr marL="228600" indent="-228600">
              <a:spcBef>
                <a:spcPts val="1600"/>
              </a:spcBef>
              <a:buSzPct val="100000"/>
              <a:buChar char="–"/>
            </a:pPr>
            <a:r>
              <a:rPr lang="en-US" sz="1900" dirty="0">
                <a:solidFill>
                  <a:srgbClr val="000000"/>
                </a:solidFill>
                <a:latin typeface="Georgia" pitchFamily="34" charset="0"/>
                <a:ea typeface="Georgia" pitchFamily="34" charset="-122"/>
                <a:cs typeface="Georgia" pitchFamily="34" charset="-120"/>
              </a:rPr>
              <a:t>NRP restarts oxygenated blood flow to the donor's abdominal organs after death is declared</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J Clin Exp Hepatol 2024;14(2):101309 [PMID: 38274508]</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36/47</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did the trials show?</a:t>
            </a:r>
            <a:endParaRPr lang="en-US" sz="3000" dirty="0"/>
          </a:p>
        </p:txBody>
      </p:sp>
      <p:graphicFrame>
        <p:nvGraphicFramePr>
          <p:cNvPr id="41" name="Table"/>
          <p:cNvGraphicFramePr>
            <a:graphicFrameLocks noGrp="1"/>
          </p:cNvGraphicFramePr>
          <p:nvPr>
            <p:extLst>
              <p:ext uri="{D42A27DB-BD31-4B8C-83A1-F6EECF244321}">
                <p14:modId xmlns:p14="http://schemas.microsoft.com/office/powerpoint/2010/main" val="1579011935"/>
              </p:ext>
            </p:extLst>
          </p:nvPr>
        </p:nvGraphicFramePr>
        <p:xfrm>
          <a:off x="365760" y="1371600"/>
          <a:ext cx="6675120" cy="914400"/>
        </p:xfrm>
        <a:graphic>
          <a:graphicData uri="http://schemas.openxmlformats.org/drawingml/2006/table">
            <a:tbl>
              <a:tblPr/>
              <a:tblGrid>
                <a:gridCol w="2551176"/>
                <a:gridCol w="1197864"/>
                <a:gridCol w="2926080"/>
              </a:tblGrid>
              <a:tr h="73152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Trial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Machine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Main result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3152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Nasralla, Nature 2018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NMP</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Peak AST and discard</a:t>
                      </a:r>
                      <a:endParaRPr lang="en-US" sz="1600" dirty="0">
                        <a:latin typeface="Calibri" charset="0"/>
                        <a:ea typeface="Calibri" charset="0"/>
                        <a:cs typeface="Calibri" charset="0"/>
                      </a:endParaRPr>
                    </a:p>
                    <a:p>
                      <a:pPr algn="l" indent="0" marL="0">
                        <a:buNone/>
                      </a:pPr>
                      <a:r>
                        <a:rPr lang="en-US" sz="1600" dirty="0">
                          <a:solidFill>
                            <a:srgbClr val="000000"/>
                          </a:solidFill>
                          <a:latin typeface="Calibri" pitchFamily="34" charset="0"/>
                          <a:ea typeface="Calibri" pitchFamily="34" charset="-122"/>
                          <a:cs typeface="Calibri" pitchFamily="34" charset="-120"/>
                        </a:rPr>
                        <a:t>50% lower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71728">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PROTECT, JAMA Surg 2022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NMP (OCS)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Early allograft dysfunction</a:t>
                      </a:r>
                      <a:endParaRPr lang="en-US" sz="1600" dirty="0">
                        <a:latin typeface="Calibri" charset="0"/>
                        <a:ea typeface="Calibri" charset="0"/>
                        <a:cs typeface="Calibri" charset="0"/>
                      </a:endParaRPr>
                    </a:p>
                    <a:p>
                      <a:pPr algn="l" indent="0" marL="0">
                        <a:buNone/>
                      </a:pPr>
                      <a:r>
                        <a:rPr lang="en-US" sz="1600" dirty="0">
                          <a:solidFill>
                            <a:srgbClr val="000000"/>
                          </a:solidFill>
                          <a:latin typeface="Calibri" pitchFamily="34" charset="0"/>
                          <a:ea typeface="Calibri" pitchFamily="34" charset="-122"/>
                          <a:cs typeface="Calibri" pitchFamily="34" charset="-120"/>
                        </a:rPr>
                        <a:t>18% vs 31%</a:t>
                      </a:r>
                      <a:endParaRPr lang="en-US" sz="1600" dirty="0">
                        <a:latin typeface="Calibri" charset="0"/>
                        <a:ea typeface="Calibri" charset="0"/>
                        <a:cs typeface="Calibri" charset="0"/>
                      </a:endParaRPr>
                    </a:p>
                    <a:p>
                      <a:pPr algn="l" indent="0" marL="0">
                        <a:buNone/>
                      </a:pPr>
                      <a:r>
                        <a:rPr lang="en-US" sz="1600" dirty="0">
                          <a:solidFill>
                            <a:srgbClr val="000000"/>
                          </a:solidFill>
                          <a:latin typeface="Calibri" pitchFamily="34" charset="0"/>
                          <a:ea typeface="Calibri" pitchFamily="34" charset="-122"/>
                          <a:cs typeface="Calibri" pitchFamily="34" charset="-120"/>
                        </a:rPr>
                        <a:t>Ischemic biliary 2.6% vs 9.9%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71728">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DHOPE-DCD, NEJM 2021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DHOPE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Symptomatic non-anastomotic</a:t>
                      </a:r>
                      <a:endParaRPr lang="en-US" sz="1600" dirty="0">
                        <a:latin typeface="Calibri" charset="0"/>
                        <a:ea typeface="Calibri" charset="0"/>
                        <a:cs typeface="Calibri" charset="0"/>
                      </a:endParaRPr>
                    </a:p>
                    <a:p>
                      <a:pPr algn="l" indent="0" marL="0">
                        <a:buNone/>
                      </a:pPr>
                      <a:r>
                        <a:rPr lang="en-US" sz="1600" dirty="0">
                          <a:solidFill>
                            <a:srgbClr val="000000"/>
                          </a:solidFill>
                          <a:latin typeface="Calibri" pitchFamily="34" charset="0"/>
                          <a:ea typeface="Calibri" pitchFamily="34" charset="-122"/>
                          <a:cs typeface="Calibri" pitchFamily="34" charset="-120"/>
                        </a:rPr>
                        <a:t>strictures 6% vs 18%</a:t>
                      </a:r>
                      <a:endParaRPr lang="en-US" sz="1600" dirty="0">
                        <a:latin typeface="Calibri" charset="0"/>
                        <a:ea typeface="Calibri" charset="0"/>
                        <a:cs typeface="Calibri" charset="0"/>
                      </a:endParaRPr>
                    </a:p>
                    <a:p>
                      <a:pPr algn="l" indent="0" marL="0">
                        <a:buNone/>
                      </a:pPr>
                      <a:r>
                        <a:rPr lang="en-US" sz="1600" dirty="0">
                          <a:solidFill>
                            <a:srgbClr val="000000"/>
                          </a:solidFill>
                          <a:latin typeface="Calibri" pitchFamily="34" charset="0"/>
                          <a:ea typeface="Calibri" pitchFamily="34" charset="-122"/>
                          <a:cs typeface="Calibri" pitchFamily="34" charset="-120"/>
                        </a:rPr>
                        <a:t>at 6 months, RR 0.36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DHOPE-DCD Figure 1: cumulative incidence of symptomatic non-anastomotic strictures over 6 months, machine perfusion vs control">    </p:cNvPr>
          <p:cNvPicPr>
            <a:picLocks noChangeAspect="1"/>
          </p:cNvPicPr>
          <p:nvPr/>
        </p:nvPicPr>
        <p:blipFill>
          <a:blip r:embed="rId1"/>
          <a:stretch>
            <a:fillRect/>
          </a:stretch>
        </p:blipFill>
        <p:spPr>
          <a:xfrm>
            <a:off x="7223760" y="1325880"/>
            <a:ext cx="4663440" cy="2717956"/>
          </a:xfrm>
          <a:prstGeom prst="rect">
            <a:avLst/>
          </a:prstGeom>
        </p:spPr>
      </p:pic>
      <p:sp>
        <p:nvSpPr>
          <p:cNvPr id="5" name="Text 1"/>
          <p:cNvSpPr txBox="1"/>
          <p:nvPr/>
        </p:nvSpPr>
        <p:spPr>
          <a:xfrm>
            <a:off x="7223760" y="4089556"/>
            <a:ext cx="4663440" cy="365760"/>
          </a:xfrm>
          <a:prstGeom prst="rect">
            <a:avLst/>
          </a:prstGeom>
          <a:noFill/>
          <a:ln/>
        </p:spPr>
        <p:txBody>
          <a:bodyPr wrap="square" lIns="25400" tIns="25400" rIns="25400" bIns="25400" rtlCol="0" anchor="t"/>
          <a:lstStyle/>
          <a:p>
            <a:pPr algn="ctr" indent="0" marL="0">
              <a:buNone/>
            </a:pPr>
            <a:r>
              <a:rPr lang="en-US" sz="1300" i="1" dirty="0">
                <a:solidFill>
                  <a:srgbClr val="595959"/>
                </a:solidFill>
                <a:latin typeface="Georgia" pitchFamily="34" charset="0"/>
                <a:ea typeface="Georgia" pitchFamily="34" charset="-122"/>
                <a:cs typeface="Georgia" pitchFamily="34" charset="-120"/>
              </a:rPr>
              <a:t>DHOPE-DCD: symptomatic non-anastomotic strictures (%), by month</a:t>
            </a:r>
            <a:endParaRPr lang="en-US" sz="1300" dirty="0"/>
          </a:p>
        </p:txBody>
      </p:sp>
      <p:sp>
        <p:nvSpPr>
          <p:cNvPr id="6" name="Text 2"/>
          <p:cNvSpPr txBox="1"/>
          <p:nvPr/>
        </p:nvSpPr>
        <p:spPr>
          <a:xfrm>
            <a:off x="822960" y="5074920"/>
            <a:ext cx="10545775" cy="822960"/>
          </a:xfrm>
          <a:prstGeom prst="rect">
            <a:avLst/>
          </a:prstGeom>
          <a:noFill/>
          <a:ln/>
        </p:spPr>
        <p:txBody>
          <a:bodyPr wrap="square" lIns="25400" tIns="25400" rIns="25400" bIns="25400" rtlCol="0" anchor="t"/>
          <a:lstStyle/>
          <a:p>
            <a:pPr algn="ctr" indent="0" marL="0">
              <a:buNone/>
            </a:pPr>
            <a:r>
              <a:rPr lang="en-US" sz="1900" dirty="0">
                <a:solidFill>
                  <a:srgbClr val="000000"/>
                </a:solidFill>
                <a:latin typeface="Georgia" pitchFamily="34" charset="0"/>
                <a:ea typeface="Georgia" pitchFamily="34" charset="-122"/>
                <a:cs typeface="Georgia" pitchFamily="34" charset="-120"/>
              </a:rPr>
              <a:t>The 2025 AASLD/AST and 2024 EASL guidelines both recommend machine perfusion for DCD and extended-criteria livers.</a:t>
            </a:r>
            <a:endParaRPr lang="en-US" sz="19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Nasralla D et al. Nature 2018 [PMID: 29670285]. Markmann JF et al. JAMA Surg 2022 [PMID: 34985503]. van Rijn R et al. N Engl J Med 2021 [PMID: 33626248]. Te HS et al. 2026, statements 6-10 [PMID: 40844852]. EASL 2024, p.1062</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37/47</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NRP help the liver, and is it allowed?</a:t>
            </a:r>
            <a:endParaRPr lang="en-US" sz="3000" dirty="0"/>
          </a:p>
        </p:txBody>
      </p:sp>
      <p:graphicFrame>
        <p:nvGraphicFramePr>
          <p:cNvPr id="42" name="Table"/>
          <p:cNvGraphicFramePr>
            <a:graphicFrameLocks noGrp="1"/>
          </p:cNvGraphicFramePr>
          <p:nvPr>
            <p:extLst>
              <p:ext uri="{D42A27DB-BD31-4B8C-83A1-F6EECF244321}">
                <p14:modId xmlns:p14="http://schemas.microsoft.com/office/powerpoint/2010/main" val="1579011935"/>
              </p:ext>
            </p:extLst>
          </p:nvPr>
        </p:nvGraphicFramePr>
        <p:xfrm>
          <a:off x="457200" y="1371600"/>
          <a:ext cx="6217920" cy="914400"/>
        </p:xfrm>
        <a:graphic>
          <a:graphicData uri="http://schemas.openxmlformats.org/drawingml/2006/table">
            <a:tbl>
              <a:tblPr/>
              <a:tblGrid>
                <a:gridCol w="2862072"/>
                <a:gridCol w="3355848"/>
              </a:tblGrid>
              <a:tr h="713232">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17 US centers, 2017-2023</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NRP (106) vs super-rapid (136)</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Ischemic cholangiopathy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Early allograft dysfunction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Hospital stay, median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Primary nonfunction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Patient and graft survival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Brubaker AL et al. JAMA Surg 2024;159(6):677-85 [PMID: 38568597]. OPTN/HRSA NRP safety notice, November 21, 2025. HRSA, NRP policy issue page (accessed 10/2026)</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38/47</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NRP help the liver, and is it allowed?</a:t>
            </a:r>
            <a:endParaRPr lang="en-US" sz="3000" dirty="0"/>
          </a:p>
        </p:txBody>
      </p:sp>
      <p:graphicFrame>
        <p:nvGraphicFramePr>
          <p:cNvPr id="43" name="Table"/>
          <p:cNvGraphicFramePr>
            <a:graphicFrameLocks noGrp="1"/>
          </p:cNvGraphicFramePr>
          <p:nvPr>
            <p:extLst>
              <p:ext uri="{D42A27DB-BD31-4B8C-83A1-F6EECF244321}">
                <p14:modId xmlns:p14="http://schemas.microsoft.com/office/powerpoint/2010/main" val="1579011935"/>
              </p:ext>
            </p:extLst>
          </p:nvPr>
        </p:nvGraphicFramePr>
        <p:xfrm>
          <a:off x="457200" y="1371600"/>
          <a:ext cx="6217920" cy="914400"/>
        </p:xfrm>
        <a:graphic>
          <a:graphicData uri="http://schemas.openxmlformats.org/drawingml/2006/table">
            <a:tbl>
              <a:tblPr/>
              <a:tblGrid>
                <a:gridCol w="2862072"/>
                <a:gridCol w="3355848"/>
              </a:tblGrid>
              <a:tr h="713232">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17 US centers, 2017-2023</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NRP (106) vs super-rapid (136)</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Ischemic cholangiopathy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Lower with NRP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Early allograft dysfunction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Lower with NRP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Hospital stay, median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7 vs 10 days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Primary nonfunction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0 vs 2 grafts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Patient and graft survival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Similar</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6949440" y="1371600"/>
            <a:ext cx="4846320" cy="4572000"/>
          </a:xfrm>
          <a:prstGeom prst="rect">
            <a:avLst/>
          </a:prstGeom>
          <a:noFill/>
          <a:ln/>
        </p:spPr>
        <p:txBody>
          <a:bodyPr wrap="square" lIns="50800" tIns="50800" rIns="50800" bIns="50800" rtlCol="0" anchor="t"/>
          <a:lstStyle/>
          <a:p>
            <a:pPr marL="228600" indent="-228600">
              <a:spcBef>
                <a:spcPts val="1800"/>
              </a:spcBef>
              <a:buSzPct val="100000"/>
              <a:buChar char="–"/>
            </a:pPr>
            <a:r>
              <a:rPr lang="en-US" sz="2000" dirty="0">
                <a:solidFill>
                  <a:srgbClr val="000000"/>
                </a:solidFill>
                <a:latin typeface="Georgia" pitchFamily="34" charset="0"/>
                <a:ea typeface="Georgia" pitchFamily="34" charset="-122"/>
                <a:cs typeface="Georgia" pitchFamily="34" charset="-120"/>
              </a:rPr>
              <a:t>No federal or state law names NRP; the argument is over the dead donor rule</a:t>
            </a:r>
            <a:endParaRPr lang="en-US" sz="2000" dirty="0"/>
          </a:p>
          <a:p>
            <a:pPr marL="228600" indent="-228600">
              <a:spcBef>
                <a:spcPts val="1800"/>
              </a:spcBef>
              <a:buSzPct val="100000"/>
              <a:buChar char="–"/>
            </a:pPr>
            <a:r>
              <a:rPr lang="en-US" sz="2000" dirty="0">
                <a:solidFill>
                  <a:srgbClr val="000000"/>
                </a:solidFill>
                <a:latin typeface="Georgia" pitchFamily="34" charset="0"/>
                <a:ea typeface="Georgia" pitchFamily="34" charset="-122"/>
                <a:cs typeface="Georgia" pitchFamily="34" charset="-120"/>
              </a:rPr>
              <a:t>November 2025: OPTN/HRSA safety notice on cutting and venting the vessels to the brain</a:t>
            </a:r>
            <a:endParaRPr lang="en-US" sz="2000" dirty="0"/>
          </a:p>
          <a:p>
            <a:pPr marL="228600" indent="-228600">
              <a:spcBef>
                <a:spcPts val="1800"/>
              </a:spcBef>
              <a:buSzPct val="100000"/>
              <a:buChar char="–"/>
            </a:pPr>
            <a:r>
              <a:rPr lang="en-US" sz="2000" dirty="0">
                <a:solidFill>
                  <a:srgbClr val="000000"/>
                </a:solidFill>
                <a:latin typeface="Georgia" pitchFamily="34" charset="0"/>
                <a:ea typeface="Georgia" pitchFamily="34" charset="-122"/>
                <a:cs typeface="Georgia" pitchFamily="34" charset="-120"/>
              </a:rPr>
              <a:t>An OPTN workgroup has been drafting national NRP policy since October 2025</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Brubaker AL et al. JAMA Surg 2024;159(6):677-85 [PMID: 38568597]. OPTN/HRSA NRP safety notice, November 21, 2025. HRSA, NRP policy issue page (accessed 10/2026)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38/47</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about living donors?</a:t>
            </a:r>
            <a:endParaRPr lang="en-US" sz="3000" dirty="0"/>
          </a:p>
        </p:txBody>
      </p:sp>
      <p:pic>
        <p:nvPicPr>
          <p:cNvPr id="3" name="Image 0" descr="Living donor graft types: right lobe, left lobe and left lateral segment">    </p:cNvPr>
          <p:cNvPicPr>
            <a:picLocks noChangeAspect="1"/>
          </p:cNvPicPr>
          <p:nvPr/>
        </p:nvPicPr>
        <p:blipFill>
          <a:blip r:embed="rId1"/>
          <a:stretch>
            <a:fillRect/>
          </a:stretch>
        </p:blipFill>
        <p:spPr>
          <a:xfrm>
            <a:off x="365760" y="1188720"/>
            <a:ext cx="6583680" cy="4389120"/>
          </a:xfrm>
          <a:prstGeom prst="rect">
            <a:avLst/>
          </a:prstGeom>
        </p:spPr>
      </p:pic>
      <p:sp>
        <p:nvSpPr>
          <p:cNvPr id="4" name="Body"/>
          <p:cNvSpPr txBox="1"/>
          <p:nvPr/>
        </p:nvSpPr>
        <p:spPr>
          <a:xfrm>
            <a:off x="7223760" y="1463040"/>
            <a:ext cx="4572000" cy="4663440"/>
          </a:xfrm>
          <a:prstGeom prst="rect">
            <a:avLst/>
          </a:prstGeom>
          <a:noFill/>
          <a:ln/>
        </p:spPr>
        <p:txBody>
          <a:bodyPr wrap="square" lIns="50800" tIns="50800" rIns="50800" bIns="50800" rtlCol="0" anchor="t"/>
          <a:lstStyle/>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4.5% of US adult liver transplants in 2024</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Aim for a graft-to-recipient weight ratio of 0.8% or more</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Caution above MELD 30</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Older recipient age alone doesn't exclude</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Dove L et al. Hepatology 2026;83(6):1609-45 [PMID: 41405234], statements 50-53. Kwong AJ et al. OPTN/SRTR 2024 Annual Data Report: Liver. Am J Transplant 2026;26(8S1):S214-S320 [PMID: 42276697]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39/47</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Is there benefit below MELD 15 with a living donor?</a:t>
            </a:r>
            <a:endParaRPr lang="en-US" sz="3000" dirty="0"/>
          </a:p>
        </p:txBody>
      </p:sp>
      <p:pic>
        <p:nvPicPr>
          <p:cNvPr id="3" name="Image 0" descr="Jackson WE et al. JAMA Surg 2022: title block">    </p:cNvPr>
          <p:cNvPicPr>
            <a:picLocks noChangeAspect="1"/>
          </p:cNvPicPr>
          <p:nvPr/>
        </p:nvPicPr>
        <p:blipFill>
          <a:blip r:embed="rId1"/>
          <a:stretch>
            <a:fillRect/>
          </a:stretch>
        </p:blipFill>
        <p:spPr>
          <a:xfrm>
            <a:off x="3646455" y="1143000"/>
            <a:ext cx="4898786" cy="1097280"/>
          </a:xfrm>
          <a:prstGeom prst="rect">
            <a:avLst/>
          </a:prstGeom>
        </p:spPr>
      </p:pic>
      <p:pic>
        <p:nvPicPr>
          <p:cNvPr id="4" name="Image 1" descr="Figure 1B: covariate-adjusted one-year hazard ratio of death with living donor LT vs staying on the list, by MELD-Na category">    </p:cNvPr>
          <p:cNvPicPr>
            <a:picLocks noChangeAspect="1"/>
          </p:cNvPicPr>
          <p:nvPr/>
        </p:nvPicPr>
        <p:blipFill>
          <a:blip r:embed="rId2"/>
          <a:stretch>
            <a:fillRect/>
          </a:stretch>
        </p:blipFill>
        <p:spPr>
          <a:xfrm>
            <a:off x="720173" y="2377440"/>
            <a:ext cx="5326213" cy="3840480"/>
          </a:xfrm>
          <a:prstGeom prst="rect">
            <a:avLst/>
          </a:prstGeom>
        </p:spPr>
      </p:pic>
      <p:sp>
        <p:nvSpPr>
          <p:cNvPr id="5" name="Body"/>
          <p:cNvSpPr txBox="1"/>
          <p:nvPr/>
        </p:nvSpPr>
        <p:spPr>
          <a:xfrm>
            <a:off x="6400800" y="2651760"/>
            <a:ext cx="5486400" cy="3474720"/>
          </a:xfrm>
          <a:prstGeom prst="rect">
            <a:avLst/>
          </a:prstGeom>
          <a:noFill/>
          <a:ln/>
        </p:spPr>
        <p:txBody>
          <a:bodyPr wrap="square" lIns="50800" tIns="50800" rIns="50800" bIns="50800" rtlCol="0" anchor="t"/>
          <a:lstStyle/>
          <a:p>
            <a:pPr indent="0" marL="0">
              <a:spcBef>
                <a:spcPts val="1400"/>
              </a:spcBef>
              <a:buNone/>
            </a:pPr>
            <a:r>
              <a:rPr lang="en-US" sz="1900" i="1" dirty="0">
                <a:solidFill>
                  <a:srgbClr val="000000"/>
                </a:solidFill>
                <a:latin typeface="Georgia" pitchFamily="34" charset="0"/>
                <a:ea typeface="Georgia" pitchFamily="34" charset="-122"/>
                <a:cs typeface="Georgia" pitchFamily="34" charset="-120"/>
              </a:rPr>
              <a:t>Adjusted, compared with staying on the list:</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MELD-Na 11-13: aHR 0.64 (0.47-0.88)</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MELD-Na 14-16: aHR 0.47 (0.34-0.66)</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Modeled gain of 13-17 life-years</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Jackson WE, Malamon JS, Kaplan B, Saben JL, Schold JD, </a:t>
            </a:r>
            <a:r>
              <a:rPr lang="en-US" sz="1000" i="1" dirty="0">
                <a:solidFill>
                  <a:srgbClr val="595959"/>
                </a:solidFill>
                <a:highlight>
                  <a:srgbClr val="FFFF00"/>
                </a:highlight>
                <a:latin typeface="Georgia" pitchFamily="34" charset="0"/>
                <a:ea typeface="Georgia" pitchFamily="34" charset="-122"/>
                <a:cs typeface="Georgia" pitchFamily="34" charset="-120"/>
              </a:rPr>
              <a:t>Pomposelli JJ</a:t>
            </a:r>
            <a:r>
              <a:rPr lang="en-US" sz="1000" i="1" dirty="0">
                <a:solidFill>
                  <a:srgbClr val="595959"/>
                </a:solidFill>
                <a:latin typeface="Georgia" pitchFamily="34" charset="0"/>
                <a:ea typeface="Georgia" pitchFamily="34" charset="-122"/>
                <a:cs typeface="Georgia" pitchFamily="34" charset="-120"/>
              </a:rPr>
              <a:t>, Pomfret EA. JAMA Surg 2022;157(10):926-932 [PMID: 35921119]</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40/47</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Watercolor of an open weekly pill organizer and a glass of wat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Your patient had a transplant</a:t>
            </a:r>
            <a:endParaRPr lang="en-US" sz="48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41/47</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Abnormal liver tests after transplant: what next?</a:t>
            </a:r>
            <a:endParaRPr lang="en-US" sz="3000" dirty="0"/>
          </a:p>
        </p:txBody>
      </p:sp>
      <p:sp>
        <p:nvSpPr>
          <p:cNvPr id="3" name="Body"/>
          <p:cNvSpPr txBox="1"/>
          <p:nvPr/>
        </p:nvSpPr>
        <p:spPr>
          <a:xfrm>
            <a:off x="548640" y="1463040"/>
            <a:ext cx="6035040" cy="4663440"/>
          </a:xfrm>
          <a:prstGeom prst="rect">
            <a:avLst/>
          </a:prstGeom>
          <a:noFill/>
          <a:ln/>
        </p:spPr>
        <p:txBody>
          <a:bodyPr wrap="square" lIns="50800" tIns="50800" rIns="50800" bIns="50800" rtlCol="0" anchor="t"/>
          <a:lstStyle/>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New or rising liver tests: call transplant hepatology the same day</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Look at the timing, the pattern, new drugs and old labs</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Doppler ultrasound and a correctly timed tacrolimus trough</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Think vascular, biliary, infection, drugs and rejection</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The transplant team decides on a biopsy</a:t>
            </a:r>
            <a:endParaRPr lang="en-US" sz="2000" dirty="0"/>
          </a:p>
        </p:txBody>
      </p:sp>
      <p:pic>
        <p:nvPicPr>
          <p:cNvPr id="4" name="Image 0" descr="Biopsy showing acute cellular rejection: portal inflammation, bile duct injury and endotheliitis">    </p:cNvPr>
          <p:cNvPicPr>
            <a:picLocks noChangeAspect="1"/>
          </p:cNvPicPr>
          <p:nvPr/>
        </p:nvPicPr>
        <p:blipFill>
          <a:blip r:embed="rId1"/>
          <a:stretch>
            <a:fillRect/>
          </a:stretch>
        </p:blipFill>
        <p:spPr>
          <a:xfrm>
            <a:off x="6766560" y="1234440"/>
            <a:ext cx="5120640" cy="3840480"/>
          </a:xfrm>
          <a:prstGeom prst="rect">
            <a:avLst/>
          </a:prstGeom>
        </p:spPr>
      </p:pic>
      <p:sp>
        <p:nvSpPr>
          <p:cNvPr id="5" name="Text 2"/>
          <p:cNvSpPr txBox="1"/>
          <p:nvPr/>
        </p:nvSpPr>
        <p:spPr>
          <a:xfrm>
            <a:off x="6766560" y="5148072"/>
            <a:ext cx="5120640" cy="365760"/>
          </a:xfrm>
          <a:prstGeom prst="rect">
            <a:avLst/>
          </a:prstGeom>
          <a:noFill/>
          <a:ln/>
        </p:spPr>
        <p:txBody>
          <a:bodyPr wrap="square" lIns="25400" tIns="25400" rIns="25400" bIns="25400" rtlCol="0" anchor="t"/>
          <a:lstStyle/>
          <a:p>
            <a:pPr algn="ctr" indent="0" marL="0">
              <a:buNone/>
            </a:pPr>
            <a:r>
              <a:rPr lang="en-US" sz="1500" i="1" dirty="0">
                <a:solidFill>
                  <a:srgbClr val="595959"/>
                </a:solidFill>
                <a:latin typeface="Georgia" pitchFamily="34" charset="0"/>
                <a:ea typeface="Georgia" pitchFamily="34" charset="-122"/>
                <a:cs typeface="Georgia" pitchFamily="34" charset="-120"/>
              </a:rPr>
              <a:t>Acute cellular rejection</a:t>
            </a:r>
            <a:endParaRPr lang="en-US" sz="15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Te HS et al. AASLD/AST graft-related complications guideline. Liver Transpl 2026;32(3):444-90 [PMID: 40844852], statement 34. Histology: Liver Fellow Network</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42/47</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MRCP or ERCP for a suspected stricture?</a:t>
            </a:r>
            <a:endParaRPr lang="en-US" sz="3000" dirty="0"/>
          </a:p>
        </p:txBody>
      </p:sp>
      <p:pic>
        <p:nvPicPr>
          <p:cNvPr id="3" name="Image 0" descr="ASGE guideline on post-liver transplant biliary strictures 2023: title block">    </p:cNvPr>
          <p:cNvPicPr>
            <a:picLocks noChangeAspect="1"/>
          </p:cNvPicPr>
          <p:nvPr/>
        </p:nvPicPr>
        <p:blipFill>
          <a:blip r:embed="rId1"/>
          <a:stretch>
            <a:fillRect/>
          </a:stretch>
        </p:blipFill>
        <p:spPr>
          <a:xfrm>
            <a:off x="3676788" y="1188720"/>
            <a:ext cx="4838118" cy="1143000"/>
          </a:xfrm>
          <a:prstGeom prst="rect">
            <a:avLst/>
          </a:prstGeom>
        </p:spPr>
      </p:pic>
      <p:graphicFrame>
        <p:nvGraphicFramePr>
          <p:cNvPr id="48" name="Table"/>
          <p:cNvGraphicFramePr>
            <a:graphicFrameLocks noGrp="1"/>
          </p:cNvGraphicFramePr>
          <p:nvPr>
            <p:extLst>
              <p:ext uri="{D42A27DB-BD31-4B8C-83A1-F6EECF244321}">
                <p14:modId xmlns:p14="http://schemas.microsoft.com/office/powerpoint/2010/main" val="1579011935"/>
              </p:ext>
            </p:extLst>
          </p:nvPr>
        </p:nvGraphicFramePr>
        <p:xfrm>
          <a:off x="1463040" y="2651760"/>
          <a:ext cx="9265615" cy="914400"/>
        </p:xfrm>
        <a:graphic>
          <a:graphicData uri="http://schemas.openxmlformats.org/drawingml/2006/table">
            <a:tbl>
              <a:tblPr/>
              <a:tblGrid>
                <a:gridCol w="5733288"/>
                <a:gridCol w="3529584"/>
              </a:tblGrid>
              <a:tr h="566928">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Situation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Next step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Suspected stricture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MRCP first (strong)</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High suspicion, or intervention likely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ERCP directly (weak)</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Normal MRCP, picture still fits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ERCP (weak)</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Progressive ischemic cholangiopathy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Consider retransplant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Te HS et al. AASLD/AST graft-related complications guideline. Liver Transpl 2026;32(3):444-90 [PMID: 40844852], statements 15, 16, 24. Kohli DR et al. ASGE guideline. Gastrointest Endosc 2023;97(4):607-14 [PMID: 36797162]</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43/47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Which drugs change tacrolimus levels?</a:t>
            </a:r>
            <a:endParaRPr lang="en-US" sz="3000" dirty="0"/>
          </a:p>
        </p:txBody>
      </p:sp>
      <p:graphicFrame>
        <p:nvGraphicFramePr>
          <p:cNvPr id="49" name="Table"/>
          <p:cNvGraphicFramePr>
            <a:graphicFrameLocks noGrp="1"/>
          </p:cNvGraphicFramePr>
          <p:nvPr>
            <p:extLst>
              <p:ext uri="{D42A27DB-BD31-4B8C-83A1-F6EECF244321}">
                <p14:modId xmlns:p14="http://schemas.microsoft.com/office/powerpoint/2010/main" val="1579011935"/>
              </p:ext>
            </p:extLst>
          </p:nvPr>
        </p:nvGraphicFramePr>
        <p:xfrm>
          <a:off x="822960" y="1280160"/>
          <a:ext cx="10545775" cy="914400"/>
        </p:xfrm>
        <a:graphic>
          <a:graphicData uri="http://schemas.openxmlformats.org/drawingml/2006/table">
            <a:tbl>
              <a:tblPr/>
              <a:tblGrid>
                <a:gridCol w="6373368"/>
                <a:gridCol w="4169664"/>
              </a:tblGrid>
              <a:tr h="548640">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Raise levels (toxicity)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Lower levels (rejection)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Fluconazole, voriconazole, posaconazole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Rifampin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Clarithromycin, erythromycin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Phenytoin, carbamazepine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Diltiazem, verapamil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Phenobarbital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Nirmatrelvir/ritonavir (Paxlovid)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St John's wort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Ritonavir- or cobicistat-boosted HIV drugs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Grapefruit, cannabidiol (CBD)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822960" y="5349240"/>
            <a:ext cx="10545775" cy="731520"/>
          </a:xfrm>
          <a:prstGeom prst="rect">
            <a:avLst/>
          </a:prstGeom>
          <a:noFill/>
          <a:ln/>
        </p:spPr>
        <p:txBody>
          <a:bodyPr wrap="square" lIns="25400" tIns="25400" rIns="25400" bIns="25400" rtlCol="0" anchor="t"/>
          <a:lstStyle/>
          <a:p>
            <a:pPr algn="ctr" indent="0" marL="0">
              <a:buNone/>
            </a:pPr>
            <a:r>
              <a:rPr lang="en-US" sz="1900" i="1" dirty="0">
                <a:solidFill>
                  <a:srgbClr val="000000"/>
                </a:solidFill>
                <a:latin typeface="Georgia" pitchFamily="34" charset="0"/>
                <a:ea typeface="Georgia" pitchFamily="34" charset="-122"/>
                <a:cs typeface="Georgia" pitchFamily="34" charset="-120"/>
              </a:rPr>
              <a:t>Starting or stopping a drug, or the patient can't take pills: call transplant pharmacy or hepatology for a plan.</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Tacrolimus (Prograf) prescribing information. Sharma P et al. AASLD/AST non-graft complications guideline. Liver Transpl 2026;32(8):1157-93 [PMID: 41405235]</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44/47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does the primary care doctor need to do?</a:t>
            </a:r>
            <a:endParaRPr lang="en-US" sz="3000" dirty="0"/>
          </a:p>
        </p:txBody>
      </p:sp>
      <p:graphicFrame>
        <p:nvGraphicFramePr>
          <p:cNvPr id="50" name="Table"/>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2414016"/>
                <a:gridCol w="8860536"/>
              </a:tblGrid>
              <a:tr h="658368">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What the 2025 AASLD/AST guideline says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5836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Vaccines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ACIP schedule for immunocompromised adults; no live vaccines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5836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Skin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Skin exam every year, plus age-appropriate cancer screening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5836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Alcohol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None, whatever the original liver disease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5836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Type 2 diabetes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GLP-1 RA or SGLT2i first if high CV, heart failure or CKD risk</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5836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Lipids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Hydrophilic statin first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5836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Elective surgery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At least 3 months after transplant, with stable graft function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Sharma P et al. AASLD/AST non-graft complications guideline. Liver Transpl 2026;32(8):1157-93 [PMID: 41405235], statements 9, 19-20, 44-45, 59, 62, 83</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45/47</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Take-home points</a:t>
            </a:r>
            <a:endParaRPr lang="en-US" sz="3000" dirty="0"/>
          </a:p>
        </p:txBody>
      </p:sp>
      <p:pic>
        <p:nvPicPr>
          <p:cNvPr id="3" name="Image 0" descr="Watercolor of a lighthouse on a rocky Maine shore">    </p:cNvPr>
          <p:cNvPicPr>
            <a:picLocks noChangeAspect="1"/>
          </p:cNvPicPr>
          <p:nvPr/>
        </p:nvPicPr>
        <p:blipFill>
          <a:blip r:embed="rId1"/>
          <a:stretch>
            <a:fillRect/>
          </a:stretch>
        </p:blipFill>
        <p:spPr>
          <a:xfrm>
            <a:off x="6903720" y="2011680"/>
            <a:ext cx="5074920" cy="2829268"/>
          </a:xfrm>
          <a:prstGeom prst="rect">
            <a:avLst/>
          </a:prstGeom>
        </p:spPr>
      </p:pic>
      <p:sp>
        <p:nvSpPr>
          <p:cNvPr id="4" name="Body"/>
          <p:cNvSpPr txBox="1"/>
          <p:nvPr/>
        </p:nvSpPr>
        <p:spPr>
          <a:xfrm>
            <a:off x="457200" y="1280160"/>
            <a:ext cx="6309360" cy="4983480"/>
          </a:xfrm>
          <a:prstGeom prst="rect">
            <a:avLst/>
          </a:prstGeom>
          <a:noFill/>
          <a:ln/>
        </p:spPr>
        <p:txBody>
          <a:bodyPr wrap="square" lIns="50800" tIns="50800" rIns="50800" bIns="50800" rtlCol="0" anchor="t"/>
          <a:lstStyle/>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Refer after any decompensating event. Without one, MELD 15 is still reasonable, and a low MELD alone shouldn't stop a referral</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Acute liver failure or ACLF: call the same day</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Recent drinking calls for assessment and treatment, not an automatic no</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Colorectal metastases and selected cholangiocarcinoma are worth a call</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After transplant, abnormal liver tests mean a call to transplant hepatology the same day</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Check every new drug against tacrolimus</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AASLD/AST guidelines: candidate evaluation [PMID: 41405234], graft complications [PMID: 40844852], non-graft complications [PMID: 41405235]</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46/47</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Watercolor of a coastal road in Maine running south toward a distant city">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2560320"/>
            <a:ext cx="5486400" cy="1280160"/>
          </a:xfrm>
          <a:prstGeom prst="rect">
            <a:avLst/>
          </a:prstGeom>
          <a:noFill/>
          <a:ln/>
        </p:spPr>
        <p:txBody>
          <a:bodyPr wrap="square" lIns="0" tIns="0" rIns="0" bIns="0" rtlCol="0" anchor="ctr"/>
          <a:lstStyle/>
          <a:p>
            <a:pPr algn="ctr" indent="0" marL="0">
              <a:buNone/>
            </a:pPr>
            <a:r>
              <a:rPr lang="en-US" sz="5400" dirty="0">
                <a:solidFill>
                  <a:srgbClr val="000000"/>
                </a:solidFill>
                <a:latin typeface="Georgia" pitchFamily="34" charset="0"/>
                <a:ea typeface="Georgia" pitchFamily="34" charset="-122"/>
                <a:cs typeface="Georgia" pitchFamily="34" charset="-120"/>
              </a:rPr>
              <a:t>Questions?</a:t>
            </a:r>
            <a:endParaRPr lang="en-US" sz="54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47/47</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can get a transplant for intrahepatic CCA?</a:t>
            </a:r>
            <a:endParaRPr lang="en-US" sz="3000" dirty="0"/>
          </a:p>
        </p:txBody>
      </p:sp>
      <p:graphicFrame>
        <p:nvGraphicFramePr>
          <p:cNvPr id="53" name="Table"/>
          <p:cNvGraphicFramePr>
            <a:graphicFrameLocks noGrp="1"/>
          </p:cNvGraphicFramePr>
          <p:nvPr>
            <p:extLst>
              <p:ext uri="{D42A27DB-BD31-4B8C-83A1-F6EECF244321}">
                <p14:modId xmlns:p14="http://schemas.microsoft.com/office/powerpoint/2010/main" val="1579011935"/>
              </p:ext>
            </p:extLst>
          </p:nvPr>
        </p:nvGraphicFramePr>
        <p:xfrm>
          <a:off x="822960" y="1463040"/>
          <a:ext cx="10545775" cy="914400"/>
        </p:xfrm>
        <a:graphic>
          <a:graphicData uri="http://schemas.openxmlformats.org/drawingml/2006/table">
            <a:tbl>
              <a:tblPr/>
              <a:tblGrid>
                <a:gridCol w="2011680"/>
                <a:gridCol w="4242816"/>
                <a:gridCol w="4288536"/>
              </a:tblGrid>
              <a:tr h="603504">
                <a:tc>
                  <a:txBody>
                    <a:bodyPr/>
                    <a:lstStyle/>
                    <a:p>
                      <a:pPr algn="l"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With cirrhosis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Without cirrhosis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03504">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Tumor</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Solitary, unresectable, &lt;3 cm</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Unresectable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Biopsy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Required</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Required</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Before listing</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 months stable after treatment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 months stable on systemic therapy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Outside the liver</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No disease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No disease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Setting</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Exception points by review (MMaT-3)</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Research protocols only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Kodali S, Kulik L, D'Alessio A, et al. ILTS-ILCA consensus. Liver Transpl 2025;31(6):815-31 [PMID: 40014003]. Dove L et al. Hepatology 2026;83(6):1609-45 [PMID: 41405234], statement 11. OPTN transplant oncology review guidance</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How do TA-NRP and A-NRP differ?</a:t>
            </a:r>
            <a:endParaRPr lang="en-US" sz="3000" dirty="0"/>
          </a:p>
        </p:txBody>
      </p:sp>
      <p:pic>
        <p:nvPicPr>
          <p:cNvPr id="3" name="Image 0" descr="Thoraco-abdominal and abdominal normothermic regional perfusion circuits: reservoir, roller pump, oxygenator, gas mixer and heat exchanger">    </p:cNvPr>
          <p:cNvPicPr>
            <a:picLocks noChangeAspect="1"/>
          </p:cNvPicPr>
          <p:nvPr/>
        </p:nvPicPr>
        <p:blipFill>
          <a:blip r:embed="rId1"/>
          <a:stretch>
            <a:fillRect/>
          </a:stretch>
        </p:blipFill>
        <p:spPr>
          <a:xfrm>
            <a:off x="1520301" y="1097280"/>
            <a:ext cx="9151094" cy="3931920"/>
          </a:xfrm>
          <a:prstGeom prst="rect">
            <a:avLst/>
          </a:prstGeom>
        </p:spPr>
      </p:pic>
      <p:sp>
        <p:nvSpPr>
          <p:cNvPr id="4" name="Text 1"/>
          <p:cNvSpPr txBox="1"/>
          <p:nvPr/>
        </p:nvSpPr>
        <p:spPr>
          <a:xfrm>
            <a:off x="548640" y="5074920"/>
            <a:ext cx="5394960" cy="1188720"/>
          </a:xfrm>
          <a:prstGeom prst="rect">
            <a:avLst/>
          </a:prstGeom>
          <a:noFill/>
          <a:ln/>
        </p:spPr>
        <p:txBody>
          <a:bodyPr wrap="square" lIns="25400" tIns="25400" rIns="25400" bIns="25400" rtlCol="0" anchor="t"/>
          <a:lstStyle/>
          <a:p>
            <a:pPr algn="ctr" indent="0" marL="0">
              <a:buNone/>
            </a:pPr>
            <a:r>
              <a:rPr lang="en-US" sz="1500" b="1" dirty="0">
                <a:solidFill>
                  <a:srgbClr val="000000"/>
                </a:solidFill>
                <a:latin typeface="Georgia" pitchFamily="34" charset="0"/>
                <a:ea typeface="Georgia" pitchFamily="34" charset="-122"/>
                <a:cs typeface="Georgia" pitchFamily="34" charset="-120"/>
              </a:rPr>
              <a:t>TA-NRP: </a:t>
            </a:r>
            <a:r>
              <a:rPr lang="en-US" sz="1500" dirty="0">
                <a:solidFill>
                  <a:srgbClr val="000000"/>
                </a:solidFill>
                <a:latin typeface="Georgia" pitchFamily="34" charset="0"/>
                <a:ea typeface="Georgia" pitchFamily="34" charset="-122"/>
                <a:cs typeface="Georgia" pitchFamily="34" charset="-120"/>
              </a:rPr>
              <a:t>the chest is opened and the arteries to the head are clamped, cut and vented. The heart beats again, so heart, lungs and abdominal organs can all be used.</a:t>
            </a:r>
            <a:endParaRPr lang="en-US" sz="1500" dirty="0"/>
          </a:p>
        </p:txBody>
      </p:sp>
      <p:sp>
        <p:nvSpPr>
          <p:cNvPr id="5" name="Text 2"/>
          <p:cNvSpPr txBox="1"/>
          <p:nvPr/>
        </p:nvSpPr>
        <p:spPr>
          <a:xfrm>
            <a:off x="6248095" y="5074920"/>
            <a:ext cx="5394960" cy="1188720"/>
          </a:xfrm>
          <a:prstGeom prst="rect">
            <a:avLst/>
          </a:prstGeom>
          <a:noFill/>
          <a:ln/>
        </p:spPr>
        <p:txBody>
          <a:bodyPr wrap="square" lIns="25400" tIns="25400" rIns="25400" bIns="25400" rtlCol="0" anchor="t"/>
          <a:lstStyle/>
          <a:p>
            <a:pPr algn="ctr" indent="0" marL="0">
              <a:buNone/>
            </a:pPr>
            <a:r>
              <a:rPr lang="en-US" sz="1500" b="1" dirty="0">
                <a:solidFill>
                  <a:srgbClr val="000000"/>
                </a:solidFill>
                <a:latin typeface="Georgia" pitchFamily="34" charset="0"/>
                <a:ea typeface="Georgia" pitchFamily="34" charset="-122"/>
                <a:cs typeface="Georgia" pitchFamily="34" charset="-120"/>
              </a:rPr>
              <a:t>A-NRP: </a:t>
            </a:r>
            <a:r>
              <a:rPr lang="en-US" sz="1500" dirty="0">
                <a:solidFill>
                  <a:srgbClr val="000000"/>
                </a:solidFill>
                <a:latin typeface="Georgia" pitchFamily="34" charset="0"/>
                <a:ea typeface="Georgia" pitchFamily="34" charset="-122"/>
                <a:cs typeface="Georgia" pitchFamily="34" charset="-120"/>
              </a:rPr>
              <a:t>the aorta is blocked above the celiac and cut above the block. Only the abdominal organs get blood; the heart doesn't restart.</a:t>
            </a:r>
            <a:endParaRPr lang="en-US" sz="15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Figure: Alamouti-Fard E, Garg P, Wadiwala IJ, et al. Cureus 2022;14(6):e26437, CC BY 4.0. Vessel steps: OPTN/HRSA NRP safety notice, November 21, 2025</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sources (1)</a:t>
            </a:r>
            <a:endParaRPr lang="en-US" sz="3000" dirty="0"/>
          </a:p>
        </p:txBody>
      </p:sp>
      <p:sp>
        <p:nvSpPr>
          <p:cNvPr id="3" name="Body"/>
          <p:cNvSpPr txBox="1"/>
          <p:nvPr/>
        </p:nvSpPr>
        <p:spPr>
          <a:xfrm>
            <a:off x="822960" y="1234440"/>
            <a:ext cx="10545775" cy="5029200"/>
          </a:xfrm>
          <a:prstGeom prst="rect">
            <a:avLst/>
          </a:prstGeom>
          <a:noFill/>
          <a:ln/>
        </p:spPr>
        <p:txBody>
          <a:bodyPr wrap="square" lIns="50800" tIns="50800" rIns="50800" bIns="50800" rtlCol="0" anchor="t"/>
          <a:lstStyle/>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AASLD/AST candidate evaluation guideline. Hepatology 2026 [PMID: 41405234]</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AASLD/AST graft-related complications guideline. Liver Transpl 2026 [PMID: 40844852]</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AASLD/AST non-graft complications guideline. Liver Transpl 2026 [PMID: 41405235]</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EASL CPG on liver transplantation. J Hepatol 2024 [PMID: 39487043]</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ACG alcohol-associated liver disease guideline. Am J Gastroenterol 2024 [PMID: 38174913]</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ACG acute liver failure guideline. Am J Gastroenterol 2023 [PMID: 37377263]</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AASLD ACLF and critically ill cirrhosis guidance. Hepatology 2024 [PMID: 37939273]</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Lai JC et al. Frailty and sarcopenia guidance. Hepatology 2021 [PMID: 34233031]</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Kodali S et al. ILTS-ILCA iCCA consensus. Liver Transpl 2025 [PMID: 40014003]</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OPTN Policy 9 (effective 10/1/2026) and transplant oncology review guidance</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OPTN/SRTR Annual Data Reports, Liver, 2020-2024 [PMIDs: 35266621, 37132348, 38431359, 39947804, 42276697]</a:t>
            </a:r>
            <a:endParaRPr lang="en-US" sz="16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sources (2)</a:t>
            </a:r>
            <a:endParaRPr lang="en-US" sz="3000" dirty="0"/>
          </a:p>
        </p:txBody>
      </p:sp>
      <p:sp>
        <p:nvSpPr>
          <p:cNvPr id="3" name="Body"/>
          <p:cNvSpPr txBox="1"/>
          <p:nvPr/>
        </p:nvSpPr>
        <p:spPr>
          <a:xfrm>
            <a:off x="822960" y="1234440"/>
            <a:ext cx="10545775" cy="5029200"/>
          </a:xfrm>
          <a:prstGeom prst="rect">
            <a:avLst/>
          </a:prstGeom>
          <a:noFill/>
          <a:ln/>
        </p:spPr>
        <p:txBody>
          <a:bodyPr wrap="square" lIns="50800" tIns="50800" rIns="50800" bIns="50800" rtlCol="0" anchor="t"/>
          <a:lstStyle/>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Zarrinpar A, Busuttil RW. Nat Rev Gastroenterol Hepatol 2013 [PMID: 23752825]</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Starzl TE et al. Homotransplantation of the liver in humans. Surg Gynecol Obstet 1963 [PMID: 14100514]</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Malinchoc M et al. Hepatology 2000 [PMID: 10733541]; Kamath PS et al. Hepatology 2001 [PMID: 11172350]</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Kim WR et al. MELD 3.0. Gastroenterology 2021 [PMID: 34481845]</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Tanaka T et al. MELD 3.0 and sex disparities. Hepatology 2026 [PMID: 41100798]</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Di Napoli M et al. Front Transplant 2026 [PMID: 42266471]</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Merion RM et al. Survival benefit of LT. Am J Transplant 2005 [PMID: 15643990]</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Malamon JS et al. Survival benefit of DDLT. Int J Surg 2023 [PMID: 37226874]</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Perkins JD et al. LT at MELD ≤14, decision analysis. Liver Transpl 2009 [PMID: 19177441]</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Jackson WE et al. Living donor LT benefit. JAMA Surg 2022 [PMID: 35921119]</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Mathurin P et al. Early LT for alcoholic hepatitis. N Engl J Med 2011 [PMID: 22070476]</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Lee BP et al. ACCELERATE-AH. Gastroenterology 2018 [PMID: 29655837]</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Dukewich M et al. Early LT for AH, 5-year outcomes. Am J Gastroenterol 2025 [PMID: 38994850]</a:t>
            </a:r>
            <a:endParaRPr lang="en-US" sz="16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sources (3)</a:t>
            </a:r>
            <a:endParaRPr lang="en-US" sz="3000" dirty="0"/>
          </a:p>
        </p:txBody>
      </p:sp>
      <p:sp>
        <p:nvSpPr>
          <p:cNvPr id="3" name="Body"/>
          <p:cNvSpPr txBox="1"/>
          <p:nvPr/>
        </p:nvSpPr>
        <p:spPr>
          <a:xfrm>
            <a:off x="822960" y="1234440"/>
            <a:ext cx="10545775" cy="5029200"/>
          </a:xfrm>
          <a:prstGeom prst="rect">
            <a:avLst/>
          </a:prstGeom>
          <a:noFill/>
          <a:ln/>
        </p:spPr>
        <p:txBody>
          <a:bodyPr wrap="square" lIns="50800" tIns="50800" rIns="50800" bIns="50800" rtlCol="0" anchor="t"/>
          <a:lstStyle/>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Louvet A et al. QuickTrans. Lancet Gastroenterol Hepatol 2022 [PMID: 35202597]</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Gustot T et al. CHANCE. J Hepatol 2026 [PMID: 42822699]</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Adam R et al. TransMet. Lancet 2024 [PMID: 39306468]</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Chávez-Villa M et al. LT for colorectal metastases in the US. Liver Transpl 2026 [PMID: 41086433]</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Giorgakis E et al. DCD and machine perfusion in the US. Transpl Int 2026 [PMID: 42294094]</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Seehofer D et al. Non-anastomotic strictures. Am J Transplant 2013 [PMID: 23331505]</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Kalisvaart M et al. ILTS donor warm ischemia time. Transplantation 2021 [PMID: 34048418]</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Machine and regional perfusion options. J Clin Exp Hepatol 2024 [PMID: 38274508]</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Nasralla D et al. Nature 2018 [PMID: 29670285]; Markmann JF et al. PROTECT. JAMA Surg 2022 [PMID: 34985503]</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van Rijn R et al. DHOPE-DCD. N Engl J Med 2021 [PMID: 33626248]</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Kohli DR et al. ASGE post-LT biliary strictures. Gastrointest Endosc 2023 [PMID: 36797162]</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Tacrolimus (Prograf) prescribing information</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The New York Times, March 5, 2017 (Starzl obituary)</a:t>
            </a:r>
            <a:endParaRPr lang="en-US" sz="16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sources (4)</a:t>
            </a:r>
            <a:endParaRPr lang="en-US" sz="3000" dirty="0"/>
          </a:p>
        </p:txBody>
      </p:sp>
      <p:sp>
        <p:nvSpPr>
          <p:cNvPr id="3" name="Body"/>
          <p:cNvSpPr txBox="1"/>
          <p:nvPr/>
        </p:nvSpPr>
        <p:spPr>
          <a:xfrm>
            <a:off x="822960" y="1234440"/>
            <a:ext cx="10545775" cy="5029200"/>
          </a:xfrm>
          <a:prstGeom prst="rect">
            <a:avLst/>
          </a:prstGeom>
          <a:noFill/>
          <a:ln/>
        </p:spPr>
        <p:txBody>
          <a:bodyPr wrap="square" lIns="50800" tIns="50800" rIns="50800" bIns="50800" rtlCol="0" anchor="t"/>
          <a:lstStyle/>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Brubaker AL et al. NRP vs super-rapid recovery. JAMA Surg 2024 [PMID: 38568597]</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Alamouti-Fard E et al. NRP in DCD heart transplantation. Cureus 2022;14(6):e26437</a:t>
            </a:r>
            <a:endParaRPr lang="en-US" sz="1600" dirty="0"/>
          </a:p>
          <a:p>
            <a:pPr marL="228600" indent="-228600">
              <a:spcBef>
                <a:spcPts val="500"/>
              </a:spcBef>
              <a:buSzPct val="100000"/>
              <a:buChar char="–"/>
            </a:pPr>
            <a:r>
              <a:rPr lang="en-US" sz="1600" dirty="0">
                <a:solidFill>
                  <a:srgbClr val="000000"/>
                </a:solidFill>
                <a:latin typeface="Georgia" pitchFamily="34" charset="0"/>
                <a:ea typeface="Georgia" pitchFamily="34" charset="-122"/>
                <a:cs typeface="Georgia" pitchFamily="34" charset="-120"/>
              </a:rPr>
              <a:t>OPTN/HRSA NRP safety notice, November 21, 2025, and HRSA NRP policy issue page</a:t>
            </a:r>
            <a:endParaRPr lang="en-US" sz="16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A6</a:t>
            </a:r>
            <a:endParaRPr lang="en-US" sz="900"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Liver Transplantation: When to Refer and What's New</dc:title>
  <dc:subject>PptxGenJS Presentation</dc:subject>
  <dc:creator>Mohammad Almeqdadi, MD</dc:creator>
  <cp:lastModifiedBy>Mohammad Almeqdadi, MD</cp:lastModifiedBy>
  <cp:revision>1</cp:revision>
  <dcterms:created xsi:type="dcterms:W3CDTF">2026-10-27T22:04:11Z</dcterms:created>
  <dcterms:modified xsi:type="dcterms:W3CDTF">2026-10-27T22:04:11Z</dcterms:modified>
</cp:coreProperties>
</file>