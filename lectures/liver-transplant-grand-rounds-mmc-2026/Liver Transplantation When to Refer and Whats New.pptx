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f956eb-bef9-2653-24d3-2e14ccc8d208}">
          <p14:sldIdLst>
            <p14:sldId id="256"/>
            <p14:sldId id="257"/>
            <p14:sldId id="258"/>
          </p14:sldIdLst>
        </p14:section>
        <p14:section name="How we got here" id="{d5c76b46-dc63-baa9-8970-fb9dfa05c46b}">
          <p14:sldIdLst>
            <p14:sldId id="259"/>
            <p14:sldId id="260"/>
            <p14:sldId id="261"/>
          </p14:sldIdLst>
        </p14:section>
        <p14:section name="Is it worth it?" id="{40b55a5f-f010-0b79-878a-faa7a3a3bc81}">
          <p14:sldIdLst>
            <p14:sldId id="262"/>
            <p14:sldId id="263"/>
          </p14:sldIdLst>
        </p14:section>
        <p14:section name="When to refer" id="{54e0fa65-896a-d7a4-45f4-934304560703}">
          <p14:sldIdLst>
            <p14:sldId id="264"/>
            <p14:sldId id="265"/>
            <p14:sldId id="266"/>
            <p14:sldId id="267"/>
            <p14:sldId id="268"/>
            <p14:sldId id="269"/>
            <p14:sldId id="270"/>
            <p14:sldId id="271"/>
          </p14:sldIdLst>
        </p14:section>
        <p14:section name="Who can get a liver now" id="{1bc508a4-34ff-8521-4e4d-5b63b60da9ba}">
          <p14:sldIdLst>
            <p14:sldId id="272"/>
            <p14:sldId id="273"/>
            <p14:sldId id="274"/>
            <p14:sldId id="275"/>
            <p14:sldId id="276"/>
            <p14:sldId id="277"/>
            <p14:sldId id="278"/>
            <p14:sldId id="279"/>
            <p14:sldId id="280"/>
            <p14:sldId id="281"/>
            <p14:sldId id="282"/>
            <p14:sldId id="283"/>
          </p14:sldIdLst>
        </p14:section>
        <p14:section name="From Maine to Boston" id="{d53b4557-1b50-0c00-f22d-e7ae769d939d}">
          <p14:sldIdLst>
            <p14:sldId id="284"/>
            <p14:sldId id="285"/>
            <p14:sldId id="286"/>
            <p14:sldId id="287"/>
            <p14:sldId id="288"/>
          </p14:sldIdLst>
        </p14:section>
        <p14:section name="Where the livers come from" id="{c6100a0e-4dd9-f1df-6e30-2cc7709cb8e5}">
          <p14:sldIdLst>
            <p14:sldId id="289"/>
            <p14:sldId id="290"/>
            <p14:sldId id="291"/>
            <p14:sldId id="292"/>
            <p14:sldId id="293"/>
            <p14:sldId id="294"/>
            <p14:sldId id="295"/>
            <p14:sldId id="296"/>
            <p14:sldId id="297"/>
            <p14:sldId id="298"/>
          </p14:sldIdLst>
        </p14:section>
        <p14:section name="Your patient had a transplant" id="{8ae62812-04dc-e30f-fc5f-4f90a67a9a4b}">
          <p14:sldIdLst>
            <p14:sldId id="299"/>
            <p14:sldId id="300"/>
            <p14:sldId id="301"/>
            <p14:sldId id="302"/>
            <p14:sldId id="303"/>
            <p14:sldId id="304"/>
            <p14:sldId id="305"/>
            <p14:sldId id="306"/>
          </p14:sldIdLst>
        </p14:section>
        <p14:section name="Appendix" id="{59c4e729-0708-7663-3ea2-36fad08ee762}">
          <p14:sldIdLst>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Below 15, transplant raised the one-year risk of death compared with staying on the list. At 15-17 the risk tipped toward benefit, though not yet significantly, and from 18 up the benefit was clear and grew with MELD. So 15 was the crossover. It set the old benefit threshold for transplant; it was never a study of when to refer. That was 2005 data. Next: what MELD 3.0 changed, and what the new guideline says about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2025 AASLD/AST guidelines number each recommendation as a statement; the numbers are in the footers if anyone wants to look one up. In the figure,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what happens in a DCD donation before showing the clocks. Ask: when do you think the liver starts to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Withdrawal happens in the ICU or the OR, usually with the family there. The clock that matters most is functional warm ischemia: from the moment saturation drops below 80% or mean pressure below 60, to the cold flush. That is the ILTS definition; the UK uses systolic below 50, and US programs vary. Most programs decline the liver if it runs past about 30 minutes, and if the donor doesn't die within the program's window after withdrawal, the liver isn't used. The wait after the heart stops is usually 5 minutes in the US. Nobody touches the donor during it, and death is declared by a team that has nothing to do with the transplant. Hepatectomy time, from the flush until the liver is on ice, matters too. After that come cold storage and the recipient's own warm ischemia during the implant. NRP restarts warm oxygenated blood flow to the abdominal organs after death is declared, and in observational studies NRP livers have had fewer bile duct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allograft dysfunction is the Olthoff definition: bilirubin 10 or more or INR 1.6 or more on day 7, or AST or ALT over 2000 in the first week. Non-anastomotic strictures are the ischemic cholangiopathy from two slides back. 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jp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raised the 1-year risk of death vs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raised it</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Crossover: benefit begins</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Clear benefit, larger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The 2025 guideline: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redrawn from Dove L et al. AASLD/AST candidate evaluation guideline. Hepatology 2026;83(6):1609-45 [PMID: 41405234], statement 1</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77640"/>
                <a:gridCol w="7114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 2025 AASLD/AST guideline says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 38, 41, 43, 48-49, 51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with a sign for I-95 South to Bost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 statements 33, 44-45</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Arrow"/>
          <p:cNvSpPr/>
          <p:nvPr/>
        </p:nvSpPr>
        <p:spPr>
          <a:xfrm>
            <a:off x="731520" y="3246120"/>
            <a:ext cx="10789920" cy="914"/>
          </a:xfrm>
          <a:prstGeom prst="line">
            <a:avLst/>
          </a:prstGeom>
          <a:noFill/>
          <a:ln w="19050">
            <a:solidFill>
              <a:srgbClr val="000000"/>
            </a:solidFill>
            <a:prstDash val="solid"/>
            <a:tailEnd type="triangle"/>
          </a:ln>
        </p:spPr>
      </p:sp>
      <p:sp>
        <p:nvSpPr>
          <p:cNvPr id="6" name="Tick"/>
          <p:cNvSpPr/>
          <p:nvPr/>
        </p:nvSpPr>
        <p:spPr>
          <a:xfrm>
            <a:off x="1005840" y="3136392"/>
            <a:ext cx="0" cy="219456"/>
          </a:xfrm>
          <a:prstGeom prst="line">
            <a:avLst/>
          </a:prstGeom>
          <a:noFill/>
          <a:ln w="19050">
            <a:solidFill>
              <a:srgbClr val="000000"/>
            </a:solidFill>
            <a:prstDash val="solid"/>
          </a:ln>
        </p:spPr>
      </p:sp>
      <p:sp>
        <p:nvSpPr>
          <p:cNvPr id="7" name="Text 5"/>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8" name="Tick"/>
          <p:cNvSpPr/>
          <p:nvPr/>
        </p:nvSpPr>
        <p:spPr>
          <a:xfrm>
            <a:off x="5943600" y="3136392"/>
            <a:ext cx="0" cy="219456"/>
          </a:xfrm>
          <a:prstGeom prst="line">
            <a:avLst/>
          </a:prstGeom>
          <a:noFill/>
          <a:ln w="19050">
            <a:solidFill>
              <a:srgbClr val="000000"/>
            </a:solidFill>
            <a:prstDash val="solid"/>
          </a:ln>
        </p:spPr>
      </p:sp>
      <p:sp>
        <p:nvSpPr>
          <p:cNvPr id="9" name="Text 7"/>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0" name="Tick"/>
          <p:cNvSpPr/>
          <p:nvPr/>
        </p:nvSpPr>
        <p:spPr>
          <a:xfrm>
            <a:off x="7406640" y="3136392"/>
            <a:ext cx="0" cy="219456"/>
          </a:xfrm>
          <a:prstGeom prst="line">
            <a:avLst/>
          </a:prstGeom>
          <a:noFill/>
          <a:ln w="19050">
            <a:solidFill>
              <a:srgbClr val="000000"/>
            </a:solidFill>
            <a:prstDash val="solid"/>
          </a:ln>
        </p:spPr>
      </p:sp>
      <p:sp>
        <p:nvSpPr>
          <p:cNvPr id="11" name="Text 9"/>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2" name="Tick"/>
          <p:cNvSpPr/>
          <p:nvPr/>
        </p:nvSpPr>
        <p:spPr>
          <a:xfrm>
            <a:off x="8869680" y="3136392"/>
            <a:ext cx="0" cy="219456"/>
          </a:xfrm>
          <a:prstGeom prst="line">
            <a:avLst/>
          </a:prstGeom>
          <a:noFill/>
          <a:ln w="19050">
            <a:solidFill>
              <a:srgbClr val="000000"/>
            </a:solidFill>
            <a:prstDash val="solid"/>
          </a:ln>
        </p:spPr>
      </p:sp>
      <p:sp>
        <p:nvSpPr>
          <p:cNvPr id="13" name="Text 11"/>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4" name="Tick"/>
          <p:cNvSpPr/>
          <p:nvPr/>
        </p:nvSpPr>
        <p:spPr>
          <a:xfrm>
            <a:off x="10607040" y="3136392"/>
            <a:ext cx="0" cy="219456"/>
          </a:xfrm>
          <a:prstGeom prst="line">
            <a:avLst/>
          </a:prstGeom>
          <a:noFill/>
          <a:ln w="19050">
            <a:solidFill>
              <a:srgbClr val="000000"/>
            </a:solidFill>
            <a:prstDash val="solid"/>
          </a:ln>
        </p:spPr>
      </p:sp>
      <p:sp>
        <p:nvSpPr>
          <p:cNvPr id="15" name="Text 13"/>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Kalisvaart M et al. ILTS consensus on donor warm ischemia time in DCD liver transplantation. Transplantation 2021;105(6):1156-64 [PMID: 34048418]</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Threshold"/>
          <p:cNvSpPr/>
          <p:nvPr/>
        </p:nvSpPr>
        <p:spPr>
          <a:xfrm>
            <a:off x="822960" y="2377440"/>
            <a:ext cx="8046720" cy="0"/>
          </a:xfrm>
          <a:prstGeom prst="line">
            <a:avLst/>
          </a:prstGeom>
          <a:noFill/>
          <a:ln w="15875">
            <a:solidFill>
              <a:srgbClr val="C00000"/>
            </a:solidFill>
            <a:prstDash val="dash"/>
          </a:ln>
        </p:spPr>
      </p:sp>
      <p:sp>
        <p:nvSpPr>
          <p:cNvPr id="6" name="Text 4"/>
          <p:cNvSpPr txBox="1"/>
          <p:nvPr/>
        </p:nvSpPr>
        <p:spPr>
          <a:xfrm>
            <a:off x="822960" y="2423160"/>
            <a:ext cx="2743200" cy="320040"/>
          </a:xfrm>
          <a:prstGeom prst="rect">
            <a:avLst/>
          </a:prstGeom>
          <a:noFill/>
          <a:ln/>
        </p:spPr>
        <p:txBody>
          <a:bodyPr wrap="square" lIns="25400" tIns="25400" rIns="25400" bIns="25400" rtlCol="0" anchor="t"/>
          <a:lstStyle/>
          <a:p>
            <a:pPr algn="l" indent="0" marL="0">
              <a:buNone/>
            </a:pPr>
            <a:r>
              <a:rPr lang="en-US" sz="1400" dirty="0">
                <a:solidFill>
                  <a:srgbClr val="C00000"/>
                </a:solidFill>
                <a:latin typeface="Georgia" pitchFamily="34" charset="0"/>
                <a:ea typeface="Georgia" pitchFamily="34" charset="-122"/>
                <a:cs typeface="Georgia" pitchFamily="34" charset="-120"/>
              </a:rPr>
              <a:t>SpO2 &lt;80% or MAP &lt;60</a:t>
            </a:r>
            <a:endParaRPr lang="en-US" sz="1400" dirty="0"/>
          </a:p>
        </p:txBody>
      </p:sp>
      <p:sp>
        <p:nvSpPr>
          <p:cNvPr id="7" name="Arrow"/>
          <p:cNvSpPr/>
          <p:nvPr/>
        </p:nvSpPr>
        <p:spPr>
          <a:xfrm>
            <a:off x="731520" y="3246120"/>
            <a:ext cx="10789920" cy="914"/>
          </a:xfrm>
          <a:prstGeom prst="line">
            <a:avLst/>
          </a:prstGeom>
          <a:noFill/>
          <a:ln w="19050">
            <a:solidFill>
              <a:srgbClr val="000000"/>
            </a:solidFill>
            <a:prstDash val="solid"/>
            <a:tailEnd type="triangle"/>
          </a:ln>
        </p:spPr>
      </p:sp>
      <p:sp>
        <p:nvSpPr>
          <p:cNvPr id="8" name="Tick"/>
          <p:cNvSpPr/>
          <p:nvPr/>
        </p:nvSpPr>
        <p:spPr>
          <a:xfrm>
            <a:off x="1005840" y="3136392"/>
            <a:ext cx="0" cy="219456"/>
          </a:xfrm>
          <a:prstGeom prst="line">
            <a:avLst/>
          </a:prstGeom>
          <a:noFill/>
          <a:ln w="19050">
            <a:solidFill>
              <a:srgbClr val="000000"/>
            </a:solidFill>
            <a:prstDash val="solid"/>
          </a:ln>
        </p:spPr>
      </p:sp>
      <p:sp>
        <p:nvSpPr>
          <p:cNvPr id="9" name="Text 7"/>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10" name="Tick"/>
          <p:cNvSpPr/>
          <p:nvPr/>
        </p:nvSpPr>
        <p:spPr>
          <a:xfrm>
            <a:off x="4023360" y="3136392"/>
            <a:ext cx="0" cy="219456"/>
          </a:xfrm>
          <a:prstGeom prst="line">
            <a:avLst/>
          </a:prstGeom>
          <a:noFill/>
          <a:ln w="19050">
            <a:solidFill>
              <a:srgbClr val="000000"/>
            </a:solidFill>
            <a:prstDash val="solid"/>
          </a:ln>
        </p:spPr>
      </p:sp>
      <p:sp>
        <p:nvSpPr>
          <p:cNvPr id="11" name="Text 9"/>
          <p:cNvSpPr txBox="1"/>
          <p:nvPr/>
        </p:nvSpPr>
        <p:spPr>
          <a:xfrm>
            <a:off x="329184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C00000"/>
                </a:solidFill>
                <a:latin typeface="Georgia" pitchFamily="34" charset="0"/>
                <a:ea typeface="Georgia" pitchFamily="34" charset="-122"/>
                <a:cs typeface="Georgia" pitchFamily="34" charset="-120"/>
              </a:rPr>
              <a:t>Below threshold</a:t>
            </a:r>
            <a:endParaRPr lang="en-US" sz="1400" dirty="0"/>
          </a:p>
        </p:txBody>
      </p:sp>
      <p:sp>
        <p:nvSpPr>
          <p:cNvPr id="12" name="Tick"/>
          <p:cNvSpPr/>
          <p:nvPr/>
        </p:nvSpPr>
        <p:spPr>
          <a:xfrm>
            <a:off x="5943600" y="3136392"/>
            <a:ext cx="0" cy="219456"/>
          </a:xfrm>
          <a:prstGeom prst="line">
            <a:avLst/>
          </a:prstGeom>
          <a:noFill/>
          <a:ln w="19050">
            <a:solidFill>
              <a:srgbClr val="000000"/>
            </a:solidFill>
            <a:prstDash val="solid"/>
          </a:ln>
        </p:spPr>
      </p:sp>
      <p:sp>
        <p:nvSpPr>
          <p:cNvPr id="13" name="Text 11"/>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4" name="Tick"/>
          <p:cNvSpPr/>
          <p:nvPr/>
        </p:nvSpPr>
        <p:spPr>
          <a:xfrm>
            <a:off x="7406640" y="3136392"/>
            <a:ext cx="0" cy="219456"/>
          </a:xfrm>
          <a:prstGeom prst="line">
            <a:avLst/>
          </a:prstGeom>
          <a:noFill/>
          <a:ln w="19050">
            <a:solidFill>
              <a:srgbClr val="000000"/>
            </a:solidFill>
            <a:prstDash val="solid"/>
          </a:ln>
        </p:spPr>
      </p:sp>
      <p:sp>
        <p:nvSpPr>
          <p:cNvPr id="15" name="Text 13"/>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6" name="Tick"/>
          <p:cNvSpPr/>
          <p:nvPr/>
        </p:nvSpPr>
        <p:spPr>
          <a:xfrm>
            <a:off x="8869680" y="3136392"/>
            <a:ext cx="0" cy="219456"/>
          </a:xfrm>
          <a:prstGeom prst="line">
            <a:avLst/>
          </a:prstGeom>
          <a:noFill/>
          <a:ln w="19050">
            <a:solidFill>
              <a:srgbClr val="000000"/>
            </a:solidFill>
            <a:prstDash val="solid"/>
          </a:ln>
        </p:spPr>
      </p:sp>
      <p:sp>
        <p:nvSpPr>
          <p:cNvPr id="17" name="Text 15"/>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8" name="Tick"/>
          <p:cNvSpPr/>
          <p:nvPr/>
        </p:nvSpPr>
        <p:spPr>
          <a:xfrm>
            <a:off x="10607040" y="3136392"/>
            <a:ext cx="0" cy="219456"/>
          </a:xfrm>
          <a:prstGeom prst="line">
            <a:avLst/>
          </a:prstGeom>
          <a:noFill/>
          <a:ln w="19050">
            <a:solidFill>
              <a:srgbClr val="000000"/>
            </a:solidFill>
            <a:prstDash val="solid"/>
          </a:ln>
        </p:spPr>
      </p:sp>
      <p:sp>
        <p:nvSpPr>
          <p:cNvPr id="19" name="Text 17"/>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20" name="Window"/>
          <p:cNvSpPr/>
          <p:nvPr/>
        </p:nvSpPr>
        <p:spPr>
          <a:xfrm>
            <a:off x="1005840" y="4434840"/>
            <a:ext cx="7863840" cy="365760"/>
          </a:xfrm>
          <a:prstGeom prst="rect">
            <a:avLst/>
          </a:prstGeom>
          <a:solidFill>
            <a:srgbClr val="9DB4CA"/>
          </a:solidFill>
          <a:ln w="12700">
            <a:solidFill>
              <a:srgbClr val="9DB4CA"/>
            </a:solidFill>
            <a:prstDash val="solid"/>
          </a:ln>
        </p:spPr>
      </p:sp>
      <p:sp>
        <p:nvSpPr>
          <p:cNvPr id="21" name="Text 19"/>
          <p:cNvSpPr txBox="1"/>
          <p:nvPr/>
        </p:nvSpPr>
        <p:spPr>
          <a:xfrm>
            <a:off x="1005840" y="4434840"/>
            <a:ext cx="7863840" cy="365760"/>
          </a:xfrm>
          <a:prstGeom prst="rect">
            <a:avLst/>
          </a:prstGeom>
          <a:noFill/>
          <a:ln/>
        </p:spPr>
        <p:txBody>
          <a:bodyPr wrap="square" lIns="25400" tIns="25400" rIns="25400" bIns="25400" rtlCol="0" anchor="ctr"/>
          <a:lstStyle/>
          <a:p>
            <a:pPr algn="ctr" indent="0" marL="0">
              <a:buNone/>
            </a:pPr>
            <a:r>
              <a:rPr lang="en-US" sz="1400" dirty="0">
                <a:solidFill>
                  <a:srgbClr val="000000"/>
                </a:solidFill>
                <a:latin typeface="Georgia" pitchFamily="34" charset="0"/>
                <a:ea typeface="Georgia" pitchFamily="34" charset="-122"/>
                <a:cs typeface="Georgia" pitchFamily="34" charset="-120"/>
              </a:rPr>
              <a:t>Total donor warm ischemia</a:t>
            </a:r>
            <a:endParaRPr lang="en-US" sz="1400" dirty="0"/>
          </a:p>
        </p:txBody>
      </p:sp>
      <p:sp>
        <p:nvSpPr>
          <p:cNvPr id="22" name="Window"/>
          <p:cNvSpPr/>
          <p:nvPr/>
        </p:nvSpPr>
        <p:spPr>
          <a:xfrm>
            <a:off x="8869680" y="4434840"/>
            <a:ext cx="1737360" cy="365760"/>
          </a:xfrm>
          <a:prstGeom prst="rect">
            <a:avLst/>
          </a:prstGeom>
          <a:solidFill>
            <a:srgbClr val="E7E6E6"/>
          </a:solidFill>
          <a:ln w="12700">
            <a:solidFill>
              <a:srgbClr val="E7E6E6"/>
            </a:solidFill>
            <a:prstDash val="solid"/>
          </a:ln>
        </p:spPr>
      </p:sp>
      <p:sp>
        <p:nvSpPr>
          <p:cNvPr id="23" name="Text 21"/>
          <p:cNvSpPr txBox="1"/>
          <p:nvPr/>
        </p:nvSpPr>
        <p:spPr>
          <a:xfrm>
            <a:off x="8869680" y="4434840"/>
            <a:ext cx="1737360" cy="365760"/>
          </a:xfrm>
          <a:prstGeom prst="rect">
            <a:avLst/>
          </a:prstGeom>
          <a:noFill/>
          <a:ln/>
        </p:spPr>
        <p:txBody>
          <a:bodyPr wrap="square" lIns="25400" tIns="25400" rIns="25400" bIns="25400" rtlCol="0" anchor="ctr"/>
          <a:lstStyle/>
          <a:p>
            <a:pPr algn="ctr" indent="0" marL="0">
              <a:buNone/>
            </a:pPr>
            <a:r>
              <a:rPr lang="en-US" sz="1400" dirty="0">
                <a:solidFill>
                  <a:srgbClr val="000000"/>
                </a:solidFill>
                <a:latin typeface="Georgia" pitchFamily="34" charset="0"/>
                <a:ea typeface="Georgia" pitchFamily="34" charset="-122"/>
                <a:cs typeface="Georgia" pitchFamily="34" charset="-120"/>
              </a:rPr>
              <a:t>Hepatectomy</a:t>
            </a:r>
            <a:endParaRPr lang="en-US" sz="1400" dirty="0"/>
          </a:p>
        </p:txBody>
      </p:sp>
      <p:sp>
        <p:nvSpPr>
          <p:cNvPr id="24" name="Window"/>
          <p:cNvSpPr/>
          <p:nvPr/>
        </p:nvSpPr>
        <p:spPr>
          <a:xfrm>
            <a:off x="4023360" y="4892040"/>
            <a:ext cx="4846320" cy="365760"/>
          </a:xfrm>
          <a:prstGeom prst="rect">
            <a:avLst/>
          </a:prstGeom>
          <a:solidFill>
            <a:srgbClr val="1F4E79"/>
          </a:solidFill>
          <a:ln w="12700">
            <a:solidFill>
              <a:srgbClr val="1F4E79"/>
            </a:solidFill>
            <a:prstDash val="solid"/>
          </a:ln>
        </p:spPr>
      </p:sp>
      <p:sp>
        <p:nvSpPr>
          <p:cNvPr id="25" name="Text 23"/>
          <p:cNvSpPr txBox="1"/>
          <p:nvPr/>
        </p:nvSpPr>
        <p:spPr>
          <a:xfrm>
            <a:off x="4023360" y="4892040"/>
            <a:ext cx="4846320" cy="365760"/>
          </a:xfrm>
          <a:prstGeom prst="rect">
            <a:avLst/>
          </a:prstGeom>
          <a:noFill/>
          <a:ln/>
        </p:spPr>
        <p:txBody>
          <a:bodyPr wrap="square" lIns="25400" tIns="25400" rIns="25400" bIns="25400" rtlCol="0" anchor="ctr"/>
          <a:lstStyle/>
          <a:p>
            <a:pPr algn="ctr" indent="0" marL="0">
              <a:buNone/>
            </a:pPr>
            <a:r>
              <a:rPr lang="en-US" sz="1400" dirty="0">
                <a:solidFill>
                  <a:srgbClr val="FFFFFF"/>
                </a:solidFill>
                <a:latin typeface="Georgia" pitchFamily="34" charset="0"/>
                <a:ea typeface="Georgia" pitchFamily="34" charset="-122"/>
                <a:cs typeface="Georgia" pitchFamily="34" charset="-120"/>
              </a:rPr>
              <a:t>Functional warm ischemia: limit about 30 min</a:t>
            </a:r>
            <a:endParaRPr lang="en-US" sz="1400" dirty="0"/>
          </a:p>
        </p:txBody>
      </p:sp>
      <p:sp>
        <p:nvSpPr>
          <p:cNvPr id="26" name="Window"/>
          <p:cNvSpPr/>
          <p:nvPr/>
        </p:nvSpPr>
        <p:spPr>
          <a:xfrm>
            <a:off x="5943600" y="5349240"/>
            <a:ext cx="2926080" cy="365760"/>
          </a:xfrm>
          <a:prstGeom prst="rect">
            <a:avLst/>
          </a:prstGeom>
          <a:solidFill>
            <a:srgbClr val="2E7D8C"/>
          </a:solidFill>
          <a:ln w="12700">
            <a:solidFill>
              <a:srgbClr val="2E7D8C"/>
            </a:solidFill>
            <a:prstDash val="solid"/>
          </a:ln>
        </p:spPr>
      </p:sp>
      <p:sp>
        <p:nvSpPr>
          <p:cNvPr id="27" name="Text 25"/>
          <p:cNvSpPr txBox="1"/>
          <p:nvPr/>
        </p:nvSpPr>
        <p:spPr>
          <a:xfrm>
            <a:off x="5943600" y="5349240"/>
            <a:ext cx="2926080" cy="365760"/>
          </a:xfrm>
          <a:prstGeom prst="rect">
            <a:avLst/>
          </a:prstGeom>
          <a:noFill/>
          <a:ln/>
        </p:spPr>
        <p:txBody>
          <a:bodyPr wrap="square" lIns="25400" tIns="25400" rIns="25400" bIns="25400" rtlCol="0" anchor="ctr"/>
          <a:lstStyle/>
          <a:p>
            <a:pPr algn="ctr" indent="0" marL="0">
              <a:buNone/>
            </a:pPr>
            <a:r>
              <a:rPr lang="en-US" sz="1400" dirty="0">
                <a:solidFill>
                  <a:srgbClr val="FFFFFF"/>
                </a:solidFill>
                <a:latin typeface="Georgia" pitchFamily="34" charset="0"/>
                <a:ea typeface="Georgia" pitchFamily="34" charset="-122"/>
                <a:cs typeface="Georgia" pitchFamily="34" charset="-120"/>
              </a:rPr>
              <a:t>Asystolic warm ischemia</a:t>
            </a:r>
            <a:endParaRPr lang="en-US" sz="1400" dirty="0"/>
          </a:p>
        </p:txBody>
      </p:sp>
      <p:sp>
        <p:nvSpPr>
          <p:cNvPr id="28" name="Text 26"/>
          <p:cNvSpPr txBox="1"/>
          <p:nvPr/>
        </p:nvSpPr>
        <p:spPr>
          <a:xfrm>
            <a:off x="822960" y="5806440"/>
            <a:ext cx="10545775" cy="41148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With NRP, warm oxygenated blood reaches the liver again soon after death is declared</a:t>
            </a:r>
            <a:endParaRPr lang="en-US" sz="1700" dirty="0"/>
          </a:p>
        </p:txBody>
      </p:sp>
      <p:sp>
        <p:nvSpPr>
          <p:cNvPr id="2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Kalisvaart M et al. ILTS consensus on donor warm ischemia time in DCD liver transplantation. Transplantation 2021;105(6):1156-64 [PMID: 34048418]</a:t>
            </a:r>
            <a:endParaRPr lang="en-US" sz="1000" dirty="0"/>
          </a:p>
        </p:txBody>
      </p:sp>
      <p:sp>
        <p:nvSpPr>
          <p:cNvPr id="3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Early allograft dysfunction</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non-anastomotic</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strictures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44/48</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87168"/>
                <a:gridCol w="8787384"/>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53, 58-62, 64, 76, 79, 82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14016"/>
                <a:gridCol w="886053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9, 19-20, 24, 26, 44-45, 83-84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47/48</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48/48</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2026-10-27T20:26:48Z</dcterms:created>
  <dcterms:modified xsi:type="dcterms:W3CDTF">2026-10-27T20:26:48Z</dcterms:modified>
</cp:coreProperties>
</file>