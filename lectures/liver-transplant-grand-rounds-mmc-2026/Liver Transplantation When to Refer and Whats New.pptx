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a9588a5-d2a8-8306-a312-7446f95c98b1}">
          <p14:sldIdLst>
            <p14:sldId id="256"/>
            <p14:sldId id="257"/>
            <p14:sldId id="258"/>
          </p14:sldIdLst>
        </p14:section>
        <p14:section name="How we got here" id="{500b6d09-c792-5a01-b0f7-c113e3fe20c5}">
          <p14:sldIdLst>
            <p14:sldId id="259"/>
            <p14:sldId id="260"/>
            <p14:sldId id="261"/>
          </p14:sldIdLst>
        </p14:section>
        <p14:section name="Is it worth it?" id="{40013374-3475-68e6-ee30-d2255e150f62}">
          <p14:sldIdLst>
            <p14:sldId id="262"/>
            <p14:sldId id="263"/>
          </p14:sldIdLst>
        </p14:section>
        <p14:section name="When to refer" id="{2b37e1f9-256f-2b37-f1b6-d75278d47f82}">
          <p14:sldIdLst>
            <p14:sldId id="264"/>
            <p14:sldId id="265"/>
            <p14:sldId id="266"/>
            <p14:sldId id="267"/>
            <p14:sldId id="268"/>
            <p14:sldId id="269"/>
            <p14:sldId id="270"/>
            <p14:sldId id="271"/>
          </p14:sldIdLst>
        </p14:section>
        <p14:section name="Who can get a liver now" id="{b3809fe7-e2b4-633a-be9e-b94509df81f0}">
          <p14:sldIdLst>
            <p14:sldId id="272"/>
            <p14:sldId id="273"/>
            <p14:sldId id="274"/>
            <p14:sldId id="275"/>
            <p14:sldId id="276"/>
            <p14:sldId id="277"/>
            <p14:sldId id="278"/>
            <p14:sldId id="279"/>
            <p14:sldId id="280"/>
            <p14:sldId id="281"/>
            <p14:sldId id="282"/>
            <p14:sldId id="283"/>
          </p14:sldIdLst>
        </p14:section>
        <p14:section name="From Maine to Boston" id="{dd7eb8b7-7f3c-e8cb-3c15-d04ccce3ecf4}">
          <p14:sldIdLst>
            <p14:sldId id="284"/>
            <p14:sldId id="285"/>
            <p14:sldId id="286"/>
            <p14:sldId id="287"/>
            <p14:sldId id="288"/>
          </p14:sldIdLst>
        </p14:section>
        <p14:section name="Where the livers come from" id="{1d282a45-952f-1d7b-5863-6fd27f5d7461}">
          <p14:sldIdLst>
            <p14:sldId id="289"/>
            <p14:sldId id="290"/>
            <p14:sldId id="291"/>
            <p14:sldId id="292"/>
            <p14:sldId id="293"/>
            <p14:sldId id="294"/>
            <p14:sldId id="295"/>
            <p14:sldId id="296"/>
            <p14:sldId id="297"/>
            <p14:sldId id="298"/>
            <p14:sldId id="299"/>
            <p14:sldId id="300"/>
            <p14:sldId id="301"/>
          </p14:sldIdLst>
        </p14:section>
        <p14:section name="Your patient had a transplant" id="{3a27e596-3d90-5aa9-05d8-b06a3d41ecaf}">
          <p14:sldIdLst>
            <p14:sldId id="302"/>
            <p14:sldId id="303"/>
            <p14:sldId id="304"/>
            <p14:sldId id="305"/>
            <p14:sldId id="306"/>
            <p14:sldId id="307"/>
            <p14:sldId id="308"/>
            <p14:sldId id="309"/>
          </p14:sldIdLst>
        </p14:section>
        <p14:section name="Appendix" id="{a21b3346-87b4-bb9d-aad4-5d882585c78e}">
          <p14:sldIdLst>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comparing transplant with staying on the list. Below 15, transplant raised the one-year risk of death. At 15-17 there was no significant difference either way; that was the crossover. From 18 up the benefit was clear and grew with MELD. A 2009 decision analysis (Perkins) came to the same threshold. The newer data move it down. Malamon 2023, in the MELD-Na era, found a one-year benefit for everyone at MELD-Na 12 or more (HR 0.74), whether or not they had HCC. The MELD 3.0 analysis found 46% lower mortality at MELD 3.0 12-14 (HR 0.54) and no significant benefit below 12. That is what the 2025 guideline means by 'may start at 12'. These are waitlist studies: they compare transplant with staying on the list, not when to refer. Referral is set at or below the benefit threshold because the evaluation and the wait take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Withdrawal happens in the ICU or the OR, usually with the family there. The clock that matters most is functional warm ischemia: from the moment saturation drops below 80% or mean pressure below 60, to the cold flush. That is the ILTS definition; ASTS used a mean pressure below 60, and the UK a saturation below 70 or systolic below 50. The ILTS doesn't set a hard cutoff: past 30 minutes graft loss goes up, and the call weighs the donor, the graft, the recipient and how the liver will be preserved. ASTS suggested 20 to 30 minutes at most, and the UK doesn't use the liver past 30. If the donor doesn't die within the program's window after withdrawal, the liver isn't used. Withdrawal in the OR shortens the functional time, which is what ILTS recommends where local rules allow. The no-touch wait after the heart stops ranges from 2 to 20 minutes around the world and is usually 5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start only after death is declared and the no-touch wait is over. The circuit is basically ECMO: reservoir, pump, oxygenator and heater. The liver gets warm oxygenated blood again, usually for an hour or two, and the team follows lactate and liver tests to decide whether to use it. TA-NRP is one of the two ways DCD hearts are recovered in the US; the other takes the heart straight onto a machine. Cutting and venting the vessels is what keeps blood from reaching the brain. The November 2025 OPTN/HRSA safety notice spelled those steps out for both setups after concerns about unintended brain reperfusion.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would you expect better or worse livers, and do you think it is legal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retrospective US multicenter study, not a trial; the Spanish and UK registry data point the same way, with fewer bile duct problems after NRP. On the rules: the US has no statute that permits or bans NRP. Critics, including the American College of Physicians, argue that restarting circulation after death is declared may not fit the Uniform Determination of Death Act, which almost every state has adopted. HRSA has been asking the OPTN for NRP data since 2024, the November 2025 safety notice made the vessel steps explicit, and the OPTN workgroup's draft policy still has to go to the board. This is likely to change, so check before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jp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Text 1"/>
          <p:cNvSpPr txBox="1"/>
          <p:nvPr/>
        </p:nvSpPr>
        <p:spPr>
          <a:xfrm>
            <a:off x="457200" y="13716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2005</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a:t>
            </a:r>
            <a:endParaRPr lang="en-US" sz="1500" dirty="0"/>
          </a:p>
        </p:txBody>
      </p:sp>
      <p:sp>
        <p:nvSpPr>
          <p:cNvPr id="4" name="Shape 2"/>
          <p:cNvSpPr/>
          <p:nvPr/>
        </p:nvSpPr>
        <p:spPr>
          <a:xfrm>
            <a:off x="2514600" y="1371600"/>
            <a:ext cx="2377440" cy="685800"/>
          </a:xfrm>
          <a:prstGeom prst="rect">
            <a:avLst/>
          </a:prstGeom>
          <a:solidFill>
            <a:srgbClr val="C00000"/>
          </a:solidFill>
          <a:ln w="19050">
            <a:solidFill>
              <a:srgbClr val="FFFFFF"/>
            </a:solidFill>
            <a:prstDash val="solid"/>
          </a:ln>
        </p:spPr>
      </p:sp>
      <p:sp>
        <p:nvSpPr>
          <p:cNvPr id="5" name="Text 3"/>
          <p:cNvSpPr txBox="1"/>
          <p:nvPr/>
        </p:nvSpPr>
        <p:spPr>
          <a:xfrm>
            <a:off x="2514600" y="13716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6" name="Text 4"/>
          <p:cNvSpPr txBox="1"/>
          <p:nvPr/>
        </p:nvSpPr>
        <p:spPr>
          <a:xfrm>
            <a:off x="2542032" y="21122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Transplant raised the 1-year risk of death (HR 3.6)</a:t>
            </a:r>
            <a:endParaRPr lang="en-US" sz="1400" dirty="0"/>
          </a:p>
        </p:txBody>
      </p:sp>
      <p:sp>
        <p:nvSpPr>
          <p:cNvPr id="7" name="Shape 5"/>
          <p:cNvSpPr/>
          <p:nvPr/>
        </p:nvSpPr>
        <p:spPr>
          <a:xfrm>
            <a:off x="4892040" y="1371600"/>
            <a:ext cx="1828800" cy="685800"/>
          </a:xfrm>
          <a:prstGeom prst="rect">
            <a:avLst/>
          </a:prstGeom>
          <a:solidFill>
            <a:srgbClr val="E8B4B4"/>
          </a:solidFill>
          <a:ln w="19050">
            <a:solidFill>
              <a:srgbClr val="FFFFFF"/>
            </a:solidFill>
            <a:prstDash val="solid"/>
          </a:ln>
        </p:spPr>
      </p:sp>
      <p:sp>
        <p:nvSpPr>
          <p:cNvPr id="8" name="Text 6"/>
          <p:cNvSpPr txBox="1"/>
          <p:nvPr/>
        </p:nvSpPr>
        <p:spPr>
          <a:xfrm>
            <a:off x="48920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9" name="Text 7"/>
          <p:cNvSpPr txBox="1"/>
          <p:nvPr/>
        </p:nvSpPr>
        <p:spPr>
          <a:xfrm>
            <a:off x="49194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Still raised it (HR 2.4)</a:t>
            </a:r>
            <a:endParaRPr lang="en-US" sz="1400" dirty="0"/>
          </a:p>
        </p:txBody>
      </p:sp>
      <p:sp>
        <p:nvSpPr>
          <p:cNvPr id="10" name="Shape 8"/>
          <p:cNvSpPr/>
          <p:nvPr/>
        </p:nvSpPr>
        <p:spPr>
          <a:xfrm>
            <a:off x="6720840" y="1371600"/>
            <a:ext cx="1828800" cy="685800"/>
          </a:xfrm>
          <a:prstGeom prst="rect">
            <a:avLst/>
          </a:prstGeom>
          <a:solidFill>
            <a:srgbClr val="D9D9D9"/>
          </a:solidFill>
          <a:ln w="19050">
            <a:solidFill>
              <a:srgbClr val="FFFFFF"/>
            </a:solidFill>
            <a:prstDash val="solid"/>
          </a:ln>
        </p:spPr>
      </p:sp>
      <p:sp>
        <p:nvSpPr>
          <p:cNvPr id="11" name="Text 9"/>
          <p:cNvSpPr txBox="1"/>
          <p:nvPr/>
        </p:nvSpPr>
        <p:spPr>
          <a:xfrm>
            <a:off x="67208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2" name="Text 10"/>
          <p:cNvSpPr txBox="1"/>
          <p:nvPr/>
        </p:nvSpPr>
        <p:spPr>
          <a:xfrm>
            <a:off x="67482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difference: the crossover</a:t>
            </a:r>
            <a:endParaRPr lang="en-US" sz="1400" dirty="0"/>
          </a:p>
        </p:txBody>
      </p:sp>
      <p:sp>
        <p:nvSpPr>
          <p:cNvPr id="13" name="Shape 11"/>
          <p:cNvSpPr/>
          <p:nvPr/>
        </p:nvSpPr>
        <p:spPr>
          <a:xfrm>
            <a:off x="8549640" y="1371600"/>
            <a:ext cx="3093415" cy="685800"/>
          </a:xfrm>
          <a:prstGeom prst="rect">
            <a:avLst/>
          </a:prstGeom>
          <a:solidFill>
            <a:srgbClr val="1F4E79"/>
          </a:solidFill>
          <a:ln w="19050">
            <a:solidFill>
              <a:srgbClr val="FFFFFF"/>
            </a:solidFill>
            <a:prstDash val="solid"/>
          </a:ln>
        </p:spPr>
      </p:sp>
      <p:sp>
        <p:nvSpPr>
          <p:cNvPr id="14" name="Text 12"/>
          <p:cNvSpPr txBox="1"/>
          <p:nvPr/>
        </p:nvSpPr>
        <p:spPr>
          <a:xfrm>
            <a:off x="8549640" y="1371600"/>
            <a:ext cx="30934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5" name="Text 13"/>
          <p:cNvSpPr txBox="1"/>
          <p:nvPr/>
        </p:nvSpPr>
        <p:spPr>
          <a:xfrm>
            <a:off x="8577072" y="2112264"/>
            <a:ext cx="30385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38% lower risk at 18-20, 96% lower at 40</a:t>
            </a:r>
            <a:endParaRPr lang="en-US" sz="1400" dirty="0"/>
          </a:p>
        </p:txBody>
      </p:sp>
      <p:sp>
        <p:nvSpPr>
          <p:cNvPr id="16" name="Text 14"/>
          <p:cNvSpPr txBox="1"/>
          <p:nvPr/>
        </p:nvSpPr>
        <p:spPr>
          <a:xfrm>
            <a:off x="457200" y="29718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2023-2025</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newer MELD</a:t>
            </a:r>
            <a:endParaRPr lang="en-US" sz="1500" dirty="0"/>
          </a:p>
        </p:txBody>
      </p:sp>
      <p:sp>
        <p:nvSpPr>
          <p:cNvPr id="17" name="Shape 15"/>
          <p:cNvSpPr/>
          <p:nvPr/>
        </p:nvSpPr>
        <p:spPr>
          <a:xfrm>
            <a:off x="2514600" y="2971800"/>
            <a:ext cx="2377440" cy="685800"/>
          </a:xfrm>
          <a:prstGeom prst="rect">
            <a:avLst/>
          </a:prstGeom>
          <a:solidFill>
            <a:srgbClr val="E8B4B4"/>
          </a:solidFill>
          <a:ln w="19050">
            <a:solidFill>
              <a:srgbClr val="FFFFFF"/>
            </a:solidFill>
            <a:prstDash val="solid"/>
          </a:ln>
        </p:spPr>
      </p:sp>
      <p:sp>
        <p:nvSpPr>
          <p:cNvPr id="18" name="Text 16"/>
          <p:cNvSpPr txBox="1"/>
          <p:nvPr/>
        </p:nvSpPr>
        <p:spPr>
          <a:xfrm>
            <a:off x="2514600" y="29718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Below 12</a:t>
            </a:r>
            <a:endParaRPr lang="en-US" sz="1600" dirty="0"/>
          </a:p>
        </p:txBody>
      </p:sp>
      <p:sp>
        <p:nvSpPr>
          <p:cNvPr id="19" name="Text 17"/>
          <p:cNvSpPr txBox="1"/>
          <p:nvPr/>
        </p:nvSpPr>
        <p:spPr>
          <a:xfrm>
            <a:off x="2542032" y="37124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benefit</a:t>
            </a:r>
            <a:endParaRPr lang="en-US" sz="1400" dirty="0"/>
          </a:p>
        </p:txBody>
      </p:sp>
      <p:sp>
        <p:nvSpPr>
          <p:cNvPr id="20" name="Shape 18"/>
          <p:cNvSpPr/>
          <p:nvPr/>
        </p:nvSpPr>
        <p:spPr>
          <a:xfrm>
            <a:off x="4892040" y="2971800"/>
            <a:ext cx="1828800" cy="685800"/>
          </a:xfrm>
          <a:prstGeom prst="rect">
            <a:avLst/>
          </a:prstGeom>
          <a:solidFill>
            <a:srgbClr val="9DB4CA"/>
          </a:solidFill>
          <a:ln w="19050">
            <a:solidFill>
              <a:srgbClr val="FFFFFF"/>
            </a:solidFill>
            <a:prstDash val="solid"/>
          </a:ln>
        </p:spPr>
      </p:sp>
      <p:sp>
        <p:nvSpPr>
          <p:cNvPr id="21" name="Text 19"/>
          <p:cNvSpPr txBox="1"/>
          <p:nvPr/>
        </p:nvSpPr>
        <p:spPr>
          <a:xfrm>
            <a:off x="4892040" y="29718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22" name="Text 20"/>
          <p:cNvSpPr txBox="1"/>
          <p:nvPr/>
        </p:nvSpPr>
        <p:spPr>
          <a:xfrm>
            <a:off x="4919472" y="37124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46% lower risk with MELD 3.0</a:t>
            </a:r>
            <a:endParaRPr lang="en-US" sz="1400" dirty="0"/>
          </a:p>
        </p:txBody>
      </p:sp>
      <p:sp>
        <p:nvSpPr>
          <p:cNvPr id="23" name="Shape 21"/>
          <p:cNvSpPr/>
          <p:nvPr/>
        </p:nvSpPr>
        <p:spPr>
          <a:xfrm>
            <a:off x="6720840" y="2971800"/>
            <a:ext cx="4922215" cy="685800"/>
          </a:xfrm>
          <a:prstGeom prst="rect">
            <a:avLst/>
          </a:prstGeom>
          <a:solidFill>
            <a:srgbClr val="1F4E79"/>
          </a:solidFill>
          <a:ln w="19050">
            <a:solidFill>
              <a:srgbClr val="FFFFFF"/>
            </a:solidFill>
            <a:prstDash val="solid"/>
          </a:ln>
        </p:spPr>
      </p:sp>
      <p:sp>
        <p:nvSpPr>
          <p:cNvPr id="24" name="Text 22"/>
          <p:cNvSpPr txBox="1"/>
          <p:nvPr/>
        </p:nvSpPr>
        <p:spPr>
          <a:xfrm>
            <a:off x="6720840" y="2971800"/>
            <a:ext cx="49222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 and up</a:t>
            </a:r>
            <a:endParaRPr lang="en-US" sz="1600" dirty="0"/>
          </a:p>
        </p:txBody>
      </p:sp>
      <p:sp>
        <p:nvSpPr>
          <p:cNvPr id="25" name="Text 23"/>
          <p:cNvSpPr txBox="1"/>
          <p:nvPr/>
        </p:nvSpPr>
        <p:spPr>
          <a:xfrm>
            <a:off x="6748272" y="3712464"/>
            <a:ext cx="48673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Benefit, larger as MELD rises</a:t>
            </a:r>
            <a:endParaRPr lang="en-US" sz="1400" dirty="0"/>
          </a:p>
        </p:txBody>
      </p:sp>
      <p:sp>
        <p:nvSpPr>
          <p:cNvPr id="26" name="Text 24"/>
          <p:cNvSpPr txBox="1"/>
          <p:nvPr/>
        </p:nvSpPr>
        <p:spPr>
          <a:xfrm>
            <a:off x="822960" y="4800600"/>
            <a:ext cx="10545775" cy="9144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Why refer before the benefit starts? Evaluation and listing take weeks to months, and MELD keeps rising. Referring early means the patient is ready when transplant starts to help.</a:t>
            </a:r>
            <a:endParaRPr lang="en-US" sz="19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Malamon JS et al. Int J Surg 2023;109(9):2714-20. MELD 3.0 survival benefit analysis, Liver Transpl 2025 [PMID: 41378690]</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Total donor warm ischemia</a:t>
            </a:r>
            <a:endParaRPr lang="en-US" sz="13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Hepatectomy</a:t>
            </a:r>
            <a:endParaRPr lang="en-US" sz="13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Functional warm ischemia: risk rises past 30 min</a:t>
            </a:r>
            <a:endParaRPr lang="en-US" sz="1300" dirty="0"/>
          </a:p>
        </p:txBody>
      </p:sp>
      <p:sp>
        <p:nvSpPr>
          <p:cNvPr id="26" name="Window"/>
          <p:cNvSpPr/>
          <p:nvPr/>
        </p:nvSpPr>
        <p:spPr>
          <a:xfrm>
            <a:off x="1005840" y="5349240"/>
            <a:ext cx="4937760" cy="365760"/>
          </a:xfrm>
          <a:prstGeom prst="rect">
            <a:avLst/>
          </a:prstGeom>
          <a:solidFill>
            <a:srgbClr val="E7E6E6"/>
          </a:solidFill>
          <a:ln w="12700">
            <a:solidFill>
              <a:srgbClr val="E7E6E6"/>
            </a:solidFill>
            <a:prstDash val="solid"/>
          </a:ln>
        </p:spPr>
      </p:sp>
      <p:sp>
        <p:nvSpPr>
          <p:cNvPr id="27" name="Text 25"/>
          <p:cNvSpPr txBox="1"/>
          <p:nvPr/>
        </p:nvSpPr>
        <p:spPr>
          <a:xfrm>
            <a:off x="1005840" y="5349240"/>
            <a:ext cx="49377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Agonal phase</a:t>
            </a:r>
            <a:endParaRPr lang="en-US" sz="1300" dirty="0"/>
          </a:p>
        </p:txBody>
      </p:sp>
      <p:sp>
        <p:nvSpPr>
          <p:cNvPr id="28"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9" name="Text 27"/>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Asystolic warm ischemia</a:t>
            </a:r>
            <a:endParaRPr lang="en-US" sz="1300" dirty="0"/>
          </a:p>
        </p:txBody>
      </p:sp>
      <p:sp>
        <p:nvSpPr>
          <p:cNvPr id="30" name="Text 28"/>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3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3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TA-NRP and A-NRP differ?</a:t>
            </a:r>
            <a:endParaRPr lang="en-US" sz="3000" dirty="0"/>
          </a:p>
        </p:txBody>
      </p:sp>
      <p:pic>
        <p:nvPicPr>
          <p:cNvPr id="3" name="Image 0" descr="Thoraco-abdominal and abdominal normothermic regional perfusion circuits: reservoir, roller pump, oxygenator, gas mixer and heat exchanger">    </p:cNvPr>
          <p:cNvPicPr>
            <a:picLocks noChangeAspect="1"/>
          </p:cNvPicPr>
          <p:nvPr/>
        </p:nvPicPr>
        <p:blipFill>
          <a:blip r:embed="rId1"/>
          <a:stretch>
            <a:fillRect/>
          </a:stretch>
        </p:blipFill>
        <p:spPr>
          <a:xfrm>
            <a:off x="1520301" y="1097280"/>
            <a:ext cx="9151094" cy="3931920"/>
          </a:xfrm>
          <a:prstGeom prst="rect">
            <a:avLst/>
          </a:prstGeom>
        </p:spPr>
      </p:pic>
      <p:sp>
        <p:nvSpPr>
          <p:cNvPr id="4" name="Text 1"/>
          <p:cNvSpPr txBox="1"/>
          <p:nvPr/>
        </p:nvSpPr>
        <p:spPr>
          <a:xfrm>
            <a:off x="548640"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TA-NRP: </a:t>
            </a:r>
            <a:r>
              <a:rPr lang="en-US" sz="1500" dirty="0">
                <a:solidFill>
                  <a:srgbClr val="000000"/>
                </a:solidFill>
                <a:latin typeface="Georgia" pitchFamily="34" charset="0"/>
                <a:ea typeface="Georgia" pitchFamily="34" charset="-122"/>
                <a:cs typeface="Georgia" pitchFamily="34" charset="-120"/>
              </a:rPr>
              <a:t>the chest is opened and the arteries to the head are clamped, cut and vented. The heart beats again, so heart, lungs and abdominal organs can all be used.</a:t>
            </a:r>
            <a:endParaRPr lang="en-US" sz="1500" dirty="0"/>
          </a:p>
        </p:txBody>
      </p:sp>
      <p:sp>
        <p:nvSpPr>
          <p:cNvPr id="5" name="Text 2"/>
          <p:cNvSpPr txBox="1"/>
          <p:nvPr/>
        </p:nvSpPr>
        <p:spPr>
          <a:xfrm>
            <a:off x="6248095"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A-NRP: </a:t>
            </a:r>
            <a:r>
              <a:rPr lang="en-US" sz="1500" dirty="0">
                <a:solidFill>
                  <a:srgbClr val="000000"/>
                </a:solidFill>
                <a:latin typeface="Georgia" pitchFamily="34" charset="0"/>
                <a:ea typeface="Georgia" pitchFamily="34" charset="-122"/>
                <a:cs typeface="Georgia" pitchFamily="34" charset="-120"/>
              </a:rPr>
              <a:t>the aorta is blocked above the celiac and cut above the block. Only the abdominal organs get blood; the heart doesn't restart.</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Alamouti-Fard E, Garg P, Wadiwala IJ, et al. Cureus 2022;14(6):e26437, CC BY 4.0. Vessel steps: OPTN/HRSA NRP safety notice, November 21, 2025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Schnickel GT et al. JAMA Surg 2024;159(6):677-85. OPTN/HRSA NRP safety notice, November 21, 2025. HRSA, NRP policy issue page (accessed 10/2026)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7 vs 10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vs 2 grafts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Similar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949440" y="1371600"/>
            <a:ext cx="4846320" cy="457200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 federal or state law names NRP; the argument is over the dead donor rule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November 2025: OPTN/HRSA safety notice on cutting and venting the vessels to the brain</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An OPTN workgroup has been drafting national NRP policy since October 2025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Schnickel GT et al. JAMA Surg 2024;159(6):677-85. OPTN/HRSA NRP safety notice, November 21, 2025. HRSA, NRP policy issue page (accessed 10/2026)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Early allograft dysfunction</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non-anastomotic</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strictures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87168"/>
                <a:gridCol w="8787384"/>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53, 58-62, 64, 76, 79, 82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24, 26, 44-45, 83-84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48/50</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49/50</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2026-10-27T21:59:05Z</dcterms:created>
  <dcterms:modified xsi:type="dcterms:W3CDTF">2026-10-27T21:59:05Z</dcterms:modified>
</cp:coreProperties>
</file>