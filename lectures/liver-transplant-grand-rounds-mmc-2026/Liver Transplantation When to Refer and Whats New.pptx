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6.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8.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b63245-9e5f-0bef-5e3c-ec46a3b875f3}">
          <p14:sldIdLst>
            <p14:sldId id="256"/>
            <p14:sldId id="257"/>
            <p14:sldId id="258"/>
          </p14:sldIdLst>
        </p14:section>
        <p14:section name="How we got here" id="{eb0eb909-dd15-9a03-b4e0-a7681b389d23}">
          <p14:sldIdLst>
            <p14:sldId id="259"/>
            <p14:sldId id="260"/>
          </p14:sldIdLst>
        </p14:section>
        <p14:section name="Is it worth it?" id="{8edf3726-fd6f-477c-d098-f9f7a94e6e2a}">
          <p14:sldIdLst>
            <p14:sldId id="261"/>
            <p14:sldId id="262"/>
          </p14:sldIdLst>
        </p14:section>
        <p14:section name="When to refer" id="{de095037-c1d4-b26d-e967-5554e558f8d9}">
          <p14:sldIdLst>
            <p14:sldId id="263"/>
            <p14:sldId id="264"/>
            <p14:sldId id="265"/>
            <p14:sldId id="266"/>
            <p14:sldId id="267"/>
            <p14:sldId id="268"/>
            <p14:sldId id="269"/>
            <p14:sldId id="270"/>
            <p14:sldId id="271"/>
            <p14:sldId id="272"/>
            <p14:sldId id="273"/>
          </p14:sldIdLst>
        </p14:section>
        <p14:section name="From Maine to Boston" id="{ed2ea806-5a7f-f50e-5c41-98e8b2b7e59d}">
          <p14:sldIdLst>
            <p14:sldId id="274"/>
            <p14:sldId id="275"/>
            <p14:sldId id="276"/>
            <p14:sldId id="277"/>
          </p14:sldIdLst>
        </p14:section>
        <p14:section name="Who can get a liver now" id="{11363e52-525e-9f11-4e9e-41302a1acde8}">
          <p14:sldIdLst>
            <p14:sldId id="278"/>
            <p14:sldId id="279"/>
            <p14:sldId id="280"/>
            <p14:sldId id="281"/>
            <p14:sldId id="282"/>
            <p14:sldId id="283"/>
            <p14:sldId id="284"/>
            <p14:sldId id="285"/>
            <p14:sldId id="286"/>
            <p14:sldId id="287"/>
            <p14:sldId id="288"/>
            <p14:sldId id="289"/>
          </p14:sldIdLst>
        </p14:section>
        <p14:section name="Where the livers come from" id="{c5f88de1-6505-7955-95aa-bcac6d29e1fd}">
          <p14:sldIdLst>
            <p14:sldId id="290"/>
            <p14:sldId id="291"/>
            <p14:sldId id="292"/>
            <p14:sldId id="293"/>
            <p14:sldId id="294"/>
            <p14:sldId id="295"/>
            <p14:sldId id="296"/>
          </p14:sldIdLst>
        </p14:section>
        <p14:section name="Your patient had a transplant" id="{3f768060-d284-3c4c-e3cb-e65619350312}">
          <p14:sldIdLst>
            <p14:sldId id="297"/>
            <p14:sldId id="298"/>
            <p14:sldId id="299"/>
            <p14:sldId id="300"/>
            <p14:sldId id="301"/>
            <p14:sldId id="302"/>
            <p14:sldId id="303"/>
            <p14:sldId id="304"/>
          </p14:sldIdLst>
        </p14:section>
        <p14:section name="Appendix" id="{2d72429c-acc9-0ee5-56cf-4513c63d1602}">
          <p14:sldIdLst>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Two halves: when to refer and who can be a candidate now, then what's new in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The first half is for everyone who sees patients with liver disease. The second half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1963 paper describes the first three patients; none lived more than a few weeks. 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Between 15 and 17 the study couldn't show a one-year benefit either way. It set the old benefit threshold for transplant; it was never a study of when to refer. That was 2005 data, and the next slide is the living donor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The figure is the unadjusted panel; the numbers on the right are the adjusted ones from Figure 1B.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6-1.png"/><Relationship Id="rId2" Type="http://schemas.openxmlformats.org/officeDocument/2006/relationships/image" Target="../media/image-26-2.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554480"/>
            <a:ext cx="566928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Recognize which patients need a transplant evaluation, and which need a call the same day</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See how candidacy has changed</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Understand where donor livers come from now</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Care for a transplant recipient on your service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Statement 1: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and statement 1 redrawn from Dove L et al. AASLD/AST candidate evaluation guideline. Hepatology 2026;83(6):1609-45 [PMID: 41405234]</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92040"/>
            <a:ext cx="11094415" cy="128016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 (statements 3-4). </a:t>
            </a: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(statement 2).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Death risk after transplant higher than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higher</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No clear benefit</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comes out ahead, more so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A: unadjusted one-year hazard ratio of death with living donor LT vs staying on the list, by MELD-Na category">    </p:cNvPr>
          <p:cNvPicPr>
            <a:picLocks noChangeAspect="1"/>
          </p:cNvPicPr>
          <p:nvPr/>
        </p:nvPicPr>
        <p:blipFill>
          <a:blip r:embed="rId2"/>
          <a:stretch>
            <a:fillRect/>
          </a:stretch>
        </p:blipFill>
        <p:spPr>
          <a:xfrm>
            <a:off x="909795" y="2377440"/>
            <a:ext cx="4946969" cy="3520440"/>
          </a:xfrm>
          <a:prstGeom prst="rect">
            <a:avLst/>
          </a:prstGeom>
        </p:spPr>
      </p:pic>
      <p:sp>
        <p:nvSpPr>
          <p:cNvPr id="5" name="Text 1"/>
          <p:cNvSpPr txBox="1"/>
          <p:nvPr/>
        </p:nvSpPr>
        <p:spPr>
          <a:xfrm>
            <a:off x="909795" y="5925312"/>
            <a:ext cx="4946969" cy="27432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Figure 1A, unadjusted</a:t>
            </a:r>
            <a:endParaRPr lang="en-US" sz="1300" dirty="0"/>
          </a:p>
        </p:txBody>
      </p:sp>
      <p:sp>
        <p:nvSpPr>
          <p:cNvPr id="6"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 (statement 33)</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 (44-45)</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429000"/>
                <a:gridCol w="6281928"/>
                <a:gridCol w="1380744"/>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2025 AASLD/AST guideline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Statement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Frailty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Assess it with a standard tool; not a sole contraindication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44-45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48-49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2, 43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48640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Watercolor of a snowy highway heading south through pine tree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685032"/>
                <a:gridCol w="685800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Support at home, alcohol and drug history,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EAD 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NAS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The benefit starts at low MELD (Jackson 2022)</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148840"/>
                <a:gridCol w="7589520"/>
                <a:gridCol w="1536192"/>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58-59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60-61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76, 79, 82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093976"/>
                <a:gridCol w="7680960"/>
                <a:gridCol w="149961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44-45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83-84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24, 26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2026-10-27T19:04:53Z</dcterms:created>
  <dcterms:modified xsi:type="dcterms:W3CDTF">2026-10-27T19:04:53Z</dcterms:modified>
</cp:coreProperties>
</file>