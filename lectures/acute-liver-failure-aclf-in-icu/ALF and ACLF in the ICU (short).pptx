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charts/chart7.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charts/chart8.xml" ContentType="application/vnd.openxmlformats-officedocument.drawingml.chart+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charts/chart9.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charts/chart12.xml" ContentType="application/vnd.openxmlformats-officedocument.drawingml.chart+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charts/chart13.xml" ContentType="application/vnd.openxmlformats-officedocument.drawingml.chart+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Lst>
  <p:notesMasterIdLst>
    <p:notesMasterId r:id="rId10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cef755c-8f7f-3898-d7af-6cd56ed5b7dd}">
          <p14:sldIdLst>
            <p14:sldId id="256"/>
            <p14:sldId id="257"/>
          </p14:sldIdLst>
        </p14:section>
        <p14:section name="Patient A" id="{1eb2e753-3f97-ca3c-37b4-4e06be3f460f}">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Lst>
        </p14:section>
        <p14:section name="Patient B" id="{f08ee507-e917-e721-1d88-ee99adc2ac9a}">
          <p14:sldIdLst>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Lst>
        </p14:section>
        <p14:section name="Closing" id="{f29362c6-4cca-f48d-6cd1-0d14e88120dc}">
          <p14:sldIdLst>
            <p14:sldId id="344"/>
            <p14:sldId id="345"/>
            <p14:sldId id="346"/>
            <p14:sldId id="347"/>
          </p14:sldIdLst>
        </p14:section>
        <p14:section name="Appendix" id="{616e0292-6956-8634-6e0c-fb405d10499e}">
          <p14:sldIdLst>
            <p14:sldId id="348"/>
            <p14:sldId id="349"/>
            <p14:sldId id="350"/>
            <p14:sldId id="351"/>
            <p14:sldId id="352"/>
            <p14:sldId id="353"/>
            <p14:sldId id="354"/>
            <p14:sldId id="35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notesMaster" Target="notesMasters/notesMaster1.xml"/><Relationship Id="rId103" Type="http://schemas.openxmlformats.org/officeDocument/2006/relationships/presProps" Target="presProps.xml"/><Relationship Id="rId104" Type="http://schemas.openxmlformats.org/officeDocument/2006/relationships/viewProps" Target="viewProps.xml"/><Relationship Id="rId105" Type="http://schemas.openxmlformats.org/officeDocument/2006/relationships/theme" Target="theme/theme1.xml"/><Relationship Id="rId10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Factors V and VII were low, but protein C, protein S and antithrombin fell too, and factor VIII was about 4 times normal.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Where it usually goes wrong is the circuit: it keeps clotting, so the delivered clearance is a fraction of what was ordered. The other problem is a sodium plan that nobody owns. Citrate can build up in liver failure, so follow the total to ionized calcium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enjoy it, then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Larsen: high-volume plasma exchange removes cytokines and DAMPs and replaces coagulation factors; hospital survival was better in the trial. Burke: all seven UK transplant centers, 2013 to 2021, propensity matched. Noradrenaline fell from 0.35 to 0.16 mcg/kg/min after plasma exchange, but overall survival (51.4% vs 62.6%) and transplant-free survival (42.6% vs 53.1%) were not better. Observational: plasma exchange went to older, sicker patients (acetaminophen, meeting King's College criteria, higher noradrenaline), and practice varied between centers. If you use it, use it early and as a bridge, and don't delay listing for it. The INR after plasma exchange is no longer the patient's INR, so tell transplant hepatology before the first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take her off the list: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causes before you show the figure. Most will say sepsis and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 Sources: Surviving Sepsis 2026 [PMID: 41869847]; SCCM 2020 [PMID: 32058387]; EASL ACLF 2023 [PMID: 37364789].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chart" Target="/ppt/charts/chart3.xml"/><Relationship Id="rId3" Type="http://schemas.openxmlformats.org/officeDocument/2006/relationships/chart" Target="/ppt/charts/chart4.xml"/><Relationship Id="rId1" Type="http://schemas.openxmlformats.org/officeDocument/2006/relationships/image" Target="../media/image-29-1.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chart" Target="/ppt/charts/chart5.xml"/><Relationship Id="rId3" Type="http://schemas.openxmlformats.org/officeDocument/2006/relationships/chart" Target="/ppt/charts/chart6.xml"/><Relationship Id="rId1" Type="http://schemas.openxmlformats.org/officeDocument/2006/relationships/image" Target="../media/image-30-1.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chart" Target="/ppt/charts/chart7.xml"/><Relationship Id="rId1" Type="http://schemas.openxmlformats.org/officeDocument/2006/relationships/image" Target="../media/image-45-1.jpg"/><Relationship Id="rId3" Type="http://schemas.openxmlformats.org/officeDocument/2006/relationships/slideLayout" Target="../slideLayouts/slideLayout4.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4.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2.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4.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4.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4.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2.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jpg"/><Relationship Id="rId2" Type="http://schemas.openxmlformats.org/officeDocument/2006/relationships/slideLayout" Target="../slideLayouts/slideLayout2.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slideLayout" Target="../slideLayouts/slideLayout4.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slideLayout" Target="../slideLayouts/slideLayout2.xm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jpg"/><Relationship Id="rId2" Type="http://schemas.openxmlformats.org/officeDocument/2006/relationships/slideLayout" Target="../slideLayouts/slideLayout2.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g"/><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jpg"/><Relationship Id="rId2" Type="http://schemas.openxmlformats.org/officeDocument/2006/relationships/image" Target="../media/image-92-2.png"/><Relationship Id="rId3" Type="http://schemas.openxmlformats.org/officeDocument/2006/relationships/slideLayout" Target="../slideLayouts/slideLayout4.xml"/><Relationship Id="rId4"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2.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Bed 4 and bed 7</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6583680" cy="914400"/>
        </p:xfrm>
        <a:graphic>
          <a:graphicData uri="http://schemas.openxmlformats.org/drawingml/2006/table">
            <a:tbl>
              <a:tblPr/>
              <a:tblGrid>
                <a:gridCol w="3054096"/>
                <a:gridCol w="3529584"/>
              </a:tblGrid>
              <a:tr h="502920">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28-year-old woman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56-year-old 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known liver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Alcohol-related cirrhosis with ascites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Nausea and vomiting for 4 days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confusion, low blood pressure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wo empty ICU beds side by side">    </p:cNvPr>
          <p:cNvPicPr>
            <a:picLocks noChangeAspect="1"/>
          </p:cNvPicPr>
          <p:nvPr/>
        </p:nvPicPr>
        <p:blipFill>
          <a:blip r:embed="rId1"/>
          <a:stretch>
            <a:fillRect/>
          </a:stretch>
        </p:blipFill>
        <p:spPr>
          <a:xfrm>
            <a:off x="7086600" y="1188720"/>
            <a:ext cx="4754880" cy="3278679"/>
          </a:xfrm>
          <a:prstGeom prst="rect">
            <a:avLst/>
          </a:prstGeom>
        </p:spPr>
      </p:pic>
      <p:sp>
        <p:nvSpPr>
          <p:cNvPr id="5"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Is it the same disease?</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3447288"/>
                <a:gridCol w="2057400"/>
                <a:gridCol w="2478024"/>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Jaundice to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Hyperacute (&lt; 1 week)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Acute (1 to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Subacute (4 to 12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Typical causes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Acetaminophen, HAV, HEV,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DILI, AIH, unknown cause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Less 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Spontaneous recovery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More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Intermediate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Less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pic>
        <p:nvPicPr>
          <p:cNvPr id="5" name="Image 0" descr="Watercolor of an empty hospital bed sitting up, with a cup of water, a book and a phone on the tray table">    </p:cNvPr>
          <p:cNvPicPr>
            <a:picLocks noChangeAspect="1"/>
          </p:cNvPicPr>
          <p:nvPr/>
        </p:nvPicPr>
        <p:blipFill>
          <a:blip r:embed="rId1"/>
          <a:stretch>
            <a:fillRect/>
          </a:stretch>
        </p:blipFill>
        <p:spPr>
          <a:xfrm>
            <a:off x="4054741" y="2514600"/>
            <a:ext cx="408221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8/58</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9/58</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Watercolor anatomical figure showing the brain, lungs, heart, liver, pancreas, adrenals, kidneys, spleen and bone marrow">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Text 1"/>
          <p:cNvSpPr txBox="1"/>
          <p:nvPr/>
        </p:nvSpPr>
        <p:spPr>
          <a:xfrm>
            <a:off x="8092440" y="5943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Brain</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encephalopathy, cerebral edema</a:t>
            </a:r>
            <a:endParaRPr lang="en-US" sz="1800" dirty="0"/>
          </a:p>
        </p:txBody>
      </p:sp>
      <p:sp>
        <p:nvSpPr>
          <p:cNvPr id="5" name="Leader"/>
          <p:cNvSpPr/>
          <p:nvPr/>
        </p:nvSpPr>
        <p:spPr>
          <a:xfrm flipH="1">
            <a:off x="5989320" y="914400"/>
            <a:ext cx="2011680" cy="914"/>
          </a:xfrm>
          <a:prstGeom prst="line">
            <a:avLst/>
          </a:prstGeom>
          <a:noFill/>
          <a:ln w="12700">
            <a:solidFill>
              <a:srgbClr val="595959"/>
            </a:solidFill>
            <a:prstDash val="solid"/>
            <a:tailEnd type="oval"/>
          </a:ln>
        </p:spPr>
      </p:sp>
      <p:sp>
        <p:nvSpPr>
          <p:cNvPr id="6" name="Text 3"/>
          <p:cNvSpPr txBox="1"/>
          <p:nvPr/>
        </p:nvSpPr>
        <p:spPr>
          <a:xfrm>
            <a:off x="457200" y="242316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Lungs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ARDS</a:t>
            </a:r>
            <a:endParaRPr lang="en-US" sz="1800" dirty="0"/>
          </a:p>
        </p:txBody>
      </p:sp>
      <p:sp>
        <p:nvSpPr>
          <p:cNvPr id="7" name="Leader"/>
          <p:cNvSpPr/>
          <p:nvPr/>
        </p:nvSpPr>
        <p:spPr>
          <a:xfrm>
            <a:off x="4206240" y="2743200"/>
            <a:ext cx="1271016" cy="128016"/>
          </a:xfrm>
          <a:prstGeom prst="line">
            <a:avLst/>
          </a:prstGeom>
          <a:noFill/>
          <a:ln w="12700">
            <a:solidFill>
              <a:srgbClr val="595959"/>
            </a:solidFill>
            <a:prstDash val="solid"/>
            <a:tailEnd type="oval"/>
          </a:ln>
        </p:spPr>
      </p:sp>
      <p:sp>
        <p:nvSpPr>
          <p:cNvPr id="8" name="Text 5"/>
          <p:cNvSpPr txBox="1"/>
          <p:nvPr/>
        </p:nvSpPr>
        <p:spPr>
          <a:xfrm>
            <a:off x="8092440" y="233172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Heart and vessels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vasodilatory shock</a:t>
            </a:r>
            <a:endParaRPr lang="en-US" sz="1800" dirty="0"/>
          </a:p>
        </p:txBody>
      </p:sp>
      <p:sp>
        <p:nvSpPr>
          <p:cNvPr id="9" name="Leader"/>
          <p:cNvSpPr/>
          <p:nvPr/>
        </p:nvSpPr>
        <p:spPr>
          <a:xfrm flipH="1">
            <a:off x="6172200" y="2651760"/>
            <a:ext cx="1828800" cy="365760"/>
          </a:xfrm>
          <a:prstGeom prst="line">
            <a:avLst/>
          </a:prstGeom>
          <a:noFill/>
          <a:ln w="12700">
            <a:solidFill>
              <a:srgbClr val="595959"/>
            </a:solidFill>
            <a:prstDash val="solid"/>
            <a:tailEnd type="oval"/>
          </a:ln>
        </p:spPr>
      </p:sp>
      <p:sp>
        <p:nvSpPr>
          <p:cNvPr id="10" name="Text 7"/>
          <p:cNvSpPr txBox="1"/>
          <p:nvPr/>
        </p:nvSpPr>
        <p:spPr>
          <a:xfrm>
            <a:off x="457200" y="342900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Liver</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hypoglycemia, lactate, INR</a:t>
            </a:r>
            <a:endParaRPr lang="en-US" sz="1800" dirty="0"/>
          </a:p>
        </p:txBody>
      </p:sp>
      <p:sp>
        <p:nvSpPr>
          <p:cNvPr id="11" name="Leader"/>
          <p:cNvSpPr/>
          <p:nvPr/>
        </p:nvSpPr>
        <p:spPr>
          <a:xfrm>
            <a:off x="4206240" y="3749040"/>
            <a:ext cx="1371600" cy="137160"/>
          </a:xfrm>
          <a:prstGeom prst="line">
            <a:avLst/>
          </a:prstGeom>
          <a:noFill/>
          <a:ln w="12700">
            <a:solidFill>
              <a:srgbClr val="595959"/>
            </a:solidFill>
            <a:prstDash val="solid"/>
            <a:tailEnd type="oval"/>
          </a:ln>
        </p:spPr>
      </p:sp>
      <p:sp>
        <p:nvSpPr>
          <p:cNvPr id="12" name="Text 9"/>
          <p:cNvSpPr txBox="1"/>
          <p:nvPr/>
        </p:nvSpPr>
        <p:spPr>
          <a:xfrm>
            <a:off x="8092440" y="320040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Spleen and immune system</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infection</a:t>
            </a:r>
            <a:endParaRPr lang="en-US" sz="1800" dirty="0"/>
          </a:p>
        </p:txBody>
      </p:sp>
      <p:sp>
        <p:nvSpPr>
          <p:cNvPr id="13" name="Leader"/>
          <p:cNvSpPr/>
          <p:nvPr/>
        </p:nvSpPr>
        <p:spPr>
          <a:xfrm flipH="1">
            <a:off x="6711696" y="3520440"/>
            <a:ext cx="1289304" cy="292608"/>
          </a:xfrm>
          <a:prstGeom prst="line">
            <a:avLst/>
          </a:prstGeom>
          <a:noFill/>
          <a:ln w="12700">
            <a:solidFill>
              <a:srgbClr val="595959"/>
            </a:solidFill>
            <a:prstDash val="solid"/>
            <a:tailEnd type="oval"/>
          </a:ln>
        </p:spPr>
      </p:sp>
      <p:sp>
        <p:nvSpPr>
          <p:cNvPr id="14" name="Text 11"/>
          <p:cNvSpPr txBox="1"/>
          <p:nvPr/>
        </p:nvSpPr>
        <p:spPr>
          <a:xfrm>
            <a:off x="8092440" y="406908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Adrenals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relative insufficiency</a:t>
            </a:r>
            <a:endParaRPr lang="en-US" sz="1800" dirty="0"/>
          </a:p>
        </p:txBody>
      </p:sp>
      <p:sp>
        <p:nvSpPr>
          <p:cNvPr id="15" name="Leader"/>
          <p:cNvSpPr/>
          <p:nvPr/>
        </p:nvSpPr>
        <p:spPr>
          <a:xfrm flipH="1" flipV="1">
            <a:off x="6464808" y="4224528"/>
            <a:ext cx="1536192" cy="164592"/>
          </a:xfrm>
          <a:prstGeom prst="line">
            <a:avLst/>
          </a:prstGeom>
          <a:noFill/>
          <a:ln w="12700">
            <a:solidFill>
              <a:srgbClr val="595959"/>
            </a:solidFill>
            <a:prstDash val="solid"/>
            <a:tailEnd type="oval"/>
          </a:ln>
        </p:spPr>
      </p:sp>
      <p:sp>
        <p:nvSpPr>
          <p:cNvPr id="16" name="Text 13"/>
          <p:cNvSpPr txBox="1"/>
          <p:nvPr/>
        </p:nvSpPr>
        <p:spPr>
          <a:xfrm>
            <a:off x="457200" y="429768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Kidneys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AKI</a:t>
            </a:r>
            <a:endParaRPr lang="en-US" sz="1800" dirty="0"/>
          </a:p>
        </p:txBody>
      </p:sp>
      <p:sp>
        <p:nvSpPr>
          <p:cNvPr id="17" name="Leader"/>
          <p:cNvSpPr/>
          <p:nvPr/>
        </p:nvSpPr>
        <p:spPr>
          <a:xfrm flipV="1">
            <a:off x="4206240" y="4544568"/>
            <a:ext cx="1426464" cy="73152"/>
          </a:xfrm>
          <a:prstGeom prst="line">
            <a:avLst/>
          </a:prstGeom>
          <a:noFill/>
          <a:ln w="12700">
            <a:solidFill>
              <a:srgbClr val="595959"/>
            </a:solidFill>
            <a:prstDash val="solid"/>
            <a:tailEnd type="oval"/>
          </a:ln>
        </p:spPr>
      </p:sp>
      <p:sp>
        <p:nvSpPr>
          <p:cNvPr id="18" name="Text 15"/>
          <p:cNvSpPr txBox="1"/>
          <p:nvPr/>
        </p:nvSpPr>
        <p:spPr>
          <a:xfrm>
            <a:off x="8092440" y="49377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Pancreas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pancreatitis</a:t>
            </a:r>
            <a:endParaRPr lang="en-US" sz="1800" dirty="0"/>
          </a:p>
        </p:txBody>
      </p:sp>
      <p:sp>
        <p:nvSpPr>
          <p:cNvPr id="19" name="Leader"/>
          <p:cNvSpPr/>
          <p:nvPr/>
        </p:nvSpPr>
        <p:spPr>
          <a:xfrm flipH="1" flipV="1">
            <a:off x="6172200" y="4224528"/>
            <a:ext cx="1828800" cy="1033272"/>
          </a:xfrm>
          <a:prstGeom prst="line">
            <a:avLst/>
          </a:prstGeom>
          <a:noFill/>
          <a:ln w="12700">
            <a:solidFill>
              <a:srgbClr val="595959"/>
            </a:solidFill>
            <a:prstDash val="solid"/>
            <a:tailEnd type="oval"/>
          </a:ln>
        </p:spPr>
      </p:sp>
      <p:sp>
        <p:nvSpPr>
          <p:cNvPr id="20" name="Text 17"/>
          <p:cNvSpPr txBox="1"/>
          <p:nvPr/>
        </p:nvSpPr>
        <p:spPr>
          <a:xfrm>
            <a:off x="457200" y="534924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Bone marrow</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suppression</a:t>
            </a:r>
            <a:endParaRPr lang="en-US" sz="1800" dirty="0"/>
          </a:p>
        </p:txBody>
      </p:sp>
      <p:sp>
        <p:nvSpPr>
          <p:cNvPr id="21" name="Leader"/>
          <p:cNvSpPr/>
          <p:nvPr/>
        </p:nvSpPr>
        <p:spPr>
          <a:xfrm>
            <a:off x="4206240" y="5669280"/>
            <a:ext cx="1124712" cy="365760"/>
          </a:xfrm>
          <a:prstGeom prst="line">
            <a:avLst/>
          </a:prstGeom>
          <a:noFill/>
          <a:ln w="12700">
            <a:solidFill>
              <a:srgbClr val="595959"/>
            </a:solidFill>
            <a:prstDash val="solid"/>
            <a:tailEnd type="oval"/>
          </a:ln>
        </p:spPr>
      </p:sp>
      <p:sp>
        <p:nvSpPr>
          <p:cNvPr id="22" name="Source"/>
          <p:cNvSpPr txBox="1"/>
          <p:nvPr/>
        </p:nvSpPr>
        <p:spPr>
          <a:xfrm>
            <a:off x="411480" y="6217920"/>
            <a:ext cx="3931920" cy="45720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content after Bernal W, Wendon J.</a:t>
            </a:r>
            <a:endParaRPr lang="en-US" sz="1000" dirty="0"/>
          </a:p>
          <a:p>
            <a:pPr indent="0" marL="0">
              <a:buNone/>
            </a:pPr>
            <a:r>
              <a:rPr lang="en-US" sz="1000" i="1" dirty="0">
                <a:solidFill>
                  <a:srgbClr val="595959"/>
                </a:solidFill>
                <a:latin typeface="Georgia" pitchFamily="34" charset="0"/>
                <a:ea typeface="Georgia" pitchFamily="34" charset="-122"/>
                <a:cs typeface="Georgia" pitchFamily="34" charset="-120"/>
              </a:rPr>
              <a:t>N Engl J Med 2013;369:2525-34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9/58</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10/58</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first hour</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097280" y="1554480"/>
          <a:ext cx="9997135" cy="914400"/>
        </p:xfrm>
        <a:graphic>
          <a:graphicData uri="http://schemas.openxmlformats.org/drawingml/2006/table">
            <a:tbl>
              <a:tblPr/>
              <a:tblGrid>
                <a:gridCol w="4151376"/>
                <a:gridCol w="5843016"/>
              </a:tblGrid>
              <a:tr h="618134">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Support</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Workup</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9392">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ICU bed</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Glucose every 1 to 2 hours</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Volume, perfusion, lactate</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Neuro checks</a:t>
                      </a:r>
                      <a:endParaRPr lang="en-US" sz="26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Acetaminophen level</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Viral, autoimmune, Wilson, toxicology</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Doppler ultrasound</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Pregnancy test</a:t>
                      </a:r>
                      <a:endParaRPr lang="en-US" sz="26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Send the workup while you resuscitate</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11/58</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12/58</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NAC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IV acyclovir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Entecavir or tenofovir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Steroids with hepatology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Urgent 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Obstetrics: delivery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Anticoagulate; TIPS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Fix the circulation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NAC, silibinin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12/58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548640" y="3703320"/>
            <a:ext cx="6858000" cy="256032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No.</a:t>
            </a:r>
            <a:r>
              <a:rPr lang="en-US" sz="20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000" dirty="0"/>
          </a:p>
          <a:p>
            <a:pPr marL="228600" indent="-228600">
              <a:spcBef>
                <a:spcPts val="800"/>
              </a:spcBef>
              <a:buSzPct val="100000"/>
              <a:buChar char="–"/>
            </a:pPr>
            <a:r>
              <a:rPr lang="en-US" sz="20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13/58</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14/58</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14/58</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15/58</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16/58</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16/58</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17/58</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Watercolor of a normal human brain, side view,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669280" y="411480"/>
            <a:ext cx="6309360" cy="731520"/>
          </a:xfrm>
          <a:prstGeom prst="rect">
            <a:avLst/>
          </a:prstGeom>
          <a:noFill/>
          <a:ln/>
        </p:spPr>
        <p:txBody>
          <a:bodyPr wrap="square" lIns="0" tIns="0" rIns="0" bIns="0"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ALF vs cirrhosis</a:t>
            </a:r>
            <a:endParaRPr lang="en-US" sz="3000" dirty="0"/>
          </a:p>
        </p:txBody>
      </p:sp>
      <p:sp>
        <p:nvSpPr>
          <p:cNvPr id="4" name="Question"/>
          <p:cNvSpPr txBox="1"/>
          <p:nvPr/>
        </p:nvSpPr>
        <p:spPr>
          <a:xfrm>
            <a:off x="6035040" y="2377440"/>
            <a:ext cx="5577840" cy="182880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18/58</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ALF vs cirrhosis</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18/58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19/58</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19/58</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pic>
        <p:nvPicPr>
          <p:cNvPr id="5" name="Image 0" descr="Watercolor of a cup and a bottle of lactulose syrup">    </p:cNvPr>
          <p:cNvPicPr>
            <a:picLocks noChangeAspect="1"/>
          </p:cNvPicPr>
          <p:nvPr/>
        </p:nvPicPr>
        <p:blipFill>
          <a:blip r:embed="rId1"/>
          <a:stretch>
            <a:fillRect/>
          </a:stretch>
        </p:blipFill>
        <p:spPr>
          <a:xfrm>
            <a:off x="4275572" y="2514600"/>
            <a:ext cx="364055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20/58</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709160"/>
                <a:gridCol w="60167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people give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not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Ammonia drives brain swelling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proven benefit in ALF (ALFSG)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It's what we do in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Distended bowel gets in the way at transplant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Cheap; AASLD 2011 allowed it early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Diarrhea: free water loss, sodium swings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Liquid by mouth or tube: aspiration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20/58</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640080" y="1645920"/>
            <a:ext cx="5760720"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pic>
        <p:nvPicPr>
          <p:cNvPr id="4" name="Image 0" descr="Watercolor of a nasal cannula on a wall oxygen flowmeter and a suction tip">    </p:cNvPr>
          <p:cNvPicPr>
            <a:picLocks noChangeAspect="1"/>
          </p:cNvPicPr>
          <p:nvPr/>
        </p:nvPicPr>
        <p:blipFill>
          <a:blip r:embed="rId1"/>
          <a:stretch>
            <a:fillRect/>
          </a:stretch>
        </p:blipFill>
        <p:spPr>
          <a:xfrm>
            <a:off x="6629400" y="1188720"/>
            <a:ext cx="5212080" cy="5092947"/>
          </a:xfrm>
          <a:prstGeom prst="rect">
            <a:avLst/>
          </a:prstGeom>
        </p:spPr>
      </p:pic>
      <p:sp>
        <p:nvSpPr>
          <p:cNvPr id="5" name="Question"/>
          <p:cNvSpPr txBox="1"/>
          <p:nvPr/>
        </p:nvSpPr>
        <p:spPr>
          <a:xfrm>
            <a:off x="640080" y="3931920"/>
            <a:ext cx="5760720" cy="109728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21/58</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319272"/>
                <a:gridCol w="3218688"/>
                <a:gridCol w="4187952"/>
              </a:tblGrid>
              <a:tr h="451714">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Before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During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055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Preoxygenate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Norepinephrine ready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glucose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Head of bed 30°, neck neutral</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Avoid hypotension (CPP)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 coughing or bucking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Most experienced operator</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Propofol: short-acting, may lower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Avoid long-acting benzodiazepines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pupils: sedation hides the exam</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21/58</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pic>
        <p:nvPicPr>
          <p:cNvPr id="5" name="Image 0" descr="Watercolor of an ICU ventilator">    </p:cNvPr>
          <p:cNvPicPr>
            <a:picLocks noChangeAspect="1"/>
          </p:cNvPicPr>
          <p:nvPr/>
        </p:nvPicPr>
        <p:blipFill>
          <a:blip r:embed="rId1"/>
          <a:stretch>
            <a:fillRect/>
          </a:stretch>
        </p:blipFill>
        <p:spPr>
          <a:xfrm>
            <a:off x="4718855" y="2514600"/>
            <a:ext cx="2753985"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22/58</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56816"/>
                <a:gridCol w="2331720"/>
                <a:gridCol w="3200400"/>
                <a:gridCol w="3419856"/>
              </a:tblGrid>
              <a:tr h="45171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For the lungs (ARDS)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For the brain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we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Tidal volume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PBW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Watch the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raise the rate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Tolerate a high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CO2 raises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Keep the CO2 normal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Hyperventilation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Lowers ICP briefly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Short rescue for herniation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PEEP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Recruit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PEEP: less venous return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Set for O2 and BP; PEEP is fine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22/58</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23/58</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457200" y="1325880"/>
            <a:ext cx="667512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Head of bed 30°, neck neutral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fever, avoid hypoglycemia</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Sodium </a:t>
            </a:r>
            <a:r>
              <a:rPr lang="en-US" sz="2000" b="1" dirty="0">
                <a:solidFill>
                  <a:srgbClr val="000000"/>
                </a:solidFill>
                <a:latin typeface="Georgia" pitchFamily="34" charset="0"/>
                <a:ea typeface="Georgia" pitchFamily="34" charset="-122"/>
                <a:cs typeface="Georgia" pitchFamily="34" charset="-120"/>
              </a:rPr>
              <a:t>145 to 155 mmol/L</a:t>
            </a:r>
            <a:r>
              <a:rPr lang="en-US" sz="2000" dirty="0">
                <a:solidFill>
                  <a:srgbClr val="000000"/>
                </a:solidFill>
                <a:latin typeface="Georgia" pitchFamily="34" charset="0"/>
                <a:ea typeface="Georgia" pitchFamily="34" charset="-122"/>
                <a:cs typeface="Georgia" pitchFamily="34" charset="-120"/>
              </a:rPr>
              <a:t> with hypertonic saline (use your center's protocol)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Avoid fluid overload</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seizures, EEG if in doubt. No routine prophylaxis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0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7269480" y="1280160"/>
            <a:ext cx="4617720" cy="37594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24/58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Rising ICP: hypertension, bradycardia, a new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6949440" y="1280160"/>
            <a:ext cx="4937760" cy="31482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25/58</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pic>
        <p:nvPicPr>
          <p:cNvPr id="5" name="Image 0" descr="Watercolor of a urine drainage bag with a little dark urine">    </p:cNvPr>
          <p:cNvPicPr>
            <a:picLocks noChangeAspect="1"/>
          </p:cNvPicPr>
          <p:nvPr/>
        </p:nvPicPr>
        <p:blipFill>
          <a:blip r:embed="rId1"/>
          <a:stretch>
            <a:fillRect/>
          </a:stretch>
        </p:blipFill>
        <p:spPr>
          <a:xfrm>
            <a:off x="4198216" y="2514600"/>
            <a:ext cx="3795262"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26/58</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86384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9345918" y="2377440"/>
            <a:ext cx="1882165" cy="393192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26/58</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pic>
        <p:nvPicPr>
          <p:cNvPr id="5" name="Image 0" descr="Watercolor of a unit of fresh frozen plasma">    </p:cNvPr>
          <p:cNvPicPr>
            <a:picLocks noChangeAspect="1"/>
          </p:cNvPicPr>
          <p:nvPr/>
        </p:nvPicPr>
        <p:blipFill>
          <a:blip r:embed="rId1"/>
          <a:stretch>
            <a:fillRect/>
          </a:stretch>
        </p:blipFill>
        <p:spPr>
          <a:xfrm>
            <a:off x="5019602" y="2514600"/>
            <a:ext cx="2152490"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27/58</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27/58</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sp>
        <p:nvSpPr>
          <p:cNvPr id="4" name="Body"/>
          <p:cNvSpPr txBox="1"/>
          <p:nvPr/>
        </p:nvSpPr>
        <p:spPr>
          <a:xfrm>
            <a:off x="7680960" y="1371600"/>
            <a:ext cx="4206240" cy="402336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28/58</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graphicFrame>
        <p:nvGraphicFramePr>
          <p:cNvPr id="4" name="Chart 0" descr=""/>
          <p:cNvGraphicFramePr/>
          <p:nvPr/>
        </p:nvGraphicFramePr>
        <p:xfrm>
          <a:off x="7589520" y="1188720"/>
          <a:ext cx="4343400" cy="265176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7680960" y="3886200"/>
            <a:ext cx="4206240" cy="1691640"/>
          </a:xfrm>
          <a:prstGeom prst="rect">
            <a:avLst/>
          </a:prstGeom>
          <a:noFill/>
          <a:ln/>
        </p:spPr>
        <p:txBody>
          <a:bodyPr wrap="square" lIns="50800" tIns="50800" rIns="50800" bIns="50800" rtlCol="0" anchor="t"/>
          <a:lstStyle/>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Encephalopathy: stronger clots, not weaker</a:t>
            </a:r>
            <a:endParaRPr lang="en-US" sz="1600" dirty="0"/>
          </a:p>
        </p:txBody>
      </p:sp>
      <p:sp>
        <p:nvSpPr>
          <p:cNvPr id="6"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28/58</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Balance scale: low factors II, V, VII, IX, X, low fibrinogen and low platelets favor bleeding; low protein C, S and antithrombin and high factor VIII and von Willebrand factor favor clotting">    </p:cNvPr>
          <p:cNvPicPr>
            <a:picLocks noChangeAspect="1"/>
          </p:cNvPicPr>
          <p:nvPr/>
        </p:nvPicPr>
        <p:blipFill>
          <a:blip r:embed="rId1"/>
          <a:stretch>
            <a:fillRect/>
          </a:stretch>
        </p:blipFill>
        <p:spPr>
          <a:xfrm>
            <a:off x="-45720" y="0"/>
            <a:ext cx="12280392" cy="6858000"/>
          </a:xfrm>
          <a:prstGeom prst="rect">
            <a:avLst/>
          </a:prstGeom>
        </p:spPr>
      </p:pic>
      <p:sp>
        <p:nvSpPr>
          <p:cNvPr id="3" name="Source"/>
          <p:cNvSpPr txBox="1"/>
          <p:nvPr/>
        </p:nvSpPr>
        <p:spPr>
          <a:xfrm>
            <a:off x="365760" y="6510528"/>
            <a:ext cx="3657600" cy="256032"/>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29/58</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What do you ask them for?</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30/58</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Body"/>
          <p:cNvSpPr txBox="1"/>
          <p:nvPr/>
        </p:nvSpPr>
        <p:spPr>
          <a:xfrm>
            <a:off x="640080" y="1463040"/>
            <a:ext cx="7680960" cy="4389120"/>
          </a:xfrm>
          <a:prstGeom prst="rect">
            <a:avLst/>
          </a:prstGeom>
          <a:noFill/>
          <a:ln/>
        </p:spPr>
        <p:txBody>
          <a:bodyPr wrap="square" lIns="50800" tIns="50800" rIns="50800" bIns="50800" rtlCol="0" anchor="t"/>
          <a:lstStyle/>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Indication: ammonia 214 and grade III encephalopathy. The creatinine doesn't matter here</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Start now and keep it running. A clotted filter means the ammonia climbs back</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One sodium plan: the CRRT fluid and the hypertonic saline together</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Watch phosphate and potassium, and calcium if they use citrate</a:t>
            </a:r>
            <a:endParaRPr lang="en-US" sz="2200" dirty="0"/>
          </a:p>
        </p:txBody>
      </p:sp>
      <p:pic>
        <p:nvPicPr>
          <p:cNvPr id="4" name="Image 0" descr="Watercolor of a CRRT machine with filter and circuit">    </p:cNvPr>
          <p:cNvPicPr>
            <a:picLocks noChangeAspect="1"/>
          </p:cNvPicPr>
          <p:nvPr/>
        </p:nvPicPr>
        <p:blipFill>
          <a:blip r:embed="rId1"/>
          <a:stretch>
            <a:fillRect/>
          </a:stretch>
        </p:blipFill>
        <p:spPr>
          <a:xfrm>
            <a:off x="8946130" y="1188720"/>
            <a:ext cx="2407420" cy="5029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30/58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31/58</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32/58</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Dwight Schrute: False.">    </p:cNvPr>
          <p:cNvPicPr>
            <a:picLocks noChangeAspect="1"/>
          </p:cNvPicPr>
          <p:nvPr/>
        </p:nvPicPr>
        <p:blipFill>
          <a:blip r:embed="rId1"/>
          <a:stretch>
            <a:fillRect/>
          </a:stretch>
        </p:blipFill>
        <p:spPr>
          <a:xfrm>
            <a:off x="1565914" y="411480"/>
            <a:ext cx="9059866" cy="6035040"/>
          </a:xfrm>
          <a:prstGeom prst="rect">
            <a:avLst/>
          </a:prstGeom>
        </p:spPr>
      </p:pic>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32/58</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What matters is the effluent dose and hours on a working circuit, more than the mode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32/58</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33/58</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Lower ammonia, better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Same 28-day survival; fewer deaths by day 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Association; selection bias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Small, one center, protocol violations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33/58</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34/58</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34/58</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205740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045971" y="2788920"/>
            <a:ext cx="4099753" cy="35204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35/58</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13232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Patient A: arterial pH </a:t>
            </a:r>
            <a:r>
              <a:rPr lang="en-US" sz="2000" b="1" dirty="0">
                <a:solidFill>
                  <a:srgbClr val="C00000"/>
                </a:solidFill>
                <a:latin typeface="Georgia" pitchFamily="34" charset="0"/>
                <a:ea typeface="Georgia" pitchFamily="34" charset="-122"/>
                <a:cs typeface="Georgia" pitchFamily="34" charset="-120"/>
              </a:rPr>
              <a:t>7.26</a:t>
            </a:r>
            <a:r>
              <a:rPr lang="en-US" sz="20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000" dirty="0"/>
          </a:p>
        </p:txBody>
      </p:sp>
      <p:pic>
        <p:nvPicPr>
          <p:cNvPr id="5" name="Image 0" descr="Watercolor of a desk phone with the handset off the hook">    </p:cNvPr>
          <p:cNvPicPr>
            <a:picLocks noChangeAspect="1"/>
          </p:cNvPicPr>
          <p:nvPr/>
        </p:nvPicPr>
        <p:blipFill>
          <a:blip r:embed="rId1"/>
          <a:stretch>
            <a:fillRect/>
          </a:stretch>
        </p:blipFill>
        <p:spPr>
          <a:xfrm>
            <a:off x="7863840" y="2286000"/>
            <a:ext cx="4023360" cy="3454842"/>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35/58</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plasma exchange help in ALF?</a:t>
            </a:r>
            <a:endParaRPr lang="en-US" sz="3000" dirty="0"/>
          </a:p>
        </p:txBody>
      </p:sp>
      <p:graphicFrame>
        <p:nvGraphicFramePr>
          <p:cNvPr id="60" name="Table"/>
          <p:cNvGraphicFramePr>
            <a:graphicFrameLocks noGrp="1"/>
          </p:cNvGraphicFramePr>
          <p:nvPr>
            <p:extLst>
              <p:ext uri="{D42A27DB-BD31-4B8C-83A1-F6EECF244321}">
                <p14:modId xmlns:p14="http://schemas.microsoft.com/office/powerpoint/2010/main" val="1579011935"/>
              </p:ext>
            </p:extLst>
          </p:nvPr>
        </p:nvGraphicFramePr>
        <p:xfrm>
          <a:off x="365760" y="1371600"/>
          <a:ext cx="7955280" cy="914400"/>
        </p:xfrm>
        <a:graphic>
          <a:graphicData uri="http://schemas.openxmlformats.org/drawingml/2006/table">
            <a:tbl>
              <a:tblPr/>
              <a:tblGrid>
                <a:gridCol w="1847088"/>
                <a:gridCol w="2569464"/>
                <a:gridCol w="3538728"/>
              </a:tblGrid>
              <a:tr h="64008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Larsen 2016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Burke 2025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RCT, 182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UK, 7 centers, 378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Plasma exchange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High volume × 3 days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120 patients, matched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Survival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58.7% vs 47.8% (HR 0.56)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51.4% vs 62.6% (p = 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blinded; 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Retrospective; sicker patients got 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365760" y="5120640"/>
            <a:ext cx="7955280"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Better blood pressure, no proven survival benefit</a:t>
            </a:r>
            <a:endParaRPr lang="en-US" sz="2200" dirty="0"/>
          </a:p>
        </p:txBody>
      </p:sp>
      <p:pic>
        <p:nvPicPr>
          <p:cNvPr id="5" name="Image 0" descr="Watercolor of an apheresis machine for plasma exchange">    </p:cNvPr>
          <p:cNvPicPr>
            <a:picLocks noChangeAspect="1"/>
          </p:cNvPicPr>
          <p:nvPr/>
        </p:nvPicPr>
        <p:blipFill>
          <a:blip r:embed="rId1"/>
          <a:stretch>
            <a:fillRect/>
          </a:stretch>
        </p:blipFill>
        <p:spPr>
          <a:xfrm>
            <a:off x="8503920" y="1143000"/>
            <a:ext cx="3429000" cy="4316674"/>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 Burke L et al. J Hepatol 2025;82:615-21 [PMID: 39362282]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36/58</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Bed 4 on day 3</a:t>
            </a:r>
            <a:endParaRPr lang="en-US" sz="3000" dirty="0"/>
          </a:p>
        </p:txBody>
      </p:sp>
      <p:graphicFrame>
        <p:nvGraphicFramePr>
          <p:cNvPr id="61"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282696"/>
                <a:gridCol w="4654296"/>
                <a:gridCol w="2971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Problem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she's 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we watch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ALF, pH 7.26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NAC; listed 1A on day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Time to an offer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 III-IV, ammonia 182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Intubated, CO2 normal, Na 145-155,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Pupils, ammonia, 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Lactate 5.8 and rising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Volume, MAP, look for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Lactate, MAP, pressors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INR 5.6,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plasma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Bleeding, INR trend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Infection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Surveillance cultures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 bar for antimicrobials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37/58</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38/58</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39/58</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40/58</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40/58</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pic>
        <p:nvPicPr>
          <p:cNvPr id="4" name="Image 0" descr="Watercolor of a thin man in a hospital bed with a tense, distended abdomen">    </p:cNvPr>
          <p:cNvPicPr>
            <a:picLocks noChangeAspect="1"/>
          </p:cNvPicPr>
          <p:nvPr/>
        </p:nvPicPr>
        <p:blipFill>
          <a:blip r:embed="rId1"/>
          <a:stretch>
            <a:fillRect/>
          </a:stretch>
        </p:blipFill>
        <p:spPr>
          <a:xfrm>
            <a:off x="3241445" y="2148840"/>
            <a:ext cx="5708805" cy="420624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41/58</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31520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7863840" y="1371600"/>
            <a:ext cx="4023360" cy="398627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41/58</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42/58</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Watercolor figure of a man with cirrhosis showing the heart, IVC, nodular liver, varices, adrenals, ascites and dilated mesenteric vessels">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4" name="Text 1"/>
          <p:cNvSpPr txBox="1"/>
          <p:nvPr/>
        </p:nvSpPr>
        <p:spPr>
          <a:xfrm>
            <a:off x="274320" y="21031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Too little volume, or too much</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Ultrasound and dynamic measures</a:t>
            </a:r>
            <a:endParaRPr lang="en-US" sz="1800" dirty="0"/>
          </a:p>
        </p:txBody>
      </p:sp>
      <p:sp>
        <p:nvSpPr>
          <p:cNvPr id="5" name="Leader"/>
          <p:cNvSpPr/>
          <p:nvPr/>
        </p:nvSpPr>
        <p:spPr>
          <a:xfrm>
            <a:off x="4754880" y="2514600"/>
            <a:ext cx="1234440" cy="777240"/>
          </a:xfrm>
          <a:prstGeom prst="line">
            <a:avLst/>
          </a:prstGeom>
          <a:noFill/>
          <a:ln w="12700">
            <a:solidFill>
              <a:srgbClr val="595959"/>
            </a:solidFill>
            <a:prstDash val="solid"/>
            <a:tailEnd type="oval"/>
          </a:ln>
        </p:spPr>
      </p:sp>
      <p:sp>
        <p:nvSpPr>
          <p:cNvPr id="6" name="Text 3"/>
          <p:cNvSpPr txBox="1"/>
          <p:nvPr/>
        </p:nvSpPr>
        <p:spPr>
          <a:xfrm>
            <a:off x="274320" y="46177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Sepsis (SBP)</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Cultures, antibiotics within 1 h, source control</a:t>
            </a:r>
            <a:endParaRPr lang="en-US" sz="1800" dirty="0"/>
          </a:p>
        </p:txBody>
      </p:sp>
      <p:sp>
        <p:nvSpPr>
          <p:cNvPr id="7" name="Leader"/>
          <p:cNvSpPr/>
          <p:nvPr/>
        </p:nvSpPr>
        <p:spPr>
          <a:xfrm>
            <a:off x="4754880" y="5029200"/>
            <a:ext cx="685800" cy="685800"/>
          </a:xfrm>
          <a:prstGeom prst="line">
            <a:avLst/>
          </a:prstGeom>
          <a:noFill/>
          <a:ln w="12700">
            <a:solidFill>
              <a:srgbClr val="595959"/>
            </a:solidFill>
            <a:prstDash val="solid"/>
            <a:tailEnd type="oval"/>
          </a:ln>
        </p:spPr>
      </p:sp>
      <p:sp>
        <p:nvSpPr>
          <p:cNvPr id="8" name="Text 5"/>
          <p:cNvSpPr txBox="1"/>
          <p:nvPr/>
        </p:nvSpPr>
        <p:spPr>
          <a:xfrm>
            <a:off x="7772400" y="17830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Cirrhotic cardiomyopathy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Echo</a:t>
            </a:r>
            <a:endParaRPr lang="en-US" sz="1800" dirty="0"/>
          </a:p>
        </p:txBody>
      </p:sp>
      <p:sp>
        <p:nvSpPr>
          <p:cNvPr id="9" name="Leader"/>
          <p:cNvSpPr/>
          <p:nvPr/>
        </p:nvSpPr>
        <p:spPr>
          <a:xfrm flipH="1">
            <a:off x="6583680" y="2194560"/>
            <a:ext cx="1097280" cy="731520"/>
          </a:xfrm>
          <a:prstGeom prst="line">
            <a:avLst/>
          </a:prstGeom>
          <a:noFill/>
          <a:ln w="12700">
            <a:solidFill>
              <a:srgbClr val="595959"/>
            </a:solidFill>
            <a:prstDash val="solid"/>
            <a:tailEnd type="oval"/>
          </a:ln>
        </p:spPr>
      </p:sp>
      <p:sp>
        <p:nvSpPr>
          <p:cNvPr id="10" name="Text 7"/>
          <p:cNvSpPr txBox="1"/>
          <p:nvPr/>
        </p:nvSpPr>
        <p:spPr>
          <a:xfrm>
            <a:off x="7772400" y="288036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Hidden bleeding</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Hemoglobin, rectal exam, think varices</a:t>
            </a:r>
            <a:endParaRPr lang="en-US" sz="1800" dirty="0"/>
          </a:p>
        </p:txBody>
      </p:sp>
      <p:sp>
        <p:nvSpPr>
          <p:cNvPr id="11" name="Leader"/>
          <p:cNvSpPr/>
          <p:nvPr/>
        </p:nvSpPr>
        <p:spPr>
          <a:xfrm flipH="1">
            <a:off x="6355080" y="3291840"/>
            <a:ext cx="1325880" cy="347472"/>
          </a:xfrm>
          <a:prstGeom prst="line">
            <a:avLst/>
          </a:prstGeom>
          <a:noFill/>
          <a:ln w="12700">
            <a:solidFill>
              <a:srgbClr val="595959"/>
            </a:solidFill>
            <a:prstDash val="solid"/>
            <a:tailEnd type="oval"/>
          </a:ln>
        </p:spPr>
      </p:sp>
      <p:sp>
        <p:nvSpPr>
          <p:cNvPr id="12" name="Text 9"/>
          <p:cNvSpPr txBox="1"/>
          <p:nvPr/>
        </p:nvSpPr>
        <p:spPr>
          <a:xfrm>
            <a:off x="7772400" y="393192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Relative adrenal insufficiency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Hydrocortisone if shock is refractory</a:t>
            </a:r>
            <a:endParaRPr lang="en-US" sz="1800" dirty="0"/>
          </a:p>
        </p:txBody>
      </p:sp>
      <p:sp>
        <p:nvSpPr>
          <p:cNvPr id="13" name="Leader"/>
          <p:cNvSpPr/>
          <p:nvPr/>
        </p:nvSpPr>
        <p:spPr>
          <a:xfrm flipH="1" flipV="1">
            <a:off x="6446520" y="4050792"/>
            <a:ext cx="1234440" cy="292608"/>
          </a:xfrm>
          <a:prstGeom prst="line">
            <a:avLst/>
          </a:prstGeom>
          <a:noFill/>
          <a:ln w="12700">
            <a:solidFill>
              <a:srgbClr val="595959"/>
            </a:solidFill>
            <a:prstDash val="solid"/>
            <a:tailEnd type="oval"/>
          </a:ln>
        </p:spPr>
      </p:sp>
      <p:sp>
        <p:nvSpPr>
          <p:cNvPr id="14" name="Text 11"/>
          <p:cNvSpPr txBox="1"/>
          <p:nvPr/>
        </p:nvSpPr>
        <p:spPr>
          <a:xfrm>
            <a:off x="7772400" y="49834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Splanchnic vasodilation</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Norepinephrine, MAP 65, adjust to perfusion</a:t>
            </a:r>
            <a:endParaRPr lang="en-US" sz="1800" dirty="0"/>
          </a:p>
        </p:txBody>
      </p:sp>
      <p:sp>
        <p:nvSpPr>
          <p:cNvPr id="15" name="Leader"/>
          <p:cNvSpPr/>
          <p:nvPr/>
        </p:nvSpPr>
        <p:spPr>
          <a:xfrm flipH="1" flipV="1">
            <a:off x="6263640" y="5029200"/>
            <a:ext cx="1417320" cy="365760"/>
          </a:xfrm>
          <a:prstGeom prst="line">
            <a:avLst/>
          </a:prstGeom>
          <a:noFill/>
          <a:ln w="12700">
            <a:solidFill>
              <a:srgbClr val="595959"/>
            </a:solidFill>
            <a:prstDash val="solid"/>
            <a:tailEnd type="oval"/>
          </a:ln>
        </p:spPr>
      </p:sp>
      <p:sp>
        <p:nvSpPr>
          <p:cNvPr id="16" name="Text 13"/>
          <p:cNvSpPr txBox="1"/>
          <p:nvPr/>
        </p:nvSpPr>
        <p:spPr>
          <a:xfrm>
            <a:off x="411480" y="5989320"/>
            <a:ext cx="4937760" cy="411480"/>
          </a:xfrm>
          <a:prstGeom prst="rect">
            <a:avLst/>
          </a:prstGeom>
          <a:noFill/>
          <a:ln/>
        </p:spPr>
        <p:txBody>
          <a:bodyPr wrap="square" lIns="0" tIns="0" rIns="0" bIns="0" rtlCol="0" anchor="ctr"/>
          <a:lstStyle/>
          <a:p>
            <a:pPr algn="l"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Usually more than one of these</a:t>
            </a:r>
            <a:endParaRPr lang="en-US" sz="2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42/58</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0"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43/58</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 or chronic liver disease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1.5 + HE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Ascites, bleeding, HE, jaundice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Decompensation +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sepsis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Bleeding, infection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Infection, shock,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ammonia, early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Treat the trigger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Source, shock, kidney vs lung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Urgent listing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Refer by MELD or complication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Narrow window; reassess daily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43/58</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44/58</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5.8: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2.6: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Grade II: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211: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44/58</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45/58</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pic>
        <p:nvPicPr>
          <p:cNvPr id="5" name="Image 0" descr="Watercolor of a vial of powder and a syringe">    </p:cNvPr>
          <p:cNvPicPr>
            <a:picLocks noChangeAspect="1"/>
          </p:cNvPicPr>
          <p:nvPr/>
        </p:nvPicPr>
        <p:blipFill>
          <a:blip r:embed="rId1"/>
          <a:stretch>
            <a:fillRect/>
          </a:stretch>
        </p:blipFill>
        <p:spPr>
          <a:xfrm>
            <a:off x="3763841" y="2514600"/>
            <a:ext cx="4664014"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46/58</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76"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46/58</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 0.9 → 3.0, urine 10 mL/h</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 L on arrival; too early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C00000"/>
                          </a:solidFill>
                          <a:latin typeface="Calibri" pitchFamily="34" charset="0"/>
                          <a:ea typeface="Calibri" pitchFamily="34" charset="-122"/>
                          <a:cs typeface="Calibri" pitchFamily="34" charset="-120"/>
                        </a:rPr>
                        <a:t>Septic shock on norepinephrine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46/58</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78"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47/58</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look at his oxygen</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47/58</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48/58</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pic>
        <p:nvPicPr>
          <p:cNvPr id="4" name="Image 0" descr="Watercolor of a vial, a bottle of albumin and a dialysis catheter on a tray">    </p:cNvPr>
          <p:cNvPicPr>
            <a:picLocks noChangeAspect="1"/>
          </p:cNvPicPr>
          <p:nvPr/>
        </p:nvPicPr>
        <p:blipFill>
          <a:blip r:embed="rId1"/>
          <a:stretch>
            <a:fillRect/>
          </a:stretch>
        </p:blipFill>
        <p:spPr>
          <a:xfrm>
            <a:off x="3139361" y="2148840"/>
            <a:ext cx="5912974"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49/58</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49/58</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50/58</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84"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1719072"/>
                <a:gridCol w="882396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777 inpatients: albumin to ≥ 30 g/L vs standard care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Infection, kidney dysfunction or death: 29.7% vs 30.2%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The catch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More serious adverse events, including pulmonary edema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51/58</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52/58</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8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52/58</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Transplant in ACLF</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53/58</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 too sick for a transplant?</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ACLF 3 on a ventilator. Would you call?</a:t>
            </a:r>
            <a:endParaRPr lang="en-US" sz="2800" dirty="0"/>
          </a:p>
        </p:txBody>
      </p:sp>
      <p:pic>
        <p:nvPicPr>
          <p:cNvPr id="4" name="Image 0" descr="Watercolor of an ICU bed surrounded by a ventilator, infusion pumps and a CRRT machine">    </p:cNvPr>
          <p:cNvPicPr>
            <a:picLocks noChangeAspect="1"/>
          </p:cNvPicPr>
          <p:nvPr/>
        </p:nvPicPr>
        <p:blipFill>
          <a:blip r:embed="rId1"/>
          <a:stretch>
            <a:fillRect/>
          </a:stretch>
        </p:blipFill>
        <p:spPr>
          <a:xfrm>
            <a:off x="3728380" y="2148840"/>
            <a:ext cx="4734936"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54/58</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 too sick for a transplant?</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if it happens early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makes transplant unlikely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54/58</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55/58</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pic>
        <p:nvPicPr>
          <p:cNvPr id="3" name="Image 0" descr="Watercolor of two empty ICU beds side by side">    </p:cNvPr>
          <p:cNvPicPr>
            <a:picLocks noChangeAspect="1"/>
          </p:cNvPicPr>
          <p:nvPr/>
        </p:nvPicPr>
        <p:blipFill>
          <a:blip r:embed="rId1"/>
          <a:stretch>
            <a:fillRect/>
          </a:stretch>
        </p:blipFill>
        <p:spPr>
          <a:xfrm>
            <a:off x="320040" y="2057400"/>
            <a:ext cx="3840480" cy="2648164"/>
          </a:xfrm>
          <a:prstGeom prst="rect">
            <a:avLst/>
          </a:prstGeom>
        </p:spPr>
      </p:pic>
      <p:sp>
        <p:nvSpPr>
          <p:cNvPr id="4" name="Body"/>
          <p:cNvSpPr txBox="1"/>
          <p:nvPr/>
        </p:nvSpPr>
        <p:spPr>
          <a:xfrm>
            <a:off x="4389120" y="1737360"/>
            <a:ext cx="7589520" cy="4572000"/>
          </a:xfrm>
          <a:prstGeom prst="rect">
            <a:avLst/>
          </a:prstGeom>
          <a:noFill/>
          <a:ln/>
        </p:spPr>
        <p:txBody>
          <a:bodyPr wrap="square" lIns="50800" tIns="50800" rIns="50800" bIns="50800" rtlCol="0" anchor="t"/>
          <a:lstStyle/>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Who needed transplant hepatology before the labs?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did a falling ALT worry us more?</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When is CRRT right before the creatinine rises?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doesn't cirrhosis lactulose data apply to ALF?</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not albumin and terlipressin for bed 7?</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What would make you change yesterday's plan?</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56/58</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Summary</a:t>
            </a:r>
            <a:endParaRPr lang="en-US" sz="3000" dirty="0"/>
          </a:p>
        </p:txBody>
      </p:sp>
      <p:sp>
        <p:nvSpPr>
          <p:cNvPr id="3" name="Body"/>
          <p:cNvSpPr txBox="1"/>
          <p:nvPr/>
        </p:nvSpPr>
        <p:spPr>
          <a:xfrm>
            <a:off x="457200" y="1325880"/>
            <a:ext cx="7040880"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ALF: </a:t>
            </a:r>
            <a:r>
              <a:rPr lang="en-US" sz="2000" b="1" dirty="0">
                <a:solidFill>
                  <a:srgbClr val="000000"/>
                </a:solidFill>
                <a:latin typeface="Georgia" pitchFamily="34" charset="0"/>
                <a:ea typeface="Georgia" pitchFamily="34" charset="-122"/>
                <a:cs typeface="Georgia" pitchFamily="34" charset="-120"/>
              </a:rPr>
              <a:t>protect the brain</a:t>
            </a:r>
            <a:r>
              <a:rPr lang="en-US" sz="20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count the organs, find the trigger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000" dirty="0"/>
          </a:p>
        </p:txBody>
      </p:sp>
      <p:pic>
        <p:nvPicPr>
          <p:cNvPr id="4" name="Image 0" descr="Watercolor of a pocket notebook, a pen and a penlight">    </p:cNvPr>
          <p:cNvPicPr>
            <a:picLocks noChangeAspect="1"/>
          </p:cNvPicPr>
          <p:nvPr/>
        </p:nvPicPr>
        <p:blipFill>
          <a:blip r:embed="rId1"/>
          <a:stretch>
            <a:fillRect/>
          </a:stretch>
        </p:blipFill>
        <p:spPr>
          <a:xfrm>
            <a:off x="7726680" y="1280160"/>
            <a:ext cx="4160520" cy="3785473"/>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57/58</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1887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pic>
        <p:nvPicPr>
          <p:cNvPr id="4" name="Image 1" descr="QR code linking to the slides PDF">    </p:cNvPr>
          <p:cNvPicPr>
            <a:picLocks noChangeAspect="1"/>
          </p:cNvPicPr>
          <p:nvPr/>
        </p:nvPicPr>
        <p:blipFill>
          <a:blip r:embed="rId2"/>
          <a:stretch>
            <a:fillRect/>
          </a:stretch>
        </p:blipFill>
        <p:spPr>
          <a:xfrm>
            <a:off x="7955280" y="2834640"/>
            <a:ext cx="2286000" cy="2286000"/>
          </a:xfrm>
          <a:prstGeom prst="rect">
            <a:avLst/>
          </a:prstGeom>
        </p:spPr>
      </p:pic>
      <p:sp>
        <p:nvSpPr>
          <p:cNvPr id="5" name="Text 1"/>
          <p:cNvSpPr txBox="1"/>
          <p:nvPr/>
        </p:nvSpPr>
        <p:spPr>
          <a:xfrm>
            <a:off x="6492240" y="5212080"/>
            <a:ext cx="521208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Georgia" pitchFamily="34" charset="0"/>
                <a:ea typeface="Georgia" pitchFamily="34" charset="-122"/>
                <a:cs typeface="Georgia" pitchFamily="34" charset="-120"/>
              </a:rPr>
              <a:t>Slides (PDF)</a:t>
            </a:r>
            <a:endParaRPr lang="en-US" sz="1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58/58</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94"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987552"/>
                <a:gridCol w="9006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Grade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see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Somnolent but rousable, grossly disoriented, bizarre behavior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95"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458968"/>
                <a:gridCol w="4535424"/>
              </a:tblGrid>
              <a:tr h="427939">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802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Arterial pH &lt; 7.30 after fluids</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all three within 24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Creatinine &gt; 3.4 mg/dL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Grade III-IV encephalopathy</a:t>
                      </a:r>
                      <a:endParaRPr lang="en-US" sz="18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any three of:</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Age &lt; 10 or &gt; 40</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Drug reaction or unknown cause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Jaundice to encephalopathy &gt; 7 days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3.5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Bilirubin &gt; 17.5 mg/dL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A2</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96"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478024"/>
                <a:gridCol w="1426464"/>
                <a:gridCol w="4288536"/>
                <a:gridCol w="2898648"/>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 (arterial, μmol/L)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they found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Clemmesen 1999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Herniated: mean 230 vs 118; all above 146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Small, one center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Bhatia 2006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80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124 on admission predicted death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Endpoint was death, not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Bernal 2007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165, HE III-IV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&gt; 100: severe HE. </a:t>
                      </a:r>
                      <a:r>
                        <a:rPr lang="en-US" sz="1800" b="1" dirty="0">
                          <a:solidFill>
                            <a:srgbClr val="000000"/>
                          </a:solidFill>
                          <a:latin typeface="Calibri" pitchFamily="34" charset="0"/>
                          <a:ea typeface="Calibri" pitchFamily="34" charset="-122"/>
                          <a:cs typeface="Calibri" pitchFamily="34" charset="-120"/>
                        </a:rPr>
                        <a:t>&gt; 200: ICH in 55%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missed most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Kumar 2012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295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122 for 3 days: survival 23% vs 72%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Trend beat a single value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A3</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97"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453896"/>
                <a:gridCol w="3017520"/>
                <a:gridCol w="2889504"/>
                <a:gridCol w="373075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EASL-CLIF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NACSELD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APASL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Decompensated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Cirrhosis, inpatient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CLD ±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Defined by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Organ failures (CLIF-C)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 2 extrahepatic failures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insult: jaundice + INR ≥ 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Picks 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Broader, earlier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Sicker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 primary liver insult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A4</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A5</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calling transplant hepatology</a:t>
            </a:r>
            <a:endParaRPr lang="en-US" sz="3000" dirty="0"/>
          </a:p>
        </p:txBody>
      </p:sp>
      <p:graphicFrame>
        <p:nvGraphicFramePr>
          <p:cNvPr id="99"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422392"/>
                <a:gridCol w="5120640"/>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A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B (ACLF)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2971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days from jaundice to HE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Encephalopathy grade, pupils, sedation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Airway and ventilator settings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Ammonia, sodium, CRRT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INR, lactate, pH, glucose trends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Pressors, infection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Social support, intent of ingestion</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of cirrhosis, recent alcohol use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Precipitant and source control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Organ failures today and yesterday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 dose, oxygen, 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MELD, CLIF-C scores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Frailty, comorbidities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Prior transplant evaluation, support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A6</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A7</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in ALF.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Burke L et al. Plasma exchange in a real-world ALF cohort. J Hepatol 2025;82:615-21 [PMID: 39362282]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A8</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100</Slides>
  <Notes>100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100</vt:i4>
      </vt:variant>
    </vt:vector>
  </HeadingPairs>
  <TitlesOfParts>
    <vt:vector size="10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2026-10-28T15:09:06Z</dcterms:created>
  <dcterms:modified xsi:type="dcterms:W3CDTF">2026-10-28T15:09:06Z</dcterms:modified>
</cp:coreProperties>
</file>