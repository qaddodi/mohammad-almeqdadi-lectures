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charts/chart7.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charts/chart8.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charts/chart9.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charts/chart12.xml" ContentType="application/vnd.openxmlformats-officedocument.drawingml.chart+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charts/chart13.xml" ContentType="application/vnd.openxmlformats-officedocument.drawingml.chart+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notesMasterIdLst>
    <p:notesMasterId r:id="rId10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db5c7dc-91f3-e32c-3710-e296978ac20f}">
          <p14:sldIdLst>
            <p14:sldId id="256"/>
            <p14:sldId id="257"/>
          </p14:sldIdLst>
        </p14:section>
        <p14:section name="Patient A" id="{5e9ad5d2-688a-1218-e314-09804780d036}">
          <p14:sldIdLst>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Lst>
        </p14:section>
        <p14:section name="Patient B" id="{cc70eaa1-7278-3a07-a814-b2856744b0a9}">
          <p14:sldIdLst>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Lst>
        </p14:section>
        <p14:section name="Closing" id="{2095c4f5-685f-c450-ae17-8264aae7204c}">
          <p14:sldIdLst>
            <p14:sldId id="344"/>
            <p14:sldId id="345"/>
            <p14:sldId id="346"/>
            <p14:sldId id="347"/>
          </p14:sldIdLst>
        </p14:section>
        <p14:section name="Appendix" id="{d07d8d8d-358d-e2ba-76eb-8ee877e9c809}">
          <p14:sldIdLst>
            <p14:sldId id="348"/>
            <p14:sldId id="349"/>
            <p14:sldId id="350"/>
            <p14:sldId id="351"/>
            <p14:sldId id="352"/>
            <p14:sldId id="353"/>
            <p14:sldId id="354"/>
            <p14:sldId id="35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notesMaster" Target="notesMasters/notesMaster1.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Transplant-free survival at 3 weeks</a:t>
            </a:r>
          </a:p>
        </c:rich>
      </c:tx>
      <c:layout/>
      <c:overlay val="0"/>
    </c:title>
    <c:autoTitleDeleted val="0"/>
    <c:plotArea>
      <c:layout/>
      <c:barChart>
        <c:barDir val="col"/>
        <c:grouping val="clustered"/>
        <c:varyColors val="0"/>
        <c:ser>
          <c:idx val="0"/>
          <c:order val="0"/>
          <c:tx>
            <c:strRef>
              <c:f>Sheet1!$B$1</c:f>
              <c:strCache>
                <c:ptCount val="1"/>
                <c:pt idx="0">
                  <c:v>NAC</c:v>
                </c:pt>
              </c:strCache>
            </c:strRef>
          </c:tx>
          <c:spPr>
            <a:solidFill>
              <a:srgbClr val="000000"/>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Coma grade I-II</c:v>
                  </c:pt>
                  <c:pt idx="1">
                    <c:v>Coma grade III-IV</c:v>
                  </c:pt>
                  <c:pt idx="2">
                    <c:v>All patients</c:v>
                  </c:pt>
                </c:lvl>
              </c:multiLvlStrCache>
            </c:multiLvlStrRef>
          </c:cat>
          <c:val>
            <c:numRef>
              <c:f>Sheet1!$B$2:$B$4</c:f>
              <c:numCache>
                <c:formatCode>General</c:formatCode>
                <c:ptCount val="3"/>
                <c:pt idx="0">
                  <c:v>52</c:v>
                </c:pt>
                <c:pt idx="1">
                  <c:v>9</c:v>
                </c:pt>
                <c:pt idx="2">
                  <c:v>40</c:v>
                </c:pt>
              </c:numCache>
            </c:numRef>
          </c:val>
        </c:ser>
        <c:ser>
          <c:idx val="1"/>
          <c:order val="1"/>
          <c:tx>
            <c:strRef>
              <c:f>Sheet1!$C$1</c:f>
              <c:strCache>
                <c:ptCount val="1"/>
                <c:pt idx="0">
                  <c:v>Placebo</c:v>
                </c:pt>
              </c:strCache>
            </c:strRef>
          </c:tx>
          <c:spPr>
            <a:solidFill>
              <a:srgbClr val="A6A6A6"/>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Coma grade I-II</c:v>
                  </c:pt>
                  <c:pt idx="1">
                    <c:v>Coma grade III-IV</c:v>
                  </c:pt>
                  <c:pt idx="2">
                    <c:v>All patients</c:v>
                  </c:pt>
                </c:lvl>
              </c:multiLvlStrCache>
            </c:multiLvlStrRef>
          </c:cat>
          <c:val>
            <c:numRef>
              <c:f>Sheet1!$C$2:$C$4</c:f>
              <c:numCache>
                <c:formatCode>General</c:formatCode>
                <c:ptCount val="3"/>
                <c:pt idx="0">
                  <c:v>30</c:v>
                </c:pt>
                <c:pt idx="1">
                  <c:v>22</c:v>
                </c:pt>
                <c:pt idx="2">
                  <c:v>27</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75"/>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Overall survival at 3 weeks</a:t>
            </a:r>
          </a:p>
        </c:rich>
      </c:tx>
      <c:layout/>
      <c:overlay val="0"/>
    </c:title>
    <c:autoTitleDeleted val="0"/>
    <c:plotArea>
      <c:layout/>
      <c:barChart>
        <c:barDir val="col"/>
        <c:grouping val="clustered"/>
        <c:varyColors val="0"/>
        <c:ser>
          <c:idx val="0"/>
          <c:order val="0"/>
          <c:tx>
            <c:strRef>
              <c:f>Sheet1!$B$1</c:f>
              <c:strCache>
                <c:ptCount val="1"/>
                <c:pt idx="0">
                  <c:v>NAC</c:v>
                </c:pt>
              </c:strCache>
            </c:strRef>
          </c:tx>
          <c:spPr>
            <a:solidFill>
              <a:srgbClr val="000000"/>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Sheet1!$A$2:$A$2</c:f>
              <c:multiLvlStrCache>
                <c:ptCount val="1"/>
                <c:lvl>
                  <c:pt idx="0">
                    <c:v>All patients</c:v>
                  </c:pt>
                </c:lvl>
              </c:multiLvlStrCache>
            </c:multiLvlStrRef>
          </c:cat>
          <c:val>
            <c:numRef>
              <c:f>Sheet1!$B$2:$B$2</c:f>
              <c:numCache>
                <c:formatCode>General</c:formatCode>
                <c:ptCount val="1"/>
                <c:pt idx="0">
                  <c:v>70</c:v>
                </c:pt>
              </c:numCache>
            </c:numRef>
          </c:val>
        </c:ser>
        <c:ser>
          <c:idx val="1"/>
          <c:order val="1"/>
          <c:tx>
            <c:strRef>
              <c:f>Sheet1!$C$1</c:f>
              <c:strCache>
                <c:ptCount val="1"/>
                <c:pt idx="0">
                  <c:v>Placebo</c:v>
                </c:pt>
              </c:strCache>
            </c:strRef>
          </c:tx>
          <c:spPr>
            <a:solidFill>
              <a:srgbClr val="A6A6A6"/>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Sheet1!$A$2:$A$2</c:f>
              <c:multiLvlStrCache>
                <c:ptCount val="1"/>
                <c:lvl>
                  <c:pt idx="0">
                    <c:v>All patients</c:v>
                  </c:pt>
                </c:lvl>
              </c:multiLvlStrCache>
            </c:multiLvlStrRef>
          </c:cat>
          <c:val>
            <c:numRef>
              <c:f>Sheet1!$C$2:$C$2</c:f>
              <c:numCache>
                <c:formatCode>General</c:formatCode>
                <c:ptCount val="1"/>
                <c:pt idx="0">
                  <c:v>66</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75"/>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Clemmesen 1999: ammonia, μmol/L</a:t>
            </a:r>
          </a:p>
        </c:rich>
      </c:tx>
      <c:layout/>
      <c:overlay val="0"/>
    </c:title>
    <c:autoTitleDeleted val="0"/>
    <c:plotArea>
      <c:layout>
        <c:manualLayout>
          <c:layoutTarget val="inner"/>
          <c:xMode val="edge"/>
          <c:yMode val="edge"/>
          <c:x val="0.14"/>
          <c:y val="0.14"/>
          <c:w val="0.82"/>
          <c:h val="0.72"/>
        </c:manualLayout>
      </c:layout>
      <c:barChart>
        <c:barDir val="col"/>
        <c:grouping val="clustered"/>
        <c:varyColors val="0"/>
        <c:ser>
          <c:idx val="0"/>
          <c:order val="0"/>
          <c:tx>
            <c:strRef>
              <c:f>Sheet1!$B$1</c:f>
              <c:strCache>
                <c:ptCount val="1"/>
                <c:pt idx="0">
                  <c:v>Mean arterial ammonia</c:v>
                </c:pt>
              </c:strCache>
            </c:strRef>
          </c:tx>
          <c:spPr>
            <a:solidFill>
              <a:srgbClr val="C00000"/>
            </a:solidFill>
            <a:effectLst/>
          </c:spPr>
          <c:invertIfNegative val="0"/>
          <c:dLbls>
            <c:numFmt formatCode="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C00000"/>
              </a:solidFill>
              <a:effectLst/>
            </c:spPr>
          </c:dPt>
          <c:dPt>
            <c:idx val="1"/>
            <c:invertIfNegative val="0"/>
            <c:bubble3D val="0"/>
            <c:spPr>
              <a:solidFill>
                <a:srgbClr val="A6A6A6"/>
              </a:solidFill>
              <a:effectLst/>
            </c:spPr>
          </c:dPt>
          <c:cat>
            <c:multiLvlStrRef>
              <c:f>Sheet1!$A$2:$A$3</c:f>
              <c:multiLvlStrCache>
                <c:ptCount val="2"/>
                <c:lvl>
                  <c:pt idx="0">
                    <c:v>Herniated (n = 14)</c:v>
                  </c:pt>
                  <c:pt idx="1">
                    <c:v>No herniation (n = 30)</c:v>
                  </c:pt>
                </c:lvl>
              </c:multiLvlStrCache>
            </c:multiLvlStrRef>
          </c:cat>
          <c:val>
            <c:numRef>
              <c:f>Sheet1!$B$2:$B$3</c:f>
              <c:numCache>
                <c:formatCode>General</c:formatCode>
                <c:ptCount val="2"/>
                <c:pt idx="0">
                  <c:v>230</c:v>
                </c:pt>
                <c:pt idx="1">
                  <c:v>118</c:v>
                </c:pt>
              </c:numCache>
            </c:numRef>
          </c:val>
        </c:ser>
        <c:dLbls>
          <c:numFmt formatCode="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Kumar 2012: 295 patients</a:t>
            </a:r>
          </a:p>
        </c:rich>
      </c:tx>
      <c:layout/>
      <c:overlay val="0"/>
    </c:title>
    <c:autoTitleDeleted val="0"/>
    <c:plotArea>
      <c:layout/>
      <c:barChart>
        <c:barDir val="col"/>
        <c:grouping val="clustered"/>
        <c:varyColors val="0"/>
        <c:ser>
          <c:idx val="0"/>
          <c:order val="0"/>
          <c:tx>
            <c:strRef>
              <c:f>Sheet1!$B$1</c:f>
              <c:strCache>
                <c:ptCount val="1"/>
                <c:pt idx="0">
                  <c:v>Ammonia ≥ 122 for 3 days</c:v>
                </c:pt>
              </c:strCache>
            </c:strRef>
          </c:tx>
          <c:spPr>
            <a:solidFill>
              <a:srgbClr val="C00000"/>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Survival</c:v>
                  </c:pt>
                  <c:pt idx="1">
                    <c:v>Cerebral edema</c:v>
                  </c:pt>
                </c:lvl>
              </c:multiLvlStrCache>
            </c:multiLvlStrRef>
          </c:cat>
          <c:val>
            <c:numRef>
              <c:f>Sheet1!$B$2:$B$3</c:f>
              <c:numCache>
                <c:formatCode>General</c:formatCode>
                <c:ptCount val="2"/>
                <c:pt idx="0">
                  <c:v>23</c:v>
                </c:pt>
                <c:pt idx="1">
                  <c:v>71</c:v>
                </c:pt>
              </c:numCache>
            </c:numRef>
          </c:val>
        </c:ser>
        <c:ser>
          <c:idx val="1"/>
          <c:order val="1"/>
          <c:tx>
            <c:strRef>
              <c:f>Sheet1!$C$1</c:f>
              <c:strCache>
                <c:ptCount val="1"/>
                <c:pt idx="0">
                  <c:v>Ammonia falling</c:v>
                </c:pt>
              </c:strCache>
            </c:strRef>
          </c:tx>
          <c:spPr>
            <a:solidFill>
              <a:srgbClr val="A6A6A6"/>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Survival</c:v>
                  </c:pt>
                  <c:pt idx="1">
                    <c:v>Cerebral edema</c:v>
                  </c:pt>
                </c:lvl>
              </c:multiLvlStrCache>
            </c:multiLvlStrRef>
          </c:cat>
          <c:val>
            <c:numRef>
              <c:f>Sheet1!$C$2:$C$3</c:f>
              <c:numCache>
                <c:formatCode>General</c:formatCode>
                <c:ptCount val="2"/>
                <c:pt idx="0">
                  <c:v>72</c:v>
                </c:pt>
                <c:pt idx="1">
                  <c:v>37</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Clemmesen 1999: ammonia, μmol/L</a:t>
            </a:r>
          </a:p>
        </c:rich>
      </c:tx>
      <c:layout/>
      <c:overlay val="0"/>
    </c:title>
    <c:autoTitleDeleted val="0"/>
    <c:plotArea>
      <c:layout>
        <c:manualLayout>
          <c:layoutTarget val="inner"/>
          <c:xMode val="edge"/>
          <c:yMode val="edge"/>
          <c:x val="0.14"/>
          <c:y val="0.14"/>
          <c:w val="0.82"/>
          <c:h val="0.72"/>
        </c:manualLayout>
      </c:layout>
      <c:barChart>
        <c:barDir val="col"/>
        <c:grouping val="clustered"/>
        <c:varyColors val="0"/>
        <c:ser>
          <c:idx val="0"/>
          <c:order val="0"/>
          <c:tx>
            <c:strRef>
              <c:f>Sheet1!$B$1</c:f>
              <c:strCache>
                <c:ptCount val="1"/>
                <c:pt idx="0">
                  <c:v>Mean arterial ammonia</c:v>
                </c:pt>
              </c:strCache>
            </c:strRef>
          </c:tx>
          <c:spPr>
            <a:solidFill>
              <a:srgbClr val="C00000"/>
            </a:solidFill>
            <a:effectLst/>
          </c:spPr>
          <c:invertIfNegative val="0"/>
          <c:dLbls>
            <c:numFmt formatCode="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C00000"/>
              </a:solidFill>
              <a:effectLst/>
            </c:spPr>
          </c:dPt>
          <c:dPt>
            <c:idx val="1"/>
            <c:invertIfNegative val="0"/>
            <c:bubble3D val="0"/>
            <c:spPr>
              <a:solidFill>
                <a:srgbClr val="A6A6A6"/>
              </a:solidFill>
              <a:effectLst/>
            </c:spPr>
          </c:dPt>
          <c:cat>
            <c:multiLvlStrRef>
              <c:f>Sheet1!$A$2:$A$3</c:f>
              <c:multiLvlStrCache>
                <c:ptCount val="2"/>
                <c:lvl>
                  <c:pt idx="0">
                    <c:v>Herniated (n = 14)</c:v>
                  </c:pt>
                  <c:pt idx="1">
                    <c:v>No herniation (n = 30)</c:v>
                  </c:pt>
                </c:lvl>
              </c:multiLvlStrCache>
            </c:multiLvlStrRef>
          </c:cat>
          <c:val>
            <c:numRef>
              <c:f>Sheet1!$B$2:$B$3</c:f>
              <c:numCache>
                <c:formatCode>General</c:formatCode>
                <c:ptCount val="2"/>
                <c:pt idx="0">
                  <c:v>230</c:v>
                </c:pt>
                <c:pt idx="1">
                  <c:v>118</c:v>
                </c:pt>
              </c:numCache>
            </c:numRef>
          </c:val>
        </c:ser>
        <c:dLbls>
          <c:numFmt formatCode="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Kumar 2012: 295 patients</a:t>
            </a:r>
          </a:p>
        </c:rich>
      </c:tx>
      <c:layout/>
      <c:overlay val="0"/>
    </c:title>
    <c:autoTitleDeleted val="0"/>
    <c:plotArea>
      <c:layout/>
      <c:barChart>
        <c:barDir val="col"/>
        <c:grouping val="clustered"/>
        <c:varyColors val="0"/>
        <c:ser>
          <c:idx val="0"/>
          <c:order val="0"/>
          <c:tx>
            <c:strRef>
              <c:f>Sheet1!$B$1</c:f>
              <c:strCache>
                <c:ptCount val="1"/>
                <c:pt idx="0">
                  <c:v>Ammonia ≥ 122 for 3 days</c:v>
                </c:pt>
              </c:strCache>
            </c:strRef>
          </c:tx>
          <c:spPr>
            <a:solidFill>
              <a:srgbClr val="C00000"/>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Survival</c:v>
                  </c:pt>
                  <c:pt idx="1">
                    <c:v>Cerebral edema</c:v>
                  </c:pt>
                </c:lvl>
              </c:multiLvlStrCache>
            </c:multiLvlStrRef>
          </c:cat>
          <c:val>
            <c:numRef>
              <c:f>Sheet1!$B$2:$B$3</c:f>
              <c:numCache>
                <c:formatCode>General</c:formatCode>
                <c:ptCount val="2"/>
                <c:pt idx="0">
                  <c:v>23</c:v>
                </c:pt>
                <c:pt idx="1">
                  <c:v>71</c:v>
                </c:pt>
              </c:numCache>
            </c:numRef>
          </c:val>
        </c:ser>
        <c:ser>
          <c:idx val="1"/>
          <c:order val="1"/>
          <c:tx>
            <c:strRef>
              <c:f>Sheet1!$C$1</c:f>
              <c:strCache>
                <c:ptCount val="1"/>
                <c:pt idx="0">
                  <c:v>Ammonia falling</c:v>
                </c:pt>
              </c:strCache>
            </c:strRef>
          </c:tx>
          <c:spPr>
            <a:solidFill>
              <a:srgbClr val="A6A6A6"/>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Survival</c:v>
                  </c:pt>
                  <c:pt idx="1">
                    <c:v>Cerebral edema</c:v>
                  </c:pt>
                </c:lvl>
              </c:multiLvlStrCache>
            </c:multiLvlStrRef>
          </c:cat>
          <c:val>
            <c:numRef>
              <c:f>Sheet1!$C$2:$C$3</c:f>
              <c:numCache>
                <c:formatCode>General</c:formatCode>
                <c:ptCount val="2"/>
                <c:pt idx="0">
                  <c:v>72</c:v>
                </c:pt>
                <c:pt idx="1">
                  <c:v>37</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51 patients, mean INR 3.4</a:t>
            </a:r>
          </a:p>
        </c:rich>
      </c:tx>
      <c:layout/>
      <c:overlay val="0"/>
    </c:title>
    <c:autoTitleDeleted val="0"/>
    <c:plotArea>
      <c:layout/>
      <c:barChart>
        <c:barDir val="col"/>
        <c:grouping val="clustered"/>
        <c:varyColors val="0"/>
        <c:ser>
          <c:idx val="0"/>
          <c:order val="0"/>
          <c:tx>
            <c:strRef>
              <c:f>Sheet1!$B$1</c:f>
              <c:strCache>
                <c:ptCount val="1"/>
                <c:pt idx="0">
                  <c:v>Patients</c:v>
                </c:pt>
              </c:strCache>
            </c:strRef>
          </c:tx>
          <c:spPr>
            <a:solidFill>
              <a:srgbClr val="000000"/>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All 5 normal</c:v>
                  </c:pt>
                  <c:pt idx="1">
                    <c:v>1-2 low</c:v>
                  </c:pt>
                  <c:pt idx="2">
                    <c:v>3-4 low</c:v>
                  </c:pt>
                  <c:pt idx="3">
                    <c:v>Hypercoagulable</c:v>
                  </c:pt>
                </c:lvl>
              </c:multiLvlStrCache>
            </c:multiLvlStrRef>
          </c:cat>
          <c:val>
            <c:numRef>
              <c:f>Sheet1!$B$2:$B$5</c:f>
              <c:numCache>
                <c:formatCode>General</c:formatCode>
                <c:ptCount val="4"/>
                <c:pt idx="0">
                  <c:v>63</c:v>
                </c:pt>
                <c:pt idx="1">
                  <c:v>25</c:v>
                </c:pt>
                <c:pt idx="2">
                  <c:v>12</c:v>
                </c:pt>
                <c:pt idx="3">
                  <c:v>8</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75"/>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Ammonia clearance, mL/min (12 patients)</a:t>
            </a:r>
          </a:p>
        </c:rich>
      </c:tx>
      <c:layout/>
      <c:overlay val="0"/>
    </c:title>
    <c:autoTitleDeleted val="0"/>
    <c:plotArea>
      <c:layout/>
      <c:barChart>
        <c:barDir val="col"/>
        <c:grouping val="clustered"/>
        <c:varyColors val="0"/>
        <c:ser>
          <c:idx val="0"/>
          <c:order val="0"/>
          <c:tx>
            <c:strRef>
              <c:f>Sheet1!$B$1</c:f>
              <c:strCache>
                <c:ptCount val="1"/>
                <c:pt idx="0">
                  <c:v>Ammonia clearance</c:v>
                </c:pt>
              </c:strCache>
            </c:strRef>
          </c:tx>
          <c:spPr>
            <a:solidFill>
              <a:srgbClr val="000000"/>
            </a:solidFill>
            <a:effectLst/>
          </c:spPr>
          <c:invertIfNegative val="0"/>
          <c:dLbls>
            <c:numFmt formatCode="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000000"/>
              </a:solidFill>
              <a:effectLst/>
            </c:spPr>
          </c:dPt>
          <c:dPt>
            <c:idx val="1"/>
            <c:invertIfNegative val="0"/>
            <c:bubble3D val="0"/>
            <c:spPr>
              <a:solidFill>
                <a:srgbClr val="7F7F7F"/>
              </a:solidFill>
              <a:effectLst/>
            </c:spPr>
          </c:dPt>
          <c:dPt>
            <c:idx val="2"/>
            <c:invertIfNegative val="0"/>
            <c:bubble3D val="0"/>
            <c:spPr>
              <a:solidFill>
                <a:srgbClr val="7F7F7F"/>
              </a:solidFill>
              <a:effectLst/>
            </c:spPr>
          </c:dPt>
          <c:cat>
            <c:multiLvlStrRef>
              <c:f>Sheet1!$A$2:$A$4</c:f>
              <c:multiLvlStrCache>
                <c:ptCount val="3"/>
                <c:lvl>
                  <c:pt idx="0">
                    <c:v>CVVH</c:v>
                  </c:pt>
                  <c:pt idx="1">
                    <c:v>CVVHD</c:v>
                  </c:pt>
                  <c:pt idx="2">
                    <c:v>CVVHDF</c:v>
                  </c:pt>
                </c:lvl>
              </c:multiLvlStrCache>
            </c:multiLvlStrRef>
          </c:cat>
          <c:val>
            <c:numRef>
              <c:f>Sheet1!$B$2:$B$4</c:f>
              <c:numCache>
                <c:formatCode>General</c:formatCode>
                <c:ptCount val="3"/>
                <c:pt idx="0">
                  <c:v>27</c:v>
                </c:pt>
                <c:pt idx="1">
                  <c:v>21</c:v>
                </c:pt>
                <c:pt idx="2">
                  <c:v>20</c:v>
                </c:pt>
              </c:numCache>
            </c:numRef>
          </c:val>
        </c:ser>
        <c:dLbls>
          <c:numFmt formatCode="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AST and ALT (U/L)</a:t>
            </a:r>
          </a:p>
        </c:rich>
      </c:tx>
      <c:layout/>
      <c:overlay val="0"/>
    </c:title>
    <c:autoTitleDeleted val="0"/>
    <c:plotArea>
      <c:layout/>
      <c:lineChart>
        <c:varyColors val="0"/>
        <c:ser>
          <c:idx val="0"/>
          <c:order val="0"/>
          <c:tx>
            <c:strRef>
              <c:f>Sheet1!$B$1</c:f>
              <c:strCache>
                <c:ptCount val="1"/>
                <c:pt idx="0">
                  <c:v>AST</c:v>
                </c:pt>
              </c:strCache>
            </c:strRef>
          </c:tx>
          <c:spPr>
            <a:solidFill>
              <a:srgbClr val="000000"/>
            </a:solidFill>
            <a:ln w="31750" cap="flat">
              <a:solidFill>
                <a:srgbClr val="000000"/>
              </a:solidFill>
              <a:prstDash val="solid"/>
              <a:round/>
            </a:ln>
            <a:effectLst/>
          </c:spPr>
          <c:invertIfNegative val="0"/>
          <c:dLbls>
            <c:numFmt formatCode="#,##0" sourceLinked="0"/>
            <c:txPr>
              <a:bodyPr/>
              <a:lstStyle/>
              <a:p>
                <a:pPr>
                  <a:defRPr b="0" i="0" strike="noStrike" sz="1100" u="none">
                    <a:solidFill>
                      <a:srgbClr val="000000"/>
                    </a:solidFill>
                    <a:latin typeface="Calibri"/>
                  </a:defRPr>
                </a:pPr>
              </a:p>
            </c:txPr>
            <c:dLblPos val="t"/>
            <c:showLegendKey val="0"/>
            <c:showVal val="1"/>
            <c:showCatName val="0"/>
            <c:showSerName val="0"/>
            <c:showPercent val="0"/>
            <c:showBubbleSize val="0"/>
            <c:showLeaderLines val="0"/>
          </c:dLbls>
          <c:marker>
            <c:symbol val="circle"/>
            <c:size val="8"/>
            <c:spPr>
              <a:solidFill>
                <a:srgbClr val="000000"/>
              </a:solidFill>
              <a:ln w="9525" cap="flat">
                <a:solidFill>
                  <a:srgbClr val="000000"/>
                </a:solidFill>
                <a:prstDash val="solid"/>
                <a:round/>
              </a:ln>
              <a:effectLst/>
            </c:spPr>
          </c:marker>
          <c:cat>
            <c:multiLvlStrRef>
              <c:f>Sheet1!$A$2:$A$5</c:f>
              <c:multiLvlStrCache>
                <c:ptCount val="4"/>
                <c:lvl>
                  <c:pt idx="0">
                    <c:v>Admission</c:v>
                  </c:pt>
                  <c:pt idx="1">
                    <c:v>Hour 12</c:v>
                  </c:pt>
                  <c:pt idx="2">
                    <c:v>Day 2</c:v>
                  </c:pt>
                  <c:pt idx="3">
                    <c:v>Day 3</c:v>
                  </c:pt>
                </c:lvl>
              </c:multiLvlStrCache>
            </c:multiLvlStrRef>
          </c:cat>
          <c:val>
            <c:numRef>
              <c:f>Sheet1!$B$2:$B$5</c:f>
              <c:numCache>
                <c:formatCode>General</c:formatCode>
                <c:ptCount val="4"/>
                <c:pt idx="0">
                  <c:v>6820</c:v>
                </c:pt>
                <c:pt idx="1">
                  <c:v>4310</c:v>
                </c:pt>
                <c:pt idx="2">
                  <c:v>2140</c:v>
                </c:pt>
                <c:pt idx="3">
                  <c:v>1190</c:v>
                </c:pt>
              </c:numCache>
            </c:numRef>
          </c:val>
          <c:smooth val="0"/>
        </c:ser>
        <c:ser>
          <c:idx val="1"/>
          <c:order val="1"/>
          <c:tx>
            <c:strRef>
              <c:f>Sheet1!$C$1</c:f>
              <c:strCache>
                <c:ptCount val="1"/>
                <c:pt idx="0">
                  <c:v>ALT</c:v>
                </c:pt>
              </c:strCache>
            </c:strRef>
          </c:tx>
          <c:spPr>
            <a:solidFill>
              <a:srgbClr val="7F7F7F"/>
            </a:solidFill>
            <a:ln w="31750" cap="flat">
              <a:solidFill>
                <a:srgbClr val="7F7F7F"/>
              </a:solidFill>
              <a:prstDash val="solid"/>
              <a:round/>
            </a:ln>
            <a:effectLst/>
          </c:spPr>
          <c:invertIfNegative val="0"/>
          <c:dLbls>
            <c:numFmt formatCode="#,##0" sourceLinked="0"/>
            <c:txPr>
              <a:bodyPr/>
              <a:lstStyle/>
              <a:p>
                <a:pPr>
                  <a:defRPr b="0" i="0" strike="noStrike" sz="1100" u="none">
                    <a:solidFill>
                      <a:srgbClr val="000000"/>
                    </a:solidFill>
                    <a:latin typeface="Calibri"/>
                  </a:defRPr>
                </a:pPr>
              </a:p>
            </c:txPr>
            <c:dLblPos val="t"/>
            <c:showLegendKey val="0"/>
            <c:showVal val="1"/>
            <c:showCatName val="0"/>
            <c:showSerName val="0"/>
            <c:showPercent val="0"/>
            <c:showBubbleSize val="0"/>
            <c:showLeaderLines val="0"/>
          </c:dLbls>
          <c:marker>
            <c:symbol val="circle"/>
            <c:size val="8"/>
            <c:spPr>
              <a:solidFill>
                <a:srgbClr val="7F7F7F"/>
              </a:solidFill>
              <a:ln w="9525" cap="flat">
                <a:solidFill>
                  <a:srgbClr val="7F7F7F"/>
                </a:solidFill>
                <a:prstDash val="solid"/>
                <a:round/>
              </a:ln>
              <a:effectLst/>
            </c:spPr>
          </c:marker>
          <c:cat>
            <c:multiLvlStrRef>
              <c:f>Sheet1!$A$2:$A$5</c:f>
              <c:multiLvlStrCache>
                <c:ptCount val="4"/>
                <c:lvl>
                  <c:pt idx="0">
                    <c:v>Admission</c:v>
                  </c:pt>
                  <c:pt idx="1">
                    <c:v>Hour 12</c:v>
                  </c:pt>
                  <c:pt idx="2">
                    <c:v>Day 2</c:v>
                  </c:pt>
                  <c:pt idx="3">
                    <c:v>Day 3</c:v>
                  </c:pt>
                </c:lvl>
              </c:multiLvlStrCache>
            </c:multiLvlStrRef>
          </c:cat>
          <c:val>
            <c:numRef>
              <c:f>Sheet1!$C$2:$C$5</c:f>
              <c:numCache>
                <c:formatCode>General</c:formatCode>
                <c:ptCount val="4"/>
                <c:pt idx="0">
                  <c:v>5940</c:v>
                </c:pt>
                <c:pt idx="1">
                  <c:v>5020</c:v>
                </c:pt>
                <c:pt idx="2">
                  <c:v>3260</c:v>
                </c:pt>
                <c:pt idx="3">
                  <c:v>2210</c:v>
                </c:pt>
              </c:numCache>
            </c:numRef>
          </c:val>
          <c:smooth val="0"/>
        </c:ser>
        <c:dLbls>
          <c:numFmt formatCode="#,##0" sourceLinked="0"/>
          <c:txPr>
            <a:bodyPr/>
            <a:lstStyle/>
            <a:p>
              <a:pPr>
                <a:defRPr b="0" i="0" strike="noStrike" sz="1100" u="none">
                  <a:solidFill>
                    <a:srgbClr val="000000"/>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0404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0404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3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AST and ALT (U/L)</a:t>
            </a:r>
          </a:p>
        </c:rich>
      </c:tx>
      <c:layout/>
      <c:overlay val="0"/>
    </c:title>
    <c:autoTitleDeleted val="0"/>
    <c:plotArea>
      <c:layout/>
      <c:lineChart>
        <c:varyColors val="0"/>
        <c:ser>
          <c:idx val="0"/>
          <c:order val="0"/>
          <c:tx>
            <c:strRef>
              <c:f>Sheet1!$B$1</c:f>
              <c:strCache>
                <c:ptCount val="1"/>
                <c:pt idx="0">
                  <c:v>AST</c:v>
                </c:pt>
              </c:strCache>
            </c:strRef>
          </c:tx>
          <c:spPr>
            <a:solidFill>
              <a:srgbClr val="000000"/>
            </a:solidFill>
            <a:ln w="31750" cap="flat">
              <a:solidFill>
                <a:srgbClr val="000000"/>
              </a:solidFill>
              <a:prstDash val="solid"/>
              <a:round/>
            </a:ln>
            <a:effectLst/>
          </c:spPr>
          <c:invertIfNegative val="0"/>
          <c:dLbls>
            <c:numFmt formatCode="#,##0" sourceLinked="0"/>
            <c:txPr>
              <a:bodyPr/>
              <a:lstStyle/>
              <a:p>
                <a:pPr>
                  <a:defRPr b="0" i="0" strike="noStrike" sz="1100" u="none">
                    <a:solidFill>
                      <a:srgbClr val="000000"/>
                    </a:solidFill>
                    <a:latin typeface="Calibri"/>
                  </a:defRPr>
                </a:pPr>
              </a:p>
            </c:txPr>
            <c:dLblPos val="t"/>
            <c:showLegendKey val="0"/>
            <c:showVal val="1"/>
            <c:showCatName val="0"/>
            <c:showSerName val="0"/>
            <c:showPercent val="0"/>
            <c:showBubbleSize val="0"/>
            <c:showLeaderLines val="0"/>
          </c:dLbls>
          <c:marker>
            <c:symbol val="circle"/>
            <c:size val="8"/>
            <c:spPr>
              <a:solidFill>
                <a:srgbClr val="000000"/>
              </a:solidFill>
              <a:ln w="9525" cap="flat">
                <a:solidFill>
                  <a:srgbClr val="000000"/>
                </a:solidFill>
                <a:prstDash val="solid"/>
                <a:round/>
              </a:ln>
              <a:effectLst/>
            </c:spPr>
          </c:marker>
          <c:cat>
            <c:multiLvlStrRef>
              <c:f>Sheet1!$A$2:$A$5</c:f>
              <c:multiLvlStrCache>
                <c:ptCount val="4"/>
                <c:lvl>
                  <c:pt idx="0">
                    <c:v>Admission</c:v>
                  </c:pt>
                  <c:pt idx="1">
                    <c:v>Hour 12</c:v>
                  </c:pt>
                  <c:pt idx="2">
                    <c:v>Day 2</c:v>
                  </c:pt>
                  <c:pt idx="3">
                    <c:v>Day 3</c:v>
                  </c:pt>
                </c:lvl>
              </c:multiLvlStrCache>
            </c:multiLvlStrRef>
          </c:cat>
          <c:val>
            <c:numRef>
              <c:f>Sheet1!$B$2:$B$5</c:f>
              <c:numCache>
                <c:formatCode>General</c:formatCode>
                <c:ptCount val="4"/>
                <c:pt idx="0">
                  <c:v>6820</c:v>
                </c:pt>
                <c:pt idx="1">
                  <c:v>4310</c:v>
                </c:pt>
                <c:pt idx="2">
                  <c:v>2140</c:v>
                </c:pt>
                <c:pt idx="3">
                  <c:v>1190</c:v>
                </c:pt>
              </c:numCache>
            </c:numRef>
          </c:val>
          <c:smooth val="0"/>
        </c:ser>
        <c:ser>
          <c:idx val="1"/>
          <c:order val="1"/>
          <c:tx>
            <c:strRef>
              <c:f>Sheet1!$C$1</c:f>
              <c:strCache>
                <c:ptCount val="1"/>
                <c:pt idx="0">
                  <c:v>ALT</c:v>
                </c:pt>
              </c:strCache>
            </c:strRef>
          </c:tx>
          <c:spPr>
            <a:solidFill>
              <a:srgbClr val="7F7F7F"/>
            </a:solidFill>
            <a:ln w="31750" cap="flat">
              <a:solidFill>
                <a:srgbClr val="7F7F7F"/>
              </a:solidFill>
              <a:prstDash val="solid"/>
              <a:round/>
            </a:ln>
            <a:effectLst/>
          </c:spPr>
          <c:invertIfNegative val="0"/>
          <c:dLbls>
            <c:numFmt formatCode="#,##0" sourceLinked="0"/>
            <c:txPr>
              <a:bodyPr/>
              <a:lstStyle/>
              <a:p>
                <a:pPr>
                  <a:defRPr b="0" i="0" strike="noStrike" sz="1100" u="none">
                    <a:solidFill>
                      <a:srgbClr val="000000"/>
                    </a:solidFill>
                    <a:latin typeface="Calibri"/>
                  </a:defRPr>
                </a:pPr>
              </a:p>
            </c:txPr>
            <c:dLblPos val="t"/>
            <c:showLegendKey val="0"/>
            <c:showVal val="1"/>
            <c:showCatName val="0"/>
            <c:showSerName val="0"/>
            <c:showPercent val="0"/>
            <c:showBubbleSize val="0"/>
            <c:showLeaderLines val="0"/>
          </c:dLbls>
          <c:marker>
            <c:symbol val="circle"/>
            <c:size val="8"/>
            <c:spPr>
              <a:solidFill>
                <a:srgbClr val="7F7F7F"/>
              </a:solidFill>
              <a:ln w="9525" cap="flat">
                <a:solidFill>
                  <a:srgbClr val="7F7F7F"/>
                </a:solidFill>
                <a:prstDash val="solid"/>
                <a:round/>
              </a:ln>
              <a:effectLst/>
            </c:spPr>
          </c:marker>
          <c:cat>
            <c:multiLvlStrRef>
              <c:f>Sheet1!$A$2:$A$5</c:f>
              <c:multiLvlStrCache>
                <c:ptCount val="4"/>
                <c:lvl>
                  <c:pt idx="0">
                    <c:v>Admission</c:v>
                  </c:pt>
                  <c:pt idx="1">
                    <c:v>Hour 12</c:v>
                  </c:pt>
                  <c:pt idx="2">
                    <c:v>Day 2</c:v>
                  </c:pt>
                  <c:pt idx="3">
                    <c:v>Day 3</c:v>
                  </c:pt>
                </c:lvl>
              </c:multiLvlStrCache>
            </c:multiLvlStrRef>
          </c:cat>
          <c:val>
            <c:numRef>
              <c:f>Sheet1!$C$2:$C$5</c:f>
              <c:numCache>
                <c:formatCode>General</c:formatCode>
                <c:ptCount val="4"/>
                <c:pt idx="0">
                  <c:v>5940</c:v>
                </c:pt>
                <c:pt idx="1">
                  <c:v>5020</c:v>
                </c:pt>
                <c:pt idx="2">
                  <c:v>3260</c:v>
                </c:pt>
                <c:pt idx="3">
                  <c:v>2210</c:v>
                </c:pt>
              </c:numCache>
            </c:numRef>
          </c:val>
          <c:smooth val="0"/>
        </c:ser>
        <c:dLbls>
          <c:numFmt formatCode="#,##0" sourceLinked="0"/>
          <c:txPr>
            <a:bodyPr/>
            <a:lstStyle/>
            <a:p>
              <a:pPr>
                <a:defRPr b="0" i="0" strike="noStrike" sz="1100" u="none">
                  <a:solidFill>
                    <a:srgbClr val="000000"/>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0404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0404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3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INR and lactate</a:t>
            </a:r>
          </a:p>
        </c:rich>
      </c:tx>
      <c:layout/>
      <c:overlay val="0"/>
    </c:title>
    <c:autoTitleDeleted val="0"/>
    <c:plotArea>
      <c:layout/>
      <c:lineChart>
        <c:varyColors val="0"/>
        <c:ser>
          <c:idx val="0"/>
          <c:order val="0"/>
          <c:tx>
            <c:strRef>
              <c:f>Sheet1!$B$1</c:f>
              <c:strCache>
                <c:ptCount val="1"/>
                <c:pt idx="0">
                  <c:v>INR</c:v>
                </c:pt>
              </c:strCache>
            </c:strRef>
          </c:tx>
          <c:spPr>
            <a:solidFill>
              <a:srgbClr val="C00000"/>
            </a:solidFill>
            <a:ln w="31750" cap="flat">
              <a:solidFill>
                <a:srgbClr val="C00000"/>
              </a:solidFill>
              <a:prstDash val="solid"/>
              <a:round/>
            </a:ln>
            <a:effectLst/>
          </c:spPr>
          <c:invertIfNegative val="0"/>
          <c:dLbls>
            <c:numFmt formatCode="0.0" sourceLinked="0"/>
            <c:txPr>
              <a:bodyPr/>
              <a:lstStyle/>
              <a:p>
                <a:pPr>
                  <a:defRPr b="0" i="0" strike="noStrike" sz="1100" u="none">
                    <a:solidFill>
                      <a:srgbClr val="000000"/>
                    </a:solidFill>
                    <a:latin typeface="Calibri"/>
                  </a:defRPr>
                </a:pPr>
              </a:p>
            </c:txPr>
            <c:dLblPos val="t"/>
            <c:showLegendKey val="0"/>
            <c:showVal val="0"/>
            <c:showCatName val="0"/>
            <c:showSerName val="0"/>
            <c:showPercent val="0"/>
            <c:showBubbleSize val="0"/>
            <c:showLeaderLines val="0"/>
          </c:dLbls>
          <c:marker>
            <c:symbol val="circle"/>
            <c:size val="8"/>
            <c:spPr>
              <a:solidFill>
                <a:srgbClr val="C00000"/>
              </a:solidFill>
              <a:ln w="9525" cap="flat">
                <a:solidFill>
                  <a:srgbClr val="C00000"/>
                </a:solidFill>
                <a:prstDash val="solid"/>
                <a:round/>
              </a:ln>
              <a:effectLst/>
            </c:spPr>
          </c:marker>
          <c:cat>
            <c:multiLvlStrRef>
              <c:f>Sheet1!$A$2:$A$5</c:f>
              <c:multiLvlStrCache>
                <c:ptCount val="4"/>
                <c:lvl>
                  <c:pt idx="0">
                    <c:v>Admission</c:v>
                  </c:pt>
                  <c:pt idx="1">
                    <c:v>Hour 12</c:v>
                  </c:pt>
                  <c:pt idx="2">
                    <c:v>Day 2</c:v>
                  </c:pt>
                  <c:pt idx="3">
                    <c:v>Day 3</c:v>
                  </c:pt>
                </c:lvl>
              </c:multiLvlStrCache>
            </c:multiLvlStrRef>
          </c:cat>
          <c:val>
            <c:numRef>
              <c:f>Sheet1!$B$2:$B$5</c:f>
              <c:numCache>
                <c:formatCode>General</c:formatCode>
                <c:ptCount val="4"/>
                <c:pt idx="0">
                  <c:v>3.2</c:v>
                </c:pt>
                <c:pt idx="1">
                  <c:v>4.1</c:v>
                </c:pt>
                <c:pt idx="2">
                  <c:v>4.9</c:v>
                </c:pt>
                <c:pt idx="3">
                  <c:v>5.6</c:v>
                </c:pt>
              </c:numCache>
            </c:numRef>
          </c:val>
          <c:smooth val="0"/>
        </c:ser>
        <c:ser>
          <c:idx val="1"/>
          <c:order val="1"/>
          <c:tx>
            <c:strRef>
              <c:f>Sheet1!$C$1</c:f>
              <c:strCache>
                <c:ptCount val="1"/>
                <c:pt idx="0">
                  <c:v>Lactate (mmol/L)</c:v>
                </c:pt>
              </c:strCache>
            </c:strRef>
          </c:tx>
          <c:spPr>
            <a:solidFill>
              <a:srgbClr val="7F7F7F"/>
            </a:solidFill>
            <a:ln w="31750" cap="flat">
              <a:solidFill>
                <a:srgbClr val="7F7F7F"/>
              </a:solidFill>
              <a:prstDash val="solid"/>
              <a:round/>
            </a:ln>
            <a:effectLst/>
          </c:spPr>
          <c:invertIfNegative val="0"/>
          <c:dLbls>
            <c:numFmt formatCode="0.0" sourceLinked="0"/>
            <c:txPr>
              <a:bodyPr/>
              <a:lstStyle/>
              <a:p>
                <a:pPr>
                  <a:defRPr b="0" i="0" strike="noStrike" sz="1100" u="none">
                    <a:solidFill>
                      <a:srgbClr val="000000"/>
                    </a:solidFill>
                    <a:latin typeface="Calibri"/>
                  </a:defRPr>
                </a:pPr>
              </a:p>
            </c:txPr>
            <c:dLblPos val="t"/>
            <c:showLegendKey val="0"/>
            <c:showVal val="0"/>
            <c:showCatName val="0"/>
            <c:showSerName val="0"/>
            <c:showPercent val="0"/>
            <c:showBubbleSize val="0"/>
            <c:showLeaderLines val="0"/>
          </c:dLbls>
          <c:marker>
            <c:symbol val="circle"/>
            <c:size val="8"/>
            <c:spPr>
              <a:solidFill>
                <a:srgbClr val="7F7F7F"/>
              </a:solidFill>
              <a:ln w="9525" cap="flat">
                <a:solidFill>
                  <a:srgbClr val="7F7F7F"/>
                </a:solidFill>
                <a:prstDash val="solid"/>
                <a:round/>
              </a:ln>
              <a:effectLst/>
            </c:spPr>
          </c:marker>
          <c:cat>
            <c:multiLvlStrRef>
              <c:f>Sheet1!$A$2:$A$5</c:f>
              <c:multiLvlStrCache>
                <c:ptCount val="4"/>
                <c:lvl>
                  <c:pt idx="0">
                    <c:v>Admission</c:v>
                  </c:pt>
                  <c:pt idx="1">
                    <c:v>Hour 12</c:v>
                  </c:pt>
                  <c:pt idx="2">
                    <c:v>Day 2</c:v>
                  </c:pt>
                  <c:pt idx="3">
                    <c:v>Day 3</c:v>
                  </c:pt>
                </c:lvl>
              </c:multiLvlStrCache>
            </c:multiLvlStrRef>
          </c:cat>
          <c:val>
            <c:numRef>
              <c:f>Sheet1!$C$2:$C$5</c:f>
              <c:numCache>
                <c:formatCode>General</c:formatCode>
                <c:ptCount val="4"/>
                <c:pt idx="0">
                  <c:v>2.1</c:v>
                </c:pt>
                <c:pt idx="1">
                  <c:v>4.6</c:v>
                </c:pt>
                <c:pt idx="2">
                  <c:v>5.2</c:v>
                </c:pt>
                <c:pt idx="3">
                  <c:v>5.8</c:v>
                </c:pt>
              </c:numCache>
            </c:numRef>
          </c:val>
          <c:smooth val="0"/>
        </c:ser>
        <c:dLbls>
          <c:numFmt formatCode="0.0" sourceLinked="0"/>
          <c:txPr>
            <a:bodyPr/>
            <a:lstStyle/>
            <a:p>
              <a:pPr>
                <a:defRPr b="0" i="0" strike="noStrike" sz="1100" u="none">
                  <a:solidFill>
                    <a:srgbClr val="000000"/>
                  </a:solidFill>
                  <a:latin typeface="Calibri"/>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0404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0404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3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28-day mortality</c:v>
                </c:pt>
              </c:strCache>
            </c:strRef>
          </c:tx>
          <c:spPr>
            <a:solidFill>
              <a:srgbClr val="7F7F7F"/>
            </a:solidFill>
            <a:effectLst/>
          </c:spPr>
          <c:invertIfNegative val="0"/>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7F7F7F"/>
              </a:solidFill>
              <a:effectLst/>
            </c:spPr>
          </c:dPt>
          <c:dPt>
            <c:idx val="1"/>
            <c:invertIfNegative val="0"/>
            <c:bubble3D val="0"/>
            <c:spPr>
              <a:solidFill>
                <a:srgbClr val="7F7F7F"/>
              </a:solidFill>
              <a:effectLst/>
            </c:spPr>
          </c:dPt>
          <c:dPt>
            <c:idx val="2"/>
            <c:invertIfNegative val="0"/>
            <c:bubble3D val="0"/>
            <c:spPr>
              <a:solidFill>
                <a:srgbClr val="7F7F7F"/>
              </a:solidFill>
              <a:effectLst/>
            </c:spPr>
          </c:dPt>
          <c:dPt>
            <c:idx val="3"/>
            <c:invertIfNegative val="0"/>
            <c:bubble3D val="0"/>
            <c:spPr>
              <a:solidFill>
                <a:srgbClr val="C00000"/>
              </a:solidFill>
              <a:effectLst/>
            </c:spPr>
          </c:dPt>
          <c:cat>
            <c:multiLvlStrRef>
              <c:f>Sheet1!$A$2:$A$5</c:f>
              <c:multiLvlStrCache>
                <c:ptCount val="4"/>
                <c:lvl>
                  <c:pt idx="0">
                    <c:v>No ACLF</c:v>
                  </c:pt>
                  <c:pt idx="1">
                    <c:v>ACLF 1</c:v>
                  </c:pt>
                  <c:pt idx="2">
                    <c:v>ACLF 2</c:v>
                  </c:pt>
                  <c:pt idx="3">
                    <c:v>ACLF 3</c:v>
                  </c:pt>
                </c:lvl>
              </c:multiLvlStrCache>
            </c:multiLvlStrRef>
          </c:cat>
          <c:val>
            <c:numRef>
              <c:f>Sheet1!$B$2:$B$5</c:f>
              <c:numCache>
                <c:formatCode>General</c:formatCode>
                <c:ptCount val="4"/>
                <c:pt idx="0">
                  <c:v>4.7</c:v>
                </c:pt>
                <c:pt idx="1">
                  <c:v>22.1</c:v>
                </c:pt>
                <c:pt idx="2">
                  <c:v>32</c:v>
                </c:pt>
                <c:pt idx="3">
                  <c:v>76.7</c:v>
                </c:pt>
              </c:numCache>
            </c:numRef>
          </c:val>
        </c:ser>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7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Terlipressin + albumin</c:v>
                </c:pt>
              </c:strCache>
            </c:strRef>
          </c:tx>
          <c:spPr>
            <a:solidFill>
              <a:srgbClr val="000000"/>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Verified HRS reversal</c:v>
                  </c:pt>
                  <c:pt idx="1">
                    <c:v>Respiratory death by day 90</c:v>
                  </c:pt>
                </c:lvl>
              </c:multiLvlStrCache>
            </c:multiLvlStrRef>
          </c:cat>
          <c:val>
            <c:numRef>
              <c:f>Sheet1!$B$2:$B$3</c:f>
              <c:numCache>
                <c:formatCode>General</c:formatCode>
                <c:ptCount val="2"/>
                <c:pt idx="0">
                  <c:v>32</c:v>
                </c:pt>
                <c:pt idx="1">
                  <c:v>11</c:v>
                </c:pt>
              </c:numCache>
            </c:numRef>
          </c:val>
        </c:ser>
        <c:ser>
          <c:idx val="1"/>
          <c:order val="1"/>
          <c:tx>
            <c:strRef>
              <c:f>Sheet1!$C$1</c:f>
              <c:strCache>
                <c:ptCount val="1"/>
                <c:pt idx="0">
                  <c:v>Placebo + albumin</c:v>
                </c:pt>
              </c:strCache>
            </c:strRef>
          </c:tx>
          <c:spPr>
            <a:solidFill>
              <a:srgbClr val="A6A6A6"/>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Verified HRS reversal</c:v>
                  </c:pt>
                  <c:pt idx="1">
                    <c:v>Respiratory death by day 90</c:v>
                  </c:pt>
                </c:lvl>
              </c:multiLvlStrCache>
            </c:multiLvlStrRef>
          </c:cat>
          <c:val>
            <c:numRef>
              <c:f>Sheet1!$C$2:$C$3</c:f>
              <c:numCache>
                <c:formatCode>General</c:formatCode>
                <c:ptCount val="2"/>
                <c:pt idx="0">
                  <c:v>17</c:v>
                </c:pt>
                <c:pt idx="1">
                  <c:v>2</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0"/>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Pulmonary and critical care fellows. About 60 minutes with questions as we go. Two patients in the unit at the same time. Everything in the cases is made up for teaching; none of it is a real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get to each of these through two patients who are in the unit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both up front so the contrast is there from the start. We'll start with bed 4 and come back to bed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commit. Most people will say yes because the numbers are huge. The aminotransferases tell you hepatocytes are dying. They don't tell you whether the liver is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distinction as in the acute liver injury lecture: the size of the enzyme rise is not the severity of the illness.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Liver failure is a clinical diagnosis: coagulopathy plus encephalopathy in someone without cirrhosis. Ask for the INR and examine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Coagulopathy, encephalopathy, short course, no cirrhosis. Note the glucose: hypoglycemia is part of the picture, and it is also a reason the mental status can look worse than it is. Fix the glucose and re-examine.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Coagulopathy, encephalopathy, short course, no cirrhosis. Note the glucose: hypoglycemia is part of the picture, and it is also a reason the mental status can look worse than it is. Fix the glucose and re-examine.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course is not trivia. The faster it comes on, the more you worry about the brain, and paradoxically the better the chance of spontaneous recovery. The slow ones have less cerebral edema but do worse without a transplant. Patient A is hyperacute.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errors in opposite directions. Calling everything with a high INR liver failure, and blaming every change in mental status on the 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list organs. Most will get brain and kidney. Fewer think of the adrenals, the marrow or the immune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these patients are ICU patients. Hypoglycemia, lactic acidosis, vasodilatory shock, relative adrenal insufficiency, AKI, lung injury and a high risk of infection. The liver is one organ on this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 for answers. Usually people list tests in order. That's the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mistake is a serial workup: wait for the hepatitis panel, then the autoimmune markers, then act. Support and workup run in parallel. Who else to call, and when, comes later in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Clues: acetaminophen gives the highest aminotransferases with a low bilirubin early. HSV is often anicteric with fever and leukopenia, and a rash is absent in about half. HBV reactivation follows chemotherapy, rituximab or steroids. Wilson: young, Coombs-negative hemolysis, ALP disproportionately low (ALP to bilirubin ratio under 4), AST to ALT over 2.2. Ischemic hepatitis peaks early with a very high LDH and falls fast once the circulation is fixed. The point of the workup in the ICU is the column on the right. Some of these you start empirically before the test comes back: NAC, acyclovir. Negative autoimmune serologies do not exclude acute AIH. Wilson disease presenting as ALF basically means transplant.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Clues: acetaminophen gives the highest aminotransferases with a low bilirubin early. HSV is often anicteric with fever and leukopenia, and a rash is absent in about half. HBV reactivation follows chemotherapy, rituximab or steroids. Wilson: young, Coombs-negative hemolysis, ALP disproportionately low (ALP to bilirubin ratio under 4), AST to ALT over 2.2. Ischemic hepatitis peaks early with a very high LDH and falls fast once the circulation is fixed. The point of the workup in the ICU is the column on the right. Some of these you start empirically before the test comes back: NAC, acyclovir. Negative autoimmune serologies do not exclude acute AIH. Wilson disease presenting as ALF basically means transplant.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Combination products are where the hidden acetaminophen is. Ask about every over-the-counter product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undetectable or low level late in the course does not exclude acetaminophen toxicity [PMID: 36001996]. NAC is safe enough that the threshold to start it is low. Dosing per your pharmacy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ALFSG trial: 173 adults with non-acetaminophen ALF, NAC or placebo for 72 hours, 24 US centers. Read their conclusion, then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survival at 3 weeks was not different. The transplant-free survival benefit was in coma grade I-II, which is a subgroup. That doesn't support NAC in advanced non-acetaminophen ALF or in ACLF. ACG 2023 suggests NAC in non-acetaminophen ALF; this trial is why the early-coma patients are the ones most likely to benefit. And don't carry the grade III-IV result over to Patient A: in acetaminophen ALF, NAC continues when she gets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 12. Hepatology has seen her and the transplant evaluation is under way. Let them pick. Kidney? Lactate? The answer for a hyperacute patient with this ammonia is the 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decisions we own as intensivists. Before answering, why is the brain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ammonia is actionable in ALF. The brain has no time to adapt, unlike in cirrhosis where astrocytes compensate over months. Every element of the bundle that follows maps to a box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Alzheimer type II astrocytes are a sign of chronic hyperammonemia: cirrhosis, Wilson disease, urea cycle defects. They show adaptation. In hyperacute ALF the astrocytes don't get the time, which is why the young acetaminophen patient herniates at an ammonia a cirrhotic would tolerate. Point at the big pale nucleus in the middle, then the small dark normal nuclei.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in Copenhagen, ammonia was drawn at the onset of grade III encephalopathy. The 14 patients who herniated had about twice the arterial ammonia of those who didn't, and all of them were above 146. Right: in Delhi, ammonia that stayed at or above 122 for three days went with a third of the survival and twice the cerebral edema of ammonia that came down. These are associations, not proof that lowering the number saves the patient, but they are why we trend it. In Bernal's King's cohort, more than 200 meant intracranial hypertension in 55%, yet most patients who developed ICH were below 200. Practical point: whatever you send, put it on ice and get it run quickly. A delayed sample reads falsely high. In cirrhosis, a single ammonia doesn't diagnose HE and shouldn't be trended to dose lactulose.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in Copenhagen, ammonia was drawn at the onset of grade III encephalopathy. The 14 patients who herniated had about twice the arterial ammonia of those who didn't, and all of them were above 146. Right: in Delhi, ammonia that stayed at or above 122 for three days went with a third of the survival and twice the cerebral edema of ammonia that came down. These are associations, not proof that lowering the number saves the patient, but they are why we trend it. In Bernal's King's cohort, more than 200 meant intracranial hypertension in 55%, yet most patients who developed ICH were below 200. Practical point: whatever you send, put it on ice and get it run quickly. A delayed sample reads falsely high. In cirrhosis, a single ammonia doesn't diagnose HE and shouldn't be trended to dose lactulose.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ALF Study Group data were a retrospective comparison presented only as an abstract: a small increase in survival time with lactulose, no difference in encephalopathy grade or overall outcome. The 2011 AASLD position paper allowed lactulose in early encephalopathy, orally or rectally, but not to the point of diarrhea, and warned about bowel distension during transplant. Neither the 2023 ACG guideline nor EASL 2017 recommends it. What actually lowers her ammonia comes in a few slides; don't give it away here. In ACLF it's the opposite: lactulose is first-line for overt 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intubate her now. Most fellows want to wait. In ALF the progression from grade II to grade IV can be fast, and an emergency intubation in a coagulopathic, hypotensive patient with a swollen brain is the worst version of this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goals are airway protection, controlled ventilation, and no swings in blood pressure or CO2. Peri-intubation hypotension drops cerebral perfusion pressure; coughing raises ICP. Plan it like a neuro intubation.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PCCM-specific tradeoff. ARDS teaching says accept hypercapnia. Neuro teaching says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tidal volume still applies. What changes is the CO2 target. Prophylactic hyperventilation is out; brief hyperventilation as a bridge in impending herniation is a different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if you don't have the slide. It's the reason the ARDS habit of tolerating a high CO2 doesn't carry over to a patient with grade III-IV encephalopathy and a high ammonia.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Sodium targets differ between sources: the 2022 update uses 145 to 155 for prevention, the 2024 practical review a lower range. Agree on one with transplant hepatology and write it in the orders. Hypertonic saline is a conditional SCCM recommendation for patients at risk of intracranial hypertension. The cooling trial randomized intubated high-risk ALF patients to 34 vs 36 °C for 72 hours; no difference in intracranial hypertension or survival. Avoid fever, don't induce hypothermia.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pupil asymmetry or a sudden change in the exam is enough to act. Treat first, then image if a bleed or another structural lesion 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Nephrology will often say the creatinine doesn't meet criteria. That's the wrong frame for 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Ammonia around 150 to 200 is a high-risk context in the literature, not a universal threshold. Look at the trajectory and the neuro exam. Coordinate the CRRT fluid with the sodium plan or the dialysis will pull her sodium back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 12, CRRT is starting. Very common request from the procedure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INR is a great marker of liver function and a poor marker of bleeding risk in ALF. Spontaneous bleeding is uncommon. Ask transplant hepatology before giving plasma: they need the native INR.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the question: in most patients, normal. 51 patients with acute liver injury (INR at least 1.5) or ALF (the same plus encephalopathy), mean INR 3.4, range 1.5 to 9.6. 32 of 51 (63%) had all five TEG parameters normal; 8 had one abnormal in the hypocoagulable direction, 5 had two, 4 had three, 2 had four. 4 patients (8%) had parameters in the hypercoagulable range. Lysis at 30 minutes was normal in all 51. Factors V and VII were low, but protein C, protein S and antithrombin fell too, and factor VIII was about 4 times normal. The INR measures only the procoagulant factors the liver makes; the liver also makes the anticoagulants, which fall just as far, and the endothelium pours out factor VIII and von Willebrand factor. The TEG sees the whole balance. That's why spontaneous bleeding is uncommon and why plasma before a line is not needed. Caveat: TEG is not validated to predict procedural bleeding, and a low platelet count or low fibrinogen still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sides go down together. The INR only tests the left pan, so it makes the patient look much more anticoagulated than she is. Viscoelastic tests look at clot formation in whole blood and in ALF are often close to normal despite a high INR, though they miss the endothelium and the protein C system too. The balance is fragile: infection, kidney failure and procedures tip it, and thrombosis, including line-related clots,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universal dose or ammonia target to stop at; use your center's protocol. Where it usually goes wrong is the circuit: it keeps clotting, so the delivered clearance is a fraction of what was ordered. The other problem is a sodium plan that nobody owns. Citrate can build up in liver failure, so follow the total to ionized calcium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Someone in the room has heard it from nephrology.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room enjoy it, then the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hear this from nephrology. The physiology says otherwise: ammonia is a small, unbound, water-soluble molecule, and it moves across a high-flux filter with convection as well as diffusion. In Fisher's study of 12 patients with liver failure the three modalities gave similar ammonia clearance at the same effluent rate (no significant difference), and in the same patients urea clearance was about 50 mL/min and creatinine 42, so ammonia clears less well than urea but clearly clears. Why the doubt? The liver and the muscle keep making it, so the level falls slowly; a clotting circuit with a lot of downtime delivers much less than what was ordered; and at low effluent doses the effect is small. In Warrillow's cohort the fall tracked how long patients were on CRRT more than the hourly dose. Ask for a high effluent rate and an anticoagulation plan that keeps the filter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2026 trial is interesting but don't oversell it. The early mortality signal is real in the abstract; 28-day survival by intention to treat was comparable, and the per-protocol analysis is biased by crossovers. Read the full methods before quoting more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2026 trial is interesting but don't oversell it. The early mortality signal is real in the abstract; 28-day survival by intention to treat was comparable, and the per-protocol analysis is biased by crossovers. Read the full methods before quoting more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only the enzymes. Most of the room will say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Falling AST and ALT don't prove recovery. A rising INR, rising lactate and worse encephalopathy mean she is getting worse despite lower enzymes. One explanation is that there is little liver left to release them; shock and other causes also push the lactate up. Read the whole trajectory, not one line [PMID: 36001996]. Point out the day 2 arterial pH of 7.26 after fluids. It comes back on the King's College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King's College criteria are specific but not very sensitive. If you wait for them, the evaluation starts too late. Patient A now meets acetaminophen criteria by pH, but the call happened on admission. Transplant referral, listing and allocation are separate decisions; the transplant team handles the last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Larsen: high-volume plasma exchange removes cytokines and DAMPs and replaces coagulation factors; hospital survival was better in the trial. Burke: all seven UK transplant centers, 2013 to 2021, propensity matched. Noradrenaline fell from 0.35 to 0.16 mcg/kg/min after plasma exchange, but overall survival (51.4% vs 62.6%) and transplant-free survival (42.6% vs 53.1%) were not better. Observational, so the sicker patients may have been the ones who got it. If you use it, use it early and as a bridge, and don't delay listing for it. The INR after plasma exchange is no longer the patient's INR, so tell transplant hepatology before the first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she is while she waits. What would take her off the list: fixed dilated pupils, uncontrolled sepsis, rising support despite everything. If she becomes hypotensive: norepinephrine first, vasopressin next, hydrocortisone if refractory, and keep the MAP high enough for cerebral perfusion. Status 1A is the OPTN category for ALF in the ICU; check current policy before quoting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patient, in the unit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Made-up patient. Same day, bed 7. After 2 L of fluid he is on norepinephrine 0.15 mcg/kg/min.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as bed 4: treat first, label later. We'll count organs once the antibiotics are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tipped him over before showing the answer. Then the procedural question: people hesitate to tap a coagulopathic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Diagnostic paracentesis is low risk and should not wait for correction of the INR or platelets. Infection is the most common precipitant of ACLF in Western cohorts.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list causes before you show the figure. Most will say sepsis and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SBP, cover for prior antibiotic exposure and local resistance. Albumin is a reasonable resuscitation fluid in cirrhosis, but every bag goes somewhere. Keep that in mind for the next few slides. Sources: Surviving Sepsis 2026 [PMID: 41869847]; SCCM 2020 [PMID: 32058387]; EASL ACLF 2023 [PMID: 37364789].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A is in the first column, patient B in the last. The words sound alike; the ICU problems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A is in the first column, patient B in the last. The words sound alike; the ICU problems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room count with you. Liver failure here means a bilirubin of 12, which surprises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Kidney and circulation. Respiratory is borderline: PaO2 74 on a Venturi mask at 0.35 is a P/F of 211. That's why he's on a Venturi mask here: nasal cannula doesn't give you a reliable FiO2, so if the grade depends on the lungs, get a gas on a known FiO2. Watch that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B is grade 2 on day 1. That is a group number from a 2013 cohort, not his number. The jump to grade 3 is the one to remember. The grade at days 3 to 7 says more than the grade at admission, which comes back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reflex in many units: oliguric cirrhotic, give albumin for 48 hours, then terlipressin.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room fill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AKI here means creatinine up 0.3 mg/dL or more within 48 hours, or 50% or more within 7 days, and/or urine output 0.5 mL/kg/h or less for 6 hours or more. The mandatory 48-hour albumin challenge is gone, and a patient who is already wet doesn't need a fluid challenge to satisfy a clock. HRS physiology and tubular injury can coexist. Assessment is faster and individualized. But that cuts both ways: you also need to look for the other causes, and right now sepsis is the obvious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kidney is worse, and the reflex is to treat the kidney.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Kidney, circulation and now lungs: ACLF grade 3. Fluid and albumin are a likely part of this, with B-lines and a full IVC. But think about pneumonia, ARDS and the heart too before you decide it's all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Bilateral airspace disease on the film and many B-lines on ultrasound: water in the lungs. It could still be pneumonia or ARDS, so look at the whole picture before you call it all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terlipressin dose: baseline SpO2, lung exam, volume status, and whether he is ACLF grade 3. Norepinephrine is an ICU alternative for HRS when terlipressin is contraindicated or unavailable. RRT for volume overload or acidosis follows the usual ICU indications. RRT for HRS alone is a bridge to transplant; in a patient who is not a candidate, it is a goals-of-care conversation first, and a time-limited trial is one honest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respiratory harm clustered in patients with volume overload and ACLF grade 3, which is how the label language came about. The label's own reanalysis gives slightly different reversal numbers (29% vs 16%); either way the direction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ATTIRE doesn't invalidate albumin for its accepted uses. It does tell you that giving albumin to fix a number causes harm without benefit. Patient B got the right albumin for SBP and still got wet.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CRRT started for fluid overload and oliguria, while the transplant evaluation was under way. Ask the room whether he is better or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Grading is a snapshot; the trend is what you act on. Kidney failure on RRT still counts as an organ failure. Bring palliative care in alongside, not instead of, full support. Document what the time-limited trial is and when you'll reassess.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question both families will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Referral, candidacy, listing and allocation are four different decisions. The ICU team owns the referral and the information. Status 1A and other allocation rules: check current OPTN policy before quoting them. Artru's comparison is not randomized: the transplanted patients were selected, so the gap overstates what transplant adds for an unselected ACLF 3 patient. It still shows that ACLF 3 alone is not a reason to say no. The curve shows 83.6% for all 73 transplanted patients; the abstract's 83.9% vs 7.9% is the matched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made it, which is not the usual story. Bed 7 could just as easily have stayed ACLF 3 on day 5, and then the conversation is the one on the transplant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Don't put the answers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ALF, grade III-IV is the intubation and ICP-risk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 but not sensitive. Use them to understand prognosis, not to decide when to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used arterial ammonia, measured in micromoles per liter. The pattern is consistent: higher and more persistent ammonia, more cerebral edema and death. But no single cutoff works on its own. In Bernal's King's cohort, more than 200 meant intracranial hypertension in 55%, yet most patients who developed ICH were below 200. So use it as a risk marker together with the grade of encephalopathy, the time course and the trend. Patient A went 182 then 214. That's the trajectory you act on with CRRT. Practical point: whatever you send, arterial or venous, put it on ice and get it run quickly. A delayed sample reads falsely high. In cirrhosis, by contrast, a single ammonia doesn't diagnose HE and shouldn't be trended to dose lactulose.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worth memorizing all three. Worth knowing that a paper's 'ACLF' may not be your patient's ACLF. The talk uses EASL-CLIF.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study that broke the six-month rule. The selection was strict, and later US data (ACCELERATE-AH) showed similar results in selected patients. Patient B's trigger was SBP, not alcohol-associated hepatitis; this is here for the alcohol question that comes up with every cirrhotic in the ICU. The alcohol history is a question for the transplant team, not a decision the ICU makes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on this list should delay the first call. A good call makes the transplant team's decision faster. Trends, not single values. Referral, candidacy, listing and allocation are separate decisions; the first one is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lstStyle>
            <a:lvl1pPr algn="ctr" indent="0" marL="0">
              <a:buNone/>
              <a:defRPr lang="en-US" sz="3000" dirty="0">
                <a:solidFill>
                  <a:srgbClr val="000000"/>
                </a:solidFill>
                <a:latin typeface="Georgia" pitchFamily="34" charset="0"/>
                <a:ea typeface="Georgia" pitchFamily="34" charset="-122"/>
                <a:cs typeface="Georgia" pitchFamily="34" charset="-120"/>
              </a:defRPr>
            </a:lvl1pPr>
          </a:lstStyle>
          <a:p>
            <a:pPr algn="ctr"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728655" cy="1280160"/>
          </a:xfrm>
          <a:prstGeom prst="rect">
            <a:avLst/>
          </a:prstGeom>
          <a:noFill/>
          <a:ln/>
        </p:spPr>
        <p:txBody>
          <a:bodyPr wrap="square" rtlCol="0"/>
          <a:lstStyle>
            <a:lvl1pPr algn="ctr" indent="0" marL="0">
              <a:buNone/>
              <a:defRPr lang="en-US" sz="4400" dirty="0">
                <a:solidFill>
                  <a:srgbClr val="000000"/>
                </a:solidFill>
                <a:latin typeface="Georgia" pitchFamily="34" charset="0"/>
                <a:ea typeface="Georgia" pitchFamily="34" charset="-122"/>
                <a:cs typeface="Georgia" pitchFamily="34" charset="-120"/>
              </a:defRPr>
            </a:lvl1pPr>
          </a:lstStyle>
          <a:p>
            <a:pPr algn="ctr"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chart" Target="/ppt/charts/chart3.xml"/><Relationship Id="rId3" Type="http://schemas.openxmlformats.org/officeDocument/2006/relationships/chart" Target="/ppt/charts/chart4.xml"/><Relationship Id="rId1" Type="http://schemas.openxmlformats.org/officeDocument/2006/relationships/image" Target="../media/image-29-1.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chart" Target="/ppt/charts/chart5.xml"/><Relationship Id="rId3" Type="http://schemas.openxmlformats.org/officeDocument/2006/relationships/chart" Target="/ppt/charts/chart6.xml"/><Relationship Id="rId1" Type="http://schemas.openxmlformats.org/officeDocument/2006/relationships/image" Target="../media/image-30-1.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chart" Target="/ppt/charts/chart7.xml"/><Relationship Id="rId1" Type="http://schemas.openxmlformats.org/officeDocument/2006/relationships/image" Target="../media/image-45-1.jpg"/><Relationship Id="rId3" Type="http://schemas.openxmlformats.org/officeDocument/2006/relationships/slideLayout" Target="../slideLayouts/slideLayout4.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2.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4.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4.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4.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2.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2.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slideLayout" Target="../slideLayouts/slideLayout4.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slideLayout" Target="../slideLayouts/slideLayout2.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slideLayout" Target="../slideLayouts/slideLayout2.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slideLayout" Target="../slideLayouts/slideLayout2.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slideLayout" Target="../slideLayouts/slideLayout2.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image" Target="../media/image-92-2.png"/><Relationship Id="rId3" Type="http://schemas.openxmlformats.org/officeDocument/2006/relationships/slideLayout" Target="../slideLayouts/slideLayout4.xml"/><Relationship Id="rId4"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2.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atercolor illustration of a liver in dim ICU light, on ivory pap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6492240" y="1600200"/>
            <a:ext cx="5287975" cy="1325880"/>
          </a:xfrm>
          <a:prstGeom prst="rect">
            <a:avLst/>
          </a:prstGeom>
          <a:noFill/>
          <a:ln/>
        </p:spPr>
        <p:txBody>
          <a:bodyPr wrap="square" lIns="0" tIns="0" rIns="0" bIns="0" rtlCol="0" anchor="ctr"/>
          <a:lstStyle/>
          <a:p>
            <a:pPr algn="ctr" indent="0" marL="0">
              <a:buNone/>
            </a:pPr>
            <a:r>
              <a:rPr lang="en-US" sz="3800" b="1" dirty="0">
                <a:solidFill>
                  <a:srgbClr val="000000"/>
                </a:solidFill>
                <a:latin typeface="Georgia" pitchFamily="34" charset="0"/>
                <a:ea typeface="Georgia" pitchFamily="34" charset="-122"/>
                <a:cs typeface="Georgia" pitchFamily="34" charset="-120"/>
              </a:rPr>
              <a:t>Acute Liver Failure</a:t>
            </a:r>
            <a:endParaRPr lang="en-US" sz="3800" dirty="0"/>
          </a:p>
          <a:p>
            <a:pPr algn="ctr" indent="0" marL="0">
              <a:buNone/>
            </a:pPr>
            <a:r>
              <a:rPr lang="en-US" sz="3400" b="1" dirty="0">
                <a:solidFill>
                  <a:srgbClr val="000000"/>
                </a:solidFill>
                <a:latin typeface="Georgia" pitchFamily="34" charset="0"/>
                <a:ea typeface="Georgia" pitchFamily="34" charset="-122"/>
                <a:cs typeface="Georgia" pitchFamily="34" charset="-120"/>
              </a:rPr>
              <a:t>and ACLF in the ICU</a:t>
            </a:r>
            <a:endParaRPr lang="en-US" sz="3800" dirty="0"/>
          </a:p>
        </p:txBody>
      </p:sp>
      <p:sp>
        <p:nvSpPr>
          <p:cNvPr id="4" name="Shape 1"/>
          <p:cNvSpPr/>
          <p:nvPr/>
        </p:nvSpPr>
        <p:spPr>
          <a:xfrm>
            <a:off x="7589520" y="3291840"/>
            <a:ext cx="3093415" cy="0"/>
          </a:xfrm>
          <a:prstGeom prst="line">
            <a:avLst/>
          </a:prstGeom>
          <a:noFill/>
          <a:ln w="12700">
            <a:solidFill>
              <a:srgbClr val="A6A6A6"/>
            </a:solidFill>
            <a:prstDash val="solid"/>
          </a:ln>
        </p:spPr>
      </p:sp>
      <p:sp>
        <p:nvSpPr>
          <p:cNvPr id="5" name="Text 2"/>
          <p:cNvSpPr txBox="1"/>
          <p:nvPr/>
        </p:nvSpPr>
        <p:spPr>
          <a:xfrm>
            <a:off x="6492240" y="3657600"/>
            <a:ext cx="5287975" cy="1463040"/>
          </a:xfrm>
          <a:prstGeom prst="rect">
            <a:avLst/>
          </a:prstGeom>
          <a:noFill/>
          <a:ln/>
        </p:spPr>
        <p:txBody>
          <a:bodyPr wrap="square" lIns="0" tIns="0" rIns="0" bIns="0" rtlCol="0" anchor="t"/>
          <a:lstStyle/>
          <a:p>
            <a:pPr algn="ctr" indent="0" marL="0">
              <a:spcAft>
                <a:spcPts val="400"/>
              </a:spcAft>
              <a:buNone/>
            </a:pPr>
            <a:r>
              <a:rPr lang="en-US" sz="2000" b="1" dirty="0">
                <a:solidFill>
                  <a:srgbClr val="000000"/>
                </a:solidFill>
                <a:latin typeface="Georgia" pitchFamily="34" charset="0"/>
                <a:ea typeface="Georgia" pitchFamily="34" charset="-122"/>
                <a:cs typeface="Georgia" pitchFamily="34" charset="-120"/>
              </a:rPr>
              <a:t>Mohammad Almeqdadi, MD</a:t>
            </a:r>
            <a:endParaRPr lang="en-US" sz="2000" dirty="0"/>
          </a:p>
          <a:p>
            <a:pPr algn="ctr" indent="0" marL="0">
              <a:spcAft>
                <a:spcPts val="400"/>
              </a:spcAft>
              <a:buNone/>
            </a:pPr>
            <a:r>
              <a:rPr lang="en-US" sz="1600" dirty="0">
                <a:solidFill>
                  <a:srgbClr val="000000"/>
                </a:solidFill>
                <a:latin typeface="Georgia" pitchFamily="34" charset="0"/>
                <a:ea typeface="Georgia" pitchFamily="34" charset="-122"/>
                <a:cs typeface="Georgia" pitchFamily="34" charset="-120"/>
              </a:rPr>
              <a:t>Transplant Hepatologist and Gastroenterologist</a:t>
            </a:r>
            <a:endParaRPr lang="en-US" sz="2000" dirty="0"/>
          </a:p>
          <a:p>
            <a:pPr algn="ctr" indent="0" marL="0">
              <a:spcAft>
                <a:spcPts val="400"/>
              </a:spcAft>
              <a:buNone/>
            </a:pPr>
            <a:r>
              <a:rPr lang="en-US" sz="1600" dirty="0">
                <a:solidFill>
                  <a:srgbClr val="000000"/>
                </a:solidFill>
                <a:latin typeface="Georgia" pitchFamily="34" charset="0"/>
                <a:ea typeface="Georgia" pitchFamily="34" charset="-122"/>
                <a:cs typeface="Georgia" pitchFamily="34" charset="-120"/>
              </a:rPr>
              <a:t>Assistant Professor of Medicine and Surgery</a:t>
            </a:r>
            <a:endParaRPr lang="en-US" sz="2000" dirty="0"/>
          </a:p>
          <a:p>
            <a:pPr algn="ctr" indent="0" marL="0">
              <a:spcAft>
                <a:spcPts val="400"/>
              </a:spcAft>
              <a:buNone/>
            </a:pPr>
            <a:r>
              <a:rPr lang="en-US" sz="1600" dirty="0">
                <a:solidFill>
                  <a:srgbClr val="595959"/>
                </a:solidFill>
                <a:latin typeface="Georgia" pitchFamily="34" charset="0"/>
                <a:ea typeface="Georgia" pitchFamily="34" charset="-122"/>
                <a:cs typeface="Georgia" pitchFamily="34" charset="-120"/>
              </a:rPr>
              <a:t>X: @mfalmeqdadi</a:t>
            </a:r>
            <a:endParaRPr lang="en-US" sz="2000" dirty="0"/>
          </a:p>
        </p:txBody>
      </p:sp>
      <p:pic>
        <p:nvPicPr>
          <p:cNvPr id="6" name="Image 1" descr="Tufts University School of Medicine">    </p:cNvPr>
          <p:cNvPicPr>
            <a:picLocks noChangeAspect="1"/>
          </p:cNvPicPr>
          <p:nvPr/>
        </p:nvPicPr>
        <p:blipFill>
          <a:blip r:embed="rId2"/>
          <a:stretch>
            <a:fillRect/>
          </a:stretch>
        </p:blipFill>
        <p:spPr>
          <a:xfrm>
            <a:off x="6629400" y="5349240"/>
            <a:ext cx="3465576" cy="704088"/>
          </a:xfrm>
          <a:prstGeom prst="rect">
            <a:avLst/>
          </a:prstGeom>
        </p:spPr>
      </p:pic>
      <p:pic>
        <p:nvPicPr>
          <p:cNvPr id="7" name="Image 2" descr="QR code linking to the slides PDF">    </p:cNvPr>
          <p:cNvPicPr>
            <a:picLocks noChangeAspect="1"/>
          </p:cNvPicPr>
          <p:nvPr/>
        </p:nvPicPr>
        <p:blipFill>
          <a:blip r:embed="rId3"/>
          <a:stretch>
            <a:fillRect/>
          </a:stretch>
        </p:blipFill>
        <p:spPr>
          <a:xfrm>
            <a:off x="10637215" y="4846320"/>
            <a:ext cx="1188720" cy="1188720"/>
          </a:xfrm>
          <a:prstGeom prst="rect">
            <a:avLst/>
          </a:prstGeom>
        </p:spPr>
      </p:pic>
      <p:sp>
        <p:nvSpPr>
          <p:cNvPr id="8" name="Text 3"/>
          <p:cNvSpPr txBox="1"/>
          <p:nvPr/>
        </p:nvSpPr>
        <p:spPr>
          <a:xfrm>
            <a:off x="10518343" y="6080760"/>
            <a:ext cx="1417320" cy="274320"/>
          </a:xfrm>
          <a:prstGeom prst="rect">
            <a:avLst/>
          </a:prstGeom>
          <a:noFill/>
          <a:ln/>
        </p:spPr>
        <p:txBody>
          <a:bodyPr wrap="square" lIns="0" tIns="0" rIns="0" bIns="0" rtlCol="0" anchor="ctr"/>
          <a:lstStyle/>
          <a:p>
            <a:pPr algn="ctr" indent="0" marL="0">
              <a:buNone/>
            </a:pPr>
            <a:r>
              <a:rPr lang="en-US" sz="1100" dirty="0">
                <a:solidFill>
                  <a:srgbClr val="595959"/>
                </a:solidFill>
                <a:latin typeface="Georgia" pitchFamily="34" charset="0"/>
                <a:ea typeface="Georgia" pitchFamily="34" charset="-122"/>
                <a:cs typeface="Georgia" pitchFamily="34" charset="-120"/>
              </a:rPr>
              <a:t>Slides (PDF)</a:t>
            </a:r>
            <a:endParaRPr lang="en-US" sz="1100" dirty="0"/>
          </a:p>
        </p:txBody>
      </p:sp>
      <p:sp>
        <p:nvSpPr>
          <p:cNvPr id="9" name="Text 4"/>
          <p:cNvSpPr txBox="1"/>
          <p:nvPr/>
        </p:nvSpPr>
        <p:spPr>
          <a:xfrm>
            <a:off x="365760" y="6400800"/>
            <a:ext cx="4572000" cy="274320"/>
          </a:xfrm>
          <a:prstGeom prst="rect">
            <a:avLst/>
          </a:prstGeom>
          <a:noFill/>
          <a:ln/>
        </p:spPr>
        <p:txBody>
          <a:bodyPr wrap="square" lIns="0" tIns="0" rIns="0" bIns="0" rtlCol="0" anchor="ctr"/>
          <a:lstStyle/>
          <a:p>
            <a:pPr indent="0" marL="0">
              <a:buNone/>
            </a:pPr>
            <a:r>
              <a:rPr lang="en-US" sz="1100" i="1" dirty="0">
                <a:solidFill>
                  <a:srgbClr val="7F7F7F"/>
                </a:solidFill>
                <a:latin typeface="Georgia" pitchFamily="34" charset="0"/>
                <a:ea typeface="Georgia" pitchFamily="34" charset="-122"/>
                <a:cs typeface="Georgia" pitchFamily="34" charset="-120"/>
              </a:rPr>
              <a:t>Illustrations generated with Google Gemini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Objectives</a:t>
            </a:r>
            <a:endParaRPr lang="en-US" sz="3000" dirty="0"/>
          </a:p>
        </p:txBody>
      </p:sp>
      <p:sp>
        <p:nvSpPr>
          <p:cNvPr id="3" name="Body"/>
          <p:cNvSpPr txBox="1"/>
          <p:nvPr/>
        </p:nvSpPr>
        <p:spPr>
          <a:xfrm>
            <a:off x="1463040" y="1234440"/>
            <a:ext cx="9265615" cy="457200"/>
          </a:xfrm>
          <a:prstGeom prst="rect">
            <a:avLst/>
          </a:prstGeom>
          <a:noFill/>
          <a:ln/>
        </p:spPr>
        <p:txBody>
          <a:bodyPr wrap="square" lIns="50800" tIns="50800" rIns="50800" bIns="50800" rtlCol="0" anchor="t"/>
          <a:lstStyle/>
          <a:p>
            <a:pPr indent="0" marL="0">
              <a:spcBef>
                <a:spcPts val="800"/>
              </a:spcBef>
              <a:buNone/>
            </a:pPr>
            <a:r>
              <a:rPr lang="en-US" sz="2200" i="1" dirty="0">
                <a:solidFill>
                  <a:srgbClr val="000000"/>
                </a:solidFill>
                <a:latin typeface="Georgia" pitchFamily="34" charset="0"/>
                <a:ea typeface="Georgia" pitchFamily="34" charset="-122"/>
                <a:cs typeface="Georgia" pitchFamily="34" charset="-120"/>
              </a:rPr>
              <a:t>By the end of this talk you should be able to:</a:t>
            </a:r>
            <a:endParaRPr lang="en-US" sz="2200" dirty="0"/>
          </a:p>
        </p:txBody>
      </p:sp>
      <p:sp>
        <p:nvSpPr>
          <p:cNvPr id="4" name="Body"/>
          <p:cNvSpPr txBox="1"/>
          <p:nvPr/>
        </p:nvSpPr>
        <p:spPr>
          <a:xfrm>
            <a:off x="1463040" y="1874520"/>
            <a:ext cx="9265615" cy="4389120"/>
          </a:xfrm>
          <a:prstGeom prst="rect">
            <a:avLst/>
          </a:prstGeom>
          <a:noFill/>
          <a:ln/>
        </p:spPr>
        <p:txBody>
          <a:bodyPr wrap="square" lIns="50800" tIns="50800" rIns="50800" bIns="50800" rtlCol="0" anchor="t"/>
          <a:lstStyle/>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Tell acute liver failure apart from severe acute liver injury and from ACLF</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Plan the first hour of care in ALF</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Manage the brain and the ammonia in ALF</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Recognize and grade ACLF, and find the trigger</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Work through AKI in cirrhosis</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Know when to call transplant hepatology</a:t>
            </a:r>
            <a:endParaRPr lang="en-US" sz="22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2/58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Bed 4 and bed 7</a:t>
            </a:r>
            <a:endParaRPr lang="en-US" sz="30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365760" y="1737360"/>
          <a:ext cx="6583680" cy="914400"/>
        </p:xfrm>
        <a:graphic>
          <a:graphicData uri="http://schemas.openxmlformats.org/drawingml/2006/table">
            <a:tbl>
              <a:tblPr/>
              <a:tblGrid>
                <a:gridCol w="3054096"/>
                <a:gridCol w="3529584"/>
              </a:tblGrid>
              <a:tr h="502920">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Bed 4</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Bed 7</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28-year-old woman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56-year-old man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 known liver disease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Alcohol-related cirrhosis with ascites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Nausea and vomiting for 4 days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Fever, confusion, low blood pressure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two empty ICU beds side by side">    </p:cNvPr>
          <p:cNvPicPr>
            <a:picLocks noChangeAspect="1"/>
          </p:cNvPicPr>
          <p:nvPr/>
        </p:nvPicPr>
        <p:blipFill>
          <a:blip r:embed="rId1"/>
          <a:stretch>
            <a:fillRect/>
          </a:stretch>
        </p:blipFill>
        <p:spPr>
          <a:xfrm>
            <a:off x="7086600" y="1188720"/>
            <a:ext cx="4754880" cy="3278679"/>
          </a:xfrm>
          <a:prstGeom prst="rect">
            <a:avLst/>
          </a:prstGeom>
        </p:spPr>
      </p:pic>
      <p:sp>
        <p:nvSpPr>
          <p:cNvPr id="5" name="Body"/>
          <p:cNvSpPr txBox="1"/>
          <p:nvPr/>
        </p:nvSpPr>
        <p:spPr>
          <a:xfrm>
            <a:off x="822960" y="5440680"/>
            <a:ext cx="10545775" cy="548640"/>
          </a:xfrm>
          <a:prstGeom prst="rect">
            <a:avLst/>
          </a:prstGeom>
          <a:noFill/>
          <a:ln/>
        </p:spPr>
        <p:txBody>
          <a:bodyPr wrap="square" lIns="50800" tIns="50800" rIns="50800" bIns="50800" rtlCol="0" anchor="t"/>
          <a:lstStyle/>
          <a:p>
            <a:pPr algn="ctr" indent="0" marL="0">
              <a:spcBef>
                <a:spcPts val="800"/>
              </a:spcBef>
              <a:buNone/>
            </a:pPr>
            <a:r>
              <a:rPr lang="en-US" sz="2200" i="1" dirty="0">
                <a:solidFill>
                  <a:srgbClr val="000000"/>
                </a:solidFill>
                <a:latin typeface="Georgia" pitchFamily="34" charset="0"/>
                <a:ea typeface="Georgia" pitchFamily="34" charset="-122"/>
                <a:cs typeface="Georgia" pitchFamily="34" charset="-120"/>
              </a:rPr>
              <a:t>Is it the same disease?</a:t>
            </a:r>
            <a:endParaRPr lang="en-US" sz="22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3/58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Watercolor of an empty ICU bed with an IV pole and monito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548640" y="1417320"/>
            <a:ext cx="5212080" cy="2011680"/>
          </a:xfrm>
          <a:prstGeom prst="rect">
            <a:avLst/>
          </a:prstGeom>
          <a:noFill/>
          <a:ln/>
        </p:spPr>
        <p:txBody>
          <a:bodyPr wrap="square" lIns="0" tIns="0" rIns="0" bIns="0" rtlCol="0" anchor="b"/>
          <a:lstStyle/>
          <a:p>
            <a:pPr algn="ctr" indent="0" marL="0">
              <a:buNone/>
            </a:pPr>
            <a:r>
              <a:rPr lang="en-US" sz="4800" dirty="0">
                <a:solidFill>
                  <a:srgbClr val="000000"/>
                </a:solidFill>
                <a:latin typeface="Georgia" pitchFamily="34" charset="0"/>
                <a:ea typeface="Georgia" pitchFamily="34" charset="-122"/>
                <a:cs typeface="Georgia" pitchFamily="34" charset="-120"/>
              </a:rPr>
              <a:t>Bed 4</a:t>
            </a:r>
            <a:endParaRPr lang="en-US" sz="4800" dirty="0"/>
          </a:p>
        </p:txBody>
      </p:sp>
      <p:sp>
        <p:nvSpPr>
          <p:cNvPr id="4" name="Text 1"/>
          <p:cNvSpPr txBox="1"/>
          <p:nvPr/>
        </p:nvSpPr>
        <p:spPr>
          <a:xfrm>
            <a:off x="548640" y="3429000"/>
            <a:ext cx="5212080" cy="548640"/>
          </a:xfrm>
          <a:prstGeom prst="rect">
            <a:avLst/>
          </a:prstGeom>
          <a:noFill/>
          <a:ln/>
        </p:spPr>
        <p:txBody>
          <a:bodyPr wrap="square" lIns="0" tIns="0" rIns="0" bIns="0" rtlCol="0" anchor="ctr"/>
          <a:lstStyle/>
          <a:p>
            <a:pPr algn="ctr" indent="0" marL="0">
              <a:buNone/>
            </a:pPr>
            <a:r>
              <a:rPr lang="en-US" sz="2400" dirty="0">
                <a:solidFill>
                  <a:srgbClr val="595959"/>
                </a:solidFill>
                <a:latin typeface="Georgia" pitchFamily="34" charset="0"/>
                <a:ea typeface="Georgia" pitchFamily="34" charset="-122"/>
                <a:cs typeface="Georgia" pitchFamily="34" charset="-120"/>
              </a:rPr>
              <a:t>28F, 4 days of nausea</a:t>
            </a:r>
            <a:endParaRPr lang="en-US" sz="24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4/58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sp>
        <p:nvSpPr>
          <p:cNvPr id="3" name="Body"/>
          <p:cNvSpPr txBox="1"/>
          <p:nvPr/>
        </p:nvSpPr>
        <p:spPr>
          <a:xfrm>
            <a:off x="731520" y="1371600"/>
            <a:ext cx="6035040" cy="201168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Nausea, vomiting and poor intake for 4 days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known liver disease, no alcohol use</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"Took something for a toothache"</a:t>
            </a:r>
            <a:endParaRPr lang="en-US" sz="20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7315200" y="1371600"/>
          <a:ext cx="4206240" cy="914400"/>
        </p:xfrm>
        <a:graphic>
          <a:graphicData uri="http://schemas.openxmlformats.org/drawingml/2006/table">
            <a:tbl>
              <a:tblPr/>
              <a:tblGrid>
                <a:gridCol w="2121408"/>
                <a:gridCol w="2084832"/>
              </a:tblGrid>
              <a:tr h="365760">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500" b="1" dirty="0">
                          <a:solidFill>
                            <a:srgbClr val="000000"/>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6,820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5,940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ALP</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128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Bilirubin</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2.9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Creatinine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1.0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42062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Is this acute liver failure?</a:t>
            </a:r>
            <a:endParaRPr lang="en-US" sz="24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5/58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sp>
        <p:nvSpPr>
          <p:cNvPr id="3" name="Body"/>
          <p:cNvSpPr txBox="1"/>
          <p:nvPr/>
        </p:nvSpPr>
        <p:spPr>
          <a:xfrm>
            <a:off x="731520" y="1371600"/>
            <a:ext cx="6035040" cy="201168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Nausea, vomiting and poor intake for 4 days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known liver disease, no alcohol use</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"Took something for a toothache"</a:t>
            </a:r>
            <a:endParaRPr lang="en-US" sz="20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7315200" y="1371600"/>
          <a:ext cx="4206240" cy="914400"/>
        </p:xfrm>
        <a:graphic>
          <a:graphicData uri="http://schemas.openxmlformats.org/drawingml/2006/table">
            <a:tbl>
              <a:tblPr/>
              <a:tblGrid>
                <a:gridCol w="2121408"/>
                <a:gridCol w="2084832"/>
              </a:tblGrid>
              <a:tr h="365760">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500" b="1" dirty="0">
                          <a:solidFill>
                            <a:srgbClr val="000000"/>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6,820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5,940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ALP</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128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Bilirubin</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2.9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Creatinine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1.0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39319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Is this acute liver failure?</a:t>
            </a:r>
            <a:endParaRPr lang="en-US" sz="2400" dirty="0"/>
          </a:p>
        </p:txBody>
      </p:sp>
      <p:sp>
        <p:nvSpPr>
          <p:cNvPr id="6" name="Question"/>
          <p:cNvSpPr txBox="1"/>
          <p:nvPr/>
        </p:nvSpPr>
        <p:spPr>
          <a:xfrm>
            <a:off x="822960" y="457200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We don't know yet. What's missing?</a:t>
            </a:r>
            <a:endParaRPr lang="en-US" sz="24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5/58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sp>
        <p:nvSpPr>
          <p:cNvPr id="3" name="Body"/>
          <p:cNvSpPr txBox="1"/>
          <p:nvPr/>
        </p:nvSpPr>
        <p:spPr>
          <a:xfrm>
            <a:off x="731520" y="1371600"/>
            <a:ext cx="6035040" cy="201168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Nausea, vomiting and poor intake for 4 days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known liver disease, no alcohol use</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"Took something for a toothache"</a:t>
            </a:r>
            <a:endParaRPr lang="en-US" sz="20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7315200" y="1371600"/>
          <a:ext cx="4206240" cy="914400"/>
        </p:xfrm>
        <a:graphic>
          <a:graphicData uri="http://schemas.openxmlformats.org/drawingml/2006/table">
            <a:tbl>
              <a:tblPr/>
              <a:tblGrid>
                <a:gridCol w="2121408"/>
                <a:gridCol w="2084832"/>
              </a:tblGrid>
              <a:tr h="365760">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500" b="1" dirty="0">
                          <a:solidFill>
                            <a:srgbClr val="000000"/>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6,820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5,940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ALP</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128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Bilirubin</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2.9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Creatinine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1.0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374904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What's missing?</a:t>
            </a:r>
            <a:endParaRPr lang="en-US" sz="2200" dirty="0"/>
          </a:p>
        </p:txBody>
      </p:sp>
      <p:sp>
        <p:nvSpPr>
          <p:cNvPr id="6" name="Body"/>
          <p:cNvSpPr txBox="1"/>
          <p:nvPr/>
        </p:nvSpPr>
        <p:spPr>
          <a:xfrm>
            <a:off x="2194560" y="4297680"/>
            <a:ext cx="7863840" cy="1920240"/>
          </a:xfrm>
          <a:prstGeom prst="rect">
            <a:avLst/>
          </a:prstGeom>
          <a:noFill/>
          <a:ln/>
        </p:spPr>
        <p:txBody>
          <a:bodyPr wrap="square" lIns="50800" tIns="50800" rIns="50800" bIns="50800" rtlCol="0" anchor="t"/>
          <a:lstStyle/>
          <a:p>
            <a:pPr marL="228600" indent="-228600">
              <a:spcBef>
                <a:spcPts val="400"/>
              </a:spcBef>
              <a:buSzPct val="100000"/>
              <a:buChar char="–"/>
            </a:pPr>
            <a:r>
              <a:rPr lang="en-US" sz="1900" b="1" dirty="0">
                <a:solidFill>
                  <a:srgbClr val="000000"/>
                </a:solidFill>
                <a:latin typeface="Georgia" pitchFamily="34" charset="0"/>
                <a:ea typeface="Georgia" pitchFamily="34" charset="-122"/>
                <a:cs typeface="Georgia" pitchFamily="34" charset="-120"/>
              </a:rPr>
              <a:t>INR</a:t>
            </a:r>
            <a:r>
              <a:rPr lang="en-US" sz="1900" dirty="0">
                <a:solidFill>
                  <a:srgbClr val="000000"/>
                </a:solidFill>
                <a:latin typeface="Georgia" pitchFamily="34" charset="0"/>
                <a:ea typeface="Georgia" pitchFamily="34" charset="-122"/>
                <a:cs typeface="Georgia" pitchFamily="34" charset="-120"/>
              </a:rPr>
              <a:t> (synthetic function, not enzymes)</a:t>
            </a:r>
            <a:endParaRPr lang="en-US" sz="1900" dirty="0"/>
          </a:p>
          <a:p>
            <a:pPr marL="228600" indent="-228600">
              <a:spcBef>
                <a:spcPts val="400"/>
              </a:spcBef>
              <a:buSzPct val="100000"/>
              <a:buChar char="–"/>
            </a:pPr>
            <a:r>
              <a:rPr lang="en-US" sz="1900" b="1" dirty="0">
                <a:solidFill>
                  <a:srgbClr val="000000"/>
                </a:solidFill>
                <a:latin typeface="Georgia" pitchFamily="34" charset="0"/>
                <a:ea typeface="Georgia" pitchFamily="34" charset="-122"/>
                <a:cs typeface="Georgia" pitchFamily="34" charset="-120"/>
              </a:rPr>
              <a:t>Mental status</a:t>
            </a:r>
            <a:r>
              <a:rPr lang="en-US" sz="1900" dirty="0">
                <a:solidFill>
                  <a:srgbClr val="000000"/>
                </a:solidFill>
                <a:latin typeface="Georgia" pitchFamily="34" charset="0"/>
                <a:ea typeface="Georgia" pitchFamily="34" charset="-122"/>
                <a:cs typeface="Georgia" pitchFamily="34" charset="-120"/>
              </a:rPr>
              <a:t> (any encephalopathy?)</a:t>
            </a:r>
            <a:endParaRPr lang="en-US" sz="1900" dirty="0"/>
          </a:p>
          <a:p>
            <a:pPr marL="228600" indent="-228600">
              <a:spcBef>
                <a:spcPts val="400"/>
              </a:spcBef>
              <a:buSzPct val="100000"/>
              <a:buChar char="–"/>
            </a:pPr>
            <a:r>
              <a:rPr lang="en-US" sz="1900" b="1" dirty="0">
                <a:solidFill>
                  <a:srgbClr val="000000"/>
                </a:solidFill>
                <a:latin typeface="Georgia" pitchFamily="34" charset="0"/>
                <a:ea typeface="Georgia" pitchFamily="34" charset="-122"/>
                <a:cs typeface="Georgia" pitchFamily="34" charset="-120"/>
              </a:rPr>
              <a:t>Time course</a:t>
            </a:r>
            <a:r>
              <a:rPr lang="en-US" sz="1900" dirty="0">
                <a:solidFill>
                  <a:srgbClr val="000000"/>
                </a:solidFill>
                <a:latin typeface="Georgia" pitchFamily="34" charset="0"/>
                <a:ea typeface="Georgia" pitchFamily="34" charset="-122"/>
                <a:cs typeface="Georgia" pitchFamily="34" charset="-120"/>
              </a:rPr>
              <a:t> (how long since the first symptom?)</a:t>
            </a:r>
            <a:endParaRPr lang="en-US" sz="1900" dirty="0"/>
          </a:p>
          <a:p>
            <a:pPr marL="228600" indent="-228600">
              <a:spcBef>
                <a:spcPts val="400"/>
              </a:spcBef>
              <a:buSzPct val="100000"/>
              <a:buChar char="–"/>
            </a:pPr>
            <a:r>
              <a:rPr lang="en-US" sz="1900" b="1" dirty="0">
                <a:solidFill>
                  <a:srgbClr val="000000"/>
                </a:solidFill>
                <a:latin typeface="Georgia" pitchFamily="34" charset="0"/>
                <a:ea typeface="Georgia" pitchFamily="34" charset="-122"/>
                <a:cs typeface="Georgia" pitchFamily="34" charset="-120"/>
              </a:rPr>
              <a:t>Is there chronic liver disease underneath?</a:t>
            </a:r>
            <a:endParaRPr lang="en-US" sz="19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5/58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7315200" y="1371600"/>
          <a:ext cx="4206240" cy="914400"/>
        </p:xfrm>
        <a:graphic>
          <a:graphicData uri="http://schemas.openxmlformats.org/drawingml/2006/table">
            <a:tbl>
              <a:tblPr/>
              <a:tblGrid>
                <a:gridCol w="1947672"/>
                <a:gridCol w="2258568"/>
              </a:tblGrid>
              <a:tr h="365760">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500" b="1" dirty="0">
                          <a:solidFill>
                            <a:srgbClr val="000000"/>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6,820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5,940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Bilirubin</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2.9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INR</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00000"/>
                          </a:solidFill>
                          <a:latin typeface="Calibri" pitchFamily="34" charset="0"/>
                          <a:ea typeface="Calibri" pitchFamily="34" charset="-122"/>
                          <a:cs typeface="Calibri" pitchFamily="34" charset="-120"/>
                        </a:rPr>
                        <a:t>3.2</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Glucose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00000"/>
                          </a:solidFill>
                          <a:latin typeface="Calibri" pitchFamily="34" charset="0"/>
                          <a:ea typeface="Calibri" pitchFamily="34" charset="-122"/>
                          <a:cs typeface="Calibri" pitchFamily="34" charset="-120"/>
                        </a:rPr>
                        <a:t>54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731520" y="1371600"/>
            <a:ext cx="6217920" cy="274320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Disoriented to time, asterixis. Still there after the glucose is fixed</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Symptoms started 4 days ago</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Ultrasound: smooth liver, no ascites, patent vessels, normal spleen</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history or imaging suggesting cirrhosis</a:t>
            </a:r>
            <a:endParaRPr lang="en-US" sz="2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6/58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7315200" y="1371600"/>
          <a:ext cx="4206240" cy="914400"/>
        </p:xfrm>
        <a:graphic>
          <a:graphicData uri="http://schemas.openxmlformats.org/drawingml/2006/table">
            <a:tbl>
              <a:tblPr/>
              <a:tblGrid>
                <a:gridCol w="1947672"/>
                <a:gridCol w="2258568"/>
              </a:tblGrid>
              <a:tr h="365760">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500" b="1" dirty="0">
                          <a:solidFill>
                            <a:srgbClr val="000000"/>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6,820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5,940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Bilirubin</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2.9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INR</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00000"/>
                          </a:solidFill>
                          <a:latin typeface="Calibri" pitchFamily="34" charset="0"/>
                          <a:ea typeface="Calibri" pitchFamily="34" charset="-122"/>
                          <a:cs typeface="Calibri" pitchFamily="34" charset="-120"/>
                        </a:rPr>
                        <a:t>3.2</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Glucose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00000"/>
                          </a:solidFill>
                          <a:latin typeface="Calibri" pitchFamily="34" charset="0"/>
                          <a:ea typeface="Calibri" pitchFamily="34" charset="-122"/>
                          <a:cs typeface="Calibri" pitchFamily="34" charset="-120"/>
                        </a:rPr>
                        <a:t>54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731520" y="1371600"/>
            <a:ext cx="6217920" cy="274320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Disoriented to time, asterixis. Still there after the glucose is fixed</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Symptoms started 4 days ago</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Ultrasound: smooth liver, no ascites, patent vessels, normal spleen</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history or imaging suggesting cirrhosis</a:t>
            </a:r>
            <a:endParaRPr lang="en-US" sz="2000" dirty="0"/>
          </a:p>
        </p:txBody>
      </p:sp>
      <p:sp>
        <p:nvSpPr>
          <p:cNvPr id="5" name="Question"/>
          <p:cNvSpPr txBox="1"/>
          <p:nvPr/>
        </p:nvSpPr>
        <p:spPr>
          <a:xfrm>
            <a:off x="822960" y="448056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highlight>
                  <a:srgbClr val="FFFF00"/>
                </a:highlight>
                <a:latin typeface="Georgia" pitchFamily="34" charset="0"/>
                <a:ea typeface="Georgia" pitchFamily="34" charset="-122"/>
                <a:cs typeface="Georgia" pitchFamily="34" charset="-120"/>
              </a:rPr>
              <a:t>This is acute liver failure</a:t>
            </a:r>
            <a:endParaRPr lang="en-US" sz="28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6/58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Acute liver failure</a:t>
            </a:r>
            <a:endParaRPr lang="en-US" sz="3000" dirty="0"/>
          </a:p>
        </p:txBody>
      </p:sp>
      <p:sp>
        <p:nvSpPr>
          <p:cNvPr id="3" name="Body"/>
          <p:cNvSpPr txBox="1"/>
          <p:nvPr/>
        </p:nvSpPr>
        <p:spPr>
          <a:xfrm>
            <a:off x="731520" y="1188720"/>
            <a:ext cx="10728655" cy="2377440"/>
          </a:xfrm>
          <a:prstGeom prst="rect">
            <a:avLst/>
          </a:prstGeom>
          <a:noFill/>
          <a:ln/>
        </p:spPr>
        <p:txBody>
          <a:bodyPr wrap="square" lIns="50800" tIns="50800" rIns="50800" bIns="50800" rtlCol="0" anchor="t"/>
          <a:lstStyle/>
          <a:p>
            <a:pPr marL="228600" indent="-228600">
              <a:spcBef>
                <a:spcPts val="800"/>
              </a:spcBef>
              <a:buSzPct val="100000"/>
              <a:buChar char="–"/>
            </a:pPr>
            <a:r>
              <a:rPr lang="en-US" sz="2000" b="1" dirty="0">
                <a:solidFill>
                  <a:srgbClr val="000000"/>
                </a:solidFill>
                <a:latin typeface="Georgia" pitchFamily="34" charset="0"/>
                <a:ea typeface="Georgia" pitchFamily="34" charset="-122"/>
                <a:cs typeface="Georgia" pitchFamily="34" charset="-120"/>
              </a:rPr>
              <a:t>INR ≥ 1.5</a:t>
            </a:r>
            <a:r>
              <a:rPr lang="en-US" sz="2000" dirty="0">
                <a:solidFill>
                  <a:srgbClr val="000000"/>
                </a:solidFill>
                <a:latin typeface="Georgia" pitchFamily="34" charset="0"/>
                <a:ea typeface="Georgia" pitchFamily="34" charset="-122"/>
                <a:cs typeface="Georgia" pitchFamily="34" charset="-120"/>
              </a:rPr>
              <a:t> and </a:t>
            </a:r>
            <a:r>
              <a:rPr lang="en-US" sz="2000" b="1" dirty="0">
                <a:solidFill>
                  <a:srgbClr val="000000"/>
                </a:solidFill>
                <a:latin typeface="Georgia" pitchFamily="34" charset="0"/>
                <a:ea typeface="Georgia" pitchFamily="34" charset="-122"/>
                <a:cs typeface="Georgia" pitchFamily="34" charset="-120"/>
              </a:rPr>
              <a:t>any degree of encephalopathy</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Illness of less than 26 weeks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pre-existing cirrhosis</a:t>
            </a:r>
            <a:endParaRPr lang="en-US" sz="2000" dirty="0"/>
          </a:p>
          <a:p>
            <a:pPr lvl="1" marL="457200" indent="-228600">
              <a:spcBef>
                <a:spcPts val="200"/>
              </a:spcBef>
              <a:buSzPct val="100000"/>
              <a:buChar char="–"/>
            </a:pPr>
            <a:r>
              <a:rPr lang="en-US" sz="1800" dirty="0">
                <a:solidFill>
                  <a:srgbClr val="000000"/>
                </a:solidFill>
                <a:latin typeface="Georgia" pitchFamily="34" charset="0"/>
                <a:ea typeface="Georgia" pitchFamily="34" charset="-122"/>
                <a:cs typeface="Georgia" pitchFamily="34" charset="-120"/>
              </a:rPr>
              <a:t>AASLD and ACG: chronic liver disease without cirrhosis still allows ALF. EASL: no prior liver disease at all</a:t>
            </a:r>
            <a:endParaRPr lang="en-US" sz="2000" dirty="0"/>
          </a:p>
          <a:p>
            <a:pPr lvl="1" marL="457200" indent="-228600">
              <a:spcBef>
                <a:spcPts val="200"/>
              </a:spcBef>
              <a:buSzPct val="100000"/>
              <a:buChar char="–"/>
            </a:pPr>
            <a:r>
              <a:rPr lang="en-US" sz="1800" dirty="0">
                <a:solidFill>
                  <a:srgbClr val="000000"/>
                </a:solidFill>
                <a:latin typeface="Georgia" pitchFamily="34" charset="0"/>
                <a:ea typeface="Georgia" pitchFamily="34" charset="-122"/>
                <a:cs typeface="Georgia" pitchFamily="34" charset="-120"/>
              </a:rPr>
              <a:t>Wilson disease, autoimmune hepatitis and vertically acquired HBV can still count if recognized within 26 weeks</a:t>
            </a:r>
            <a:endParaRPr lang="en-US" sz="20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731520" y="3794760"/>
          <a:ext cx="10728655" cy="914400"/>
        </p:xfrm>
        <a:graphic>
          <a:graphicData uri="http://schemas.openxmlformats.org/drawingml/2006/table">
            <a:tbl>
              <a:tblPr/>
              <a:tblGrid>
                <a:gridCol w="2743200"/>
                <a:gridCol w="3447288"/>
                <a:gridCol w="2057400"/>
                <a:gridCol w="2478024"/>
              </a:tblGrid>
              <a:tr h="38039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Jaundice to encephalopathy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Hyperacute (&lt; 1 week)</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Acute (1 to 4 weeks)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Subacute (4 to 12 weeks)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Typical causes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Acetaminophen, HAV, HEV, ischemia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HBV</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DILI, AIH, unknown cause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Cerebral edema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Common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Less common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Uncommon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Spontaneous recovery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More likely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Intermediate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Less likely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ALF guideline 2017 [PMID: 28417882]; ACG ALF 2023 [PMID: 37377263]; Management of ALF: update 2022 [PMID: 36001996]</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7/58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patient, but wide awake</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Same labs and INR 2.4, but fully oriented with no asterixis</a:t>
            </a:r>
            <a:endParaRPr lang="en-US" sz="2000" dirty="0"/>
          </a:p>
        </p:txBody>
      </p:sp>
      <p:sp>
        <p:nvSpPr>
          <p:cNvPr id="4" name="Question"/>
          <p:cNvSpPr txBox="1"/>
          <p:nvPr/>
        </p:nvSpPr>
        <p:spPr>
          <a:xfrm>
            <a:off x="822960" y="178308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What do you call this, and what do you do now?</a:t>
            </a:r>
            <a:endParaRPr lang="en-US" sz="2800" dirty="0"/>
          </a:p>
        </p:txBody>
      </p:sp>
      <p:pic>
        <p:nvPicPr>
          <p:cNvPr id="5" name="Image 0" descr="Watercolor of an empty hospital bed sitting up, with a cup of water, a book and a phone on the tray table">    </p:cNvPr>
          <p:cNvPicPr>
            <a:picLocks noChangeAspect="1"/>
          </p:cNvPicPr>
          <p:nvPr/>
        </p:nvPicPr>
        <p:blipFill>
          <a:blip r:embed="rId1"/>
          <a:stretch>
            <a:fillRect/>
          </a:stretch>
        </p:blipFill>
        <p:spPr>
          <a:xfrm>
            <a:off x="4054741" y="2514600"/>
            <a:ext cx="4082212" cy="3840480"/>
          </a:xfrm>
          <a:prstGeom prst="rect">
            <a:avLst/>
          </a:prstGeom>
        </p:spPr>
      </p:pic>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8/58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patient, but wide awake</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Same labs and INR 2.4, but fully oriented with no asterixis</a:t>
            </a:r>
            <a:endParaRPr lang="en-US" sz="2000" dirty="0"/>
          </a:p>
        </p:txBody>
      </p:sp>
      <p:sp>
        <p:nvSpPr>
          <p:cNvPr id="4" name="Body"/>
          <p:cNvSpPr txBox="1"/>
          <p:nvPr/>
        </p:nvSpPr>
        <p:spPr>
          <a:xfrm>
            <a:off x="822960" y="1783080"/>
            <a:ext cx="10545775" cy="4480560"/>
          </a:xfrm>
          <a:prstGeom prst="rect">
            <a:avLst/>
          </a:prstGeom>
          <a:noFill/>
          <a:ln/>
        </p:spPr>
        <p:txBody>
          <a:bodyPr wrap="square" lIns="50800" tIns="50800" rIns="50800" bIns="50800" rtlCol="0" anchor="t"/>
          <a:lstStyle/>
          <a:p>
            <a:pPr marL="228600" indent="-228600">
              <a:spcBef>
                <a:spcPts val="800"/>
              </a:spcBef>
              <a:buSzPct val="100000"/>
              <a:buChar char="–"/>
            </a:pPr>
            <a:r>
              <a:rPr lang="en-US" sz="2100" b="1" dirty="0">
                <a:solidFill>
                  <a:srgbClr val="000000"/>
                </a:solidFill>
                <a:latin typeface="Georgia" pitchFamily="34" charset="0"/>
                <a:ea typeface="Georgia" pitchFamily="34" charset="-122"/>
                <a:cs typeface="Georgia" pitchFamily="34" charset="-120"/>
              </a:rPr>
              <a:t>Severe acute liver injury</a:t>
            </a:r>
            <a:r>
              <a:rPr lang="en-US" sz="2100" dirty="0">
                <a:solidFill>
                  <a:srgbClr val="000000"/>
                </a:solidFill>
                <a:latin typeface="Georgia" pitchFamily="34" charset="0"/>
                <a:ea typeface="Georgia" pitchFamily="34" charset="-122"/>
                <a:cs typeface="Georgia" pitchFamily="34" charset="-120"/>
              </a:rPr>
              <a:t>, not ALF yet</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No encephalopathy, so it doesn't meet the definition</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But it can become ALF within hours</a:t>
            </a:r>
            <a:endParaRPr lang="en-US" sz="2100" dirty="0"/>
          </a:p>
          <a:p>
            <a:pPr lvl="1" marL="457200" indent="-228600">
              <a:spcBef>
                <a:spcPts val="200"/>
              </a:spcBef>
              <a:buSzPct val="100000"/>
              <a:buChar char="–"/>
            </a:pPr>
            <a:r>
              <a:rPr lang="en-US" sz="1900" dirty="0">
                <a:solidFill>
                  <a:srgbClr val="000000"/>
                </a:solidFill>
                <a:latin typeface="Georgia" pitchFamily="34" charset="0"/>
                <a:ea typeface="Georgia" pitchFamily="34" charset="-122"/>
                <a:cs typeface="Georgia" pitchFamily="34" charset="-120"/>
              </a:rPr>
              <a:t>Check glucose often and examine the patient every few hours</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And the opposite trap:</a:t>
            </a:r>
            <a:endParaRPr lang="en-US" sz="2100" dirty="0"/>
          </a:p>
          <a:p>
            <a:pPr lvl="1" marL="457200" indent="-228600">
              <a:spcBef>
                <a:spcPts val="200"/>
              </a:spcBef>
              <a:buSzPct val="100000"/>
              <a:buChar char="–"/>
            </a:pPr>
            <a:r>
              <a:rPr lang="en-US" sz="1900" dirty="0">
                <a:solidFill>
                  <a:srgbClr val="000000"/>
                </a:solidFill>
                <a:latin typeface="Georgia" pitchFamily="34" charset="0"/>
                <a:ea typeface="Georgia" pitchFamily="34" charset="-122"/>
                <a:cs typeface="Georgia" pitchFamily="34" charset="-120"/>
              </a:rPr>
              <a:t>Hypoglycemia, sedatives, sepsis, alcohol withdrawal and seizures can all look like encephalopathy</a:t>
            </a:r>
            <a:endParaRPr lang="en-US" sz="21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8/58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Watercolor outline of a human figure with no organs drawn in">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411480" y="320040"/>
            <a:ext cx="4206240" cy="1097280"/>
          </a:xfrm>
          <a:prstGeom prst="rect">
            <a:avLst/>
          </a:prstGeom>
          <a:noFill/>
          <a:ln/>
        </p:spPr>
        <p:txBody>
          <a:bodyPr wrap="square" lIns="0" tIns="0" rIns="0" bIns="0" rtlCol="0" anchor="t"/>
          <a:lstStyle/>
          <a:p>
            <a:pPr indent="0" marL="0">
              <a:buNone/>
            </a:pPr>
            <a:r>
              <a:rPr lang="en-US" sz="3000" dirty="0">
                <a:solidFill>
                  <a:srgbClr val="000000"/>
                </a:solidFill>
                <a:latin typeface="Georgia" pitchFamily="34" charset="0"/>
                <a:ea typeface="Georgia" pitchFamily="34" charset="-122"/>
                <a:cs typeface="Georgia" pitchFamily="34" charset="-120"/>
              </a:rPr>
              <a:t>Which other organs fail in ALF?</a:t>
            </a:r>
            <a:endParaRPr lang="en-US" sz="30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9/58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Watercolor anatomical figure showing the brain, lungs, heart, liver, pancreas, adrenals, kidneys, spleen and bone marrow">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411480" y="320040"/>
            <a:ext cx="4206240" cy="1097280"/>
          </a:xfrm>
          <a:prstGeom prst="rect">
            <a:avLst/>
          </a:prstGeom>
          <a:noFill/>
          <a:ln/>
        </p:spPr>
        <p:txBody>
          <a:bodyPr wrap="square" lIns="0" tIns="0" rIns="0" bIns="0" rtlCol="0" anchor="t"/>
          <a:lstStyle/>
          <a:p>
            <a:pPr indent="0" marL="0">
              <a:buNone/>
            </a:pPr>
            <a:r>
              <a:rPr lang="en-US" sz="3000" dirty="0">
                <a:solidFill>
                  <a:srgbClr val="000000"/>
                </a:solidFill>
                <a:latin typeface="Georgia" pitchFamily="34" charset="0"/>
                <a:ea typeface="Georgia" pitchFamily="34" charset="-122"/>
                <a:cs typeface="Georgia" pitchFamily="34" charset="-120"/>
              </a:rPr>
              <a:t>Which other organs fail in ALF?</a:t>
            </a:r>
            <a:endParaRPr lang="en-US" sz="3000" dirty="0"/>
          </a:p>
        </p:txBody>
      </p:sp>
      <p:sp>
        <p:nvSpPr>
          <p:cNvPr id="4" name="Text 1"/>
          <p:cNvSpPr txBox="1"/>
          <p:nvPr/>
        </p:nvSpPr>
        <p:spPr>
          <a:xfrm>
            <a:off x="8092440" y="594360"/>
            <a:ext cx="3657600" cy="640080"/>
          </a:xfrm>
          <a:prstGeom prst="rect">
            <a:avLst/>
          </a:prstGeom>
          <a:noFill/>
          <a:ln/>
        </p:spPr>
        <p:txBody>
          <a:bodyPr wrap="square" lIns="0" tIns="0" rIns="0" bIns="0" rtlCol="0" anchor="ctr"/>
          <a:lstStyle/>
          <a:p>
            <a:pPr algn="l" indent="0" marL="0">
              <a:buNone/>
            </a:pPr>
            <a:r>
              <a:rPr lang="en-US" sz="1800" b="1" dirty="0">
                <a:solidFill>
                  <a:srgbClr val="000000"/>
                </a:solidFill>
                <a:latin typeface="Georgia" pitchFamily="34" charset="0"/>
                <a:ea typeface="Georgia" pitchFamily="34" charset="-122"/>
                <a:cs typeface="Georgia" pitchFamily="34" charset="-120"/>
              </a:rPr>
              <a:t>Brain</a:t>
            </a:r>
            <a:endParaRPr lang="en-US" sz="1800" dirty="0"/>
          </a:p>
          <a:p>
            <a:pPr algn="l" indent="0" marL="0">
              <a:buNone/>
            </a:pPr>
            <a:r>
              <a:rPr lang="en-US" sz="1600" dirty="0">
                <a:solidFill>
                  <a:srgbClr val="404040"/>
                </a:solidFill>
                <a:latin typeface="Georgia" pitchFamily="34" charset="0"/>
                <a:ea typeface="Georgia" pitchFamily="34" charset="-122"/>
                <a:cs typeface="Georgia" pitchFamily="34" charset="-120"/>
              </a:rPr>
              <a:t>encephalopathy, cerebral edema</a:t>
            </a:r>
            <a:endParaRPr lang="en-US" sz="1800" dirty="0"/>
          </a:p>
        </p:txBody>
      </p:sp>
      <p:sp>
        <p:nvSpPr>
          <p:cNvPr id="5" name="Leader"/>
          <p:cNvSpPr/>
          <p:nvPr/>
        </p:nvSpPr>
        <p:spPr>
          <a:xfrm flipH="1">
            <a:off x="5989320" y="914400"/>
            <a:ext cx="2011680" cy="914"/>
          </a:xfrm>
          <a:prstGeom prst="line">
            <a:avLst/>
          </a:prstGeom>
          <a:noFill/>
          <a:ln w="12700">
            <a:solidFill>
              <a:srgbClr val="595959"/>
            </a:solidFill>
            <a:prstDash val="solid"/>
            <a:tailEnd type="oval"/>
          </a:ln>
        </p:spPr>
      </p:sp>
      <p:sp>
        <p:nvSpPr>
          <p:cNvPr id="6" name="Text 3"/>
          <p:cNvSpPr txBox="1"/>
          <p:nvPr/>
        </p:nvSpPr>
        <p:spPr>
          <a:xfrm>
            <a:off x="457200" y="2423160"/>
            <a:ext cx="3657600" cy="640080"/>
          </a:xfrm>
          <a:prstGeom prst="rect">
            <a:avLst/>
          </a:prstGeom>
          <a:noFill/>
          <a:ln/>
        </p:spPr>
        <p:txBody>
          <a:bodyPr wrap="square" lIns="0" tIns="0" rIns="0" bIns="0" rtlCol="0" anchor="ctr"/>
          <a:lstStyle/>
          <a:p>
            <a:pPr algn="r" indent="0" marL="0">
              <a:buNone/>
            </a:pPr>
            <a:r>
              <a:rPr lang="en-US" sz="1800" b="1" dirty="0">
                <a:solidFill>
                  <a:srgbClr val="000000"/>
                </a:solidFill>
                <a:latin typeface="Georgia" pitchFamily="34" charset="0"/>
                <a:ea typeface="Georgia" pitchFamily="34" charset="-122"/>
                <a:cs typeface="Georgia" pitchFamily="34" charset="-120"/>
              </a:rPr>
              <a:t>Lungs</a:t>
            </a:r>
            <a:endParaRPr lang="en-US" sz="1800" dirty="0"/>
          </a:p>
          <a:p>
            <a:pPr algn="r" indent="0" marL="0">
              <a:buNone/>
            </a:pPr>
            <a:r>
              <a:rPr lang="en-US" sz="1600" dirty="0">
                <a:solidFill>
                  <a:srgbClr val="404040"/>
                </a:solidFill>
                <a:latin typeface="Georgia" pitchFamily="34" charset="0"/>
                <a:ea typeface="Georgia" pitchFamily="34" charset="-122"/>
                <a:cs typeface="Georgia" pitchFamily="34" charset="-120"/>
              </a:rPr>
              <a:t>ARDS</a:t>
            </a:r>
            <a:endParaRPr lang="en-US" sz="1800" dirty="0"/>
          </a:p>
        </p:txBody>
      </p:sp>
      <p:sp>
        <p:nvSpPr>
          <p:cNvPr id="7" name="Leader"/>
          <p:cNvSpPr/>
          <p:nvPr/>
        </p:nvSpPr>
        <p:spPr>
          <a:xfrm>
            <a:off x="4206240" y="2743200"/>
            <a:ext cx="1271016" cy="128016"/>
          </a:xfrm>
          <a:prstGeom prst="line">
            <a:avLst/>
          </a:prstGeom>
          <a:noFill/>
          <a:ln w="12700">
            <a:solidFill>
              <a:srgbClr val="595959"/>
            </a:solidFill>
            <a:prstDash val="solid"/>
            <a:tailEnd type="oval"/>
          </a:ln>
        </p:spPr>
      </p:sp>
      <p:sp>
        <p:nvSpPr>
          <p:cNvPr id="8" name="Text 5"/>
          <p:cNvSpPr txBox="1"/>
          <p:nvPr/>
        </p:nvSpPr>
        <p:spPr>
          <a:xfrm>
            <a:off x="8092440" y="2331720"/>
            <a:ext cx="3657600" cy="640080"/>
          </a:xfrm>
          <a:prstGeom prst="rect">
            <a:avLst/>
          </a:prstGeom>
          <a:noFill/>
          <a:ln/>
        </p:spPr>
        <p:txBody>
          <a:bodyPr wrap="square" lIns="0" tIns="0" rIns="0" bIns="0" rtlCol="0" anchor="ctr"/>
          <a:lstStyle/>
          <a:p>
            <a:pPr algn="l" indent="0" marL="0">
              <a:buNone/>
            </a:pPr>
            <a:r>
              <a:rPr lang="en-US" sz="1800" b="1" dirty="0">
                <a:solidFill>
                  <a:srgbClr val="000000"/>
                </a:solidFill>
                <a:latin typeface="Georgia" pitchFamily="34" charset="0"/>
                <a:ea typeface="Georgia" pitchFamily="34" charset="-122"/>
                <a:cs typeface="Georgia" pitchFamily="34" charset="-120"/>
              </a:rPr>
              <a:t>Heart and vessels</a:t>
            </a:r>
            <a:endParaRPr lang="en-US" sz="1800" dirty="0"/>
          </a:p>
          <a:p>
            <a:pPr algn="l" indent="0" marL="0">
              <a:buNone/>
            </a:pPr>
            <a:r>
              <a:rPr lang="en-US" sz="1600" dirty="0">
                <a:solidFill>
                  <a:srgbClr val="404040"/>
                </a:solidFill>
                <a:latin typeface="Georgia" pitchFamily="34" charset="0"/>
                <a:ea typeface="Georgia" pitchFamily="34" charset="-122"/>
                <a:cs typeface="Georgia" pitchFamily="34" charset="-120"/>
              </a:rPr>
              <a:t>vasodilatory shock</a:t>
            </a:r>
            <a:endParaRPr lang="en-US" sz="1800" dirty="0"/>
          </a:p>
        </p:txBody>
      </p:sp>
      <p:sp>
        <p:nvSpPr>
          <p:cNvPr id="9" name="Leader"/>
          <p:cNvSpPr/>
          <p:nvPr/>
        </p:nvSpPr>
        <p:spPr>
          <a:xfrm flipH="1">
            <a:off x="6172200" y="2651760"/>
            <a:ext cx="1828800" cy="365760"/>
          </a:xfrm>
          <a:prstGeom prst="line">
            <a:avLst/>
          </a:prstGeom>
          <a:noFill/>
          <a:ln w="12700">
            <a:solidFill>
              <a:srgbClr val="595959"/>
            </a:solidFill>
            <a:prstDash val="solid"/>
            <a:tailEnd type="oval"/>
          </a:ln>
        </p:spPr>
      </p:sp>
      <p:sp>
        <p:nvSpPr>
          <p:cNvPr id="10" name="Text 7"/>
          <p:cNvSpPr txBox="1"/>
          <p:nvPr/>
        </p:nvSpPr>
        <p:spPr>
          <a:xfrm>
            <a:off x="457200" y="3429000"/>
            <a:ext cx="3657600" cy="640080"/>
          </a:xfrm>
          <a:prstGeom prst="rect">
            <a:avLst/>
          </a:prstGeom>
          <a:noFill/>
          <a:ln/>
        </p:spPr>
        <p:txBody>
          <a:bodyPr wrap="square" lIns="0" tIns="0" rIns="0" bIns="0" rtlCol="0" anchor="ctr"/>
          <a:lstStyle/>
          <a:p>
            <a:pPr algn="r" indent="0" marL="0">
              <a:buNone/>
            </a:pPr>
            <a:r>
              <a:rPr lang="en-US" sz="1800" b="1" dirty="0">
                <a:solidFill>
                  <a:srgbClr val="000000"/>
                </a:solidFill>
                <a:latin typeface="Georgia" pitchFamily="34" charset="0"/>
                <a:ea typeface="Georgia" pitchFamily="34" charset="-122"/>
                <a:cs typeface="Georgia" pitchFamily="34" charset="-120"/>
              </a:rPr>
              <a:t>Liver</a:t>
            </a:r>
            <a:endParaRPr lang="en-US" sz="1800" dirty="0"/>
          </a:p>
          <a:p>
            <a:pPr algn="r" indent="0" marL="0">
              <a:buNone/>
            </a:pPr>
            <a:r>
              <a:rPr lang="en-US" sz="1600" dirty="0">
                <a:solidFill>
                  <a:srgbClr val="404040"/>
                </a:solidFill>
                <a:latin typeface="Georgia" pitchFamily="34" charset="0"/>
                <a:ea typeface="Georgia" pitchFamily="34" charset="-122"/>
                <a:cs typeface="Georgia" pitchFamily="34" charset="-120"/>
              </a:rPr>
              <a:t>hypoglycemia, lactate, INR</a:t>
            </a:r>
            <a:endParaRPr lang="en-US" sz="1800" dirty="0"/>
          </a:p>
        </p:txBody>
      </p:sp>
      <p:sp>
        <p:nvSpPr>
          <p:cNvPr id="11" name="Leader"/>
          <p:cNvSpPr/>
          <p:nvPr/>
        </p:nvSpPr>
        <p:spPr>
          <a:xfrm>
            <a:off x="4206240" y="3749040"/>
            <a:ext cx="1371600" cy="137160"/>
          </a:xfrm>
          <a:prstGeom prst="line">
            <a:avLst/>
          </a:prstGeom>
          <a:noFill/>
          <a:ln w="12700">
            <a:solidFill>
              <a:srgbClr val="595959"/>
            </a:solidFill>
            <a:prstDash val="solid"/>
            <a:tailEnd type="oval"/>
          </a:ln>
        </p:spPr>
      </p:sp>
      <p:sp>
        <p:nvSpPr>
          <p:cNvPr id="12" name="Text 9"/>
          <p:cNvSpPr txBox="1"/>
          <p:nvPr/>
        </p:nvSpPr>
        <p:spPr>
          <a:xfrm>
            <a:off x="8092440" y="3200400"/>
            <a:ext cx="3657600" cy="640080"/>
          </a:xfrm>
          <a:prstGeom prst="rect">
            <a:avLst/>
          </a:prstGeom>
          <a:noFill/>
          <a:ln/>
        </p:spPr>
        <p:txBody>
          <a:bodyPr wrap="square" lIns="0" tIns="0" rIns="0" bIns="0" rtlCol="0" anchor="ctr"/>
          <a:lstStyle/>
          <a:p>
            <a:pPr algn="l" indent="0" marL="0">
              <a:buNone/>
            </a:pPr>
            <a:r>
              <a:rPr lang="en-US" sz="1800" b="1" dirty="0">
                <a:solidFill>
                  <a:srgbClr val="000000"/>
                </a:solidFill>
                <a:latin typeface="Georgia" pitchFamily="34" charset="0"/>
                <a:ea typeface="Georgia" pitchFamily="34" charset="-122"/>
                <a:cs typeface="Georgia" pitchFamily="34" charset="-120"/>
              </a:rPr>
              <a:t>Spleen and immune system</a:t>
            </a:r>
            <a:endParaRPr lang="en-US" sz="1800" dirty="0"/>
          </a:p>
          <a:p>
            <a:pPr algn="l" indent="0" marL="0">
              <a:buNone/>
            </a:pPr>
            <a:r>
              <a:rPr lang="en-US" sz="1600" dirty="0">
                <a:solidFill>
                  <a:srgbClr val="404040"/>
                </a:solidFill>
                <a:latin typeface="Georgia" pitchFamily="34" charset="0"/>
                <a:ea typeface="Georgia" pitchFamily="34" charset="-122"/>
                <a:cs typeface="Georgia" pitchFamily="34" charset="-120"/>
              </a:rPr>
              <a:t>infection</a:t>
            </a:r>
            <a:endParaRPr lang="en-US" sz="1800" dirty="0"/>
          </a:p>
        </p:txBody>
      </p:sp>
      <p:sp>
        <p:nvSpPr>
          <p:cNvPr id="13" name="Leader"/>
          <p:cNvSpPr/>
          <p:nvPr/>
        </p:nvSpPr>
        <p:spPr>
          <a:xfrm flipH="1">
            <a:off x="6711696" y="3520440"/>
            <a:ext cx="1289304" cy="292608"/>
          </a:xfrm>
          <a:prstGeom prst="line">
            <a:avLst/>
          </a:prstGeom>
          <a:noFill/>
          <a:ln w="12700">
            <a:solidFill>
              <a:srgbClr val="595959"/>
            </a:solidFill>
            <a:prstDash val="solid"/>
            <a:tailEnd type="oval"/>
          </a:ln>
        </p:spPr>
      </p:sp>
      <p:sp>
        <p:nvSpPr>
          <p:cNvPr id="14" name="Text 11"/>
          <p:cNvSpPr txBox="1"/>
          <p:nvPr/>
        </p:nvSpPr>
        <p:spPr>
          <a:xfrm>
            <a:off x="8092440" y="4069080"/>
            <a:ext cx="3657600" cy="640080"/>
          </a:xfrm>
          <a:prstGeom prst="rect">
            <a:avLst/>
          </a:prstGeom>
          <a:noFill/>
          <a:ln/>
        </p:spPr>
        <p:txBody>
          <a:bodyPr wrap="square" lIns="0" tIns="0" rIns="0" bIns="0" rtlCol="0" anchor="ctr"/>
          <a:lstStyle/>
          <a:p>
            <a:pPr algn="l" indent="0" marL="0">
              <a:buNone/>
            </a:pPr>
            <a:r>
              <a:rPr lang="en-US" sz="1800" b="1" dirty="0">
                <a:solidFill>
                  <a:srgbClr val="000000"/>
                </a:solidFill>
                <a:latin typeface="Georgia" pitchFamily="34" charset="0"/>
                <a:ea typeface="Georgia" pitchFamily="34" charset="-122"/>
                <a:cs typeface="Georgia" pitchFamily="34" charset="-120"/>
              </a:rPr>
              <a:t>Adrenals</a:t>
            </a:r>
            <a:endParaRPr lang="en-US" sz="1800" dirty="0"/>
          </a:p>
          <a:p>
            <a:pPr algn="l" indent="0" marL="0">
              <a:buNone/>
            </a:pPr>
            <a:r>
              <a:rPr lang="en-US" sz="1600" dirty="0">
                <a:solidFill>
                  <a:srgbClr val="404040"/>
                </a:solidFill>
                <a:latin typeface="Georgia" pitchFamily="34" charset="0"/>
                <a:ea typeface="Georgia" pitchFamily="34" charset="-122"/>
                <a:cs typeface="Georgia" pitchFamily="34" charset="-120"/>
              </a:rPr>
              <a:t>relative insufficiency</a:t>
            </a:r>
            <a:endParaRPr lang="en-US" sz="1800" dirty="0"/>
          </a:p>
        </p:txBody>
      </p:sp>
      <p:sp>
        <p:nvSpPr>
          <p:cNvPr id="15" name="Leader"/>
          <p:cNvSpPr/>
          <p:nvPr/>
        </p:nvSpPr>
        <p:spPr>
          <a:xfrm flipH="1" flipV="1">
            <a:off x="6464808" y="4224528"/>
            <a:ext cx="1536192" cy="164592"/>
          </a:xfrm>
          <a:prstGeom prst="line">
            <a:avLst/>
          </a:prstGeom>
          <a:noFill/>
          <a:ln w="12700">
            <a:solidFill>
              <a:srgbClr val="595959"/>
            </a:solidFill>
            <a:prstDash val="solid"/>
            <a:tailEnd type="oval"/>
          </a:ln>
        </p:spPr>
      </p:sp>
      <p:sp>
        <p:nvSpPr>
          <p:cNvPr id="16" name="Text 13"/>
          <p:cNvSpPr txBox="1"/>
          <p:nvPr/>
        </p:nvSpPr>
        <p:spPr>
          <a:xfrm>
            <a:off x="457200" y="4297680"/>
            <a:ext cx="3657600" cy="640080"/>
          </a:xfrm>
          <a:prstGeom prst="rect">
            <a:avLst/>
          </a:prstGeom>
          <a:noFill/>
          <a:ln/>
        </p:spPr>
        <p:txBody>
          <a:bodyPr wrap="square" lIns="0" tIns="0" rIns="0" bIns="0" rtlCol="0" anchor="ctr"/>
          <a:lstStyle/>
          <a:p>
            <a:pPr algn="r" indent="0" marL="0">
              <a:buNone/>
            </a:pPr>
            <a:r>
              <a:rPr lang="en-US" sz="1800" b="1" dirty="0">
                <a:solidFill>
                  <a:srgbClr val="000000"/>
                </a:solidFill>
                <a:latin typeface="Georgia" pitchFamily="34" charset="0"/>
                <a:ea typeface="Georgia" pitchFamily="34" charset="-122"/>
                <a:cs typeface="Georgia" pitchFamily="34" charset="-120"/>
              </a:rPr>
              <a:t>Kidneys</a:t>
            </a:r>
            <a:endParaRPr lang="en-US" sz="1800" dirty="0"/>
          </a:p>
          <a:p>
            <a:pPr algn="r" indent="0" marL="0">
              <a:buNone/>
            </a:pPr>
            <a:r>
              <a:rPr lang="en-US" sz="1600" dirty="0">
                <a:solidFill>
                  <a:srgbClr val="404040"/>
                </a:solidFill>
                <a:latin typeface="Georgia" pitchFamily="34" charset="0"/>
                <a:ea typeface="Georgia" pitchFamily="34" charset="-122"/>
                <a:cs typeface="Georgia" pitchFamily="34" charset="-120"/>
              </a:rPr>
              <a:t>AKI</a:t>
            </a:r>
            <a:endParaRPr lang="en-US" sz="1800" dirty="0"/>
          </a:p>
        </p:txBody>
      </p:sp>
      <p:sp>
        <p:nvSpPr>
          <p:cNvPr id="17" name="Leader"/>
          <p:cNvSpPr/>
          <p:nvPr/>
        </p:nvSpPr>
        <p:spPr>
          <a:xfrm flipV="1">
            <a:off x="4206240" y="4544568"/>
            <a:ext cx="1426464" cy="73152"/>
          </a:xfrm>
          <a:prstGeom prst="line">
            <a:avLst/>
          </a:prstGeom>
          <a:noFill/>
          <a:ln w="12700">
            <a:solidFill>
              <a:srgbClr val="595959"/>
            </a:solidFill>
            <a:prstDash val="solid"/>
            <a:tailEnd type="oval"/>
          </a:ln>
        </p:spPr>
      </p:sp>
      <p:sp>
        <p:nvSpPr>
          <p:cNvPr id="18" name="Text 15"/>
          <p:cNvSpPr txBox="1"/>
          <p:nvPr/>
        </p:nvSpPr>
        <p:spPr>
          <a:xfrm>
            <a:off x="8092440" y="4937760"/>
            <a:ext cx="3657600" cy="640080"/>
          </a:xfrm>
          <a:prstGeom prst="rect">
            <a:avLst/>
          </a:prstGeom>
          <a:noFill/>
          <a:ln/>
        </p:spPr>
        <p:txBody>
          <a:bodyPr wrap="square" lIns="0" tIns="0" rIns="0" bIns="0" rtlCol="0" anchor="ctr"/>
          <a:lstStyle/>
          <a:p>
            <a:pPr algn="l" indent="0" marL="0">
              <a:buNone/>
            </a:pPr>
            <a:r>
              <a:rPr lang="en-US" sz="1800" b="1" dirty="0">
                <a:solidFill>
                  <a:srgbClr val="000000"/>
                </a:solidFill>
                <a:latin typeface="Georgia" pitchFamily="34" charset="0"/>
                <a:ea typeface="Georgia" pitchFamily="34" charset="-122"/>
                <a:cs typeface="Georgia" pitchFamily="34" charset="-120"/>
              </a:rPr>
              <a:t>Pancreas</a:t>
            </a:r>
            <a:endParaRPr lang="en-US" sz="1800" dirty="0"/>
          </a:p>
          <a:p>
            <a:pPr algn="l" indent="0" marL="0">
              <a:buNone/>
            </a:pPr>
            <a:r>
              <a:rPr lang="en-US" sz="1600" dirty="0">
                <a:solidFill>
                  <a:srgbClr val="404040"/>
                </a:solidFill>
                <a:latin typeface="Georgia" pitchFamily="34" charset="0"/>
                <a:ea typeface="Georgia" pitchFamily="34" charset="-122"/>
                <a:cs typeface="Georgia" pitchFamily="34" charset="-120"/>
              </a:rPr>
              <a:t>pancreatitis</a:t>
            </a:r>
            <a:endParaRPr lang="en-US" sz="1800" dirty="0"/>
          </a:p>
        </p:txBody>
      </p:sp>
      <p:sp>
        <p:nvSpPr>
          <p:cNvPr id="19" name="Leader"/>
          <p:cNvSpPr/>
          <p:nvPr/>
        </p:nvSpPr>
        <p:spPr>
          <a:xfrm flipH="1" flipV="1">
            <a:off x="6172200" y="4224528"/>
            <a:ext cx="1828800" cy="1033272"/>
          </a:xfrm>
          <a:prstGeom prst="line">
            <a:avLst/>
          </a:prstGeom>
          <a:noFill/>
          <a:ln w="12700">
            <a:solidFill>
              <a:srgbClr val="595959"/>
            </a:solidFill>
            <a:prstDash val="solid"/>
            <a:tailEnd type="oval"/>
          </a:ln>
        </p:spPr>
      </p:sp>
      <p:sp>
        <p:nvSpPr>
          <p:cNvPr id="20" name="Text 17"/>
          <p:cNvSpPr txBox="1"/>
          <p:nvPr/>
        </p:nvSpPr>
        <p:spPr>
          <a:xfrm>
            <a:off x="457200" y="5349240"/>
            <a:ext cx="3657600" cy="640080"/>
          </a:xfrm>
          <a:prstGeom prst="rect">
            <a:avLst/>
          </a:prstGeom>
          <a:noFill/>
          <a:ln/>
        </p:spPr>
        <p:txBody>
          <a:bodyPr wrap="square" lIns="0" tIns="0" rIns="0" bIns="0" rtlCol="0" anchor="ctr"/>
          <a:lstStyle/>
          <a:p>
            <a:pPr algn="r" indent="0" marL="0">
              <a:buNone/>
            </a:pPr>
            <a:r>
              <a:rPr lang="en-US" sz="1800" b="1" dirty="0">
                <a:solidFill>
                  <a:srgbClr val="000000"/>
                </a:solidFill>
                <a:latin typeface="Georgia" pitchFamily="34" charset="0"/>
                <a:ea typeface="Georgia" pitchFamily="34" charset="-122"/>
                <a:cs typeface="Georgia" pitchFamily="34" charset="-120"/>
              </a:rPr>
              <a:t>Bone marrow</a:t>
            </a:r>
            <a:endParaRPr lang="en-US" sz="1800" dirty="0"/>
          </a:p>
          <a:p>
            <a:pPr algn="r" indent="0" marL="0">
              <a:buNone/>
            </a:pPr>
            <a:r>
              <a:rPr lang="en-US" sz="1600" dirty="0">
                <a:solidFill>
                  <a:srgbClr val="404040"/>
                </a:solidFill>
                <a:latin typeface="Georgia" pitchFamily="34" charset="0"/>
                <a:ea typeface="Georgia" pitchFamily="34" charset="-122"/>
                <a:cs typeface="Georgia" pitchFamily="34" charset="-120"/>
              </a:rPr>
              <a:t>suppression</a:t>
            </a:r>
            <a:endParaRPr lang="en-US" sz="1800" dirty="0"/>
          </a:p>
        </p:txBody>
      </p:sp>
      <p:sp>
        <p:nvSpPr>
          <p:cNvPr id="21" name="Leader"/>
          <p:cNvSpPr/>
          <p:nvPr/>
        </p:nvSpPr>
        <p:spPr>
          <a:xfrm>
            <a:off x="4206240" y="5669280"/>
            <a:ext cx="1124712" cy="365760"/>
          </a:xfrm>
          <a:prstGeom prst="line">
            <a:avLst/>
          </a:prstGeom>
          <a:noFill/>
          <a:ln w="12700">
            <a:solidFill>
              <a:srgbClr val="595959"/>
            </a:solidFill>
            <a:prstDash val="solid"/>
            <a:tailEnd type="oval"/>
          </a:ln>
        </p:spPr>
      </p:sp>
      <p:sp>
        <p:nvSpPr>
          <p:cNvPr id="22" name="Source"/>
          <p:cNvSpPr txBox="1"/>
          <p:nvPr/>
        </p:nvSpPr>
        <p:spPr>
          <a:xfrm>
            <a:off x="411480" y="6217920"/>
            <a:ext cx="3931920" cy="45720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Figure content after Bernal W, Wendon J.</a:t>
            </a:r>
            <a:endParaRPr lang="en-US" sz="1000" dirty="0"/>
          </a:p>
          <a:p>
            <a:pPr indent="0" marL="0">
              <a:buNone/>
            </a:pPr>
            <a:r>
              <a:rPr lang="en-US" sz="1000" i="1" dirty="0">
                <a:solidFill>
                  <a:srgbClr val="595959"/>
                </a:solidFill>
                <a:latin typeface="Georgia" pitchFamily="34" charset="0"/>
                <a:ea typeface="Georgia" pitchFamily="34" charset="-122"/>
                <a:cs typeface="Georgia" pitchFamily="34" charset="-120"/>
              </a:rPr>
              <a:t>N Engl J Med 2013;369:2525-34</a:t>
            </a:r>
            <a:endParaRPr lang="en-US" sz="1000" dirty="0"/>
          </a:p>
        </p:txBody>
      </p:sp>
      <p:sp>
        <p:nvSpPr>
          <p:cNvPr id="2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9/58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sp>
        <p:nvSpPr>
          <p:cNvPr id="3" name="Question"/>
          <p:cNvSpPr txBox="1"/>
          <p:nvPr/>
        </p:nvSpPr>
        <p:spPr>
          <a:xfrm>
            <a:off x="822960" y="2926080"/>
            <a:ext cx="10545775" cy="914400"/>
          </a:xfrm>
          <a:prstGeom prst="rect">
            <a:avLst/>
          </a:prstGeom>
          <a:noFill/>
          <a:ln/>
        </p:spPr>
        <p:txBody>
          <a:bodyPr wrap="square" lIns="0" tIns="0" rIns="0" bIns="0" rtlCol="0" anchor="ctr"/>
          <a:lstStyle/>
          <a:p>
            <a:pPr algn="ctr" indent="0" marL="0">
              <a:buNone/>
            </a:pPr>
            <a:r>
              <a:rPr lang="en-US" sz="3600" b="1" dirty="0">
                <a:solidFill>
                  <a:srgbClr val="000000"/>
                </a:solidFill>
                <a:latin typeface="Georgia" pitchFamily="34" charset="0"/>
                <a:ea typeface="Georgia" pitchFamily="34" charset="-122"/>
                <a:cs typeface="Georgia" pitchFamily="34" charset="-120"/>
              </a:rPr>
              <a:t>What's your next step?</a:t>
            </a:r>
            <a:endParaRPr lang="en-US" sz="36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10/58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The first hour</a:t>
            </a:r>
            <a:endParaRPr lang="en-US" sz="30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1097280" y="1554480"/>
          <a:ext cx="9997135" cy="914400"/>
        </p:xfrm>
        <a:graphic>
          <a:graphicData uri="http://schemas.openxmlformats.org/drawingml/2006/table">
            <a:tbl>
              <a:tblPr/>
              <a:tblGrid>
                <a:gridCol w="4151376"/>
                <a:gridCol w="5843016"/>
              </a:tblGrid>
              <a:tr h="618134">
                <a:tc>
                  <a:txBody>
                    <a:bodyPr/>
                    <a:lstStyle/>
                    <a:p>
                      <a:pPr algn="ctr" indent="0" marL="0">
                        <a:buNone/>
                      </a:pPr>
                      <a:r>
                        <a:rPr lang="en-US" sz="2600" b="1" dirty="0">
                          <a:solidFill>
                            <a:srgbClr val="000000"/>
                          </a:solidFill>
                          <a:latin typeface="Calibri" pitchFamily="34" charset="0"/>
                          <a:ea typeface="Calibri" pitchFamily="34" charset="-122"/>
                          <a:cs typeface="Calibri" pitchFamily="34" charset="-120"/>
                        </a:rPr>
                        <a:t>Support</a:t>
                      </a: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600" b="1" dirty="0">
                          <a:solidFill>
                            <a:srgbClr val="000000"/>
                          </a:solidFill>
                          <a:latin typeface="Calibri" pitchFamily="34" charset="0"/>
                          <a:ea typeface="Calibri" pitchFamily="34" charset="-122"/>
                          <a:cs typeface="Calibri" pitchFamily="34" charset="-120"/>
                        </a:rPr>
                        <a:t>Workup</a:t>
                      </a: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1739392">
                <a:tc>
                  <a:txBody>
                    <a:bodyPr/>
                    <a:lstStyle/>
                    <a:p>
                      <a:pPr algn="l" indent="0" marL="0">
                        <a:buNone/>
                      </a:pPr>
                      <a:r>
                        <a:rPr lang="en-US" sz="2600" dirty="0">
                          <a:solidFill>
                            <a:srgbClr val="000000"/>
                          </a:solidFill>
                          <a:latin typeface="Calibri" pitchFamily="34" charset="0"/>
                          <a:ea typeface="Calibri" pitchFamily="34" charset="-122"/>
                          <a:cs typeface="Calibri" pitchFamily="34" charset="-120"/>
                        </a:rPr>
                        <a:t>ICU bed</a:t>
                      </a:r>
                      <a:endParaRPr lang="en-US" sz="2600" dirty="0">
                        <a:latin typeface="Calibri" charset="0"/>
                        <a:ea typeface="Calibri" charset="0"/>
                        <a:cs typeface="Calibri" charset="0"/>
                      </a:endParaRPr>
                    </a:p>
                    <a:p>
                      <a:pPr algn="l" indent="0" marL="0">
                        <a:buNone/>
                      </a:pPr>
                      <a:r>
                        <a:rPr lang="en-US" sz="2600" dirty="0">
                          <a:solidFill>
                            <a:srgbClr val="000000"/>
                          </a:solidFill>
                          <a:latin typeface="Calibri" pitchFamily="34" charset="0"/>
                          <a:ea typeface="Calibri" pitchFamily="34" charset="-122"/>
                          <a:cs typeface="Calibri" pitchFamily="34" charset="-120"/>
                        </a:rPr>
                        <a:t>Glucose every 1 to 2 hours</a:t>
                      </a:r>
                      <a:endParaRPr lang="en-US" sz="2600" dirty="0">
                        <a:latin typeface="Calibri" charset="0"/>
                        <a:ea typeface="Calibri" charset="0"/>
                        <a:cs typeface="Calibri" charset="0"/>
                      </a:endParaRPr>
                    </a:p>
                    <a:p>
                      <a:pPr algn="l" indent="0" marL="0">
                        <a:buNone/>
                      </a:pPr>
                      <a:r>
                        <a:rPr lang="en-US" sz="2600" dirty="0">
                          <a:solidFill>
                            <a:srgbClr val="000000"/>
                          </a:solidFill>
                          <a:latin typeface="Calibri" pitchFamily="34" charset="0"/>
                          <a:ea typeface="Calibri" pitchFamily="34" charset="-122"/>
                          <a:cs typeface="Calibri" pitchFamily="34" charset="-120"/>
                        </a:rPr>
                        <a:t>Volume, perfusion, lactate</a:t>
                      </a:r>
                      <a:endParaRPr lang="en-US" sz="2600" dirty="0">
                        <a:latin typeface="Calibri" charset="0"/>
                        <a:ea typeface="Calibri" charset="0"/>
                        <a:cs typeface="Calibri" charset="0"/>
                      </a:endParaRPr>
                    </a:p>
                    <a:p>
                      <a:pPr algn="l" indent="0" marL="0">
                        <a:buNone/>
                      </a:pPr>
                      <a:r>
                        <a:rPr lang="en-US" sz="2600" dirty="0">
                          <a:solidFill>
                            <a:srgbClr val="000000"/>
                          </a:solidFill>
                          <a:latin typeface="Calibri" pitchFamily="34" charset="0"/>
                          <a:ea typeface="Calibri" pitchFamily="34" charset="-122"/>
                          <a:cs typeface="Calibri" pitchFamily="34" charset="-120"/>
                        </a:rPr>
                        <a:t>Neuro checks</a:t>
                      </a:r>
                      <a:endParaRPr lang="en-US" sz="26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600" dirty="0">
                          <a:solidFill>
                            <a:srgbClr val="000000"/>
                          </a:solidFill>
                          <a:latin typeface="Calibri" pitchFamily="34" charset="0"/>
                          <a:ea typeface="Calibri" pitchFamily="34" charset="-122"/>
                          <a:cs typeface="Calibri" pitchFamily="34" charset="-120"/>
                        </a:rPr>
                        <a:t>Acetaminophen level</a:t>
                      </a:r>
                      <a:endParaRPr lang="en-US" sz="2600" dirty="0">
                        <a:latin typeface="Calibri" charset="0"/>
                        <a:ea typeface="Calibri" charset="0"/>
                        <a:cs typeface="Calibri" charset="0"/>
                      </a:endParaRPr>
                    </a:p>
                    <a:p>
                      <a:pPr algn="l" indent="0" marL="0">
                        <a:buNone/>
                      </a:pPr>
                      <a:r>
                        <a:rPr lang="en-US" sz="2600" dirty="0">
                          <a:solidFill>
                            <a:srgbClr val="000000"/>
                          </a:solidFill>
                          <a:latin typeface="Calibri" pitchFamily="34" charset="0"/>
                          <a:ea typeface="Calibri" pitchFamily="34" charset="-122"/>
                          <a:cs typeface="Calibri" pitchFamily="34" charset="-120"/>
                        </a:rPr>
                        <a:t>Viral, autoimmune, Wilson, toxicology</a:t>
                      </a:r>
                      <a:endParaRPr lang="en-US" sz="2600" dirty="0">
                        <a:latin typeface="Calibri" charset="0"/>
                        <a:ea typeface="Calibri" charset="0"/>
                        <a:cs typeface="Calibri" charset="0"/>
                      </a:endParaRPr>
                    </a:p>
                    <a:p>
                      <a:pPr algn="l" indent="0" marL="0">
                        <a:buNone/>
                      </a:pPr>
                      <a:r>
                        <a:rPr lang="en-US" sz="2600" dirty="0">
                          <a:solidFill>
                            <a:srgbClr val="000000"/>
                          </a:solidFill>
                          <a:latin typeface="Calibri" pitchFamily="34" charset="0"/>
                          <a:ea typeface="Calibri" pitchFamily="34" charset="-122"/>
                          <a:cs typeface="Calibri" pitchFamily="34" charset="-120"/>
                        </a:rPr>
                        <a:t>Doppler ultrasound</a:t>
                      </a:r>
                      <a:endParaRPr lang="en-US" sz="2600" dirty="0">
                        <a:latin typeface="Calibri" charset="0"/>
                        <a:ea typeface="Calibri" charset="0"/>
                        <a:cs typeface="Calibri" charset="0"/>
                      </a:endParaRPr>
                    </a:p>
                    <a:p>
                      <a:pPr algn="l" indent="0" marL="0">
                        <a:buNone/>
                      </a:pPr>
                      <a:r>
                        <a:rPr lang="en-US" sz="2600" dirty="0">
                          <a:solidFill>
                            <a:srgbClr val="000000"/>
                          </a:solidFill>
                          <a:latin typeface="Calibri" pitchFamily="34" charset="0"/>
                          <a:ea typeface="Calibri" pitchFamily="34" charset="-122"/>
                          <a:cs typeface="Calibri" pitchFamily="34" charset="-120"/>
                        </a:rPr>
                        <a:t>Pregnancy test</a:t>
                      </a:r>
                      <a:endParaRPr lang="en-US" sz="26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Send the workup while you resuscitate</a:t>
            </a:r>
            <a:endParaRPr lang="en-US" sz="24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11/58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Which cause changes treatment right away?</a:t>
            </a:r>
            <a:endParaRPr lang="en-US" sz="30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11277295" cy="914400"/>
        </p:xfrm>
        <a:graphic>
          <a:graphicData uri="http://schemas.openxmlformats.org/drawingml/2006/table">
            <a:tbl>
              <a:tblPr/>
              <a:tblGrid>
                <a:gridCol w="2148840"/>
                <a:gridCol w="4105656"/>
                <a:gridCol w="2660904"/>
                <a:gridCol w="2359152"/>
              </a:tblGrid>
              <a:tr h="38039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If you suspect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Clues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Send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Don't wait to</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Acetaminophen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AST/ALT in the thousands, OTC use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Level, combination products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Herpes simplex</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Fever, very high AST/ALT, little jaundice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HSV PCR (blood)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Hepatitis B</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Endemic area, chemo or immunosuppression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HBsAg, anti-HBc IgM, DNA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Autoimmune hepatitis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Woman, other autoimmune disease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ANA, ASMA, IgG</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Wilson disease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Under 40, Coombs-negative hemolysis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Ceruloplasmin, urine copper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AFLP, HELLP</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Third trimester, high BP, low platelets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hCG</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Budd-Chiari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Pain, ascites, big liver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Doppler or CT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Ischemic hepatitis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Shock or arrest, very high LDH</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Echo</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Amanita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Wild mushrooms, diarrhea 6-24 h later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Poison control</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Update 2022 [PMID: 36001996]; practical update 2024 [PMID: 39170946]; EASL AIH 2025 [PMID: 40348684]</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12/58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Which cause changes treatment right away?</a:t>
            </a:r>
            <a:endParaRPr lang="en-US" sz="30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11277295" cy="914400"/>
        </p:xfrm>
        <a:graphic>
          <a:graphicData uri="http://schemas.openxmlformats.org/drawingml/2006/table">
            <a:tbl>
              <a:tblPr/>
              <a:tblGrid>
                <a:gridCol w="2148840"/>
                <a:gridCol w="4105656"/>
                <a:gridCol w="2660904"/>
                <a:gridCol w="2359152"/>
              </a:tblGrid>
              <a:tr h="38039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If you suspect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Clues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Send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Don't wait to</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Acetaminophen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AST/ALT in the thousands, OTC use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Level, combination products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Start NAC</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Herpes simplex</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Fever, very high AST/ALT, little jaundice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HSV PCR (blood)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Start IV acyclovir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Hepatitis B</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Endemic area, chemo or immunosuppression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HBsAg, anti-HBc IgM, DNA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Entecavir or tenofovir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Autoimmune hepatitis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Woman, other autoimmune disease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ANA, ASMA, IgG</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Steroids with hepatology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Wilson disease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Under 40, Coombs-negative hemolysis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Ceruloplasmin, urine copper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Urgent transplant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AFLP, HELLP</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Third trimester, high BP, low platelets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hCG</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Obstetrics: delivery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Budd-Chiari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Pain, ascites, big liver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Doppler or CT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Anticoagulate; TIPS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Ischemic hepatitis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Shock or arrest, very high LDH</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Echo</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Fix the circulation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Amanita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Wild mushrooms, diarrhea 6-24 h later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Poison control</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NAC, silibinin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Update 2022 [PMID: 36001996]; practical update 2024 [PMID: 39170946]; EASL AIH 2025 [PMID: 40348684]</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12/58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sp>
        <p:nvSpPr>
          <p:cNvPr id="3" name="Body"/>
          <p:cNvSpPr txBox="1"/>
          <p:nvPr/>
        </p:nvSpPr>
        <p:spPr>
          <a:xfrm>
            <a:off x="548640" y="1280160"/>
            <a:ext cx="6858000" cy="173736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Roommate: "She was taking a lot of the Tylenol with codeine, plus cold medicine, for 3 days"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Acetaminophen level: </a:t>
            </a:r>
            <a:r>
              <a:rPr lang="en-US" sz="2000" b="1" dirty="0">
                <a:solidFill>
                  <a:srgbClr val="000000"/>
                </a:solidFill>
                <a:latin typeface="Georgia" pitchFamily="34" charset="0"/>
                <a:ea typeface="Georgia" pitchFamily="34" charset="-122"/>
                <a:cs typeface="Georgia" pitchFamily="34" charset="-120"/>
              </a:rPr>
              <a:t>12 μg/mL</a:t>
            </a:r>
            <a:r>
              <a:rPr lang="en-US" sz="2000" dirty="0">
                <a:solidFill>
                  <a:srgbClr val="000000"/>
                </a:solidFill>
                <a:latin typeface="Georgia" pitchFamily="34" charset="0"/>
                <a:ea typeface="Georgia" pitchFamily="34" charset="-122"/>
                <a:cs typeface="Georgia" pitchFamily="34" charset="-120"/>
              </a:rPr>
              <a:t>, time of last dose unknown</a:t>
            </a:r>
            <a:endParaRPr lang="en-US" sz="2000" dirty="0"/>
          </a:p>
        </p:txBody>
      </p:sp>
      <p:pic>
        <p:nvPicPr>
          <p:cNvPr id="4" name="Image 0" descr="Watercolor of a cold and flu medicine box and pill bottles">    </p:cNvPr>
          <p:cNvPicPr>
            <a:picLocks noChangeAspect="1"/>
          </p:cNvPicPr>
          <p:nvPr/>
        </p:nvPicPr>
        <p:blipFill>
          <a:blip r:embed="rId1"/>
          <a:stretch>
            <a:fillRect/>
          </a:stretch>
        </p:blipFill>
        <p:spPr>
          <a:xfrm>
            <a:off x="7635240" y="1234440"/>
            <a:ext cx="4206240" cy="4176851"/>
          </a:xfrm>
          <a:prstGeom prst="rect">
            <a:avLst/>
          </a:prstGeom>
        </p:spPr>
      </p:pic>
      <p:sp>
        <p:nvSpPr>
          <p:cNvPr id="5" name="Question"/>
          <p:cNvSpPr txBox="1"/>
          <p:nvPr/>
        </p:nvSpPr>
        <p:spPr>
          <a:xfrm>
            <a:off x="548640" y="3108960"/>
            <a:ext cx="685800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Can you use the nomogram?</a:t>
            </a:r>
            <a:endParaRPr lang="en-US" sz="24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13/58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sp>
        <p:nvSpPr>
          <p:cNvPr id="3" name="Body"/>
          <p:cNvSpPr txBox="1"/>
          <p:nvPr/>
        </p:nvSpPr>
        <p:spPr>
          <a:xfrm>
            <a:off x="548640" y="1280160"/>
            <a:ext cx="6858000" cy="173736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Roommate: "She was taking a lot of the Tylenol with codeine, plus cold medicine, for 3 days"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Acetaminophen level: </a:t>
            </a:r>
            <a:r>
              <a:rPr lang="en-US" sz="2000" b="1" dirty="0">
                <a:solidFill>
                  <a:srgbClr val="000000"/>
                </a:solidFill>
                <a:latin typeface="Georgia" pitchFamily="34" charset="0"/>
                <a:ea typeface="Georgia" pitchFamily="34" charset="-122"/>
                <a:cs typeface="Georgia" pitchFamily="34" charset="-120"/>
              </a:rPr>
              <a:t>12 μg/mL</a:t>
            </a:r>
            <a:r>
              <a:rPr lang="en-US" sz="2000" dirty="0">
                <a:solidFill>
                  <a:srgbClr val="000000"/>
                </a:solidFill>
                <a:latin typeface="Georgia" pitchFamily="34" charset="0"/>
                <a:ea typeface="Georgia" pitchFamily="34" charset="-122"/>
                <a:cs typeface="Georgia" pitchFamily="34" charset="-120"/>
              </a:rPr>
              <a:t>, time of last dose unknown</a:t>
            </a:r>
            <a:endParaRPr lang="en-US" sz="2000" dirty="0"/>
          </a:p>
        </p:txBody>
      </p:sp>
      <p:pic>
        <p:nvPicPr>
          <p:cNvPr id="4" name="Image 0" descr="Watercolor of a cold and flu medicine box and pill bottles">    </p:cNvPr>
          <p:cNvPicPr>
            <a:picLocks noChangeAspect="1"/>
          </p:cNvPicPr>
          <p:nvPr/>
        </p:nvPicPr>
        <p:blipFill>
          <a:blip r:embed="rId1"/>
          <a:stretch>
            <a:fillRect/>
          </a:stretch>
        </p:blipFill>
        <p:spPr>
          <a:xfrm>
            <a:off x="7635240" y="1234440"/>
            <a:ext cx="4206240" cy="4176851"/>
          </a:xfrm>
          <a:prstGeom prst="rect">
            <a:avLst/>
          </a:prstGeom>
        </p:spPr>
      </p:pic>
      <p:sp>
        <p:nvSpPr>
          <p:cNvPr id="5" name="Question"/>
          <p:cNvSpPr txBox="1"/>
          <p:nvPr/>
        </p:nvSpPr>
        <p:spPr>
          <a:xfrm>
            <a:off x="548640" y="3108960"/>
            <a:ext cx="685800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Can you use the nomogram?</a:t>
            </a:r>
            <a:endParaRPr lang="en-US" sz="2400" dirty="0"/>
          </a:p>
        </p:txBody>
      </p:sp>
      <p:sp>
        <p:nvSpPr>
          <p:cNvPr id="6" name="Body"/>
          <p:cNvSpPr txBox="1"/>
          <p:nvPr/>
        </p:nvSpPr>
        <p:spPr>
          <a:xfrm>
            <a:off x="548640" y="3703320"/>
            <a:ext cx="6858000" cy="2560320"/>
          </a:xfrm>
          <a:prstGeom prst="rect">
            <a:avLst/>
          </a:prstGeom>
          <a:noFill/>
          <a:ln/>
        </p:spPr>
        <p:txBody>
          <a:bodyPr wrap="square" lIns="50800" tIns="50800" rIns="50800" bIns="50800" rtlCol="0" anchor="t"/>
          <a:lstStyle/>
          <a:p>
            <a:pPr marL="228600" indent="-228600">
              <a:spcBef>
                <a:spcPts val="800"/>
              </a:spcBef>
              <a:buSzPct val="100000"/>
              <a:buChar char="–"/>
            </a:pPr>
            <a:r>
              <a:rPr lang="en-US" sz="2000" b="1" dirty="0">
                <a:solidFill>
                  <a:srgbClr val="000000"/>
                </a:solidFill>
                <a:latin typeface="Georgia" pitchFamily="34" charset="0"/>
                <a:ea typeface="Georgia" pitchFamily="34" charset="-122"/>
                <a:cs typeface="Georgia" pitchFamily="34" charset="-120"/>
              </a:rPr>
              <a:t>No.</a:t>
            </a:r>
            <a:r>
              <a:rPr lang="en-US" sz="2000" dirty="0">
                <a:solidFill>
                  <a:srgbClr val="000000"/>
                </a:solidFill>
                <a:latin typeface="Georgia" pitchFamily="34" charset="0"/>
                <a:ea typeface="Georgia" pitchFamily="34" charset="-122"/>
                <a:cs typeface="Georgia" pitchFamily="34" charset="-120"/>
              </a:rPr>
              <a:t> Rumack-Matthew is for a single acute ingestion with a known time</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Repeated supratherapeutic use and late presentation: the level can be low or undetectable</a:t>
            </a:r>
            <a:endParaRPr lang="en-US" sz="2000" dirty="0"/>
          </a:p>
          <a:p>
            <a:pPr marL="228600" indent="-228600">
              <a:spcBef>
                <a:spcPts val="800"/>
              </a:spcBef>
              <a:buSzPct val="100000"/>
              <a:buChar char="–"/>
            </a:pPr>
            <a:r>
              <a:rPr lang="en-US" sz="2000" b="1" dirty="0">
                <a:solidFill>
                  <a:srgbClr val="000000"/>
                </a:solidFill>
                <a:highlight>
                  <a:srgbClr val="FFFF00"/>
                </a:highlight>
                <a:latin typeface="Georgia" pitchFamily="34" charset="0"/>
                <a:ea typeface="Georgia" pitchFamily="34" charset="-122"/>
                <a:cs typeface="Georgia" pitchFamily="34" charset="-120"/>
              </a:rPr>
              <a:t>Start NAC now</a:t>
            </a:r>
            <a:endParaRPr lang="en-US" sz="2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13/58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NAC for every kind of acute liver failure?</a:t>
            </a:r>
            <a:endParaRPr lang="en-US" sz="3000" dirty="0"/>
          </a:p>
        </p:txBody>
      </p:sp>
      <p:pic>
        <p:nvPicPr>
          <p:cNvPr id="3" name="Image 0" descr="Lee 2009 NAC trial: title">    </p:cNvPr>
          <p:cNvPicPr>
            <a:picLocks noChangeAspect="1"/>
          </p:cNvPicPr>
          <p:nvPr/>
        </p:nvPicPr>
        <p:blipFill>
          <a:blip r:embed="rId1"/>
          <a:stretch>
            <a:fillRect/>
          </a:stretch>
        </p:blipFill>
        <p:spPr>
          <a:xfrm>
            <a:off x="1280160" y="1097280"/>
            <a:ext cx="9631375" cy="1579112"/>
          </a:xfrm>
          <a:prstGeom prst="rect">
            <a:avLst/>
          </a:prstGeom>
        </p:spPr>
      </p:pic>
      <p:sp>
        <p:nvSpPr>
          <p:cNvPr id="4" name="Question"/>
          <p:cNvSpPr txBox="1"/>
          <p:nvPr/>
        </p:nvSpPr>
        <p:spPr>
          <a:xfrm>
            <a:off x="822960" y="3225032"/>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think they found?</a:t>
            </a:r>
            <a:endParaRPr lang="en-US" sz="24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Lee WM et al. Gastroenterology 2009;137:856-64 [PMID: 19524577]</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14/58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NAC for every kind of acute liver failure?</a:t>
            </a:r>
            <a:endParaRPr lang="en-US" sz="3000" dirty="0"/>
          </a:p>
        </p:txBody>
      </p:sp>
      <p:pic>
        <p:nvPicPr>
          <p:cNvPr id="3" name="Image 0" descr="Lee 2009 NAC trial: title">    </p:cNvPr>
          <p:cNvPicPr>
            <a:picLocks noChangeAspect="1"/>
          </p:cNvPicPr>
          <p:nvPr/>
        </p:nvPicPr>
        <p:blipFill>
          <a:blip r:embed="rId1"/>
          <a:stretch>
            <a:fillRect/>
          </a:stretch>
        </p:blipFill>
        <p:spPr>
          <a:xfrm>
            <a:off x="2372490" y="1097280"/>
            <a:ext cx="7446716" cy="2743200"/>
          </a:xfrm>
          <a:prstGeom prst="rect">
            <a:avLst/>
          </a:prstGeom>
        </p:spPr>
      </p:pic>
      <p:pic>
        <p:nvPicPr>
          <p:cNvPr id="4" name="Image 1" descr="Lee 2009 NAC trial">    </p:cNvPr>
          <p:cNvPicPr>
            <a:picLocks noChangeAspect="1"/>
          </p:cNvPicPr>
          <p:nvPr/>
        </p:nvPicPr>
        <p:blipFill>
          <a:blip r:embed="rId2"/>
          <a:stretch>
            <a:fillRect/>
          </a:stretch>
        </p:blipFill>
        <p:spPr>
          <a:xfrm>
            <a:off x="1280160" y="4069080"/>
            <a:ext cx="9631375" cy="1170908"/>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Lee WM et al. Gastroenterology 2009;137:856-64 [PMID: 19524577]</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14/58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NAC for every kind of acute liver failure?</a:t>
            </a:r>
            <a:endParaRPr lang="en-US" sz="3000" dirty="0"/>
          </a:p>
        </p:txBody>
      </p:sp>
      <p:sp>
        <p:nvSpPr>
          <p:cNvPr id="3" name="Body"/>
          <p:cNvSpPr txBox="1"/>
          <p:nvPr/>
        </p:nvSpPr>
        <p:spPr>
          <a:xfrm>
            <a:off x="822960" y="1143000"/>
            <a:ext cx="10545775" cy="457200"/>
          </a:xfrm>
          <a:prstGeom prst="rect">
            <a:avLst/>
          </a:prstGeom>
          <a:noFill/>
          <a:ln/>
        </p:spPr>
        <p:txBody>
          <a:bodyPr wrap="square" lIns="50800" tIns="50800" rIns="50800" bIns="50800" rtlCol="0" anchor="t"/>
          <a:lstStyle/>
          <a:p>
            <a:pPr algn="ctr" indent="0" marL="0">
              <a:spcBef>
                <a:spcPts val="800"/>
              </a:spcBef>
              <a:buNone/>
            </a:pPr>
            <a:r>
              <a:rPr lang="en-US" sz="1900" i="1" dirty="0">
                <a:solidFill>
                  <a:srgbClr val="000000"/>
                </a:solidFill>
                <a:latin typeface="Georgia" pitchFamily="34" charset="0"/>
                <a:ea typeface="Georgia" pitchFamily="34" charset="-122"/>
                <a:cs typeface="Georgia" pitchFamily="34" charset="-120"/>
              </a:rPr>
              <a:t>Adult non-acetaminophen ALF, randomized, NAC vs placebo, 173 patients</a:t>
            </a:r>
            <a:endParaRPr lang="en-US" sz="1900" dirty="0"/>
          </a:p>
        </p:txBody>
      </p:sp>
      <p:graphicFrame>
        <p:nvGraphicFramePr>
          <p:cNvPr id="4" name="Chart 0" descr=""/>
          <p:cNvGraphicFramePr/>
          <p:nvPr/>
        </p:nvGraphicFramePr>
        <p:xfrm>
          <a:off x="640080" y="1645920"/>
          <a:ext cx="7223760" cy="37490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8138160" y="1645920"/>
          <a:ext cx="3383280" cy="3310128"/>
        </p:xfrm>
        <a:graphic xmlns:a="http://schemas.openxmlformats.org/drawingml/2006/main">
          <a:graphicData uri="http://schemas.openxmlformats.org/drawingml/2006/chart">
            <c:chart xmlns:c="http://schemas.openxmlformats.org/drawingml/2006/chart" r:id="rId2"/>
          </a:graphicData>
        </a:graphic>
      </p:graphicFrame>
      <p:sp>
        <p:nvSpPr>
          <p:cNvPr id="6" name="Body"/>
          <p:cNvSpPr txBox="1"/>
          <p:nvPr/>
        </p:nvSpPr>
        <p:spPr>
          <a:xfrm>
            <a:off x="822960" y="5532120"/>
            <a:ext cx="10545775" cy="640080"/>
          </a:xfrm>
          <a:prstGeom prst="rect">
            <a:avLst/>
          </a:prstGeom>
          <a:noFill/>
          <a:ln/>
        </p:spPr>
        <p:txBody>
          <a:bodyPr wrap="square" lIns="50800" tIns="50800" rIns="50800" bIns="50800" rtlCol="0" anchor="t"/>
          <a:lstStyle/>
          <a:p>
            <a:pPr algn="ctr" indent="0" marL="0">
              <a:spcBef>
                <a:spcPts val="800"/>
              </a:spcBef>
              <a:buNone/>
            </a:pPr>
            <a:r>
              <a:rPr lang="en-US" sz="1900" b="1" dirty="0">
                <a:solidFill>
                  <a:srgbClr val="000000"/>
                </a:solidFill>
                <a:latin typeface="Georgia" pitchFamily="34" charset="0"/>
                <a:ea typeface="Georgia" pitchFamily="34" charset="-122"/>
                <a:cs typeface="Georgia" pitchFamily="34" charset="-120"/>
              </a:rPr>
              <a:t>Reasonable in early non-acetaminophen ALF. Don't extrapolate to advanced coma, children or ACLF</a:t>
            </a:r>
            <a:endParaRPr lang="en-US" sz="19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Lee WM et al. Gastroenterology 2009 [PMID: 19524577]</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15/58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graphicFrame>
        <p:nvGraphicFramePr>
          <p:cNvPr id="25" name="Table"/>
          <p:cNvGraphicFramePr>
            <a:graphicFrameLocks noGrp="1"/>
          </p:cNvGraphicFramePr>
          <p:nvPr>
            <p:extLst>
              <p:ext uri="{D42A27DB-BD31-4B8C-83A1-F6EECF244321}">
                <p14:modId xmlns:p14="http://schemas.microsoft.com/office/powerpoint/2010/main" val="1579011935"/>
              </p:ext>
            </p:extLst>
          </p:nvPr>
        </p:nvGraphicFramePr>
        <p:xfrm>
          <a:off x="1371600" y="1280160"/>
          <a:ext cx="9448495" cy="914400"/>
        </p:xfrm>
        <a:graphic>
          <a:graphicData uri="http://schemas.openxmlformats.org/drawingml/2006/table">
            <a:tbl>
              <a:tblPr/>
              <a:tblGrid>
                <a:gridCol w="2496312"/>
                <a:gridCol w="2724912"/>
                <a:gridCol w="4224528"/>
              </a:tblGrid>
              <a:tr h="404165">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Admission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Hour 12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Mental status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Disoriented, asterixis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C00000"/>
                          </a:solidFill>
                          <a:latin typeface="Calibri" pitchFamily="34" charset="0"/>
                          <a:ea typeface="Calibri" pitchFamily="34" charset="-122"/>
                          <a:cs typeface="Calibri" pitchFamily="34" charset="-120"/>
                        </a:rPr>
                        <a:t>Responds only to voice (grade III)</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Ammonia (arterial)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Not sent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C00000"/>
                          </a:solidFill>
                          <a:latin typeface="Calibri" pitchFamily="34" charset="0"/>
                          <a:ea typeface="Calibri" pitchFamily="34" charset="-122"/>
                          <a:cs typeface="Calibri" pitchFamily="34" charset="-120"/>
                        </a:rPr>
                        <a:t>182 μmol/L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Urine output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OK</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C00000"/>
                          </a:solidFill>
                          <a:latin typeface="Calibri" pitchFamily="34" charset="0"/>
                          <a:ea typeface="Calibri" pitchFamily="34" charset="-122"/>
                          <a:cs typeface="Calibri" pitchFamily="34" charset="-120"/>
                        </a:rPr>
                        <a:t>15 mL/h for 4 hours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Lactate (after 3 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2.1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C00000"/>
                          </a:solidFill>
                          <a:latin typeface="Calibri" pitchFamily="34" charset="0"/>
                          <a:ea typeface="Calibri" pitchFamily="34" charset="-122"/>
                          <a:cs typeface="Calibri" pitchFamily="34" charset="-120"/>
                        </a:rPr>
                        <a:t>4.6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Creatinine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1.0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1.3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Sodium</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136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133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Glucose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54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Needs D10</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3035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worries you most?</a:t>
            </a:r>
            <a:endParaRPr lang="en-US" sz="24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16/58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graphicFrame>
        <p:nvGraphicFramePr>
          <p:cNvPr id="26" name="Table"/>
          <p:cNvGraphicFramePr>
            <a:graphicFrameLocks noGrp="1"/>
          </p:cNvGraphicFramePr>
          <p:nvPr>
            <p:extLst>
              <p:ext uri="{D42A27DB-BD31-4B8C-83A1-F6EECF244321}">
                <p14:modId xmlns:p14="http://schemas.microsoft.com/office/powerpoint/2010/main" val="1579011935"/>
              </p:ext>
            </p:extLst>
          </p:nvPr>
        </p:nvGraphicFramePr>
        <p:xfrm>
          <a:off x="1371600" y="1280160"/>
          <a:ext cx="9448495" cy="914400"/>
        </p:xfrm>
        <a:graphic>
          <a:graphicData uri="http://schemas.openxmlformats.org/drawingml/2006/table">
            <a:tbl>
              <a:tblPr/>
              <a:tblGrid>
                <a:gridCol w="2496312"/>
                <a:gridCol w="2724912"/>
                <a:gridCol w="4224528"/>
              </a:tblGrid>
              <a:tr h="404165">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Admission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Hour 12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Mental status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Disoriented, asterixis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C00000"/>
                          </a:solidFill>
                          <a:latin typeface="Calibri" pitchFamily="34" charset="0"/>
                          <a:ea typeface="Calibri" pitchFamily="34" charset="-122"/>
                          <a:cs typeface="Calibri" pitchFamily="34" charset="-120"/>
                        </a:rPr>
                        <a:t>Responds only to voice (grade III)</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Ammonia (arterial)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Not sent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C00000"/>
                          </a:solidFill>
                          <a:latin typeface="Calibri" pitchFamily="34" charset="0"/>
                          <a:ea typeface="Calibri" pitchFamily="34" charset="-122"/>
                          <a:cs typeface="Calibri" pitchFamily="34" charset="-120"/>
                        </a:rPr>
                        <a:t>182 μmol/L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Urine output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OK</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C00000"/>
                          </a:solidFill>
                          <a:latin typeface="Calibri" pitchFamily="34" charset="0"/>
                          <a:ea typeface="Calibri" pitchFamily="34" charset="-122"/>
                          <a:cs typeface="Calibri" pitchFamily="34" charset="-120"/>
                        </a:rPr>
                        <a:t>15 mL/h for 4 hours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Lactate (after 3 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2.1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C00000"/>
                          </a:solidFill>
                          <a:latin typeface="Calibri" pitchFamily="34" charset="0"/>
                          <a:ea typeface="Calibri" pitchFamily="34" charset="-122"/>
                          <a:cs typeface="Calibri" pitchFamily="34" charset="-120"/>
                        </a:rPr>
                        <a:t>4.6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Creatinine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1.0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1.3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Sodium</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136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133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Glucose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54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Needs D10</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07492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highlight>
                  <a:srgbClr val="FFFF00"/>
                </a:highlight>
                <a:latin typeface="Georgia" pitchFamily="34" charset="0"/>
                <a:ea typeface="Georgia" pitchFamily="34" charset="-122"/>
                <a:cs typeface="Georgia" pitchFamily="34" charset="-120"/>
              </a:rPr>
              <a:t>Her brain</a:t>
            </a:r>
            <a:endParaRPr lang="en-US" sz="2600" dirty="0"/>
          </a:p>
        </p:txBody>
      </p:sp>
      <p:sp>
        <p:nvSpPr>
          <p:cNvPr id="5" name="Body"/>
          <p:cNvSpPr txBox="1"/>
          <p:nvPr/>
        </p:nvSpPr>
        <p:spPr>
          <a:xfrm>
            <a:off x="822960" y="5577840"/>
            <a:ext cx="10545775" cy="54864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When do you intubate?  Do you wait for the creatinine before dialysis?</a:t>
            </a:r>
            <a:endParaRPr lang="en-US" sz="2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16/58</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Why does the brain swell?</a:t>
            </a:r>
            <a:endParaRPr lang="en-US" sz="3000" dirty="0"/>
          </a:p>
        </p:txBody>
      </p:sp>
      <p:sp>
        <p:nvSpPr>
          <p:cNvPr id="3" name="Box"/>
          <p:cNvSpPr/>
          <p:nvPr/>
        </p:nvSpPr>
        <p:spPr>
          <a:xfrm>
            <a:off x="731520" y="1371600"/>
            <a:ext cx="2743200" cy="777240"/>
          </a:xfrm>
          <a:prstGeom prst="rect">
            <a:avLst/>
          </a:prstGeom>
          <a:solidFill>
            <a:srgbClr val="FFFFFF"/>
          </a:solidFill>
          <a:ln w="12700">
            <a:solidFill>
              <a:srgbClr val="000000"/>
            </a:solidFill>
            <a:prstDash val="solid"/>
          </a:ln>
        </p:spPr>
      </p:sp>
      <p:sp>
        <p:nvSpPr>
          <p:cNvPr id="4" name="Text 2"/>
          <p:cNvSpPr txBox="1"/>
          <p:nvPr/>
        </p:nvSpPr>
        <p:spPr>
          <a:xfrm>
            <a:off x="731520" y="1371600"/>
            <a:ext cx="2743200" cy="77724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Liver can't clear ammonia</a:t>
            </a:r>
            <a:endParaRPr lang="en-US" sz="1600" dirty="0"/>
          </a:p>
        </p:txBody>
      </p:sp>
      <p:sp>
        <p:nvSpPr>
          <p:cNvPr id="5" name="Box"/>
          <p:cNvSpPr/>
          <p:nvPr/>
        </p:nvSpPr>
        <p:spPr>
          <a:xfrm>
            <a:off x="4023360" y="1371600"/>
            <a:ext cx="2743200" cy="777240"/>
          </a:xfrm>
          <a:prstGeom prst="rect">
            <a:avLst/>
          </a:prstGeom>
          <a:solidFill>
            <a:srgbClr val="FFFFFF"/>
          </a:solidFill>
          <a:ln w="12700">
            <a:solidFill>
              <a:srgbClr val="000000"/>
            </a:solidFill>
            <a:prstDash val="solid"/>
          </a:ln>
        </p:spPr>
      </p:sp>
      <p:sp>
        <p:nvSpPr>
          <p:cNvPr id="6" name="Text 4"/>
          <p:cNvSpPr txBox="1"/>
          <p:nvPr/>
        </p:nvSpPr>
        <p:spPr>
          <a:xfrm>
            <a:off x="4023360" y="1371600"/>
            <a:ext cx="2743200" cy="77724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Astrocytes take up ammonia</a:t>
            </a:r>
            <a:endParaRPr lang="en-US" sz="1600" dirty="0"/>
          </a:p>
        </p:txBody>
      </p:sp>
      <p:sp>
        <p:nvSpPr>
          <p:cNvPr id="7" name="Box"/>
          <p:cNvSpPr/>
          <p:nvPr/>
        </p:nvSpPr>
        <p:spPr>
          <a:xfrm>
            <a:off x="7315200" y="1371600"/>
            <a:ext cx="3657600" cy="777240"/>
          </a:xfrm>
          <a:prstGeom prst="rect">
            <a:avLst/>
          </a:prstGeom>
          <a:solidFill>
            <a:srgbClr val="FFFFFF"/>
          </a:solidFill>
          <a:ln w="12700">
            <a:solidFill>
              <a:srgbClr val="000000"/>
            </a:solidFill>
            <a:prstDash val="solid"/>
          </a:ln>
        </p:spPr>
      </p:sp>
      <p:sp>
        <p:nvSpPr>
          <p:cNvPr id="8" name="Text 6"/>
          <p:cNvSpPr txBox="1"/>
          <p:nvPr/>
        </p:nvSpPr>
        <p:spPr>
          <a:xfrm>
            <a:off x="7315200" y="1371600"/>
            <a:ext cx="3657600" cy="77724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Ammonia + glutamate → glutamine</a:t>
            </a:r>
            <a:endParaRPr lang="en-US" sz="1600" dirty="0"/>
          </a:p>
        </p:txBody>
      </p:sp>
      <p:sp>
        <p:nvSpPr>
          <p:cNvPr id="9" name="Arrow"/>
          <p:cNvSpPr/>
          <p:nvPr/>
        </p:nvSpPr>
        <p:spPr>
          <a:xfrm>
            <a:off x="3474720" y="1760220"/>
            <a:ext cx="548640" cy="914"/>
          </a:xfrm>
          <a:prstGeom prst="line">
            <a:avLst/>
          </a:prstGeom>
          <a:noFill/>
          <a:ln w="19050">
            <a:solidFill>
              <a:srgbClr val="000000"/>
            </a:solidFill>
            <a:prstDash val="solid"/>
            <a:tailEnd type="triangle"/>
          </a:ln>
        </p:spPr>
      </p:sp>
      <p:sp>
        <p:nvSpPr>
          <p:cNvPr id="10" name="Arrow"/>
          <p:cNvSpPr/>
          <p:nvPr/>
        </p:nvSpPr>
        <p:spPr>
          <a:xfrm>
            <a:off x="6766560" y="1760220"/>
            <a:ext cx="548640" cy="914"/>
          </a:xfrm>
          <a:prstGeom prst="line">
            <a:avLst/>
          </a:prstGeom>
          <a:noFill/>
          <a:ln w="19050">
            <a:solidFill>
              <a:srgbClr val="000000"/>
            </a:solidFill>
            <a:prstDash val="solid"/>
            <a:tailEnd type="triangle"/>
          </a:ln>
        </p:spPr>
      </p:sp>
      <p:sp>
        <p:nvSpPr>
          <p:cNvPr id="11" name="Box"/>
          <p:cNvSpPr/>
          <p:nvPr/>
        </p:nvSpPr>
        <p:spPr>
          <a:xfrm>
            <a:off x="7315200" y="2743200"/>
            <a:ext cx="3657600" cy="777240"/>
          </a:xfrm>
          <a:prstGeom prst="rect">
            <a:avLst/>
          </a:prstGeom>
          <a:solidFill>
            <a:srgbClr val="FFFFFF"/>
          </a:solidFill>
          <a:ln w="12700">
            <a:solidFill>
              <a:srgbClr val="000000"/>
            </a:solidFill>
            <a:prstDash val="solid"/>
          </a:ln>
        </p:spPr>
      </p:sp>
      <p:sp>
        <p:nvSpPr>
          <p:cNvPr id="12" name="Text 10"/>
          <p:cNvSpPr txBox="1"/>
          <p:nvPr/>
        </p:nvSpPr>
        <p:spPr>
          <a:xfrm>
            <a:off x="7315200" y="2743200"/>
            <a:ext cx="3657600" cy="77724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Glutamine pulls in water, mitochondria fail</a:t>
            </a:r>
            <a:endParaRPr lang="en-US" sz="1600" dirty="0"/>
          </a:p>
        </p:txBody>
      </p:sp>
      <p:sp>
        <p:nvSpPr>
          <p:cNvPr id="13" name="Arrow"/>
          <p:cNvSpPr/>
          <p:nvPr/>
        </p:nvSpPr>
        <p:spPr>
          <a:xfrm>
            <a:off x="9144000" y="2148840"/>
            <a:ext cx="914" cy="594360"/>
          </a:xfrm>
          <a:prstGeom prst="line">
            <a:avLst/>
          </a:prstGeom>
          <a:noFill/>
          <a:ln w="19050">
            <a:solidFill>
              <a:srgbClr val="000000"/>
            </a:solidFill>
            <a:prstDash val="solid"/>
            <a:tailEnd type="triangle"/>
          </a:ln>
        </p:spPr>
      </p:sp>
      <p:sp>
        <p:nvSpPr>
          <p:cNvPr id="14" name="Box"/>
          <p:cNvSpPr/>
          <p:nvPr/>
        </p:nvSpPr>
        <p:spPr>
          <a:xfrm>
            <a:off x="4023360" y="2743200"/>
            <a:ext cx="2743200" cy="777240"/>
          </a:xfrm>
          <a:prstGeom prst="rect">
            <a:avLst/>
          </a:prstGeom>
          <a:solidFill>
            <a:srgbClr val="FFFFFF"/>
          </a:solidFill>
          <a:ln w="12700">
            <a:solidFill>
              <a:srgbClr val="000000"/>
            </a:solidFill>
            <a:prstDash val="solid"/>
          </a:ln>
        </p:spPr>
      </p:sp>
      <p:sp>
        <p:nvSpPr>
          <p:cNvPr id="15" name="Text 13"/>
          <p:cNvSpPr txBox="1"/>
          <p:nvPr/>
        </p:nvSpPr>
        <p:spPr>
          <a:xfrm>
            <a:off x="4023360" y="2743200"/>
            <a:ext cx="2743200" cy="777240"/>
          </a:xfrm>
          <a:prstGeom prst="rect">
            <a:avLst/>
          </a:prstGeom>
          <a:noFill/>
          <a:ln/>
        </p:spPr>
        <p:txBody>
          <a:bodyPr wrap="square" lIns="50800" tIns="50800" rIns="50800" bIns="50800" rtlCol="0" anchor="ctr"/>
          <a:lstStyle/>
          <a:p>
            <a:pPr algn="ctr" indent="0" marL="0">
              <a:buNone/>
            </a:pPr>
            <a:r>
              <a:rPr lang="en-US" sz="1600" b="1" dirty="0">
                <a:solidFill>
                  <a:srgbClr val="000000"/>
                </a:solidFill>
                <a:latin typeface="Georgia" pitchFamily="34" charset="0"/>
                <a:ea typeface="Georgia" pitchFamily="34" charset="-122"/>
                <a:cs typeface="Georgia" pitchFamily="34" charset="-120"/>
              </a:rPr>
              <a:t>Astrocyte swelling, cerebral edema</a:t>
            </a:r>
            <a:endParaRPr lang="en-US" sz="1600" dirty="0"/>
          </a:p>
        </p:txBody>
      </p:sp>
      <p:sp>
        <p:nvSpPr>
          <p:cNvPr id="16" name="Arrow"/>
          <p:cNvSpPr/>
          <p:nvPr/>
        </p:nvSpPr>
        <p:spPr>
          <a:xfrm flipH="1">
            <a:off x="6766560" y="3131820"/>
            <a:ext cx="548640" cy="914"/>
          </a:xfrm>
          <a:prstGeom prst="line">
            <a:avLst/>
          </a:prstGeom>
          <a:noFill/>
          <a:ln w="19050">
            <a:solidFill>
              <a:srgbClr val="000000"/>
            </a:solidFill>
            <a:prstDash val="solid"/>
            <a:tailEnd type="triangle"/>
          </a:ln>
        </p:spPr>
      </p:sp>
      <p:sp>
        <p:nvSpPr>
          <p:cNvPr id="17" name="Box"/>
          <p:cNvSpPr/>
          <p:nvPr/>
        </p:nvSpPr>
        <p:spPr>
          <a:xfrm>
            <a:off x="731520" y="2743200"/>
            <a:ext cx="2743200" cy="777240"/>
          </a:xfrm>
          <a:prstGeom prst="rect">
            <a:avLst/>
          </a:prstGeom>
          <a:solidFill>
            <a:srgbClr val="FFFFFF"/>
          </a:solidFill>
          <a:ln w="12700">
            <a:solidFill>
              <a:srgbClr val="C00000"/>
            </a:solidFill>
            <a:prstDash val="solid"/>
          </a:ln>
        </p:spPr>
      </p:sp>
      <p:sp>
        <p:nvSpPr>
          <p:cNvPr id="18" name="Text 16"/>
          <p:cNvSpPr txBox="1"/>
          <p:nvPr/>
        </p:nvSpPr>
        <p:spPr>
          <a:xfrm>
            <a:off x="731520" y="2743200"/>
            <a:ext cx="2743200" cy="777240"/>
          </a:xfrm>
          <a:prstGeom prst="rect">
            <a:avLst/>
          </a:prstGeom>
          <a:noFill/>
          <a:ln/>
        </p:spPr>
        <p:txBody>
          <a:bodyPr wrap="square" lIns="50800" tIns="50800" rIns="50800" bIns="50800" rtlCol="0" anchor="ctr"/>
          <a:lstStyle/>
          <a:p>
            <a:pPr algn="ctr" indent="0" marL="0">
              <a:buNone/>
            </a:pPr>
            <a:r>
              <a:rPr lang="en-US" sz="1600" b="1" dirty="0">
                <a:solidFill>
                  <a:srgbClr val="C00000"/>
                </a:solidFill>
                <a:latin typeface="Georgia" pitchFamily="34" charset="0"/>
                <a:ea typeface="Georgia" pitchFamily="34" charset="-122"/>
                <a:cs typeface="Georgia" pitchFamily="34" charset="-120"/>
              </a:rPr>
              <a:t>Intracranial hypertension, herniation</a:t>
            </a:r>
            <a:endParaRPr lang="en-US" sz="1600" dirty="0"/>
          </a:p>
        </p:txBody>
      </p:sp>
      <p:sp>
        <p:nvSpPr>
          <p:cNvPr id="19" name="Arrow"/>
          <p:cNvSpPr/>
          <p:nvPr/>
        </p:nvSpPr>
        <p:spPr>
          <a:xfrm flipH="1">
            <a:off x="3474720" y="3131820"/>
            <a:ext cx="548640" cy="914"/>
          </a:xfrm>
          <a:prstGeom prst="line">
            <a:avLst/>
          </a:prstGeom>
          <a:noFill/>
          <a:ln w="19050">
            <a:solidFill>
              <a:srgbClr val="000000"/>
            </a:solidFill>
            <a:prstDash val="solid"/>
            <a:tailEnd type="triangle"/>
          </a:ln>
        </p:spPr>
      </p:sp>
      <p:sp>
        <p:nvSpPr>
          <p:cNvPr id="20" name="Body"/>
          <p:cNvSpPr txBox="1"/>
          <p:nvPr/>
        </p:nvSpPr>
        <p:spPr>
          <a:xfrm>
            <a:off x="822960" y="4023360"/>
            <a:ext cx="10545775" cy="2194560"/>
          </a:xfrm>
          <a:prstGeom prst="rect">
            <a:avLst/>
          </a:prstGeom>
          <a:noFill/>
          <a:ln/>
        </p:spPr>
        <p:txBody>
          <a:bodyPr wrap="square" lIns="50800" tIns="50800" rIns="50800" bIns="50800" rtlCol="0" anchor="t"/>
          <a:lstStyle/>
          <a:p>
            <a:pPr marL="228600" indent="-228600">
              <a:spcBef>
                <a:spcPts val="800"/>
              </a:spcBef>
              <a:buSzPct val="100000"/>
              <a:buChar char="–"/>
            </a:pPr>
            <a:r>
              <a:rPr lang="en-US" sz="1900" b="1" dirty="0">
                <a:solidFill>
                  <a:srgbClr val="000000"/>
                </a:solidFill>
                <a:latin typeface="Georgia" pitchFamily="34" charset="0"/>
                <a:ea typeface="Georgia" pitchFamily="34" charset="-122"/>
                <a:cs typeface="Georgia" pitchFamily="34" charset="-120"/>
              </a:rPr>
              <a:t>Makes it worse: </a:t>
            </a:r>
            <a:r>
              <a:rPr lang="en-US" sz="1900" dirty="0">
                <a:solidFill>
                  <a:srgbClr val="000000"/>
                </a:solidFill>
                <a:latin typeface="Georgia" pitchFamily="34" charset="0"/>
                <a:ea typeface="Georgia" pitchFamily="34" charset="-122"/>
                <a:cs typeface="Georgia" pitchFamily="34" charset="-120"/>
              </a:rPr>
              <a:t>inflammation and infection, loss of autoregulation, fever, low sodium</a:t>
            </a:r>
            <a:endParaRPr lang="en-US" sz="1900" dirty="0"/>
          </a:p>
          <a:p>
            <a:pPr marL="228600" indent="-228600">
              <a:spcBef>
                <a:spcPts val="800"/>
              </a:spcBef>
              <a:buSzPct val="100000"/>
              <a:buChar char="–"/>
            </a:pPr>
            <a:r>
              <a:rPr lang="en-US" sz="1900" b="1" dirty="0">
                <a:solidFill>
                  <a:srgbClr val="000000"/>
                </a:solidFill>
                <a:latin typeface="Georgia" pitchFamily="34" charset="0"/>
                <a:ea typeface="Georgia" pitchFamily="34" charset="-122"/>
                <a:cs typeface="Georgia" pitchFamily="34" charset="-120"/>
              </a:rPr>
              <a:t>Highest risk: </a:t>
            </a:r>
            <a:r>
              <a:rPr lang="en-US" sz="1900" dirty="0">
                <a:solidFill>
                  <a:srgbClr val="000000"/>
                </a:solidFill>
                <a:latin typeface="Georgia" pitchFamily="34" charset="0"/>
                <a:ea typeface="Georgia" pitchFamily="34" charset="-122"/>
                <a:cs typeface="Georgia" pitchFamily="34" charset="-120"/>
              </a:rPr>
              <a:t>hyperacute course, young, grade III-IV encephalopathy, ammonia persistently above 150 to 200 μmol/L, AKI, vasopressors</a:t>
            </a:r>
            <a:endParaRPr lang="en-US" sz="1900" dirty="0"/>
          </a:p>
        </p:txBody>
      </p:sp>
      <p:sp>
        <p:nvSpPr>
          <p:cNvPr id="21"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Update 2022 [PMID: 36001996]; practical update 2024 [PMID: 39170946]</a:t>
            </a:r>
            <a:endParaRPr lang="en-US" sz="1000" dirty="0"/>
          </a:p>
        </p:txBody>
      </p:sp>
      <p:sp>
        <p:nvSpPr>
          <p:cNvPr id="23"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17/58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Watercolor of a normal human brain, side view, on ivory pap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5669280" y="411480"/>
            <a:ext cx="6309360" cy="731520"/>
          </a:xfrm>
          <a:prstGeom prst="rect">
            <a:avLst/>
          </a:prstGeom>
          <a:noFill/>
          <a:ln/>
        </p:spPr>
        <p:txBody>
          <a:bodyPr wrap="square" lIns="0" tIns="0" rIns="0" bIns="0"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Ammonia: ALF vs cirrhosis</a:t>
            </a:r>
            <a:endParaRPr lang="en-US" sz="3000" dirty="0"/>
          </a:p>
        </p:txBody>
      </p:sp>
      <p:sp>
        <p:nvSpPr>
          <p:cNvPr id="4" name="Question"/>
          <p:cNvSpPr txBox="1"/>
          <p:nvPr/>
        </p:nvSpPr>
        <p:spPr>
          <a:xfrm>
            <a:off x="6035040" y="2377440"/>
            <a:ext cx="5577840" cy="182880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Why do patients with cirrhosis rarely get cerebral edema, even with a high ammonia?</a:t>
            </a:r>
            <a:endParaRPr lang="en-US" sz="28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18/58</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Ammonia: ALF vs cirrhosis</a:t>
            </a:r>
            <a:endParaRPr lang="en-US" sz="3000" dirty="0"/>
          </a:p>
        </p:txBody>
      </p:sp>
      <p:pic>
        <p:nvPicPr>
          <p:cNvPr id="3" name="Image 0" descr="Brain histology with an Alzheimer type II astrocyte and normal glial nuclei">    </p:cNvPr>
          <p:cNvPicPr>
            <a:picLocks noChangeAspect="1"/>
          </p:cNvPicPr>
          <p:nvPr/>
        </p:nvPicPr>
        <p:blipFill>
          <a:blip r:embed="rId1"/>
          <a:stretch>
            <a:fillRect/>
          </a:stretch>
        </p:blipFill>
        <p:spPr>
          <a:xfrm>
            <a:off x="548640" y="1188720"/>
            <a:ext cx="4937760" cy="3685032"/>
          </a:xfrm>
          <a:prstGeom prst="rect">
            <a:avLst/>
          </a:prstGeom>
        </p:spPr>
      </p:pic>
      <p:sp>
        <p:nvSpPr>
          <p:cNvPr id="4" name="Text 1"/>
          <p:cNvSpPr txBox="1"/>
          <p:nvPr/>
        </p:nvSpPr>
        <p:spPr>
          <a:xfrm>
            <a:off x="548640" y="4983480"/>
            <a:ext cx="3017520" cy="548640"/>
          </a:xfrm>
          <a:prstGeom prst="rect">
            <a:avLst/>
          </a:prstGeom>
          <a:noFill/>
          <a:ln/>
        </p:spPr>
        <p:txBody>
          <a:bodyPr wrap="square" lIns="0" tIns="0" rIns="0" bIns="0" rtlCol="0" anchor="t"/>
          <a:lstStyle/>
          <a:p>
            <a:pPr indent="0" marL="0">
              <a:buNone/>
            </a:pPr>
            <a:r>
              <a:rPr lang="en-US" sz="1300" b="1" dirty="0">
                <a:solidFill>
                  <a:srgbClr val="000000"/>
                </a:solidFill>
                <a:latin typeface="Georgia" pitchFamily="34" charset="0"/>
                <a:ea typeface="Georgia" pitchFamily="34" charset="-122"/>
                <a:cs typeface="Georgia" pitchFamily="34" charset="-120"/>
              </a:rPr>
              <a:t>Alzheimer type II astrocyte: </a:t>
            </a:r>
            <a:r>
              <a:rPr lang="en-US" sz="1300" dirty="0">
                <a:solidFill>
                  <a:srgbClr val="000000"/>
                </a:solidFill>
                <a:latin typeface="Georgia" pitchFamily="34" charset="0"/>
                <a:ea typeface="Georgia" pitchFamily="34" charset="-122"/>
                <a:cs typeface="Georgia" pitchFamily="34" charset="-120"/>
              </a:rPr>
              <a:t>big, pale nucleus</a:t>
            </a:r>
            <a:endParaRPr lang="en-US" sz="1300" dirty="0"/>
          </a:p>
        </p:txBody>
      </p:sp>
      <p:sp>
        <p:nvSpPr>
          <p:cNvPr id="5" name="Pointer"/>
          <p:cNvSpPr/>
          <p:nvPr/>
        </p:nvSpPr>
        <p:spPr>
          <a:xfrm flipV="1">
            <a:off x="1097280" y="3399739"/>
            <a:ext cx="1574597" cy="1556309"/>
          </a:xfrm>
          <a:prstGeom prst="line">
            <a:avLst/>
          </a:prstGeom>
          <a:noFill/>
          <a:ln w="25400">
            <a:solidFill>
              <a:srgbClr val="000000"/>
            </a:solidFill>
            <a:prstDash val="solid"/>
            <a:tailEnd type="triangle"/>
          </a:ln>
        </p:spPr>
      </p:sp>
      <p:sp>
        <p:nvSpPr>
          <p:cNvPr id="6" name="Text 3"/>
          <p:cNvSpPr txBox="1"/>
          <p:nvPr/>
        </p:nvSpPr>
        <p:spPr>
          <a:xfrm>
            <a:off x="3749040" y="4983480"/>
            <a:ext cx="2377440" cy="548640"/>
          </a:xfrm>
          <a:prstGeom prst="rect">
            <a:avLst/>
          </a:prstGeom>
          <a:noFill/>
          <a:ln/>
        </p:spPr>
        <p:txBody>
          <a:bodyPr wrap="square" lIns="0" tIns="0" rIns="0" bIns="0" rtlCol="0" anchor="t"/>
          <a:lstStyle/>
          <a:p>
            <a:pPr indent="0" marL="0">
              <a:buNone/>
            </a:pPr>
            <a:r>
              <a:rPr lang="en-US" sz="1300" b="1" dirty="0">
                <a:solidFill>
                  <a:srgbClr val="000000"/>
                </a:solidFill>
                <a:latin typeface="Georgia" pitchFamily="34" charset="0"/>
                <a:ea typeface="Georgia" pitchFamily="34" charset="-122"/>
                <a:cs typeface="Georgia" pitchFamily="34" charset="-120"/>
              </a:rPr>
              <a:t>Normal glial nucleus: </a:t>
            </a:r>
            <a:r>
              <a:rPr lang="en-US" sz="1300" dirty="0">
                <a:solidFill>
                  <a:srgbClr val="000000"/>
                </a:solidFill>
                <a:latin typeface="Georgia" pitchFamily="34" charset="0"/>
                <a:ea typeface="Georgia" pitchFamily="34" charset="-122"/>
                <a:cs typeface="Georgia" pitchFamily="34" charset="-120"/>
              </a:rPr>
              <a:t>small and dark</a:t>
            </a:r>
            <a:endParaRPr lang="en-US" sz="1300" dirty="0"/>
          </a:p>
        </p:txBody>
      </p:sp>
      <p:sp>
        <p:nvSpPr>
          <p:cNvPr id="7" name="Pointer"/>
          <p:cNvSpPr/>
          <p:nvPr/>
        </p:nvSpPr>
        <p:spPr>
          <a:xfrm flipV="1">
            <a:off x="4297680" y="3141787"/>
            <a:ext cx="102413" cy="1814261"/>
          </a:xfrm>
          <a:prstGeom prst="line">
            <a:avLst/>
          </a:prstGeom>
          <a:noFill/>
          <a:ln w="25400">
            <a:solidFill>
              <a:srgbClr val="000000"/>
            </a:solidFill>
            <a:prstDash val="solid"/>
            <a:tailEnd type="triangle"/>
          </a:ln>
        </p:spPr>
      </p:sp>
      <p:sp>
        <p:nvSpPr>
          <p:cNvPr id="8" name="Body"/>
          <p:cNvSpPr txBox="1"/>
          <p:nvPr/>
        </p:nvSpPr>
        <p:spPr>
          <a:xfrm>
            <a:off x="6035040" y="1234440"/>
            <a:ext cx="5608015" cy="4206240"/>
          </a:xfrm>
          <a:prstGeom prst="rect">
            <a:avLst/>
          </a:prstGeom>
          <a:noFill/>
          <a:ln/>
        </p:spPr>
        <p:txBody>
          <a:bodyPr wrap="square" lIns="50800" tIns="50800" rIns="50800" bIns="50800" rtlCol="0" anchor="t"/>
          <a:lstStyle/>
          <a:p>
            <a:pPr marL="228600" indent="-228600">
              <a:spcBef>
                <a:spcPts val="1000"/>
              </a:spcBef>
              <a:buSzPct val="100000"/>
              <a:buChar char="–"/>
            </a:pPr>
            <a:r>
              <a:rPr lang="en-US" sz="1800" dirty="0">
                <a:solidFill>
                  <a:srgbClr val="000000"/>
                </a:solidFill>
                <a:latin typeface="Georgia" pitchFamily="34" charset="0"/>
                <a:ea typeface="Georgia" pitchFamily="34" charset="-122"/>
                <a:cs typeface="Georgia" pitchFamily="34" charset="-120"/>
              </a:rPr>
              <a:t>Astrocytes clear ammonia by turning it and glutamate into glutamine</a:t>
            </a:r>
            <a:endParaRPr lang="en-US" sz="1800" dirty="0"/>
          </a:p>
          <a:p>
            <a:pPr marL="228600" indent="-228600">
              <a:spcBef>
                <a:spcPts val="1000"/>
              </a:spcBef>
              <a:buSzPct val="100000"/>
              <a:buChar char="–"/>
            </a:pPr>
            <a:r>
              <a:rPr lang="en-US" sz="1800" dirty="0">
                <a:solidFill>
                  <a:srgbClr val="000000"/>
                </a:solidFill>
                <a:latin typeface="Georgia" pitchFamily="34" charset="0"/>
                <a:ea typeface="Georgia" pitchFamily="34" charset="-122"/>
                <a:cs typeface="Georgia" pitchFamily="34" charset="-120"/>
              </a:rPr>
              <a:t>Glutamine pulls water into the cell</a:t>
            </a:r>
            <a:endParaRPr lang="en-US" sz="1800" dirty="0"/>
          </a:p>
          <a:p>
            <a:pPr marL="228600" indent="-228600">
              <a:spcBef>
                <a:spcPts val="1000"/>
              </a:spcBef>
              <a:buSzPct val="100000"/>
              <a:buChar char="–"/>
            </a:pPr>
            <a:r>
              <a:rPr lang="en-US" sz="1800" b="1" dirty="0">
                <a:solidFill>
                  <a:srgbClr val="000000"/>
                </a:solidFill>
                <a:latin typeface="Georgia" pitchFamily="34" charset="0"/>
                <a:ea typeface="Georgia" pitchFamily="34" charset="-122"/>
                <a:cs typeface="Georgia" pitchFamily="34" charset="-120"/>
              </a:rPr>
              <a:t>Cirrhosis: </a:t>
            </a:r>
            <a:r>
              <a:rPr lang="en-US" sz="1800" dirty="0">
                <a:solidFill>
                  <a:srgbClr val="000000"/>
                </a:solidFill>
                <a:latin typeface="Georgia" pitchFamily="34" charset="0"/>
                <a:ea typeface="Georgia" pitchFamily="34" charset="-122"/>
                <a:cs typeface="Georgia" pitchFamily="34" charset="-120"/>
              </a:rPr>
              <a:t>over months the astrocyte pushes out other solutes (myo-inositol, taurine) to make room. It swells only a little. This is the cell you see under the microscope</a:t>
            </a:r>
            <a:endParaRPr lang="en-US" sz="1800" dirty="0"/>
          </a:p>
          <a:p>
            <a:pPr marL="228600" indent="-228600">
              <a:spcBef>
                <a:spcPts val="1000"/>
              </a:spcBef>
              <a:buSzPct val="100000"/>
              <a:buChar char="–"/>
            </a:pPr>
            <a:r>
              <a:rPr lang="en-US" sz="1800" b="1" dirty="0">
                <a:solidFill>
                  <a:srgbClr val="000000"/>
                </a:solidFill>
                <a:latin typeface="Georgia" pitchFamily="34" charset="0"/>
                <a:ea typeface="Georgia" pitchFamily="34" charset="-122"/>
                <a:cs typeface="Georgia" pitchFamily="34" charset="-120"/>
              </a:rPr>
              <a:t>ALF: </a:t>
            </a:r>
            <a:r>
              <a:rPr lang="en-US" sz="1800" dirty="0">
                <a:solidFill>
                  <a:srgbClr val="000000"/>
                </a:solidFill>
                <a:latin typeface="Georgia" pitchFamily="34" charset="0"/>
                <a:ea typeface="Georgia" pitchFamily="34" charset="-122"/>
                <a:cs typeface="Georgia" pitchFamily="34" charset="-120"/>
              </a:rPr>
              <a:t>the ammonia comes in days. No time to adapt, so the astrocytes swell and the brain swells with them</a:t>
            </a:r>
            <a:endParaRPr lang="en-US" sz="1800" dirty="0"/>
          </a:p>
        </p:txBody>
      </p:sp>
      <p:sp>
        <p:nvSpPr>
          <p:cNvPr id="9" name="Question"/>
          <p:cNvSpPr txBox="1"/>
          <p:nvPr/>
        </p:nvSpPr>
        <p:spPr>
          <a:xfrm>
            <a:off x="822960" y="5715000"/>
            <a:ext cx="10545775" cy="548640"/>
          </a:xfrm>
          <a:prstGeom prst="rect">
            <a:avLst/>
          </a:prstGeom>
          <a:noFill/>
          <a:ln/>
        </p:spPr>
        <p:txBody>
          <a:bodyPr wrap="square" lIns="0" tIns="0" rIns="0" bIns="0" rtlCol="0" anchor="ctr"/>
          <a:lstStyle/>
          <a:p>
            <a:pPr algn="ctr" indent="0" marL="0">
              <a:buNone/>
            </a:pPr>
            <a:r>
              <a:rPr lang="en-US" sz="2000" b="1" dirty="0">
                <a:solidFill>
                  <a:srgbClr val="000000"/>
                </a:solidFill>
                <a:highlight>
                  <a:srgbClr val="FFFF00"/>
                </a:highlight>
                <a:latin typeface="Georgia" pitchFamily="34" charset="0"/>
                <a:ea typeface="Georgia" pitchFamily="34" charset="-122"/>
                <a:cs typeface="Georgia" pitchFamily="34" charset="-120"/>
              </a:rPr>
              <a:t>Cerebral edema is common in hyperacute ALF and rare in cirrhosis</a:t>
            </a:r>
            <a:endParaRPr lang="en-US" sz="2000" dirty="0"/>
          </a:p>
        </p:txBody>
      </p:sp>
      <p:sp>
        <p:nvSpPr>
          <p:cNvPr id="11"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18/58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Ammonia: how high is too high?</a:t>
            </a:r>
            <a:endParaRPr lang="en-US" sz="3000" dirty="0"/>
          </a:p>
        </p:txBody>
      </p:sp>
      <p:pic>
        <p:nvPicPr>
          <p:cNvPr id="3" name="Image 0" descr="Bottle of household ammonia">    </p:cNvPr>
          <p:cNvPicPr>
            <a:picLocks noChangeAspect="1"/>
          </p:cNvPicPr>
          <p:nvPr/>
        </p:nvPicPr>
        <p:blipFill>
          <a:blip r:embed="rId1"/>
          <a:stretch>
            <a:fillRect/>
          </a:stretch>
        </p:blipFill>
        <p:spPr>
          <a:xfrm>
            <a:off x="320040" y="109728"/>
            <a:ext cx="457200" cy="1005840"/>
          </a:xfrm>
          <a:prstGeom prst="rect">
            <a:avLst/>
          </a:prstGeom>
        </p:spPr>
      </p:pic>
      <p:graphicFrame>
        <p:nvGraphicFramePr>
          <p:cNvPr id="4" name="Chart 0" descr=""/>
          <p:cNvGraphicFramePr/>
          <p:nvPr/>
        </p:nvGraphicFramePr>
        <p:xfrm>
          <a:off x="548640" y="1188720"/>
          <a:ext cx="5120640" cy="374904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 1" descr=""/>
          <p:cNvGraphicFramePr/>
          <p:nvPr/>
        </p:nvGraphicFramePr>
        <p:xfrm>
          <a:off x="6217920" y="1188720"/>
          <a:ext cx="5486400" cy="3749040"/>
        </p:xfrm>
        <a:graphic xmlns:a="http://schemas.openxmlformats.org/drawingml/2006/main">
          <a:graphicData uri="http://schemas.openxmlformats.org/drawingml/2006/chart">
            <c:chart xmlns:c="http://schemas.openxmlformats.org/drawingml/2006/chart" r:id="rId3"/>
          </a:graphicData>
        </a:graphic>
      </p:graphicFrame>
      <p:sp>
        <p:nvSpPr>
          <p:cNvPr id="6"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So what number worries you?</a:t>
            </a:r>
            <a:endParaRPr lang="en-US" sz="24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Clemmesen JO et al. Hepatology 1999 [PMID: 10051463]; Kumar R et al. Clin Gastroenterol Hepatol 2012 [PMID: 22521861]; more studies in the appendix</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19/58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Ammonia: how high is too high?</a:t>
            </a:r>
            <a:endParaRPr lang="en-US" sz="3000" dirty="0"/>
          </a:p>
        </p:txBody>
      </p:sp>
      <p:pic>
        <p:nvPicPr>
          <p:cNvPr id="3" name="Image 0" descr="Bottle of household ammonia">    </p:cNvPr>
          <p:cNvPicPr>
            <a:picLocks noChangeAspect="1"/>
          </p:cNvPicPr>
          <p:nvPr/>
        </p:nvPicPr>
        <p:blipFill>
          <a:blip r:embed="rId1"/>
          <a:stretch>
            <a:fillRect/>
          </a:stretch>
        </p:blipFill>
        <p:spPr>
          <a:xfrm>
            <a:off x="320040" y="109728"/>
            <a:ext cx="457200" cy="1005840"/>
          </a:xfrm>
          <a:prstGeom prst="rect">
            <a:avLst/>
          </a:prstGeom>
        </p:spPr>
      </p:pic>
      <p:graphicFrame>
        <p:nvGraphicFramePr>
          <p:cNvPr id="4" name="Chart 0" descr=""/>
          <p:cNvGraphicFramePr/>
          <p:nvPr/>
        </p:nvGraphicFramePr>
        <p:xfrm>
          <a:off x="548640" y="1188720"/>
          <a:ext cx="5120640" cy="3749040"/>
        </p:xfrm>
        <a:graphic xmlns:a="http://schemas.openxmlformats.org/drawingml/2006/main">
          <a:graphicData uri="http://schemas.openxmlformats.org/drawingml/2006/chart">
            <c:chart xmlns:c="http://schemas.openxmlformats.org/drawingml/2006/chart" r:id="rId2"/>
          </a:graphicData>
        </a:graphic>
      </p:graphicFrame>
      <p:sp>
        <p:nvSpPr>
          <p:cNvPr id="5" name="Line146"/>
          <p:cNvSpPr/>
          <p:nvPr/>
        </p:nvSpPr>
        <p:spPr>
          <a:xfrm>
            <a:off x="1265530" y="2836498"/>
            <a:ext cx="4198925" cy="0"/>
          </a:xfrm>
          <a:prstGeom prst="line">
            <a:avLst/>
          </a:prstGeom>
          <a:noFill/>
          <a:ln w="19050">
            <a:solidFill>
              <a:srgbClr val="000000"/>
            </a:solidFill>
            <a:prstDash val="dash"/>
          </a:ln>
        </p:spPr>
      </p:sp>
      <p:sp>
        <p:nvSpPr>
          <p:cNvPr id="6" name="Text 2"/>
          <p:cNvSpPr txBox="1"/>
          <p:nvPr/>
        </p:nvSpPr>
        <p:spPr>
          <a:xfrm>
            <a:off x="4915814" y="2507314"/>
            <a:ext cx="548640" cy="292608"/>
          </a:xfrm>
          <a:prstGeom prst="rect">
            <a:avLst/>
          </a:prstGeom>
          <a:noFill/>
          <a:ln/>
        </p:spPr>
        <p:txBody>
          <a:bodyPr wrap="square" lIns="0" tIns="0" rIns="0" bIns="0" rtlCol="0" anchor="ctr"/>
          <a:lstStyle/>
          <a:p>
            <a:pPr algn="r" indent="0" marL="0">
              <a:buNone/>
            </a:pPr>
            <a:r>
              <a:rPr lang="en-US" sz="1400" b="1" dirty="0">
                <a:solidFill>
                  <a:srgbClr val="000000"/>
                </a:solidFill>
                <a:latin typeface="Calibri" pitchFamily="34" charset="0"/>
                <a:ea typeface="Calibri" pitchFamily="34" charset="-122"/>
                <a:cs typeface="Calibri" pitchFamily="34" charset="-120"/>
              </a:rPr>
              <a:t>146</a:t>
            </a:r>
            <a:endParaRPr lang="en-US" sz="1400" dirty="0"/>
          </a:p>
        </p:txBody>
      </p:sp>
      <p:graphicFrame>
        <p:nvGraphicFramePr>
          <p:cNvPr id="7" name="Chart 1" descr=""/>
          <p:cNvGraphicFramePr/>
          <p:nvPr/>
        </p:nvGraphicFramePr>
        <p:xfrm>
          <a:off x="6217920" y="1188720"/>
          <a:ext cx="5486400" cy="3749040"/>
        </p:xfrm>
        <a:graphic xmlns:a="http://schemas.openxmlformats.org/drawingml/2006/main">
          <a:graphicData uri="http://schemas.openxmlformats.org/drawingml/2006/chart">
            <c:chart xmlns:c="http://schemas.openxmlformats.org/drawingml/2006/chart" r:id="rId3"/>
          </a:graphicData>
        </a:graphic>
      </p:graphicFrame>
      <p:sp>
        <p:nvSpPr>
          <p:cNvPr id="8" name="Question"/>
          <p:cNvSpPr txBox="1"/>
          <p:nvPr/>
        </p:nvSpPr>
        <p:spPr>
          <a:xfrm>
            <a:off x="822960" y="507492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Above 150 to 200 and not falling: worry about the brain</a:t>
            </a:r>
            <a:endParaRPr lang="en-US" sz="2200" dirty="0"/>
          </a:p>
        </p:txBody>
      </p:sp>
      <p:sp>
        <p:nvSpPr>
          <p:cNvPr id="9" name="Body"/>
          <p:cNvSpPr txBox="1"/>
          <p:nvPr/>
        </p:nvSpPr>
        <p:spPr>
          <a:xfrm>
            <a:off x="822960" y="5577840"/>
            <a:ext cx="10545775" cy="548640"/>
          </a:xfrm>
          <a:prstGeom prst="rect">
            <a:avLst/>
          </a:prstGeom>
          <a:noFill/>
          <a:ln/>
        </p:spPr>
        <p:txBody>
          <a:bodyPr wrap="square" lIns="50800" tIns="50800" rIns="50800" bIns="50800" rtlCol="0" anchor="t"/>
          <a:lstStyle/>
          <a:p>
            <a:pPr algn="ctr" indent="0" marL="0">
              <a:spcBef>
                <a:spcPts val="800"/>
              </a:spcBef>
              <a:buNone/>
            </a:pPr>
            <a:r>
              <a:rPr lang="en-US" sz="1800" i="1" dirty="0">
                <a:solidFill>
                  <a:srgbClr val="000000"/>
                </a:solidFill>
                <a:latin typeface="Georgia" pitchFamily="34" charset="0"/>
                <a:ea typeface="Georgia" pitchFamily="34" charset="-122"/>
                <a:cs typeface="Georgia" pitchFamily="34" charset="-120"/>
              </a:rPr>
              <a:t>No single level rules ICH in or out. Read it with the HE grade and the trend</a:t>
            </a:r>
            <a:endParaRPr lang="en-US" sz="1800" dirty="0"/>
          </a:p>
        </p:txBody>
      </p:sp>
      <p:sp>
        <p:nvSpPr>
          <p:cNvPr id="10"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Clemmesen JO et al. Hepatology 1999 [PMID: 10051463]; Kumar R et al. Clin Gastroenterol Hepatol 2012 [PMID: 22521861]; more studies in the appendix</a:t>
            </a:r>
            <a:endParaRPr lang="en-US" sz="1000" dirty="0"/>
          </a:p>
        </p:txBody>
      </p:sp>
      <p:sp>
        <p:nvSpPr>
          <p:cNvPr id="12"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19/58</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Lactulose for her?</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1900" i="1" dirty="0">
                <a:solidFill>
                  <a:srgbClr val="000000"/>
                </a:solidFill>
                <a:latin typeface="Georgia" pitchFamily="34" charset="0"/>
                <a:ea typeface="Georgia" pitchFamily="34" charset="-122"/>
                <a:cs typeface="Georgia" pitchFamily="34" charset="-120"/>
              </a:rPr>
              <a:t>Hour 12: ammonia 182 μmol/L, grade III. In a cirrhotic we'd already be giving it</a:t>
            </a:r>
            <a:endParaRPr lang="en-US" sz="1900" dirty="0"/>
          </a:p>
        </p:txBody>
      </p:sp>
      <p:sp>
        <p:nvSpPr>
          <p:cNvPr id="4" name="Question"/>
          <p:cNvSpPr txBox="1"/>
          <p:nvPr/>
        </p:nvSpPr>
        <p:spPr>
          <a:xfrm>
            <a:off x="822960" y="1783080"/>
            <a:ext cx="10545775" cy="548640"/>
          </a:xfrm>
          <a:prstGeom prst="rect">
            <a:avLst/>
          </a:prstGeom>
          <a:noFill/>
          <a:ln/>
        </p:spPr>
        <p:txBody>
          <a:bodyPr wrap="square" lIns="0" tIns="0" rIns="0" bIns="0" rtlCol="0" anchor="ctr"/>
          <a:lstStyle/>
          <a:p>
            <a:pPr algn="ctr" indent="0" marL="0">
              <a:buNone/>
            </a:pPr>
            <a:r>
              <a:rPr lang="en-US" sz="3400" b="1" dirty="0">
                <a:solidFill>
                  <a:srgbClr val="000000"/>
                </a:solidFill>
                <a:latin typeface="Georgia" pitchFamily="34" charset="0"/>
                <a:ea typeface="Georgia" pitchFamily="34" charset="-122"/>
                <a:cs typeface="Georgia" pitchFamily="34" charset="-120"/>
              </a:rPr>
              <a:t>Yes or no?</a:t>
            </a:r>
            <a:endParaRPr lang="en-US" sz="3400" dirty="0"/>
          </a:p>
        </p:txBody>
      </p:sp>
      <p:pic>
        <p:nvPicPr>
          <p:cNvPr id="5" name="Image 0" descr="Watercolor of a cup and a bottle of lactulose syrup">    </p:cNvPr>
          <p:cNvPicPr>
            <a:picLocks noChangeAspect="1"/>
          </p:cNvPicPr>
          <p:nvPr/>
        </p:nvPicPr>
        <p:blipFill>
          <a:blip r:embed="rId1"/>
          <a:stretch>
            <a:fillRect/>
          </a:stretch>
        </p:blipFill>
        <p:spPr>
          <a:xfrm>
            <a:off x="4275572" y="2514600"/>
            <a:ext cx="3640552" cy="3840480"/>
          </a:xfrm>
          <a:prstGeom prst="rect">
            <a:avLst/>
          </a:prstGeom>
        </p:spPr>
      </p:pic>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20/58</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Lactulose for her?</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1900" i="1" dirty="0">
                <a:solidFill>
                  <a:srgbClr val="000000"/>
                </a:solidFill>
                <a:latin typeface="Georgia" pitchFamily="34" charset="0"/>
                <a:ea typeface="Georgia" pitchFamily="34" charset="-122"/>
                <a:cs typeface="Georgia" pitchFamily="34" charset="-120"/>
              </a:rPr>
              <a:t>Hour 12: ammonia 182 μmol/L, grade III. In a cirrhotic we'd already be giving it</a:t>
            </a:r>
            <a:endParaRPr lang="en-US" sz="1900" dirty="0"/>
          </a:p>
        </p:txBody>
      </p:sp>
      <p:graphicFrame>
        <p:nvGraphicFramePr>
          <p:cNvPr id="33" name="Table"/>
          <p:cNvGraphicFramePr>
            <a:graphicFrameLocks noGrp="1"/>
          </p:cNvGraphicFramePr>
          <p:nvPr>
            <p:extLst>
              <p:ext uri="{D42A27DB-BD31-4B8C-83A1-F6EECF244321}">
                <p14:modId xmlns:p14="http://schemas.microsoft.com/office/powerpoint/2010/main" val="1579011935"/>
              </p:ext>
            </p:extLst>
          </p:nvPr>
        </p:nvGraphicFramePr>
        <p:xfrm>
          <a:off x="731520" y="1828800"/>
          <a:ext cx="10728655" cy="914400"/>
        </p:xfrm>
        <a:graphic>
          <a:graphicData uri="http://schemas.openxmlformats.org/drawingml/2006/table">
            <a:tbl>
              <a:tblPr/>
              <a:tblGrid>
                <a:gridCol w="4709160"/>
                <a:gridCol w="6016752"/>
              </a:tblGrid>
              <a:tr h="475488">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Why people give it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Why not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75488">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Ammonia drives brain swelling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No proven benefit in ALF (ALFSG)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It's what we do in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Distended bowel gets in the way at transplant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Cheap; AASLD 2011 allowed it early</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Diarrhea: free water loss, sodium swings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Liquid by mouth or tube: aspiration risk</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553212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Not for her</a:t>
            </a:r>
            <a:endParaRPr lang="en-US" sz="22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position paper 2011, rec. 26; Alba L, Hay JE, Lee WM et al. J Hepatol 2002;36(Suppl 1):33 (abstract); ACG ALF 2023 [PMID: 37377263]</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20/58</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When do you intubate?</a:t>
            </a:r>
            <a:endParaRPr lang="en-US" sz="3000" dirty="0"/>
          </a:p>
        </p:txBody>
      </p:sp>
      <p:sp>
        <p:nvSpPr>
          <p:cNvPr id="3" name="Body"/>
          <p:cNvSpPr txBox="1"/>
          <p:nvPr/>
        </p:nvSpPr>
        <p:spPr>
          <a:xfrm>
            <a:off x="640080" y="1645920"/>
            <a:ext cx="5760720" cy="1828800"/>
          </a:xfrm>
          <a:prstGeom prst="rect">
            <a:avLst/>
          </a:prstGeom>
          <a:noFill/>
          <a:ln/>
        </p:spPr>
        <p:txBody>
          <a:bodyPr wrap="square" lIns="50800" tIns="50800" rIns="50800" bIns="50800" rtlCol="0" anchor="t"/>
          <a:lstStyle/>
          <a:p>
            <a:pPr marL="228600" indent="-228600">
              <a:spcBef>
                <a:spcPts val="800"/>
              </a:spcBef>
              <a:buSzPct val="100000"/>
              <a:buChar char="–"/>
            </a:pPr>
            <a:r>
              <a:rPr lang="en-US" sz="2200" dirty="0">
                <a:solidFill>
                  <a:srgbClr val="000000"/>
                </a:solidFill>
                <a:latin typeface="Georgia" pitchFamily="34" charset="0"/>
                <a:ea typeface="Georgia" pitchFamily="34" charset="-122"/>
                <a:cs typeface="Georgia" pitchFamily="34" charset="-120"/>
              </a:rPr>
              <a:t>Responds to voice, drifts off, intermittently agitated</a:t>
            </a:r>
            <a:endParaRPr lang="en-US" sz="2200" dirty="0"/>
          </a:p>
          <a:p>
            <a:pPr marL="228600" indent="-228600">
              <a:spcBef>
                <a:spcPts val="800"/>
              </a:spcBef>
              <a:buSzPct val="100000"/>
              <a:buChar char="–"/>
            </a:pPr>
            <a:r>
              <a:rPr lang="en-US" sz="2200" dirty="0">
                <a:solidFill>
                  <a:srgbClr val="000000"/>
                </a:solidFill>
                <a:latin typeface="Georgia" pitchFamily="34" charset="0"/>
                <a:ea typeface="Georgia" pitchFamily="34" charset="-122"/>
                <a:cs typeface="Georgia" pitchFamily="34" charset="-120"/>
              </a:rPr>
              <a:t>Handling secretions for now</a:t>
            </a:r>
            <a:endParaRPr lang="en-US" sz="2200" dirty="0"/>
          </a:p>
          <a:p>
            <a:pPr marL="228600" indent="-228600">
              <a:spcBef>
                <a:spcPts val="800"/>
              </a:spcBef>
              <a:buSzPct val="100000"/>
              <a:buChar char="–"/>
            </a:pPr>
            <a:r>
              <a:rPr lang="en-US" sz="2200" dirty="0">
                <a:solidFill>
                  <a:srgbClr val="000000"/>
                </a:solidFill>
                <a:latin typeface="Georgia" pitchFamily="34" charset="0"/>
                <a:ea typeface="Georgia" pitchFamily="34" charset="-122"/>
                <a:cs typeface="Georgia" pitchFamily="34" charset="-120"/>
              </a:rPr>
              <a:t>SpO2 96% on 2 L</a:t>
            </a:r>
            <a:endParaRPr lang="en-US" sz="2200" dirty="0"/>
          </a:p>
        </p:txBody>
      </p:sp>
      <p:pic>
        <p:nvPicPr>
          <p:cNvPr id="4" name="Image 0" descr="Watercolor of a nasal cannula on a wall oxygen flowmeter and a suction tip">    </p:cNvPr>
          <p:cNvPicPr>
            <a:picLocks noChangeAspect="1"/>
          </p:cNvPicPr>
          <p:nvPr/>
        </p:nvPicPr>
        <p:blipFill>
          <a:blip r:embed="rId1"/>
          <a:stretch>
            <a:fillRect/>
          </a:stretch>
        </p:blipFill>
        <p:spPr>
          <a:xfrm>
            <a:off x="6629400" y="1188720"/>
            <a:ext cx="5212080" cy="5092947"/>
          </a:xfrm>
          <a:prstGeom prst="rect">
            <a:avLst/>
          </a:prstGeom>
        </p:spPr>
      </p:pic>
      <p:sp>
        <p:nvSpPr>
          <p:cNvPr id="5" name="Question"/>
          <p:cNvSpPr txBox="1"/>
          <p:nvPr/>
        </p:nvSpPr>
        <p:spPr>
          <a:xfrm>
            <a:off x="640080" y="3931920"/>
            <a:ext cx="5760720" cy="109728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Intubate now, or wait until she can't protect her airway?</a:t>
            </a:r>
            <a:endParaRPr lang="en-US" sz="24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21/58</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When do you intubate?</a:t>
            </a:r>
            <a:endParaRPr lang="en-US" sz="3000" dirty="0"/>
          </a:p>
        </p:txBody>
      </p:sp>
      <p:sp>
        <p:nvSpPr>
          <p:cNvPr id="3" name="Question"/>
          <p:cNvSpPr txBox="1"/>
          <p:nvPr/>
        </p:nvSpPr>
        <p:spPr>
          <a:xfrm>
            <a:off x="822960" y="128016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Grade III-IV encephalopathy in ALF: intubate</a:t>
            </a:r>
            <a:endParaRPr lang="en-US" sz="2400" dirty="0"/>
          </a:p>
        </p:txBody>
      </p:sp>
      <p:graphicFrame>
        <p:nvGraphicFramePr>
          <p:cNvPr id="35" name="Table"/>
          <p:cNvGraphicFramePr>
            <a:graphicFrameLocks noGrp="1"/>
          </p:cNvGraphicFramePr>
          <p:nvPr>
            <p:extLst>
              <p:ext uri="{D42A27DB-BD31-4B8C-83A1-F6EECF244321}">
                <p14:modId xmlns:p14="http://schemas.microsoft.com/office/powerpoint/2010/main" val="1579011935"/>
              </p:ext>
            </p:extLst>
          </p:nvPr>
        </p:nvGraphicFramePr>
        <p:xfrm>
          <a:off x="731520" y="2103120"/>
          <a:ext cx="10728655" cy="914400"/>
        </p:xfrm>
        <a:graphic>
          <a:graphicData uri="http://schemas.openxmlformats.org/drawingml/2006/table">
            <a:tbl>
              <a:tblPr/>
              <a:tblGrid>
                <a:gridCol w="3319272"/>
                <a:gridCol w="3218688"/>
                <a:gridCol w="4187952"/>
              </a:tblGrid>
              <a:tr h="451714">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Before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During</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After</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130556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Preoxygenate</a:t>
                      </a:r>
                      <a:endParaRPr lang="en-US" sz="1900" dirty="0">
                        <a:latin typeface="Calibri" charset="0"/>
                        <a:ea typeface="Calibri" charset="0"/>
                        <a:cs typeface="Calibri" charset="0"/>
                      </a:endParaRPr>
                    </a:p>
                    <a:p>
                      <a:pPr algn="l" indent="0" marL="0">
                        <a:buNone/>
                      </a:pPr>
                      <a:r>
                        <a:rPr lang="en-US" sz="1900" dirty="0">
                          <a:solidFill>
                            <a:srgbClr val="000000"/>
                          </a:solidFill>
                          <a:latin typeface="Calibri" pitchFamily="34" charset="0"/>
                          <a:ea typeface="Calibri" pitchFamily="34" charset="-122"/>
                          <a:cs typeface="Calibri" pitchFamily="34" charset="-120"/>
                        </a:rPr>
                        <a:t>Norepinephrine ready</a:t>
                      </a:r>
                      <a:endParaRPr lang="en-US" sz="1900" dirty="0">
                        <a:latin typeface="Calibri" charset="0"/>
                        <a:ea typeface="Calibri" charset="0"/>
                        <a:cs typeface="Calibri" charset="0"/>
                      </a:endParaRPr>
                    </a:p>
                    <a:p>
                      <a:pPr algn="l" indent="0" marL="0">
                        <a:buNone/>
                      </a:pPr>
                      <a:r>
                        <a:rPr lang="en-US" sz="1900" dirty="0">
                          <a:solidFill>
                            <a:srgbClr val="000000"/>
                          </a:solidFill>
                          <a:latin typeface="Calibri" pitchFamily="34" charset="0"/>
                          <a:ea typeface="Calibri" pitchFamily="34" charset="-122"/>
                          <a:cs typeface="Calibri" pitchFamily="34" charset="-120"/>
                        </a:rPr>
                        <a:t>Check glucose</a:t>
                      </a:r>
                      <a:endParaRPr lang="en-US" sz="1900" dirty="0">
                        <a:latin typeface="Calibri" charset="0"/>
                        <a:ea typeface="Calibri" charset="0"/>
                        <a:cs typeface="Calibri" charset="0"/>
                      </a:endParaRPr>
                    </a:p>
                    <a:p>
                      <a:pPr algn="l" indent="0" marL="0">
                        <a:buNone/>
                      </a:pPr>
                      <a:r>
                        <a:rPr lang="en-US" sz="1900" dirty="0">
                          <a:solidFill>
                            <a:srgbClr val="000000"/>
                          </a:solidFill>
                          <a:latin typeface="Calibri" pitchFamily="34" charset="0"/>
                          <a:ea typeface="Calibri" pitchFamily="34" charset="-122"/>
                          <a:cs typeface="Calibri" pitchFamily="34" charset="-120"/>
                        </a:rPr>
                        <a:t>Head of bed 30°, neck neutral</a:t>
                      </a:r>
                      <a:endParaRPr lang="en-US" sz="19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Avoid hypotension (CPP)</a:t>
                      </a:r>
                      <a:endParaRPr lang="en-US" sz="1900" dirty="0">
                        <a:latin typeface="Calibri" charset="0"/>
                        <a:ea typeface="Calibri" charset="0"/>
                        <a:cs typeface="Calibri" charset="0"/>
                      </a:endParaRPr>
                    </a:p>
                    <a:p>
                      <a:pPr algn="l" indent="0" marL="0">
                        <a:buNone/>
                      </a:pPr>
                      <a:r>
                        <a:rPr lang="en-US" sz="1900" dirty="0">
                          <a:solidFill>
                            <a:srgbClr val="000000"/>
                          </a:solidFill>
                          <a:latin typeface="Calibri" pitchFamily="34" charset="0"/>
                          <a:ea typeface="Calibri" pitchFamily="34" charset="-122"/>
                          <a:cs typeface="Calibri" pitchFamily="34" charset="-120"/>
                        </a:rPr>
                        <a:t>No coughing or bucking (ICP)</a:t>
                      </a:r>
                      <a:endParaRPr lang="en-US" sz="1900" dirty="0">
                        <a:latin typeface="Calibri" charset="0"/>
                        <a:ea typeface="Calibri" charset="0"/>
                        <a:cs typeface="Calibri" charset="0"/>
                      </a:endParaRPr>
                    </a:p>
                    <a:p>
                      <a:pPr algn="l" indent="0" marL="0">
                        <a:buNone/>
                      </a:pPr>
                      <a:r>
                        <a:rPr lang="en-US" sz="1900" dirty="0">
                          <a:solidFill>
                            <a:srgbClr val="000000"/>
                          </a:solidFill>
                          <a:latin typeface="Calibri" pitchFamily="34" charset="0"/>
                          <a:ea typeface="Calibri" pitchFamily="34" charset="-122"/>
                          <a:cs typeface="Calibri" pitchFamily="34" charset="-120"/>
                        </a:rPr>
                        <a:t>Most experienced operator</a:t>
                      </a:r>
                      <a:endParaRPr lang="en-US" sz="19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Propofol: short-acting, may lower ICP</a:t>
                      </a:r>
                      <a:endParaRPr lang="en-US" sz="1900" dirty="0">
                        <a:latin typeface="Calibri" charset="0"/>
                        <a:ea typeface="Calibri" charset="0"/>
                        <a:cs typeface="Calibri" charset="0"/>
                      </a:endParaRPr>
                    </a:p>
                    <a:p>
                      <a:pPr algn="l" indent="0" marL="0">
                        <a:buNone/>
                      </a:pPr>
                      <a:r>
                        <a:rPr lang="en-US" sz="1900" dirty="0">
                          <a:solidFill>
                            <a:srgbClr val="000000"/>
                          </a:solidFill>
                          <a:latin typeface="Calibri" pitchFamily="34" charset="0"/>
                          <a:ea typeface="Calibri" pitchFamily="34" charset="-122"/>
                          <a:cs typeface="Calibri" pitchFamily="34" charset="-120"/>
                        </a:rPr>
                        <a:t>Avoid long-acting benzodiazepines</a:t>
                      </a:r>
                      <a:endParaRPr lang="en-US" sz="1900" dirty="0">
                        <a:latin typeface="Calibri" charset="0"/>
                        <a:ea typeface="Calibri" charset="0"/>
                        <a:cs typeface="Calibri" charset="0"/>
                      </a:endParaRPr>
                    </a:p>
                    <a:p>
                      <a:pPr algn="l" indent="0" marL="0">
                        <a:buNone/>
                      </a:pPr>
                      <a:r>
                        <a:rPr lang="en-US" sz="1900" dirty="0">
                          <a:solidFill>
                            <a:srgbClr val="000000"/>
                          </a:solidFill>
                          <a:latin typeface="Calibri" pitchFamily="34" charset="0"/>
                          <a:ea typeface="Calibri" pitchFamily="34" charset="-122"/>
                          <a:cs typeface="Calibri" pitchFamily="34" charset="-120"/>
                        </a:rPr>
                        <a:t>Check pupils: sedation hides the exam</a:t>
                      </a:r>
                      <a:endParaRPr lang="en-US" sz="19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Practical update 2024 [PMID: 39170946]; ACG ALF 2023 [PMID: 37377263]; SCCM 2020 [PMID: 32058387]</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21/58</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Can we use permissive hypercapnia?</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After intubation: bilateral infiltrates, P/F 150 on PEEP 10</a:t>
            </a:r>
            <a:endParaRPr lang="en-US" sz="2000" dirty="0"/>
          </a:p>
        </p:txBody>
      </p:sp>
      <p:sp>
        <p:nvSpPr>
          <p:cNvPr id="4" name="Question"/>
          <p:cNvSpPr txBox="1"/>
          <p:nvPr/>
        </p:nvSpPr>
        <p:spPr>
          <a:xfrm>
            <a:off x="822960" y="178308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Lung protection or brain protection?</a:t>
            </a:r>
            <a:endParaRPr lang="en-US" sz="2800" dirty="0"/>
          </a:p>
        </p:txBody>
      </p:sp>
      <p:pic>
        <p:nvPicPr>
          <p:cNvPr id="5" name="Image 0" descr="Watercolor of an ICU ventilator">    </p:cNvPr>
          <p:cNvPicPr>
            <a:picLocks noChangeAspect="1"/>
          </p:cNvPicPr>
          <p:nvPr/>
        </p:nvPicPr>
        <p:blipFill>
          <a:blip r:embed="rId1"/>
          <a:stretch>
            <a:fillRect/>
          </a:stretch>
        </p:blipFill>
        <p:spPr>
          <a:xfrm>
            <a:off x="4718855" y="2514600"/>
            <a:ext cx="2753985" cy="3840480"/>
          </a:xfrm>
          <a:prstGeom prst="rect">
            <a:avLst/>
          </a:prstGeom>
        </p:spPr>
      </p:pic>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22/58</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Can we use permissive hypercapnia?</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After intubation: bilateral infiltrates, P/F 150 on PEEP 10</a:t>
            </a:r>
            <a:endParaRPr lang="en-US" sz="2000" dirty="0"/>
          </a:p>
        </p:txBody>
      </p:sp>
      <p:graphicFrame>
        <p:nvGraphicFramePr>
          <p:cNvPr id="37" name="Table"/>
          <p:cNvGraphicFramePr>
            <a:graphicFrameLocks noGrp="1"/>
          </p:cNvGraphicFramePr>
          <p:nvPr>
            <p:extLst>
              <p:ext uri="{D42A27DB-BD31-4B8C-83A1-F6EECF244321}">
                <p14:modId xmlns:p14="http://schemas.microsoft.com/office/powerpoint/2010/main" val="1579011935"/>
              </p:ext>
            </p:extLst>
          </p:nvPr>
        </p:nvGraphicFramePr>
        <p:xfrm>
          <a:off x="640080" y="1828800"/>
          <a:ext cx="10911535" cy="914400"/>
        </p:xfrm>
        <a:graphic>
          <a:graphicData uri="http://schemas.openxmlformats.org/drawingml/2006/table">
            <a:tbl>
              <a:tblPr/>
              <a:tblGrid>
                <a:gridCol w="1956816"/>
                <a:gridCol w="2331720"/>
                <a:gridCol w="3200400"/>
                <a:gridCol w="3419856"/>
              </a:tblGrid>
              <a:tr h="451714">
                <a:tc>
                  <a:txBody>
                    <a:bodyPr/>
                    <a:lstStyle/>
                    <a:p>
                      <a:pPr algn="l"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For the lungs (ARDS)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For the brain (ICP)</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What we do</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51714">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Tidal volume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6 mL/kg PBW</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Watch the CO2</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6 mL/kg, raise the rate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1714">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CO2</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Tolerate a high CO2</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High CO2 raises ICP</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Keep the CO2 normal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1714">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Hyperventilation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Lowers ICP briefly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Short rescue for herniation only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1714">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PEEP</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Recruit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High PEEP: less venous return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Set for O2 and BP; PEEP is fine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SCCM 2020 [PMID: 32058387]; practical update 2024 [PMID: 39170946]</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22/58</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CO2 and cerebral blood flow</a:t>
            </a:r>
            <a:endParaRPr lang="en-US" sz="3000" dirty="0"/>
          </a:p>
        </p:txBody>
      </p:sp>
      <p:sp>
        <p:nvSpPr>
          <p:cNvPr id="3" name="Target"/>
          <p:cNvSpPr/>
          <p:nvPr/>
        </p:nvSpPr>
        <p:spPr>
          <a:xfrm>
            <a:off x="3483864" y="1463040"/>
            <a:ext cx="603504" cy="4023360"/>
          </a:xfrm>
          <a:prstGeom prst="rect">
            <a:avLst/>
          </a:prstGeom>
          <a:solidFill>
            <a:srgbClr val="EDEDED"/>
          </a:solidFill>
          <a:ln/>
        </p:spPr>
      </p:sp>
      <p:sp>
        <p:nvSpPr>
          <p:cNvPr id="4" name="Text 2"/>
          <p:cNvSpPr txBox="1"/>
          <p:nvPr/>
        </p:nvSpPr>
        <p:spPr>
          <a:xfrm>
            <a:off x="3061411" y="1115568"/>
            <a:ext cx="1448410"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Georgia" pitchFamily="34" charset="0"/>
                <a:ea typeface="Georgia" pitchFamily="34" charset="-122"/>
                <a:cs typeface="Georgia" pitchFamily="34" charset="-120"/>
              </a:rPr>
              <a:t>Aim here</a:t>
            </a:r>
            <a:endParaRPr lang="en-US" sz="1400" dirty="0"/>
          </a:p>
        </p:txBody>
      </p:sp>
      <p:sp>
        <p:nvSpPr>
          <p:cNvPr id="5" name="XAxis"/>
          <p:cNvSpPr/>
          <p:nvPr/>
        </p:nvSpPr>
        <p:spPr>
          <a:xfrm>
            <a:off x="1371600" y="5486400"/>
            <a:ext cx="6217920" cy="0"/>
          </a:xfrm>
          <a:prstGeom prst="line">
            <a:avLst/>
          </a:prstGeom>
          <a:noFill/>
          <a:ln w="15875">
            <a:solidFill>
              <a:srgbClr val="000000"/>
            </a:solidFill>
            <a:prstDash val="solid"/>
          </a:ln>
        </p:spPr>
      </p:sp>
      <p:sp>
        <p:nvSpPr>
          <p:cNvPr id="6" name="YAxis"/>
          <p:cNvSpPr/>
          <p:nvPr/>
        </p:nvSpPr>
        <p:spPr>
          <a:xfrm>
            <a:off x="1371600" y="1371600"/>
            <a:ext cx="0" cy="4114800"/>
          </a:xfrm>
          <a:prstGeom prst="line">
            <a:avLst/>
          </a:prstGeom>
          <a:noFill/>
          <a:ln w="15875">
            <a:solidFill>
              <a:srgbClr val="000000"/>
            </a:solidFill>
            <a:prstDash val="solid"/>
          </a:ln>
        </p:spPr>
      </p:sp>
      <p:sp>
        <p:nvSpPr>
          <p:cNvPr id="7" name="Shape 5"/>
          <p:cNvSpPr/>
          <p:nvPr/>
        </p:nvSpPr>
        <p:spPr>
          <a:xfrm>
            <a:off x="2578608" y="5486400"/>
            <a:ext cx="0" cy="73152"/>
          </a:xfrm>
          <a:prstGeom prst="line">
            <a:avLst/>
          </a:prstGeom>
          <a:noFill/>
          <a:ln w="12700">
            <a:solidFill>
              <a:srgbClr val="000000"/>
            </a:solidFill>
            <a:prstDash val="solid"/>
          </a:ln>
        </p:spPr>
      </p:sp>
      <p:sp>
        <p:nvSpPr>
          <p:cNvPr id="8" name="Text 6"/>
          <p:cNvSpPr txBox="1"/>
          <p:nvPr/>
        </p:nvSpPr>
        <p:spPr>
          <a:xfrm>
            <a:off x="2304288" y="5577840"/>
            <a:ext cx="548640" cy="274320"/>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20</a:t>
            </a:r>
            <a:endParaRPr lang="en-US" sz="1400" dirty="0"/>
          </a:p>
        </p:txBody>
      </p:sp>
      <p:sp>
        <p:nvSpPr>
          <p:cNvPr id="9" name="Shape 7"/>
          <p:cNvSpPr/>
          <p:nvPr/>
        </p:nvSpPr>
        <p:spPr>
          <a:xfrm>
            <a:off x="3785616" y="5486400"/>
            <a:ext cx="0" cy="73152"/>
          </a:xfrm>
          <a:prstGeom prst="line">
            <a:avLst/>
          </a:prstGeom>
          <a:noFill/>
          <a:ln w="12700">
            <a:solidFill>
              <a:srgbClr val="000000"/>
            </a:solidFill>
            <a:prstDash val="solid"/>
          </a:ln>
        </p:spPr>
      </p:sp>
      <p:sp>
        <p:nvSpPr>
          <p:cNvPr id="10" name="Text 8"/>
          <p:cNvSpPr txBox="1"/>
          <p:nvPr/>
        </p:nvSpPr>
        <p:spPr>
          <a:xfrm>
            <a:off x="3511296" y="5577840"/>
            <a:ext cx="548640" cy="274320"/>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40</a:t>
            </a:r>
            <a:endParaRPr lang="en-US" sz="1400" dirty="0"/>
          </a:p>
        </p:txBody>
      </p:sp>
      <p:sp>
        <p:nvSpPr>
          <p:cNvPr id="11" name="Shape 9"/>
          <p:cNvSpPr/>
          <p:nvPr/>
        </p:nvSpPr>
        <p:spPr>
          <a:xfrm>
            <a:off x="4992624" y="5486400"/>
            <a:ext cx="0" cy="73152"/>
          </a:xfrm>
          <a:prstGeom prst="line">
            <a:avLst/>
          </a:prstGeom>
          <a:noFill/>
          <a:ln w="12700">
            <a:solidFill>
              <a:srgbClr val="000000"/>
            </a:solidFill>
            <a:prstDash val="solid"/>
          </a:ln>
        </p:spPr>
      </p:sp>
      <p:sp>
        <p:nvSpPr>
          <p:cNvPr id="12" name="Text 10"/>
          <p:cNvSpPr txBox="1"/>
          <p:nvPr/>
        </p:nvSpPr>
        <p:spPr>
          <a:xfrm>
            <a:off x="4718304" y="5577840"/>
            <a:ext cx="548640" cy="274320"/>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60</a:t>
            </a:r>
            <a:endParaRPr lang="en-US" sz="1400" dirty="0"/>
          </a:p>
        </p:txBody>
      </p:sp>
      <p:sp>
        <p:nvSpPr>
          <p:cNvPr id="13" name="Shape 11"/>
          <p:cNvSpPr/>
          <p:nvPr/>
        </p:nvSpPr>
        <p:spPr>
          <a:xfrm>
            <a:off x="6199632" y="5486400"/>
            <a:ext cx="0" cy="73152"/>
          </a:xfrm>
          <a:prstGeom prst="line">
            <a:avLst/>
          </a:prstGeom>
          <a:noFill/>
          <a:ln w="12700">
            <a:solidFill>
              <a:srgbClr val="000000"/>
            </a:solidFill>
            <a:prstDash val="solid"/>
          </a:ln>
        </p:spPr>
      </p:sp>
      <p:sp>
        <p:nvSpPr>
          <p:cNvPr id="14" name="Text 12"/>
          <p:cNvSpPr txBox="1"/>
          <p:nvPr/>
        </p:nvSpPr>
        <p:spPr>
          <a:xfrm>
            <a:off x="5925312" y="5577840"/>
            <a:ext cx="548640" cy="274320"/>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80</a:t>
            </a:r>
            <a:endParaRPr lang="en-US" sz="1400" dirty="0"/>
          </a:p>
        </p:txBody>
      </p:sp>
      <p:sp>
        <p:nvSpPr>
          <p:cNvPr id="15" name="Shape 13"/>
          <p:cNvSpPr/>
          <p:nvPr/>
        </p:nvSpPr>
        <p:spPr>
          <a:xfrm>
            <a:off x="7406640" y="5486400"/>
            <a:ext cx="0" cy="73152"/>
          </a:xfrm>
          <a:prstGeom prst="line">
            <a:avLst/>
          </a:prstGeom>
          <a:noFill/>
          <a:ln w="12700">
            <a:solidFill>
              <a:srgbClr val="000000"/>
            </a:solidFill>
            <a:prstDash val="solid"/>
          </a:ln>
        </p:spPr>
      </p:sp>
      <p:sp>
        <p:nvSpPr>
          <p:cNvPr id="16" name="Text 14"/>
          <p:cNvSpPr txBox="1"/>
          <p:nvPr/>
        </p:nvSpPr>
        <p:spPr>
          <a:xfrm>
            <a:off x="7132320" y="5577840"/>
            <a:ext cx="548640" cy="274320"/>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100</a:t>
            </a:r>
            <a:endParaRPr lang="en-US" sz="1400" dirty="0"/>
          </a:p>
        </p:txBody>
      </p:sp>
      <p:sp>
        <p:nvSpPr>
          <p:cNvPr id="17" name="Text 15"/>
          <p:cNvSpPr txBox="1"/>
          <p:nvPr/>
        </p:nvSpPr>
        <p:spPr>
          <a:xfrm>
            <a:off x="1371600" y="5870448"/>
            <a:ext cx="6035040" cy="320040"/>
          </a:xfrm>
          <a:prstGeom prst="rect">
            <a:avLst/>
          </a:prstGeom>
          <a:noFill/>
          <a:ln/>
        </p:spPr>
        <p:txBody>
          <a:bodyPr wrap="square" lIns="0" tIns="0" rIns="0" bIns="0" rtlCol="0" anchor="ctr"/>
          <a:lstStyle/>
          <a:p>
            <a:pPr algn="ctr" indent="0" marL="0">
              <a:buNone/>
            </a:pPr>
            <a:r>
              <a:rPr lang="en-US" sz="1500" dirty="0">
                <a:solidFill>
                  <a:srgbClr val="000000"/>
                </a:solidFill>
                <a:latin typeface="Calibri" pitchFamily="34" charset="0"/>
                <a:ea typeface="Calibri" pitchFamily="34" charset="-122"/>
                <a:cs typeface="Calibri" pitchFamily="34" charset="-120"/>
              </a:rPr>
              <a:t>PaCO2 (mmHg)</a:t>
            </a:r>
            <a:endParaRPr lang="en-US" sz="1500" dirty="0"/>
          </a:p>
        </p:txBody>
      </p:sp>
      <p:sp>
        <p:nvSpPr>
          <p:cNvPr id="18" name="Text 16"/>
          <p:cNvSpPr txBox="1"/>
          <p:nvPr/>
        </p:nvSpPr>
        <p:spPr>
          <a:xfrm rot="16200000">
            <a:off x="-502920" y="3310128"/>
            <a:ext cx="3108960" cy="329184"/>
          </a:xfrm>
          <a:prstGeom prst="rect">
            <a:avLst/>
          </a:prstGeom>
          <a:noFill/>
          <a:ln/>
        </p:spPr>
        <p:txBody>
          <a:bodyPr wrap="square" lIns="0" tIns="0" rIns="0" bIns="0" rtlCol="0" anchor="ctr"/>
          <a:lstStyle/>
          <a:p>
            <a:pPr algn="ctr" indent="0" marL="0">
              <a:buNone/>
            </a:pPr>
            <a:r>
              <a:rPr lang="en-US" sz="1500" dirty="0">
                <a:solidFill>
                  <a:srgbClr val="000000"/>
                </a:solidFill>
                <a:latin typeface="Calibri" pitchFamily="34" charset="0"/>
                <a:ea typeface="Calibri" pitchFamily="34" charset="-122"/>
                <a:cs typeface="Calibri" pitchFamily="34" charset="-120"/>
              </a:rPr>
              <a:t>Cerebral blood flow</a:t>
            </a:r>
            <a:endParaRPr lang="en-US" sz="1500" dirty="0"/>
          </a:p>
        </p:txBody>
      </p:sp>
      <p:sp>
        <p:nvSpPr>
          <p:cNvPr id="19" name="CBFcurve"/>
          <p:cNvSpPr/>
          <p:nvPr/>
        </p:nvSpPr>
        <p:spPr>
          <a:xfrm>
            <a:off x="1371600" y="1965960"/>
            <a:ext cx="6035040" cy="2880360"/>
          </a:xfrm>
          <a:custGeom>
            <a:avLst/>
            <a:gdLst/>
            <a:ahLst/>
            <a:cxnLst/>
            <a:rect l="l" t="t" r="r" b="b"/>
            <a:pathLst>
              <a:path w="6035040" h="2880360">
                <a:moveTo>
                  <a:pt x="301752" y="2788920"/>
                </a:moveTo>
                <a:lnTo>
                  <a:pt x="905256" y="2743200"/>
                </a:lnTo>
                <a:cubicBezTo>
                  <a:pt x="1810512" y="2743200"/>
                  <a:pt x="4224528" y="45720"/>
                  <a:pt x="5129784" y="45720"/>
                </a:cubicBezTo>
                <a:lnTo>
                  <a:pt x="5853989" y="0"/>
                </a:lnTo>
              </a:path>
            </a:pathLst>
          </a:custGeom>
          <a:noFill/>
          <a:ln w="38100">
            <a:solidFill>
              <a:srgbClr val="000000"/>
            </a:solidFill>
            <a:prstDash val="solid"/>
          </a:ln>
        </p:spPr>
      </p:sp>
      <p:sp>
        <p:nvSpPr>
          <p:cNvPr id="20" name="Text 18"/>
          <p:cNvSpPr txBox="1"/>
          <p:nvPr/>
        </p:nvSpPr>
        <p:spPr>
          <a:xfrm>
            <a:off x="1431950" y="2926080"/>
            <a:ext cx="1828800" cy="1188720"/>
          </a:xfrm>
          <a:prstGeom prst="rect">
            <a:avLst/>
          </a:prstGeom>
          <a:noFill/>
          <a:ln/>
        </p:spPr>
        <p:txBody>
          <a:bodyPr wrap="square" lIns="0" tIns="0" rIns="0" bIns="0" rtlCol="0" anchor="b"/>
          <a:lstStyle/>
          <a:p>
            <a:pPr indent="0" marL="0">
              <a:buNone/>
            </a:pPr>
            <a:r>
              <a:rPr lang="en-US" sz="1400" dirty="0">
                <a:solidFill>
                  <a:srgbClr val="000000"/>
                </a:solidFill>
                <a:latin typeface="Georgia" pitchFamily="34" charset="0"/>
                <a:ea typeface="Georgia" pitchFamily="34" charset="-122"/>
                <a:cs typeface="Georgia" pitchFamily="34" charset="-120"/>
              </a:rPr>
              <a:t>Hyperventilation: less flow, lower ICP for a short time; too much can cause ischemia</a:t>
            </a:r>
            <a:endParaRPr lang="en-US" sz="1400" dirty="0"/>
          </a:p>
        </p:txBody>
      </p:sp>
      <p:sp>
        <p:nvSpPr>
          <p:cNvPr id="21" name="Text 19"/>
          <p:cNvSpPr txBox="1"/>
          <p:nvPr/>
        </p:nvSpPr>
        <p:spPr>
          <a:xfrm>
            <a:off x="5234026" y="3566160"/>
            <a:ext cx="2103120" cy="1188720"/>
          </a:xfrm>
          <a:prstGeom prst="rect">
            <a:avLst/>
          </a:prstGeom>
          <a:noFill/>
          <a:ln/>
        </p:spPr>
        <p:txBody>
          <a:bodyPr wrap="square" lIns="0" tIns="0" rIns="0" bIns="0" rtlCol="0" anchor="t"/>
          <a:lstStyle/>
          <a:p>
            <a:pPr indent="0" marL="0">
              <a:buNone/>
            </a:pPr>
            <a:r>
              <a:rPr lang="en-US" sz="1400" dirty="0">
                <a:solidFill>
                  <a:srgbClr val="C00000"/>
                </a:solidFill>
                <a:latin typeface="Georgia" pitchFamily="34" charset="0"/>
                <a:ea typeface="Georgia" pitchFamily="34" charset="-122"/>
                <a:cs typeface="Georgia" pitchFamily="34" charset="-120"/>
              </a:rPr>
              <a:t>Permissive hypercapnia: more flow, more blood volume, higher ICP</a:t>
            </a:r>
            <a:endParaRPr lang="en-US" sz="1400" dirty="0"/>
          </a:p>
        </p:txBody>
      </p:sp>
      <p:sp>
        <p:nvSpPr>
          <p:cNvPr id="22" name="Body"/>
          <p:cNvSpPr txBox="1"/>
          <p:nvPr/>
        </p:nvSpPr>
        <p:spPr>
          <a:xfrm>
            <a:off x="7955280" y="1463040"/>
            <a:ext cx="3840480" cy="4206240"/>
          </a:xfrm>
          <a:prstGeom prst="rect">
            <a:avLst/>
          </a:prstGeom>
          <a:noFill/>
          <a:ln/>
        </p:spPr>
        <p:txBody>
          <a:bodyPr wrap="square" lIns="50800" tIns="50800" rIns="50800" bIns="50800" rtlCol="0" anchor="t"/>
          <a:lstStyle/>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Between about 20 and 80 mmHg, cerebral blood flow rises with PaCO2</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In a swollen brain, more blood volume means a higher ICP</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Keep PaCO2 normal. Hyperventilate only as a short bridge for herniation</a:t>
            </a:r>
            <a:endParaRPr lang="en-US" sz="1900" dirty="0"/>
          </a:p>
        </p:txBody>
      </p:sp>
      <p:sp>
        <p:nvSpPr>
          <p:cNvPr id="23"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Schematic, not to scale. Standard cerebral physiology</a:t>
            </a:r>
            <a:endParaRPr lang="en-US" sz="1000" dirty="0"/>
          </a:p>
        </p:txBody>
      </p:sp>
      <p:sp>
        <p:nvSpPr>
          <p:cNvPr id="2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23/58</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Protecting the brain: every patient with grade III-IV</a:t>
            </a:r>
            <a:endParaRPr lang="en-US" sz="3000" dirty="0"/>
          </a:p>
        </p:txBody>
      </p:sp>
      <p:sp>
        <p:nvSpPr>
          <p:cNvPr id="3" name="Body"/>
          <p:cNvSpPr txBox="1"/>
          <p:nvPr/>
        </p:nvSpPr>
        <p:spPr>
          <a:xfrm>
            <a:off x="457200" y="1325880"/>
            <a:ext cx="6675120" cy="4937760"/>
          </a:xfrm>
          <a:prstGeom prst="rect">
            <a:avLst/>
          </a:prstGeom>
          <a:noFill/>
          <a:ln/>
        </p:spPr>
        <p:txBody>
          <a:bodyPr wrap="square" lIns="50800" tIns="50800" rIns="50800" bIns="50800" rtlCol="0" anchor="t"/>
          <a:lstStyle/>
          <a:p>
            <a:pPr marL="228600" indent="-228600">
              <a:spcBef>
                <a:spcPts val="1200"/>
              </a:spcBef>
              <a:buSzPct val="100000"/>
              <a:buChar char="–"/>
            </a:pPr>
            <a:r>
              <a:rPr lang="en-US" sz="2000" dirty="0">
                <a:solidFill>
                  <a:srgbClr val="000000"/>
                </a:solidFill>
                <a:latin typeface="Georgia" pitchFamily="34" charset="0"/>
                <a:ea typeface="Georgia" pitchFamily="34" charset="-122"/>
                <a:cs typeface="Georgia" pitchFamily="34" charset="-120"/>
              </a:rPr>
              <a:t>Head of bed 30°, neck neutral</a:t>
            </a:r>
            <a:endParaRPr lang="en-US" sz="2000" dirty="0"/>
          </a:p>
          <a:p>
            <a:pPr marL="228600" indent="-228600">
              <a:spcBef>
                <a:spcPts val="1200"/>
              </a:spcBef>
              <a:buSzPct val="100000"/>
              <a:buChar char="–"/>
            </a:pPr>
            <a:r>
              <a:rPr lang="en-US" sz="2000" dirty="0">
                <a:solidFill>
                  <a:srgbClr val="000000"/>
                </a:solidFill>
                <a:latin typeface="Georgia" pitchFamily="34" charset="0"/>
                <a:ea typeface="Georgia" pitchFamily="34" charset="-122"/>
                <a:cs typeface="Georgia" pitchFamily="34" charset="-120"/>
              </a:rPr>
              <a:t>Treat fever, avoid hypoglycemia</a:t>
            </a:r>
            <a:endParaRPr lang="en-US" sz="2000" dirty="0"/>
          </a:p>
          <a:p>
            <a:pPr marL="228600" indent="-228600">
              <a:spcBef>
                <a:spcPts val="1200"/>
              </a:spcBef>
              <a:buSzPct val="100000"/>
              <a:buChar char="–"/>
            </a:pPr>
            <a:r>
              <a:rPr lang="en-US" sz="2000" dirty="0">
                <a:solidFill>
                  <a:srgbClr val="000000"/>
                </a:solidFill>
                <a:latin typeface="Georgia" pitchFamily="34" charset="0"/>
                <a:ea typeface="Georgia" pitchFamily="34" charset="-122"/>
                <a:cs typeface="Georgia" pitchFamily="34" charset="-120"/>
              </a:rPr>
              <a:t>Sodium </a:t>
            </a:r>
            <a:r>
              <a:rPr lang="en-US" sz="2000" b="1" dirty="0">
                <a:solidFill>
                  <a:srgbClr val="000000"/>
                </a:solidFill>
                <a:latin typeface="Georgia" pitchFamily="34" charset="0"/>
                <a:ea typeface="Georgia" pitchFamily="34" charset="-122"/>
                <a:cs typeface="Georgia" pitchFamily="34" charset="-120"/>
              </a:rPr>
              <a:t>145 to 155 mmol/L</a:t>
            </a:r>
            <a:r>
              <a:rPr lang="en-US" sz="2000" dirty="0">
                <a:solidFill>
                  <a:srgbClr val="000000"/>
                </a:solidFill>
                <a:latin typeface="Georgia" pitchFamily="34" charset="0"/>
                <a:ea typeface="Georgia" pitchFamily="34" charset="-122"/>
                <a:cs typeface="Georgia" pitchFamily="34" charset="-120"/>
              </a:rPr>
              <a:t> with hypertonic saline (use your center's protocol)</a:t>
            </a:r>
            <a:endParaRPr lang="en-US" sz="2000" dirty="0"/>
          </a:p>
          <a:p>
            <a:pPr marL="228600" indent="-228600">
              <a:spcBef>
                <a:spcPts val="1200"/>
              </a:spcBef>
              <a:buSzPct val="100000"/>
              <a:buChar char="–"/>
            </a:pPr>
            <a:r>
              <a:rPr lang="en-US" sz="2000" dirty="0">
                <a:solidFill>
                  <a:srgbClr val="000000"/>
                </a:solidFill>
                <a:latin typeface="Georgia" pitchFamily="34" charset="0"/>
                <a:ea typeface="Georgia" pitchFamily="34" charset="-122"/>
                <a:cs typeface="Georgia" pitchFamily="34" charset="-120"/>
              </a:rPr>
              <a:t>Avoid fluid overload</a:t>
            </a:r>
            <a:endParaRPr lang="en-US" sz="2000" dirty="0"/>
          </a:p>
          <a:p>
            <a:pPr marL="228600" indent="-228600">
              <a:spcBef>
                <a:spcPts val="1200"/>
              </a:spcBef>
              <a:buSzPct val="100000"/>
              <a:buChar char="–"/>
            </a:pPr>
            <a:r>
              <a:rPr lang="en-US" sz="2000" dirty="0">
                <a:solidFill>
                  <a:srgbClr val="000000"/>
                </a:solidFill>
                <a:latin typeface="Georgia" pitchFamily="34" charset="0"/>
                <a:ea typeface="Georgia" pitchFamily="34" charset="-122"/>
                <a:cs typeface="Georgia" pitchFamily="34" charset="-120"/>
              </a:rPr>
              <a:t>Treat seizures, EEG if in doubt. No routine prophylaxis</a:t>
            </a:r>
            <a:endParaRPr lang="en-US" sz="2000" dirty="0"/>
          </a:p>
          <a:p>
            <a:pPr marL="228600" indent="-228600">
              <a:spcBef>
                <a:spcPts val="1200"/>
              </a:spcBef>
              <a:buSzPct val="100000"/>
              <a:buChar char="–"/>
            </a:pPr>
            <a:r>
              <a:rPr lang="en-US" sz="2000" dirty="0">
                <a:solidFill>
                  <a:srgbClr val="000000"/>
                </a:solidFill>
                <a:latin typeface="Georgia" pitchFamily="34" charset="0"/>
                <a:ea typeface="Georgia" pitchFamily="34" charset="-122"/>
                <a:cs typeface="Georgia" pitchFamily="34" charset="-120"/>
              </a:rPr>
              <a:t>No cooling: 34 °C did not prevent intracranial hypertension in an RCT</a:t>
            </a:r>
            <a:endParaRPr lang="en-US" sz="2000" dirty="0"/>
          </a:p>
        </p:txBody>
      </p:sp>
      <p:pic>
        <p:nvPicPr>
          <p:cNvPr id="4" name="Image 0" descr="Watercolor of an empty ICU bed with the head raised about 30 degrees">    </p:cNvPr>
          <p:cNvPicPr>
            <a:picLocks noChangeAspect="1"/>
          </p:cNvPicPr>
          <p:nvPr/>
        </p:nvPicPr>
        <p:blipFill>
          <a:blip r:embed="rId1"/>
          <a:stretch>
            <a:fillRect/>
          </a:stretch>
        </p:blipFill>
        <p:spPr>
          <a:xfrm>
            <a:off x="7269480" y="1280160"/>
            <a:ext cx="4617720" cy="3759408"/>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SCCM 2023 [PMID: 37052436]; update 2022 [PMID: 36001996]; Bernal W et al. J Hepatol 2016;65:273-9</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24/58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Rising ICP: hypertension, bradycardia, a new pupil</a:t>
            </a:r>
            <a:endParaRPr lang="en-US" sz="3000" dirty="0"/>
          </a:p>
        </p:txBody>
      </p:sp>
      <p:sp>
        <p:nvSpPr>
          <p:cNvPr id="3" name="Body"/>
          <p:cNvSpPr txBox="1"/>
          <p:nvPr/>
        </p:nvSpPr>
        <p:spPr>
          <a:xfrm>
            <a:off x="640080" y="1280160"/>
            <a:ext cx="6400800" cy="4937760"/>
          </a:xfrm>
          <a:prstGeom prst="rect">
            <a:avLst/>
          </a:prstGeom>
          <a:noFill/>
          <a:ln/>
        </p:spPr>
        <p:txBody>
          <a:bodyPr wrap="square" lIns="50800" tIns="50800" rIns="50800" bIns="50800" rtlCol="0" anchor="t"/>
          <a:lstStyle/>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Hyperosmolar bolus (hypertonic saline or mannitol)</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Brief hyperventilation as a bridge</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Call the transplant team now</a:t>
            </a:r>
            <a:endParaRPr lang="en-US" sz="1900" dirty="0"/>
          </a:p>
          <a:p>
            <a:pPr indent="0" marL="0">
              <a:spcBef>
                <a:spcPts val="1800"/>
              </a:spcBef>
              <a:buNone/>
            </a:pPr>
            <a:r>
              <a:rPr lang="en-US" sz="1900" b="1" dirty="0">
                <a:solidFill>
                  <a:srgbClr val="000000"/>
                </a:solidFill>
                <a:latin typeface="Georgia" pitchFamily="34" charset="0"/>
                <a:ea typeface="Georgia" pitchFamily="34" charset="-122"/>
                <a:cs typeface="Georgia" pitchFamily="34" charset="-120"/>
              </a:rPr>
              <a:t>Things to know</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Hypertension and bradycardia come late. Don't wait for them</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A normal head CT does not exclude raised ICP</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ICP monitors are not routine; SCCM suggests against (very low certainty)</a:t>
            </a:r>
            <a:endParaRPr lang="en-US" sz="1900" dirty="0"/>
          </a:p>
        </p:txBody>
      </p:sp>
      <p:pic>
        <p:nvPicPr>
          <p:cNvPr id="4" name="Image 0" descr="Head CT: normal and with effaced sulci">    </p:cNvPr>
          <p:cNvPicPr>
            <a:picLocks noChangeAspect="1"/>
          </p:cNvPicPr>
          <p:nvPr/>
        </p:nvPicPr>
        <p:blipFill>
          <a:blip r:embed="rId1"/>
          <a:stretch>
            <a:fillRect/>
          </a:stretch>
        </p:blipFill>
        <p:spPr>
          <a:xfrm>
            <a:off x="6949440" y="1280160"/>
            <a:ext cx="4937760" cy="3148202"/>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SCCM 2023 [PMID: 37052436]; practical update 2024 [PMID: 39170946]</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25/58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The creatinine is only 1.3</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Ammonia 182 → 214 μmol/L, grade III, urine output 15 mL/h</a:t>
            </a:r>
            <a:endParaRPr lang="en-US" sz="2000" dirty="0"/>
          </a:p>
        </p:txBody>
      </p:sp>
      <p:sp>
        <p:nvSpPr>
          <p:cNvPr id="4" name="Question"/>
          <p:cNvSpPr txBox="1"/>
          <p:nvPr/>
        </p:nvSpPr>
        <p:spPr>
          <a:xfrm>
            <a:off x="822960" y="178308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Do you wait for a conventional dialysis indication?</a:t>
            </a:r>
            <a:endParaRPr lang="en-US" sz="2800" dirty="0"/>
          </a:p>
        </p:txBody>
      </p:sp>
      <p:pic>
        <p:nvPicPr>
          <p:cNvPr id="5" name="Image 0" descr="Watercolor of a urine drainage bag with a little dark urine">    </p:cNvPr>
          <p:cNvPicPr>
            <a:picLocks noChangeAspect="1"/>
          </p:cNvPicPr>
          <p:nvPr/>
        </p:nvPicPr>
        <p:blipFill>
          <a:blip r:embed="rId1"/>
          <a:stretch>
            <a:fillRect/>
          </a:stretch>
        </p:blipFill>
        <p:spPr>
          <a:xfrm>
            <a:off x="4198216" y="2514600"/>
            <a:ext cx="3795262" cy="3840480"/>
          </a:xfrm>
          <a:prstGeom prst="rect">
            <a:avLst/>
          </a:prstGeom>
        </p:spPr>
      </p:pic>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26/58</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The creatinine is only 1.3</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Ammonia 182 → 214 μmol/L, grade III, urine output 15 mL/h</a:t>
            </a:r>
            <a:endParaRPr lang="en-US" sz="2000" dirty="0"/>
          </a:p>
        </p:txBody>
      </p:sp>
      <p:sp>
        <p:nvSpPr>
          <p:cNvPr id="4" name="Question"/>
          <p:cNvSpPr txBox="1"/>
          <p:nvPr/>
        </p:nvSpPr>
        <p:spPr>
          <a:xfrm>
            <a:off x="822960" y="182880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No. In ALF, start CRRT for the ammonia</a:t>
            </a:r>
            <a:endParaRPr lang="en-US" sz="2400" dirty="0"/>
          </a:p>
        </p:txBody>
      </p:sp>
      <p:sp>
        <p:nvSpPr>
          <p:cNvPr id="5" name="Body"/>
          <p:cNvSpPr txBox="1"/>
          <p:nvPr/>
        </p:nvSpPr>
        <p:spPr>
          <a:xfrm>
            <a:off x="822960" y="2560320"/>
            <a:ext cx="7863840" cy="365760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ACG 2023: suggests early CRRT for hyperammonemia with grade II or higher encephalopathy, even without a renal indication (conditional, very low certainty)</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Continuous, not intermittent: fewer swings in blood pressure and brain water</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Call nephrology now</a:t>
            </a:r>
            <a:endParaRPr lang="en-US" sz="2000" dirty="0"/>
          </a:p>
        </p:txBody>
      </p:sp>
      <p:pic>
        <p:nvPicPr>
          <p:cNvPr id="6" name="Image 0" descr="Watercolor of a CRRT machine with filter and circuit">    </p:cNvPr>
          <p:cNvPicPr>
            <a:picLocks noChangeAspect="1"/>
          </p:cNvPicPr>
          <p:nvPr/>
        </p:nvPicPr>
        <p:blipFill>
          <a:blip r:embed="rId1"/>
          <a:stretch>
            <a:fillRect/>
          </a:stretch>
        </p:blipFill>
        <p:spPr>
          <a:xfrm>
            <a:off x="9345918" y="2377440"/>
            <a:ext cx="1882165" cy="3931920"/>
          </a:xfrm>
          <a:prstGeom prst="rect">
            <a:avLst/>
          </a:prstGeom>
        </p:spPr>
      </p:pic>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ACG ALF guideline 2023 [PMID: 37377263]; update 2022 [PMID: 36001996]</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26/58</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Should we correct this INR?</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Hour 12: INR 4.1, platelets 88,000. She needs a dialysis catheter</a:t>
            </a:r>
            <a:endParaRPr lang="en-US" sz="2000" dirty="0"/>
          </a:p>
        </p:txBody>
      </p:sp>
      <p:sp>
        <p:nvSpPr>
          <p:cNvPr id="4" name="Question"/>
          <p:cNvSpPr txBox="1"/>
          <p:nvPr/>
        </p:nvSpPr>
        <p:spPr>
          <a:xfrm>
            <a:off x="822960" y="1783080"/>
            <a:ext cx="10545775" cy="548640"/>
          </a:xfrm>
          <a:prstGeom prst="rect">
            <a:avLst/>
          </a:prstGeom>
          <a:noFill/>
          <a:ln/>
        </p:spPr>
        <p:txBody>
          <a:bodyPr wrap="square" lIns="0" tIns="0" rIns="0" bIns="0" rtlCol="0" anchor="ctr"/>
          <a:lstStyle/>
          <a:p>
            <a:pPr algn="ctr" indent="0" marL="0">
              <a:buNone/>
            </a:pPr>
            <a:r>
              <a:rPr lang="en-US" sz="3000" b="1" dirty="0">
                <a:solidFill>
                  <a:srgbClr val="000000"/>
                </a:solidFill>
                <a:latin typeface="Georgia" pitchFamily="34" charset="0"/>
                <a:ea typeface="Georgia" pitchFamily="34" charset="-122"/>
                <a:cs typeface="Georgia" pitchFamily="34" charset="-120"/>
              </a:rPr>
              <a:t>2 units of FFP first?</a:t>
            </a:r>
            <a:endParaRPr lang="en-US" sz="3000" dirty="0"/>
          </a:p>
        </p:txBody>
      </p:sp>
      <p:pic>
        <p:nvPicPr>
          <p:cNvPr id="5" name="Image 0" descr="Watercolor of a unit of fresh frozen plasma">    </p:cNvPr>
          <p:cNvPicPr>
            <a:picLocks noChangeAspect="1"/>
          </p:cNvPicPr>
          <p:nvPr/>
        </p:nvPicPr>
        <p:blipFill>
          <a:blip r:embed="rId1"/>
          <a:stretch>
            <a:fillRect/>
          </a:stretch>
        </p:blipFill>
        <p:spPr>
          <a:xfrm>
            <a:off x="5019602" y="2514600"/>
            <a:ext cx="2152490" cy="3840480"/>
          </a:xfrm>
          <a:prstGeom prst="rect">
            <a:avLst/>
          </a:prstGeom>
        </p:spPr>
      </p:pic>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27/58</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Should we correct this INR?</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Hour 12: INR 4.1, platelets 88,000. She needs a dialysis catheter</a:t>
            </a:r>
            <a:endParaRPr lang="en-US" sz="2000" dirty="0"/>
          </a:p>
        </p:txBody>
      </p:sp>
      <p:sp>
        <p:nvSpPr>
          <p:cNvPr id="4" name="Body"/>
          <p:cNvSpPr txBox="1"/>
          <p:nvPr/>
        </p:nvSpPr>
        <p:spPr>
          <a:xfrm>
            <a:off x="822960" y="1783080"/>
            <a:ext cx="10545775" cy="4480560"/>
          </a:xfrm>
          <a:prstGeom prst="rect">
            <a:avLst/>
          </a:prstGeom>
          <a:noFill/>
          <a:ln/>
        </p:spPr>
        <p:txBody>
          <a:bodyPr wrap="square" lIns="50800" tIns="50800" rIns="50800" bIns="50800" rtlCol="0" anchor="t"/>
          <a:lstStyle/>
          <a:p>
            <a:pPr marL="228600" indent="-228600">
              <a:spcBef>
                <a:spcPts val="800"/>
              </a:spcBef>
              <a:buSzPct val="100000"/>
              <a:buChar char="–"/>
            </a:pPr>
            <a:r>
              <a:rPr lang="en-US" sz="1900" b="1" dirty="0">
                <a:solidFill>
                  <a:srgbClr val="000000"/>
                </a:solidFill>
                <a:highlight>
                  <a:srgbClr val="FFFF00"/>
                </a:highlight>
                <a:latin typeface="Georgia" pitchFamily="34" charset="0"/>
                <a:ea typeface="Georgia" pitchFamily="34" charset="-122"/>
                <a:cs typeface="Georgia" pitchFamily="34" charset="-120"/>
              </a:rPr>
              <a:t>No plasma just to fix the number</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The INR measures only part of clotting, and in ALF it doesn't predict who bleeds</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Plasma adds volume (lungs, brain) and erases the INR trend that prognosis and listing rely on</a:t>
            </a:r>
            <a:endParaRPr lang="en-US" sz="1900" dirty="0"/>
          </a:p>
          <a:p>
            <a:pPr indent="0" marL="0">
              <a:spcBef>
                <a:spcPts val="1400"/>
              </a:spcBef>
              <a:buNone/>
            </a:pPr>
            <a:r>
              <a:rPr lang="en-US" sz="1900" b="1" dirty="0">
                <a:solidFill>
                  <a:srgbClr val="000000"/>
                </a:solidFill>
                <a:latin typeface="Georgia" pitchFamily="34" charset="0"/>
                <a:ea typeface="Georgia" pitchFamily="34" charset="-122"/>
                <a:cs typeface="Georgia" pitchFamily="34" charset="-120"/>
              </a:rPr>
              <a:t>What to do instead</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Ultrasound-guided line, experienced operator, compressible site</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Vitamin K once; check fibrinogen and platelets; viscoelastic testing if available</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Treat bleeding. Plan high-risk procedures (like an ICP monitor) separately</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Update 2022 [PMID: 36001996]; SCCM 2020 [PMID: 32058387]</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27/58</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Watercolor of a normal TEG tracing with R, K, alpha angle, MA and Ly30 marked">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457200" y="274320"/>
            <a:ext cx="11277295" cy="777240"/>
          </a:xfrm>
          <a:prstGeom prst="rect">
            <a:avLst/>
          </a:prstGeom>
          <a:noFill/>
          <a:ln/>
        </p:spPr>
        <p:txBody>
          <a:bodyPr wrap="square" lIns="0" tIns="0" rIns="0" bIns="0" rtlCol="0" anchor="ctr"/>
          <a:lstStyle/>
          <a:p>
            <a:pPr algn="ctr" indent="0" marL="0">
              <a:buNone/>
            </a:pPr>
            <a:r>
              <a:rPr lang="en-US" sz="3400" dirty="0">
                <a:solidFill>
                  <a:srgbClr val="000000"/>
                </a:solidFill>
                <a:latin typeface="Georgia" pitchFamily="34" charset="0"/>
                <a:ea typeface="Georgia" pitchFamily="34" charset="-122"/>
                <a:cs typeface="Georgia" pitchFamily="34" charset="-120"/>
              </a:rPr>
              <a:t>Is her blood thin?</a:t>
            </a:r>
            <a:endParaRPr lang="en-US" sz="3400" dirty="0"/>
          </a:p>
        </p:txBody>
      </p:sp>
      <p:sp>
        <p:nvSpPr>
          <p:cNvPr id="4" name="Body"/>
          <p:cNvSpPr txBox="1"/>
          <p:nvPr/>
        </p:nvSpPr>
        <p:spPr>
          <a:xfrm>
            <a:off x="7680960" y="1371600"/>
            <a:ext cx="4206240" cy="4023360"/>
          </a:xfrm>
          <a:prstGeom prst="rect">
            <a:avLst/>
          </a:prstGeom>
          <a:noFill/>
          <a:ln/>
        </p:spPr>
        <p:txBody>
          <a:bodyPr wrap="square" lIns="50800" tIns="50800" rIns="50800" bIns="50800" rtlCol="0" anchor="t"/>
          <a:lstStyle/>
          <a:p>
            <a:pPr indent="0" marL="0">
              <a:spcBef>
                <a:spcPts val="1000"/>
              </a:spcBef>
              <a:buNone/>
            </a:pPr>
            <a:r>
              <a:rPr lang="en-US" sz="1900" b="1" dirty="0">
                <a:solidFill>
                  <a:srgbClr val="000000"/>
                </a:solidFill>
                <a:latin typeface="Georgia" pitchFamily="34" charset="0"/>
                <a:ea typeface="Georgia" pitchFamily="34" charset="-122"/>
                <a:cs typeface="Georgia" pitchFamily="34" charset="-120"/>
              </a:rPr>
              <a:t>What a TEG measures in whole blood</a:t>
            </a:r>
            <a:endParaRPr lang="en-US" sz="1900" dirty="0"/>
          </a:p>
          <a:p>
            <a:pPr marL="228600" indent="-228600">
              <a:spcBef>
                <a:spcPts val="1000"/>
              </a:spcBef>
              <a:buSzPct val="100000"/>
              <a:buChar char="–"/>
            </a:pPr>
            <a:r>
              <a:rPr lang="en-US" sz="1900" b="1" dirty="0">
                <a:solidFill>
                  <a:srgbClr val="000000"/>
                </a:solidFill>
                <a:latin typeface="Georgia" pitchFamily="34" charset="0"/>
                <a:ea typeface="Georgia" pitchFamily="34" charset="-122"/>
                <a:cs typeface="Georgia" pitchFamily="34" charset="-120"/>
              </a:rPr>
              <a:t>R: </a:t>
            </a:r>
            <a:r>
              <a:rPr lang="en-US" sz="1900" dirty="0">
                <a:solidFill>
                  <a:srgbClr val="000000"/>
                </a:solidFill>
                <a:latin typeface="Georgia" pitchFamily="34" charset="0"/>
                <a:ea typeface="Georgia" pitchFamily="34" charset="-122"/>
                <a:cs typeface="Georgia" pitchFamily="34" charset="-120"/>
              </a:rPr>
              <a:t>time until the clot starts (clotting factors)</a:t>
            </a:r>
            <a:endParaRPr lang="en-US" sz="1900" dirty="0"/>
          </a:p>
          <a:p>
            <a:pPr marL="228600" indent="-228600">
              <a:spcBef>
                <a:spcPts val="1000"/>
              </a:spcBef>
              <a:buSzPct val="100000"/>
              <a:buChar char="–"/>
            </a:pPr>
            <a:r>
              <a:rPr lang="en-US" sz="1900" b="1" dirty="0">
                <a:solidFill>
                  <a:srgbClr val="000000"/>
                </a:solidFill>
                <a:latin typeface="Georgia" pitchFamily="34" charset="0"/>
                <a:ea typeface="Georgia" pitchFamily="34" charset="-122"/>
                <a:cs typeface="Georgia" pitchFamily="34" charset="-120"/>
              </a:rPr>
              <a:t>K and α-angle: </a:t>
            </a:r>
            <a:r>
              <a:rPr lang="en-US" sz="1900" dirty="0">
                <a:solidFill>
                  <a:srgbClr val="000000"/>
                </a:solidFill>
                <a:latin typeface="Georgia" pitchFamily="34" charset="0"/>
                <a:ea typeface="Georgia" pitchFamily="34" charset="-122"/>
                <a:cs typeface="Georgia" pitchFamily="34" charset="-120"/>
              </a:rPr>
              <a:t>how fast the clot builds (fibrinogen)</a:t>
            </a:r>
            <a:endParaRPr lang="en-US" sz="1900" dirty="0"/>
          </a:p>
          <a:p>
            <a:pPr marL="228600" indent="-228600">
              <a:spcBef>
                <a:spcPts val="1000"/>
              </a:spcBef>
              <a:buSzPct val="100000"/>
              <a:buChar char="–"/>
            </a:pPr>
            <a:r>
              <a:rPr lang="en-US" sz="1900" b="1" dirty="0">
                <a:solidFill>
                  <a:srgbClr val="000000"/>
                </a:solidFill>
                <a:latin typeface="Georgia" pitchFamily="34" charset="0"/>
                <a:ea typeface="Georgia" pitchFamily="34" charset="-122"/>
                <a:cs typeface="Georgia" pitchFamily="34" charset="-120"/>
              </a:rPr>
              <a:t>MA: </a:t>
            </a:r>
            <a:r>
              <a:rPr lang="en-US" sz="1900" dirty="0">
                <a:solidFill>
                  <a:srgbClr val="000000"/>
                </a:solidFill>
                <a:latin typeface="Georgia" pitchFamily="34" charset="0"/>
                <a:ea typeface="Georgia" pitchFamily="34" charset="-122"/>
                <a:cs typeface="Georgia" pitchFamily="34" charset="-120"/>
              </a:rPr>
              <a:t>how strong the clot gets (platelets, fibrinogen)</a:t>
            </a:r>
            <a:endParaRPr lang="en-US" sz="1900" dirty="0"/>
          </a:p>
          <a:p>
            <a:pPr marL="228600" indent="-228600">
              <a:spcBef>
                <a:spcPts val="1000"/>
              </a:spcBef>
              <a:buSzPct val="100000"/>
              <a:buChar char="–"/>
            </a:pPr>
            <a:r>
              <a:rPr lang="en-US" sz="1900" b="1" dirty="0">
                <a:solidFill>
                  <a:srgbClr val="000000"/>
                </a:solidFill>
                <a:latin typeface="Georgia" pitchFamily="34" charset="0"/>
                <a:ea typeface="Georgia" pitchFamily="34" charset="-122"/>
                <a:cs typeface="Georgia" pitchFamily="34" charset="-120"/>
              </a:rPr>
              <a:t>Ly30: </a:t>
            </a:r>
            <a:r>
              <a:rPr lang="en-US" sz="1900" dirty="0">
                <a:solidFill>
                  <a:srgbClr val="000000"/>
                </a:solidFill>
                <a:latin typeface="Georgia" pitchFamily="34" charset="0"/>
                <a:ea typeface="Georgia" pitchFamily="34" charset="-122"/>
                <a:cs typeface="Georgia" pitchFamily="34" charset="-120"/>
              </a:rPr>
              <a:t>how much of the clot breaks down in 30 minutes</a:t>
            </a:r>
            <a:endParaRPr lang="en-US" sz="1900" dirty="0"/>
          </a:p>
        </p:txBody>
      </p:sp>
      <p:sp>
        <p:nvSpPr>
          <p:cNvPr id="5" name="Question"/>
          <p:cNvSpPr txBox="1"/>
          <p:nvPr/>
        </p:nvSpPr>
        <p:spPr>
          <a:xfrm>
            <a:off x="822960" y="580644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Her INR is 4.1. What will her TEG show?</a:t>
            </a:r>
            <a:endParaRPr lang="en-US" sz="26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28/58</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Watercolor of a normal TEG tracing with R, K, alpha angle, MA and Ly30 marked">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457200" y="274320"/>
            <a:ext cx="11277295" cy="777240"/>
          </a:xfrm>
          <a:prstGeom prst="rect">
            <a:avLst/>
          </a:prstGeom>
          <a:noFill/>
          <a:ln/>
        </p:spPr>
        <p:txBody>
          <a:bodyPr wrap="square" lIns="0" tIns="0" rIns="0" bIns="0" rtlCol="0" anchor="ctr"/>
          <a:lstStyle/>
          <a:p>
            <a:pPr algn="ctr" indent="0" marL="0">
              <a:buNone/>
            </a:pPr>
            <a:r>
              <a:rPr lang="en-US" sz="3400" dirty="0">
                <a:solidFill>
                  <a:srgbClr val="000000"/>
                </a:solidFill>
                <a:latin typeface="Georgia" pitchFamily="34" charset="0"/>
                <a:ea typeface="Georgia" pitchFamily="34" charset="-122"/>
                <a:cs typeface="Georgia" pitchFamily="34" charset="-120"/>
              </a:rPr>
              <a:t>Is her blood thin?</a:t>
            </a:r>
            <a:endParaRPr lang="en-US" sz="3400" dirty="0"/>
          </a:p>
        </p:txBody>
      </p:sp>
      <p:graphicFrame>
        <p:nvGraphicFramePr>
          <p:cNvPr id="4" name="Chart 0" descr=""/>
          <p:cNvGraphicFramePr/>
          <p:nvPr/>
        </p:nvGraphicFramePr>
        <p:xfrm>
          <a:off x="7589520" y="1188720"/>
          <a:ext cx="4343400" cy="2651760"/>
        </p:xfrm>
        <a:graphic xmlns:a="http://schemas.openxmlformats.org/drawingml/2006/main">
          <a:graphicData uri="http://schemas.openxmlformats.org/drawingml/2006/chart">
            <c:chart xmlns:c="http://schemas.openxmlformats.org/drawingml/2006/chart" r:id="rId2"/>
          </a:graphicData>
        </a:graphic>
      </p:graphicFrame>
      <p:sp>
        <p:nvSpPr>
          <p:cNvPr id="5" name="Body"/>
          <p:cNvSpPr txBox="1"/>
          <p:nvPr/>
        </p:nvSpPr>
        <p:spPr>
          <a:xfrm>
            <a:off x="7680960" y="3886200"/>
            <a:ext cx="4206240" cy="1691640"/>
          </a:xfrm>
          <a:prstGeom prst="rect">
            <a:avLst/>
          </a:prstGeom>
          <a:noFill/>
          <a:ln/>
        </p:spPr>
        <p:txBody>
          <a:bodyPr wrap="square" lIns="50800" tIns="50800" rIns="50800" bIns="50800" rtlCol="0" anchor="t"/>
          <a:lstStyle/>
          <a:p>
            <a:pPr marL="228600" indent="-228600">
              <a:spcBef>
                <a:spcPts val="600"/>
              </a:spcBef>
              <a:buSzPct val="100000"/>
              <a:buChar char="–"/>
            </a:pPr>
            <a:r>
              <a:rPr lang="en-US" sz="1600" dirty="0">
                <a:solidFill>
                  <a:srgbClr val="000000"/>
                </a:solidFill>
                <a:latin typeface="Georgia" pitchFamily="34" charset="0"/>
                <a:ea typeface="Georgia" pitchFamily="34" charset="-122"/>
                <a:cs typeface="Georgia" pitchFamily="34" charset="-120"/>
              </a:rPr>
              <a:t>Most had a completely normal TEG, even with INRs up to 9.6</a:t>
            </a:r>
            <a:endParaRPr lang="en-US" sz="1600" dirty="0"/>
          </a:p>
          <a:p>
            <a:pPr marL="228600" indent="-228600">
              <a:spcBef>
                <a:spcPts val="600"/>
              </a:spcBef>
              <a:buSzPct val="100000"/>
              <a:buChar char="–"/>
            </a:pPr>
            <a:r>
              <a:rPr lang="en-US" sz="1600" dirty="0">
                <a:solidFill>
                  <a:srgbClr val="000000"/>
                </a:solidFill>
                <a:latin typeface="Georgia" pitchFamily="34" charset="0"/>
                <a:ea typeface="Georgia" pitchFamily="34" charset="-122"/>
                <a:cs typeface="Georgia" pitchFamily="34" charset="-120"/>
              </a:rPr>
              <a:t>A weak clot (low MA) only when platelets were below about 126,000</a:t>
            </a:r>
            <a:endParaRPr lang="en-US" sz="1600" dirty="0"/>
          </a:p>
          <a:p>
            <a:pPr marL="228600" indent="-228600">
              <a:spcBef>
                <a:spcPts val="600"/>
              </a:spcBef>
              <a:buSzPct val="100000"/>
              <a:buChar char="–"/>
            </a:pPr>
            <a:r>
              <a:rPr lang="en-US" sz="1600" dirty="0">
                <a:solidFill>
                  <a:srgbClr val="000000"/>
                </a:solidFill>
                <a:latin typeface="Georgia" pitchFamily="34" charset="0"/>
                <a:ea typeface="Georgia" pitchFamily="34" charset="-122"/>
                <a:cs typeface="Georgia" pitchFamily="34" charset="-120"/>
              </a:rPr>
              <a:t>Encephalopathy: stronger clots, not weaker</a:t>
            </a:r>
            <a:endParaRPr lang="en-US" sz="1600" dirty="0"/>
          </a:p>
        </p:txBody>
      </p:sp>
      <p:sp>
        <p:nvSpPr>
          <p:cNvPr id="6" name="Question"/>
          <p:cNvSpPr txBox="1"/>
          <p:nvPr/>
        </p:nvSpPr>
        <p:spPr>
          <a:xfrm>
            <a:off x="822960" y="580644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highlight>
                  <a:srgbClr val="FFFF00"/>
                </a:highlight>
                <a:latin typeface="Georgia" pitchFamily="34" charset="0"/>
                <a:ea typeface="Georgia" pitchFamily="34" charset="-122"/>
                <a:cs typeface="Georgia" pitchFamily="34" charset="-120"/>
              </a:rPr>
              <a:t>A high INR doesn't mean she will bleed</a:t>
            </a:r>
            <a:endParaRPr lang="en-US" sz="26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Stravitz RT et al. J Hepatol 2012;56:129-36 [PMID: 21703173]</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28/58</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Balance scale: low factors II, V, VII, IX, X, low fibrinogen and low platelets favor bleeding; low protein C, S and antithrombin and high factor VIII and von Willebrand factor favor clotting">    </p:cNvPr>
          <p:cNvPicPr>
            <a:picLocks noChangeAspect="1"/>
          </p:cNvPicPr>
          <p:nvPr/>
        </p:nvPicPr>
        <p:blipFill>
          <a:blip r:embed="rId1"/>
          <a:stretch>
            <a:fillRect/>
          </a:stretch>
        </p:blipFill>
        <p:spPr>
          <a:xfrm>
            <a:off x="-45720" y="0"/>
            <a:ext cx="12280392" cy="6858000"/>
          </a:xfrm>
          <a:prstGeom prst="rect">
            <a:avLst/>
          </a:prstGeom>
        </p:spPr>
      </p:pic>
      <p:sp>
        <p:nvSpPr>
          <p:cNvPr id="3" name="Source"/>
          <p:cNvSpPr txBox="1"/>
          <p:nvPr/>
        </p:nvSpPr>
        <p:spPr>
          <a:xfrm>
            <a:off x="365760" y="6510528"/>
            <a:ext cx="3657600" cy="256032"/>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Concept from Lisman T, Porte RJ. Blood 2010</a:t>
            </a:r>
            <a:endParaRPr lang="en-US" sz="10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29/58</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Calling nephrology</a:t>
            </a:r>
            <a:endParaRPr lang="en-US" sz="3000" dirty="0"/>
          </a:p>
        </p:txBody>
      </p:sp>
      <p:sp>
        <p:nvSpPr>
          <p:cNvPr id="3" name="Question"/>
          <p:cNvSpPr txBox="1"/>
          <p:nvPr/>
        </p:nvSpPr>
        <p:spPr>
          <a:xfrm>
            <a:off x="822960" y="2926080"/>
            <a:ext cx="10545775" cy="548640"/>
          </a:xfrm>
          <a:prstGeom prst="rect">
            <a:avLst/>
          </a:prstGeom>
          <a:noFill/>
          <a:ln/>
        </p:spPr>
        <p:txBody>
          <a:bodyPr wrap="square" lIns="0" tIns="0" rIns="0" bIns="0" rtlCol="0" anchor="ctr"/>
          <a:lstStyle/>
          <a:p>
            <a:pPr algn="ctr" indent="0" marL="0">
              <a:buNone/>
            </a:pPr>
            <a:r>
              <a:rPr lang="en-US" sz="3200" b="1" dirty="0">
                <a:solidFill>
                  <a:srgbClr val="000000"/>
                </a:solidFill>
                <a:latin typeface="Georgia" pitchFamily="34" charset="0"/>
                <a:ea typeface="Georgia" pitchFamily="34" charset="-122"/>
                <a:cs typeface="Georgia" pitchFamily="34" charset="-120"/>
              </a:rPr>
              <a:t>What do you ask them for?</a:t>
            </a:r>
            <a:endParaRPr lang="en-US" sz="3200" dirty="0"/>
          </a:p>
        </p:txBody>
      </p:sp>
      <p:sp>
        <p:nvSpPr>
          <p:cNvPr id="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30/58</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Calling nephrology</a:t>
            </a:r>
            <a:endParaRPr lang="en-US" sz="3000" dirty="0"/>
          </a:p>
        </p:txBody>
      </p:sp>
      <p:sp>
        <p:nvSpPr>
          <p:cNvPr id="3" name="Body"/>
          <p:cNvSpPr txBox="1"/>
          <p:nvPr/>
        </p:nvSpPr>
        <p:spPr>
          <a:xfrm>
            <a:off x="640080" y="1463040"/>
            <a:ext cx="7680960" cy="4389120"/>
          </a:xfrm>
          <a:prstGeom prst="rect">
            <a:avLst/>
          </a:prstGeom>
          <a:noFill/>
          <a:ln/>
        </p:spPr>
        <p:txBody>
          <a:bodyPr wrap="square" lIns="50800" tIns="50800" rIns="50800" bIns="50800" rtlCol="0" anchor="t"/>
          <a:lstStyle/>
          <a:p>
            <a:pPr marL="228600" indent="-228600">
              <a:spcBef>
                <a:spcPts val="1600"/>
              </a:spcBef>
              <a:buSzPct val="100000"/>
              <a:buChar char="–"/>
            </a:pPr>
            <a:r>
              <a:rPr lang="en-US" sz="2200" dirty="0">
                <a:solidFill>
                  <a:srgbClr val="000000"/>
                </a:solidFill>
                <a:latin typeface="Georgia" pitchFamily="34" charset="0"/>
                <a:ea typeface="Georgia" pitchFamily="34" charset="-122"/>
                <a:cs typeface="Georgia" pitchFamily="34" charset="-120"/>
              </a:rPr>
              <a:t>Indication: ammonia 214 and grade III encephalopathy. The creatinine doesn't matter here</a:t>
            </a:r>
            <a:endParaRPr lang="en-US" sz="2200" dirty="0"/>
          </a:p>
          <a:p>
            <a:pPr marL="228600" indent="-228600">
              <a:spcBef>
                <a:spcPts val="1600"/>
              </a:spcBef>
              <a:buSzPct val="100000"/>
              <a:buChar char="–"/>
            </a:pPr>
            <a:r>
              <a:rPr lang="en-US" sz="2200" dirty="0">
                <a:solidFill>
                  <a:srgbClr val="000000"/>
                </a:solidFill>
                <a:latin typeface="Georgia" pitchFamily="34" charset="0"/>
                <a:ea typeface="Georgia" pitchFamily="34" charset="-122"/>
                <a:cs typeface="Georgia" pitchFamily="34" charset="-120"/>
              </a:rPr>
              <a:t>Start now and keep it running. A clotted filter means the ammonia climbs back</a:t>
            </a:r>
            <a:endParaRPr lang="en-US" sz="2200" dirty="0"/>
          </a:p>
          <a:p>
            <a:pPr marL="228600" indent="-228600">
              <a:spcBef>
                <a:spcPts val="1600"/>
              </a:spcBef>
              <a:buSzPct val="100000"/>
              <a:buChar char="–"/>
            </a:pPr>
            <a:r>
              <a:rPr lang="en-US" sz="2200" dirty="0">
                <a:solidFill>
                  <a:srgbClr val="000000"/>
                </a:solidFill>
                <a:latin typeface="Georgia" pitchFamily="34" charset="0"/>
                <a:ea typeface="Georgia" pitchFamily="34" charset="-122"/>
                <a:cs typeface="Georgia" pitchFamily="34" charset="-120"/>
              </a:rPr>
              <a:t>One sodium plan: the CRRT fluid and the hypertonic saline together</a:t>
            </a:r>
            <a:endParaRPr lang="en-US" sz="2200" dirty="0"/>
          </a:p>
          <a:p>
            <a:pPr marL="228600" indent="-228600">
              <a:spcBef>
                <a:spcPts val="1600"/>
              </a:spcBef>
              <a:buSzPct val="100000"/>
              <a:buChar char="–"/>
            </a:pPr>
            <a:r>
              <a:rPr lang="en-US" sz="2200" dirty="0">
                <a:solidFill>
                  <a:srgbClr val="000000"/>
                </a:solidFill>
                <a:latin typeface="Georgia" pitchFamily="34" charset="0"/>
                <a:ea typeface="Georgia" pitchFamily="34" charset="-122"/>
                <a:cs typeface="Georgia" pitchFamily="34" charset="-120"/>
              </a:rPr>
              <a:t>Watch phosphate and potassium, and calcium if they use citrate</a:t>
            </a:r>
            <a:endParaRPr lang="en-US" sz="2200" dirty="0"/>
          </a:p>
        </p:txBody>
      </p:sp>
      <p:pic>
        <p:nvPicPr>
          <p:cNvPr id="4" name="Image 0" descr="Watercolor of a CRRT machine with filter and circuit">    </p:cNvPr>
          <p:cNvPicPr>
            <a:picLocks noChangeAspect="1"/>
          </p:cNvPicPr>
          <p:nvPr/>
        </p:nvPicPr>
        <p:blipFill>
          <a:blip r:embed="rId1"/>
          <a:stretch>
            <a:fillRect/>
          </a:stretch>
        </p:blipFill>
        <p:spPr>
          <a:xfrm>
            <a:off x="8946130" y="1188720"/>
            <a:ext cx="2407420" cy="5029200"/>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ACG ALF 2023 [PMID: 37377263]; update 2022 [PMID: 36001996]</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30/58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731520" y="2377440"/>
            <a:ext cx="10728655" cy="1280160"/>
          </a:xfrm>
          <a:prstGeom prst="rect">
            <a:avLst/>
          </a:prstGeom>
          <a:noFill/>
          <a:ln/>
        </p:spPr>
        <p:txBody>
          <a:bodyPr wrap="square" lIns="0" tIns="0" rIns="0" bIns="0" rtlCol="0" anchor="ctr"/>
          <a:lstStyle/>
          <a:p>
            <a:pPr algn="ctr" indent="0" marL="0">
              <a:buNone/>
            </a:pPr>
            <a:r>
              <a:rPr lang="en-US" sz="4400" i="1" dirty="0">
                <a:solidFill>
                  <a:srgbClr val="000000"/>
                </a:solidFill>
                <a:latin typeface="Georgia" pitchFamily="34" charset="0"/>
                <a:ea typeface="Georgia" pitchFamily="34" charset="-122"/>
                <a:cs typeface="Georgia" pitchFamily="34" charset="-120"/>
              </a:rPr>
              <a:t>I know what you're thinking...</a:t>
            </a:r>
            <a:endParaRPr lang="en-US" sz="4400" dirty="0"/>
          </a:p>
        </p:txBody>
      </p:sp>
      <p:sp>
        <p:nvSpPr>
          <p:cNvPr id="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31/58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"CVVH doesn't clear ammonia"</a:t>
            </a:r>
            <a:endParaRPr lang="en-US" sz="3000" dirty="0"/>
          </a:p>
        </p:txBody>
      </p:sp>
      <p:sp>
        <p:nvSpPr>
          <p:cNvPr id="3" name="Question"/>
          <p:cNvSpPr txBox="1"/>
          <p:nvPr/>
        </p:nvSpPr>
        <p:spPr>
          <a:xfrm>
            <a:off x="822960" y="2926080"/>
            <a:ext cx="10545775" cy="548640"/>
          </a:xfrm>
          <a:prstGeom prst="rect">
            <a:avLst/>
          </a:prstGeom>
          <a:noFill/>
          <a:ln/>
        </p:spPr>
        <p:txBody>
          <a:bodyPr wrap="square" lIns="0" tIns="0" rIns="0" bIns="0" rtlCol="0" anchor="ctr"/>
          <a:lstStyle/>
          <a:p>
            <a:pPr algn="ctr" indent="0" marL="0">
              <a:buNone/>
            </a:pPr>
            <a:r>
              <a:rPr lang="en-US" sz="3200" b="1" dirty="0">
                <a:solidFill>
                  <a:srgbClr val="000000"/>
                </a:solidFill>
                <a:latin typeface="Georgia" pitchFamily="34" charset="0"/>
                <a:ea typeface="Georgia" pitchFamily="34" charset="-122"/>
                <a:cs typeface="Georgia" pitchFamily="34" charset="-120"/>
              </a:rPr>
              <a:t>True or false?</a:t>
            </a:r>
            <a:endParaRPr lang="en-US" sz="3200" dirty="0"/>
          </a:p>
        </p:txBody>
      </p:sp>
      <p:sp>
        <p:nvSpPr>
          <p:cNvPr id="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32/58</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Dwight Schrute: False.">    </p:cNvPr>
          <p:cNvPicPr>
            <a:picLocks noChangeAspect="1"/>
          </p:cNvPicPr>
          <p:nvPr/>
        </p:nvPicPr>
        <p:blipFill>
          <a:blip r:embed="rId1"/>
          <a:stretch>
            <a:fillRect/>
          </a:stretch>
        </p:blipFill>
        <p:spPr>
          <a:xfrm>
            <a:off x="1565914" y="411480"/>
            <a:ext cx="9059866" cy="6035040"/>
          </a:xfrm>
          <a:prstGeom prst="rect">
            <a:avLst/>
          </a:prstGeom>
        </p:spPr>
      </p:pic>
      <p:sp>
        <p:nvSpPr>
          <p:cNvPr id="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32/58</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"CVVH doesn't clear ammonia"</a:t>
            </a:r>
            <a:endParaRPr lang="en-US" sz="3000" dirty="0"/>
          </a:p>
        </p:txBody>
      </p:sp>
      <p:sp>
        <p:nvSpPr>
          <p:cNvPr id="3" name="Body"/>
          <p:cNvSpPr txBox="1"/>
          <p:nvPr/>
        </p:nvSpPr>
        <p:spPr>
          <a:xfrm>
            <a:off x="640080" y="1280160"/>
            <a:ext cx="6035040" cy="3931920"/>
          </a:xfrm>
          <a:prstGeom prst="rect">
            <a:avLst/>
          </a:prstGeom>
          <a:noFill/>
          <a:ln/>
        </p:spPr>
        <p:txBody>
          <a:bodyPr wrap="square" lIns="50800" tIns="50800" rIns="50800" bIns="50800" rtlCol="0" anchor="t"/>
          <a:lstStyle/>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Ammonia is tiny (17 Da), water soluble and not protein bound</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It crosses the filter with the water (convection, CVVH) or down its gradient (diffusion, CVVHD)</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What matters is the effluent dose and hours on a working circuit, more than the mode</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More effluent, more clearance: </a:t>
            </a:r>
            <a:r>
              <a:rPr lang="en-US" sz="1900" b="1" dirty="0">
                <a:solidFill>
                  <a:srgbClr val="000000"/>
                </a:solidFill>
                <a:latin typeface="Georgia" pitchFamily="34" charset="0"/>
                <a:ea typeface="Georgia" pitchFamily="34" charset="-122"/>
                <a:cs typeface="Georgia" pitchFamily="34" charset="-120"/>
              </a:rPr>
              <a:t>90 vs 35 mL/kg/h</a:t>
            </a:r>
            <a:r>
              <a:rPr lang="en-US" sz="1900" dirty="0">
                <a:solidFill>
                  <a:srgbClr val="000000"/>
                </a:solidFill>
                <a:latin typeface="Georgia" pitchFamily="34" charset="0"/>
                <a:ea typeface="Georgia" pitchFamily="34" charset="-122"/>
                <a:cs typeface="Georgia" pitchFamily="34" charset="-120"/>
              </a:rPr>
              <a:t> (Slack 2014)</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54 ALF patients on CRRT: median ammonia </a:t>
            </a:r>
            <a:r>
              <a:rPr lang="en-US" sz="1900" b="1" dirty="0">
                <a:solidFill>
                  <a:srgbClr val="000000"/>
                </a:solidFill>
                <a:latin typeface="Georgia" pitchFamily="34" charset="0"/>
                <a:ea typeface="Georgia" pitchFamily="34" charset="-122"/>
                <a:cs typeface="Georgia" pitchFamily="34" charset="-120"/>
              </a:rPr>
              <a:t>151 → 52 μmol/L</a:t>
            </a:r>
            <a:r>
              <a:rPr lang="en-US" sz="1900" dirty="0">
                <a:solidFill>
                  <a:srgbClr val="000000"/>
                </a:solidFill>
                <a:latin typeface="Georgia" pitchFamily="34" charset="0"/>
                <a:ea typeface="Georgia" pitchFamily="34" charset="-122"/>
                <a:cs typeface="Georgia" pitchFamily="34" charset="-120"/>
              </a:rPr>
              <a:t> by day 5 (Warrillow 2020)</a:t>
            </a:r>
            <a:endParaRPr lang="en-US" sz="1900" dirty="0"/>
          </a:p>
        </p:txBody>
      </p:sp>
      <p:graphicFrame>
        <p:nvGraphicFramePr>
          <p:cNvPr id="4" name="Chart 0" descr=""/>
          <p:cNvGraphicFramePr/>
          <p:nvPr/>
        </p:nvGraphicFramePr>
        <p:xfrm>
          <a:off x="6858000" y="1234440"/>
          <a:ext cx="4846320" cy="3931920"/>
        </p:xfrm>
        <a:graphic xmlns:a="http://schemas.openxmlformats.org/drawingml/2006/main">
          <a:graphicData uri="http://schemas.openxmlformats.org/drawingml/2006/chart">
            <c:chart xmlns:c="http://schemas.openxmlformats.org/drawingml/2006/chart" r:id="rId1"/>
          </a:graphicData>
        </a:graphic>
      </p:graphicFrame>
      <p:sp>
        <p:nvSpPr>
          <p:cNvPr id="5" name="Question"/>
          <p:cNvSpPr txBox="1"/>
          <p:nvPr/>
        </p:nvSpPr>
        <p:spPr>
          <a:xfrm>
            <a:off x="822960" y="5394960"/>
            <a:ext cx="10545775" cy="548640"/>
          </a:xfrm>
          <a:prstGeom prst="rect">
            <a:avLst/>
          </a:prstGeom>
          <a:noFill/>
          <a:ln/>
        </p:spPr>
        <p:txBody>
          <a:bodyPr wrap="square" lIns="0" tIns="0" rIns="0" bIns="0" rtlCol="0" anchor="ctr"/>
          <a:lstStyle/>
          <a:p>
            <a:pPr algn="ctr" indent="0" marL="0">
              <a:buNone/>
            </a:pPr>
            <a:r>
              <a:rPr lang="en-US" sz="2100" b="1" dirty="0">
                <a:solidFill>
                  <a:srgbClr val="000000"/>
                </a:solidFill>
                <a:highlight>
                  <a:srgbClr val="FFFF00"/>
                </a:highlight>
                <a:latin typeface="Georgia" pitchFamily="34" charset="0"/>
                <a:ea typeface="Georgia" pitchFamily="34" charset="-122"/>
                <a:cs typeface="Georgia" pitchFamily="34" charset="-120"/>
              </a:rPr>
              <a:t>It does. About half the clearance of urea, so dose and filter life matter</a:t>
            </a:r>
            <a:endParaRPr lang="en-US" sz="21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Fisher C et al. Blood Purif 2022 [PMID: 35042216]; Warrillow SJ et al. Crit Care Med 2020 [PMID: 31939790]; Slack AJ et al. Liver Int 2014</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32/58</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early CRRT actually help?</a:t>
            </a:r>
            <a:endParaRPr lang="en-US" sz="3000" dirty="0"/>
          </a:p>
        </p:txBody>
      </p:sp>
      <p:graphicFrame>
        <p:nvGraphicFramePr>
          <p:cNvPr id="54" name="Table"/>
          <p:cNvGraphicFramePr>
            <a:graphicFrameLocks noGrp="1"/>
          </p:cNvGraphicFramePr>
          <p:nvPr>
            <p:extLst>
              <p:ext uri="{D42A27DB-BD31-4B8C-83A1-F6EECF244321}">
                <p14:modId xmlns:p14="http://schemas.microsoft.com/office/powerpoint/2010/main" val="1579011935"/>
              </p:ext>
            </p:extLst>
          </p:nvPr>
        </p:nvGraphicFramePr>
        <p:xfrm>
          <a:off x="640080" y="1371600"/>
          <a:ext cx="10911535" cy="914400"/>
        </p:xfrm>
        <a:graphic>
          <a:graphicData uri="http://schemas.openxmlformats.org/drawingml/2006/table">
            <a:tbl>
              <a:tblPr/>
              <a:tblGrid>
                <a:gridCol w="1627632"/>
                <a:gridCol w="3913632"/>
                <a:gridCol w="5367528"/>
              </a:tblGrid>
              <a:tr h="499262">
                <a:tc>
                  <a:txBody>
                    <a:bodyPr/>
                    <a:lstStyle/>
                    <a:p>
                      <a:pPr algn="l"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US ALF Study Group (2018)</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Pilot RCT (2026)</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99262">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Design</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Registry, observational</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Open label, ALF with cerebral edema</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99262">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Comparison</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CRRT vs no CRRT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CRRT within 12 h vs delayed</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99262">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Finding</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99262">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Catch</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Cardoso FS et al. Hepatology 2018 [PMID: 28859230]; Aliment Pharmacol Ther 2026 [PMID: 42332991]</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33/58</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early CRRT actually help?</a:t>
            </a:r>
            <a:endParaRPr lang="en-US" sz="3000" dirty="0"/>
          </a:p>
        </p:txBody>
      </p:sp>
      <p:graphicFrame>
        <p:nvGraphicFramePr>
          <p:cNvPr id="55" name="Table"/>
          <p:cNvGraphicFramePr>
            <a:graphicFrameLocks noGrp="1"/>
          </p:cNvGraphicFramePr>
          <p:nvPr>
            <p:extLst>
              <p:ext uri="{D42A27DB-BD31-4B8C-83A1-F6EECF244321}">
                <p14:modId xmlns:p14="http://schemas.microsoft.com/office/powerpoint/2010/main" val="1579011935"/>
              </p:ext>
            </p:extLst>
          </p:nvPr>
        </p:nvGraphicFramePr>
        <p:xfrm>
          <a:off x="640080" y="1371600"/>
          <a:ext cx="10911535" cy="914400"/>
        </p:xfrm>
        <a:graphic>
          <a:graphicData uri="http://schemas.openxmlformats.org/drawingml/2006/table">
            <a:tbl>
              <a:tblPr/>
              <a:tblGrid>
                <a:gridCol w="1627632"/>
                <a:gridCol w="3913632"/>
                <a:gridCol w="5367528"/>
              </a:tblGrid>
              <a:tr h="499262">
                <a:tc>
                  <a:txBody>
                    <a:bodyPr/>
                    <a:lstStyle/>
                    <a:p>
                      <a:pPr algn="l"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US ALF Study Group (2018)</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Pilot RCT (2026)</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99262">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Design</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Registry, observational</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Open label, ALF with cerebral edema</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99262">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Comparison</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CRRT vs no CRRT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CRRT within 12 h vs delayed</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99262">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Finding</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Lower ammonia, better survival</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Same 28-day survival; fewer deaths by day 7</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99262">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Catch</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Association; selection bias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Small, one center, protocol violations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Cardoso FS et al. Hepatology 2018 [PMID: 28859230]; Aliment Pharmacol Ther 2026 [PMID: 42332991]</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33/58</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Day 3: the enzymes are falling</a:t>
            </a:r>
            <a:endParaRPr lang="en-US" sz="3000" dirty="0"/>
          </a:p>
        </p:txBody>
      </p:sp>
      <p:graphicFrame>
        <p:nvGraphicFramePr>
          <p:cNvPr id="3" name="Chart 0" descr=""/>
          <p:cNvGraphicFramePr/>
          <p:nvPr/>
        </p:nvGraphicFramePr>
        <p:xfrm>
          <a:off x="548640" y="1234440"/>
          <a:ext cx="5486400" cy="3931920"/>
        </p:xfrm>
        <a:graphic xmlns:a="http://schemas.openxmlformats.org/drawingml/2006/main">
          <a:graphicData uri="http://schemas.openxmlformats.org/drawingml/2006/chart">
            <c:chart xmlns:c="http://schemas.openxmlformats.org/drawingml/2006/chart" r:id="rId1"/>
          </a:graphicData>
        </a:graphic>
      </p:graphicFrame>
      <p:sp>
        <p:nvSpPr>
          <p:cNvPr id="4" name="Question"/>
          <p:cNvSpPr txBox="1"/>
          <p:nvPr/>
        </p:nvSpPr>
        <p:spPr>
          <a:xfrm>
            <a:off x="6583680" y="2743200"/>
            <a:ext cx="4937760" cy="914400"/>
          </a:xfrm>
          <a:prstGeom prst="rect">
            <a:avLst/>
          </a:prstGeom>
          <a:noFill/>
          <a:ln/>
        </p:spPr>
        <p:txBody>
          <a:bodyPr wrap="square" lIns="0" tIns="0" rIns="0" bIns="0" rtlCol="0" anchor="ctr"/>
          <a:lstStyle/>
          <a:p>
            <a:pPr algn="ctr" indent="0" marL="0">
              <a:buNone/>
            </a:pPr>
            <a:r>
              <a:rPr lang="en-US" sz="3000" b="1" dirty="0">
                <a:solidFill>
                  <a:srgbClr val="000000"/>
                </a:solidFill>
                <a:latin typeface="Georgia" pitchFamily="34" charset="0"/>
                <a:ea typeface="Georgia" pitchFamily="34" charset="-122"/>
                <a:cs typeface="Georgia" pitchFamily="34" charset="-120"/>
              </a:rPr>
              <a:t>Is she getting better?</a:t>
            </a:r>
            <a:endParaRPr lang="en-US" sz="3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34/58</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Day 3: the enzymes are falling</a:t>
            </a:r>
            <a:endParaRPr lang="en-US" sz="3000" dirty="0"/>
          </a:p>
        </p:txBody>
      </p:sp>
      <p:graphicFrame>
        <p:nvGraphicFramePr>
          <p:cNvPr id="3" name="Chart 0" descr=""/>
          <p:cNvGraphicFramePr/>
          <p:nvPr/>
        </p:nvGraphicFramePr>
        <p:xfrm>
          <a:off x="548640" y="1234440"/>
          <a:ext cx="54864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234440"/>
          <a:ext cx="5486400" cy="3931920"/>
        </p:xfrm>
        <a:graphic xmlns:a="http://schemas.openxmlformats.org/drawingml/2006/main">
          <a:graphicData uri="http://schemas.openxmlformats.org/drawingml/2006/chart">
            <c:chart xmlns:c="http://schemas.openxmlformats.org/drawingml/2006/chart" r:id="rId2"/>
          </a:graphicData>
        </a:graphic>
      </p:graphicFrame>
      <p:sp>
        <p:nvSpPr>
          <p:cNvPr id="5" name="Body"/>
          <p:cNvSpPr txBox="1"/>
          <p:nvPr/>
        </p:nvSpPr>
        <p:spPr>
          <a:xfrm>
            <a:off x="6217920" y="5138928"/>
            <a:ext cx="5486400" cy="411480"/>
          </a:xfrm>
          <a:prstGeom prst="rect">
            <a:avLst/>
          </a:prstGeom>
          <a:noFill/>
          <a:ln/>
        </p:spPr>
        <p:txBody>
          <a:bodyPr wrap="square" lIns="50800" tIns="50800" rIns="50800" bIns="50800" rtlCol="0" anchor="t"/>
          <a:lstStyle/>
          <a:p>
            <a:pPr algn="ctr" indent="0" marL="0">
              <a:spcBef>
                <a:spcPts val="800"/>
              </a:spcBef>
              <a:buNone/>
            </a:pPr>
            <a:r>
              <a:rPr lang="en-US" sz="1700" i="1" dirty="0">
                <a:solidFill>
                  <a:srgbClr val="000000"/>
                </a:solidFill>
                <a:latin typeface="Georgia" pitchFamily="34" charset="0"/>
                <a:ea typeface="Georgia" pitchFamily="34" charset="-122"/>
                <a:cs typeface="Georgia" pitchFamily="34" charset="-120"/>
              </a:rPr>
              <a:t>Day 2 arterial pH 7.26 after fluids</a:t>
            </a:r>
            <a:endParaRPr lang="en-US" sz="1700" dirty="0"/>
          </a:p>
        </p:txBody>
      </p:sp>
      <p:sp>
        <p:nvSpPr>
          <p:cNvPr id="6" name="Question"/>
          <p:cNvSpPr txBox="1"/>
          <p:nvPr/>
        </p:nvSpPr>
        <p:spPr>
          <a:xfrm>
            <a:off x="822960" y="562356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No. The INR, the lactate and her brain are all worse</a:t>
            </a:r>
            <a:endParaRPr lang="en-US" sz="24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Made-up numbers for teaching</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34/58</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When do you call transplant hepatology?</a:t>
            </a:r>
            <a:endParaRPr lang="en-US" sz="3000" dirty="0"/>
          </a:p>
        </p:txBody>
      </p:sp>
      <p:sp>
        <p:nvSpPr>
          <p:cNvPr id="3" name="Question"/>
          <p:cNvSpPr txBox="1"/>
          <p:nvPr/>
        </p:nvSpPr>
        <p:spPr>
          <a:xfrm>
            <a:off x="822960" y="141732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When she meets King's College criteria?</a:t>
            </a:r>
            <a:endParaRPr lang="en-US" sz="2800" dirty="0"/>
          </a:p>
        </p:txBody>
      </p:sp>
      <p:sp>
        <p:nvSpPr>
          <p:cNvPr id="4" name="Question"/>
          <p:cNvSpPr txBox="1"/>
          <p:nvPr/>
        </p:nvSpPr>
        <p:spPr>
          <a:xfrm>
            <a:off x="822960" y="205740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When MELD is high enough?</a:t>
            </a:r>
            <a:endParaRPr lang="en-US" sz="2800" dirty="0"/>
          </a:p>
        </p:txBody>
      </p:sp>
      <p:pic>
        <p:nvPicPr>
          <p:cNvPr id="5" name="Image 0" descr="Watercolor of a desk phone with the handset off the hook">    </p:cNvPr>
          <p:cNvPicPr>
            <a:picLocks noChangeAspect="1"/>
          </p:cNvPicPr>
          <p:nvPr/>
        </p:nvPicPr>
        <p:blipFill>
          <a:blip r:embed="rId1"/>
          <a:stretch>
            <a:fillRect/>
          </a:stretch>
        </p:blipFill>
        <p:spPr>
          <a:xfrm>
            <a:off x="4045971" y="2788920"/>
            <a:ext cx="4099753" cy="3520440"/>
          </a:xfrm>
          <a:prstGeom prst="rect">
            <a:avLst/>
          </a:prstGeom>
        </p:spPr>
      </p:pic>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35/58</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When do you call transplant hepatology?</a:t>
            </a:r>
            <a:endParaRPr lang="en-US" sz="3000" dirty="0"/>
          </a:p>
        </p:txBody>
      </p:sp>
      <p:sp>
        <p:nvSpPr>
          <p:cNvPr id="3" name="Question"/>
          <p:cNvSpPr txBox="1"/>
          <p:nvPr/>
        </p:nvSpPr>
        <p:spPr>
          <a:xfrm>
            <a:off x="822960" y="14630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You should have called on admission, when you first suspected ALF</a:t>
            </a:r>
            <a:endParaRPr lang="en-US" sz="2400" dirty="0"/>
          </a:p>
        </p:txBody>
      </p:sp>
      <p:sp>
        <p:nvSpPr>
          <p:cNvPr id="4" name="Body"/>
          <p:cNvSpPr txBox="1"/>
          <p:nvPr/>
        </p:nvSpPr>
        <p:spPr>
          <a:xfrm>
            <a:off x="822960" y="2377440"/>
            <a:ext cx="7132320" cy="3108960"/>
          </a:xfrm>
          <a:prstGeom prst="rect">
            <a:avLst/>
          </a:prstGeom>
          <a:noFill/>
          <a:ln/>
        </p:spPr>
        <p:txBody>
          <a:bodyPr wrap="square" lIns="50800" tIns="50800" rIns="50800" bIns="50800" rtlCol="0" anchor="t"/>
          <a:lstStyle/>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King's College criteria predict death without transplant. They are specific, not sensitive</a:t>
            </a:r>
            <a:endParaRPr lang="en-US" sz="2000" dirty="0"/>
          </a:p>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They are not a referral threshold. If you wait for them, the evaluation starts too late</a:t>
            </a:r>
            <a:endParaRPr lang="en-US" sz="2000" dirty="0"/>
          </a:p>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Patient A: arterial pH </a:t>
            </a:r>
            <a:r>
              <a:rPr lang="en-US" sz="2000" b="1" dirty="0">
                <a:solidFill>
                  <a:srgbClr val="C00000"/>
                </a:solidFill>
                <a:latin typeface="Georgia" pitchFamily="34" charset="0"/>
                <a:ea typeface="Georgia" pitchFamily="34" charset="-122"/>
                <a:cs typeface="Georgia" pitchFamily="34" charset="-120"/>
              </a:rPr>
              <a:t>7.26</a:t>
            </a:r>
            <a:r>
              <a:rPr lang="en-US" sz="2000" dirty="0">
                <a:solidFill>
                  <a:srgbClr val="000000"/>
                </a:solidFill>
                <a:latin typeface="Georgia" pitchFamily="34" charset="0"/>
                <a:ea typeface="Georgia" pitchFamily="34" charset="-122"/>
                <a:cs typeface="Georgia" pitchFamily="34" charset="-120"/>
              </a:rPr>
              <a:t> on day 2 after fluids. She now meets the acetaminophen criteria</a:t>
            </a:r>
            <a:endParaRPr lang="en-US" sz="2000" dirty="0"/>
          </a:p>
        </p:txBody>
      </p:sp>
      <p:pic>
        <p:nvPicPr>
          <p:cNvPr id="5" name="Image 0" descr="Watercolor of a desk phone with the handset off the hook">    </p:cNvPr>
          <p:cNvPicPr>
            <a:picLocks noChangeAspect="1"/>
          </p:cNvPicPr>
          <p:nvPr/>
        </p:nvPicPr>
        <p:blipFill>
          <a:blip r:embed="rId1"/>
          <a:stretch>
            <a:fillRect/>
          </a:stretch>
        </p:blipFill>
        <p:spPr>
          <a:xfrm>
            <a:off x="7863840" y="2286000"/>
            <a:ext cx="4023360" cy="3454842"/>
          </a:xfrm>
          <a:prstGeom prst="rect">
            <a:avLst/>
          </a:prstGeom>
        </p:spPr>
      </p:pic>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O'Grady 1989 criteria, as summarized in EASL 2017 [PMID: 28417882]; full criteria in the appendix</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35/58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plasma exchange help in ALF?</a:t>
            </a:r>
            <a:endParaRPr lang="en-US" sz="3000" dirty="0"/>
          </a:p>
        </p:txBody>
      </p:sp>
      <p:graphicFrame>
        <p:nvGraphicFramePr>
          <p:cNvPr id="60" name="Table"/>
          <p:cNvGraphicFramePr>
            <a:graphicFrameLocks noGrp="1"/>
          </p:cNvGraphicFramePr>
          <p:nvPr>
            <p:extLst>
              <p:ext uri="{D42A27DB-BD31-4B8C-83A1-F6EECF244321}">
                <p14:modId xmlns:p14="http://schemas.microsoft.com/office/powerpoint/2010/main" val="1579011935"/>
              </p:ext>
            </p:extLst>
          </p:nvPr>
        </p:nvGraphicFramePr>
        <p:xfrm>
          <a:off x="365760" y="1371600"/>
          <a:ext cx="7955280" cy="914400"/>
        </p:xfrm>
        <a:graphic>
          <a:graphicData uri="http://schemas.openxmlformats.org/drawingml/2006/table">
            <a:tbl>
              <a:tblPr/>
              <a:tblGrid>
                <a:gridCol w="2103120"/>
                <a:gridCol w="2916936"/>
                <a:gridCol w="2935224"/>
              </a:tblGrid>
              <a:tr h="640080">
                <a:tc>
                  <a:txBody>
                    <a:bodyPr/>
                    <a:lstStyle/>
                    <a:p>
                      <a:pPr algn="l" indent="0" marL="0">
                        <a:buNone/>
                      </a:pP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Larsen 2016</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Burke 2025</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64008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Design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RCT, 182 ALF</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UK, 7 centers, 378 ALF</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4008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Plasma exchange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High volume × 3 days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120 patients, matched</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4008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Survival</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58.7% vs 47.8% (HR 0.56)</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51.4% vs 62.6% (p = 0.12)</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4008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Catch</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Not blinded; no ACLF</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Retrospective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365760" y="5120640"/>
            <a:ext cx="7955280"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Better blood pressure, no proven survival benefit</a:t>
            </a:r>
            <a:endParaRPr lang="en-US" sz="2200" dirty="0"/>
          </a:p>
        </p:txBody>
      </p:sp>
      <p:pic>
        <p:nvPicPr>
          <p:cNvPr id="5" name="Image 0" descr="Watercolor of an apheresis machine for plasma exchange">    </p:cNvPr>
          <p:cNvPicPr>
            <a:picLocks noChangeAspect="1"/>
          </p:cNvPicPr>
          <p:nvPr/>
        </p:nvPicPr>
        <p:blipFill>
          <a:blip r:embed="rId1"/>
          <a:stretch>
            <a:fillRect/>
          </a:stretch>
        </p:blipFill>
        <p:spPr>
          <a:xfrm>
            <a:off x="8503920" y="1143000"/>
            <a:ext cx="3429000" cy="4316674"/>
          </a:xfrm>
          <a:prstGeom prst="rect">
            <a:avLst/>
          </a:prstGeom>
        </p:spPr>
      </p:pic>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Larsen FS et al. J Hepatol 2016 [PMID: 26325537]; Burke L et al. J Hepatol 2025;82:615-21 [PMID: 39362282]</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36/58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Bed 4 on day 3</a:t>
            </a:r>
            <a:endParaRPr lang="en-US" sz="3000" dirty="0"/>
          </a:p>
        </p:txBody>
      </p:sp>
      <p:graphicFrame>
        <p:nvGraphicFramePr>
          <p:cNvPr id="61" name="Table"/>
          <p:cNvGraphicFramePr>
            <a:graphicFrameLocks noGrp="1"/>
          </p:cNvGraphicFramePr>
          <p:nvPr>
            <p:extLst>
              <p:ext uri="{D42A27DB-BD31-4B8C-83A1-F6EECF244321}">
                <p14:modId xmlns:p14="http://schemas.microsoft.com/office/powerpoint/2010/main" val="1579011935"/>
              </p:ext>
            </p:extLst>
          </p:nvPr>
        </p:nvGraphicFramePr>
        <p:xfrm>
          <a:off x="640080" y="1280160"/>
          <a:ext cx="10911535" cy="914400"/>
        </p:xfrm>
        <a:graphic>
          <a:graphicData uri="http://schemas.openxmlformats.org/drawingml/2006/table">
            <a:tbl>
              <a:tblPr/>
              <a:tblGrid>
                <a:gridCol w="3282696"/>
                <a:gridCol w="4654296"/>
                <a:gridCol w="2971800"/>
              </a:tblGrid>
              <a:tr h="54864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Problem</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What she's 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What we watch</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Acetaminophen ALF, pH 7.26</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NAC; listed 1A on day 2</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Time to an offer</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HE III-IV, ammonia 182</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Intubated, CO2 normal, Na 145-155, CRRT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Pupils, ammonia, Na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Lactate 5.8 and rising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Volume, MAP, look for infection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Lactate, MAP, pressors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INR 5.6, not bleeding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No plasma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Bleeding, INR trend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Infection risk</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Surveillance cultures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Low bar for antimicrobials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Made-up numbers for teaching</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37/58</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Image 0" descr="Watercolor of a coiled stethoscope on ivory pap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731520" y="1737360"/>
            <a:ext cx="10728655" cy="1280160"/>
          </a:xfrm>
          <a:prstGeom prst="rect">
            <a:avLst/>
          </a:prstGeom>
          <a:noFill/>
          <a:ln/>
        </p:spPr>
        <p:txBody>
          <a:bodyPr wrap="square" lIns="0" tIns="0" rIns="0" bIns="0" rtlCol="0" anchor="ctr"/>
          <a:lstStyle/>
          <a:p>
            <a:pPr algn="ctr" indent="0" marL="0">
              <a:buNone/>
            </a:pPr>
            <a:r>
              <a:rPr lang="en-US" sz="4800" dirty="0">
                <a:solidFill>
                  <a:srgbClr val="000000"/>
                </a:solidFill>
                <a:latin typeface="Georgia" pitchFamily="34" charset="0"/>
                <a:ea typeface="Georgia" pitchFamily="34" charset="-122"/>
                <a:cs typeface="Georgia" pitchFamily="34" charset="-120"/>
              </a:rPr>
              <a:t>Any questions so far?</a:t>
            </a:r>
            <a:endParaRPr lang="en-US" sz="4800" dirty="0"/>
          </a:p>
        </p:txBody>
      </p:sp>
      <p:sp>
        <p:nvSpPr>
          <p:cNvPr id="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38/58</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2" name="Image 0" descr="Watercolor of a shrunken nodular cirrhotic liv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548640" y="1417320"/>
            <a:ext cx="5212080" cy="2011680"/>
          </a:xfrm>
          <a:prstGeom prst="rect">
            <a:avLst/>
          </a:prstGeom>
          <a:noFill/>
          <a:ln/>
        </p:spPr>
        <p:txBody>
          <a:bodyPr wrap="square" lIns="0" tIns="0" rIns="0" bIns="0" rtlCol="0" anchor="b"/>
          <a:lstStyle/>
          <a:p>
            <a:pPr algn="ctr" indent="0" marL="0">
              <a:buNone/>
            </a:pPr>
            <a:r>
              <a:rPr lang="en-US" sz="4800" dirty="0">
                <a:solidFill>
                  <a:srgbClr val="000000"/>
                </a:solidFill>
                <a:latin typeface="Georgia" pitchFamily="34" charset="0"/>
                <a:ea typeface="Georgia" pitchFamily="34" charset="-122"/>
                <a:cs typeface="Georgia" pitchFamily="34" charset="-120"/>
              </a:rPr>
              <a:t>Bed 7</a:t>
            </a:r>
            <a:endParaRPr lang="en-US" sz="4800" dirty="0"/>
          </a:p>
        </p:txBody>
      </p:sp>
      <p:sp>
        <p:nvSpPr>
          <p:cNvPr id="4" name="Text 1"/>
          <p:cNvSpPr txBox="1"/>
          <p:nvPr/>
        </p:nvSpPr>
        <p:spPr>
          <a:xfrm>
            <a:off x="548640" y="3429000"/>
            <a:ext cx="5212080" cy="548640"/>
          </a:xfrm>
          <a:prstGeom prst="rect">
            <a:avLst/>
          </a:prstGeom>
          <a:noFill/>
          <a:ln/>
        </p:spPr>
        <p:txBody>
          <a:bodyPr wrap="square" lIns="0" tIns="0" rIns="0" bIns="0" rtlCol="0" anchor="ctr"/>
          <a:lstStyle/>
          <a:p>
            <a:pPr algn="ctr" indent="0" marL="0">
              <a:buNone/>
            </a:pPr>
            <a:r>
              <a:rPr lang="en-US" sz="2400" dirty="0">
                <a:solidFill>
                  <a:srgbClr val="595959"/>
                </a:solidFill>
                <a:latin typeface="Georgia" pitchFamily="34" charset="0"/>
                <a:ea typeface="Georgia" pitchFamily="34" charset="-122"/>
                <a:cs typeface="Georgia" pitchFamily="34" charset="-120"/>
              </a:rPr>
              <a:t>56M, cirrhosis and fever</a:t>
            </a:r>
            <a:endParaRPr lang="en-US" sz="24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39/58</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56M, cirrhosis and fever</a:t>
            </a:r>
            <a:endParaRPr lang="en-US" sz="3000" dirty="0"/>
          </a:p>
        </p:txBody>
      </p:sp>
      <p:sp>
        <p:nvSpPr>
          <p:cNvPr id="3" name="Body"/>
          <p:cNvSpPr txBox="1"/>
          <p:nvPr/>
        </p:nvSpPr>
        <p:spPr>
          <a:xfrm>
            <a:off x="640080" y="1371600"/>
            <a:ext cx="5852160" cy="3383280"/>
          </a:xfrm>
          <a:prstGeom prst="rect">
            <a:avLst/>
          </a:prstGeom>
          <a:noFill/>
          <a:ln/>
        </p:spPr>
        <p:txBody>
          <a:bodyPr wrap="square" lIns="50800" tIns="50800" rIns="50800" bIns="50800" rtlCol="0" anchor="t"/>
          <a:lstStyle/>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Alcohol-related cirrhosis, ascites on diuretics; last drink 3 weeks ago</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Temp 38.4 °C, HR 112, BP 82/46</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RR 26, SpO2 92% on a 35% Venturi mask; PaO2 74</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Confused, asterixis (grade II)</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Urine output 15 mL/h</a:t>
            </a:r>
            <a:endParaRPr lang="en-US" sz="1900" dirty="0"/>
          </a:p>
        </p:txBody>
      </p:sp>
      <p:graphicFrame>
        <p:nvGraphicFramePr>
          <p:cNvPr id="64" name="Table"/>
          <p:cNvGraphicFramePr>
            <a:graphicFrameLocks noGrp="1"/>
          </p:cNvGraphicFramePr>
          <p:nvPr>
            <p:extLst>
              <p:ext uri="{D42A27DB-BD31-4B8C-83A1-F6EECF244321}">
                <p14:modId xmlns:p14="http://schemas.microsoft.com/office/powerpoint/2010/main" val="1579011935"/>
              </p:ext>
            </p:extLst>
          </p:nvPr>
        </p:nvGraphicFramePr>
        <p:xfrm>
          <a:off x="6766560" y="1371600"/>
          <a:ext cx="4846320" cy="914400"/>
        </p:xfrm>
        <a:graphic>
          <a:graphicData uri="http://schemas.openxmlformats.org/drawingml/2006/table">
            <a:tbl>
              <a:tblPr/>
              <a:tblGrid>
                <a:gridCol w="2450592"/>
                <a:gridCol w="1097280"/>
                <a:gridCol w="1298448"/>
              </a:tblGrid>
              <a:tr h="365760">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500" b="1" dirty="0">
                          <a:solidFill>
                            <a:srgbClr val="000000"/>
                          </a:solidFill>
                          <a:latin typeface="Calibri" pitchFamily="34" charset="0"/>
                          <a:ea typeface="Calibri" pitchFamily="34" charset="-122"/>
                          <a:cs typeface="Calibri" pitchFamily="34" charset="-120"/>
                        </a:rPr>
                        <a:t>Now</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500" b="1" dirty="0">
                          <a:solidFill>
                            <a:srgbClr val="000000"/>
                          </a:solidFill>
                          <a:latin typeface="Calibri" pitchFamily="34" charset="0"/>
                          <a:ea typeface="Calibri" pitchFamily="34" charset="-122"/>
                          <a:cs typeface="Calibri" pitchFamily="34" charset="-120"/>
                        </a:rPr>
                        <a:t>Baseline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Bilirubin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5.8</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2.1</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INR</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2.1</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Creatinine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2.6</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0.9</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Sodium (mmol/L)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127</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133</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WBC (/μL)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16,200</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Platelets (/μL)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62,000</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Lactate (mmol/L)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3.9</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What's your next step?</a:t>
            </a:r>
            <a:endParaRPr lang="en-US" sz="24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40/58</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56M, cirrhosis and fever</a:t>
            </a:r>
            <a:endParaRPr lang="en-US" sz="3000" dirty="0"/>
          </a:p>
        </p:txBody>
      </p:sp>
      <p:sp>
        <p:nvSpPr>
          <p:cNvPr id="3" name="Body"/>
          <p:cNvSpPr txBox="1"/>
          <p:nvPr/>
        </p:nvSpPr>
        <p:spPr>
          <a:xfrm>
            <a:off x="640080" y="1371600"/>
            <a:ext cx="5852160" cy="3383280"/>
          </a:xfrm>
          <a:prstGeom prst="rect">
            <a:avLst/>
          </a:prstGeom>
          <a:noFill/>
          <a:ln/>
        </p:spPr>
        <p:txBody>
          <a:bodyPr wrap="square" lIns="50800" tIns="50800" rIns="50800" bIns="50800" rtlCol="0" anchor="t"/>
          <a:lstStyle/>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Alcohol-related cirrhosis, ascites on diuretics; last drink 3 weeks ago</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Temp 38.4 °C, HR 112, BP 82/46</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RR 26, SpO2 92% on a 35% Venturi mask; PaO2 74</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Confused, asterixis (grade II)</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Urine output 15 mL/h</a:t>
            </a:r>
            <a:endParaRPr lang="en-US" sz="1900" dirty="0"/>
          </a:p>
        </p:txBody>
      </p:sp>
      <p:graphicFrame>
        <p:nvGraphicFramePr>
          <p:cNvPr id="65" name="Table"/>
          <p:cNvGraphicFramePr>
            <a:graphicFrameLocks noGrp="1"/>
          </p:cNvGraphicFramePr>
          <p:nvPr>
            <p:extLst>
              <p:ext uri="{D42A27DB-BD31-4B8C-83A1-F6EECF244321}">
                <p14:modId xmlns:p14="http://schemas.microsoft.com/office/powerpoint/2010/main" val="1579011935"/>
              </p:ext>
            </p:extLst>
          </p:nvPr>
        </p:nvGraphicFramePr>
        <p:xfrm>
          <a:off x="6766560" y="1371600"/>
          <a:ext cx="4846320" cy="914400"/>
        </p:xfrm>
        <a:graphic>
          <a:graphicData uri="http://schemas.openxmlformats.org/drawingml/2006/table">
            <a:tbl>
              <a:tblPr/>
              <a:tblGrid>
                <a:gridCol w="2450592"/>
                <a:gridCol w="1097280"/>
                <a:gridCol w="1298448"/>
              </a:tblGrid>
              <a:tr h="365760">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500" b="1" dirty="0">
                          <a:solidFill>
                            <a:srgbClr val="000000"/>
                          </a:solidFill>
                          <a:latin typeface="Calibri" pitchFamily="34" charset="0"/>
                          <a:ea typeface="Calibri" pitchFamily="34" charset="-122"/>
                          <a:cs typeface="Calibri" pitchFamily="34" charset="-120"/>
                        </a:rPr>
                        <a:t>Now</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500" b="1" dirty="0">
                          <a:solidFill>
                            <a:srgbClr val="000000"/>
                          </a:solidFill>
                          <a:latin typeface="Calibri" pitchFamily="34" charset="0"/>
                          <a:ea typeface="Calibri" pitchFamily="34" charset="-122"/>
                          <a:cs typeface="Calibri" pitchFamily="34" charset="-120"/>
                        </a:rPr>
                        <a:t>Baseline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Bilirubin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5.8</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2.1</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INR</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2.1</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Creatinine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2.6</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0.9</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Sodium (mmol/L)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127</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133</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WBC (/μL)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16,200</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Platelets (/μL)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62,000</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Lactate (mmol/L)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0000"/>
                          </a:solidFill>
                          <a:latin typeface="Calibri" pitchFamily="34" charset="0"/>
                          <a:ea typeface="Calibri" pitchFamily="34" charset="-122"/>
                          <a:cs typeface="Calibri" pitchFamily="34" charset="-120"/>
                        </a:rPr>
                        <a:t>3.9</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484632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What's your next step?</a:t>
            </a:r>
            <a:endParaRPr lang="en-US" sz="2200" dirty="0"/>
          </a:p>
        </p:txBody>
      </p:sp>
      <p:sp>
        <p:nvSpPr>
          <p:cNvPr id="6" name="Question"/>
          <p:cNvSpPr txBox="1"/>
          <p:nvPr/>
        </p:nvSpPr>
        <p:spPr>
          <a:xfrm>
            <a:off x="822960" y="544068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Find the source: cultures, antibiotics</a:t>
            </a:r>
            <a:endParaRPr lang="en-US" sz="22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40/58</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tipped him over?</a:t>
            </a:r>
            <a:endParaRPr lang="en-US" sz="3000" dirty="0"/>
          </a:p>
        </p:txBody>
      </p:sp>
      <p:sp>
        <p:nvSpPr>
          <p:cNvPr id="3" name="Question"/>
          <p:cNvSpPr txBox="1"/>
          <p:nvPr/>
        </p:nvSpPr>
        <p:spPr>
          <a:xfrm>
            <a:off x="822960" y="1417320"/>
            <a:ext cx="10545775" cy="548640"/>
          </a:xfrm>
          <a:prstGeom prst="rect">
            <a:avLst/>
          </a:prstGeom>
          <a:noFill/>
          <a:ln/>
        </p:spPr>
        <p:txBody>
          <a:bodyPr wrap="square" lIns="0" tIns="0" rIns="0" bIns="0" rtlCol="0" anchor="ctr"/>
          <a:lstStyle/>
          <a:p>
            <a:pPr algn="ctr" indent="0" marL="0">
              <a:buNone/>
            </a:pPr>
            <a:r>
              <a:rPr lang="en-US" sz="3000" b="1" dirty="0">
                <a:solidFill>
                  <a:srgbClr val="000000"/>
                </a:solidFill>
                <a:latin typeface="Georgia" pitchFamily="34" charset="0"/>
                <a:ea typeface="Georgia" pitchFamily="34" charset="-122"/>
                <a:cs typeface="Georgia" pitchFamily="34" charset="-120"/>
              </a:rPr>
              <a:t>INR 2.1, platelets 62,000. Do you tap him?</a:t>
            </a:r>
            <a:endParaRPr lang="en-US" sz="3000" dirty="0"/>
          </a:p>
        </p:txBody>
      </p:sp>
      <p:pic>
        <p:nvPicPr>
          <p:cNvPr id="4" name="Image 0" descr="Watercolor of a thin man in a hospital bed with a tense, distended abdomen">    </p:cNvPr>
          <p:cNvPicPr>
            <a:picLocks noChangeAspect="1"/>
          </p:cNvPicPr>
          <p:nvPr/>
        </p:nvPicPr>
        <p:blipFill>
          <a:blip r:embed="rId1"/>
          <a:stretch>
            <a:fillRect/>
          </a:stretch>
        </p:blipFill>
        <p:spPr>
          <a:xfrm>
            <a:off x="3241445" y="2148840"/>
            <a:ext cx="5708805" cy="4206240"/>
          </a:xfrm>
          <a:prstGeom prst="rect">
            <a:avLst/>
          </a:prstGeom>
        </p:spPr>
      </p:pic>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41/58</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tipped him over?</a:t>
            </a:r>
            <a:endParaRPr lang="en-US" sz="3000" dirty="0"/>
          </a:p>
        </p:txBody>
      </p:sp>
      <p:sp>
        <p:nvSpPr>
          <p:cNvPr id="3" name="Body"/>
          <p:cNvSpPr txBox="1"/>
          <p:nvPr/>
        </p:nvSpPr>
        <p:spPr>
          <a:xfrm>
            <a:off x="822960" y="1325880"/>
            <a:ext cx="7315200" cy="4937760"/>
          </a:xfrm>
          <a:prstGeom prst="rect">
            <a:avLst/>
          </a:prstGeom>
          <a:noFill/>
          <a:ln/>
        </p:spPr>
        <p:txBody>
          <a:bodyPr wrap="square" lIns="50800" tIns="50800" rIns="50800" bIns="50800" rtlCol="0" anchor="t"/>
          <a:lstStyle/>
          <a:p>
            <a:pPr marL="228600" indent="-228600">
              <a:spcBef>
                <a:spcPts val="800"/>
              </a:spcBef>
              <a:buSzPct val="100000"/>
              <a:buChar char="–"/>
            </a:pPr>
            <a:r>
              <a:rPr lang="en-US" sz="2000" b="1" dirty="0">
                <a:solidFill>
                  <a:srgbClr val="000000"/>
                </a:solidFill>
                <a:latin typeface="Georgia" pitchFamily="34" charset="0"/>
                <a:ea typeface="Georgia" pitchFamily="34" charset="-122"/>
                <a:cs typeface="Georgia" pitchFamily="34" charset="-120"/>
              </a:rPr>
              <a:t>Yes, now. </a:t>
            </a:r>
            <a:r>
              <a:rPr lang="en-US" sz="2000" b="1" dirty="0">
                <a:solidFill>
                  <a:srgbClr val="000000"/>
                </a:solidFill>
                <a:highlight>
                  <a:srgbClr val="FFFF00"/>
                </a:highlight>
                <a:latin typeface="Georgia" pitchFamily="34" charset="0"/>
                <a:ea typeface="Georgia" pitchFamily="34" charset="-122"/>
                <a:cs typeface="Georgia" pitchFamily="34" charset="-120"/>
              </a:rPr>
              <a:t>No plasma, no platelets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Ascitic fluid: </a:t>
            </a:r>
            <a:r>
              <a:rPr lang="en-US" sz="2000" b="1" dirty="0">
                <a:solidFill>
                  <a:srgbClr val="C00000"/>
                </a:solidFill>
                <a:latin typeface="Georgia" pitchFamily="34" charset="0"/>
                <a:ea typeface="Georgia" pitchFamily="34" charset="-122"/>
                <a:cs typeface="Georgia" pitchFamily="34" charset="-120"/>
              </a:rPr>
              <a:t>PMN 1,240/mm³</a:t>
            </a:r>
            <a:r>
              <a:rPr lang="en-US" sz="2000" dirty="0">
                <a:solidFill>
                  <a:srgbClr val="000000"/>
                </a:solidFill>
                <a:latin typeface="Georgia" pitchFamily="34" charset="0"/>
                <a:ea typeface="Georgia" pitchFamily="34" charset="-122"/>
                <a:cs typeface="Georgia" pitchFamily="34" charset="-120"/>
              </a:rPr>
              <a:t>. Spontaneous bacterial peritonitis</a:t>
            </a:r>
            <a:endParaRPr lang="en-US" sz="2000" dirty="0"/>
          </a:p>
          <a:p>
            <a:pPr indent="0" marL="0">
              <a:spcBef>
                <a:spcPts val="1800"/>
              </a:spcBef>
              <a:buNone/>
            </a:pPr>
            <a:r>
              <a:rPr lang="en-US" sz="2000" b="1" dirty="0">
                <a:solidFill>
                  <a:srgbClr val="000000"/>
                </a:solidFill>
                <a:latin typeface="Georgia" pitchFamily="34" charset="0"/>
                <a:ea typeface="Georgia" pitchFamily="34" charset="-122"/>
                <a:cs typeface="Georgia" pitchFamily="34" charset="-120"/>
              </a:rPr>
              <a:t>Common triggers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Infection: SBP, pneumonia, urine, lines, C. difficile</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Alcohol-associated hepatitis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GI bleeding</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Drugs: NSAIDs, sedatives, too much diuretic</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HBV flare, ischemia</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trigger is found in some patients. Repeat the search if he gets worse</a:t>
            </a:r>
            <a:endParaRPr lang="en-US" sz="2000" dirty="0"/>
          </a:p>
        </p:txBody>
      </p:sp>
      <p:pic>
        <p:nvPicPr>
          <p:cNvPr id="4" name="Image 0" descr="Watercolor of a paracentesis set with tubes of ascitic fluid and a culture bottle">    </p:cNvPr>
          <p:cNvPicPr>
            <a:picLocks noChangeAspect="1"/>
          </p:cNvPicPr>
          <p:nvPr/>
        </p:nvPicPr>
        <p:blipFill>
          <a:blip r:embed="rId1"/>
          <a:stretch>
            <a:fillRect/>
          </a:stretch>
        </p:blipFill>
        <p:spPr>
          <a:xfrm>
            <a:off x="7863840" y="1371600"/>
            <a:ext cx="4023360" cy="3986278"/>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ACLF 2023 [PMID: 37364789]; SCCM 2023 [PMID: 37052436]</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41/58</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pic>
        <p:nvPicPr>
          <p:cNvPr id="2" name="Image 0" descr="Watercolor outline of a human figure with no organs drawn in">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411480" y="320040"/>
            <a:ext cx="5120640" cy="1097280"/>
          </a:xfrm>
          <a:prstGeom prst="rect">
            <a:avLst/>
          </a:prstGeom>
          <a:noFill/>
          <a:ln/>
        </p:spPr>
        <p:txBody>
          <a:bodyPr wrap="square" lIns="0" tIns="0" rIns="0" bIns="0" rtlCol="0" anchor="t"/>
          <a:lstStyle/>
          <a:p>
            <a:pPr indent="0" marL="0">
              <a:buNone/>
            </a:pPr>
            <a:r>
              <a:rPr lang="en-US" sz="3000" dirty="0">
                <a:solidFill>
                  <a:srgbClr val="000000"/>
                </a:solidFill>
                <a:latin typeface="Georgia" pitchFamily="34" charset="0"/>
                <a:ea typeface="Georgia" pitchFamily="34" charset="-122"/>
                <a:cs typeface="Georgia" pitchFamily="34" charset="-120"/>
              </a:rPr>
              <a:t>Why is he hypotensive?</a:t>
            </a:r>
            <a:endParaRPr lang="en-US" sz="30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42/58</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pic>
        <p:nvPicPr>
          <p:cNvPr id="2" name="Image 0" descr="Watercolor figure of a man with cirrhosis showing the heart, IVC, nodular liver, varices, adrenals, ascites and dilated mesenteric vessels">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411480" y="320040"/>
            <a:ext cx="5120640" cy="1097280"/>
          </a:xfrm>
          <a:prstGeom prst="rect">
            <a:avLst/>
          </a:prstGeom>
          <a:noFill/>
          <a:ln/>
        </p:spPr>
        <p:txBody>
          <a:bodyPr wrap="square" lIns="0" tIns="0" rIns="0" bIns="0" rtlCol="0" anchor="t"/>
          <a:lstStyle/>
          <a:p>
            <a:pPr indent="0" marL="0">
              <a:buNone/>
            </a:pPr>
            <a:r>
              <a:rPr lang="en-US" sz="3000" dirty="0">
                <a:solidFill>
                  <a:srgbClr val="000000"/>
                </a:solidFill>
                <a:latin typeface="Georgia" pitchFamily="34" charset="0"/>
                <a:ea typeface="Georgia" pitchFamily="34" charset="-122"/>
                <a:cs typeface="Georgia" pitchFamily="34" charset="-120"/>
              </a:rPr>
              <a:t>Why is he hypotensive?</a:t>
            </a:r>
            <a:endParaRPr lang="en-US" sz="3000" dirty="0"/>
          </a:p>
        </p:txBody>
      </p:sp>
      <p:sp>
        <p:nvSpPr>
          <p:cNvPr id="4" name="Text 1"/>
          <p:cNvSpPr txBox="1"/>
          <p:nvPr/>
        </p:nvSpPr>
        <p:spPr>
          <a:xfrm>
            <a:off x="274320" y="2103120"/>
            <a:ext cx="4389120" cy="822960"/>
          </a:xfrm>
          <a:prstGeom prst="rect">
            <a:avLst/>
          </a:prstGeom>
          <a:noFill/>
          <a:ln/>
        </p:spPr>
        <p:txBody>
          <a:bodyPr wrap="square" lIns="0" tIns="0" rIns="0" bIns="0" rtlCol="0" anchor="ctr"/>
          <a:lstStyle/>
          <a:p>
            <a:pPr algn="r" indent="0" marL="0">
              <a:buNone/>
            </a:pPr>
            <a:r>
              <a:rPr lang="en-US" sz="1800" b="1" dirty="0">
                <a:solidFill>
                  <a:srgbClr val="000000"/>
                </a:solidFill>
                <a:latin typeface="Georgia" pitchFamily="34" charset="0"/>
                <a:ea typeface="Georgia" pitchFamily="34" charset="-122"/>
                <a:cs typeface="Georgia" pitchFamily="34" charset="-120"/>
              </a:rPr>
              <a:t>Too little volume, or too much</a:t>
            </a:r>
            <a:endParaRPr lang="en-US" sz="1800" dirty="0"/>
          </a:p>
          <a:p>
            <a:pPr algn="r" indent="0" marL="0">
              <a:buNone/>
            </a:pPr>
            <a:r>
              <a:rPr lang="en-US" sz="1400" dirty="0">
                <a:solidFill>
                  <a:srgbClr val="404040"/>
                </a:solidFill>
                <a:latin typeface="Georgia" pitchFamily="34" charset="0"/>
                <a:ea typeface="Georgia" pitchFamily="34" charset="-122"/>
                <a:cs typeface="Georgia" pitchFamily="34" charset="-120"/>
              </a:rPr>
              <a:t>Ultrasound and dynamic measures</a:t>
            </a:r>
            <a:endParaRPr lang="en-US" sz="1800" dirty="0"/>
          </a:p>
        </p:txBody>
      </p:sp>
      <p:sp>
        <p:nvSpPr>
          <p:cNvPr id="5" name="Leader"/>
          <p:cNvSpPr/>
          <p:nvPr/>
        </p:nvSpPr>
        <p:spPr>
          <a:xfrm>
            <a:off x="4754880" y="2514600"/>
            <a:ext cx="1234440" cy="777240"/>
          </a:xfrm>
          <a:prstGeom prst="line">
            <a:avLst/>
          </a:prstGeom>
          <a:noFill/>
          <a:ln w="12700">
            <a:solidFill>
              <a:srgbClr val="595959"/>
            </a:solidFill>
            <a:prstDash val="solid"/>
            <a:tailEnd type="oval"/>
          </a:ln>
        </p:spPr>
      </p:sp>
      <p:sp>
        <p:nvSpPr>
          <p:cNvPr id="6" name="Text 3"/>
          <p:cNvSpPr txBox="1"/>
          <p:nvPr/>
        </p:nvSpPr>
        <p:spPr>
          <a:xfrm>
            <a:off x="274320" y="4617720"/>
            <a:ext cx="4389120" cy="822960"/>
          </a:xfrm>
          <a:prstGeom prst="rect">
            <a:avLst/>
          </a:prstGeom>
          <a:noFill/>
          <a:ln/>
        </p:spPr>
        <p:txBody>
          <a:bodyPr wrap="square" lIns="0" tIns="0" rIns="0" bIns="0" rtlCol="0" anchor="ctr"/>
          <a:lstStyle/>
          <a:p>
            <a:pPr algn="r" indent="0" marL="0">
              <a:buNone/>
            </a:pPr>
            <a:r>
              <a:rPr lang="en-US" sz="1800" b="1" dirty="0">
                <a:solidFill>
                  <a:srgbClr val="000000"/>
                </a:solidFill>
                <a:latin typeface="Georgia" pitchFamily="34" charset="0"/>
                <a:ea typeface="Georgia" pitchFamily="34" charset="-122"/>
                <a:cs typeface="Georgia" pitchFamily="34" charset="-120"/>
              </a:rPr>
              <a:t>Sepsis (SBP)</a:t>
            </a:r>
            <a:endParaRPr lang="en-US" sz="1800" dirty="0"/>
          </a:p>
          <a:p>
            <a:pPr algn="r" indent="0" marL="0">
              <a:buNone/>
            </a:pPr>
            <a:r>
              <a:rPr lang="en-US" sz="1400" dirty="0">
                <a:solidFill>
                  <a:srgbClr val="404040"/>
                </a:solidFill>
                <a:latin typeface="Georgia" pitchFamily="34" charset="0"/>
                <a:ea typeface="Georgia" pitchFamily="34" charset="-122"/>
                <a:cs typeface="Georgia" pitchFamily="34" charset="-120"/>
              </a:rPr>
              <a:t>Cultures, antibiotics within 1 h, source control</a:t>
            </a:r>
            <a:endParaRPr lang="en-US" sz="1800" dirty="0"/>
          </a:p>
        </p:txBody>
      </p:sp>
      <p:sp>
        <p:nvSpPr>
          <p:cNvPr id="7" name="Leader"/>
          <p:cNvSpPr/>
          <p:nvPr/>
        </p:nvSpPr>
        <p:spPr>
          <a:xfrm>
            <a:off x="4754880" y="5029200"/>
            <a:ext cx="685800" cy="685800"/>
          </a:xfrm>
          <a:prstGeom prst="line">
            <a:avLst/>
          </a:prstGeom>
          <a:noFill/>
          <a:ln w="12700">
            <a:solidFill>
              <a:srgbClr val="595959"/>
            </a:solidFill>
            <a:prstDash val="solid"/>
            <a:tailEnd type="oval"/>
          </a:ln>
        </p:spPr>
      </p:sp>
      <p:sp>
        <p:nvSpPr>
          <p:cNvPr id="8" name="Text 5"/>
          <p:cNvSpPr txBox="1"/>
          <p:nvPr/>
        </p:nvSpPr>
        <p:spPr>
          <a:xfrm>
            <a:off x="7772400" y="1783080"/>
            <a:ext cx="4251960" cy="822960"/>
          </a:xfrm>
          <a:prstGeom prst="rect">
            <a:avLst/>
          </a:prstGeom>
          <a:noFill/>
          <a:ln/>
        </p:spPr>
        <p:txBody>
          <a:bodyPr wrap="square" lIns="0" tIns="0" rIns="0" bIns="0" rtlCol="0" anchor="ctr"/>
          <a:lstStyle/>
          <a:p>
            <a:pPr algn="l" indent="0" marL="0">
              <a:buNone/>
            </a:pPr>
            <a:r>
              <a:rPr lang="en-US" sz="1800" b="1" dirty="0">
                <a:solidFill>
                  <a:srgbClr val="000000"/>
                </a:solidFill>
                <a:latin typeface="Georgia" pitchFamily="34" charset="0"/>
                <a:ea typeface="Georgia" pitchFamily="34" charset="-122"/>
                <a:cs typeface="Georgia" pitchFamily="34" charset="-120"/>
              </a:rPr>
              <a:t>Cirrhotic cardiomyopathy</a:t>
            </a:r>
            <a:endParaRPr lang="en-US" sz="1800" dirty="0"/>
          </a:p>
          <a:p>
            <a:pPr algn="l" indent="0" marL="0">
              <a:buNone/>
            </a:pPr>
            <a:r>
              <a:rPr lang="en-US" sz="1400" dirty="0">
                <a:solidFill>
                  <a:srgbClr val="404040"/>
                </a:solidFill>
                <a:latin typeface="Georgia" pitchFamily="34" charset="0"/>
                <a:ea typeface="Georgia" pitchFamily="34" charset="-122"/>
                <a:cs typeface="Georgia" pitchFamily="34" charset="-120"/>
              </a:rPr>
              <a:t>Echo</a:t>
            </a:r>
            <a:endParaRPr lang="en-US" sz="1800" dirty="0"/>
          </a:p>
        </p:txBody>
      </p:sp>
      <p:sp>
        <p:nvSpPr>
          <p:cNvPr id="9" name="Leader"/>
          <p:cNvSpPr/>
          <p:nvPr/>
        </p:nvSpPr>
        <p:spPr>
          <a:xfrm flipH="1">
            <a:off x="6583680" y="2194560"/>
            <a:ext cx="1097280" cy="731520"/>
          </a:xfrm>
          <a:prstGeom prst="line">
            <a:avLst/>
          </a:prstGeom>
          <a:noFill/>
          <a:ln w="12700">
            <a:solidFill>
              <a:srgbClr val="595959"/>
            </a:solidFill>
            <a:prstDash val="solid"/>
            <a:tailEnd type="oval"/>
          </a:ln>
        </p:spPr>
      </p:sp>
      <p:sp>
        <p:nvSpPr>
          <p:cNvPr id="10" name="Text 7"/>
          <p:cNvSpPr txBox="1"/>
          <p:nvPr/>
        </p:nvSpPr>
        <p:spPr>
          <a:xfrm>
            <a:off x="7772400" y="2880360"/>
            <a:ext cx="4251960" cy="822960"/>
          </a:xfrm>
          <a:prstGeom prst="rect">
            <a:avLst/>
          </a:prstGeom>
          <a:noFill/>
          <a:ln/>
        </p:spPr>
        <p:txBody>
          <a:bodyPr wrap="square" lIns="0" tIns="0" rIns="0" bIns="0" rtlCol="0" anchor="ctr"/>
          <a:lstStyle/>
          <a:p>
            <a:pPr algn="l" indent="0" marL="0">
              <a:buNone/>
            </a:pPr>
            <a:r>
              <a:rPr lang="en-US" sz="1800" b="1" dirty="0">
                <a:solidFill>
                  <a:srgbClr val="000000"/>
                </a:solidFill>
                <a:latin typeface="Georgia" pitchFamily="34" charset="0"/>
                <a:ea typeface="Georgia" pitchFamily="34" charset="-122"/>
                <a:cs typeface="Georgia" pitchFamily="34" charset="-120"/>
              </a:rPr>
              <a:t>Hidden bleeding</a:t>
            </a:r>
            <a:endParaRPr lang="en-US" sz="1800" dirty="0"/>
          </a:p>
          <a:p>
            <a:pPr algn="l" indent="0" marL="0">
              <a:buNone/>
            </a:pPr>
            <a:r>
              <a:rPr lang="en-US" sz="1400" dirty="0">
                <a:solidFill>
                  <a:srgbClr val="404040"/>
                </a:solidFill>
                <a:latin typeface="Georgia" pitchFamily="34" charset="0"/>
                <a:ea typeface="Georgia" pitchFamily="34" charset="-122"/>
                <a:cs typeface="Georgia" pitchFamily="34" charset="-120"/>
              </a:rPr>
              <a:t>Hemoglobin, rectal exam, think varices</a:t>
            </a:r>
            <a:endParaRPr lang="en-US" sz="1800" dirty="0"/>
          </a:p>
        </p:txBody>
      </p:sp>
      <p:sp>
        <p:nvSpPr>
          <p:cNvPr id="11" name="Leader"/>
          <p:cNvSpPr/>
          <p:nvPr/>
        </p:nvSpPr>
        <p:spPr>
          <a:xfrm flipH="1">
            <a:off x="6355080" y="3291840"/>
            <a:ext cx="1325880" cy="347472"/>
          </a:xfrm>
          <a:prstGeom prst="line">
            <a:avLst/>
          </a:prstGeom>
          <a:noFill/>
          <a:ln w="12700">
            <a:solidFill>
              <a:srgbClr val="595959"/>
            </a:solidFill>
            <a:prstDash val="solid"/>
            <a:tailEnd type="oval"/>
          </a:ln>
        </p:spPr>
      </p:sp>
      <p:sp>
        <p:nvSpPr>
          <p:cNvPr id="12" name="Text 9"/>
          <p:cNvSpPr txBox="1"/>
          <p:nvPr/>
        </p:nvSpPr>
        <p:spPr>
          <a:xfrm>
            <a:off x="7772400" y="3931920"/>
            <a:ext cx="4251960" cy="822960"/>
          </a:xfrm>
          <a:prstGeom prst="rect">
            <a:avLst/>
          </a:prstGeom>
          <a:noFill/>
          <a:ln/>
        </p:spPr>
        <p:txBody>
          <a:bodyPr wrap="square" lIns="0" tIns="0" rIns="0" bIns="0" rtlCol="0" anchor="ctr"/>
          <a:lstStyle/>
          <a:p>
            <a:pPr algn="l" indent="0" marL="0">
              <a:buNone/>
            </a:pPr>
            <a:r>
              <a:rPr lang="en-US" sz="1800" b="1" dirty="0">
                <a:solidFill>
                  <a:srgbClr val="000000"/>
                </a:solidFill>
                <a:latin typeface="Georgia" pitchFamily="34" charset="0"/>
                <a:ea typeface="Georgia" pitchFamily="34" charset="-122"/>
                <a:cs typeface="Georgia" pitchFamily="34" charset="-120"/>
              </a:rPr>
              <a:t>Relative adrenal insufficiency</a:t>
            </a:r>
            <a:endParaRPr lang="en-US" sz="1800" dirty="0"/>
          </a:p>
          <a:p>
            <a:pPr algn="l" indent="0" marL="0">
              <a:buNone/>
            </a:pPr>
            <a:r>
              <a:rPr lang="en-US" sz="1400" dirty="0">
                <a:solidFill>
                  <a:srgbClr val="404040"/>
                </a:solidFill>
                <a:latin typeface="Georgia" pitchFamily="34" charset="0"/>
                <a:ea typeface="Georgia" pitchFamily="34" charset="-122"/>
                <a:cs typeface="Georgia" pitchFamily="34" charset="-120"/>
              </a:rPr>
              <a:t>Hydrocortisone if shock is refractory</a:t>
            </a:r>
            <a:endParaRPr lang="en-US" sz="1800" dirty="0"/>
          </a:p>
        </p:txBody>
      </p:sp>
      <p:sp>
        <p:nvSpPr>
          <p:cNvPr id="13" name="Leader"/>
          <p:cNvSpPr/>
          <p:nvPr/>
        </p:nvSpPr>
        <p:spPr>
          <a:xfrm flipH="1" flipV="1">
            <a:off x="6446520" y="4050792"/>
            <a:ext cx="1234440" cy="292608"/>
          </a:xfrm>
          <a:prstGeom prst="line">
            <a:avLst/>
          </a:prstGeom>
          <a:noFill/>
          <a:ln w="12700">
            <a:solidFill>
              <a:srgbClr val="595959"/>
            </a:solidFill>
            <a:prstDash val="solid"/>
            <a:tailEnd type="oval"/>
          </a:ln>
        </p:spPr>
      </p:sp>
      <p:sp>
        <p:nvSpPr>
          <p:cNvPr id="14" name="Text 11"/>
          <p:cNvSpPr txBox="1"/>
          <p:nvPr/>
        </p:nvSpPr>
        <p:spPr>
          <a:xfrm>
            <a:off x="7772400" y="4983480"/>
            <a:ext cx="4251960" cy="822960"/>
          </a:xfrm>
          <a:prstGeom prst="rect">
            <a:avLst/>
          </a:prstGeom>
          <a:noFill/>
          <a:ln/>
        </p:spPr>
        <p:txBody>
          <a:bodyPr wrap="square" lIns="0" tIns="0" rIns="0" bIns="0" rtlCol="0" anchor="ctr"/>
          <a:lstStyle/>
          <a:p>
            <a:pPr algn="l" indent="0" marL="0">
              <a:buNone/>
            </a:pPr>
            <a:r>
              <a:rPr lang="en-US" sz="1800" b="1" dirty="0">
                <a:solidFill>
                  <a:srgbClr val="000000"/>
                </a:solidFill>
                <a:latin typeface="Georgia" pitchFamily="34" charset="0"/>
                <a:ea typeface="Georgia" pitchFamily="34" charset="-122"/>
                <a:cs typeface="Georgia" pitchFamily="34" charset="-120"/>
              </a:rPr>
              <a:t>Splanchnic vasodilation</a:t>
            </a:r>
            <a:endParaRPr lang="en-US" sz="1800" dirty="0"/>
          </a:p>
          <a:p>
            <a:pPr algn="l" indent="0" marL="0">
              <a:buNone/>
            </a:pPr>
            <a:r>
              <a:rPr lang="en-US" sz="1400" dirty="0">
                <a:solidFill>
                  <a:srgbClr val="404040"/>
                </a:solidFill>
                <a:latin typeface="Georgia" pitchFamily="34" charset="0"/>
                <a:ea typeface="Georgia" pitchFamily="34" charset="-122"/>
                <a:cs typeface="Georgia" pitchFamily="34" charset="-120"/>
              </a:rPr>
              <a:t>Norepinephrine, MAP 65, adjust to perfusion</a:t>
            </a:r>
            <a:endParaRPr lang="en-US" sz="1800" dirty="0"/>
          </a:p>
        </p:txBody>
      </p:sp>
      <p:sp>
        <p:nvSpPr>
          <p:cNvPr id="15" name="Leader"/>
          <p:cNvSpPr/>
          <p:nvPr/>
        </p:nvSpPr>
        <p:spPr>
          <a:xfrm flipH="1" flipV="1">
            <a:off x="6263640" y="5029200"/>
            <a:ext cx="1417320" cy="365760"/>
          </a:xfrm>
          <a:prstGeom prst="line">
            <a:avLst/>
          </a:prstGeom>
          <a:noFill/>
          <a:ln w="12700">
            <a:solidFill>
              <a:srgbClr val="595959"/>
            </a:solidFill>
            <a:prstDash val="solid"/>
            <a:tailEnd type="oval"/>
          </a:ln>
        </p:spPr>
      </p:sp>
      <p:sp>
        <p:nvSpPr>
          <p:cNvPr id="16" name="Text 13"/>
          <p:cNvSpPr txBox="1"/>
          <p:nvPr/>
        </p:nvSpPr>
        <p:spPr>
          <a:xfrm>
            <a:off x="411480" y="5989320"/>
            <a:ext cx="4937760" cy="411480"/>
          </a:xfrm>
          <a:prstGeom prst="rect">
            <a:avLst/>
          </a:prstGeom>
          <a:noFill/>
          <a:ln/>
        </p:spPr>
        <p:txBody>
          <a:bodyPr wrap="square" lIns="0" tIns="0" rIns="0" bIns="0" rtlCol="0" anchor="ctr"/>
          <a:lstStyle/>
          <a:p>
            <a:pPr algn="l" indent="0" marL="0">
              <a:buNone/>
            </a:pPr>
            <a:r>
              <a:rPr lang="en-US" sz="2000" b="1" dirty="0">
                <a:solidFill>
                  <a:srgbClr val="000000"/>
                </a:solidFill>
                <a:highlight>
                  <a:srgbClr val="FFFF00"/>
                </a:highlight>
                <a:latin typeface="Georgia" pitchFamily="34" charset="0"/>
                <a:ea typeface="Georgia" pitchFamily="34" charset="-122"/>
                <a:cs typeface="Georgia" pitchFamily="34" charset="-120"/>
              </a:rPr>
              <a:t>Usually more than one of these</a:t>
            </a:r>
            <a:endParaRPr lang="en-US" sz="2000" dirty="0"/>
          </a:p>
        </p:txBody>
      </p:sp>
      <p:sp>
        <p:nvSpPr>
          <p:cNvPr id="1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42/58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ALF, decompensation or ACLF?</a:t>
            </a:r>
            <a:endParaRPr lang="en-US" sz="3000" dirty="0"/>
          </a:p>
        </p:txBody>
      </p:sp>
      <p:graphicFrame>
        <p:nvGraphicFramePr>
          <p:cNvPr id="70"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1444752"/>
                <a:gridCol w="2962656"/>
                <a:gridCol w="3282696"/>
                <a:gridCol w="3401568"/>
              </a:tblGrid>
              <a:tr h="54864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Acute liver failure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Acute decompensation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ACLF</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Liver before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Defined by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Usually kills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ICU focus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Transplant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ALF 2017 [PMID: 28417882]; EASL ACLF 2023 [PMID: 37364789]</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43/58</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ALF, decompensation or ACLF?</a:t>
            </a:r>
            <a:endParaRPr lang="en-US" sz="3000" dirty="0"/>
          </a:p>
        </p:txBody>
      </p:sp>
      <p:graphicFrame>
        <p:nvGraphicFramePr>
          <p:cNvPr id="71"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1444752"/>
                <a:gridCol w="2962656"/>
                <a:gridCol w="3282696"/>
                <a:gridCol w="3401568"/>
              </a:tblGrid>
              <a:tr h="54864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Acute liver failure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Acute decompensation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ACLF</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Liver before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No cirrhosis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Cirrhosis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Cirrhosis or chronic liver disease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Defined by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INR ≥ 1.5 + HE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Ascites, bleeding, HE, jaundice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Decompensation + organ failure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Usually kills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Brain, sepsis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Bleeding, infection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Infection, shock, organ failure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ICU focus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Brain, ammonia, early CRRT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Treat the trigger</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Source, shock, kidney vs lung</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Transplant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Urgent listing</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Refer by MELD or complication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Narrow window; reassess daily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ALF 2017 [PMID: 28417882]; EASL ACLF 2023 [PMID: 37364789]</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43/58</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Count the failing organs</a:t>
            </a:r>
            <a:endParaRPr lang="en-US" sz="3000" dirty="0"/>
          </a:p>
        </p:txBody>
      </p:sp>
      <p:graphicFrame>
        <p:nvGraphicFramePr>
          <p:cNvPr id="72" name="Table"/>
          <p:cNvGraphicFramePr>
            <a:graphicFrameLocks noGrp="1"/>
          </p:cNvGraphicFramePr>
          <p:nvPr>
            <p:extLst>
              <p:ext uri="{D42A27DB-BD31-4B8C-83A1-F6EECF244321}">
                <p14:modId xmlns:p14="http://schemas.microsoft.com/office/powerpoint/2010/main" val="1579011935"/>
              </p:ext>
            </p:extLst>
          </p:nvPr>
        </p:nvGraphicFramePr>
        <p:xfrm>
          <a:off x="640080" y="1280160"/>
          <a:ext cx="10911535" cy="914400"/>
        </p:xfrm>
        <a:graphic>
          <a:graphicData uri="http://schemas.openxmlformats.org/drawingml/2006/table">
            <a:tbl>
              <a:tblPr/>
              <a:tblGrid>
                <a:gridCol w="1810512"/>
                <a:gridCol w="6163056"/>
                <a:gridCol w="2935224"/>
              </a:tblGrid>
              <a:tr h="54864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Organ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Failure (EASL-CLIF)</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Patient B</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Liver</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Bilirubin ≥ 12 mg/dL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Kidney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Creatinine ≥ 2.0 mg/dL or on RRT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Brain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Encephalopathy grade III-IV</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Coagulation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INR ≥ 2.5</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Circulation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Vasopressors (or terlipressin)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Lungs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P/F ≤ 200, S/F ≤ 214, or ventilated (not for HE)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CLIF-C organ failure score, EASL ACLF 2023 [PMID: 37364789]; CANONIC [PMID: 23474284]</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44/58</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Count the failing organs</a:t>
            </a:r>
            <a:endParaRPr lang="en-US" sz="3000" dirty="0"/>
          </a:p>
        </p:txBody>
      </p:sp>
      <p:graphicFrame>
        <p:nvGraphicFramePr>
          <p:cNvPr id="73" name="Table"/>
          <p:cNvGraphicFramePr>
            <a:graphicFrameLocks noGrp="1"/>
          </p:cNvGraphicFramePr>
          <p:nvPr>
            <p:extLst>
              <p:ext uri="{D42A27DB-BD31-4B8C-83A1-F6EECF244321}">
                <p14:modId xmlns:p14="http://schemas.microsoft.com/office/powerpoint/2010/main" val="1579011935"/>
              </p:ext>
            </p:extLst>
          </p:nvPr>
        </p:nvGraphicFramePr>
        <p:xfrm>
          <a:off x="640080" y="1280160"/>
          <a:ext cx="10911535" cy="914400"/>
        </p:xfrm>
        <a:graphic>
          <a:graphicData uri="http://schemas.openxmlformats.org/drawingml/2006/table">
            <a:tbl>
              <a:tblPr/>
              <a:tblGrid>
                <a:gridCol w="1810512"/>
                <a:gridCol w="6163056"/>
                <a:gridCol w="2935224"/>
              </a:tblGrid>
              <a:tr h="54864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Organ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Failure (EASL-CLIF)</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Patient B</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Liver</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Bilirubin ≥ 12 mg/dL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5.8: no</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Kidney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Creatinine ≥ 2.0 mg/dL or on RRT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b="1" dirty="0">
                          <a:solidFill>
                            <a:srgbClr val="000000"/>
                          </a:solidFill>
                          <a:highlight>
                            <a:srgbClr val="FFFF00"/>
                          </a:highlight>
                          <a:latin typeface="Calibri" pitchFamily="34" charset="0"/>
                          <a:ea typeface="Calibri" pitchFamily="34" charset="-122"/>
                          <a:cs typeface="Calibri" pitchFamily="34" charset="-120"/>
                        </a:rPr>
                        <a:t>2.6: yes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Brain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Encephalopathy grade III-IV</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Grade II: no</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Coagulation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INR ≥ 2.5</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2.1: no</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Circulation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Vasopressors (or terlipressin)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b="1" dirty="0">
                          <a:solidFill>
                            <a:srgbClr val="000000"/>
                          </a:solidFill>
                          <a:highlight>
                            <a:srgbClr val="FFFF00"/>
                          </a:highlight>
                          <a:latin typeface="Calibri" pitchFamily="34" charset="0"/>
                          <a:ea typeface="Calibri" pitchFamily="34" charset="-122"/>
                          <a:cs typeface="Calibri" pitchFamily="34" charset="-120"/>
                        </a:rPr>
                        <a:t>Norepinephrine: yes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Lungs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P/F ≤ 200, S/F ≤ 214, or ventilated (not for HE)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P/F 211: no</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48640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highlight>
                  <a:srgbClr val="FFFF00"/>
                </a:highlight>
                <a:latin typeface="Georgia" pitchFamily="34" charset="0"/>
                <a:ea typeface="Georgia" pitchFamily="34" charset="-122"/>
                <a:cs typeface="Georgia" pitchFamily="34" charset="-120"/>
              </a:rPr>
              <a:t>Two organ failures: ACLF grade 2</a:t>
            </a:r>
            <a:endParaRPr lang="en-US" sz="26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CLIF-C organ failure score, EASL ACLF 2023 [PMID: 37364789]; CANONIC [PMID: 23474284]</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44/58</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28-day mortality by ACLF grade</a:t>
            </a:r>
            <a:endParaRPr lang="en-US" sz="3000" dirty="0"/>
          </a:p>
        </p:txBody>
      </p:sp>
      <p:graphicFrame>
        <p:nvGraphicFramePr>
          <p:cNvPr id="3" name="Chart 0" descr=""/>
          <p:cNvGraphicFramePr/>
          <p:nvPr/>
        </p:nvGraphicFramePr>
        <p:xfrm>
          <a:off x="1828800" y="1280160"/>
          <a:ext cx="8503920" cy="4023360"/>
        </p:xfrm>
        <a:graphic xmlns:a="http://schemas.openxmlformats.org/drawingml/2006/main">
          <a:graphicData uri="http://schemas.openxmlformats.org/drawingml/2006/chart">
            <c:chart xmlns:c="http://schemas.openxmlformats.org/drawingml/2006/chart" r:id="rId1"/>
          </a:graphicData>
        </a:graphic>
      </p:graphicFrame>
      <p:sp>
        <p:nvSpPr>
          <p:cNvPr id="4" name="Body"/>
          <p:cNvSpPr txBox="1"/>
          <p:nvPr/>
        </p:nvSpPr>
        <p:spPr>
          <a:xfrm>
            <a:off x="822960" y="5440680"/>
            <a:ext cx="10545775" cy="548640"/>
          </a:xfrm>
          <a:prstGeom prst="rect">
            <a:avLst/>
          </a:prstGeom>
          <a:noFill/>
          <a:ln/>
        </p:spPr>
        <p:txBody>
          <a:bodyPr wrap="square" lIns="50800" tIns="50800" rIns="50800" bIns="50800" rtlCol="0" anchor="t"/>
          <a:lstStyle/>
          <a:p>
            <a:pPr algn="ctr" indent="0" marL="0">
              <a:spcBef>
                <a:spcPts val="800"/>
              </a:spcBef>
              <a:buNone/>
            </a:pPr>
            <a:r>
              <a:rPr lang="en-US" sz="1800" i="1" dirty="0">
                <a:solidFill>
                  <a:srgbClr val="000000"/>
                </a:solidFill>
                <a:latin typeface="Georgia" pitchFamily="34" charset="0"/>
                <a:ea typeface="Georgia" pitchFamily="34" charset="-122"/>
                <a:cs typeface="Georgia" pitchFamily="34" charset="-120"/>
              </a:rPr>
              <a:t>CANONIC, 1,343 patients, 2013</a:t>
            </a:r>
            <a:endParaRPr lang="en-US" sz="18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Moreau R et al. Gastroenterology 2013 [PMID: 23474284]</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45/58</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he have HRS?</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1900" i="1" dirty="0">
                <a:solidFill>
                  <a:srgbClr val="000000"/>
                </a:solidFill>
                <a:latin typeface="Georgia" pitchFamily="34" charset="0"/>
                <a:ea typeface="Georgia" pitchFamily="34" charset="-122"/>
                <a:cs typeface="Georgia" pitchFamily="34" charset="-120"/>
              </a:rPr>
              <a:t>12 hours later: creatinine 3.0, urine 10 mL/h, still on norepinephrine</a:t>
            </a:r>
            <a:endParaRPr lang="en-US" sz="1900" dirty="0"/>
          </a:p>
        </p:txBody>
      </p:sp>
      <p:sp>
        <p:nvSpPr>
          <p:cNvPr id="4" name="Question"/>
          <p:cNvSpPr txBox="1"/>
          <p:nvPr/>
        </p:nvSpPr>
        <p:spPr>
          <a:xfrm>
            <a:off x="822960" y="1783080"/>
            <a:ext cx="10545775" cy="548640"/>
          </a:xfrm>
          <a:prstGeom prst="rect">
            <a:avLst/>
          </a:prstGeom>
          <a:noFill/>
          <a:ln/>
        </p:spPr>
        <p:txBody>
          <a:bodyPr wrap="square" lIns="0" tIns="0" rIns="0" bIns="0" rtlCol="0" anchor="ctr"/>
          <a:lstStyle/>
          <a:p>
            <a:pPr algn="ctr" indent="0" marL="0">
              <a:buNone/>
            </a:pPr>
            <a:r>
              <a:rPr lang="en-US" sz="3000" b="1" dirty="0">
                <a:solidFill>
                  <a:srgbClr val="000000"/>
                </a:solidFill>
                <a:latin typeface="Georgia" pitchFamily="34" charset="0"/>
                <a:ea typeface="Georgia" pitchFamily="34" charset="-122"/>
                <a:cs typeface="Georgia" pitchFamily="34" charset="-120"/>
              </a:rPr>
              <a:t>HRS? Start terlipressin?</a:t>
            </a:r>
            <a:endParaRPr lang="en-US" sz="3000" dirty="0"/>
          </a:p>
        </p:txBody>
      </p:sp>
      <p:pic>
        <p:nvPicPr>
          <p:cNvPr id="5" name="Image 0" descr="Watercolor of a vial of powder and a syringe">    </p:cNvPr>
          <p:cNvPicPr>
            <a:picLocks noChangeAspect="1"/>
          </p:cNvPicPr>
          <p:nvPr/>
        </p:nvPicPr>
        <p:blipFill>
          <a:blip r:embed="rId1"/>
          <a:stretch>
            <a:fillRect/>
          </a:stretch>
        </p:blipFill>
        <p:spPr>
          <a:xfrm>
            <a:off x="3763841" y="2514600"/>
            <a:ext cx="4664014" cy="3840480"/>
          </a:xfrm>
          <a:prstGeom prst="rect">
            <a:avLst/>
          </a:prstGeom>
        </p:spPr>
      </p:pic>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46/58</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he have HRS?</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1900" i="1" dirty="0">
                <a:solidFill>
                  <a:srgbClr val="000000"/>
                </a:solidFill>
                <a:latin typeface="Georgia" pitchFamily="34" charset="0"/>
                <a:ea typeface="Georgia" pitchFamily="34" charset="-122"/>
                <a:cs typeface="Georgia" pitchFamily="34" charset="-120"/>
              </a:rPr>
              <a:t>12 hours later: creatinine 3.0, urine 10 mL/h, still on norepinephrine</a:t>
            </a:r>
            <a:endParaRPr lang="en-US" sz="1900" dirty="0"/>
          </a:p>
        </p:txBody>
      </p:sp>
      <p:graphicFrame>
        <p:nvGraphicFramePr>
          <p:cNvPr id="76" name="Table"/>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5897880"/>
                <a:gridCol w="4178808"/>
                <a:gridCol w="832104"/>
              </a:tblGrid>
              <a:tr h="50292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HRS-AKI (ADQI-ICA 2024)</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Bed 7, day 1</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Cirrhosis with ascites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AKI by creatinine or urine output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No response to 24 h of volume, if needed</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No other main cause (shock, toxins, structural)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Go down the list for him. Which boxes does he tick?</a:t>
            </a:r>
            <a:endParaRPr lang="en-US" sz="24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ADQI-ICA consensus, J Hepatol 2024 [PMID: 38527522]</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46/58</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he have HRS?</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1900" i="1" dirty="0">
                <a:solidFill>
                  <a:srgbClr val="000000"/>
                </a:solidFill>
                <a:latin typeface="Georgia" pitchFamily="34" charset="0"/>
                <a:ea typeface="Georgia" pitchFamily="34" charset="-122"/>
                <a:cs typeface="Georgia" pitchFamily="34" charset="-120"/>
              </a:rPr>
              <a:t>12 hours later: creatinine 3.0, urine 10 mL/h, still on norepinephrine</a:t>
            </a:r>
            <a:endParaRPr lang="en-US" sz="1900" dirty="0"/>
          </a:p>
        </p:txBody>
      </p:sp>
      <p:graphicFrame>
        <p:nvGraphicFramePr>
          <p:cNvPr id="77" name="Table"/>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5897880"/>
                <a:gridCol w="4178808"/>
                <a:gridCol w="832104"/>
              </a:tblGrid>
              <a:tr h="50292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HRS-AKI (ADQI-ICA 2024)</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Bed 7, day 1</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Cirrhosis with ascites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AKI by creatinine or urine output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Cr 0.9 → 3.0, urine 10 mL/h</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No response to 24 h of volume, if needed</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2 L on arrival; too early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No other main cause (shock, toxins, structural)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b="1" dirty="0">
                          <a:solidFill>
                            <a:srgbClr val="C00000"/>
                          </a:solidFill>
                          <a:latin typeface="Calibri" pitchFamily="34" charset="0"/>
                          <a:ea typeface="Calibri" pitchFamily="34" charset="-122"/>
                          <a:cs typeface="Calibri" pitchFamily="34" charset="-120"/>
                        </a:rPr>
                        <a:t>Septic shock on norepinephrine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Not HRS yet. Treat the shock first</a:t>
            </a:r>
            <a:endParaRPr lang="en-US" sz="24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ADQI-ICA consensus, J Hepatol 2024 [PMID: 38527522]</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46/58</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Day 2: worse kidney, worse lungs</a:t>
            </a:r>
            <a:endParaRPr lang="en-US" sz="3000" dirty="0"/>
          </a:p>
        </p:txBody>
      </p:sp>
      <p:graphicFrame>
        <p:nvGraphicFramePr>
          <p:cNvPr id="78" name="Table"/>
          <p:cNvGraphicFramePr>
            <a:graphicFrameLocks noGrp="1"/>
          </p:cNvGraphicFramePr>
          <p:nvPr>
            <p:extLst>
              <p:ext uri="{D42A27DB-BD31-4B8C-83A1-F6EECF244321}">
                <p14:modId xmlns:p14="http://schemas.microsoft.com/office/powerpoint/2010/main" val="1579011935"/>
              </p:ext>
            </p:extLst>
          </p:nvPr>
        </p:nvGraphicFramePr>
        <p:xfrm>
          <a:off x="1097280" y="1280160"/>
          <a:ext cx="9997135" cy="914400"/>
        </p:xfrm>
        <a:graphic>
          <a:graphicData uri="http://schemas.openxmlformats.org/drawingml/2006/table">
            <a:tbl>
              <a:tblPr/>
              <a:tblGrid>
                <a:gridCol w="2926080"/>
                <a:gridCol w="2340864"/>
                <a:gridCol w="4727448"/>
              </a:tblGrid>
              <a:tr h="404165">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Admission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Day 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Albumin received</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110 g (SBP dose, 1.5 g/kg at 73 kg) + 2 L crystalloid</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Breathing</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SpO2 92%, Venturi 35%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C00000"/>
                          </a:solidFill>
                          <a:latin typeface="Calibri" pitchFamily="34" charset="0"/>
                          <a:ea typeface="Calibri" pitchFamily="34" charset="-122"/>
                          <a:cs typeface="Calibri" pitchFamily="34" charset="-120"/>
                        </a:rPr>
                        <a:t>SpO2 86% on Venturi 50%, RR 32, crackles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Ultrasound</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C00000"/>
                          </a:solidFill>
                          <a:latin typeface="Calibri" pitchFamily="34" charset="0"/>
                          <a:ea typeface="Calibri" pitchFamily="34" charset="-122"/>
                          <a:cs typeface="Calibri" pitchFamily="34" charset="-120"/>
                        </a:rPr>
                        <a:t>Diffuse B-lines, IVC full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Creatinine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2.6</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C00000"/>
                          </a:solidFill>
                          <a:latin typeface="Calibri" pitchFamily="34" charset="0"/>
                          <a:ea typeface="Calibri" pitchFamily="34" charset="-122"/>
                          <a:cs typeface="Calibri" pitchFamily="34" charset="-120"/>
                        </a:rPr>
                        <a:t>3.1</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Urine output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15 mL/h</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C00000"/>
                          </a:solidFill>
                          <a:latin typeface="Calibri" pitchFamily="34" charset="0"/>
                          <a:ea typeface="Calibri" pitchFamily="34" charset="-122"/>
                          <a:cs typeface="Calibri" pitchFamily="34" charset="-120"/>
                        </a:rPr>
                        <a:t>10 mL/h</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Norepinephrine (mcg/kg/min)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0.15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0.22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493776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More albumin? Terlipressin? Something else?</a:t>
            </a:r>
            <a:endParaRPr lang="en-US" sz="26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47/58</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Day 2: worse kidney, worse lungs</a:t>
            </a:r>
            <a:endParaRPr lang="en-US" sz="3000" dirty="0"/>
          </a:p>
        </p:txBody>
      </p:sp>
      <p:graphicFrame>
        <p:nvGraphicFramePr>
          <p:cNvPr id="79" name="Table"/>
          <p:cNvGraphicFramePr>
            <a:graphicFrameLocks noGrp="1"/>
          </p:cNvGraphicFramePr>
          <p:nvPr>
            <p:extLst>
              <p:ext uri="{D42A27DB-BD31-4B8C-83A1-F6EECF244321}">
                <p14:modId xmlns:p14="http://schemas.microsoft.com/office/powerpoint/2010/main" val="1579011935"/>
              </p:ext>
            </p:extLst>
          </p:nvPr>
        </p:nvGraphicFramePr>
        <p:xfrm>
          <a:off x="1097280" y="1280160"/>
          <a:ext cx="9997135" cy="914400"/>
        </p:xfrm>
        <a:graphic>
          <a:graphicData uri="http://schemas.openxmlformats.org/drawingml/2006/table">
            <a:tbl>
              <a:tblPr/>
              <a:tblGrid>
                <a:gridCol w="2926080"/>
                <a:gridCol w="2340864"/>
                <a:gridCol w="4727448"/>
              </a:tblGrid>
              <a:tr h="404165">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Admission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Day 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Albumin received</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110 g (SBP dose, 1.5 g/kg at 73 kg) + 2 L crystalloid</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Breathing</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SpO2 92%, Venturi 35%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C00000"/>
                          </a:solidFill>
                          <a:latin typeface="Calibri" pitchFamily="34" charset="0"/>
                          <a:ea typeface="Calibri" pitchFamily="34" charset="-122"/>
                          <a:cs typeface="Calibri" pitchFamily="34" charset="-120"/>
                        </a:rPr>
                        <a:t>SpO2 86% on Venturi 50%, RR 32, crackles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Ultrasound</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C00000"/>
                          </a:solidFill>
                          <a:latin typeface="Calibri" pitchFamily="34" charset="0"/>
                          <a:ea typeface="Calibri" pitchFamily="34" charset="-122"/>
                          <a:cs typeface="Calibri" pitchFamily="34" charset="-120"/>
                        </a:rPr>
                        <a:t>Diffuse B-lines, IVC full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Creatinine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2.6</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C00000"/>
                          </a:solidFill>
                          <a:latin typeface="Calibri" pitchFamily="34" charset="0"/>
                          <a:ea typeface="Calibri" pitchFamily="34" charset="-122"/>
                          <a:cs typeface="Calibri" pitchFamily="34" charset="-120"/>
                        </a:rPr>
                        <a:t>3.1</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Urine output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15 mL/h</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C00000"/>
                          </a:solidFill>
                          <a:latin typeface="Calibri" pitchFamily="34" charset="0"/>
                          <a:ea typeface="Calibri" pitchFamily="34" charset="-122"/>
                          <a:cs typeface="Calibri" pitchFamily="34" charset="-120"/>
                        </a:rPr>
                        <a:t>10 mL/h</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4165">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Norepinephrine (mcg/kg/min)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0.15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0.22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475488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First, look at his oxygen</a:t>
            </a:r>
            <a:endParaRPr lang="en-US" sz="2400" dirty="0"/>
          </a:p>
        </p:txBody>
      </p:sp>
      <p:sp>
        <p:nvSpPr>
          <p:cNvPr id="5" name="Question"/>
          <p:cNvSpPr txBox="1"/>
          <p:nvPr/>
        </p:nvSpPr>
        <p:spPr>
          <a:xfrm>
            <a:off x="822960" y="5394960"/>
            <a:ext cx="10545775" cy="548640"/>
          </a:xfrm>
          <a:prstGeom prst="rect">
            <a:avLst/>
          </a:prstGeom>
          <a:noFill/>
          <a:ln/>
        </p:spPr>
        <p:txBody>
          <a:bodyPr wrap="square" lIns="0" tIns="0" rIns="0" bIns="0" rtlCol="0" anchor="ctr"/>
          <a:lstStyle/>
          <a:p>
            <a:pPr algn="ctr" indent="0" marL="0">
              <a:buNone/>
            </a:pPr>
            <a:r>
              <a:rPr lang="en-US" sz="2000" b="1" dirty="0">
                <a:solidFill>
                  <a:srgbClr val="000000"/>
                </a:solidFill>
                <a:highlight>
                  <a:srgbClr val="FFFF00"/>
                </a:highlight>
                <a:latin typeface="Georgia" pitchFamily="34" charset="0"/>
                <a:ea typeface="Georgia" pitchFamily="34" charset="-122"/>
                <a:cs typeface="Georgia" pitchFamily="34" charset="-120"/>
              </a:rPr>
              <a:t>Now on high-flow, FiO2 0.6, SpO2 90%: SpO2/FiO2 150. That's a third organ failure</a:t>
            </a:r>
            <a:endParaRPr lang="en-US" sz="2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47/58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Day 2: what do his lungs look like?</a:t>
            </a:r>
            <a:endParaRPr lang="en-US" sz="3000" dirty="0"/>
          </a:p>
        </p:txBody>
      </p:sp>
      <p:pic>
        <p:nvPicPr>
          <p:cNvPr id="3" name="Image 0" descr="Chest X-ray with bilateral pulmonary edema">    </p:cNvPr>
          <p:cNvPicPr>
            <a:picLocks noChangeAspect="1"/>
          </p:cNvPicPr>
          <p:nvPr/>
        </p:nvPicPr>
        <p:blipFill>
          <a:blip r:embed="rId1"/>
          <a:stretch>
            <a:fillRect/>
          </a:stretch>
        </p:blipFill>
        <p:spPr>
          <a:xfrm>
            <a:off x="548640" y="1188720"/>
            <a:ext cx="5120640" cy="4813402"/>
          </a:xfrm>
          <a:prstGeom prst="rect">
            <a:avLst/>
          </a:prstGeom>
        </p:spPr>
      </p:pic>
      <p:pic>
        <p:nvPicPr>
          <p:cNvPr id="4" name="Image 1" descr="Lung ultrasound with B-lines">    </p:cNvPr>
          <p:cNvPicPr>
            <a:picLocks noChangeAspect="1"/>
          </p:cNvPicPr>
          <p:nvPr/>
        </p:nvPicPr>
        <p:blipFill>
          <a:blip r:embed="rId2"/>
          <a:stretch>
            <a:fillRect/>
          </a:stretch>
        </p:blipFill>
        <p:spPr>
          <a:xfrm>
            <a:off x="5943600" y="1188720"/>
            <a:ext cx="5669280" cy="4720964"/>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Images for teaching, not this patient</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48/58</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would you do for his kidney today?</a:t>
            </a:r>
            <a:endParaRPr lang="en-US" sz="3000" dirty="0"/>
          </a:p>
        </p:txBody>
      </p:sp>
      <p:sp>
        <p:nvSpPr>
          <p:cNvPr id="3" name="Question"/>
          <p:cNvSpPr txBox="1"/>
          <p:nvPr/>
        </p:nvSpPr>
        <p:spPr>
          <a:xfrm>
            <a:off x="822960" y="141732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Terlipressin, more albumin, or dialysis?</a:t>
            </a:r>
            <a:endParaRPr lang="en-US" sz="2800" dirty="0"/>
          </a:p>
        </p:txBody>
      </p:sp>
      <p:pic>
        <p:nvPicPr>
          <p:cNvPr id="4" name="Image 0" descr="Watercolor of a vial, a bottle of albumin and a dialysis catheter on a tray">    </p:cNvPr>
          <p:cNvPicPr>
            <a:picLocks noChangeAspect="1"/>
          </p:cNvPicPr>
          <p:nvPr/>
        </p:nvPicPr>
        <p:blipFill>
          <a:blip r:embed="rId1"/>
          <a:stretch>
            <a:fillRect/>
          </a:stretch>
        </p:blipFill>
        <p:spPr>
          <a:xfrm>
            <a:off x="3139361" y="2148840"/>
            <a:ext cx="5912974" cy="4206240"/>
          </a:xfrm>
          <a:prstGeom prst="rect">
            <a:avLst/>
          </a:prstGeom>
        </p:spPr>
      </p:pic>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49/58</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would you do for his kidney today?</a:t>
            </a:r>
            <a:endParaRPr lang="en-US" sz="3000" dirty="0"/>
          </a:p>
        </p:txBody>
      </p:sp>
      <p:sp>
        <p:nvSpPr>
          <p:cNvPr id="3" name="Body"/>
          <p:cNvSpPr txBox="1"/>
          <p:nvPr/>
        </p:nvSpPr>
        <p:spPr>
          <a:xfrm>
            <a:off x="822960" y="1280160"/>
            <a:ext cx="10545775" cy="4206240"/>
          </a:xfrm>
          <a:prstGeom prst="rect">
            <a:avLst/>
          </a:prstGeom>
          <a:noFill/>
          <a:ln/>
        </p:spPr>
        <p:txBody>
          <a:bodyPr wrap="square" lIns="50800" tIns="50800" rIns="50800" bIns="50800" rtlCol="0" anchor="t"/>
          <a:lstStyle/>
          <a:p>
            <a:pPr marL="228600" indent="-228600">
              <a:spcBef>
                <a:spcPts val="800"/>
              </a:spcBef>
              <a:buSzPct val="100000"/>
              <a:buChar char="–"/>
            </a:pPr>
            <a:r>
              <a:rPr lang="en-US" sz="2000" b="1" dirty="0">
                <a:solidFill>
                  <a:srgbClr val="000000"/>
                </a:solidFill>
                <a:latin typeface="Georgia" pitchFamily="34" charset="0"/>
                <a:ea typeface="Georgia" pitchFamily="34" charset="-122"/>
                <a:cs typeface="Georgia" pitchFamily="34" charset="-120"/>
              </a:rPr>
              <a:t>Terlipressin: not for him today</a:t>
            </a:r>
            <a:endParaRPr lang="en-US" sz="2000" dirty="0"/>
          </a:p>
          <a:p>
            <a:pPr lvl="1" marL="457200" indent="-228600">
              <a:spcBef>
                <a:spcPts val="200"/>
              </a:spcBef>
              <a:buSzPct val="100000"/>
              <a:buChar char="–"/>
            </a:pPr>
            <a:r>
              <a:rPr lang="en-US" sz="1800" dirty="0">
                <a:solidFill>
                  <a:srgbClr val="000000"/>
                </a:solidFill>
                <a:latin typeface="Georgia" pitchFamily="34" charset="0"/>
                <a:ea typeface="Georgia" pitchFamily="34" charset="-122"/>
                <a:cs typeface="Georgia" pitchFamily="34" charset="-120"/>
              </a:rPr>
              <a:t>Label: don't start if SpO2 &lt; 90% or breathing is getting worse</a:t>
            </a:r>
            <a:endParaRPr lang="en-US" sz="2000" dirty="0"/>
          </a:p>
          <a:p>
            <a:pPr lvl="1" marL="457200" indent="-228600">
              <a:spcBef>
                <a:spcPts val="200"/>
              </a:spcBef>
              <a:buSzPct val="100000"/>
              <a:buChar char="–"/>
            </a:pPr>
            <a:r>
              <a:rPr lang="en-US" sz="1800" dirty="0">
                <a:solidFill>
                  <a:srgbClr val="000000"/>
                </a:solidFill>
                <a:latin typeface="Georgia" pitchFamily="34" charset="0"/>
                <a:ea typeface="Georgia" pitchFamily="34" charset="-122"/>
                <a:cs typeface="Georgia" pitchFamily="34" charset="-120"/>
              </a:rPr>
              <a:t>Label: avoid in ACLF grade 3 and in volume overload</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Stop the albumin while he is wet</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He is already on a vasoconstrictor. Norepinephrine, titrated to perfusion</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RRT if he stays overloaded. For HRS, RRT is a bridge to transplant: if he isn't a candidate, talk about goals before you start</a:t>
            </a:r>
            <a:endParaRPr lang="en-US" sz="2000" dirty="0"/>
          </a:p>
        </p:txBody>
      </p:sp>
      <p:sp>
        <p:nvSpPr>
          <p:cNvPr id="4" name="Question"/>
          <p:cNvSpPr txBox="1"/>
          <p:nvPr/>
        </p:nvSpPr>
        <p:spPr>
          <a:xfrm>
            <a:off x="822960" y="5532120"/>
            <a:ext cx="10545775" cy="548640"/>
          </a:xfrm>
          <a:prstGeom prst="rect">
            <a:avLst/>
          </a:prstGeom>
          <a:noFill/>
          <a:ln/>
        </p:spPr>
        <p:txBody>
          <a:bodyPr wrap="square" lIns="0" tIns="0" rIns="0" bIns="0" rtlCol="0" anchor="ctr"/>
          <a:lstStyle/>
          <a:p>
            <a:pPr algn="ctr" indent="0" marL="0">
              <a:buNone/>
            </a:pPr>
            <a:r>
              <a:rPr lang="en-US" sz="2000" b="1" dirty="0">
                <a:solidFill>
                  <a:srgbClr val="000000"/>
                </a:solidFill>
                <a:latin typeface="Georgia" pitchFamily="34" charset="0"/>
                <a:ea typeface="Georgia" pitchFamily="34" charset="-122"/>
                <a:cs typeface="Georgia" pitchFamily="34" charset="-120"/>
              </a:rPr>
              <a:t>Check oxygen and volume before any kidney treatment</a:t>
            </a:r>
            <a:endParaRPr lang="en-US" sz="20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TERLIVAZ prescribing information, revised 6/2026; ADQI-ICA 2024 [PMID: 38527522]</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49/58</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HRS reversal mean survival?</a:t>
            </a:r>
            <a:endParaRPr lang="en-US" sz="3000" dirty="0"/>
          </a:p>
        </p:txBody>
      </p:sp>
      <p:graphicFrame>
        <p:nvGraphicFramePr>
          <p:cNvPr id="3" name="Chart 0" descr=""/>
          <p:cNvGraphicFramePr/>
          <p:nvPr/>
        </p:nvGraphicFramePr>
        <p:xfrm>
          <a:off x="548640" y="128016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Body"/>
          <p:cNvSpPr txBox="1"/>
          <p:nvPr/>
        </p:nvSpPr>
        <p:spPr>
          <a:xfrm>
            <a:off x="7589520" y="1463040"/>
            <a:ext cx="4114800" cy="4572000"/>
          </a:xfrm>
          <a:prstGeom prst="rect">
            <a:avLst/>
          </a:prstGeom>
          <a:noFill/>
          <a:ln/>
        </p:spPr>
        <p:txBody>
          <a:bodyPr wrap="square" lIns="50800" tIns="50800" rIns="50800" bIns="50800" rtlCol="0" anchor="t"/>
          <a:lstStyle/>
          <a:p>
            <a:pPr indent="0" marL="0">
              <a:spcBef>
                <a:spcPts val="1200"/>
              </a:spcBef>
              <a:buNone/>
            </a:pPr>
            <a:r>
              <a:rPr lang="en-US" sz="2000" b="1" dirty="0">
                <a:solidFill>
                  <a:srgbClr val="000000"/>
                </a:solidFill>
                <a:latin typeface="Georgia" pitchFamily="34" charset="0"/>
                <a:ea typeface="Georgia" pitchFamily="34" charset="-122"/>
                <a:cs typeface="Georgia" pitchFamily="34" charset="-120"/>
              </a:rPr>
              <a:t>CONFIRM: type 1 HRS, 300 patients</a:t>
            </a:r>
            <a:endParaRPr lang="en-US" sz="2000" dirty="0"/>
          </a:p>
          <a:p>
            <a:pPr marL="228600" indent="-228600">
              <a:spcBef>
                <a:spcPts val="1200"/>
              </a:spcBef>
              <a:buSzPct val="100000"/>
              <a:buChar char="–"/>
            </a:pPr>
            <a:r>
              <a:rPr lang="en-US" sz="2000" dirty="0">
                <a:solidFill>
                  <a:srgbClr val="000000"/>
                </a:solidFill>
                <a:latin typeface="Georgia" pitchFamily="34" charset="0"/>
                <a:ea typeface="Georgia" pitchFamily="34" charset="-122"/>
                <a:cs typeface="Georgia" pitchFamily="34" charset="-120"/>
              </a:rPr>
              <a:t>More kidneys recovered</a:t>
            </a:r>
            <a:endParaRPr lang="en-US" sz="2000" dirty="0"/>
          </a:p>
          <a:p>
            <a:pPr marL="228600" indent="-228600">
              <a:spcBef>
                <a:spcPts val="1200"/>
              </a:spcBef>
              <a:buSzPct val="100000"/>
              <a:buChar char="–"/>
            </a:pPr>
            <a:r>
              <a:rPr lang="en-US" sz="2000" b="1" dirty="0">
                <a:solidFill>
                  <a:srgbClr val="C00000"/>
                </a:solidFill>
                <a:latin typeface="Georgia" pitchFamily="34" charset="0"/>
                <a:ea typeface="Georgia" pitchFamily="34" charset="-122"/>
                <a:cs typeface="Georgia" pitchFamily="34" charset="-120"/>
              </a:rPr>
              <a:t>More patients died of respiratory failure</a:t>
            </a:r>
            <a:endParaRPr lang="en-US" sz="2000" dirty="0"/>
          </a:p>
          <a:p>
            <a:pPr marL="228600" indent="-228600">
              <a:spcBef>
                <a:spcPts val="1200"/>
              </a:spcBef>
              <a:buSzPct val="100000"/>
              <a:buChar char="–"/>
            </a:pPr>
            <a:r>
              <a:rPr lang="en-US" sz="2000" dirty="0">
                <a:solidFill>
                  <a:srgbClr val="000000"/>
                </a:solidFill>
                <a:latin typeface="Georgia" pitchFamily="34" charset="0"/>
                <a:ea typeface="Georgia" pitchFamily="34" charset="-122"/>
                <a:cs typeface="Georgia" pitchFamily="34" charset="-120"/>
              </a:rPr>
              <a:t>All-cause 90-day mortality was not different</a:t>
            </a:r>
            <a:endParaRPr lang="en-US" sz="2000" dirty="0"/>
          </a:p>
          <a:p>
            <a:pPr marL="228600" indent="-228600">
              <a:spcBef>
                <a:spcPts val="1200"/>
              </a:spcBef>
              <a:buSzPct val="100000"/>
              <a:buChar char="–"/>
            </a:pPr>
            <a:r>
              <a:rPr lang="en-US" sz="2000" dirty="0">
                <a:solidFill>
                  <a:srgbClr val="000000"/>
                </a:solidFill>
                <a:latin typeface="Georgia" pitchFamily="34" charset="0"/>
                <a:ea typeface="Georgia" pitchFamily="34" charset="-122"/>
                <a:cs typeface="Georgia" pitchFamily="34" charset="-120"/>
              </a:rPr>
              <a:t>Respiratory failure as an adverse event: about 14% vs 5% (label)</a:t>
            </a:r>
            <a:endParaRPr lang="en-US" sz="20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Wong F et al. NEJM 2021 [PMID: 33657294]; TERLIVAZ prescribing information, revised 6/2026</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50/58</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Should we treat the albumin number?</a:t>
            </a:r>
            <a:endParaRPr lang="en-US" sz="3000" dirty="0"/>
          </a:p>
        </p:txBody>
      </p:sp>
      <p:graphicFrame>
        <p:nvGraphicFramePr>
          <p:cNvPr id="84" name="Table"/>
          <p:cNvGraphicFramePr>
            <a:graphicFrameLocks noGrp="1"/>
          </p:cNvGraphicFramePr>
          <p:nvPr>
            <p:extLst>
              <p:ext uri="{D42A27DB-BD31-4B8C-83A1-F6EECF244321}">
                <p14:modId xmlns:p14="http://schemas.microsoft.com/office/powerpoint/2010/main" val="1579011935"/>
              </p:ext>
            </p:extLst>
          </p:nvPr>
        </p:nvGraphicFramePr>
        <p:xfrm>
          <a:off x="822960" y="1280160"/>
          <a:ext cx="10545775" cy="914400"/>
        </p:xfrm>
        <a:graphic>
          <a:graphicData uri="http://schemas.openxmlformats.org/drawingml/2006/table">
            <a:tbl>
              <a:tblPr/>
              <a:tblGrid>
                <a:gridCol w="1719072"/>
                <a:gridCol w="8823960"/>
              </a:tblGrid>
              <a:tr h="54864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Study</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777 inpatients: albumin to ≥ 30 g/L vs standard care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Finding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Infection, kidney dysfunction or death: 29.7% vs 30.2%</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The catch</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More serious adverse events, including pulmonary edema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822960" y="3977640"/>
            <a:ext cx="10545775" cy="2194560"/>
          </a:xfrm>
          <a:prstGeom prst="rect">
            <a:avLst/>
          </a:prstGeom>
          <a:noFill/>
          <a:ln/>
        </p:spPr>
        <p:txBody>
          <a:bodyPr wrap="square" lIns="50800" tIns="50800" rIns="50800" bIns="50800" rtlCol="0" anchor="t"/>
          <a:lstStyle/>
          <a:p>
            <a:pPr indent="0" marL="0">
              <a:spcBef>
                <a:spcPts val="800"/>
              </a:spcBef>
              <a:buNone/>
            </a:pPr>
            <a:r>
              <a:rPr lang="en-US" sz="1900" b="1" dirty="0">
                <a:solidFill>
                  <a:srgbClr val="000000"/>
                </a:solidFill>
                <a:latin typeface="Georgia" pitchFamily="34" charset="0"/>
                <a:ea typeface="Georgia" pitchFamily="34" charset="-122"/>
                <a:cs typeface="Georgia" pitchFamily="34" charset="-120"/>
              </a:rPr>
              <a:t>When albumin is indicated</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SBP: 1.5 g/kg on day 1, 1 g/kg on day 3</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Paracentesis over 5 L: 6 to 8 g per liter removed</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HRS-AKI: with a vasoconstrictor, dosed to volume status</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China L et al. NEJM 2021 [PMID: 33657293]; ADQI-ICA 2024 [PMID: 38527522]</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51/58</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changed since yesterday?</a:t>
            </a:r>
            <a:endParaRPr lang="en-US" sz="3000" dirty="0"/>
          </a:p>
        </p:txBody>
      </p:sp>
      <p:graphicFrame>
        <p:nvGraphicFramePr>
          <p:cNvPr id="85"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911535" cy="914400"/>
        </p:xfrm>
        <a:graphic>
          <a:graphicData uri="http://schemas.openxmlformats.org/drawingml/2006/table">
            <a:tbl>
              <a:tblPr/>
              <a:tblGrid>
                <a:gridCol w="3602736"/>
                <a:gridCol w="2249424"/>
                <a:gridCol w="1901952"/>
                <a:gridCol w="1901952"/>
                <a:gridCol w="1252728"/>
              </a:tblGrid>
              <a:tr h="380390">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3</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5</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Norepinephrine (mcg/kg/min)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0.15</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0.22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0.12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Off</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Oxygen, SpO2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Venturi 0.35, 92%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HFNC 0.6, 90%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HFNC 0.4, 95%</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 L, 97%</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Lung failure?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 (P/F 211)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00000"/>
                          </a:solidFill>
                          <a:latin typeface="Calibri" pitchFamily="34" charset="0"/>
                          <a:ea typeface="Calibri" pitchFamily="34" charset="-122"/>
                          <a:cs typeface="Calibri" pitchFamily="34" charset="-120"/>
                        </a:rPr>
                        <a:t>Yes (S/F 150)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 (S/F 238)</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Kidney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Cr 2.6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Cr 3.1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CRRT for fluid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On CRRT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Encephalopathy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Bilirubin / INR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5.8 / 2.1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6.4 / 2.3</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6.1 / 2.2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5.2 / 2.0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ACLF grade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000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16636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Better or worse? What do you tell his family?</a:t>
            </a:r>
            <a:endParaRPr lang="en-US" sz="24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Made-up numbers for teaching. CLIF-C ACLF score [PMID: 24950482]; EASL ACLF 2023 [PMID: 37364789]</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52/58</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changed since yesterday?</a:t>
            </a:r>
            <a:endParaRPr lang="en-US" sz="3000" dirty="0"/>
          </a:p>
        </p:txBody>
      </p:sp>
      <p:graphicFrame>
        <p:nvGraphicFramePr>
          <p:cNvPr id="86"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911535" cy="914400"/>
        </p:xfrm>
        <a:graphic>
          <a:graphicData uri="http://schemas.openxmlformats.org/drawingml/2006/table">
            <a:tbl>
              <a:tblPr/>
              <a:tblGrid>
                <a:gridCol w="3602736"/>
                <a:gridCol w="2249424"/>
                <a:gridCol w="1901952"/>
                <a:gridCol w="1901952"/>
                <a:gridCol w="1252728"/>
              </a:tblGrid>
              <a:tr h="380390">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3</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5</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Norepinephrine (mcg/kg/min)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0.15</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0.22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0.12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Off</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Oxygen, SpO2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Venturi 0.35, 92%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HFNC 0.6, 90%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HFNC 0.4, 95%</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 L, 97%</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Lung failure?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 (P/F 211)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00000"/>
                          </a:solidFill>
                          <a:latin typeface="Calibri" pitchFamily="34" charset="0"/>
                          <a:ea typeface="Calibri" pitchFamily="34" charset="-122"/>
                          <a:cs typeface="Calibri" pitchFamily="34" charset="-120"/>
                        </a:rPr>
                        <a:t>Yes (S/F 150)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 (S/F 238)</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Kidney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Cr 2.6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Cr 3.1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CRRT for fluid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On CRRT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Encephalopathy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Bilirubin / INR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5.8 / 2.1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6.4 / 2.3</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6.1 / 2.2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5.2 / 2.0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039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ACLF grade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000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0000"/>
                          </a:solidFill>
                          <a:highlight>
                            <a:srgbClr val="FFFF00"/>
                          </a:highlight>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822960" y="4572000"/>
            <a:ext cx="10545775" cy="1737360"/>
          </a:xfrm>
          <a:prstGeom prst="rect">
            <a:avLst/>
          </a:prstGeom>
          <a:noFill/>
          <a:ln/>
        </p:spPr>
        <p:txBody>
          <a:bodyPr wrap="square" lIns="50800" tIns="50800" rIns="50800" bIns="50800" rtlCol="0" anchor="t"/>
          <a:lstStyle/>
          <a:p>
            <a:pPr marL="228600" indent="-228600">
              <a:spcBef>
                <a:spcPts val="200"/>
              </a:spcBef>
              <a:buSzPct val="100000"/>
              <a:buChar char="–"/>
            </a:pPr>
            <a:r>
              <a:rPr lang="en-US" sz="1600" dirty="0">
                <a:solidFill>
                  <a:srgbClr val="000000"/>
                </a:solidFill>
                <a:latin typeface="Georgia" pitchFamily="34" charset="0"/>
                <a:ea typeface="Georgia" pitchFamily="34" charset="-122"/>
                <a:cs typeface="Georgia" pitchFamily="34" charset="-120"/>
              </a:rPr>
              <a:t>The grade at days 3 to 7 predicts outcome better than the grade at admission</a:t>
            </a:r>
            <a:endParaRPr lang="en-US" sz="1600" dirty="0"/>
          </a:p>
          <a:p>
            <a:pPr marL="228600" indent="-228600">
              <a:spcBef>
                <a:spcPts val="200"/>
              </a:spcBef>
              <a:buSzPct val="100000"/>
              <a:buChar char="–"/>
            </a:pPr>
            <a:r>
              <a:rPr lang="en-US" sz="1600" dirty="0">
                <a:solidFill>
                  <a:srgbClr val="000000"/>
                </a:solidFill>
                <a:latin typeface="Georgia" pitchFamily="34" charset="0"/>
                <a:ea typeface="Georgia" pitchFamily="34" charset="-122"/>
                <a:cs typeface="Georgia" pitchFamily="34" charset="-120"/>
              </a:rPr>
              <a:t>Persistent ACLF 3 at days 3 to 7, especially with four or more organ failures, has a very high mortality without transplant</a:t>
            </a:r>
            <a:endParaRPr lang="en-US" sz="1600" dirty="0"/>
          </a:p>
          <a:p>
            <a:pPr marL="228600" indent="-228600">
              <a:spcBef>
                <a:spcPts val="200"/>
              </a:spcBef>
              <a:buSzPct val="100000"/>
              <a:buChar char="–"/>
            </a:pPr>
            <a:r>
              <a:rPr lang="en-US" sz="1600" dirty="0">
                <a:solidFill>
                  <a:srgbClr val="000000"/>
                </a:solidFill>
                <a:latin typeface="Georgia" pitchFamily="34" charset="0"/>
                <a:ea typeface="Georgia" pitchFamily="34" charset="-122"/>
                <a:cs typeface="Georgia" pitchFamily="34" charset="-120"/>
              </a:rPr>
              <a:t>If he is not a transplant candidate, discuss goals of care with the family and involve palliative care</a:t>
            </a:r>
            <a:endParaRPr lang="en-US" sz="16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Made-up numbers for teaching. CLIF-C ACLF score [PMID: 24950482]; EASL ACLF 2023 [PMID: 37364789]</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52/58</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pic>
        <p:nvPicPr>
          <p:cNvPr id="2" name="Image 0" descr="Watercolor of a donor liver in an organ bag on ice in a transport cool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548640" y="1417320"/>
            <a:ext cx="5212080" cy="2011680"/>
          </a:xfrm>
          <a:prstGeom prst="rect">
            <a:avLst/>
          </a:prstGeom>
          <a:noFill/>
          <a:ln/>
        </p:spPr>
        <p:txBody>
          <a:bodyPr wrap="square" lIns="0" tIns="0" rIns="0" bIns="0" rtlCol="0" anchor="b"/>
          <a:lstStyle/>
          <a:p>
            <a:pPr algn="ctr" indent="0" marL="0">
              <a:buNone/>
            </a:pPr>
            <a:r>
              <a:rPr lang="en-US" sz="4800" dirty="0">
                <a:solidFill>
                  <a:srgbClr val="000000"/>
                </a:solidFill>
                <a:latin typeface="Georgia" pitchFamily="34" charset="0"/>
                <a:ea typeface="Georgia" pitchFamily="34" charset="-122"/>
                <a:cs typeface="Georgia" pitchFamily="34" charset="-120"/>
              </a:rPr>
              <a:t>Transplant in ACLF</a:t>
            </a:r>
            <a:endParaRPr lang="en-US" sz="48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53/58</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Is he too sick for a transplant?</a:t>
            </a:r>
            <a:endParaRPr lang="en-US" sz="3000" dirty="0"/>
          </a:p>
        </p:txBody>
      </p:sp>
      <p:sp>
        <p:nvSpPr>
          <p:cNvPr id="3" name="Question"/>
          <p:cNvSpPr txBox="1"/>
          <p:nvPr/>
        </p:nvSpPr>
        <p:spPr>
          <a:xfrm>
            <a:off x="822960" y="141732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ACLF 3 on a ventilator. Would you call?</a:t>
            </a:r>
            <a:endParaRPr lang="en-US" sz="2800" dirty="0"/>
          </a:p>
        </p:txBody>
      </p:sp>
      <p:pic>
        <p:nvPicPr>
          <p:cNvPr id="4" name="Image 0" descr="Watercolor of an ICU bed surrounded by a ventilator, infusion pumps and a CRRT machine">    </p:cNvPr>
          <p:cNvPicPr>
            <a:picLocks noChangeAspect="1"/>
          </p:cNvPicPr>
          <p:nvPr/>
        </p:nvPicPr>
        <p:blipFill>
          <a:blip r:embed="rId1"/>
          <a:stretch>
            <a:fillRect/>
          </a:stretch>
        </p:blipFill>
        <p:spPr>
          <a:xfrm>
            <a:off x="3728380" y="2148840"/>
            <a:ext cx="4734936" cy="4206240"/>
          </a:xfrm>
          <a:prstGeom prst="rect">
            <a:avLst/>
          </a:prstGeom>
        </p:spPr>
      </p:pic>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54/58</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Is he too sick for a transplant?</a:t>
            </a:r>
            <a:endParaRPr lang="en-US" sz="3000" dirty="0"/>
          </a:p>
        </p:txBody>
      </p:sp>
      <p:sp>
        <p:nvSpPr>
          <p:cNvPr id="3" name="Body"/>
          <p:cNvSpPr txBox="1"/>
          <p:nvPr/>
        </p:nvSpPr>
        <p:spPr>
          <a:xfrm>
            <a:off x="548640" y="1280160"/>
            <a:ext cx="6309360" cy="4937760"/>
          </a:xfrm>
          <a:prstGeom prst="rect">
            <a:avLst/>
          </a:prstGeom>
          <a:noFill/>
          <a:ln/>
        </p:spPr>
        <p:txBody>
          <a:bodyPr wrap="square" lIns="50800" tIns="50800" rIns="50800" bIns="50800" rtlCol="0" anchor="t"/>
          <a:lstStyle/>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A ventilator, pressors or dialysis do not by themselves exclude transplant</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Selected patients with ACLF grade 3 do well after transplant, if it happens early</a:t>
            </a:r>
            <a:endParaRPr lang="en-US" sz="1800" dirty="0"/>
          </a:p>
          <a:p>
            <a:pPr indent="0" marL="0">
              <a:spcBef>
                <a:spcPts val="1600"/>
              </a:spcBef>
              <a:buNone/>
            </a:pPr>
            <a:r>
              <a:rPr lang="en-US" sz="1800" b="1" dirty="0">
                <a:solidFill>
                  <a:srgbClr val="000000"/>
                </a:solidFill>
                <a:latin typeface="Georgia" pitchFamily="34" charset="0"/>
                <a:ea typeface="Georgia" pitchFamily="34" charset="-122"/>
                <a:cs typeface="Georgia" pitchFamily="34" charset="-120"/>
              </a:rPr>
              <a:t>What makes transplant unlikely</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Uncontrolled infection</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Rising vasopressor needs, severe respiratory failure</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Irreversible brain injury</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Frailty and comorbidity</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Alcohol: centers now evaluate individually rather than by a fixed abstinence rule</a:t>
            </a:r>
            <a:endParaRPr lang="en-US" sz="1800" dirty="0"/>
          </a:p>
        </p:txBody>
      </p:sp>
      <p:pic>
        <p:nvPicPr>
          <p:cNvPr id="4" name="Image 0" descr="Artru 2017: title">    </p:cNvPr>
          <p:cNvPicPr>
            <a:picLocks noChangeAspect="1"/>
          </p:cNvPicPr>
          <p:nvPr/>
        </p:nvPicPr>
        <p:blipFill>
          <a:blip r:embed="rId1"/>
          <a:stretch>
            <a:fillRect/>
          </a:stretch>
        </p:blipFill>
        <p:spPr>
          <a:xfrm>
            <a:off x="7040880" y="1188720"/>
            <a:ext cx="4663440" cy="1236732"/>
          </a:xfrm>
          <a:prstGeom prst="rect">
            <a:avLst/>
          </a:prstGeom>
        </p:spPr>
      </p:pic>
      <p:pic>
        <p:nvPicPr>
          <p:cNvPr id="5" name="Image 1" descr="One-year survival, transplanted ACLF 3 vs non-transplanted controls">    </p:cNvPr>
          <p:cNvPicPr>
            <a:picLocks noChangeAspect="1"/>
          </p:cNvPicPr>
          <p:nvPr/>
        </p:nvPicPr>
        <p:blipFill>
          <a:blip r:embed="rId2"/>
          <a:stretch>
            <a:fillRect/>
          </a:stretch>
        </p:blipFill>
        <p:spPr>
          <a:xfrm>
            <a:off x="7102213" y="2562612"/>
            <a:ext cx="4540774" cy="3198108"/>
          </a:xfrm>
          <a:prstGeom prst="rect">
            <a:avLst/>
          </a:prstGeom>
        </p:spPr>
      </p:pic>
      <p:sp>
        <p:nvSpPr>
          <p:cNvPr id="6" name="Body"/>
          <p:cNvSpPr txBox="1"/>
          <p:nvPr/>
        </p:nvSpPr>
        <p:spPr>
          <a:xfrm>
            <a:off x="7040880" y="5806440"/>
            <a:ext cx="4663440" cy="411480"/>
          </a:xfrm>
          <a:prstGeom prst="rect">
            <a:avLst/>
          </a:prstGeom>
          <a:noFill/>
          <a:ln/>
        </p:spPr>
        <p:txBody>
          <a:bodyPr wrap="square" lIns="50800" tIns="50800" rIns="50800" bIns="50800" rtlCol="0" anchor="t"/>
          <a:lstStyle/>
          <a:p>
            <a:pPr algn="ctr" indent="0" marL="0">
              <a:spcBef>
                <a:spcPts val="800"/>
              </a:spcBef>
              <a:buNone/>
            </a:pPr>
            <a:r>
              <a:rPr lang="en-US" sz="1600" i="1" dirty="0">
                <a:solidFill>
                  <a:srgbClr val="000000"/>
                </a:solidFill>
                <a:latin typeface="Georgia" pitchFamily="34" charset="0"/>
                <a:ea typeface="Georgia" pitchFamily="34" charset="-122"/>
                <a:cs typeface="Georgia" pitchFamily="34" charset="-120"/>
              </a:rPr>
              <a:t>Selected patients, not randomized</a:t>
            </a:r>
            <a:endParaRPr lang="en-US" sz="16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Artru F et al. J Hepatol 2017 [PMID: 28645736]; Lancet Gastroenterol Hepatol 2024 [PMID: 38309288]; AASLD/AST 2026 [PMID: 41405234]</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54/58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happened to them</a:t>
            </a:r>
            <a:endParaRPr lang="en-US" sz="3000" dirty="0"/>
          </a:p>
        </p:txBody>
      </p:sp>
      <p:sp>
        <p:nvSpPr>
          <p:cNvPr id="3" name="Text 1"/>
          <p:cNvSpPr txBox="1"/>
          <p:nvPr/>
        </p:nvSpPr>
        <p:spPr>
          <a:xfrm>
            <a:off x="548640" y="1417320"/>
            <a:ext cx="5486400" cy="411480"/>
          </a:xfrm>
          <a:prstGeom prst="rect">
            <a:avLst/>
          </a:prstGeom>
          <a:noFill/>
          <a:ln/>
        </p:spPr>
        <p:txBody>
          <a:bodyPr wrap="square" lIns="0" tIns="0" rIns="0" bIns="0" rtlCol="0" anchor="ctr"/>
          <a:lstStyle/>
          <a:p>
            <a:pPr indent="0" marL="0">
              <a:buNone/>
            </a:pPr>
            <a:r>
              <a:rPr lang="en-US" sz="2000" b="1" dirty="0">
                <a:solidFill>
                  <a:srgbClr val="000000"/>
                </a:solidFill>
                <a:latin typeface="Georgia" pitchFamily="34" charset="0"/>
                <a:ea typeface="Georgia" pitchFamily="34" charset="-122"/>
                <a:cs typeface="Georgia" pitchFamily="34" charset="-120"/>
              </a:rPr>
              <a:t>Bed 4</a:t>
            </a:r>
            <a:endParaRPr lang="en-US" sz="2000" dirty="0"/>
          </a:p>
        </p:txBody>
      </p:sp>
      <p:sp>
        <p:nvSpPr>
          <p:cNvPr id="4" name="Shape 2"/>
          <p:cNvSpPr/>
          <p:nvPr/>
        </p:nvSpPr>
        <p:spPr>
          <a:xfrm>
            <a:off x="1371600" y="2103120"/>
            <a:ext cx="9448495" cy="0"/>
          </a:xfrm>
          <a:prstGeom prst="line">
            <a:avLst/>
          </a:prstGeom>
          <a:noFill/>
          <a:ln w="25400">
            <a:solidFill>
              <a:srgbClr val="000000"/>
            </a:solidFill>
            <a:prstDash val="solid"/>
          </a:ln>
        </p:spPr>
      </p:sp>
      <p:sp>
        <p:nvSpPr>
          <p:cNvPr id="5" name="Shape 3"/>
          <p:cNvSpPr/>
          <p:nvPr/>
        </p:nvSpPr>
        <p:spPr>
          <a:xfrm>
            <a:off x="1289304" y="2020824"/>
            <a:ext cx="164592" cy="164592"/>
          </a:xfrm>
          <a:prstGeom prst="ellipse">
            <a:avLst/>
          </a:prstGeom>
          <a:solidFill>
            <a:srgbClr val="000000"/>
          </a:solidFill>
          <a:ln w="12700">
            <a:solidFill>
              <a:srgbClr val="000000"/>
            </a:solidFill>
            <a:prstDash val="solid"/>
          </a:ln>
        </p:spPr>
      </p:sp>
      <p:sp>
        <p:nvSpPr>
          <p:cNvPr id="6" name="Text 4"/>
          <p:cNvSpPr txBox="1"/>
          <p:nvPr/>
        </p:nvSpPr>
        <p:spPr>
          <a:xfrm>
            <a:off x="320040" y="226771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0</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Admitted, NAC</a:t>
            </a:r>
            <a:endParaRPr lang="en-US" sz="1400" dirty="0"/>
          </a:p>
        </p:txBody>
      </p:sp>
      <p:sp>
        <p:nvSpPr>
          <p:cNvPr id="7" name="Shape 5"/>
          <p:cNvSpPr/>
          <p:nvPr/>
        </p:nvSpPr>
        <p:spPr>
          <a:xfrm>
            <a:off x="3367973" y="2020824"/>
            <a:ext cx="164592" cy="164592"/>
          </a:xfrm>
          <a:prstGeom prst="ellipse">
            <a:avLst/>
          </a:prstGeom>
          <a:solidFill>
            <a:srgbClr val="000000"/>
          </a:solidFill>
          <a:ln w="12700">
            <a:solidFill>
              <a:srgbClr val="000000"/>
            </a:solidFill>
            <a:prstDash val="solid"/>
          </a:ln>
        </p:spPr>
      </p:sp>
      <p:sp>
        <p:nvSpPr>
          <p:cNvPr id="8" name="Text 6"/>
          <p:cNvSpPr txBox="1"/>
          <p:nvPr/>
        </p:nvSpPr>
        <p:spPr>
          <a:xfrm>
            <a:off x="2398709" y="226771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1</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Intubated, CRRT</a:t>
            </a:r>
            <a:endParaRPr lang="en-US" sz="1400" dirty="0"/>
          </a:p>
        </p:txBody>
      </p:sp>
      <p:sp>
        <p:nvSpPr>
          <p:cNvPr id="9" name="Shape 7"/>
          <p:cNvSpPr/>
          <p:nvPr/>
        </p:nvSpPr>
        <p:spPr>
          <a:xfrm>
            <a:off x="5446642" y="2020824"/>
            <a:ext cx="164592" cy="164592"/>
          </a:xfrm>
          <a:prstGeom prst="ellipse">
            <a:avLst/>
          </a:prstGeom>
          <a:solidFill>
            <a:srgbClr val="000000"/>
          </a:solidFill>
          <a:ln w="12700">
            <a:solidFill>
              <a:srgbClr val="000000"/>
            </a:solidFill>
            <a:prstDash val="solid"/>
          </a:ln>
        </p:spPr>
      </p:sp>
      <p:sp>
        <p:nvSpPr>
          <p:cNvPr id="10" name="Text 8"/>
          <p:cNvSpPr txBox="1"/>
          <p:nvPr/>
        </p:nvSpPr>
        <p:spPr>
          <a:xfrm>
            <a:off x="4477378" y="226771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2</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Listed 1A</a:t>
            </a:r>
            <a:endParaRPr lang="en-US" sz="1400" dirty="0"/>
          </a:p>
        </p:txBody>
      </p:sp>
      <p:sp>
        <p:nvSpPr>
          <p:cNvPr id="11" name="Shape 9"/>
          <p:cNvSpPr/>
          <p:nvPr/>
        </p:nvSpPr>
        <p:spPr>
          <a:xfrm>
            <a:off x="7525311" y="2020824"/>
            <a:ext cx="164592" cy="164592"/>
          </a:xfrm>
          <a:prstGeom prst="ellipse">
            <a:avLst/>
          </a:prstGeom>
          <a:solidFill>
            <a:srgbClr val="000000"/>
          </a:solidFill>
          <a:ln w="12700">
            <a:solidFill>
              <a:srgbClr val="000000"/>
            </a:solidFill>
            <a:prstDash val="solid"/>
          </a:ln>
        </p:spPr>
      </p:sp>
      <p:sp>
        <p:nvSpPr>
          <p:cNvPr id="12" name="Text 10"/>
          <p:cNvSpPr txBox="1"/>
          <p:nvPr/>
        </p:nvSpPr>
        <p:spPr>
          <a:xfrm>
            <a:off x="6556047" y="226771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4</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Transplanted</a:t>
            </a:r>
            <a:endParaRPr lang="en-US" sz="1400" dirty="0"/>
          </a:p>
        </p:txBody>
      </p:sp>
      <p:sp>
        <p:nvSpPr>
          <p:cNvPr id="13" name="Shape 11"/>
          <p:cNvSpPr/>
          <p:nvPr/>
        </p:nvSpPr>
        <p:spPr>
          <a:xfrm>
            <a:off x="10737799" y="2020824"/>
            <a:ext cx="164592" cy="164592"/>
          </a:xfrm>
          <a:prstGeom prst="ellipse">
            <a:avLst/>
          </a:prstGeom>
          <a:solidFill>
            <a:srgbClr val="000000"/>
          </a:solidFill>
          <a:ln w="12700">
            <a:solidFill>
              <a:srgbClr val="000000"/>
            </a:solidFill>
            <a:prstDash val="solid"/>
          </a:ln>
        </p:spPr>
      </p:sp>
      <p:sp>
        <p:nvSpPr>
          <p:cNvPr id="14" name="Text 12"/>
          <p:cNvSpPr txBox="1"/>
          <p:nvPr/>
        </p:nvSpPr>
        <p:spPr>
          <a:xfrm>
            <a:off x="9768535" y="226771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19</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Home</a:t>
            </a:r>
            <a:endParaRPr lang="en-US" sz="1400" dirty="0"/>
          </a:p>
        </p:txBody>
      </p:sp>
      <p:sp>
        <p:nvSpPr>
          <p:cNvPr id="15" name="Text 13"/>
          <p:cNvSpPr txBox="1"/>
          <p:nvPr/>
        </p:nvSpPr>
        <p:spPr>
          <a:xfrm>
            <a:off x="548640" y="3749040"/>
            <a:ext cx="5486400" cy="411480"/>
          </a:xfrm>
          <a:prstGeom prst="rect">
            <a:avLst/>
          </a:prstGeom>
          <a:noFill/>
          <a:ln/>
        </p:spPr>
        <p:txBody>
          <a:bodyPr wrap="square" lIns="0" tIns="0" rIns="0" bIns="0" rtlCol="0" anchor="ctr"/>
          <a:lstStyle/>
          <a:p>
            <a:pPr indent="0" marL="0">
              <a:buNone/>
            </a:pPr>
            <a:r>
              <a:rPr lang="en-US" sz="2000" b="1" dirty="0">
                <a:solidFill>
                  <a:srgbClr val="000000"/>
                </a:solidFill>
                <a:latin typeface="Georgia" pitchFamily="34" charset="0"/>
                <a:ea typeface="Georgia" pitchFamily="34" charset="-122"/>
                <a:cs typeface="Georgia" pitchFamily="34" charset="-120"/>
              </a:rPr>
              <a:t>Bed 7</a:t>
            </a:r>
            <a:endParaRPr lang="en-US" sz="2000" dirty="0"/>
          </a:p>
        </p:txBody>
      </p:sp>
      <p:sp>
        <p:nvSpPr>
          <p:cNvPr id="16" name="Shape 14"/>
          <p:cNvSpPr/>
          <p:nvPr/>
        </p:nvSpPr>
        <p:spPr>
          <a:xfrm>
            <a:off x="1371600" y="4434840"/>
            <a:ext cx="9448495" cy="0"/>
          </a:xfrm>
          <a:prstGeom prst="line">
            <a:avLst/>
          </a:prstGeom>
          <a:noFill/>
          <a:ln w="25400">
            <a:solidFill>
              <a:srgbClr val="000000"/>
            </a:solidFill>
            <a:prstDash val="solid"/>
          </a:ln>
        </p:spPr>
      </p:sp>
      <p:sp>
        <p:nvSpPr>
          <p:cNvPr id="17" name="Shape 15"/>
          <p:cNvSpPr/>
          <p:nvPr/>
        </p:nvSpPr>
        <p:spPr>
          <a:xfrm>
            <a:off x="1289304" y="4352544"/>
            <a:ext cx="164592" cy="164592"/>
          </a:xfrm>
          <a:prstGeom prst="ellipse">
            <a:avLst/>
          </a:prstGeom>
          <a:solidFill>
            <a:srgbClr val="000000"/>
          </a:solidFill>
          <a:ln w="12700">
            <a:solidFill>
              <a:srgbClr val="000000"/>
            </a:solidFill>
            <a:prstDash val="solid"/>
          </a:ln>
        </p:spPr>
      </p:sp>
      <p:sp>
        <p:nvSpPr>
          <p:cNvPr id="18" name="Text 16"/>
          <p:cNvSpPr txBox="1"/>
          <p:nvPr/>
        </p:nvSpPr>
        <p:spPr>
          <a:xfrm>
            <a:off x="320040" y="459943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1</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SBP, ACLF 2</a:t>
            </a:r>
            <a:endParaRPr lang="en-US" sz="1400" dirty="0"/>
          </a:p>
        </p:txBody>
      </p:sp>
      <p:sp>
        <p:nvSpPr>
          <p:cNvPr id="19" name="Shape 17"/>
          <p:cNvSpPr/>
          <p:nvPr/>
        </p:nvSpPr>
        <p:spPr>
          <a:xfrm>
            <a:off x="3179003" y="4352544"/>
            <a:ext cx="164592" cy="164592"/>
          </a:xfrm>
          <a:prstGeom prst="ellipse">
            <a:avLst/>
          </a:prstGeom>
          <a:solidFill>
            <a:srgbClr val="000000"/>
          </a:solidFill>
          <a:ln w="12700">
            <a:solidFill>
              <a:srgbClr val="000000"/>
            </a:solidFill>
            <a:prstDash val="solid"/>
          </a:ln>
        </p:spPr>
      </p:sp>
      <p:sp>
        <p:nvSpPr>
          <p:cNvPr id="20" name="Text 18"/>
          <p:cNvSpPr txBox="1"/>
          <p:nvPr/>
        </p:nvSpPr>
        <p:spPr>
          <a:xfrm>
            <a:off x="2209739" y="459943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2</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ACLF 3</a:t>
            </a:r>
            <a:endParaRPr lang="en-US" sz="1400" dirty="0"/>
          </a:p>
        </p:txBody>
      </p:sp>
      <p:sp>
        <p:nvSpPr>
          <p:cNvPr id="21" name="Shape 19"/>
          <p:cNvSpPr/>
          <p:nvPr/>
        </p:nvSpPr>
        <p:spPr>
          <a:xfrm>
            <a:off x="5257672" y="4352544"/>
            <a:ext cx="164592" cy="164592"/>
          </a:xfrm>
          <a:prstGeom prst="ellipse">
            <a:avLst/>
          </a:prstGeom>
          <a:solidFill>
            <a:srgbClr val="000000"/>
          </a:solidFill>
          <a:ln w="12700">
            <a:solidFill>
              <a:srgbClr val="000000"/>
            </a:solidFill>
            <a:prstDash val="solid"/>
          </a:ln>
        </p:spPr>
      </p:sp>
      <p:sp>
        <p:nvSpPr>
          <p:cNvPr id="22" name="Text 20"/>
          <p:cNvSpPr txBox="1"/>
          <p:nvPr/>
        </p:nvSpPr>
        <p:spPr>
          <a:xfrm>
            <a:off x="4288408" y="459943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5</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Off pressors, ACLF 1</a:t>
            </a:r>
            <a:endParaRPr lang="en-US" sz="1400" dirty="0"/>
          </a:p>
        </p:txBody>
      </p:sp>
      <p:sp>
        <p:nvSpPr>
          <p:cNvPr id="23" name="Shape 21"/>
          <p:cNvSpPr/>
          <p:nvPr/>
        </p:nvSpPr>
        <p:spPr>
          <a:xfrm>
            <a:off x="7525311" y="4352544"/>
            <a:ext cx="164592" cy="164592"/>
          </a:xfrm>
          <a:prstGeom prst="ellipse">
            <a:avLst/>
          </a:prstGeom>
          <a:solidFill>
            <a:srgbClr val="000000"/>
          </a:solidFill>
          <a:ln w="12700">
            <a:solidFill>
              <a:srgbClr val="000000"/>
            </a:solidFill>
            <a:prstDash val="solid"/>
          </a:ln>
        </p:spPr>
      </p:sp>
      <p:sp>
        <p:nvSpPr>
          <p:cNvPr id="24" name="Text 22"/>
          <p:cNvSpPr txBox="1"/>
          <p:nvPr/>
        </p:nvSpPr>
        <p:spPr>
          <a:xfrm>
            <a:off x="6556047" y="459943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12</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Off CRRT</a:t>
            </a:r>
            <a:endParaRPr lang="en-US" sz="1400" dirty="0"/>
          </a:p>
        </p:txBody>
      </p:sp>
      <p:sp>
        <p:nvSpPr>
          <p:cNvPr id="25" name="Shape 23"/>
          <p:cNvSpPr/>
          <p:nvPr/>
        </p:nvSpPr>
        <p:spPr>
          <a:xfrm>
            <a:off x="10737799" y="4352544"/>
            <a:ext cx="164592" cy="164592"/>
          </a:xfrm>
          <a:prstGeom prst="ellipse">
            <a:avLst/>
          </a:prstGeom>
          <a:solidFill>
            <a:srgbClr val="000000"/>
          </a:solidFill>
          <a:ln w="12700">
            <a:solidFill>
              <a:srgbClr val="000000"/>
            </a:solidFill>
            <a:prstDash val="solid"/>
          </a:ln>
        </p:spPr>
      </p:sp>
      <p:sp>
        <p:nvSpPr>
          <p:cNvPr id="26" name="Text 24"/>
          <p:cNvSpPr txBox="1"/>
          <p:nvPr/>
        </p:nvSpPr>
        <p:spPr>
          <a:xfrm>
            <a:off x="9768535" y="459943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21</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Home, transplant clinic</a:t>
            </a:r>
            <a:endParaRPr lang="en-US" sz="1400" dirty="0"/>
          </a:p>
        </p:txBody>
      </p:sp>
      <p:sp>
        <p:nvSpPr>
          <p:cNvPr id="2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Made-up outcomes for teaching</a:t>
            </a:r>
            <a:endParaRPr lang="en-US" sz="1000" dirty="0"/>
          </a:p>
        </p:txBody>
      </p:sp>
      <p:sp>
        <p:nvSpPr>
          <p:cNvPr id="2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55/58</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Back to our patients</a:t>
            </a:r>
            <a:endParaRPr lang="en-US" sz="3000" dirty="0"/>
          </a:p>
        </p:txBody>
      </p:sp>
      <p:pic>
        <p:nvPicPr>
          <p:cNvPr id="3" name="Image 0" descr="Watercolor of two empty ICU beds side by side">    </p:cNvPr>
          <p:cNvPicPr>
            <a:picLocks noChangeAspect="1"/>
          </p:cNvPicPr>
          <p:nvPr/>
        </p:nvPicPr>
        <p:blipFill>
          <a:blip r:embed="rId1"/>
          <a:stretch>
            <a:fillRect/>
          </a:stretch>
        </p:blipFill>
        <p:spPr>
          <a:xfrm>
            <a:off x="320040" y="2057400"/>
            <a:ext cx="3840480" cy="2648164"/>
          </a:xfrm>
          <a:prstGeom prst="rect">
            <a:avLst/>
          </a:prstGeom>
        </p:spPr>
      </p:pic>
      <p:sp>
        <p:nvSpPr>
          <p:cNvPr id="4" name="Body"/>
          <p:cNvSpPr txBox="1"/>
          <p:nvPr/>
        </p:nvSpPr>
        <p:spPr>
          <a:xfrm>
            <a:off x="4389120" y="1737360"/>
            <a:ext cx="7589520" cy="4572000"/>
          </a:xfrm>
          <a:prstGeom prst="rect">
            <a:avLst/>
          </a:prstGeom>
          <a:noFill/>
          <a:ln/>
        </p:spPr>
        <p:txBody>
          <a:bodyPr wrap="square" lIns="50800" tIns="50800" rIns="50800" bIns="50800" rtlCol="0" anchor="t"/>
          <a:lstStyle/>
          <a:p>
            <a:pPr marL="228600" indent="-228600">
              <a:spcBef>
                <a:spcPts val="2200"/>
              </a:spcBef>
              <a:buSzPct val="100000"/>
              <a:buChar char="–"/>
            </a:pPr>
            <a:r>
              <a:rPr lang="en-US" sz="2100" dirty="0">
                <a:solidFill>
                  <a:srgbClr val="000000"/>
                </a:solidFill>
                <a:latin typeface="Georgia" pitchFamily="34" charset="0"/>
                <a:ea typeface="Georgia" pitchFamily="34" charset="-122"/>
                <a:cs typeface="Georgia" pitchFamily="34" charset="-120"/>
              </a:rPr>
              <a:t>Who needed transplant hepatology before the labs?</a:t>
            </a:r>
            <a:endParaRPr lang="en-US" sz="2100" dirty="0"/>
          </a:p>
          <a:p>
            <a:pPr marL="228600" indent="-228600">
              <a:spcBef>
                <a:spcPts val="2200"/>
              </a:spcBef>
              <a:buSzPct val="100000"/>
              <a:buChar char="–"/>
            </a:pPr>
            <a:r>
              <a:rPr lang="en-US" sz="2100" dirty="0">
                <a:solidFill>
                  <a:srgbClr val="000000"/>
                </a:solidFill>
                <a:latin typeface="Georgia" pitchFamily="34" charset="0"/>
                <a:ea typeface="Georgia" pitchFamily="34" charset="-122"/>
                <a:cs typeface="Georgia" pitchFamily="34" charset="-120"/>
              </a:rPr>
              <a:t>Why did a falling ALT worry us more?</a:t>
            </a:r>
            <a:endParaRPr lang="en-US" sz="2100" dirty="0"/>
          </a:p>
          <a:p>
            <a:pPr marL="228600" indent="-228600">
              <a:spcBef>
                <a:spcPts val="2200"/>
              </a:spcBef>
              <a:buSzPct val="100000"/>
              <a:buChar char="–"/>
            </a:pPr>
            <a:r>
              <a:rPr lang="en-US" sz="2100" dirty="0">
                <a:solidFill>
                  <a:srgbClr val="000000"/>
                </a:solidFill>
                <a:latin typeface="Georgia" pitchFamily="34" charset="0"/>
                <a:ea typeface="Georgia" pitchFamily="34" charset="-122"/>
                <a:cs typeface="Georgia" pitchFamily="34" charset="-120"/>
              </a:rPr>
              <a:t>When is CRRT right before the creatinine rises?</a:t>
            </a:r>
            <a:endParaRPr lang="en-US" sz="2100" dirty="0"/>
          </a:p>
          <a:p>
            <a:pPr marL="228600" indent="-228600">
              <a:spcBef>
                <a:spcPts val="2200"/>
              </a:spcBef>
              <a:buSzPct val="100000"/>
              <a:buChar char="–"/>
            </a:pPr>
            <a:r>
              <a:rPr lang="en-US" sz="2100" dirty="0">
                <a:solidFill>
                  <a:srgbClr val="000000"/>
                </a:solidFill>
                <a:latin typeface="Georgia" pitchFamily="34" charset="0"/>
                <a:ea typeface="Georgia" pitchFamily="34" charset="-122"/>
                <a:cs typeface="Georgia" pitchFamily="34" charset="-120"/>
              </a:rPr>
              <a:t>Why doesn't cirrhosis lactulose data apply to ALF?</a:t>
            </a:r>
            <a:endParaRPr lang="en-US" sz="2100" dirty="0"/>
          </a:p>
          <a:p>
            <a:pPr marL="228600" indent="-228600">
              <a:spcBef>
                <a:spcPts val="2200"/>
              </a:spcBef>
              <a:buSzPct val="100000"/>
              <a:buChar char="–"/>
            </a:pPr>
            <a:r>
              <a:rPr lang="en-US" sz="2100" dirty="0">
                <a:solidFill>
                  <a:srgbClr val="000000"/>
                </a:solidFill>
                <a:latin typeface="Georgia" pitchFamily="34" charset="0"/>
                <a:ea typeface="Georgia" pitchFamily="34" charset="-122"/>
                <a:cs typeface="Georgia" pitchFamily="34" charset="-120"/>
              </a:rPr>
              <a:t>Why not albumin and terlipressin for bed 7?</a:t>
            </a:r>
            <a:endParaRPr lang="en-US" sz="2100" dirty="0"/>
          </a:p>
          <a:p>
            <a:pPr marL="228600" indent="-228600">
              <a:spcBef>
                <a:spcPts val="2200"/>
              </a:spcBef>
              <a:buSzPct val="100000"/>
              <a:buChar char="–"/>
            </a:pPr>
            <a:r>
              <a:rPr lang="en-US" sz="2100" dirty="0">
                <a:solidFill>
                  <a:srgbClr val="000000"/>
                </a:solidFill>
                <a:latin typeface="Georgia" pitchFamily="34" charset="0"/>
                <a:ea typeface="Georgia" pitchFamily="34" charset="-122"/>
                <a:cs typeface="Georgia" pitchFamily="34" charset="-120"/>
              </a:rPr>
              <a:t>What would make you change yesterday's plan?</a:t>
            </a:r>
            <a:endParaRPr lang="en-US" sz="21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56/58</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Summary</a:t>
            </a:r>
            <a:endParaRPr lang="en-US" sz="3000" dirty="0"/>
          </a:p>
        </p:txBody>
      </p:sp>
      <p:sp>
        <p:nvSpPr>
          <p:cNvPr id="3" name="Body"/>
          <p:cNvSpPr txBox="1"/>
          <p:nvPr/>
        </p:nvSpPr>
        <p:spPr>
          <a:xfrm>
            <a:off x="457200" y="1325880"/>
            <a:ext cx="7040880" cy="4937760"/>
          </a:xfrm>
          <a:prstGeom prst="rect">
            <a:avLst/>
          </a:prstGeom>
          <a:noFill/>
          <a:ln/>
        </p:spPr>
        <p:txBody>
          <a:bodyPr wrap="square" lIns="50800" tIns="50800" rIns="50800" bIns="50800" rtlCol="0" anchor="t"/>
          <a:lstStyle/>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High AST and ALT alone are not liver failure. Get an INR and examine the patient</a:t>
            </a:r>
            <a:endParaRPr lang="en-US" sz="2000" dirty="0"/>
          </a:p>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Stabilize, treat the cause and call transplant hepatology in the same hour</a:t>
            </a:r>
            <a:endParaRPr lang="en-US" sz="2000" dirty="0"/>
          </a:p>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ALF: </a:t>
            </a:r>
            <a:r>
              <a:rPr lang="en-US" sz="2000" b="1" dirty="0">
                <a:solidFill>
                  <a:srgbClr val="000000"/>
                </a:solidFill>
                <a:latin typeface="Georgia" pitchFamily="34" charset="0"/>
                <a:ea typeface="Georgia" pitchFamily="34" charset="-122"/>
                <a:cs typeface="Georgia" pitchFamily="34" charset="-120"/>
              </a:rPr>
              <a:t>protect the brain</a:t>
            </a:r>
            <a:r>
              <a:rPr lang="en-US" sz="2000" dirty="0">
                <a:solidFill>
                  <a:srgbClr val="000000"/>
                </a:solidFill>
                <a:latin typeface="Georgia" pitchFamily="34" charset="0"/>
                <a:ea typeface="Georgia" pitchFamily="34" charset="-122"/>
                <a:cs typeface="Georgia" pitchFamily="34" charset="-120"/>
              </a:rPr>
              <a:t>. Intubate at grade III, keep the CO2 normal, follow your center's sodium plan, and start CRRT for rising ammonia</a:t>
            </a:r>
            <a:endParaRPr lang="en-US" sz="2000" dirty="0"/>
          </a:p>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ACLF: count the organs, find the trigger</a:t>
            </a:r>
            <a:endParaRPr lang="en-US" sz="2000" dirty="0"/>
          </a:p>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ACLF: check oxygenation and volume status before albumin or terlipressin</a:t>
            </a:r>
            <a:endParaRPr lang="en-US" sz="2000" dirty="0"/>
          </a:p>
          <a:p>
            <a:pPr marL="228600" indent="-228600">
              <a:spcBef>
                <a:spcPts val="1400"/>
              </a:spcBef>
              <a:buSzPct val="100000"/>
              <a:buChar char="–"/>
            </a:pPr>
            <a:r>
              <a:rPr lang="en-US" sz="2000" dirty="0">
                <a:solidFill>
                  <a:srgbClr val="000000"/>
                </a:solidFill>
                <a:latin typeface="Georgia" pitchFamily="34" charset="0"/>
                <a:ea typeface="Georgia" pitchFamily="34" charset="-122"/>
                <a:cs typeface="Georgia" pitchFamily="34" charset="-120"/>
              </a:rPr>
              <a:t>Reassess organ failures daily. The trend matters more than the admission score</a:t>
            </a:r>
            <a:endParaRPr lang="en-US" sz="2000" dirty="0"/>
          </a:p>
        </p:txBody>
      </p:sp>
      <p:pic>
        <p:nvPicPr>
          <p:cNvPr id="4" name="Image 0" descr="Watercolor of a pocket notebook, a pen and a penlight">    </p:cNvPr>
          <p:cNvPicPr>
            <a:picLocks noChangeAspect="1"/>
          </p:cNvPicPr>
          <p:nvPr/>
        </p:nvPicPr>
        <p:blipFill>
          <a:blip r:embed="rId1"/>
          <a:stretch>
            <a:fillRect/>
          </a:stretch>
        </p:blipFill>
        <p:spPr>
          <a:xfrm>
            <a:off x="7726680" y="1280160"/>
            <a:ext cx="4160520" cy="3785473"/>
          </a:xfrm>
          <a:prstGeom prst="rect">
            <a:avLst/>
          </a:prstGeom>
        </p:spPr>
      </p:pic>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57/58</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pic>
        <p:nvPicPr>
          <p:cNvPr id="2" name="Image 0" descr="Watercolor of a healthy liver in warm light on ivory pap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6492240" y="1188720"/>
            <a:ext cx="5212080" cy="1280160"/>
          </a:xfrm>
          <a:prstGeom prst="rect">
            <a:avLst/>
          </a:prstGeom>
          <a:noFill/>
          <a:ln/>
        </p:spPr>
        <p:txBody>
          <a:bodyPr wrap="square" lIns="0" tIns="0" rIns="0" bIns="0" rtlCol="0" anchor="ctr"/>
          <a:lstStyle/>
          <a:p>
            <a:pPr algn="ctr" indent="0" marL="0">
              <a:buNone/>
            </a:pPr>
            <a:r>
              <a:rPr lang="en-US" sz="5400" dirty="0">
                <a:solidFill>
                  <a:srgbClr val="000000"/>
                </a:solidFill>
                <a:latin typeface="Georgia" pitchFamily="34" charset="0"/>
                <a:ea typeface="Georgia" pitchFamily="34" charset="-122"/>
                <a:cs typeface="Georgia" pitchFamily="34" charset="-120"/>
              </a:rPr>
              <a:t>Questions?</a:t>
            </a:r>
            <a:endParaRPr lang="en-US" sz="5400" dirty="0"/>
          </a:p>
        </p:txBody>
      </p:sp>
      <p:pic>
        <p:nvPicPr>
          <p:cNvPr id="4" name="Image 1" descr="QR code linking to the slides PDF">    </p:cNvPr>
          <p:cNvPicPr>
            <a:picLocks noChangeAspect="1"/>
          </p:cNvPicPr>
          <p:nvPr/>
        </p:nvPicPr>
        <p:blipFill>
          <a:blip r:embed="rId2"/>
          <a:stretch>
            <a:fillRect/>
          </a:stretch>
        </p:blipFill>
        <p:spPr>
          <a:xfrm>
            <a:off x="7955280" y="2834640"/>
            <a:ext cx="2286000" cy="2286000"/>
          </a:xfrm>
          <a:prstGeom prst="rect">
            <a:avLst/>
          </a:prstGeom>
        </p:spPr>
      </p:pic>
      <p:sp>
        <p:nvSpPr>
          <p:cNvPr id="5" name="Text 1"/>
          <p:cNvSpPr txBox="1"/>
          <p:nvPr/>
        </p:nvSpPr>
        <p:spPr>
          <a:xfrm>
            <a:off x="6492240" y="5212080"/>
            <a:ext cx="521208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Georgia" pitchFamily="34" charset="0"/>
                <a:ea typeface="Georgia" pitchFamily="34" charset="-122"/>
                <a:cs typeface="Georgia" pitchFamily="34" charset="-120"/>
              </a:rPr>
              <a:t>Slides (PDF)</a:t>
            </a:r>
            <a:endParaRPr lang="en-US" sz="16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58/58</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West Haven grades</a:t>
            </a:r>
            <a:endParaRPr lang="en-US" sz="3000" dirty="0"/>
          </a:p>
        </p:txBody>
      </p:sp>
      <p:graphicFrame>
        <p:nvGraphicFramePr>
          <p:cNvPr id="94" name="Table"/>
          <p:cNvGraphicFramePr>
            <a:graphicFrameLocks noGrp="1"/>
          </p:cNvGraphicFramePr>
          <p:nvPr>
            <p:extLst>
              <p:ext uri="{D42A27DB-BD31-4B8C-83A1-F6EECF244321}">
                <p14:modId xmlns:p14="http://schemas.microsoft.com/office/powerpoint/2010/main" val="1579011935"/>
              </p:ext>
            </p:extLst>
          </p:nvPr>
        </p:nvGraphicFramePr>
        <p:xfrm>
          <a:off x="1097280" y="1463040"/>
          <a:ext cx="9997135" cy="914400"/>
        </p:xfrm>
        <a:graphic>
          <a:graphicData uri="http://schemas.openxmlformats.org/drawingml/2006/table">
            <a:tbl>
              <a:tblPr/>
              <a:tblGrid>
                <a:gridCol w="987552"/>
                <a:gridCol w="9006840"/>
              </a:tblGrid>
              <a:tr h="59436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Grade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What you see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Short attention, mild confusion, reversed sleep, subtle personality change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II</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Lethargy, disorientation to time, obvious personality change, asterixis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III</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Somnolent but rousable, grossly disoriented, bizarre behavior</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IV</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Coma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A1</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King's College criteria</a:t>
            </a:r>
            <a:endParaRPr lang="en-US" sz="3000" dirty="0"/>
          </a:p>
        </p:txBody>
      </p:sp>
      <p:graphicFrame>
        <p:nvGraphicFramePr>
          <p:cNvPr id="95" name="Table"/>
          <p:cNvGraphicFramePr>
            <a:graphicFrameLocks noGrp="1"/>
          </p:cNvGraphicFramePr>
          <p:nvPr>
            <p:extLst>
              <p:ext uri="{D42A27DB-BD31-4B8C-83A1-F6EECF244321}">
                <p14:modId xmlns:p14="http://schemas.microsoft.com/office/powerpoint/2010/main" val="1579011935"/>
              </p:ext>
            </p:extLst>
          </p:nvPr>
        </p:nvGraphicFramePr>
        <p:xfrm>
          <a:off x="1097280" y="1371600"/>
          <a:ext cx="9997135" cy="914400"/>
        </p:xfrm>
        <a:graphic>
          <a:graphicData uri="http://schemas.openxmlformats.org/drawingml/2006/table">
            <a:tbl>
              <a:tblPr/>
              <a:tblGrid>
                <a:gridCol w="5458968"/>
                <a:gridCol w="4535424"/>
              </a:tblGrid>
              <a:tr h="427939">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Acetaminophen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Not acetaminophen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208026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Arterial pH &lt; 7.30 after fluids</a:t>
                      </a:r>
                      <a:endParaRPr lang="en-US" sz="1800" dirty="0">
                        <a:latin typeface="Calibri" charset="0"/>
                        <a:ea typeface="Calibri" charset="0"/>
                        <a:cs typeface="Calibri" charset="0"/>
                      </a:endParaRPr>
                    </a:p>
                    <a:p>
                      <a:pPr algn="l" indent="0" marL="0">
                        <a:buNone/>
                      </a:pPr>
                      <a:r>
                        <a:rPr lang="en-US" sz="1800" i="1" dirty="0">
                          <a:solidFill>
                            <a:srgbClr val="000000"/>
                          </a:solidFill>
                          <a:latin typeface="Calibri" pitchFamily="34" charset="0"/>
                          <a:ea typeface="Calibri" pitchFamily="34" charset="-122"/>
                          <a:cs typeface="Calibri" pitchFamily="34" charset="-120"/>
                        </a:rPr>
                        <a:t>or all three within 24 hours:</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INR &gt; 6.5</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Creatinine &gt; 3.4 mg/dL</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Grade III-IV encephalopathy</a:t>
                      </a:r>
                      <a:endParaRPr lang="en-US" sz="1800" dirty="0">
                        <a:latin typeface="Calibri" charset="0"/>
                        <a:ea typeface="Calibri" charset="0"/>
                        <a:cs typeface="Calibri" charset="0"/>
                      </a:endParaRPr>
                    </a:p>
                    <a:p>
                      <a:pPr algn="l" indent="0" marL="0">
                        <a:buNone/>
                      </a:pPr>
                      <a:r>
                        <a:rPr lang="en-US" sz="1400" i="1" dirty="0">
                          <a:solidFill>
                            <a:srgbClr val="000000"/>
                          </a:solidFill>
                          <a:latin typeface="Calibri" pitchFamily="34" charset="0"/>
                          <a:ea typeface="Calibri" pitchFamily="34" charset="-122"/>
                          <a:cs typeface="Calibri" pitchFamily="34" charset="-120"/>
                        </a:rPr>
                        <a:t>(Modified: lactate &gt; 3.5 at 4 h or &gt; 3.0 at 12 h after fluids)</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INR &gt; 6.5</a:t>
                      </a:r>
                      <a:endParaRPr lang="en-US" sz="1800" dirty="0">
                        <a:latin typeface="Calibri" charset="0"/>
                        <a:ea typeface="Calibri" charset="0"/>
                        <a:cs typeface="Calibri" charset="0"/>
                      </a:endParaRPr>
                    </a:p>
                    <a:p>
                      <a:pPr algn="l" indent="0" marL="0">
                        <a:buNone/>
                      </a:pPr>
                      <a:r>
                        <a:rPr lang="en-US" sz="1800" i="1" dirty="0">
                          <a:solidFill>
                            <a:srgbClr val="000000"/>
                          </a:solidFill>
                          <a:latin typeface="Calibri" pitchFamily="34" charset="0"/>
                          <a:ea typeface="Calibri" pitchFamily="34" charset="-122"/>
                          <a:cs typeface="Calibri" pitchFamily="34" charset="-120"/>
                        </a:rPr>
                        <a:t>or any three of:</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Age &lt; 10 or &gt; 40</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Drug reaction or unknown cause</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Jaundice to encephalopathy &gt; 7 days</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INR &gt; 3.5</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Bilirubin &gt; 17.5 mg/dL</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822960" y="4343400"/>
            <a:ext cx="10545775" cy="548640"/>
          </a:xfrm>
          <a:prstGeom prst="rect">
            <a:avLst/>
          </a:prstGeom>
          <a:noFill/>
          <a:ln/>
        </p:spPr>
        <p:txBody>
          <a:bodyPr wrap="square" lIns="50800" tIns="50800" rIns="50800" bIns="50800" rtlCol="0" anchor="t"/>
          <a:lstStyle/>
          <a:p>
            <a:pPr algn="ctr" indent="0" marL="0">
              <a:spcBef>
                <a:spcPts val="800"/>
              </a:spcBef>
              <a:buNone/>
            </a:pPr>
            <a:r>
              <a:rPr lang="en-US" sz="1700" i="1" dirty="0">
                <a:solidFill>
                  <a:srgbClr val="000000"/>
                </a:solidFill>
                <a:latin typeface="Georgia" pitchFamily="34" charset="0"/>
                <a:ea typeface="Georgia" pitchFamily="34" charset="-122"/>
                <a:cs typeface="Georgia" pitchFamily="34" charset="-120"/>
              </a:rPr>
              <a:t>Original O'Grady criteria; the lactate line is the later modification</a:t>
            </a:r>
            <a:endParaRPr lang="en-US" sz="17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O'Grady 1989 criteria, as summarized in EASL 2017 [PMID: 28417882] and update 2022 [PMID: 36001996]</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A2</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arterial ammonia studies in ALF</a:t>
            </a:r>
            <a:endParaRPr lang="en-US" sz="3000" dirty="0"/>
          </a:p>
        </p:txBody>
      </p:sp>
      <p:graphicFrame>
        <p:nvGraphicFramePr>
          <p:cNvPr id="96" name="Table"/>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478024"/>
                <a:gridCol w="1426464"/>
                <a:gridCol w="4288536"/>
                <a:gridCol w="2898648"/>
              </a:tblGrid>
              <a:tr h="427939">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Study (arterial, μmol/L)</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Patients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What they found</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The catch</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27939">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Clemmesen 1999</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44 ALF</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Herniated: mean 230 vs 118; all above 146</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Small, one center</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27939">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Bhatia 2006</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80 ALF</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 124 on admission predicted death</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Endpoint was death, not ICH</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27939">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Bernal 2007</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165, HE III-IV</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&gt; 100: severe HE. </a:t>
                      </a:r>
                      <a:r>
                        <a:rPr lang="en-US" sz="1800" b="1" dirty="0">
                          <a:solidFill>
                            <a:srgbClr val="000000"/>
                          </a:solidFill>
                          <a:latin typeface="Calibri" pitchFamily="34" charset="0"/>
                          <a:ea typeface="Calibri" pitchFamily="34" charset="-122"/>
                          <a:cs typeface="Calibri" pitchFamily="34" charset="-120"/>
                        </a:rPr>
                        <a:t>&gt; 200: ICH in 55%</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200 missed most ICH</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27939">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Kumar 2012</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295 ALF</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 122 for 3 days: survival 23% vs 72%</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Trend beat a single value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07492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Above 150 to 200 and not falling: worry about the brain</a:t>
            </a:r>
            <a:endParaRPr lang="en-US" sz="2200" dirty="0"/>
          </a:p>
        </p:txBody>
      </p:sp>
      <p:sp>
        <p:nvSpPr>
          <p:cNvPr id="5" name="Body"/>
          <p:cNvSpPr txBox="1"/>
          <p:nvPr/>
        </p:nvSpPr>
        <p:spPr>
          <a:xfrm>
            <a:off x="822960" y="5577840"/>
            <a:ext cx="10545775" cy="548640"/>
          </a:xfrm>
          <a:prstGeom prst="rect">
            <a:avLst/>
          </a:prstGeom>
          <a:noFill/>
          <a:ln/>
        </p:spPr>
        <p:txBody>
          <a:bodyPr wrap="square" lIns="50800" tIns="50800" rIns="50800" bIns="50800" rtlCol="0" anchor="t"/>
          <a:lstStyle/>
          <a:p>
            <a:pPr algn="ctr" indent="0" marL="0">
              <a:spcBef>
                <a:spcPts val="800"/>
              </a:spcBef>
              <a:buNone/>
            </a:pPr>
            <a:r>
              <a:rPr lang="en-US" sz="1800" i="1" dirty="0">
                <a:solidFill>
                  <a:srgbClr val="000000"/>
                </a:solidFill>
                <a:latin typeface="Georgia" pitchFamily="34" charset="0"/>
                <a:ea typeface="Georgia" pitchFamily="34" charset="-122"/>
                <a:cs typeface="Georgia" pitchFamily="34" charset="-120"/>
              </a:rPr>
              <a:t>ICH can occur below 200. Interpret the level with the HE grade and the trend</a:t>
            </a:r>
            <a:endParaRPr lang="en-US" sz="18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Clemmesen 1999 [PMID: 10051463]; Bhatia 2006 [PMID: 16024550]; Bernal 2007 [PMID: 17685471]; Kumar 2012 [PMID: 22521861]</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A3</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which ACLF?</a:t>
            </a:r>
            <a:endParaRPr lang="en-US" sz="3000" dirty="0"/>
          </a:p>
        </p:txBody>
      </p:sp>
      <p:graphicFrame>
        <p:nvGraphicFramePr>
          <p:cNvPr id="97"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453896"/>
                <a:gridCol w="3017520"/>
                <a:gridCol w="2889504"/>
                <a:gridCol w="3730752"/>
              </a:tblGrid>
              <a:tr h="594360">
                <a:tc>
                  <a:txBody>
                    <a:bodyPr/>
                    <a:lstStyle/>
                    <a:p>
                      <a:pPr algn="l"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EASL-CLIF</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NACSELD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APASL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9436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Who</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Decompensated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Cirrhosis, inpatient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CLD ±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Defined by</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Organ failures (CLIF-C)</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 2 extrahepatic failures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Liver insult: jaundice + INR ≥ 1.5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Picks up</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Broader, earlier</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Sicker patients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A primary liver insult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They find different patients. Say which one you're using</a:t>
            </a:r>
            <a:endParaRPr lang="en-US" sz="22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Kyoto consensus 2025 [PMID: 39961976]; ACG ACLF 2022 [PMID: 35006099]; AASLD 2024 [PMID: 37939273]</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A4</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early transplant for alcohol-associated hepatitis</a:t>
            </a:r>
            <a:endParaRPr lang="en-US" sz="3000" dirty="0"/>
          </a:p>
        </p:txBody>
      </p:sp>
      <p:pic>
        <p:nvPicPr>
          <p:cNvPr id="3" name="Image 0" descr="Survival with early transplant vs matched controls">    </p:cNvPr>
          <p:cNvPicPr>
            <a:picLocks noChangeAspect="1"/>
          </p:cNvPicPr>
          <p:nvPr/>
        </p:nvPicPr>
        <p:blipFill>
          <a:blip r:embed="rId1"/>
          <a:stretch>
            <a:fillRect/>
          </a:stretch>
        </p:blipFill>
        <p:spPr>
          <a:xfrm>
            <a:off x="457200" y="1280160"/>
            <a:ext cx="6766560" cy="4800600"/>
          </a:xfrm>
          <a:prstGeom prst="rect">
            <a:avLst/>
          </a:prstGeom>
        </p:spPr>
      </p:pic>
      <p:sp>
        <p:nvSpPr>
          <p:cNvPr id="4" name="Body"/>
          <p:cNvSpPr txBox="1"/>
          <p:nvPr/>
        </p:nvSpPr>
        <p:spPr>
          <a:xfrm>
            <a:off x="7498080" y="1463040"/>
            <a:ext cx="4297680" cy="4572000"/>
          </a:xfrm>
          <a:prstGeom prst="rect">
            <a:avLst/>
          </a:prstGeom>
          <a:noFill/>
          <a:ln/>
        </p:spPr>
        <p:txBody>
          <a:bodyPr wrap="square" lIns="50800" tIns="50800" rIns="50800" bIns="50800" rtlCol="0" anchor="t"/>
          <a:lstStyle/>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26 patients with a first episode of severe alcohol-associated hepatitis, not responding to steroids</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Highly selected: first liver-related event, close family support, no severe other illness, agreed to abstinence</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6-month survival </a:t>
            </a:r>
            <a:r>
              <a:rPr lang="en-US" sz="1900" b="1" dirty="0">
                <a:solidFill>
                  <a:srgbClr val="000000"/>
                </a:solidFill>
                <a:latin typeface="Georgia" pitchFamily="34" charset="0"/>
                <a:ea typeface="Georgia" pitchFamily="34" charset="-122"/>
                <a:cs typeface="Georgia" pitchFamily="34" charset="-120"/>
              </a:rPr>
              <a:t>77% vs 23%</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Recent drinking alone is not a reason to skip the call</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Mathurin P et al. N Engl J Med 2011 [PMID: 22070476]</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A5</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calling transplant hepatology</a:t>
            </a:r>
            <a:endParaRPr lang="en-US" sz="3000" dirty="0"/>
          </a:p>
        </p:txBody>
      </p:sp>
      <p:graphicFrame>
        <p:nvGraphicFramePr>
          <p:cNvPr id="99" name="Table"/>
          <p:cNvGraphicFramePr>
            <a:graphicFrameLocks noGrp="1"/>
          </p:cNvGraphicFramePr>
          <p:nvPr>
            <p:extLst>
              <p:ext uri="{D42A27DB-BD31-4B8C-83A1-F6EECF244321}">
                <p14:modId xmlns:p14="http://schemas.microsoft.com/office/powerpoint/2010/main" val="1579011935"/>
              </p:ext>
            </p:extLst>
          </p:nvPr>
        </p:nvGraphicFramePr>
        <p:xfrm>
          <a:off x="822960" y="1965960"/>
          <a:ext cx="10545775" cy="914400"/>
        </p:xfrm>
        <a:graphic>
          <a:graphicData uri="http://schemas.openxmlformats.org/drawingml/2006/table">
            <a:tbl>
              <a:tblPr/>
              <a:tblGrid>
                <a:gridCol w="5422392"/>
                <a:gridCol w="5120640"/>
              </a:tblGrid>
              <a:tr h="475488">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Patient A (ALF)</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Patient B (ACLF)</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2297176">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Cause, days from jaundice to HE</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Encephalopathy grade, pupils, sedation</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Airway and ventilator settings</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Ammonia, sodium, CRRT</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INR, lactate, pH, glucose trends</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Pressors, infection</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Social support, intent of ingestion</a:t>
                      </a:r>
                      <a:endParaRPr lang="en-US" sz="20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Cause of cirrhosis, recent alcohol use</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Precipitant and source control</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Organ failures today and yesterday</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Pressor dose, oxygen, RRT</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MELD, CLIF-C scores</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Frailty, comorbidities</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Prior transplant evaluation, support</a:t>
                      </a:r>
                      <a:endParaRPr lang="en-US" sz="20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132588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Call first. Gather this while you wait for the call back</a:t>
            </a:r>
            <a:endParaRPr lang="en-US" sz="22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A6</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sources (1)</a:t>
            </a:r>
            <a:endParaRPr lang="en-US" sz="3000" dirty="0"/>
          </a:p>
        </p:txBody>
      </p:sp>
      <p:sp>
        <p:nvSpPr>
          <p:cNvPr id="3" name="Body"/>
          <p:cNvSpPr txBox="1"/>
          <p:nvPr/>
        </p:nvSpPr>
        <p:spPr>
          <a:xfrm>
            <a:off x="822960" y="1234440"/>
            <a:ext cx="10545775" cy="5029200"/>
          </a:xfrm>
          <a:prstGeom prst="rect">
            <a:avLst/>
          </a:prstGeom>
          <a:noFill/>
          <a:ln/>
        </p:spPr>
        <p:txBody>
          <a:bodyPr wrap="square" lIns="50800" tIns="50800" rIns="50800" bIns="50800" rtlCol="0" anchor="t"/>
          <a:lstStyle/>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SCCM ALF/ACLF ICU guidelines, part 1. Crit Care Med 2020 [PMID: 32058387]</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SCCM ALF/ACLF ICU guidelines, part 2. Crit Care Med 2023 [PMID: 37052436]</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EASL acute liver failure guideline. J Hepatol 2017 [PMID: 28417882]</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ACG acute liver failure guideline. Am J Gastroenterol 2023 [PMID: 37377263]</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Management of acute liver failure: update 2022. Semin Liver Dis [PMID: 36001996]</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Acute liver failure: a practical update. JHEP Rep 2024 [PMID: 39170946]</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EASL ACLF guideline. J Hepatol 2023 [PMID: 37364789]</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AASLD ACLF and critically ill cirrhosis guidance. Hepatology 2024 [PMID: 37939273], errata [PMID: 38551831], [PMID: 42467893]</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ACG ACLF guideline. Am J Gastroenterol 2022 [PMID: 35006099]</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ADQI-ICA consensus on AKI in cirrhosis. J Hepatol 2024 [PMID: 38527522]</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Surviving Sepsis Campaign 2026. Crit Care Med [PMID: 41869847]</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EASL autoimmune hepatitis guideline. J Hepatol 2025 [PMID: 40348684]</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EASL hepatic encephalopathy guideline. J Hepatol 2022 [PMID: 35724930]</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US/Canada acetaminophen poisoning consensus. JAMA Netw Open 2023 [PMID: 37552484]</a:t>
            </a:r>
            <a:endParaRPr lang="en-US" sz="1500" dirty="0"/>
          </a:p>
        </p:txBody>
      </p:sp>
      <p:sp>
        <p:nvSpPr>
          <p:cNvPr id="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A7</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sources (2)</a:t>
            </a:r>
            <a:endParaRPr lang="en-US" sz="3000" dirty="0"/>
          </a:p>
        </p:txBody>
      </p:sp>
      <p:sp>
        <p:nvSpPr>
          <p:cNvPr id="3" name="Body"/>
          <p:cNvSpPr txBox="1"/>
          <p:nvPr/>
        </p:nvSpPr>
        <p:spPr>
          <a:xfrm>
            <a:off x="822960" y="1234440"/>
            <a:ext cx="10545775" cy="5029200"/>
          </a:xfrm>
          <a:prstGeom prst="rect">
            <a:avLst/>
          </a:prstGeom>
          <a:noFill/>
          <a:ln/>
        </p:spPr>
        <p:txBody>
          <a:bodyPr wrap="square" lIns="50800" tIns="50800" rIns="50800" bIns="50800" rtlCol="0" anchor="t"/>
          <a:lstStyle/>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Moreau R et al. CANONIC. Gastroenterology 2013 [PMID: 23474284]</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Jalan R et al. CLIF-C ACLF score. J Hepatol 2014 [PMID: 24950482]</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Lee WM et al. NAC in non-acetaminophen ALF. Gastroenterology 2009 [PMID: 19524577]</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Clemmesen JO et al. Cerebral herniation and arterial ammonia. Hepatology 1999 [PMID: 10051463]</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Bernal W et al. Arterial ammonia, HE and intracranial hypertension. Hepatology 2007 [PMID: 17685471]</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Bhatia V et al. Arterial ammonia in ALF. Gut 2006 [PMID: 16024550]</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Kumar R et al. Persistent hyperammonemia in ALF. Clin Gastroenterol Hepatol 2012 [PMID: 22521861]</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Cardoso FS et al. CRRT and ammonia in ALF. Hepatology 2018 [PMID: 28859230]</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Pre-emptive CRRT in ALF with cerebral edema. Aliment Pharmacol Ther 2026 [PMID: 42332991]</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Larsen FS et al. High-volume plasma exchange in ALF. J Hepatol 2016 [PMID: 26325537]</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Burke L et al. Plasma exchange in a real-world ALF cohort. J Hepatol 2025;82:615-21 [PMID: 39362282]</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Wong F et al. CONFIRM. NEJM 2021 [PMID: 33657294]</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Artru F et al. Transplant in ACLF grade 3. J Hepatol 2017 [PMID: 28645736]</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Mathurin P et al. Early transplant for alcoholic hepatitis. NEJM 2011 [PMID: 22070476]</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China L et al. ATTIRE. NEJM 2021 [PMID: 33657293]</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Liver transplantation for ACLF. Lancet Gastroenterol Hepatol 2024 [PMID: 38309288]</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AASLD/AST candidate evaluation guideline. Hepatology 2026 [PMID: 41405234]</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Kyoto consensus on ACLF. Hepatol Int 2025 [PMID: 39961976]</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TERLIVAZ (terlipressin) prescribing information, revised 6/2026</a:t>
            </a:r>
            <a:endParaRPr lang="en-US" sz="1500" dirty="0"/>
          </a:p>
        </p:txBody>
      </p:sp>
      <p:sp>
        <p:nvSpPr>
          <p:cNvPr id="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A8</a:t>
            </a:r>
            <a:endParaRPr lang="en-US" sz="900" dirty="0"/>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100</Slides>
  <Notes>100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100</vt:i4>
      </vt:variant>
    </vt:vector>
  </HeadingPairs>
  <TitlesOfParts>
    <vt:vector size="10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Acute Liver Failure and ACLF in the ICU</dc:title>
  <dc:subject>PptxGenJS Presentation</dc:subject>
  <dc:creator>Mohammad Almeqdadi, MD</dc:creator>
  <cp:lastModifiedBy>Mohammad Almeqdadi, MD</cp:lastModifiedBy>
  <cp:revision>1</cp:revision>
  <dcterms:created xsi:type="dcterms:W3CDTF">2026-10-28T15:07:26Z</dcterms:created>
  <dcterms:modified xsi:type="dcterms:W3CDTF">2026-10-28T15:07:26Z</dcterms:modified>
</cp:coreProperties>
</file>