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3d16284-b133-2f35-1001-c68e15e6ac75}">
          <p14:sldIdLst>
            <p14:sldId id="256"/>
            <p14:sldId id="257"/>
          </p14:sldIdLst>
        </p14:section>
        <p14:section name="Patient A" id="{9a1b8e83-e314-9893-dd68-d95f28517bc1}">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a364ca5f-2974-b7b4-a34d-91d5e80c5fc2}">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95bfbcf3-2cac-8561-9ea6-f79ae2b0e03c}">
          <p14:sldIdLst>
            <p14:sldId id="372"/>
            <p14:sldId id="373"/>
            <p14:sldId id="374"/>
            <p14:sldId id="375"/>
          </p14:sldIdLst>
        </p14:section>
        <p14:section name="Appendix" id="{7bc01ae7-66ea-e220-579b-f5581782f33d}">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280160"/>
          <a:ext cx="8138160" cy="914400"/>
        </p:xfrm>
        <a:graphic>
          <a:graphicData uri="http://schemas.openxmlformats.org/drawingml/2006/table">
            <a:tbl>
              <a:tblPr/>
              <a:tblGrid>
                <a:gridCol w="3767328"/>
                <a:gridCol w="437083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4596315" y="3383280"/>
            <a:ext cx="2999064" cy="2011680"/>
          </a:xfrm>
          <a:prstGeom prst="rect">
            <a:avLst/>
          </a:prstGeom>
        </p:spPr>
      </p:pic>
      <p:sp>
        <p:nvSpPr>
          <p:cNvPr id="5"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22860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541368" y="3063240"/>
            <a:ext cx="3108960" cy="310896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8869680" y="1005840"/>
            <a:ext cx="2011680" cy="201168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8869680" y="1005840"/>
            <a:ext cx="2011680" cy="201168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449928" y="2926080"/>
            <a:ext cx="3291840" cy="32918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097280" y="1554480"/>
            <a:ext cx="640080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8138160" y="1188720"/>
            <a:ext cx="2743200" cy="2743200"/>
          </a:xfrm>
          <a:prstGeom prst="rect">
            <a:avLst/>
          </a:prstGeom>
        </p:spPr>
      </p:pic>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449928" y="2926080"/>
            <a:ext cx="3291840"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722376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8001000" y="1371600"/>
            <a:ext cx="3840480" cy="38404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449928" y="2926080"/>
            <a:ext cx="3291840"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31520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8275320" y="2423160"/>
            <a:ext cx="3520440" cy="352044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198188" y="2926080"/>
            <a:ext cx="1795319"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31520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275320" y="1828800"/>
            <a:ext cx="3520440" cy="35204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769968" y="3840480"/>
            <a:ext cx="2651760" cy="265176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68096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pic>
        <p:nvPicPr>
          <p:cNvPr id="5" name="Image 0" descr="Watercolor of a desk phone with the handset off the hook">    </p:cNvPr>
          <p:cNvPicPr>
            <a:picLocks noChangeAspect="1"/>
          </p:cNvPicPr>
          <p:nvPr/>
        </p:nvPicPr>
        <p:blipFill>
          <a:blip r:embed="rId1"/>
          <a:stretch>
            <a:fillRect/>
          </a:stretch>
        </p:blipFill>
        <p:spPr>
          <a:xfrm>
            <a:off x="8595360" y="2377440"/>
            <a:ext cx="3200400" cy="320040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8138160" cy="914400"/>
        </p:xfrm>
        <a:graphic>
          <a:graphicData uri="http://schemas.openxmlformats.org/drawingml/2006/table">
            <a:tbl>
              <a:tblPr/>
              <a:tblGrid>
                <a:gridCol w="1207008"/>
                <a:gridCol w="6931152"/>
              </a:tblGrid>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RCT, 182 ALF: high-volume plasma exchange × 3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Hospital survival 58.7% vs 47.8% (HR 0.56)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Limits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961120" y="1371600"/>
            <a:ext cx="2834640" cy="28346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8138160" cy="914400"/>
        </p:xfrm>
        <a:graphic>
          <a:graphicData uri="http://schemas.openxmlformats.org/drawingml/2006/table">
            <a:tbl>
              <a:tblPr/>
              <a:tblGrid>
                <a:gridCol w="1207008"/>
                <a:gridCol w="6931152"/>
              </a:tblGrid>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RCT, 182 ALF: high-volume plasma exchange × 3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Hospital survival 58.7% vs 47.8% (HR 0.56)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Limits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Not blinded; nothing on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bridge; don't delay listing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961120" y="1371600"/>
            <a:ext cx="2834640" cy="28346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4449928" y="2926080"/>
            <a:ext cx="3291840" cy="32918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58952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8458200" y="1554480"/>
            <a:ext cx="3429000" cy="34290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Sepsis (SBP)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Cultures, antibiotics within 1 h, source control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Splanchnic vasodilation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Norepinephrine, MAP 65, adjust to perfusion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Too little volume, or too much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Ultrasound and dynamic measures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Hidden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Hemoglobin, rectal exam, think varices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Relative adrenal insufficiency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Hydrocortisone if shock is refractory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Cirrhotic cardiomyopathy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Echo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1298448"/>
                <a:gridCol w="6931152"/>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371600"/>
                <a:gridCol w="7324344"/>
                <a:gridCol w="22128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4449928" y="2926080"/>
            <a:ext cx="3291840"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72000" y="1600200"/>
            <a:ext cx="3017520" cy="3017520"/>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603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4632808" y="3337560"/>
            <a:ext cx="2926080" cy="29260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4449928" y="2926080"/>
            <a:ext cx="3291840" cy="32918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128016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22860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pic>
        <p:nvPicPr>
          <p:cNvPr id="5" name="Image 0" descr="Watercolor of a cup of tablets, an ampule and a syringe">    </p:cNvPr>
          <p:cNvPicPr>
            <a:picLocks noChangeAspect="1"/>
          </p:cNvPicPr>
          <p:nvPr/>
        </p:nvPicPr>
        <p:blipFill>
          <a:blip r:embed="rId1"/>
          <a:stretch>
            <a:fillRect/>
          </a:stretch>
        </p:blipFill>
        <p:spPr>
          <a:xfrm>
            <a:off x="4541368" y="3063240"/>
            <a:ext cx="3108960" cy="310896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1031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4449928" y="2926080"/>
            <a:ext cx="3291840" cy="32918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548640" y="1325880"/>
            <a:ext cx="722376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make you more worried?</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is high?</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Why isn't lactulose for ACLF evidence for ALF?</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pic>
        <p:nvPicPr>
          <p:cNvPr id="4" name="Image 0" descr="Watercolor of two empty ICU beds side by side">    </p:cNvPr>
          <p:cNvPicPr>
            <a:picLocks noChangeAspect="1"/>
          </p:cNvPicPr>
          <p:nvPr/>
        </p:nvPicPr>
        <p:blipFill>
          <a:blip r:embed="rId1"/>
          <a:stretch>
            <a:fillRect/>
          </a:stretch>
        </p:blipFill>
        <p:spPr>
          <a:xfrm>
            <a:off x="8001000" y="2011680"/>
            <a:ext cx="3840480" cy="2576076"/>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548640" y="1325880"/>
            <a:ext cx="786384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ALF: </a:t>
            </a:r>
            <a:r>
              <a:rPr lang="en-US" sz="2100" b="1" dirty="0">
                <a:solidFill>
                  <a:srgbClr val="000000"/>
                </a:solidFill>
                <a:latin typeface="Georgia" pitchFamily="34" charset="0"/>
                <a:ea typeface="Georgia" pitchFamily="34" charset="-122"/>
                <a:cs typeface="Georgia" pitchFamily="34" charset="-120"/>
              </a:rPr>
              <a:t>protect the brain</a:t>
            </a:r>
            <a:r>
              <a:rPr lang="en-US" sz="21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ACLF: count the organs, find the trigger</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100" dirty="0"/>
          </a:p>
        </p:txBody>
      </p:sp>
      <p:pic>
        <p:nvPicPr>
          <p:cNvPr id="4" name="Image 0" descr="Watercolor of a pocket notebook, a pen and a penlight">    </p:cNvPr>
          <p:cNvPicPr>
            <a:picLocks noChangeAspect="1"/>
          </p:cNvPicPr>
          <p:nvPr/>
        </p:nvPicPr>
        <p:blipFill>
          <a:blip r:embed="rId1"/>
          <a:stretch>
            <a:fillRect/>
          </a:stretch>
        </p:blipFill>
        <p:spPr>
          <a:xfrm>
            <a:off x="8686800" y="1828800"/>
            <a:ext cx="3017520" cy="301752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2026-10-27T01:32:30Z</dcterms:created>
  <dcterms:modified xsi:type="dcterms:W3CDTF">2026-10-27T01:32:30Z</dcterms:modified>
</cp:coreProperties>
</file>