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1.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charts/chart8.xml" ContentType="application/vnd.openxmlformats-officedocument.drawingml.chart+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charts/chart9.xml" ContentType="application/vnd.openxmlformats-officedocument.drawingml.chart+xml"/>
  <Override PartName="/ppt/slideMasters/slideMaster56.xml" ContentType="application/vnd.openxmlformats-officedocument.presentationml.slideMaster+xml"/>
  <Override PartName="/ppt/slides/slide56.xml" ContentType="application/vnd.openxmlformats-officedocument.presentationml.slide+xml"/>
  <Override PartName="/ppt/charts/chart10.xml" ContentType="application/vnd.openxmlformats-officedocument.drawingml.chart+xml"/>
  <Override PartName="/ppt/charts/chart11.xml" ContentType="application/vnd.openxmlformats-officedocument.drawingml.chart+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charts/chart12.xml" ContentType="application/vnd.openxmlformats-officedocument.drawingml.chart+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charts/chart13.xml" ContentType="application/vnd.openxmlformats-officedocument.drawingml.chart+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charts/chart14.xml" ContentType="application/vnd.openxmlformats-officedocument.drawingml.chart+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Lst>
  <p:notesMasterIdLst>
    <p:notesMasterId r:id="rId1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32458a5-fa6d-5517-8f25-de163d35cfb4}">
          <p14:sldIdLst>
            <p14:sldId id="256"/>
            <p14:sldId id="257"/>
          </p14:sldIdLst>
        </p14:section>
        <p14:section name="Patient A: acute liver failure" id="{c028609a-dc00-6c2f-7d8f-814ad44f59fb}">
          <p14:sldIdLst>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Lst>
        </p14:section>
        <p14:section name="Patient B: ACLF" id="{531d5fa8-8a5f-4e94-3b7e-ba327acedfb9}">
          <p14:sldIdLst>
            <p14:sldId id="320"/>
            <p14:sldId id="321"/>
            <p14:sldId id="322"/>
            <p14:sldId id="323"/>
            <p14:sldId id="324"/>
            <p14:sldId id="325"/>
            <p14:sldId id="326"/>
            <p14:sldId id="327"/>
            <p14:sldId id="328"/>
            <p14:sldId id="329"/>
            <p14:sldId id="330"/>
            <p14:sldId id="331"/>
            <p14:sldId id="332"/>
            <p14:sldId id="333"/>
            <p14:sldId id="334"/>
            <p14:sldId id="335"/>
            <p14:sldId id="336"/>
            <p14:sldId id="337"/>
            <p14:sldId id="338"/>
            <p14:sldId id="339"/>
            <p14:sldId id="340"/>
            <p14:sldId id="341"/>
            <p14:sldId id="342"/>
            <p14:sldId id="343"/>
            <p14:sldId id="344"/>
            <p14:sldId id="345"/>
            <p14:sldId id="346"/>
            <p14:sldId id="347"/>
            <p14:sldId id="348"/>
            <p14:sldId id="349"/>
            <p14:sldId id="350"/>
            <p14:sldId id="351"/>
            <p14:sldId id="352"/>
            <p14:sldId id="353"/>
            <p14:sldId id="354"/>
            <p14:sldId id="355"/>
            <p14:sldId id="356"/>
            <p14:sldId id="357"/>
            <p14:sldId id="358"/>
            <p14:sldId id="359"/>
            <p14:sldId id="360"/>
            <p14:sldId id="361"/>
            <p14:sldId id="362"/>
            <p14:sldId id="363"/>
            <p14:sldId id="364"/>
            <p14:sldId id="365"/>
            <p14:sldId id="366"/>
            <p14:sldId id="367"/>
          </p14:sldIdLst>
        </p14:section>
        <p14:section name="Closing" id="{e7bc706a-b90a-6ae2-2d45-1d5f9e3f67f8}">
          <p14:sldIdLst>
            <p14:sldId id="368"/>
            <p14:sldId id="369"/>
            <p14:sldId id="370"/>
            <p14:sldId id="371"/>
          </p14:sldIdLst>
        </p14:section>
        <p14:section name="Appendix" id="{bfa7d64d-42d3-d8d4-2e39-158e3bf1cb86}">
          <p14:sldIdLst>
            <p14:sldId id="372"/>
            <p14:sldId id="373"/>
            <p14:sldId id="374"/>
            <p14:sldId id="375"/>
            <p14:sldId id="376"/>
            <p14:sldId id="377"/>
            <p14:sldId id="3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notesMaster" Target="notesMasters/notesMaster1.xml"/><Relationship Id="rId126" Type="http://schemas.openxmlformats.org/officeDocument/2006/relationships/presProps" Target="presProps.xml"/><Relationship Id="rId127" Type="http://schemas.openxmlformats.org/officeDocument/2006/relationships/viewProps" Target="viewProps.xml"/><Relationship Id="rId128" Type="http://schemas.openxmlformats.org/officeDocument/2006/relationships/theme" Target="theme/theme1.xml"/><Relationship Id="rId1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Original line (200 at 4 h)</c:v>
                </c:pt>
              </c:strCache>
            </c:strRef>
          </c:tx>
          <c:spPr>
            <a:solidFill>
              <a:srgbClr val="7F7F7F"/>
            </a:solidFill>
            <a:ln w="31750" cap="flat">
              <a:solidFill>
                <a:srgbClr val="7F7F7F"/>
              </a:solidFill>
              <a:prstDash val="dash,solid,sysDot"/>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7F7F7F"/>
              </a:solidFill>
              <a:ln w="9525" cap="flat">
                <a:solidFill>
                  <a:srgbClr val="7F7F7F"/>
                </a:solidFill>
                <a:prstDash val="solid"/>
                <a:round/>
              </a:ln>
              <a:effectLst/>
            </c:spPr>
          </c:marker>
          <c:cat>
            <c:multiLvlStrRef>
              <c:f>Sheet1!$A$2:$A$7</c:f>
              <c:multiLvlStrCache>
                <c:ptCount val="6"/>
                <c:lvl>
                  <c:pt idx="0">
                    <c:v>4 h</c:v>
                  </c:pt>
                  <c:pt idx="1">
                    <c:v>8 h</c:v>
                  </c:pt>
                  <c:pt idx="2">
                    <c:v>12 h</c:v>
                  </c:pt>
                  <c:pt idx="3">
                    <c:v>16 h</c:v>
                  </c:pt>
                  <c:pt idx="4">
                    <c:v>20 h</c:v>
                  </c:pt>
                  <c:pt idx="5">
                    <c:v>24 h</c:v>
                  </c:pt>
                </c:lvl>
              </c:multiLvlStrCache>
            </c:multiLvlStrRef>
          </c:cat>
          <c:val>
            <c:numRef>
              <c:f>Sheet1!$B$2:$B$7</c:f>
              <c:numCache>
                <c:formatCode>General</c:formatCode>
                <c:ptCount val="6"/>
                <c:pt idx="0">
                  <c:v>200</c:v>
                </c:pt>
                <c:pt idx="1">
                  <c:v>100</c:v>
                </c:pt>
                <c:pt idx="2">
                  <c:v>50</c:v>
                </c:pt>
                <c:pt idx="3">
                  <c:v>25</c:v>
                </c:pt>
                <c:pt idx="4">
                  <c:v>12.5</c:v>
                </c:pt>
                <c:pt idx="5">
                  <c:v>6.25</c:v>
                </c:pt>
              </c:numCache>
            </c:numRef>
          </c:val>
          <c:smooth val="0"/>
        </c:ser>
        <c:ser>
          <c:idx val="1"/>
          <c:order val="1"/>
          <c:tx>
            <c:strRef>
              <c:f>Sheet1!$C$1</c:f>
              <c:strCache>
                <c:ptCount val="1"/>
                <c:pt idx="0">
                  <c:v>US treatment line (150 at 4 h)</c:v>
                </c:pt>
              </c:strCache>
            </c:strRef>
          </c:tx>
          <c:spPr>
            <a:solidFill>
              <a:srgbClr val="000000"/>
            </a:solidFill>
            <a:ln w="31750" cap="flat">
              <a:solidFill>
                <a:srgbClr val="000000"/>
              </a:solidFill>
              <a:prstDash val="dash,solid,sysDot"/>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00000"/>
              </a:solidFill>
              <a:ln w="9525" cap="flat">
                <a:solidFill>
                  <a:srgbClr val="000000"/>
                </a:solidFill>
                <a:prstDash val="solid"/>
                <a:round/>
              </a:ln>
              <a:effectLst/>
            </c:spPr>
          </c:marker>
          <c:cat>
            <c:multiLvlStrRef>
              <c:f>Sheet1!$A$2:$A$7</c:f>
              <c:multiLvlStrCache>
                <c:ptCount val="6"/>
                <c:lvl>
                  <c:pt idx="0">
                    <c:v>4 h</c:v>
                  </c:pt>
                  <c:pt idx="1">
                    <c:v>8 h</c:v>
                  </c:pt>
                  <c:pt idx="2">
                    <c:v>12 h</c:v>
                  </c:pt>
                  <c:pt idx="3">
                    <c:v>16 h</c:v>
                  </c:pt>
                  <c:pt idx="4">
                    <c:v>20 h</c:v>
                  </c:pt>
                  <c:pt idx="5">
                    <c:v>24 h</c:v>
                  </c:pt>
                </c:lvl>
              </c:multiLvlStrCache>
            </c:multiLvlStrRef>
          </c:cat>
          <c:val>
            <c:numRef>
              <c:f>Sheet1!$C$2:$C$7</c:f>
              <c:numCache>
                <c:formatCode>General</c:formatCode>
                <c:ptCount val="6"/>
                <c:pt idx="0">
                  <c:v>150</c:v>
                </c:pt>
                <c:pt idx="1">
                  <c:v>75</c:v>
                </c:pt>
                <c:pt idx="2">
                  <c:v>37.5</c:v>
                </c:pt>
                <c:pt idx="3">
                  <c:v>18.75</c:v>
                </c:pt>
                <c:pt idx="4">
                  <c:v>9.38</c:v>
                </c:pt>
                <c:pt idx="5">
                  <c:v>4.69</c:v>
                </c:pt>
              </c:numCache>
            </c:numRef>
          </c:val>
          <c:smooth val="0"/>
        </c:ser>
        <c:ser>
          <c:idx val="2"/>
          <c:order val="2"/>
          <c:tx>
            <c:strRef>
              <c:f>Sheet1!$D$1</c:f>
              <c:strCache>
                <c:ptCount val="1"/>
                <c:pt idx="0">
                  <c:v>Her level, 12 μg/mL</c:v>
                </c:pt>
              </c:strCache>
            </c:strRef>
          </c:tx>
          <c:spPr>
            <a:solidFill>
              <a:srgbClr val="C00000"/>
            </a:solidFill>
            <a:ln w="31750" cap="flat">
              <a:solidFill>
                <a:srgbClr val="C00000"/>
              </a:solidFill>
              <a:prstDash val="dash,solid,sysDot"/>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00000"/>
              </a:solidFill>
              <a:ln w="9525" cap="flat">
                <a:solidFill>
                  <a:srgbClr val="C00000"/>
                </a:solidFill>
                <a:prstDash val="solid"/>
                <a:round/>
              </a:ln>
              <a:effectLst/>
            </c:spPr>
          </c:marker>
          <c:cat>
            <c:multiLvlStrRef>
              <c:f>Sheet1!$A$2:$A$7</c:f>
              <c:multiLvlStrCache>
                <c:ptCount val="6"/>
                <c:lvl>
                  <c:pt idx="0">
                    <c:v>4 h</c:v>
                  </c:pt>
                  <c:pt idx="1">
                    <c:v>8 h</c:v>
                  </c:pt>
                  <c:pt idx="2">
                    <c:v>12 h</c:v>
                  </c:pt>
                  <c:pt idx="3">
                    <c:v>16 h</c:v>
                  </c:pt>
                  <c:pt idx="4">
                    <c:v>20 h</c:v>
                  </c:pt>
                  <c:pt idx="5">
                    <c:v>24 h</c:v>
                  </c:pt>
                </c:lvl>
              </c:multiLvlStrCache>
            </c:multiLvlStrRef>
          </c:cat>
          <c:val>
            <c:numRef>
              <c:f>Sheet1!$D$2:$D$7</c:f>
              <c:numCache>
                <c:formatCode>General</c:formatCode>
                <c:ptCount val="6"/>
                <c:pt idx="0">
                  <c:v>12</c:v>
                </c:pt>
                <c:pt idx="1">
                  <c:v>12</c:v>
                </c:pt>
                <c:pt idx="2">
                  <c:v>12</c:v>
                </c:pt>
                <c:pt idx="3">
                  <c:v>12</c:v>
                </c:pt>
                <c:pt idx="4">
                  <c:v>12</c:v>
                </c:pt>
                <c:pt idx="5">
                  <c:v>12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300" b="0" i="0" u="none" strike="noStrike">
                    <a:solidFill>
                      <a:srgbClr val="000000"/>
                    </a:solidFill>
                    <a:latin typeface="Calibri"/>
                  </a:defRPr>
                </a:pPr>
                <a:r>
                  <a:rPr sz="1300" b="0" i="0" u="none" strike="noStrike">
                    <a:solidFill>
                      <a:srgbClr val="000000"/>
                    </a:solidFill>
                    <a:latin typeface="Calibri"/>
                  </a:rPr>
                  <a:t>Hours after a single ingestion</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404040"/>
                </a:solidFill>
                <a:latin typeface="Calibri"/>
              </a:defRPr>
            </a:pPr>
            <a:endParaRPr lang="en-US"/>
          </a:p>
        </c:txPr>
        <c:crossAx val="2094734552"/>
        <c:crosses val="autoZero"/>
        <c:auto val="1"/>
        <c:lblAlgn val="ctr"/>
        <c:noMultiLvlLbl val="1"/>
      </c:catAx>
      <c:valAx>
        <c:axId val="2094734552"/>
        <c:scaling>
          <c:logBase val="10"/>
          <c:orientation val="minMax"/>
          <c:max val="1000"/>
          <c:min val="1"/>
        </c:scaling>
        <c:delete val="0"/>
        <c:axPos val="l"/>
        <c:majorGridlines>
          <c:spPr>
            <a:ln w="6350" cap="flat">
              <a:solidFill>
                <a:srgbClr val="D9D9D9"/>
              </a:solidFill>
              <a:prstDash val="solid"/>
              <a:round/>
            </a:ln>
          </c:spPr>
        </c:majorGridlines>
        <c:title>
          <c:tx>
            <c:rich>
              <a:bodyPr/>
              <a:lstStyle/>
              <a:p>
                <a:pPr>
                  <a:defRPr sz="1300" b="0" i="0" u="none" strike="noStrike">
                    <a:solidFill>
                      <a:srgbClr val="000000"/>
                    </a:solidFill>
                    <a:latin typeface="Calibri"/>
                  </a:defRPr>
                </a:pPr>
                <a:r>
                  <a:rPr sz="1300" b="0" i="0" u="none" strike="noStrike">
                    <a:solidFill>
                      <a:srgbClr val="000000"/>
                    </a:solidFill>
                    <a:latin typeface="Calibri"/>
                  </a:rPr>
                  <a:t>Acetaminophen (μg/mL), log scale</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0404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3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00000"/>
                </a:solidFill>
                <a:latin typeface="Georgia"/>
              </a:defRPr>
            </a:pPr>
            <a:r>
              <a:rPr sz="1600" b="0" i="0" u="none" strike="noStrike">
                <a:solidFill>
                  <a:srgbClr val="000000"/>
                </a:solidFill>
                <a:latin typeface="Georgia"/>
              </a:rPr>
              <a:t>Transplant-free survival at 3 weeks</a:t>
            </a:r>
          </a:p>
        </c:rich>
      </c:tx>
      <c:layout/>
      <c:overlay val="0"/>
    </c:title>
    <c:autoTitleDeleted val="0"/>
    <c:plotArea>
      <c:layout/>
      <c:barChart>
        <c:barDir val="col"/>
        <c:grouping val="clustered"/>
        <c:varyColors val="0"/>
        <c:ser>
          <c:idx val="0"/>
          <c:order val="0"/>
          <c:tx>
            <c:strRef>
              <c:f>Sheet1!$B$1</c:f>
              <c:strCache>
                <c:ptCount val="1"/>
                <c:pt idx="0">
                  <c:v>NAC</c:v>
                </c:pt>
              </c:strCache>
            </c:strRef>
          </c:tx>
          <c:spPr>
            <a:solidFill>
              <a:srgbClr val="000000"/>
            </a:solidFill>
            <a:effectLst/>
          </c:spPr>
          <c:invertIfNegative val="0"/>
          <c:dLbls>
            <c:numFmt formatCode="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Coma grade I-II</c:v>
                  </c:pt>
                  <c:pt idx="1">
                    <c:v>Coma grade III-IV</c:v>
                  </c:pt>
                  <c:pt idx="2">
                    <c:v>All patients</c:v>
                  </c:pt>
                </c:lvl>
              </c:multiLvlStrCache>
            </c:multiLvlStrRef>
          </c:cat>
          <c:val>
            <c:numRef>
              <c:f>Sheet1!$B$2:$B$4</c:f>
              <c:numCache>
                <c:formatCode>General</c:formatCode>
                <c:ptCount val="3"/>
                <c:pt idx="0">
                  <c:v>52</c:v>
                </c:pt>
                <c:pt idx="1">
                  <c:v>9</c:v>
                </c:pt>
                <c:pt idx="2">
                  <c:v>40</c:v>
                </c:pt>
              </c:numCache>
            </c:numRef>
          </c:val>
        </c:ser>
        <c:ser>
          <c:idx val="1"/>
          <c:order val="1"/>
          <c:tx>
            <c:strRef>
              <c:f>Sheet1!$C$1</c:f>
              <c:strCache>
                <c:ptCount val="1"/>
                <c:pt idx="0">
                  <c:v>Placebo</c:v>
                </c:pt>
              </c:strCache>
            </c:strRef>
          </c:tx>
          <c:spPr>
            <a:solidFill>
              <a:srgbClr val="A6A6A6"/>
            </a:solidFill>
            <a:effectLst/>
          </c:spPr>
          <c:invertIfNegative val="0"/>
          <c:dLbls>
            <c:numFmt formatCode="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Coma grade I-II</c:v>
                  </c:pt>
                  <c:pt idx="1">
                    <c:v>Coma grade III-IV</c:v>
                  </c:pt>
                  <c:pt idx="2">
                    <c:v>All patients</c:v>
                  </c:pt>
                </c:lvl>
              </c:multiLvlStrCache>
            </c:multiLvlStrRef>
          </c:cat>
          <c:val>
            <c:numRef>
              <c:f>Sheet1!$C$2:$C$4</c:f>
              <c:numCache>
                <c:formatCode>General</c:formatCode>
                <c:ptCount val="3"/>
                <c:pt idx="0">
                  <c:v>30</c:v>
                </c:pt>
                <c:pt idx="1">
                  <c:v>22</c:v>
                </c:pt>
                <c:pt idx="2">
                  <c:v>27</c:v>
                </c:pt>
              </c:numCache>
            </c:numRef>
          </c:val>
        </c:ser>
        <c:dLbls>
          <c:numFmt formatCode="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5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max val="75"/>
          <c:min val="0"/>
        </c:scaling>
        <c:delete val="0"/>
        <c:axPos val="l"/>
        <c:majorGridlines>
          <c:spPr>
            <a:ln w="6350" cap="flat">
              <a:solidFill>
                <a:srgbClr val="E3E3E3"/>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Calibri"/>
              </a:defRPr>
            </a:pPr>
            <a:endParaRPr lang="en-US"/>
          </a:p>
        </c:txPr>
        <c:crossAx val="2094734554"/>
        <c:crosses val="autoZero"/>
        <c:crossBetween val="between"/>
        <c:majorUnit val="25"/>
      </c:valAx>
      <c:spPr>
        <a:noFill/>
        <a:ln>
          <a:noFill/>
        </a:ln>
        <a:effectLst/>
      </c:spPr>
    </c:plotArea>
    <c:legend>
      <c:legendPos val="b"/>
      <c:overlay val="0"/>
      <c:txPr>
        <a:bodyPr/>
        <a:lstStyle/>
        <a:p>
          <a:pPr>
            <a:defRPr sz="14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00000"/>
                </a:solidFill>
                <a:latin typeface="Georgia"/>
              </a:defRPr>
            </a:pPr>
            <a:r>
              <a:rPr sz="1600" b="0" i="0" u="none" strike="noStrike">
                <a:solidFill>
                  <a:srgbClr val="000000"/>
                </a:solidFill>
                <a:latin typeface="Georgia"/>
              </a:rPr>
              <a:t>Overall survival at 3 weeks</a:t>
            </a:r>
          </a:p>
        </c:rich>
      </c:tx>
      <c:layout/>
      <c:overlay val="0"/>
    </c:title>
    <c:autoTitleDeleted val="0"/>
    <c:plotArea>
      <c:layout/>
      <c:barChart>
        <c:barDir val="col"/>
        <c:grouping val="clustered"/>
        <c:varyColors val="0"/>
        <c:ser>
          <c:idx val="0"/>
          <c:order val="0"/>
          <c:tx>
            <c:strRef>
              <c:f>Sheet1!$B$1</c:f>
              <c:strCache>
                <c:ptCount val="1"/>
                <c:pt idx="0">
                  <c:v>NAC</c:v>
                </c:pt>
              </c:strCache>
            </c:strRef>
          </c:tx>
          <c:spPr>
            <a:solidFill>
              <a:srgbClr val="000000"/>
            </a:solidFill>
            <a:effectLst/>
          </c:spPr>
          <c:invertIfNegative val="0"/>
          <c:dLbls>
            <c:numFmt formatCode="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cat>
            <c:multiLvlStrRef>
              <c:f>Sheet1!$A$2:$A$2</c:f>
              <c:multiLvlStrCache>
                <c:ptCount val="1"/>
                <c:lvl>
                  <c:pt idx="0">
                    <c:v>All patients</c:v>
                  </c:pt>
                </c:lvl>
              </c:multiLvlStrCache>
            </c:multiLvlStrRef>
          </c:cat>
          <c:val>
            <c:numRef>
              <c:f>Sheet1!$B$2:$B$2</c:f>
              <c:numCache>
                <c:formatCode>General</c:formatCode>
                <c:ptCount val="1"/>
                <c:pt idx="0">
                  <c:v>70</c:v>
                </c:pt>
              </c:numCache>
            </c:numRef>
          </c:val>
        </c:ser>
        <c:ser>
          <c:idx val="1"/>
          <c:order val="1"/>
          <c:tx>
            <c:strRef>
              <c:f>Sheet1!$C$1</c:f>
              <c:strCache>
                <c:ptCount val="1"/>
                <c:pt idx="0">
                  <c:v>Placebo</c:v>
                </c:pt>
              </c:strCache>
            </c:strRef>
          </c:tx>
          <c:spPr>
            <a:solidFill>
              <a:srgbClr val="A6A6A6"/>
            </a:solidFill>
            <a:effectLst/>
          </c:spPr>
          <c:invertIfNegative val="0"/>
          <c:dLbls>
            <c:numFmt formatCode="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cat>
            <c:multiLvlStrRef>
              <c:f>Sheet1!$A$2:$A$2</c:f>
              <c:multiLvlStrCache>
                <c:ptCount val="1"/>
                <c:lvl>
                  <c:pt idx="0">
                    <c:v>All patients</c:v>
                  </c:pt>
                </c:lvl>
              </c:multiLvlStrCache>
            </c:multiLvlStrRef>
          </c:cat>
          <c:val>
            <c:numRef>
              <c:f>Sheet1!$C$2:$C$2</c:f>
              <c:numCache>
                <c:formatCode>General</c:formatCode>
                <c:ptCount val="1"/>
                <c:pt idx="0">
                  <c:v>66</c:v>
                </c:pt>
              </c:numCache>
            </c:numRef>
          </c:val>
        </c:ser>
        <c:dLbls>
          <c:numFmt formatCode="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5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max val="75"/>
          <c:min val="0"/>
        </c:scaling>
        <c:delete val="0"/>
        <c:axPos val="l"/>
        <c:majorGridlines>
          <c:spPr>
            <a:ln w="6350" cap="flat">
              <a:solidFill>
                <a:srgbClr val="E3E3E3"/>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Calibri"/>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00000"/>
                </a:solidFill>
                <a:latin typeface="Georgia"/>
              </a:defRPr>
            </a:pPr>
            <a:r>
              <a:rPr sz="1600" b="0" i="0" u="none" strike="noStrike">
                <a:solidFill>
                  <a:srgbClr val="000000"/>
                </a:solidFill>
                <a:latin typeface="Georgia"/>
              </a:rPr>
              <a:t>Clemmesen 1999: ammonia, μmol/L</a:t>
            </a:r>
          </a:p>
        </c:rich>
      </c:tx>
      <c:layout/>
      <c:overlay val="0"/>
    </c:title>
    <c:autoTitleDeleted val="0"/>
    <c:plotArea>
      <c:layout>
        <c:manualLayout>
          <c:layoutTarget val="inner"/>
          <c:xMode val="edge"/>
          <c:yMode val="edge"/>
          <c:x val="0.14"/>
          <c:y val="0.14"/>
          <c:w val="0.82"/>
          <c:h val="0.72"/>
        </c:manualLayout>
      </c:layout>
      <c:barChart>
        <c:barDir val="col"/>
        <c:grouping val="clustered"/>
        <c:varyColors val="0"/>
        <c:ser>
          <c:idx val="0"/>
          <c:order val="0"/>
          <c:tx>
            <c:strRef>
              <c:f>Sheet1!$B$1</c:f>
              <c:strCache>
                <c:ptCount val="1"/>
                <c:pt idx="0">
                  <c:v>Mean arterial ammonia</c:v>
                </c:pt>
              </c:strCache>
            </c:strRef>
          </c:tx>
          <c:spPr>
            <a:solidFill>
              <a:srgbClr val="C00000"/>
            </a:solidFill>
            <a:effectLst/>
          </c:spPr>
          <c:invertIfNegative val="0"/>
          <c:dLbls>
            <c:numFmt formatCode="0"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dPt>
            <c:idx val="0"/>
            <c:invertIfNegative val="0"/>
            <c:bubble3D val="0"/>
            <c:spPr>
              <a:solidFill>
                <a:srgbClr val="C00000"/>
              </a:solidFill>
              <a:effectLst/>
            </c:spPr>
          </c:dPt>
          <c:dPt>
            <c:idx val="1"/>
            <c:invertIfNegative val="0"/>
            <c:bubble3D val="0"/>
            <c:spPr>
              <a:solidFill>
                <a:srgbClr val="A6A6A6"/>
              </a:solidFill>
              <a:effectLst/>
            </c:spPr>
          </c:dPt>
          <c:cat>
            <c:multiLvlStrRef>
              <c:f>Sheet1!$A$2:$A$3</c:f>
              <c:multiLvlStrCache>
                <c:ptCount val="2"/>
                <c:lvl>
                  <c:pt idx="0">
                    <c:v>Herniated (n = 14)</c:v>
                  </c:pt>
                  <c:pt idx="1">
                    <c:v>No herniation (n = 30)</c:v>
                  </c:pt>
                </c:lvl>
              </c:multiLvlStrCache>
            </c:multiLvlStrRef>
          </c:cat>
          <c:val>
            <c:numRef>
              <c:f>Sheet1!$B$2:$B$3</c:f>
              <c:numCache>
                <c:formatCode>General</c:formatCode>
                <c:ptCount val="2"/>
                <c:pt idx="0">
                  <c:v>230</c:v>
                </c:pt>
                <c:pt idx="1">
                  <c:v>118</c:v>
                </c:pt>
              </c:numCache>
            </c:numRef>
          </c:val>
        </c:ser>
        <c:dLbls>
          <c:numFmt formatCode="0"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gapWidth val="9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5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max val="250"/>
          <c:min val="0"/>
        </c:scaling>
        <c:delete val="0"/>
        <c:axPos val="l"/>
        <c:majorGridlines>
          <c:spPr>
            <a:ln w="6350" cap="flat">
              <a:solidFill>
                <a:srgbClr val="E3E3E3"/>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Calibri"/>
              </a:defRPr>
            </a:pPr>
            <a:endParaRPr lang="en-US"/>
          </a:p>
        </c:txPr>
        <c:crossAx val="2094734554"/>
        <c:crosses val="autoZero"/>
        <c:crossBetween val="between"/>
        <c:majorUnit val="50"/>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00000"/>
                </a:solidFill>
                <a:latin typeface="Georgia"/>
              </a:defRPr>
            </a:pPr>
            <a:r>
              <a:rPr sz="1600" b="0" i="0" u="none" strike="noStrike">
                <a:solidFill>
                  <a:srgbClr val="000000"/>
                </a:solidFill>
                <a:latin typeface="Georgia"/>
              </a:rPr>
              <a:t>Kumar 2012: 295 patients</a:t>
            </a:r>
          </a:p>
        </c:rich>
      </c:tx>
      <c:layout/>
      <c:overlay val="0"/>
    </c:title>
    <c:autoTitleDeleted val="0"/>
    <c:plotArea>
      <c:layout/>
      <c:barChart>
        <c:barDir val="col"/>
        <c:grouping val="clustered"/>
        <c:varyColors val="0"/>
        <c:ser>
          <c:idx val="0"/>
          <c:order val="0"/>
          <c:tx>
            <c:strRef>
              <c:f>Sheet1!$B$1</c:f>
              <c:strCache>
                <c:ptCount val="1"/>
                <c:pt idx="0">
                  <c:v>Ammonia ≥ 122 for 3 days</c:v>
                </c:pt>
              </c:strCache>
            </c:strRef>
          </c:tx>
          <c:spPr>
            <a:solidFill>
              <a:srgbClr val="C00000"/>
            </a:solidFill>
            <a:effectLst/>
          </c:spPr>
          <c:invertIfNegative val="0"/>
          <c:dLbls>
            <c:numFmt formatCode="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cat>
            <c:multiLvlStrRef>
              <c:f>Sheet1!$A$2:$A$3</c:f>
              <c:multiLvlStrCache>
                <c:ptCount val="2"/>
                <c:lvl>
                  <c:pt idx="0">
                    <c:v>Survival</c:v>
                  </c:pt>
                  <c:pt idx="1">
                    <c:v>Cerebral edema</c:v>
                  </c:pt>
                </c:lvl>
              </c:multiLvlStrCache>
            </c:multiLvlStrRef>
          </c:cat>
          <c:val>
            <c:numRef>
              <c:f>Sheet1!$B$2:$B$3</c:f>
              <c:numCache>
                <c:formatCode>General</c:formatCode>
                <c:ptCount val="2"/>
                <c:pt idx="0">
                  <c:v>23</c:v>
                </c:pt>
                <c:pt idx="1">
                  <c:v>71</c:v>
                </c:pt>
              </c:numCache>
            </c:numRef>
          </c:val>
        </c:ser>
        <c:ser>
          <c:idx val="1"/>
          <c:order val="1"/>
          <c:tx>
            <c:strRef>
              <c:f>Sheet1!$C$1</c:f>
              <c:strCache>
                <c:ptCount val="1"/>
                <c:pt idx="0">
                  <c:v>Ammonia falling</c:v>
                </c:pt>
              </c:strCache>
            </c:strRef>
          </c:tx>
          <c:spPr>
            <a:solidFill>
              <a:srgbClr val="A6A6A6"/>
            </a:solidFill>
            <a:effectLst/>
          </c:spPr>
          <c:invertIfNegative val="0"/>
          <c:dLbls>
            <c:numFmt formatCode="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cat>
            <c:multiLvlStrRef>
              <c:f>Sheet1!$A$2:$A$3</c:f>
              <c:multiLvlStrCache>
                <c:ptCount val="2"/>
                <c:lvl>
                  <c:pt idx="0">
                    <c:v>Survival</c:v>
                  </c:pt>
                  <c:pt idx="1">
                    <c:v>Cerebral edema</c:v>
                  </c:pt>
                </c:lvl>
              </c:multiLvlStrCache>
            </c:multiLvlStrRef>
          </c:cat>
          <c:val>
            <c:numRef>
              <c:f>Sheet1!$C$2:$C$3</c:f>
              <c:numCache>
                <c:formatCode>General</c:formatCode>
                <c:ptCount val="2"/>
                <c:pt idx="0">
                  <c:v>72</c:v>
                </c:pt>
                <c:pt idx="1">
                  <c:v>37</c:v>
                </c:pt>
              </c:numCache>
            </c:numRef>
          </c:val>
        </c:ser>
        <c:dLbls>
          <c:numFmt formatCode="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5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3E3E3"/>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Calibri"/>
              </a:defRPr>
            </a:pPr>
            <a:endParaRPr lang="en-US"/>
          </a:p>
        </c:txPr>
        <c:crossAx val="2094734554"/>
        <c:crosses val="autoZero"/>
        <c:crossBetween val="between"/>
        <c:majorUnit val="25"/>
      </c:valAx>
      <c:spPr>
        <a:noFill/>
        <a:ln>
          <a:noFill/>
        </a:ln>
        <a:effectLst/>
      </c:spPr>
    </c:plotArea>
    <c:legend>
      <c:legendPos val="b"/>
      <c:overlay val="0"/>
      <c:txPr>
        <a:bodyPr/>
        <a:lstStyle/>
        <a:p>
          <a:pPr>
            <a:defRPr sz="14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00000"/>
                </a:solidFill>
                <a:latin typeface="Georgia"/>
              </a:defRPr>
            </a:pPr>
            <a:r>
              <a:rPr sz="1600" b="0" i="0" u="none" strike="noStrike">
                <a:solidFill>
                  <a:srgbClr val="000000"/>
                </a:solidFill>
                <a:latin typeface="Georgia"/>
              </a:rPr>
              <a:t>Clemmesen 1999: ammonia, μmol/L</a:t>
            </a:r>
          </a:p>
        </c:rich>
      </c:tx>
      <c:layout/>
      <c:overlay val="0"/>
    </c:title>
    <c:autoTitleDeleted val="0"/>
    <c:plotArea>
      <c:layout>
        <c:manualLayout>
          <c:layoutTarget val="inner"/>
          <c:xMode val="edge"/>
          <c:yMode val="edge"/>
          <c:x val="0.14"/>
          <c:y val="0.14"/>
          <c:w val="0.82"/>
          <c:h val="0.72"/>
        </c:manualLayout>
      </c:layout>
      <c:barChart>
        <c:barDir val="col"/>
        <c:grouping val="clustered"/>
        <c:varyColors val="0"/>
        <c:ser>
          <c:idx val="0"/>
          <c:order val="0"/>
          <c:tx>
            <c:strRef>
              <c:f>Sheet1!$B$1</c:f>
              <c:strCache>
                <c:ptCount val="1"/>
                <c:pt idx="0">
                  <c:v>Mean arterial ammonia</c:v>
                </c:pt>
              </c:strCache>
            </c:strRef>
          </c:tx>
          <c:spPr>
            <a:solidFill>
              <a:srgbClr val="C00000"/>
            </a:solidFill>
            <a:effectLst/>
          </c:spPr>
          <c:invertIfNegative val="0"/>
          <c:dLbls>
            <c:numFmt formatCode="0"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dPt>
            <c:idx val="0"/>
            <c:invertIfNegative val="0"/>
            <c:bubble3D val="0"/>
            <c:spPr>
              <a:solidFill>
                <a:srgbClr val="C00000"/>
              </a:solidFill>
              <a:effectLst/>
            </c:spPr>
          </c:dPt>
          <c:dPt>
            <c:idx val="1"/>
            <c:invertIfNegative val="0"/>
            <c:bubble3D val="0"/>
            <c:spPr>
              <a:solidFill>
                <a:srgbClr val="A6A6A6"/>
              </a:solidFill>
              <a:effectLst/>
            </c:spPr>
          </c:dPt>
          <c:cat>
            <c:multiLvlStrRef>
              <c:f>Sheet1!$A$2:$A$3</c:f>
              <c:multiLvlStrCache>
                <c:ptCount val="2"/>
                <c:lvl>
                  <c:pt idx="0">
                    <c:v>Herniated (n = 14)</c:v>
                  </c:pt>
                  <c:pt idx="1">
                    <c:v>No herniation (n = 30)</c:v>
                  </c:pt>
                </c:lvl>
              </c:multiLvlStrCache>
            </c:multiLvlStrRef>
          </c:cat>
          <c:val>
            <c:numRef>
              <c:f>Sheet1!$B$2:$B$3</c:f>
              <c:numCache>
                <c:formatCode>General</c:formatCode>
                <c:ptCount val="2"/>
                <c:pt idx="0">
                  <c:v>230</c:v>
                </c:pt>
                <c:pt idx="1">
                  <c:v>118</c:v>
                </c:pt>
              </c:numCache>
            </c:numRef>
          </c:val>
        </c:ser>
        <c:dLbls>
          <c:numFmt formatCode="0"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gapWidth val="9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5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max val="250"/>
          <c:min val="0"/>
        </c:scaling>
        <c:delete val="0"/>
        <c:axPos val="l"/>
        <c:majorGridlines>
          <c:spPr>
            <a:ln w="6350" cap="flat">
              <a:solidFill>
                <a:srgbClr val="E3E3E3"/>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Calibri"/>
              </a:defRPr>
            </a:pPr>
            <a:endParaRPr lang="en-US"/>
          </a:p>
        </c:txPr>
        <c:crossAx val="2094734554"/>
        <c:crosses val="autoZero"/>
        <c:crossBetween val="between"/>
        <c:majorUnit val="50"/>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00000"/>
                </a:solidFill>
                <a:latin typeface="Georgia"/>
              </a:defRPr>
            </a:pPr>
            <a:r>
              <a:rPr sz="1600" b="0" i="0" u="none" strike="noStrike">
                <a:solidFill>
                  <a:srgbClr val="000000"/>
                </a:solidFill>
                <a:latin typeface="Georgia"/>
              </a:rPr>
              <a:t>Kumar 2012: 295 patients</a:t>
            </a:r>
          </a:p>
        </c:rich>
      </c:tx>
      <c:layout/>
      <c:overlay val="0"/>
    </c:title>
    <c:autoTitleDeleted val="0"/>
    <c:plotArea>
      <c:layout/>
      <c:barChart>
        <c:barDir val="col"/>
        <c:grouping val="clustered"/>
        <c:varyColors val="0"/>
        <c:ser>
          <c:idx val="0"/>
          <c:order val="0"/>
          <c:tx>
            <c:strRef>
              <c:f>Sheet1!$B$1</c:f>
              <c:strCache>
                <c:ptCount val="1"/>
                <c:pt idx="0">
                  <c:v>Ammonia ≥ 122 for 3 days</c:v>
                </c:pt>
              </c:strCache>
            </c:strRef>
          </c:tx>
          <c:spPr>
            <a:solidFill>
              <a:srgbClr val="C00000"/>
            </a:solidFill>
            <a:effectLst/>
          </c:spPr>
          <c:invertIfNegative val="0"/>
          <c:dLbls>
            <c:numFmt formatCode="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cat>
            <c:multiLvlStrRef>
              <c:f>Sheet1!$A$2:$A$3</c:f>
              <c:multiLvlStrCache>
                <c:ptCount val="2"/>
                <c:lvl>
                  <c:pt idx="0">
                    <c:v>Survival</c:v>
                  </c:pt>
                  <c:pt idx="1">
                    <c:v>Cerebral edema</c:v>
                  </c:pt>
                </c:lvl>
              </c:multiLvlStrCache>
            </c:multiLvlStrRef>
          </c:cat>
          <c:val>
            <c:numRef>
              <c:f>Sheet1!$B$2:$B$3</c:f>
              <c:numCache>
                <c:formatCode>General</c:formatCode>
                <c:ptCount val="2"/>
                <c:pt idx="0">
                  <c:v>23</c:v>
                </c:pt>
                <c:pt idx="1">
                  <c:v>71</c:v>
                </c:pt>
              </c:numCache>
            </c:numRef>
          </c:val>
        </c:ser>
        <c:ser>
          <c:idx val="1"/>
          <c:order val="1"/>
          <c:tx>
            <c:strRef>
              <c:f>Sheet1!$C$1</c:f>
              <c:strCache>
                <c:ptCount val="1"/>
                <c:pt idx="0">
                  <c:v>Ammonia falling</c:v>
                </c:pt>
              </c:strCache>
            </c:strRef>
          </c:tx>
          <c:spPr>
            <a:solidFill>
              <a:srgbClr val="A6A6A6"/>
            </a:solidFill>
            <a:effectLst/>
          </c:spPr>
          <c:invertIfNegative val="0"/>
          <c:dLbls>
            <c:numFmt formatCode="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cat>
            <c:multiLvlStrRef>
              <c:f>Sheet1!$A$2:$A$3</c:f>
              <c:multiLvlStrCache>
                <c:ptCount val="2"/>
                <c:lvl>
                  <c:pt idx="0">
                    <c:v>Survival</c:v>
                  </c:pt>
                  <c:pt idx="1">
                    <c:v>Cerebral edema</c:v>
                  </c:pt>
                </c:lvl>
              </c:multiLvlStrCache>
            </c:multiLvlStrRef>
          </c:cat>
          <c:val>
            <c:numRef>
              <c:f>Sheet1!$C$2:$C$3</c:f>
              <c:numCache>
                <c:formatCode>General</c:formatCode>
                <c:ptCount val="2"/>
                <c:pt idx="0">
                  <c:v>72</c:v>
                </c:pt>
                <c:pt idx="1">
                  <c:v>37</c:v>
                </c:pt>
              </c:numCache>
            </c:numRef>
          </c:val>
        </c:ser>
        <c:dLbls>
          <c:numFmt formatCode="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5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3E3E3"/>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Calibri"/>
              </a:defRPr>
            </a:pPr>
            <a:endParaRPr lang="en-US"/>
          </a:p>
        </c:txPr>
        <c:crossAx val="2094734554"/>
        <c:crosses val="autoZero"/>
        <c:crossBetween val="between"/>
        <c:majorUnit val="25"/>
      </c:valAx>
      <c:spPr>
        <a:noFill/>
        <a:ln>
          <a:noFill/>
        </a:ln>
        <a:effectLst/>
      </c:spPr>
    </c:plotArea>
    <c:legend>
      <c:legendPos val="b"/>
      <c:overlay val="0"/>
      <c:txPr>
        <a:bodyPr/>
        <a:lstStyle/>
        <a:p>
          <a:pPr>
            <a:defRPr sz="14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00000"/>
                </a:solidFill>
                <a:latin typeface="Georgia"/>
              </a:defRPr>
            </a:pPr>
            <a:r>
              <a:rPr sz="1600" b="0" i="0" u="none" strike="noStrike">
                <a:solidFill>
                  <a:srgbClr val="000000"/>
                </a:solidFill>
                <a:latin typeface="Georgia"/>
              </a:rPr>
              <a:t>Ammonia clearance, mL/min (12 patients)</a:t>
            </a:r>
          </a:p>
        </c:rich>
      </c:tx>
      <c:layout/>
      <c:overlay val="0"/>
    </c:title>
    <c:autoTitleDeleted val="0"/>
    <c:plotArea>
      <c:layout/>
      <c:barChart>
        <c:barDir val="col"/>
        <c:grouping val="clustered"/>
        <c:varyColors val="0"/>
        <c:ser>
          <c:idx val="0"/>
          <c:order val="0"/>
          <c:tx>
            <c:strRef>
              <c:f>Sheet1!$B$1</c:f>
              <c:strCache>
                <c:ptCount val="1"/>
                <c:pt idx="0">
                  <c:v>Ammonia clearance</c:v>
                </c:pt>
              </c:strCache>
            </c:strRef>
          </c:tx>
          <c:spPr>
            <a:solidFill>
              <a:srgbClr val="000000"/>
            </a:solidFill>
            <a:effectLst/>
          </c:spPr>
          <c:invertIfNegative val="0"/>
          <c:dLbls>
            <c:numFmt formatCode="0"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dPt>
            <c:idx val="0"/>
            <c:invertIfNegative val="0"/>
            <c:bubble3D val="0"/>
            <c:spPr>
              <a:solidFill>
                <a:srgbClr val="000000"/>
              </a:solidFill>
              <a:effectLst/>
            </c:spPr>
          </c:dPt>
          <c:dPt>
            <c:idx val="1"/>
            <c:invertIfNegative val="0"/>
            <c:bubble3D val="0"/>
            <c:spPr>
              <a:solidFill>
                <a:srgbClr val="7F7F7F"/>
              </a:solidFill>
              <a:effectLst/>
            </c:spPr>
          </c:dPt>
          <c:dPt>
            <c:idx val="2"/>
            <c:invertIfNegative val="0"/>
            <c:bubble3D val="0"/>
            <c:spPr>
              <a:solidFill>
                <a:srgbClr val="7F7F7F"/>
              </a:solidFill>
              <a:effectLst/>
            </c:spPr>
          </c:dPt>
          <c:cat>
            <c:multiLvlStrRef>
              <c:f>Sheet1!$A$2:$A$4</c:f>
              <c:multiLvlStrCache>
                <c:ptCount val="3"/>
                <c:lvl>
                  <c:pt idx="0">
                    <c:v>CVVH</c:v>
                  </c:pt>
                  <c:pt idx="1">
                    <c:v>CVVHD</c:v>
                  </c:pt>
                  <c:pt idx="2">
                    <c:v>CVVHDF</c:v>
                  </c:pt>
                </c:lvl>
              </c:multiLvlStrCache>
            </c:multiLvlStrRef>
          </c:cat>
          <c:val>
            <c:numRef>
              <c:f>Sheet1!$B$2:$B$4</c:f>
              <c:numCache>
                <c:formatCode>General</c:formatCode>
                <c:ptCount val="3"/>
                <c:pt idx="0">
                  <c:v>27</c:v>
                </c:pt>
                <c:pt idx="1">
                  <c:v>21</c:v>
                </c:pt>
                <c:pt idx="2">
                  <c:v>20</c:v>
                </c:pt>
              </c:numCache>
            </c:numRef>
          </c:val>
        </c:ser>
        <c:dLbls>
          <c:numFmt formatCode="0"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5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max val="40"/>
          <c:min val="0"/>
        </c:scaling>
        <c:delete val="0"/>
        <c:axPos val="l"/>
        <c:majorGridlines>
          <c:spPr>
            <a:ln w="6350" cap="flat">
              <a:solidFill>
                <a:srgbClr val="E3E3E3"/>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Calibri"/>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00000"/>
                </a:solidFill>
                <a:latin typeface="Georgia"/>
              </a:defRPr>
            </a:pPr>
            <a:r>
              <a:rPr sz="1600" b="0" i="0" u="none" strike="noStrike">
                <a:solidFill>
                  <a:srgbClr val="000000"/>
                </a:solidFill>
                <a:latin typeface="Georgia"/>
              </a:rPr>
              <a:t>AST and ALT (U/L)</a:t>
            </a:r>
          </a:p>
        </c:rich>
      </c:tx>
      <c:layout/>
      <c:overlay val="0"/>
    </c:title>
    <c:autoTitleDeleted val="0"/>
    <c:plotArea>
      <c:layout/>
      <c:lineChart>
        <c:varyColors val="0"/>
        <c:ser>
          <c:idx val="0"/>
          <c:order val="0"/>
          <c:tx>
            <c:strRef>
              <c:f>Sheet1!$B$1</c:f>
              <c:strCache>
                <c:ptCount val="1"/>
                <c:pt idx="0">
                  <c:v>AST</c:v>
                </c:pt>
              </c:strCache>
            </c:strRef>
          </c:tx>
          <c:spPr>
            <a:solidFill>
              <a:srgbClr val="000000"/>
            </a:solidFill>
            <a:ln w="31750" cap="flat">
              <a:solidFill>
                <a:srgbClr val="000000"/>
              </a:solidFill>
              <a:prstDash val="solid"/>
              <a:round/>
            </a:ln>
            <a:effectLst/>
          </c:spPr>
          <c:invertIfNegative val="0"/>
          <c:dLbls>
            <c:numFmt formatCode="#,##0" sourceLinked="0"/>
            <c:txPr>
              <a:bodyPr/>
              <a:lstStyle/>
              <a:p>
                <a:pPr>
                  <a:defRPr b="0" i="0" strike="noStrike" sz="1100" u="none">
                    <a:solidFill>
                      <a:srgbClr val="000000"/>
                    </a:solidFill>
                    <a:latin typeface="Calibri"/>
                  </a:defRPr>
                </a:pPr>
              </a:p>
            </c:txPr>
            <c:dLblPos val="t"/>
            <c:showLegendKey val="0"/>
            <c:showVal val="1"/>
            <c:showCatName val="0"/>
            <c:showSerName val="0"/>
            <c:showPercent val="0"/>
            <c:showBubbleSize val="0"/>
            <c:showLeaderLines val="0"/>
          </c:dLbls>
          <c:marker>
            <c:symbol val="circle"/>
            <c:size val="8"/>
            <c:spPr>
              <a:solidFill>
                <a:srgbClr val="000000"/>
              </a:solidFill>
              <a:ln w="9525" cap="flat">
                <a:solidFill>
                  <a:srgbClr val="000000"/>
                </a:solidFill>
                <a:prstDash val="solid"/>
                <a:round/>
              </a:ln>
              <a:effectLst/>
            </c:spPr>
          </c:marker>
          <c:cat>
            <c:multiLvlStrRef>
              <c:f>Sheet1!$A$2:$A$5</c:f>
              <c:multiLvlStrCache>
                <c:ptCount val="4"/>
                <c:lvl>
                  <c:pt idx="0">
                    <c:v>Admission</c:v>
                  </c:pt>
                  <c:pt idx="1">
                    <c:v>Hour 12</c:v>
                  </c:pt>
                  <c:pt idx="2">
                    <c:v>Day 2</c:v>
                  </c:pt>
                  <c:pt idx="3">
                    <c:v>Day 3</c:v>
                  </c:pt>
                </c:lvl>
              </c:multiLvlStrCache>
            </c:multiLvlStrRef>
          </c:cat>
          <c:val>
            <c:numRef>
              <c:f>Sheet1!$B$2:$B$5</c:f>
              <c:numCache>
                <c:formatCode>General</c:formatCode>
                <c:ptCount val="4"/>
                <c:pt idx="0">
                  <c:v>6820</c:v>
                </c:pt>
                <c:pt idx="1">
                  <c:v>4310</c:v>
                </c:pt>
                <c:pt idx="2">
                  <c:v>2140</c:v>
                </c:pt>
                <c:pt idx="3">
                  <c:v>1190</c:v>
                </c:pt>
              </c:numCache>
            </c:numRef>
          </c:val>
          <c:smooth val="0"/>
        </c:ser>
        <c:ser>
          <c:idx val="1"/>
          <c:order val="1"/>
          <c:tx>
            <c:strRef>
              <c:f>Sheet1!$C$1</c:f>
              <c:strCache>
                <c:ptCount val="1"/>
                <c:pt idx="0">
                  <c:v>ALT</c:v>
                </c:pt>
              </c:strCache>
            </c:strRef>
          </c:tx>
          <c:spPr>
            <a:solidFill>
              <a:srgbClr val="7F7F7F"/>
            </a:solidFill>
            <a:ln w="31750" cap="flat">
              <a:solidFill>
                <a:srgbClr val="7F7F7F"/>
              </a:solidFill>
              <a:prstDash val="solid"/>
              <a:round/>
            </a:ln>
            <a:effectLst/>
          </c:spPr>
          <c:invertIfNegative val="0"/>
          <c:dLbls>
            <c:numFmt formatCode="#,##0" sourceLinked="0"/>
            <c:txPr>
              <a:bodyPr/>
              <a:lstStyle/>
              <a:p>
                <a:pPr>
                  <a:defRPr b="0" i="0" strike="noStrike" sz="1100" u="none">
                    <a:solidFill>
                      <a:srgbClr val="000000"/>
                    </a:solidFill>
                    <a:latin typeface="Calibri"/>
                  </a:defRPr>
                </a:pPr>
              </a:p>
            </c:txPr>
            <c:dLblPos val="t"/>
            <c:showLegendKey val="0"/>
            <c:showVal val="1"/>
            <c:showCatName val="0"/>
            <c:showSerName val="0"/>
            <c:showPercent val="0"/>
            <c:showBubbleSize val="0"/>
            <c:showLeaderLines val="0"/>
          </c:dLbls>
          <c:marker>
            <c:symbol val="circle"/>
            <c:size val="8"/>
            <c:spPr>
              <a:solidFill>
                <a:srgbClr val="7F7F7F"/>
              </a:solidFill>
              <a:ln w="9525" cap="flat">
                <a:solidFill>
                  <a:srgbClr val="7F7F7F"/>
                </a:solidFill>
                <a:prstDash val="solid"/>
                <a:round/>
              </a:ln>
              <a:effectLst/>
            </c:spPr>
          </c:marker>
          <c:cat>
            <c:multiLvlStrRef>
              <c:f>Sheet1!$A$2:$A$5</c:f>
              <c:multiLvlStrCache>
                <c:ptCount val="4"/>
                <c:lvl>
                  <c:pt idx="0">
                    <c:v>Admission</c:v>
                  </c:pt>
                  <c:pt idx="1">
                    <c:v>Hour 12</c:v>
                  </c:pt>
                  <c:pt idx="2">
                    <c:v>Day 2</c:v>
                  </c:pt>
                  <c:pt idx="3">
                    <c:v>Day 3</c:v>
                  </c:pt>
                </c:lvl>
              </c:multiLvlStrCache>
            </c:multiLvlStrRef>
          </c:cat>
          <c:val>
            <c:numRef>
              <c:f>Sheet1!$C$2:$C$5</c:f>
              <c:numCache>
                <c:formatCode>General</c:formatCode>
                <c:ptCount val="4"/>
                <c:pt idx="0">
                  <c:v>5940</c:v>
                </c:pt>
                <c:pt idx="1">
                  <c:v>5020</c:v>
                </c:pt>
                <c:pt idx="2">
                  <c:v>3260</c:v>
                </c:pt>
                <c:pt idx="3">
                  <c:v>2210</c:v>
                </c:pt>
              </c:numCache>
            </c:numRef>
          </c:val>
          <c:smooth val="0"/>
        </c:ser>
        <c:dLbls>
          <c:numFmt formatCode="#,##0" sourceLinked="0"/>
          <c:txPr>
            <a:bodyPr/>
            <a:lstStyle/>
            <a:p>
              <a:pPr>
                <a:defRPr b="0" i="0" strike="noStrike" sz="1100" u="none">
                  <a:solidFill>
                    <a:srgbClr val="000000"/>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404040"/>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9D9D9"/>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0404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3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00000"/>
                </a:solidFill>
                <a:latin typeface="Georgia"/>
              </a:defRPr>
            </a:pPr>
            <a:r>
              <a:rPr sz="1600" b="0" i="0" u="none" strike="noStrike">
                <a:solidFill>
                  <a:srgbClr val="000000"/>
                </a:solidFill>
                <a:latin typeface="Georgia"/>
              </a:rPr>
              <a:t>AST and ALT (U/L)</a:t>
            </a:r>
          </a:p>
        </c:rich>
      </c:tx>
      <c:layout/>
      <c:overlay val="0"/>
    </c:title>
    <c:autoTitleDeleted val="0"/>
    <c:plotArea>
      <c:layout/>
      <c:lineChart>
        <c:varyColors val="0"/>
        <c:ser>
          <c:idx val="0"/>
          <c:order val="0"/>
          <c:tx>
            <c:strRef>
              <c:f>Sheet1!$B$1</c:f>
              <c:strCache>
                <c:ptCount val="1"/>
                <c:pt idx="0">
                  <c:v>AST</c:v>
                </c:pt>
              </c:strCache>
            </c:strRef>
          </c:tx>
          <c:spPr>
            <a:solidFill>
              <a:srgbClr val="000000"/>
            </a:solidFill>
            <a:ln w="31750" cap="flat">
              <a:solidFill>
                <a:srgbClr val="000000"/>
              </a:solidFill>
              <a:prstDash val="solid"/>
              <a:round/>
            </a:ln>
            <a:effectLst/>
          </c:spPr>
          <c:invertIfNegative val="0"/>
          <c:dLbls>
            <c:numFmt formatCode="#,##0" sourceLinked="0"/>
            <c:txPr>
              <a:bodyPr/>
              <a:lstStyle/>
              <a:p>
                <a:pPr>
                  <a:defRPr b="0" i="0" strike="noStrike" sz="1100" u="none">
                    <a:solidFill>
                      <a:srgbClr val="000000"/>
                    </a:solidFill>
                    <a:latin typeface="Calibri"/>
                  </a:defRPr>
                </a:pPr>
              </a:p>
            </c:txPr>
            <c:dLblPos val="t"/>
            <c:showLegendKey val="0"/>
            <c:showVal val="1"/>
            <c:showCatName val="0"/>
            <c:showSerName val="0"/>
            <c:showPercent val="0"/>
            <c:showBubbleSize val="0"/>
            <c:showLeaderLines val="0"/>
          </c:dLbls>
          <c:marker>
            <c:symbol val="circle"/>
            <c:size val="8"/>
            <c:spPr>
              <a:solidFill>
                <a:srgbClr val="000000"/>
              </a:solidFill>
              <a:ln w="9525" cap="flat">
                <a:solidFill>
                  <a:srgbClr val="000000"/>
                </a:solidFill>
                <a:prstDash val="solid"/>
                <a:round/>
              </a:ln>
              <a:effectLst/>
            </c:spPr>
          </c:marker>
          <c:cat>
            <c:multiLvlStrRef>
              <c:f>Sheet1!$A$2:$A$5</c:f>
              <c:multiLvlStrCache>
                <c:ptCount val="4"/>
                <c:lvl>
                  <c:pt idx="0">
                    <c:v>Admission</c:v>
                  </c:pt>
                  <c:pt idx="1">
                    <c:v>Hour 12</c:v>
                  </c:pt>
                  <c:pt idx="2">
                    <c:v>Day 2</c:v>
                  </c:pt>
                  <c:pt idx="3">
                    <c:v>Day 3</c:v>
                  </c:pt>
                </c:lvl>
              </c:multiLvlStrCache>
            </c:multiLvlStrRef>
          </c:cat>
          <c:val>
            <c:numRef>
              <c:f>Sheet1!$B$2:$B$5</c:f>
              <c:numCache>
                <c:formatCode>General</c:formatCode>
                <c:ptCount val="4"/>
                <c:pt idx="0">
                  <c:v>6820</c:v>
                </c:pt>
                <c:pt idx="1">
                  <c:v>4310</c:v>
                </c:pt>
                <c:pt idx="2">
                  <c:v>2140</c:v>
                </c:pt>
                <c:pt idx="3">
                  <c:v>1190</c:v>
                </c:pt>
              </c:numCache>
            </c:numRef>
          </c:val>
          <c:smooth val="0"/>
        </c:ser>
        <c:ser>
          <c:idx val="1"/>
          <c:order val="1"/>
          <c:tx>
            <c:strRef>
              <c:f>Sheet1!$C$1</c:f>
              <c:strCache>
                <c:ptCount val="1"/>
                <c:pt idx="0">
                  <c:v>ALT</c:v>
                </c:pt>
              </c:strCache>
            </c:strRef>
          </c:tx>
          <c:spPr>
            <a:solidFill>
              <a:srgbClr val="7F7F7F"/>
            </a:solidFill>
            <a:ln w="31750" cap="flat">
              <a:solidFill>
                <a:srgbClr val="7F7F7F"/>
              </a:solidFill>
              <a:prstDash val="solid"/>
              <a:round/>
            </a:ln>
            <a:effectLst/>
          </c:spPr>
          <c:invertIfNegative val="0"/>
          <c:dLbls>
            <c:numFmt formatCode="#,##0" sourceLinked="0"/>
            <c:txPr>
              <a:bodyPr/>
              <a:lstStyle/>
              <a:p>
                <a:pPr>
                  <a:defRPr b="0" i="0" strike="noStrike" sz="1100" u="none">
                    <a:solidFill>
                      <a:srgbClr val="000000"/>
                    </a:solidFill>
                    <a:latin typeface="Calibri"/>
                  </a:defRPr>
                </a:pPr>
              </a:p>
            </c:txPr>
            <c:dLblPos val="t"/>
            <c:showLegendKey val="0"/>
            <c:showVal val="1"/>
            <c:showCatName val="0"/>
            <c:showSerName val="0"/>
            <c:showPercent val="0"/>
            <c:showBubbleSize val="0"/>
            <c:showLeaderLines val="0"/>
          </c:dLbls>
          <c:marker>
            <c:symbol val="circle"/>
            <c:size val="8"/>
            <c:spPr>
              <a:solidFill>
                <a:srgbClr val="7F7F7F"/>
              </a:solidFill>
              <a:ln w="9525" cap="flat">
                <a:solidFill>
                  <a:srgbClr val="7F7F7F"/>
                </a:solidFill>
                <a:prstDash val="solid"/>
                <a:round/>
              </a:ln>
              <a:effectLst/>
            </c:spPr>
          </c:marker>
          <c:cat>
            <c:multiLvlStrRef>
              <c:f>Sheet1!$A$2:$A$5</c:f>
              <c:multiLvlStrCache>
                <c:ptCount val="4"/>
                <c:lvl>
                  <c:pt idx="0">
                    <c:v>Admission</c:v>
                  </c:pt>
                  <c:pt idx="1">
                    <c:v>Hour 12</c:v>
                  </c:pt>
                  <c:pt idx="2">
                    <c:v>Day 2</c:v>
                  </c:pt>
                  <c:pt idx="3">
                    <c:v>Day 3</c:v>
                  </c:pt>
                </c:lvl>
              </c:multiLvlStrCache>
            </c:multiLvlStrRef>
          </c:cat>
          <c:val>
            <c:numRef>
              <c:f>Sheet1!$C$2:$C$5</c:f>
              <c:numCache>
                <c:formatCode>General</c:formatCode>
                <c:ptCount val="4"/>
                <c:pt idx="0">
                  <c:v>5940</c:v>
                </c:pt>
                <c:pt idx="1">
                  <c:v>5020</c:v>
                </c:pt>
                <c:pt idx="2">
                  <c:v>3260</c:v>
                </c:pt>
                <c:pt idx="3">
                  <c:v>2210</c:v>
                </c:pt>
              </c:numCache>
            </c:numRef>
          </c:val>
          <c:smooth val="0"/>
        </c:ser>
        <c:dLbls>
          <c:numFmt formatCode="#,##0" sourceLinked="0"/>
          <c:txPr>
            <a:bodyPr/>
            <a:lstStyle/>
            <a:p>
              <a:pPr>
                <a:defRPr b="0" i="0" strike="noStrike" sz="1100" u="none">
                  <a:solidFill>
                    <a:srgbClr val="000000"/>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404040"/>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9D9D9"/>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0404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3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00000"/>
                </a:solidFill>
                <a:latin typeface="Georgia"/>
              </a:defRPr>
            </a:pPr>
            <a:r>
              <a:rPr sz="1600" b="0" i="0" u="none" strike="noStrike">
                <a:solidFill>
                  <a:srgbClr val="000000"/>
                </a:solidFill>
                <a:latin typeface="Georgia"/>
              </a:rPr>
              <a:t>INR and lactate</a:t>
            </a:r>
          </a:p>
        </c:rich>
      </c:tx>
      <c:layout/>
      <c:overlay val="0"/>
    </c:title>
    <c:autoTitleDeleted val="0"/>
    <c:plotArea>
      <c:layout/>
      <c:lineChart>
        <c:varyColors val="0"/>
        <c:ser>
          <c:idx val="0"/>
          <c:order val="0"/>
          <c:tx>
            <c:strRef>
              <c:f>Sheet1!$B$1</c:f>
              <c:strCache>
                <c:ptCount val="1"/>
                <c:pt idx="0">
                  <c:v>INR</c:v>
                </c:pt>
              </c:strCache>
            </c:strRef>
          </c:tx>
          <c:spPr>
            <a:solidFill>
              <a:srgbClr val="C00000"/>
            </a:solidFill>
            <a:ln w="31750" cap="flat">
              <a:solidFill>
                <a:srgbClr val="C00000"/>
              </a:solidFill>
              <a:prstDash val="solid"/>
              <a:round/>
            </a:ln>
            <a:effectLst/>
          </c:spPr>
          <c:invertIfNegative val="0"/>
          <c:dLbls>
            <c:numFmt formatCode="0.0" sourceLinked="0"/>
            <c:txPr>
              <a:bodyPr/>
              <a:lstStyle/>
              <a:p>
                <a:pPr>
                  <a:defRPr b="0" i="0" strike="noStrike" sz="1100" u="none">
                    <a:solidFill>
                      <a:srgbClr val="000000"/>
                    </a:solidFill>
                    <a:latin typeface="Calibri"/>
                  </a:defRPr>
                </a:pPr>
              </a:p>
            </c:txPr>
            <c:dLblPos val="t"/>
            <c:showLegendKey val="0"/>
            <c:showVal val="0"/>
            <c:showCatName val="0"/>
            <c:showSerName val="0"/>
            <c:showPercent val="0"/>
            <c:showBubbleSize val="0"/>
            <c:showLeaderLines val="0"/>
          </c:dLbls>
          <c:marker>
            <c:symbol val="circle"/>
            <c:size val="8"/>
            <c:spPr>
              <a:solidFill>
                <a:srgbClr val="C00000"/>
              </a:solidFill>
              <a:ln w="9525" cap="flat">
                <a:solidFill>
                  <a:srgbClr val="C00000"/>
                </a:solidFill>
                <a:prstDash val="solid"/>
                <a:round/>
              </a:ln>
              <a:effectLst/>
            </c:spPr>
          </c:marker>
          <c:cat>
            <c:multiLvlStrRef>
              <c:f>Sheet1!$A$2:$A$5</c:f>
              <c:multiLvlStrCache>
                <c:ptCount val="4"/>
                <c:lvl>
                  <c:pt idx="0">
                    <c:v>Admission</c:v>
                  </c:pt>
                  <c:pt idx="1">
                    <c:v>Hour 12</c:v>
                  </c:pt>
                  <c:pt idx="2">
                    <c:v>Day 2</c:v>
                  </c:pt>
                  <c:pt idx="3">
                    <c:v>Day 3</c:v>
                  </c:pt>
                </c:lvl>
              </c:multiLvlStrCache>
            </c:multiLvlStrRef>
          </c:cat>
          <c:val>
            <c:numRef>
              <c:f>Sheet1!$B$2:$B$5</c:f>
              <c:numCache>
                <c:formatCode>General</c:formatCode>
                <c:ptCount val="4"/>
                <c:pt idx="0">
                  <c:v>3.2</c:v>
                </c:pt>
                <c:pt idx="1">
                  <c:v>4.1</c:v>
                </c:pt>
                <c:pt idx="2">
                  <c:v>4.9</c:v>
                </c:pt>
                <c:pt idx="3">
                  <c:v>5.6</c:v>
                </c:pt>
              </c:numCache>
            </c:numRef>
          </c:val>
          <c:smooth val="0"/>
        </c:ser>
        <c:ser>
          <c:idx val="1"/>
          <c:order val="1"/>
          <c:tx>
            <c:strRef>
              <c:f>Sheet1!$C$1</c:f>
              <c:strCache>
                <c:ptCount val="1"/>
                <c:pt idx="0">
                  <c:v>Lactate (mmol/L)</c:v>
                </c:pt>
              </c:strCache>
            </c:strRef>
          </c:tx>
          <c:spPr>
            <a:solidFill>
              <a:srgbClr val="7F7F7F"/>
            </a:solidFill>
            <a:ln w="31750" cap="flat">
              <a:solidFill>
                <a:srgbClr val="7F7F7F"/>
              </a:solidFill>
              <a:prstDash val="solid"/>
              <a:round/>
            </a:ln>
            <a:effectLst/>
          </c:spPr>
          <c:invertIfNegative val="0"/>
          <c:dLbls>
            <c:numFmt formatCode="0.0" sourceLinked="0"/>
            <c:txPr>
              <a:bodyPr/>
              <a:lstStyle/>
              <a:p>
                <a:pPr>
                  <a:defRPr b="0" i="0" strike="noStrike" sz="1100" u="none">
                    <a:solidFill>
                      <a:srgbClr val="000000"/>
                    </a:solidFill>
                    <a:latin typeface="Calibri"/>
                  </a:defRPr>
                </a:pPr>
              </a:p>
            </c:txPr>
            <c:dLblPos val="t"/>
            <c:showLegendKey val="0"/>
            <c:showVal val="0"/>
            <c:showCatName val="0"/>
            <c:showSerName val="0"/>
            <c:showPercent val="0"/>
            <c:showBubbleSize val="0"/>
            <c:showLeaderLines val="0"/>
          </c:dLbls>
          <c:marker>
            <c:symbol val="circle"/>
            <c:size val="8"/>
            <c:spPr>
              <a:solidFill>
                <a:srgbClr val="7F7F7F"/>
              </a:solidFill>
              <a:ln w="9525" cap="flat">
                <a:solidFill>
                  <a:srgbClr val="7F7F7F"/>
                </a:solidFill>
                <a:prstDash val="solid"/>
                <a:round/>
              </a:ln>
              <a:effectLst/>
            </c:spPr>
          </c:marker>
          <c:cat>
            <c:multiLvlStrRef>
              <c:f>Sheet1!$A$2:$A$5</c:f>
              <c:multiLvlStrCache>
                <c:ptCount val="4"/>
                <c:lvl>
                  <c:pt idx="0">
                    <c:v>Admission</c:v>
                  </c:pt>
                  <c:pt idx="1">
                    <c:v>Hour 12</c:v>
                  </c:pt>
                  <c:pt idx="2">
                    <c:v>Day 2</c:v>
                  </c:pt>
                  <c:pt idx="3">
                    <c:v>Day 3</c:v>
                  </c:pt>
                </c:lvl>
              </c:multiLvlStrCache>
            </c:multiLvlStrRef>
          </c:cat>
          <c:val>
            <c:numRef>
              <c:f>Sheet1!$C$2:$C$5</c:f>
              <c:numCache>
                <c:formatCode>General</c:formatCode>
                <c:ptCount val="4"/>
                <c:pt idx="0">
                  <c:v>2.1</c:v>
                </c:pt>
                <c:pt idx="1">
                  <c:v>4.6</c:v>
                </c:pt>
                <c:pt idx="2">
                  <c:v>5.2</c:v>
                </c:pt>
                <c:pt idx="3">
                  <c:v>5.8</c:v>
                </c:pt>
              </c:numCache>
            </c:numRef>
          </c:val>
          <c:smooth val="0"/>
        </c:ser>
        <c:dLbls>
          <c:numFmt formatCode="0.0" sourceLinked="0"/>
          <c:txPr>
            <a:bodyPr/>
            <a:lstStyle/>
            <a:p>
              <a:pPr>
                <a:defRPr b="0" i="0" strike="noStrike" sz="1100" u="none">
                  <a:solidFill>
                    <a:srgbClr val="000000"/>
                  </a:solidFill>
                  <a:latin typeface="Calibri"/>
                </a:defRPr>
              </a:pPr>
            </a:p>
          </c:txPr>
          <c:dLblPos val="t"/>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404040"/>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9D9D9"/>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0404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3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28-day mortality</c:v>
                </c:pt>
              </c:strCache>
            </c:strRef>
          </c:tx>
          <c:spPr>
            <a:solidFill>
              <a:srgbClr val="7F7F7F"/>
            </a:solidFill>
            <a:effectLst/>
          </c:spPr>
          <c:invertIfNegative val="0"/>
          <c:dLbls>
            <c:numFmt formatCode="0.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dPt>
            <c:idx val="0"/>
            <c:invertIfNegative val="0"/>
            <c:bubble3D val="0"/>
            <c:spPr>
              <a:solidFill>
                <a:srgbClr val="7F7F7F"/>
              </a:solidFill>
              <a:effectLst/>
            </c:spPr>
          </c:dPt>
          <c:dPt>
            <c:idx val="1"/>
            <c:invertIfNegative val="0"/>
            <c:bubble3D val="0"/>
            <c:spPr>
              <a:solidFill>
                <a:srgbClr val="7F7F7F"/>
              </a:solidFill>
              <a:effectLst/>
            </c:spPr>
          </c:dPt>
          <c:dPt>
            <c:idx val="2"/>
            <c:invertIfNegative val="0"/>
            <c:bubble3D val="0"/>
            <c:spPr>
              <a:solidFill>
                <a:srgbClr val="7F7F7F"/>
              </a:solidFill>
              <a:effectLst/>
            </c:spPr>
          </c:dPt>
          <c:dPt>
            <c:idx val="3"/>
            <c:invertIfNegative val="0"/>
            <c:bubble3D val="0"/>
            <c:spPr>
              <a:solidFill>
                <a:srgbClr val="C00000"/>
              </a:solidFill>
              <a:effectLst/>
            </c:spPr>
          </c:dPt>
          <c:cat>
            <c:multiLvlStrRef>
              <c:f>Sheet1!$A$2:$A$5</c:f>
              <c:multiLvlStrCache>
                <c:ptCount val="4"/>
                <c:lvl>
                  <c:pt idx="0">
                    <c:v>No ACLF</c:v>
                  </c:pt>
                  <c:pt idx="1">
                    <c:v>ACLF 1</c:v>
                  </c:pt>
                  <c:pt idx="2">
                    <c:v>ACLF 2</c:v>
                  </c:pt>
                  <c:pt idx="3">
                    <c:v>ACLF 3</c:v>
                  </c:pt>
                </c:lvl>
              </c:multiLvlStrCache>
            </c:multiLvlStrRef>
          </c:cat>
          <c:val>
            <c:numRef>
              <c:f>Sheet1!$B$2:$B$5</c:f>
              <c:numCache>
                <c:formatCode>General</c:formatCode>
                <c:ptCount val="4"/>
                <c:pt idx="0">
                  <c:v>4.7</c:v>
                </c:pt>
                <c:pt idx="1">
                  <c:v>22.1</c:v>
                </c:pt>
                <c:pt idx="2">
                  <c:v>32</c:v>
                </c:pt>
                <c:pt idx="3">
                  <c:v>76.7</c:v>
                </c:pt>
              </c:numCache>
            </c:numRef>
          </c:val>
        </c:ser>
        <c:dLbls>
          <c:numFmt formatCode="0.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7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3E3E3"/>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Calibri"/>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Terlipressin + albumin</c:v>
                </c:pt>
              </c:strCache>
            </c:strRef>
          </c:tx>
          <c:spPr>
            <a:solidFill>
              <a:srgbClr val="000000"/>
            </a:solidFill>
            <a:effectLst/>
          </c:spPr>
          <c:invertIfNegative val="0"/>
          <c:dLbls>
            <c:numFmt formatCode="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cat>
            <c:multiLvlStrRef>
              <c:f>Sheet1!$A$2:$A$3</c:f>
              <c:multiLvlStrCache>
                <c:ptCount val="2"/>
                <c:lvl>
                  <c:pt idx="0">
                    <c:v>Verified HRS reversal</c:v>
                  </c:pt>
                  <c:pt idx="1">
                    <c:v>Respiratory death by day 90</c:v>
                  </c:pt>
                </c:lvl>
              </c:multiLvlStrCache>
            </c:multiLvlStrRef>
          </c:cat>
          <c:val>
            <c:numRef>
              <c:f>Sheet1!$B$2:$B$3</c:f>
              <c:numCache>
                <c:formatCode>General</c:formatCode>
                <c:ptCount val="2"/>
                <c:pt idx="0">
                  <c:v>32</c:v>
                </c:pt>
                <c:pt idx="1">
                  <c:v>11</c:v>
                </c:pt>
              </c:numCache>
            </c:numRef>
          </c:val>
        </c:ser>
        <c:ser>
          <c:idx val="1"/>
          <c:order val="1"/>
          <c:tx>
            <c:strRef>
              <c:f>Sheet1!$C$1</c:f>
              <c:strCache>
                <c:ptCount val="1"/>
                <c:pt idx="0">
                  <c:v>Placebo + albumin</c:v>
                </c:pt>
              </c:strCache>
            </c:strRef>
          </c:tx>
          <c:spPr>
            <a:solidFill>
              <a:srgbClr val="A6A6A6"/>
            </a:solidFill>
            <a:effectLst/>
          </c:spPr>
          <c:invertIfNegative val="0"/>
          <c:dLbls>
            <c:numFmt formatCode="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cat>
            <c:multiLvlStrRef>
              <c:f>Sheet1!$A$2:$A$3</c:f>
              <c:multiLvlStrCache>
                <c:ptCount val="2"/>
                <c:lvl>
                  <c:pt idx="0">
                    <c:v>Verified HRS reversal</c:v>
                  </c:pt>
                  <c:pt idx="1">
                    <c:v>Respiratory death by day 90</c:v>
                  </c:pt>
                </c:lvl>
              </c:multiLvlStrCache>
            </c:multiLvlStrRef>
          </c:cat>
          <c:val>
            <c:numRef>
              <c:f>Sheet1!$C$2:$C$3</c:f>
              <c:numCache>
                <c:formatCode>General</c:formatCode>
                <c:ptCount val="2"/>
                <c:pt idx="0">
                  <c:v>17</c:v>
                </c:pt>
                <c:pt idx="1">
                  <c:v>2</c:v>
                </c:pt>
              </c:numCache>
            </c:numRef>
          </c:val>
        </c:ser>
        <c:dLbls>
          <c:numFmt formatCode="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5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max val="40"/>
          <c:min val="0"/>
        </c:scaling>
        <c:delete val="0"/>
        <c:axPos val="l"/>
        <c:majorGridlines>
          <c:spPr>
            <a:ln w="6350" cap="flat">
              <a:solidFill>
                <a:srgbClr val="E3E3E3"/>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Calibri"/>
              </a:defRPr>
            </a:pPr>
            <a:endParaRPr lang="en-US"/>
          </a:p>
        </c:txPr>
        <c:crossAx val="2094734554"/>
        <c:crosses val="autoZero"/>
        <c:crossBetween val="between"/>
        <c:majorUnit val="10"/>
      </c:valAx>
      <c:spPr>
        <a:noFill/>
        <a:ln>
          <a:noFill/>
        </a:ln>
        <a:effectLst/>
      </c:spPr>
    </c:plotArea>
    <c:legend>
      <c:legendPos val="b"/>
      <c:overlay val="0"/>
      <c:txPr>
        <a:bodyPr/>
        <a:lstStyle/>
        <a:p>
          <a:pPr>
            <a:defRPr sz="14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Terlipressin + albumin (n = 27)</c:v>
                </c:pt>
              </c:strCache>
            </c:strRef>
          </c:tx>
          <c:spPr>
            <a:solidFill>
              <a:srgbClr val="000000"/>
            </a:solidFill>
            <a:effectLst/>
          </c:spPr>
          <c:invertIfNegative val="0"/>
          <c:dLbls>
            <c:numFmt formatCode="0.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cat>
            <c:multiLvlStrRef>
              <c:f>Sheet1!$A$2:$A$3</c:f>
              <c:multiLvlStrCache>
                <c:ptCount val="2"/>
                <c:lvl>
                  <c:pt idx="0">
                    <c:v>Complete response</c:v>
                  </c:pt>
                  <c:pt idx="1">
                    <c:v>Complete or partial response</c:v>
                  </c:pt>
                </c:lvl>
              </c:multiLvlStrCache>
            </c:multiLvlStrRef>
          </c:cat>
          <c:val>
            <c:numRef>
              <c:f>Sheet1!$B$2:$B$3</c:f>
              <c:numCache>
                <c:formatCode>General</c:formatCode>
                <c:ptCount val="2"/>
                <c:pt idx="0">
                  <c:v>55.5</c:v>
                </c:pt>
                <c:pt idx="1">
                  <c:v>70.4</c:v>
                </c:pt>
              </c:numCache>
            </c:numRef>
          </c:val>
        </c:ser>
        <c:ser>
          <c:idx val="1"/>
          <c:order val="1"/>
          <c:tx>
            <c:strRef>
              <c:f>Sheet1!$C$1</c:f>
              <c:strCache>
                <c:ptCount val="1"/>
                <c:pt idx="0">
                  <c:v>Midodrine + octreotide + albumin (n = 21)</c:v>
                </c:pt>
              </c:strCache>
            </c:strRef>
          </c:tx>
          <c:spPr>
            <a:solidFill>
              <a:srgbClr val="A6A6A6"/>
            </a:solidFill>
            <a:effectLst/>
          </c:spPr>
          <c:invertIfNegative val="0"/>
          <c:dLbls>
            <c:numFmt formatCode="0.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cat>
            <c:multiLvlStrRef>
              <c:f>Sheet1!$A$2:$A$3</c:f>
              <c:multiLvlStrCache>
                <c:ptCount val="2"/>
                <c:lvl>
                  <c:pt idx="0">
                    <c:v>Complete response</c:v>
                  </c:pt>
                  <c:pt idx="1">
                    <c:v>Complete or partial response</c:v>
                  </c:pt>
                </c:lvl>
              </c:multiLvlStrCache>
            </c:multiLvlStrRef>
          </c:cat>
          <c:val>
            <c:numRef>
              <c:f>Sheet1!$C$2:$C$3</c:f>
              <c:numCache>
                <c:formatCode>General</c:formatCode>
                <c:ptCount val="2"/>
                <c:pt idx="0">
                  <c:v>4.8</c:v>
                </c:pt>
                <c:pt idx="1">
                  <c:v>28.6</c:v>
                </c:pt>
              </c:numCache>
            </c:numRef>
          </c:val>
        </c:ser>
        <c:dLbls>
          <c:numFmt formatCode="0.0&quot;%&quot;" sourceLinked="0"/>
          <c:txPr>
            <a:bodyPr/>
            <a:lstStyle/>
            <a:p>
              <a:pPr>
                <a:defRPr b="1" i="0" strike="noStrike" sz="1600" u="none">
                  <a:solidFill>
                    <a:srgbClr val="00000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5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3E3E3"/>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Calibri"/>
              </a:defRPr>
            </a:pPr>
            <a:endParaRPr lang="en-US"/>
          </a:p>
        </c:txPr>
        <c:crossAx val="2094734554"/>
        <c:crosses val="autoZero"/>
        <c:crossBetween val="between"/>
        <c:majorUnit val="25"/>
      </c:valAx>
      <c:spPr>
        <a:noFill/>
        <a:ln>
          <a:noFill/>
        </a:ln>
        <a:effectLst/>
      </c:spPr>
    </c:plotArea>
    <c:legend>
      <c:legendPos val="b"/>
      <c:overlay val="0"/>
      <c:txPr>
        <a:bodyPr/>
        <a:lstStyle/>
        <a:p>
          <a:pPr>
            <a:defRPr sz="14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Pulmonary and critical care fellows. About 60 minutes with questions as we go. Two patients in the unit at the same time. Everything in the cases is made up for teaching; none of it is a real patient.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get to each of these through two patients who are in the unit at the same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both up front so the contrast is there from the start. We'll start with bed 4 and come back to bed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patient.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them commit. Most people will say yes because the numbers are huge. The aminotransferases tell you hepatocytes are dying. They don't tell you whether the liver is failing.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distinction as in the acute liver injury lecture: the size of the enzyme rise is not the severity of the illness.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Liver failure is a clinical diagnosis: coagulopathy plus encephalopathy in someone without cirrhosis. Ask for the INR and examine the patient.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Coagulopathy, encephalopathy, short course, no cirrhosis. Note the glucose: hypoglycemia is part of the picture, and it is also a reason the mental status can look worse than it is. Fix the glucose and re-examine.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Coagulopathy, encephalopathy, short course, no cirrhosis. Note the glucose: hypoglycemia is part of the picture, and it is also a reason the mental status can look worse than it is. Fix the glucose and re-examine.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 course is not trivia. The faster it comes on, the more you worry about the brain, and paradoxically the better the chance of spontaneous recovery. The slow ones have less cerebral edema but do worse without a transplant. Patient A is hyperacute.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errors in opposite directions. Calling everything with a high INR liver failure, and blaming every change in mental status on the liver.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them list organs. Most will get brain and kidney. Fewer think of the adrenals, the marrow or the immune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these patients are ICU patients. Hypoglycemia, lactic acidosis, vasodilatory shock, relative adrenal insufficiency, AKI, lung injury and a high risk of infection. The liver is one organ on this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Wait for answers. Usually people list tests in order. That's the trap.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classic mistake is a serial workup: wait for the hepatitis panel, then the autoimmune markers, then call hepatology. By then she is intubated and the evaluation has lost a day. Here the transplant evaluation runs in parallel from admission, and the psychosocial part is much easier while she can still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the workup in the ICU is the column on the right. Some of these you start empirically before the test comes back: NAC, acyclovir. Negative autoimmune serologies do not exclude acute AIH. Wilson disease presenting as ALF basically means transplant.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the workup in the ICU is the column on the right. Some of these you start empirically before the test comes back: NAC, acyclovir. Negative autoimmune serologies do not exclude acute AIH. Wilson disease presenting as ALF basically means transplant.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Combination products are where the hidden acetaminophen is. Ask about every over-the-counter product by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them what it is first: a semi-log plot, the line halves every 4 hours (a half-life of about 4 hours), and the US treatment line sits 25% below the original 200 line for a safety margin. Then try to put her on it. Her 12 crosses the treatment line at roughly 18 to 19 hours. Before that she looks fine, after that she needs NAC. The point to leave them with: the nomogram is a tool for deciding who can safely go without NAC after a single timed ingestion. It is not the trigger for starting NAC in someone who is already sick. Call poison control or toxicology early. Opioids, including the codeine in her Tylenol with codeine, can slow absorption, so a single early level can mislead after an acute ingestion. With repeated supratherapeutic dosing over 3 days there is no single ingestion time, so it can't clear her, and she gets NAC.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undetectable or low level late in the course does not exclude acetaminophen toxicity [PMID: 36001996]. NAC is safe enough that the threshold to start it is low. Dosing per your pharmacy 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ALFSG trial: 173 adults with non-acetaminophen ALF, NAC or placebo for 72 hours, 24 US centers. Read their conclusion, then the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Overall survival at 3 weeks was not different. The transplant-free survival benefit was in coma grade I-II, which is a subgroup. That doesn't support NAC in advanced non-acetaminophen ALF or in ACLF. ACG 2023 suggests NAC in non-acetaminophen ALF; this trial is why the early-coma patients are the ones most likely to benefit. And don't carry the grade III-IV result over to Patient A: in acetaminophen ALF, NAC continues when she gets worse.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Astrocytes in chronic liver disease have time to adapt to ammonia. In hyperacute ALF they don't, and they swell.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Hour 12. Hepatology has seen her and the transplant evaluation is under way. Let them pick. Kidney? Lactate? The answer for a hyperacute patient with this ammonia is the brain.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decisions we own as intensivists. Before answering, why is the brain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ammonia is actionable in ALF. The brain has no time to adapt, unlike in cirrhosis where astrocytes compensate over months. Every element of the bundle that follows maps to a box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in Copenhagen, ammonia was drawn at the onset of grade III encephalopathy. The 14 patients who herniated had about twice the arterial ammonia of those who didn't, and all of them were above 146. Right: in Delhi, ammonia that stayed at or above 122 for three days went with a third of the survival and twice the cerebral edema of ammonia that came down. These are associations, not proof that lowering the number saves the patient, but they are why we trend it and start CRRT. In Bernal's King's cohort, more than 200 meant intracranial hypertension in 55%, yet most patients who developed ICH were below 200. Practical point: whatever you send, put it on ice and get it run quickly. A delayed sample reads falsely high. In cirrhosis, a single ammonia doesn't diagnose HE and shouldn't be trended to dose lactulose.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in Copenhagen, ammonia was drawn at the onset of grade III encephalopathy. The 14 patients who herniated had about twice the arterial ammonia of those who didn't, and all of them were above 146. Right: in Delhi, ammonia that stayed at or above 122 for three days went with a third of the survival and twice the cerebral edema of ammonia that came down. These are associations, not proof that lowering the number saves the patient, but they are why we trend it and start CRRT. In Bernal's King's cohort, more than 200 meant intracranial hypertension in 55%, yet most patients who developed ICH were below 200. Practical point: whatever you send, put it on ice and get it run quickly. A delayed sample reads falsely high. In cirrhosis, a single ammonia doesn't diagnose HE and shouldn't be trended to dose lactulose.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ALF Study Group data were a retrospective comparison presented only as an abstract: a small increase in survival time with lactulose, no difference in encephalopathy grade or overall outcome. The 2011 AASLD position paper allowed lactulose in early encephalopathy, orally or rectally, but not to the point of diarrhea, and warned about bowel distension during transplant. Neither the 2023 ACG guideline nor EASL 2017 recommends it. Once she is grade III-IV the tools that lower ammonia are CRRT and time. In ACLF it's the opposite: lactulose is first-line for overt 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 intubate her now. Most fellows want to wait. In ALF the progression from grade II to grade IV can be fast, and an emergency intubation in a coagulopathic, hypotensive patient with a swollen brain is the worst version of this procedure.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goals are airway protection, controlled ventilation, and no swings in blood pressure or CO2. Peri-intubation hypotension drops cerebral perfusion pressure; coughing raises ICP. Plan it like a neuro intubation.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PCCM-specific tradeoff. ARDS teaching says accept hypercapnia. Neuro teaching says don't.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 tidal volume still applies. What changes is the CO2 target. Prophylactic hyperventilation is out; brief hyperventilation as a bridge in impending herniation is a different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this on the board if you don't have the slide. It's the reason the ARDS habit of tolerating a high CO2 doesn't carry over to a patient with grade III-IV encephalopathy and a high ammonia.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Sodium targets differ between sources: the 2022 update uses 145 to 155 for prevention, the 2024 practical review a lower range. Agree on one with transplant hepatology and write it in the orders. Hypertonic saline is a conditional SCCM recommendation for patients at risk of intracranial hypertension. The cooling trial randomized intubated high-risk ALF patients to 34 vs 36 °C for 72 hours; no difference in intracranial hypertension or survival. Avoid fever, don't induce hypothermia.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new pupil asymmetry or a sudden change in the exam is enough to act. Treat first, then image if a bleed or another structural lesion is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them. Nephrology will often say the creatinine doesn't meet criteria. That's the wrong frame for 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Ammonia around 150 to 200 is a high-risk context in the literature, not a universal threshold. Look at the trajectory and the neuro exam. Coordinate the CRRT fluid with the sodium plan or the dialysis will pull her sodium back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Hour 12, CRRT is starting. Very common request from the procedure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INR is a great marker of liver function and a poor marker of bleeding risk in ALF. Spontaneous bleeding is uncommon. Ask transplant hepatology before giving plasma: they need the native INR.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sides go down together. The INR only tests the left pan, so it makes the patient look much more anticoagulated than she is. Viscoelastic tests look at clot formation in whole blood and in ALF are often close to normal despite a high INR, though they miss the endothelium and the protein C system too. The balance is fragile: infection, kidney failure and procedures tip it, and thrombosis, including line-related clots, is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 patients with acute liver injury or failure, mean INR 3.4. Mean TEG values were normal, and all five TEG parameters were normal in 63%. Low clot strength showed up only with platelets under about 126,000. Factors V and VII were low, but so were the anticoagulant proteins, and factor VIII was high.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 patients with acute liver injury or failure, mean INR 3.4. Mean TEG values were normal, and all five TEG parameters were normal in 63%. Low clot strength showed up only with platelets under about 126,000. Factors V and VII were low, but so were the anticoagulant proteins, and factor VIII was high.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universal dose or ammonia target to stop at; use your center's protocol. The common failure is not the decision to start, it's a circuit that keeps clotting so the delivered clearance is a fraction of what was ordered, and a sodium plan that nobody 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Someone in the room has heard it from nephrology.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will hear this from nephrology. The physiology says otherwise: ammonia is a small, unbound, water-soluble molecule, and it moves across a high-flux filter with convection as well as diffusion. In Fisher's study of 12 patients with liver failure the three modalities gave similar ammonia clearance at the same effluent rate (no significant difference), and in the same patients urea clearance was about 50 mL/min and creatinine 42, so ammonia clears less well than urea but clearly clears. Why the doubt? The liver and the muscle keep making it, so the level falls slowly; a clotting circuit with a lot of downtime delivers much less than what was ordered; and at low effluent doses the effect is small. In Warrillow's cohort the fall tracked how long patients were on CRRT more than the hourly dose. Ask for a high effluent rate and an anticoagulation plan that keeps the filter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 ALF Study Group registry, 1,186 patients. Panel b of their Figure 1. The CRRT patients started higher, which is why they got CRRT. Observational, so it shows ammonia comes down on CRRT, not that CRRT saved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 ALF Study Group registry, 1,186 patients. Panel b of their Figure 1. The CRRT patients started higher, which is why they got CRRT. Observational, so it shows ammonia comes down on CRRT, not that CRRT saved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2026 trial is interesting but don't oversell it. The early mortality signal is real in the abstract; 28-day survival by intention to treat was comparable, and the per-protocol analysis is biased by crossovers. Read the full methods before quoting more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2026 trial is interesting but don't oversell it. The early mortality signal is real in the abstract; 28-day survival by intention to treat was comparable, and the per-protocol analysis is biased by crossovers. Read the full methods before quoting more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only the enzymes. Most of the room will say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Falling AST and ALT don't prove recovery. A rising INR, rising lactate and worse encephalopathy mean she is getting worse despite lower enzymes. One explanation is that there is little liver left to release them; shock and other causes also push the lactate up. Read the whole trajectory, not one line [PMID: 36001996]. Point out the day 2 arterial pH of 7.26 after fluids. It comes back on the King's College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them vote.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King's College criteria are specific but not very sensitive. If you wait for them, the evaluation starts too late. Patient A now meets acetaminophen criteria by pH, but the call happened on admission. Transplant referral, listing and allocation are separate decisions; the transplant team handles the last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Their Figure 1: hospital survival, high-volume plasma exchange (HPV) vs standard medical treatment (SMT), log-rank p = 0.0058.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High-volume plasma exchange removes cytokines and DAMPs and replaces coagulation factors. Note the INR after plasma exchange is no longer the patient's INR.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High-volume plasma exchange removes cytokines and DAMPs and replaces coagulation factors. Note the INR after plasma exchange is no longer the patient's INR.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she is while she waits. What would close the window: fixed dilated pupils, uncontrolled sepsis, rising support despite everything. If she becomes hypotensive: norepinephrine first, vasopressin next, hydrocortisone if refractory, and keep the MAP high enough for cerebral perfusion. Status 1A is the OPTN category for ALF in the ICU; check current policy before quoting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patient, in the unit at the same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bed 4 is going on, the nurse from bed 7 calls: his pressure is 82/46. Same day, same unit, a sick liver again. Let them guess before the next slide whether this is the same disease.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Made-up patient. Same day, bed 7. After 2 L of fluid he is on norepinephrine 0.15 mcg/kg/min.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as bed 4: treat first, label later. We'll count organs once the antibiotics are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tipped him over before showing the answer. Then the procedural question: people hesitate to tap a coagulopathic patient.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Diagnostic paracentesis is low risk and should not wait for correction of the INR or platelets. Infection is the most common precipitant of ACLF in Western cohorts.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Albumin is a reasonable resuscitation fluid in cirrhosis, but every bag goes somewhere. Keep that in mind for the next few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Albumin is a reasonable resuscitation fluid in cirrhosis, but every bag goes somewhere. Keep that in mind for the next few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Ascites and a tense belly change IVC size and collapse, so use it with the lungs, the heart and the trend, not alone. Edema in a cirrhotic doesn't mean the vessels are full.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Portal hypertension, nitric oxide, splanchnic vasodilation, a low effective arterial volume, then RAAS, sympathetic tone and vasopressin. That's his baseline MAP, his sodium of 127 and his kidney, before the infection even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Patient A is in the first column, patient B in the last. The words sound alike; the ICU problems are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Patient A is in the first column, patient B in the last. The words sound alike; the ICU problems are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 room count with you. Liver failure here means a bilirubin of 12, which surprises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Kidney and circulation. Respiratory is borderline: PaO2 74 on a Venturi mask at 0.35 is a P/F of 211. That's why he's on a Venturi mask here: nasal cannula doesn't give you a reliable FiO2, so if the grade depends on the lungs, get a gas on a known FiO2. Watch that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Grade 1 is the confusing one: kidney failure alone counts, but a single other organ failure counts only with some kidney dysfunction, or mild encephalopathy for the non-brain organs. Brain failure alone needs the creatinine of 1.5 to 1.9. A patient with grade III HE and a normal creatinine is 'no ACLF' by this system, and can still be very sick. Use the CLIF-C calculator rather than memorizing it. The grade at days 3 to 7 says more than the grade at admission.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Patient B is grade 2 on day 1. That is a group number from a 2013 cohort, not his number. The jump to grade 3 is the one to remember. The grade at days 3 to 7 says more than the grade at admission, which comes back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ALF had its 'why does the brain swell'. This is the ACLF version. The precipitant sets off systemic inflammation in a patient who is already vasodilated, and the organs fail from a mix of low perfusion, inflammation and mitochondrial dysfunction. The patient is both inflamed and immunosuppressed, which is why second infections are common.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reflex in many units: oliguric cirrhotic, give albumin for 48 hours, then terlipressin.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column is what most of us were taught. The 48-hour albumin challenge is gone, and there is no fluid challenge at all for a patient who is already wet.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room fill it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AKI here means creatinine up 0.3 mg/dL or more within 48 hours, or 50% or more within 7 days, and/or urine output 0.5 mL/kg/h or less for 6 hours or more. The mandatory 48-hour albumin challenge is gone, and a patient who is already wet doesn't need a fluid challenge to satisfy a clock. HRS physiology and tubular injury can coexist. Assessment is faster and individualized. But that cuts both ways: you also need to look for the other causes, and right now sepsis is the obvious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coexist and change over the admission. A diagnosis of HRS made on day 1 should be re-examined on day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HRS-AKI sits in the bottom row: dysfunction, with or without damage. ATN and HRS can coexist. Damage markers such as urine NGAL help where available; a urine sediment helps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reflex is to give more lactulose and recheck the ammonia. Let them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cirrhosis, HE is a clinical diagnosis. The ammonia level doesn't grade it, and chasing it doesn't help. Every worsening needs the same search for a precipitant as the admission did. Lactulose is right for overt HE, but too much gives you dehydration, hypernatremia and a worse kidney. Don't make every first episode an automatic two-drug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hinge of the second case. The kidney is worse, and the reflex is to treat the kidney.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Kidney, circulation and now lungs: ACLF grade 3. Fluid and albumin are a likely part of this, with B-lines and a full IVC. But think about pneumonia, ARDS and the heart too before you decide it's all volume.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Bilateral airspace disease on the film and many B-lines on ultrasound: water in the lungs. It could still be pneumonia or ARDS, so look at the whole picture before you call it all volume.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terlipressin dose: baseline SpO2, lung exam, volume status, and whether he is ACLF grade 3. Norepinephrine is an ICU alternative for HRS when terlipressin is contraindicated or unavailable. RRT for volume overload or acidosis follows the usual ICU indications. RRT for HRS alone is a bridge to transplant; in a patient who is not a candidate, it is a goals-of-care conversation first, and a time-limited trial is one honest 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Terlipressin raises kidney perfusion pressure but shunts splanchnic blood centrally, raises afterload and lowers cardiac output, and can constrict the pulmonary vessels. Add large doses of albumin and you get pulmonary edema. Norepinephrine raises cardiac output and causes less splanchnic shunting. Midodrine with octreotide gives only modest splanchnic constriction.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 300 patients with HRS type 1, terlipressin plus albumin vs placebo plus albumin, randomized 2:1. Their own conclusion already has the catch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respiratory harm clustered in patients with volume overload and ACLF grade 3, which is how the label language came about. The label's own reanalysis gives slightly different reversal numbers (29% vs 16%); either way the direction is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ATTIRE: 777 hospitalized patients with decompensated cirrhosis and albumin under 30 g/L, in 35 UK hospitals.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ATTIRE doesn't invalidate albumin for its accepted uses. It does tell you that giving albumin to fix a number causes harm without benefit. Patient B got the right albumin for SBP and still got wet.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Midodrine and octreotide were the US default for years because terlipressin wasn't available. In the randomized comparison with terlipressin, 1 of 21 analyzed patients had a complete response. It wasn't powered for mortality. Most of them are on the floor at the time, so the practical message for the ICU is simple: once he needs an ICU bed, norepinephrine with albumin is the alternative to terlipressin, not midodrine and octreotide. About half of the midodrine non-responders were rescued with terlipressin, and most of those then responded.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3: CRRT started for fluid overload and oliguria, while the transplant evaluation was under way. Ask the room whether he is better or worse.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Grading is a snapshot; the trend is what you act on. Kidney failure on RRT still counts as an organ failure. Bring palliative care in alongside, not instead of, full support. Document what the time-limited trial is and when you'll reassess.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to the question both families will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Referral, candidacy, listing and allocation are four different decisions. The ICU team owns the referral and the information. Status 1A and other allocation rules: check current OPTN policy before quoting them. Artru's comparison is not randomized: the transplanted patients were selected, so the gap overstates what transplant adds for an unselected ACLF 3 patient. It still shows that ACLF 3 alone is not a reason to say no. The curve shows 83.6% for all 73 transplanted patients; the abstract's 83.9% vs 7.9% is the matched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on this list should delay the first call. A good call makes the transplant team's decision faster. Trends, not single values. Referral, candidacy, listing and allocation are separate decisions; the first one is 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Probably the most useful slide to photograph. The sodium row is where people get hurt: an induced-hypernatremia target transferred into a chronically hyponatremic cirrhotic causes osmotic demyelination.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Probably the most useful slide to photograph. The sodium row is where people get hurt: an induced-hypernatremia target transferred into a chronically hyponatremic cirrhotic causes osmotic demyelination.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made it, which is not the usual story. Bed 7 could just as easily have stayed ACLF 3 on day 5, and then the conversation is the one on the transplant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Don't put the answers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ALF, grade III-IV is the intubation and ICP-risk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Specific but not sensitive. Use them to understand prognosis, not to decide when to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used arterial ammonia, measured in micromoles per liter. The pattern is consistent: higher and more persistent ammonia, more cerebral edema and death. But no single cutoff works on its own. In Bernal's King's cohort, more than 200 meant intracranial hypertension in 55%, yet most patients who developed ICH were below 200. So use it as a risk marker together with the grade of encephalopathy, the time course and the trend. Patient A went 182 then 214. That's the trajectory you act on with CRRT. Practical point: whatever you send, arterial or venous, put it on ice and get it run quickly. A delayed sample reads falsely high. In cirrhosis, by contrast, a single ammonia doesn't diagnose HE and shouldn't be trended to dose lactulose.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worth memorizing all three. Worth knowing that a paper's 'ACLF' may not be your patient's ACLF. The talk uses EASL-CLIF.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study that broke the six-month rule. The selection was strict, and later US data (ACCELERATE-AH) showed similar results in selected patients. Patient B's trigger was SBP, not alcohol-associated hepatitis; this is here for the alcohol question that comes up with every cirrhotic in the ICU. The alcohol history is a question for the transplant team, not a decision the ICU makes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lstStyle>
            <a:lvl1pPr algn="ctr" indent="0" marL="0">
              <a:buNone/>
              <a:defRPr lang="en-US" sz="3000" dirty="0">
                <a:solidFill>
                  <a:srgbClr val="000000"/>
                </a:solidFill>
                <a:latin typeface="Georgia" pitchFamily="34" charset="0"/>
                <a:ea typeface="Georgia" pitchFamily="34" charset="-122"/>
                <a:cs typeface="Georgia" pitchFamily="34" charset="-120"/>
              </a:defRPr>
            </a:lvl1pPr>
          </a:lstStyle>
          <a:p>
            <a:pPr algn="ctr" indent="0" marL="0">
              <a:buNone/>
            </a:pPr>
            <a:endParaRPr lang="en-US" sz="3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728655" cy="1280160"/>
          </a:xfrm>
          <a:prstGeom prst="rect">
            <a:avLst/>
          </a:prstGeom>
          <a:noFill/>
          <a:ln/>
        </p:spPr>
        <p:txBody>
          <a:bodyPr wrap="square" rtlCol="0"/>
          <a:lstStyle>
            <a:lvl1pPr algn="ctr" indent="0" marL="0">
              <a:buNone/>
              <a:defRPr lang="en-US" sz="4400" dirty="0">
                <a:solidFill>
                  <a:srgbClr val="000000"/>
                </a:solidFill>
                <a:latin typeface="Georgia" pitchFamily="34" charset="0"/>
                <a:ea typeface="Georgia" pitchFamily="34" charset="-122"/>
                <a:cs typeface="Georgia" pitchFamily="34" charset="-120"/>
              </a:defRPr>
            </a:lvl1pPr>
          </a:lstStyle>
          <a:p>
            <a:pPr algn="ctr" indent="0" marL="0">
              <a:buNone/>
            </a:pPr>
            <a:endParaRPr lang="en-US" sz="44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4.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2.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2.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2" Type="http://schemas.openxmlformats.org/officeDocument/2006/relationships/chart" Target="/ppt/charts/chart4.xml"/><Relationship Id="rId3" Type="http://schemas.openxmlformats.org/officeDocument/2006/relationships/chart" Target="/ppt/charts/chart5.xml"/><Relationship Id="rId1" Type="http://schemas.openxmlformats.org/officeDocument/2006/relationships/image" Target="../media/image-29-1.png"/><Relationship Id="rId4" Type="http://schemas.openxmlformats.org/officeDocument/2006/relationships/slideLayout" Target="../slideLayouts/slideLayout2.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2" Type="http://schemas.openxmlformats.org/officeDocument/2006/relationships/chart" Target="/ppt/charts/chart6.xml"/><Relationship Id="rId3" Type="http://schemas.openxmlformats.org/officeDocument/2006/relationships/chart" Target="/ppt/charts/chart7.xml"/><Relationship Id="rId1" Type="http://schemas.openxmlformats.org/officeDocument/2006/relationships/image" Target="../media/image-30-1.png"/><Relationship Id="rId4" Type="http://schemas.openxmlformats.org/officeDocument/2006/relationships/slideLayout" Target="../slideLayouts/slideLayout2.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chart" Target="/ppt/charts/chart11.xml"/><Relationship Id="rId3" Type="http://schemas.openxmlformats.org/officeDocument/2006/relationships/slideLayout" Target="../slideLayouts/slideLayout2.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slideLayout" Target="../slideLayouts/slideLayout2.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jpg"/><Relationship Id="rId2" Type="http://schemas.openxmlformats.org/officeDocument/2006/relationships/slideLayout" Target="../slideLayouts/slideLayout4.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jpg"/><Relationship Id="rId2" Type="http://schemas.openxmlformats.org/officeDocument/2006/relationships/slideLayout" Target="../slideLayouts/slideLayout4.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2.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2.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2.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2.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2.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slideLayout" Target="../slideLayouts/slideLayout2.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slideLayout" Target="../slideLayouts/slideLayout2.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png"/><Relationship Id="rId2" Type="http://schemas.openxmlformats.org/officeDocument/2006/relationships/image" Target="../media/image-93-2.png"/><Relationship Id="rId3" Type="http://schemas.openxmlformats.org/officeDocument/2006/relationships/slideLayout" Target="../slideLayouts/slideLayout2.xml"/><Relationship Id="rId4"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96-1.png"/><Relationship Id="rId2" Type="http://schemas.openxmlformats.org/officeDocument/2006/relationships/slideLayout" Target="../slideLayouts/slideLayout2.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png"/><Relationship Id="rId2" Type="http://schemas.openxmlformats.org/officeDocument/2006/relationships/slideLayout" Target="../slideLayouts/slideLayout2.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png"/><Relationship Id="rId2" Type="http://schemas.openxmlformats.org/officeDocument/2006/relationships/image" Target="../media/image-98-2.png"/><Relationship Id="rId3" Type="http://schemas.openxmlformats.org/officeDocument/2006/relationships/slideLayout" Target="../slideLayouts/slideLayout2.xml"/><Relationship Id="rId4"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slideLayout" Target="../slideLayouts/slideLayout2.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image-100-1.png"/><Relationship Id="rId2" Type="http://schemas.openxmlformats.org/officeDocument/2006/relationships/slideLayout" Target="../slideLayouts/slideLayout2.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image-101-1.png"/><Relationship Id="rId2" Type="http://schemas.openxmlformats.org/officeDocument/2006/relationships/image" Target="../media/image-101-2.png"/><Relationship Id="rId3" Type="http://schemas.openxmlformats.org/officeDocument/2006/relationships/slideLayout" Target="../slideLayouts/slideLayout2.xml"/><Relationship Id="rId4"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slideLayout" Target="../slideLayouts/slideLayout2.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image-107-1.jpg"/><Relationship Id="rId2" Type="http://schemas.openxmlformats.org/officeDocument/2006/relationships/slideLayout" Target="../slideLayouts/slideLayout4.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image-109-1.png"/><Relationship Id="rId2" Type="http://schemas.openxmlformats.org/officeDocument/2006/relationships/image" Target="../media/image-109-2.png"/><Relationship Id="rId3" Type="http://schemas.openxmlformats.org/officeDocument/2006/relationships/slideLayout" Target="../slideLayouts/slideLayout2.xml"/><Relationship Id="rId4"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image" Target="../media/image-116-1.jpg"/><Relationship Id="rId2" Type="http://schemas.openxmlformats.org/officeDocument/2006/relationships/slideLayout" Target="../slideLayouts/slideLayout4.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image" Target="../media/image-121-1.png"/><Relationship Id="rId2" Type="http://schemas.openxmlformats.org/officeDocument/2006/relationships/slideLayout" Target="../slideLayouts/slideLayout2.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Watercolor illustration of a liver in dim ICU light, on ivory paper">    </p:cNvPr>
          <p:cNvPicPr>
            <a:picLocks noChangeAspect="1"/>
          </p:cNvPicPr>
          <p:nvPr/>
        </p:nvPicPr>
        <p:blipFill>
          <a:blip r:embed="rId1"/>
          <a:stretch>
            <a:fillRect/>
          </a:stretch>
        </p:blipFill>
        <p:spPr>
          <a:xfrm>
            <a:off x="-45720" y="0"/>
            <a:ext cx="12280392" cy="6858000"/>
          </a:xfrm>
          <a:prstGeom prst="rect">
            <a:avLst/>
          </a:prstGeom>
        </p:spPr>
      </p:pic>
      <p:sp>
        <p:nvSpPr>
          <p:cNvPr id="3" name="Text 0"/>
          <p:cNvSpPr txBox="1"/>
          <p:nvPr/>
        </p:nvSpPr>
        <p:spPr>
          <a:xfrm>
            <a:off x="6492240" y="1600200"/>
            <a:ext cx="5287975" cy="1325880"/>
          </a:xfrm>
          <a:prstGeom prst="rect">
            <a:avLst/>
          </a:prstGeom>
          <a:noFill/>
          <a:ln/>
        </p:spPr>
        <p:txBody>
          <a:bodyPr wrap="square" lIns="0" tIns="0" rIns="0" bIns="0" rtlCol="0" anchor="ctr"/>
          <a:lstStyle/>
          <a:p>
            <a:pPr algn="ctr" indent="0" marL="0">
              <a:buNone/>
            </a:pPr>
            <a:r>
              <a:rPr lang="en-US" sz="3800" b="1" dirty="0">
                <a:solidFill>
                  <a:srgbClr val="000000"/>
                </a:solidFill>
                <a:latin typeface="Georgia" pitchFamily="34" charset="0"/>
                <a:ea typeface="Georgia" pitchFamily="34" charset="-122"/>
                <a:cs typeface="Georgia" pitchFamily="34" charset="-120"/>
              </a:rPr>
              <a:t>Acute Liver Failure</a:t>
            </a:r>
            <a:endParaRPr lang="en-US" sz="3800" dirty="0"/>
          </a:p>
          <a:p>
            <a:pPr algn="ctr" indent="0" marL="0">
              <a:buNone/>
            </a:pPr>
            <a:r>
              <a:rPr lang="en-US" sz="3400" b="1" dirty="0">
                <a:solidFill>
                  <a:srgbClr val="000000"/>
                </a:solidFill>
                <a:latin typeface="Georgia" pitchFamily="34" charset="0"/>
                <a:ea typeface="Georgia" pitchFamily="34" charset="-122"/>
                <a:cs typeface="Georgia" pitchFamily="34" charset="-120"/>
              </a:rPr>
              <a:t>and ACLF in the ICU</a:t>
            </a:r>
            <a:endParaRPr lang="en-US" sz="3800" dirty="0"/>
          </a:p>
        </p:txBody>
      </p:sp>
      <p:sp>
        <p:nvSpPr>
          <p:cNvPr id="4" name="Shape 1"/>
          <p:cNvSpPr/>
          <p:nvPr/>
        </p:nvSpPr>
        <p:spPr>
          <a:xfrm>
            <a:off x="7589520" y="3291840"/>
            <a:ext cx="3093415" cy="0"/>
          </a:xfrm>
          <a:prstGeom prst="line">
            <a:avLst/>
          </a:prstGeom>
          <a:noFill/>
          <a:ln w="12700">
            <a:solidFill>
              <a:srgbClr val="A6A6A6"/>
            </a:solidFill>
            <a:prstDash val="solid"/>
          </a:ln>
        </p:spPr>
      </p:sp>
      <p:sp>
        <p:nvSpPr>
          <p:cNvPr id="5" name="Text 2"/>
          <p:cNvSpPr txBox="1"/>
          <p:nvPr/>
        </p:nvSpPr>
        <p:spPr>
          <a:xfrm>
            <a:off x="6492240" y="3657600"/>
            <a:ext cx="5287975" cy="1463040"/>
          </a:xfrm>
          <a:prstGeom prst="rect">
            <a:avLst/>
          </a:prstGeom>
          <a:noFill/>
          <a:ln/>
        </p:spPr>
        <p:txBody>
          <a:bodyPr wrap="square" lIns="0" tIns="0" rIns="0" bIns="0" rtlCol="0" anchor="t"/>
          <a:lstStyle/>
          <a:p>
            <a:pPr algn="ctr" indent="0" marL="0">
              <a:spcAft>
                <a:spcPts val="400"/>
              </a:spcAft>
              <a:buNone/>
            </a:pPr>
            <a:r>
              <a:rPr lang="en-US" sz="2000" b="1" dirty="0">
                <a:solidFill>
                  <a:srgbClr val="000000"/>
                </a:solidFill>
                <a:latin typeface="Georgia" pitchFamily="34" charset="0"/>
                <a:ea typeface="Georgia" pitchFamily="34" charset="-122"/>
                <a:cs typeface="Georgia" pitchFamily="34" charset="-120"/>
              </a:rPr>
              <a:t>Mohammad Almeqdadi, MD</a:t>
            </a:r>
            <a:endParaRPr lang="en-US" sz="2000" dirty="0"/>
          </a:p>
          <a:p>
            <a:pPr algn="ctr" indent="0" marL="0">
              <a:spcAft>
                <a:spcPts val="400"/>
              </a:spcAft>
              <a:buNone/>
            </a:pPr>
            <a:r>
              <a:rPr lang="en-US" sz="1600" dirty="0">
                <a:solidFill>
                  <a:srgbClr val="000000"/>
                </a:solidFill>
                <a:latin typeface="Georgia" pitchFamily="34" charset="0"/>
                <a:ea typeface="Georgia" pitchFamily="34" charset="-122"/>
                <a:cs typeface="Georgia" pitchFamily="34" charset="-120"/>
              </a:rPr>
              <a:t>Transplant Hepatologist and Gastroenterologist</a:t>
            </a:r>
            <a:endParaRPr lang="en-US" sz="2000" dirty="0"/>
          </a:p>
          <a:p>
            <a:pPr algn="ctr" indent="0" marL="0">
              <a:spcAft>
                <a:spcPts val="400"/>
              </a:spcAft>
              <a:buNone/>
            </a:pPr>
            <a:r>
              <a:rPr lang="en-US" sz="1600" dirty="0">
                <a:solidFill>
                  <a:srgbClr val="000000"/>
                </a:solidFill>
                <a:latin typeface="Georgia" pitchFamily="34" charset="0"/>
                <a:ea typeface="Georgia" pitchFamily="34" charset="-122"/>
                <a:cs typeface="Georgia" pitchFamily="34" charset="-120"/>
              </a:rPr>
              <a:t>Assistant Professor of Medicine and Surgery</a:t>
            </a:r>
            <a:endParaRPr lang="en-US" sz="2000" dirty="0"/>
          </a:p>
          <a:p>
            <a:pPr algn="ctr" indent="0" marL="0">
              <a:spcAft>
                <a:spcPts val="400"/>
              </a:spcAft>
              <a:buNone/>
            </a:pPr>
            <a:r>
              <a:rPr lang="en-US" sz="1600" dirty="0">
                <a:solidFill>
                  <a:srgbClr val="595959"/>
                </a:solidFill>
                <a:latin typeface="Georgia" pitchFamily="34" charset="0"/>
                <a:ea typeface="Georgia" pitchFamily="34" charset="-122"/>
                <a:cs typeface="Georgia" pitchFamily="34" charset="-120"/>
              </a:rPr>
              <a:t>X: @mfalmeqdadi</a:t>
            </a:r>
            <a:endParaRPr lang="en-US" sz="2000" dirty="0"/>
          </a:p>
        </p:txBody>
      </p:sp>
      <p:pic>
        <p:nvPicPr>
          <p:cNvPr id="6" name="Image 1" descr="Tufts University School of Medicine">    </p:cNvPr>
          <p:cNvPicPr>
            <a:picLocks noChangeAspect="1"/>
          </p:cNvPicPr>
          <p:nvPr/>
        </p:nvPicPr>
        <p:blipFill>
          <a:blip r:embed="rId2"/>
          <a:stretch>
            <a:fillRect/>
          </a:stretch>
        </p:blipFill>
        <p:spPr>
          <a:xfrm>
            <a:off x="6629400" y="5349240"/>
            <a:ext cx="3465576" cy="704088"/>
          </a:xfrm>
          <a:prstGeom prst="rect">
            <a:avLst/>
          </a:prstGeom>
        </p:spPr>
      </p:pic>
      <p:pic>
        <p:nvPicPr>
          <p:cNvPr id="7" name="Image 2" descr="QR code linking to the slides PDF">    </p:cNvPr>
          <p:cNvPicPr>
            <a:picLocks noChangeAspect="1"/>
          </p:cNvPicPr>
          <p:nvPr/>
        </p:nvPicPr>
        <p:blipFill>
          <a:blip r:embed="rId3"/>
          <a:stretch>
            <a:fillRect/>
          </a:stretch>
        </p:blipFill>
        <p:spPr>
          <a:xfrm>
            <a:off x="10774375" y="4983480"/>
            <a:ext cx="1051560" cy="1051560"/>
          </a:xfrm>
          <a:prstGeom prst="rect">
            <a:avLst/>
          </a:prstGeom>
        </p:spPr>
      </p:pic>
      <p:sp>
        <p:nvSpPr>
          <p:cNvPr id="8" name="Text 3"/>
          <p:cNvSpPr txBox="1"/>
          <p:nvPr/>
        </p:nvSpPr>
        <p:spPr>
          <a:xfrm>
            <a:off x="10591495" y="6053328"/>
            <a:ext cx="1417320" cy="274320"/>
          </a:xfrm>
          <a:prstGeom prst="rect">
            <a:avLst/>
          </a:prstGeom>
          <a:noFill/>
          <a:ln/>
        </p:spPr>
        <p:txBody>
          <a:bodyPr wrap="square" lIns="0" tIns="0" rIns="0" bIns="0" rtlCol="0" anchor="ctr"/>
          <a:lstStyle/>
          <a:p>
            <a:pPr algn="ctr" indent="0" marL="0">
              <a:buNone/>
            </a:pPr>
            <a:r>
              <a:rPr lang="en-US" sz="1100" dirty="0">
                <a:solidFill>
                  <a:srgbClr val="595959"/>
                </a:solidFill>
                <a:latin typeface="Georgia" pitchFamily="34" charset="0"/>
                <a:ea typeface="Georgia" pitchFamily="34" charset="-122"/>
                <a:cs typeface="Georgia" pitchFamily="34" charset="-120"/>
              </a:rPr>
              <a:t>Slides (PDF)</a:t>
            </a:r>
            <a:endParaRPr lang="en-US" sz="1100" dirty="0"/>
          </a:p>
        </p:txBody>
      </p:sp>
      <p:sp>
        <p:nvSpPr>
          <p:cNvPr id="9" name="Text 4"/>
          <p:cNvSpPr txBox="1"/>
          <p:nvPr/>
        </p:nvSpPr>
        <p:spPr>
          <a:xfrm>
            <a:off x="365760" y="6400800"/>
            <a:ext cx="4572000" cy="274320"/>
          </a:xfrm>
          <a:prstGeom prst="rect">
            <a:avLst/>
          </a:prstGeom>
          <a:noFill/>
          <a:ln/>
        </p:spPr>
        <p:txBody>
          <a:bodyPr wrap="square" lIns="0" tIns="0" rIns="0" bIns="0" rtlCol="0" anchor="ctr"/>
          <a:lstStyle/>
          <a:p>
            <a:pPr indent="0" marL="0">
              <a:buNone/>
            </a:pPr>
            <a:r>
              <a:rPr lang="en-US" sz="1100" i="1" dirty="0">
                <a:solidFill>
                  <a:srgbClr val="7F7F7F"/>
                </a:solidFill>
                <a:latin typeface="Georgia" pitchFamily="34" charset="0"/>
                <a:ea typeface="Georgia" pitchFamily="34" charset="-122"/>
                <a:cs typeface="Georgia" pitchFamily="34" charset="-120"/>
              </a:rPr>
              <a:t>Illustrations generated with Google Gemini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Objectives</a:t>
            </a:r>
            <a:endParaRPr lang="en-US" sz="3000" dirty="0"/>
          </a:p>
        </p:txBody>
      </p:sp>
      <p:sp>
        <p:nvSpPr>
          <p:cNvPr id="3" name="Body"/>
          <p:cNvSpPr txBox="1"/>
          <p:nvPr/>
        </p:nvSpPr>
        <p:spPr>
          <a:xfrm>
            <a:off x="1463040" y="1234440"/>
            <a:ext cx="9265615" cy="457200"/>
          </a:xfrm>
          <a:prstGeom prst="rect">
            <a:avLst/>
          </a:prstGeom>
          <a:noFill/>
          <a:ln/>
        </p:spPr>
        <p:txBody>
          <a:bodyPr wrap="square" lIns="50800" tIns="50800" rIns="50800" bIns="50800" rtlCol="0" anchor="t"/>
          <a:lstStyle/>
          <a:p>
            <a:pPr indent="0" marL="0">
              <a:spcBef>
                <a:spcPts val="800"/>
              </a:spcBef>
              <a:buNone/>
            </a:pPr>
            <a:r>
              <a:rPr lang="en-US" sz="2200" i="1" dirty="0">
                <a:solidFill>
                  <a:srgbClr val="000000"/>
                </a:solidFill>
                <a:latin typeface="Georgia" pitchFamily="34" charset="0"/>
                <a:ea typeface="Georgia" pitchFamily="34" charset="-122"/>
                <a:cs typeface="Georgia" pitchFamily="34" charset="-120"/>
              </a:rPr>
              <a:t>By the end of this talk you should be able to:</a:t>
            </a:r>
            <a:endParaRPr lang="en-US" sz="2200" dirty="0"/>
          </a:p>
        </p:txBody>
      </p:sp>
      <p:sp>
        <p:nvSpPr>
          <p:cNvPr id="4" name="Body"/>
          <p:cNvSpPr txBox="1"/>
          <p:nvPr/>
        </p:nvSpPr>
        <p:spPr>
          <a:xfrm>
            <a:off x="1463040" y="1874520"/>
            <a:ext cx="9265615" cy="4389120"/>
          </a:xfrm>
          <a:prstGeom prst="rect">
            <a:avLst/>
          </a:prstGeom>
          <a:noFill/>
          <a:ln/>
        </p:spPr>
        <p:txBody>
          <a:bodyPr wrap="square" lIns="50800" tIns="50800" rIns="50800" bIns="50800" rtlCol="0" anchor="t"/>
          <a:lstStyle/>
          <a:p>
            <a:pPr marL="228600" indent="-228600">
              <a:spcBef>
                <a:spcPts val="1200"/>
              </a:spcBef>
              <a:buSzPct val="100000"/>
              <a:buChar char="–"/>
            </a:pPr>
            <a:r>
              <a:rPr lang="en-US" sz="2200" dirty="0">
                <a:solidFill>
                  <a:srgbClr val="000000"/>
                </a:solidFill>
                <a:latin typeface="Georgia" pitchFamily="34" charset="0"/>
                <a:ea typeface="Georgia" pitchFamily="34" charset="-122"/>
                <a:cs typeface="Georgia" pitchFamily="34" charset="-120"/>
              </a:rPr>
              <a:t>Tell acute liver failure apart from severe acute liver injury and from ACLF</a:t>
            </a:r>
            <a:endParaRPr lang="en-US" sz="2200" dirty="0"/>
          </a:p>
          <a:p>
            <a:pPr marL="228600" indent="-228600">
              <a:spcBef>
                <a:spcPts val="1200"/>
              </a:spcBef>
              <a:buSzPct val="100000"/>
              <a:buChar char="–"/>
            </a:pPr>
            <a:r>
              <a:rPr lang="en-US" sz="2200" dirty="0">
                <a:solidFill>
                  <a:srgbClr val="000000"/>
                </a:solidFill>
                <a:latin typeface="Georgia" pitchFamily="34" charset="0"/>
                <a:ea typeface="Georgia" pitchFamily="34" charset="-122"/>
                <a:cs typeface="Georgia" pitchFamily="34" charset="-120"/>
              </a:rPr>
              <a:t>Start the first-hour care of ALF: cause, NAC, glucose, airway</a:t>
            </a:r>
            <a:endParaRPr lang="en-US" sz="2200" dirty="0"/>
          </a:p>
          <a:p>
            <a:pPr marL="228600" indent="-228600">
              <a:spcBef>
                <a:spcPts val="1200"/>
              </a:spcBef>
              <a:buSzPct val="100000"/>
              <a:buChar char="–"/>
            </a:pPr>
            <a:r>
              <a:rPr lang="en-US" sz="2200" dirty="0">
                <a:solidFill>
                  <a:srgbClr val="000000"/>
                </a:solidFill>
                <a:latin typeface="Georgia" pitchFamily="34" charset="0"/>
                <a:ea typeface="Georgia" pitchFamily="34" charset="-122"/>
                <a:cs typeface="Georgia" pitchFamily="34" charset="-120"/>
              </a:rPr>
              <a:t>Protect the brain in ALF and know when to intubate</a:t>
            </a:r>
            <a:endParaRPr lang="en-US" sz="2200" dirty="0"/>
          </a:p>
          <a:p>
            <a:pPr marL="228600" indent="-228600">
              <a:spcBef>
                <a:spcPts val="1200"/>
              </a:spcBef>
              <a:buSzPct val="100000"/>
              <a:buChar char="–"/>
            </a:pPr>
            <a:r>
              <a:rPr lang="en-US" sz="2200" dirty="0">
                <a:solidFill>
                  <a:srgbClr val="000000"/>
                </a:solidFill>
                <a:latin typeface="Georgia" pitchFamily="34" charset="0"/>
                <a:ea typeface="Georgia" pitchFamily="34" charset="-122"/>
                <a:cs typeface="Georgia" pitchFamily="34" charset="-120"/>
              </a:rPr>
              <a:t>Start CRRT for ammonia without waiting for a renal indication</a:t>
            </a:r>
            <a:endParaRPr lang="en-US" sz="2200" dirty="0"/>
          </a:p>
          <a:p>
            <a:pPr marL="228600" indent="-228600">
              <a:spcBef>
                <a:spcPts val="1200"/>
              </a:spcBef>
              <a:buSzPct val="100000"/>
              <a:buChar char="–"/>
            </a:pPr>
            <a:r>
              <a:rPr lang="en-US" sz="2200" dirty="0">
                <a:solidFill>
                  <a:srgbClr val="000000"/>
                </a:solidFill>
                <a:latin typeface="Georgia" pitchFamily="34" charset="0"/>
                <a:ea typeface="Georgia" pitchFamily="34" charset="-122"/>
                <a:cs typeface="Georgia" pitchFamily="34" charset="-120"/>
              </a:rPr>
              <a:t>Diagnose and grade ACLF, and find the trigger</a:t>
            </a:r>
            <a:endParaRPr lang="en-US" sz="2200" dirty="0"/>
          </a:p>
          <a:p>
            <a:pPr marL="228600" indent="-228600">
              <a:spcBef>
                <a:spcPts val="1200"/>
              </a:spcBef>
              <a:buSzPct val="100000"/>
              <a:buChar char="–"/>
            </a:pPr>
            <a:r>
              <a:rPr lang="en-US" sz="2200" dirty="0">
                <a:solidFill>
                  <a:srgbClr val="000000"/>
                </a:solidFill>
                <a:latin typeface="Georgia" pitchFamily="34" charset="0"/>
                <a:ea typeface="Georgia" pitchFamily="34" charset="-122"/>
                <a:cs typeface="Georgia" pitchFamily="34" charset="-120"/>
              </a:rPr>
              <a:t>Work through AKI in cirrhosis, including HRS-AKI, without hurting the lungs</a:t>
            </a:r>
            <a:endParaRPr lang="en-US" sz="2200" dirty="0"/>
          </a:p>
          <a:p>
            <a:pPr marL="228600" indent="-228600">
              <a:spcBef>
                <a:spcPts val="1200"/>
              </a:spcBef>
              <a:buSzPct val="100000"/>
              <a:buChar char="–"/>
            </a:pPr>
            <a:r>
              <a:rPr lang="en-US" sz="2200" dirty="0">
                <a:solidFill>
                  <a:srgbClr val="000000"/>
                </a:solidFill>
                <a:latin typeface="Georgia" pitchFamily="34" charset="0"/>
                <a:ea typeface="Georgia" pitchFamily="34" charset="-122"/>
                <a:cs typeface="Georgia" pitchFamily="34" charset="-120"/>
              </a:rPr>
              <a:t>Know when to call transplant hepatology</a:t>
            </a:r>
            <a:endParaRPr lang="en-US" sz="22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Two patients, same ICU</a:t>
            </a:r>
            <a:endParaRPr lang="en-US" sz="3000" dirty="0"/>
          </a:p>
        </p:txBody>
      </p:sp>
      <p:graphicFrame>
        <p:nvGraphicFramePr>
          <p:cNvPr id="4" name="Table"/>
          <p:cNvGraphicFramePr>
            <a:graphicFrameLocks noGrp="1"/>
          </p:cNvGraphicFramePr>
          <p:nvPr>
            <p:extLst>
              <p:ext uri="{D42A27DB-BD31-4B8C-83A1-F6EECF244321}">
                <p14:modId xmlns:p14="http://schemas.microsoft.com/office/powerpoint/2010/main" val="1579011935"/>
              </p:ext>
            </p:extLst>
          </p:nvPr>
        </p:nvGraphicFramePr>
        <p:xfrm>
          <a:off x="2011680" y="1828800"/>
          <a:ext cx="8138160" cy="914400"/>
        </p:xfrm>
        <a:graphic>
          <a:graphicData uri="http://schemas.openxmlformats.org/drawingml/2006/table">
            <a:tbl>
              <a:tblPr/>
              <a:tblGrid>
                <a:gridCol w="4069080"/>
                <a:gridCol w="4069080"/>
              </a:tblGrid>
              <a:tr h="594360">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Bed 4</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latin typeface="Calibri" pitchFamily="34" charset="0"/>
                          <a:ea typeface="Calibri" pitchFamily="34" charset="-122"/>
                          <a:cs typeface="Calibri" pitchFamily="34" charset="-120"/>
                        </a:rPr>
                        <a:t>Bed 7</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94360">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28-year-old woman</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56-year-old man</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94360">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No known liver disease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Alcohol-related cirrhosis with ascites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94360">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Nausea and vomiting for 4 days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Fever, confusion, low blood pressure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Body"/>
          <p:cNvSpPr txBox="1"/>
          <p:nvPr/>
        </p:nvSpPr>
        <p:spPr>
          <a:xfrm>
            <a:off x="822960" y="4663440"/>
            <a:ext cx="10545775" cy="731520"/>
          </a:xfrm>
          <a:prstGeom prst="rect">
            <a:avLst/>
          </a:prstGeom>
          <a:noFill/>
          <a:ln/>
        </p:spPr>
        <p:txBody>
          <a:bodyPr wrap="square" lIns="50800" tIns="50800" rIns="50800" bIns="50800" rtlCol="0" anchor="t"/>
          <a:lstStyle/>
          <a:p>
            <a:pPr algn="ctr" indent="0" marL="0">
              <a:spcBef>
                <a:spcPts val="800"/>
              </a:spcBef>
              <a:buNone/>
            </a:pPr>
            <a:r>
              <a:rPr lang="en-US" sz="2200" i="1" dirty="0">
                <a:solidFill>
                  <a:srgbClr val="000000"/>
                </a:solidFill>
                <a:latin typeface="Georgia" pitchFamily="34" charset="0"/>
                <a:ea typeface="Georgia" pitchFamily="34" charset="-122"/>
                <a:cs typeface="Georgia" pitchFamily="34" charset="-120"/>
              </a:rPr>
              <a:t>Both have a sick liver. Do they have the same disease?</a:t>
            </a:r>
            <a:endParaRPr lang="en-US" sz="22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Watercolor of an empty ICU bed with an IV pole and monitor">    </p:cNvPr>
          <p:cNvPicPr>
            <a:picLocks noChangeAspect="1"/>
          </p:cNvPicPr>
          <p:nvPr/>
        </p:nvPicPr>
        <p:blipFill>
          <a:blip r:embed="rId1"/>
          <a:stretch>
            <a:fillRect/>
          </a:stretch>
        </p:blipFill>
        <p:spPr>
          <a:xfrm>
            <a:off x="-45720" y="0"/>
            <a:ext cx="12280392" cy="6858000"/>
          </a:xfrm>
          <a:prstGeom prst="rect">
            <a:avLst/>
          </a:prstGeom>
        </p:spPr>
      </p:pic>
      <p:sp>
        <p:nvSpPr>
          <p:cNvPr id="3" name="Text 0"/>
          <p:cNvSpPr txBox="1"/>
          <p:nvPr/>
        </p:nvSpPr>
        <p:spPr>
          <a:xfrm>
            <a:off x="548640" y="1417320"/>
            <a:ext cx="5212080" cy="2011680"/>
          </a:xfrm>
          <a:prstGeom prst="rect">
            <a:avLst/>
          </a:prstGeom>
          <a:noFill/>
          <a:ln/>
        </p:spPr>
        <p:txBody>
          <a:bodyPr wrap="square" lIns="0" tIns="0" rIns="0" bIns="0" rtlCol="0" anchor="b"/>
          <a:lstStyle/>
          <a:p>
            <a:pPr algn="ctr" indent="0" marL="0">
              <a:buNone/>
            </a:pPr>
            <a:r>
              <a:rPr lang="en-US" sz="4800" dirty="0">
                <a:solidFill>
                  <a:srgbClr val="000000"/>
                </a:solidFill>
                <a:latin typeface="Georgia" pitchFamily="34" charset="0"/>
                <a:ea typeface="Georgia" pitchFamily="34" charset="-122"/>
                <a:cs typeface="Georgia" pitchFamily="34" charset="-120"/>
              </a:rPr>
              <a:t>Bed 4</a:t>
            </a:r>
            <a:endParaRPr lang="en-US" sz="4800" dirty="0"/>
          </a:p>
        </p:txBody>
      </p:sp>
      <p:sp>
        <p:nvSpPr>
          <p:cNvPr id="4" name="Text 1"/>
          <p:cNvSpPr txBox="1"/>
          <p:nvPr/>
        </p:nvSpPr>
        <p:spPr>
          <a:xfrm>
            <a:off x="548640" y="3429000"/>
            <a:ext cx="5212080" cy="548640"/>
          </a:xfrm>
          <a:prstGeom prst="rect">
            <a:avLst/>
          </a:prstGeom>
          <a:noFill/>
          <a:ln/>
        </p:spPr>
        <p:txBody>
          <a:bodyPr wrap="square" lIns="0" tIns="0" rIns="0" bIns="0" rtlCol="0" anchor="ctr"/>
          <a:lstStyle/>
          <a:p>
            <a:pPr algn="ctr" indent="0" marL="0">
              <a:buNone/>
            </a:pPr>
            <a:r>
              <a:rPr lang="en-US" sz="2400" dirty="0">
                <a:solidFill>
                  <a:srgbClr val="595959"/>
                </a:solidFill>
                <a:latin typeface="Georgia" pitchFamily="34" charset="0"/>
                <a:ea typeface="Georgia" pitchFamily="34" charset="-122"/>
                <a:cs typeface="Georgia" pitchFamily="34" charset="-120"/>
              </a:rPr>
              <a:t>28F, acute liver failure</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28F, 4 days of nausea</a:t>
            </a:r>
            <a:endParaRPr lang="en-US" sz="3000" dirty="0"/>
          </a:p>
        </p:txBody>
      </p:sp>
      <p:sp>
        <p:nvSpPr>
          <p:cNvPr id="3" name="Body"/>
          <p:cNvSpPr txBox="1"/>
          <p:nvPr/>
        </p:nvSpPr>
        <p:spPr>
          <a:xfrm>
            <a:off x="731520" y="1371600"/>
            <a:ext cx="6035040" cy="2011680"/>
          </a:xfrm>
          <a:prstGeom prst="rect">
            <a:avLst/>
          </a:prstGeom>
          <a:noFill/>
          <a:ln/>
        </p:spPr>
        <p:txBody>
          <a:bodyPr wrap="square" lIns="50800" tIns="50800" rIns="50800" bIns="50800" rtlCol="0" anchor="t"/>
          <a:lstStyle/>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Nausea, vomiting and poor intake for 4 days</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No known liver disease, no alcohol use</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"Took something for a toothache"</a:t>
            </a:r>
            <a:endParaRPr lang="en-US" sz="20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7315200" y="1371600"/>
          <a:ext cx="4206240" cy="914400"/>
        </p:xfrm>
        <a:graphic>
          <a:graphicData uri="http://schemas.openxmlformats.org/drawingml/2006/table">
            <a:tbl>
              <a:tblPr/>
              <a:tblGrid>
                <a:gridCol w="2377440"/>
                <a:gridCol w="1828800"/>
              </a:tblGrid>
              <a:tr h="384048">
                <a:tc>
                  <a:txBody>
                    <a:bodyPr/>
                    <a:lstStyle/>
                    <a:p>
                      <a:pPr algn="l" indent="0" marL="0">
                        <a:buNone/>
                      </a:pPr>
                      <a:r>
                        <a:rPr lang="en-US" sz="1500" b="1" dirty="0">
                          <a:solidFill>
                            <a:srgbClr val="000000"/>
                          </a:solidFill>
                          <a:latin typeface="Calibri" pitchFamily="34" charset="0"/>
                          <a:ea typeface="Calibri" pitchFamily="34" charset="-122"/>
                          <a:cs typeface="Calibri" pitchFamily="34" charset="-120"/>
                        </a:rPr>
                        <a:t>Test</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500" b="1" dirty="0">
                          <a:solidFill>
                            <a:srgbClr val="000000"/>
                          </a:solidFill>
                          <a:latin typeface="Calibri" pitchFamily="34" charset="0"/>
                          <a:ea typeface="Calibri" pitchFamily="34" charset="-122"/>
                          <a:cs typeface="Calibri" pitchFamily="34" charset="-120"/>
                        </a:rPr>
                        <a:t>Result</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384048">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AST</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C00000"/>
                          </a:solidFill>
                          <a:latin typeface="Calibri" pitchFamily="34" charset="0"/>
                          <a:ea typeface="Calibri" pitchFamily="34" charset="-122"/>
                          <a:cs typeface="Calibri" pitchFamily="34" charset="-120"/>
                        </a:rPr>
                        <a:t>6,820 U/L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ALT</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C00000"/>
                          </a:solidFill>
                          <a:latin typeface="Calibri" pitchFamily="34" charset="0"/>
                          <a:ea typeface="Calibri" pitchFamily="34" charset="-122"/>
                          <a:cs typeface="Calibri" pitchFamily="34" charset="-120"/>
                        </a:rPr>
                        <a:t>5,940 U/L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Alkaline phosphatase</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128 U/L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Total bilirubin</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C00000"/>
                          </a:solidFill>
                          <a:latin typeface="Calibri" pitchFamily="34" charset="0"/>
                          <a:ea typeface="Calibri" pitchFamily="34" charset="-122"/>
                          <a:cs typeface="Calibri" pitchFamily="34" charset="-120"/>
                        </a:rPr>
                        <a:t>2.9 mg/dL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Creatinine</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1.0 mg/dL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5" name="Question"/>
          <p:cNvSpPr txBox="1"/>
          <p:nvPr/>
        </p:nvSpPr>
        <p:spPr>
          <a:xfrm>
            <a:off x="822960" y="420624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Is this acute liver failure?</a:t>
            </a:r>
            <a:endParaRPr lang="en-US" sz="24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28F, 4 days of nausea</a:t>
            </a:r>
            <a:endParaRPr lang="en-US" sz="3000" dirty="0"/>
          </a:p>
        </p:txBody>
      </p:sp>
      <p:sp>
        <p:nvSpPr>
          <p:cNvPr id="3" name="Body"/>
          <p:cNvSpPr txBox="1"/>
          <p:nvPr/>
        </p:nvSpPr>
        <p:spPr>
          <a:xfrm>
            <a:off x="731520" y="1371600"/>
            <a:ext cx="6035040" cy="2011680"/>
          </a:xfrm>
          <a:prstGeom prst="rect">
            <a:avLst/>
          </a:prstGeom>
          <a:noFill/>
          <a:ln/>
        </p:spPr>
        <p:txBody>
          <a:bodyPr wrap="square" lIns="50800" tIns="50800" rIns="50800" bIns="50800" rtlCol="0" anchor="t"/>
          <a:lstStyle/>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Nausea, vomiting and poor intake for 4 days</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No known liver disease, no alcohol use</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"Took something for a toothache"</a:t>
            </a:r>
            <a:endParaRPr lang="en-US" sz="20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7315200" y="1371600"/>
          <a:ext cx="4206240" cy="914400"/>
        </p:xfrm>
        <a:graphic>
          <a:graphicData uri="http://schemas.openxmlformats.org/drawingml/2006/table">
            <a:tbl>
              <a:tblPr/>
              <a:tblGrid>
                <a:gridCol w="2377440"/>
                <a:gridCol w="1828800"/>
              </a:tblGrid>
              <a:tr h="384048">
                <a:tc>
                  <a:txBody>
                    <a:bodyPr/>
                    <a:lstStyle/>
                    <a:p>
                      <a:pPr algn="l" indent="0" marL="0">
                        <a:buNone/>
                      </a:pPr>
                      <a:r>
                        <a:rPr lang="en-US" sz="1500" b="1" dirty="0">
                          <a:solidFill>
                            <a:srgbClr val="000000"/>
                          </a:solidFill>
                          <a:latin typeface="Calibri" pitchFamily="34" charset="0"/>
                          <a:ea typeface="Calibri" pitchFamily="34" charset="-122"/>
                          <a:cs typeface="Calibri" pitchFamily="34" charset="-120"/>
                        </a:rPr>
                        <a:t>Test</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500" b="1" dirty="0">
                          <a:solidFill>
                            <a:srgbClr val="000000"/>
                          </a:solidFill>
                          <a:latin typeface="Calibri" pitchFamily="34" charset="0"/>
                          <a:ea typeface="Calibri" pitchFamily="34" charset="-122"/>
                          <a:cs typeface="Calibri" pitchFamily="34" charset="-120"/>
                        </a:rPr>
                        <a:t>Result</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384048">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AST</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C00000"/>
                          </a:solidFill>
                          <a:latin typeface="Calibri" pitchFamily="34" charset="0"/>
                          <a:ea typeface="Calibri" pitchFamily="34" charset="-122"/>
                          <a:cs typeface="Calibri" pitchFamily="34" charset="-120"/>
                        </a:rPr>
                        <a:t>6,820 U/L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ALT</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C00000"/>
                          </a:solidFill>
                          <a:latin typeface="Calibri" pitchFamily="34" charset="0"/>
                          <a:ea typeface="Calibri" pitchFamily="34" charset="-122"/>
                          <a:cs typeface="Calibri" pitchFamily="34" charset="-120"/>
                        </a:rPr>
                        <a:t>5,940 U/L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Alkaline phosphatase</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128 U/L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Total bilirubin</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C00000"/>
                          </a:solidFill>
                          <a:latin typeface="Calibri" pitchFamily="34" charset="0"/>
                          <a:ea typeface="Calibri" pitchFamily="34" charset="-122"/>
                          <a:cs typeface="Calibri" pitchFamily="34" charset="-120"/>
                        </a:rPr>
                        <a:t>2.9 mg/dL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Creatinine</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1.0 mg/dL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5" name="Question"/>
          <p:cNvSpPr txBox="1"/>
          <p:nvPr/>
        </p:nvSpPr>
        <p:spPr>
          <a:xfrm>
            <a:off x="822960" y="393192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Is this acute liver failure?</a:t>
            </a:r>
            <a:endParaRPr lang="en-US" sz="2400" dirty="0"/>
          </a:p>
        </p:txBody>
      </p:sp>
      <p:sp>
        <p:nvSpPr>
          <p:cNvPr id="6" name="Question"/>
          <p:cNvSpPr txBox="1"/>
          <p:nvPr/>
        </p:nvSpPr>
        <p:spPr>
          <a:xfrm>
            <a:off x="822960" y="457200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highlight>
                  <a:srgbClr val="FFFF00"/>
                </a:highlight>
                <a:latin typeface="Georgia" pitchFamily="34" charset="0"/>
                <a:ea typeface="Georgia" pitchFamily="34" charset="-122"/>
                <a:cs typeface="Georgia" pitchFamily="34" charset="-120"/>
              </a:rPr>
              <a:t>We don't know yet. What's missing?</a:t>
            </a:r>
            <a:endParaRPr lang="en-US" sz="24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28F, 4 days of nausea</a:t>
            </a:r>
            <a:endParaRPr lang="en-US" sz="3000" dirty="0"/>
          </a:p>
        </p:txBody>
      </p:sp>
      <p:sp>
        <p:nvSpPr>
          <p:cNvPr id="3" name="Body"/>
          <p:cNvSpPr txBox="1"/>
          <p:nvPr/>
        </p:nvSpPr>
        <p:spPr>
          <a:xfrm>
            <a:off x="731520" y="1371600"/>
            <a:ext cx="6035040" cy="2011680"/>
          </a:xfrm>
          <a:prstGeom prst="rect">
            <a:avLst/>
          </a:prstGeom>
          <a:noFill/>
          <a:ln/>
        </p:spPr>
        <p:txBody>
          <a:bodyPr wrap="square" lIns="50800" tIns="50800" rIns="50800" bIns="50800" rtlCol="0" anchor="t"/>
          <a:lstStyle/>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Nausea, vomiting and poor intake for 4 days</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No known liver disease, no alcohol use</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"Took something for a toothache"</a:t>
            </a:r>
            <a:endParaRPr lang="en-US" sz="20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7315200" y="1371600"/>
          <a:ext cx="4206240" cy="914400"/>
        </p:xfrm>
        <a:graphic>
          <a:graphicData uri="http://schemas.openxmlformats.org/drawingml/2006/table">
            <a:tbl>
              <a:tblPr/>
              <a:tblGrid>
                <a:gridCol w="2377440"/>
                <a:gridCol w="1828800"/>
              </a:tblGrid>
              <a:tr h="384048">
                <a:tc>
                  <a:txBody>
                    <a:bodyPr/>
                    <a:lstStyle/>
                    <a:p>
                      <a:pPr algn="l" indent="0" marL="0">
                        <a:buNone/>
                      </a:pPr>
                      <a:r>
                        <a:rPr lang="en-US" sz="1500" b="1" dirty="0">
                          <a:solidFill>
                            <a:srgbClr val="000000"/>
                          </a:solidFill>
                          <a:latin typeface="Calibri" pitchFamily="34" charset="0"/>
                          <a:ea typeface="Calibri" pitchFamily="34" charset="-122"/>
                          <a:cs typeface="Calibri" pitchFamily="34" charset="-120"/>
                        </a:rPr>
                        <a:t>Test</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500" b="1" dirty="0">
                          <a:solidFill>
                            <a:srgbClr val="000000"/>
                          </a:solidFill>
                          <a:latin typeface="Calibri" pitchFamily="34" charset="0"/>
                          <a:ea typeface="Calibri" pitchFamily="34" charset="-122"/>
                          <a:cs typeface="Calibri" pitchFamily="34" charset="-120"/>
                        </a:rPr>
                        <a:t>Result</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384048">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AST</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C00000"/>
                          </a:solidFill>
                          <a:latin typeface="Calibri" pitchFamily="34" charset="0"/>
                          <a:ea typeface="Calibri" pitchFamily="34" charset="-122"/>
                          <a:cs typeface="Calibri" pitchFamily="34" charset="-120"/>
                        </a:rPr>
                        <a:t>6,820 U/L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ALT</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C00000"/>
                          </a:solidFill>
                          <a:latin typeface="Calibri" pitchFamily="34" charset="0"/>
                          <a:ea typeface="Calibri" pitchFamily="34" charset="-122"/>
                          <a:cs typeface="Calibri" pitchFamily="34" charset="-120"/>
                        </a:rPr>
                        <a:t>5,940 U/L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Alkaline phosphatase</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128 U/L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Total bilirubin</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C00000"/>
                          </a:solidFill>
                          <a:latin typeface="Calibri" pitchFamily="34" charset="0"/>
                          <a:ea typeface="Calibri" pitchFamily="34" charset="-122"/>
                          <a:cs typeface="Calibri" pitchFamily="34" charset="-120"/>
                        </a:rPr>
                        <a:t>2.9 mg/dL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Creatinine</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1.0 mg/dL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5" name="Question"/>
          <p:cNvSpPr txBox="1"/>
          <p:nvPr/>
        </p:nvSpPr>
        <p:spPr>
          <a:xfrm>
            <a:off x="822960" y="3749040"/>
            <a:ext cx="10545775" cy="548640"/>
          </a:xfrm>
          <a:prstGeom prst="rect">
            <a:avLst/>
          </a:prstGeom>
          <a:noFill/>
          <a:ln/>
        </p:spPr>
        <p:txBody>
          <a:bodyPr wrap="square" lIns="0" tIns="0" rIns="0" bIns="0" rtlCol="0" anchor="ctr"/>
          <a:lstStyle/>
          <a:p>
            <a:pPr algn="ctr" indent="0" marL="0">
              <a:buNone/>
            </a:pPr>
            <a:r>
              <a:rPr lang="en-US" sz="2200" b="1" dirty="0">
                <a:solidFill>
                  <a:srgbClr val="000000"/>
                </a:solidFill>
                <a:latin typeface="Georgia" pitchFamily="34" charset="0"/>
                <a:ea typeface="Georgia" pitchFamily="34" charset="-122"/>
                <a:cs typeface="Georgia" pitchFamily="34" charset="-120"/>
              </a:rPr>
              <a:t>What's missing?</a:t>
            </a:r>
            <a:endParaRPr lang="en-US" sz="2200" dirty="0"/>
          </a:p>
        </p:txBody>
      </p:sp>
      <p:sp>
        <p:nvSpPr>
          <p:cNvPr id="6" name="Body"/>
          <p:cNvSpPr txBox="1"/>
          <p:nvPr/>
        </p:nvSpPr>
        <p:spPr>
          <a:xfrm>
            <a:off x="2194560" y="4297680"/>
            <a:ext cx="7863840" cy="1920240"/>
          </a:xfrm>
          <a:prstGeom prst="rect">
            <a:avLst/>
          </a:prstGeom>
          <a:noFill/>
          <a:ln/>
        </p:spPr>
        <p:txBody>
          <a:bodyPr wrap="square" lIns="50800" tIns="50800" rIns="50800" bIns="50800" rtlCol="0" anchor="t"/>
          <a:lstStyle/>
          <a:p>
            <a:pPr marL="228600" indent="-228600">
              <a:spcBef>
                <a:spcPts val="400"/>
              </a:spcBef>
              <a:buSzPct val="100000"/>
              <a:buChar char="–"/>
            </a:pPr>
            <a:r>
              <a:rPr lang="en-US" sz="1900" b="1" dirty="0">
                <a:solidFill>
                  <a:srgbClr val="000000"/>
                </a:solidFill>
                <a:latin typeface="Georgia" pitchFamily="34" charset="0"/>
                <a:ea typeface="Georgia" pitchFamily="34" charset="-122"/>
                <a:cs typeface="Georgia" pitchFamily="34" charset="-120"/>
              </a:rPr>
              <a:t>INR</a:t>
            </a:r>
            <a:r>
              <a:rPr lang="en-US" sz="1900" dirty="0">
                <a:solidFill>
                  <a:srgbClr val="000000"/>
                </a:solidFill>
                <a:latin typeface="Georgia" pitchFamily="34" charset="0"/>
                <a:ea typeface="Georgia" pitchFamily="34" charset="-122"/>
                <a:cs typeface="Georgia" pitchFamily="34" charset="-120"/>
              </a:rPr>
              <a:t> (synthetic function, not enzymes)</a:t>
            </a:r>
            <a:endParaRPr lang="en-US" sz="1900" dirty="0"/>
          </a:p>
          <a:p>
            <a:pPr marL="228600" indent="-228600">
              <a:spcBef>
                <a:spcPts val="400"/>
              </a:spcBef>
              <a:buSzPct val="100000"/>
              <a:buChar char="–"/>
            </a:pPr>
            <a:r>
              <a:rPr lang="en-US" sz="1900" b="1" dirty="0">
                <a:solidFill>
                  <a:srgbClr val="000000"/>
                </a:solidFill>
                <a:latin typeface="Georgia" pitchFamily="34" charset="0"/>
                <a:ea typeface="Georgia" pitchFamily="34" charset="-122"/>
                <a:cs typeface="Georgia" pitchFamily="34" charset="-120"/>
              </a:rPr>
              <a:t>Mental status</a:t>
            </a:r>
            <a:r>
              <a:rPr lang="en-US" sz="1900" dirty="0">
                <a:solidFill>
                  <a:srgbClr val="000000"/>
                </a:solidFill>
                <a:latin typeface="Georgia" pitchFamily="34" charset="0"/>
                <a:ea typeface="Georgia" pitchFamily="34" charset="-122"/>
                <a:cs typeface="Georgia" pitchFamily="34" charset="-120"/>
              </a:rPr>
              <a:t> (any encephalopathy?)</a:t>
            </a:r>
            <a:endParaRPr lang="en-US" sz="1900" dirty="0"/>
          </a:p>
          <a:p>
            <a:pPr marL="228600" indent="-228600">
              <a:spcBef>
                <a:spcPts val="400"/>
              </a:spcBef>
              <a:buSzPct val="100000"/>
              <a:buChar char="–"/>
            </a:pPr>
            <a:r>
              <a:rPr lang="en-US" sz="1900" b="1" dirty="0">
                <a:solidFill>
                  <a:srgbClr val="000000"/>
                </a:solidFill>
                <a:latin typeface="Georgia" pitchFamily="34" charset="0"/>
                <a:ea typeface="Georgia" pitchFamily="34" charset="-122"/>
                <a:cs typeface="Georgia" pitchFamily="34" charset="-120"/>
              </a:rPr>
              <a:t>Time course</a:t>
            </a:r>
            <a:r>
              <a:rPr lang="en-US" sz="1900" dirty="0">
                <a:solidFill>
                  <a:srgbClr val="000000"/>
                </a:solidFill>
                <a:latin typeface="Georgia" pitchFamily="34" charset="0"/>
                <a:ea typeface="Georgia" pitchFamily="34" charset="-122"/>
                <a:cs typeface="Georgia" pitchFamily="34" charset="-120"/>
              </a:rPr>
              <a:t> (how long since the first symptom?)</a:t>
            </a:r>
            <a:endParaRPr lang="en-US" sz="1900" dirty="0"/>
          </a:p>
          <a:p>
            <a:pPr marL="228600" indent="-228600">
              <a:spcBef>
                <a:spcPts val="400"/>
              </a:spcBef>
              <a:buSzPct val="100000"/>
              <a:buChar char="–"/>
            </a:pPr>
            <a:r>
              <a:rPr lang="en-US" sz="1900" b="1" dirty="0">
                <a:solidFill>
                  <a:srgbClr val="000000"/>
                </a:solidFill>
                <a:latin typeface="Georgia" pitchFamily="34" charset="0"/>
                <a:ea typeface="Georgia" pitchFamily="34" charset="-122"/>
                <a:cs typeface="Georgia" pitchFamily="34" charset="-120"/>
              </a:rPr>
              <a:t>Is there chronic liver disease underneath?</a:t>
            </a:r>
            <a:endParaRPr lang="en-US" sz="19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28F, 4 days of nausea</a:t>
            </a:r>
            <a:endParaRPr lang="en-US" sz="30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7315200" y="1371600"/>
          <a:ext cx="4206240" cy="914400"/>
        </p:xfrm>
        <a:graphic>
          <a:graphicData uri="http://schemas.openxmlformats.org/drawingml/2006/table">
            <a:tbl>
              <a:tblPr/>
              <a:tblGrid>
                <a:gridCol w="2377440"/>
                <a:gridCol w="1828800"/>
              </a:tblGrid>
              <a:tr h="384048">
                <a:tc>
                  <a:txBody>
                    <a:bodyPr/>
                    <a:lstStyle/>
                    <a:p>
                      <a:pPr algn="l" indent="0" marL="0">
                        <a:buNone/>
                      </a:pPr>
                      <a:r>
                        <a:rPr lang="en-US" sz="1500" b="1" dirty="0">
                          <a:solidFill>
                            <a:srgbClr val="000000"/>
                          </a:solidFill>
                          <a:latin typeface="Calibri" pitchFamily="34" charset="0"/>
                          <a:ea typeface="Calibri" pitchFamily="34" charset="-122"/>
                          <a:cs typeface="Calibri" pitchFamily="34" charset="-120"/>
                        </a:rPr>
                        <a:t>Test</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500" b="1" dirty="0">
                          <a:solidFill>
                            <a:srgbClr val="000000"/>
                          </a:solidFill>
                          <a:latin typeface="Calibri" pitchFamily="34" charset="0"/>
                          <a:ea typeface="Calibri" pitchFamily="34" charset="-122"/>
                          <a:cs typeface="Calibri" pitchFamily="34" charset="-120"/>
                        </a:rPr>
                        <a:t>Result</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384048">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AST</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C00000"/>
                          </a:solidFill>
                          <a:latin typeface="Calibri" pitchFamily="34" charset="0"/>
                          <a:ea typeface="Calibri" pitchFamily="34" charset="-122"/>
                          <a:cs typeface="Calibri" pitchFamily="34" charset="-120"/>
                        </a:rPr>
                        <a:t>6,820 U/L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ALT</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C00000"/>
                          </a:solidFill>
                          <a:latin typeface="Calibri" pitchFamily="34" charset="0"/>
                          <a:ea typeface="Calibri" pitchFamily="34" charset="-122"/>
                          <a:cs typeface="Calibri" pitchFamily="34" charset="-120"/>
                        </a:rPr>
                        <a:t>5,940 U/L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Total bilirubin</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C00000"/>
                          </a:solidFill>
                          <a:latin typeface="Calibri" pitchFamily="34" charset="0"/>
                          <a:ea typeface="Calibri" pitchFamily="34" charset="-122"/>
                          <a:cs typeface="Calibri" pitchFamily="34" charset="-120"/>
                        </a:rPr>
                        <a:t>2.9 mg/dL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4048">
                <a:tc>
                  <a:txBody>
                    <a:bodyPr/>
                    <a:lstStyle/>
                    <a:p>
                      <a:pPr algn="l" indent="0" marL="0">
                        <a:buNone/>
                      </a:pPr>
                      <a:r>
                        <a:rPr lang="en-US" sz="1500" b="1" dirty="0">
                          <a:solidFill>
                            <a:srgbClr val="000000"/>
                          </a:solidFill>
                          <a:latin typeface="Calibri" pitchFamily="34" charset="0"/>
                          <a:ea typeface="Calibri" pitchFamily="34" charset="-122"/>
                          <a:cs typeface="Calibri" pitchFamily="34" charset="-120"/>
                        </a:rPr>
                        <a:t>INR</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C00000"/>
                          </a:solidFill>
                          <a:latin typeface="Calibri" pitchFamily="34" charset="0"/>
                          <a:ea typeface="Calibri" pitchFamily="34" charset="-122"/>
                          <a:cs typeface="Calibri" pitchFamily="34" charset="-120"/>
                        </a:rPr>
                        <a:t>3.2</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4048">
                <a:tc>
                  <a:txBody>
                    <a:bodyPr/>
                    <a:lstStyle/>
                    <a:p>
                      <a:pPr algn="l" indent="0" marL="0">
                        <a:buNone/>
                      </a:pPr>
                      <a:r>
                        <a:rPr lang="en-US" sz="1500" b="1" dirty="0">
                          <a:solidFill>
                            <a:srgbClr val="000000"/>
                          </a:solidFill>
                          <a:latin typeface="Calibri" pitchFamily="34" charset="0"/>
                          <a:ea typeface="Calibri" pitchFamily="34" charset="-122"/>
                          <a:cs typeface="Calibri" pitchFamily="34" charset="-120"/>
                        </a:rPr>
                        <a:t>Glucose</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C00000"/>
                          </a:solidFill>
                          <a:latin typeface="Calibri" pitchFamily="34" charset="0"/>
                          <a:ea typeface="Calibri" pitchFamily="34" charset="-122"/>
                          <a:cs typeface="Calibri" pitchFamily="34" charset="-120"/>
                        </a:rPr>
                        <a:t>54 mg/dL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Body"/>
          <p:cNvSpPr txBox="1"/>
          <p:nvPr/>
        </p:nvSpPr>
        <p:spPr>
          <a:xfrm>
            <a:off x="731520" y="1371600"/>
            <a:ext cx="6217920" cy="2743200"/>
          </a:xfrm>
          <a:prstGeom prst="rect">
            <a:avLst/>
          </a:prstGeom>
          <a:noFill/>
          <a:ln/>
        </p:spPr>
        <p:txBody>
          <a:bodyPr wrap="square" lIns="50800" tIns="50800" rIns="50800" bIns="50800" rtlCol="0" anchor="t"/>
          <a:lstStyle/>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Disoriented to time, asterixis. Still there after the glucose is fixed</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Symptoms started 4 days ago</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Ultrasound: smooth liver, no ascites, patent vessels, normal spleen</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No history or imaging suggesting cirrhosis</a:t>
            </a:r>
            <a:endParaRPr lang="en-US" sz="2000" dirty="0"/>
          </a:p>
        </p:txBody>
      </p:sp>
      <p:sp>
        <p:nvSpPr>
          <p:cNvPr id="5" name="Question"/>
          <p:cNvSpPr txBox="1"/>
          <p:nvPr/>
        </p:nvSpPr>
        <p:spPr>
          <a:xfrm>
            <a:off x="822960" y="4480560"/>
            <a:ext cx="10545775" cy="548640"/>
          </a:xfrm>
          <a:prstGeom prst="rect">
            <a:avLst/>
          </a:prstGeom>
          <a:noFill/>
          <a:ln/>
        </p:spPr>
        <p:txBody>
          <a:bodyPr wrap="square" lIns="0" tIns="0" rIns="0" bIns="0" rtlCol="0" anchor="ctr"/>
          <a:lstStyle/>
          <a:p>
            <a:pPr algn="ctr" indent="0" marL="0">
              <a:buNone/>
            </a:pPr>
            <a:r>
              <a:rPr lang="en-US" sz="2800" b="1" dirty="0">
                <a:solidFill>
                  <a:srgbClr val="000000"/>
                </a:solidFill>
                <a:latin typeface="Georgia" pitchFamily="34" charset="0"/>
                <a:ea typeface="Georgia" pitchFamily="34" charset="-122"/>
                <a:cs typeface="Georgia" pitchFamily="34" charset="-120"/>
              </a:rPr>
              <a:t>Now is it acute liver failure?</a:t>
            </a:r>
            <a:endParaRPr lang="en-US" sz="28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28F, 4 days of nausea</a:t>
            </a:r>
            <a:endParaRPr lang="en-US" sz="30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7315200" y="1371600"/>
          <a:ext cx="4206240" cy="914400"/>
        </p:xfrm>
        <a:graphic>
          <a:graphicData uri="http://schemas.openxmlformats.org/drawingml/2006/table">
            <a:tbl>
              <a:tblPr/>
              <a:tblGrid>
                <a:gridCol w="2377440"/>
                <a:gridCol w="1828800"/>
              </a:tblGrid>
              <a:tr h="384048">
                <a:tc>
                  <a:txBody>
                    <a:bodyPr/>
                    <a:lstStyle/>
                    <a:p>
                      <a:pPr algn="l" indent="0" marL="0">
                        <a:buNone/>
                      </a:pPr>
                      <a:r>
                        <a:rPr lang="en-US" sz="1500" b="1" dirty="0">
                          <a:solidFill>
                            <a:srgbClr val="000000"/>
                          </a:solidFill>
                          <a:latin typeface="Calibri" pitchFamily="34" charset="0"/>
                          <a:ea typeface="Calibri" pitchFamily="34" charset="-122"/>
                          <a:cs typeface="Calibri" pitchFamily="34" charset="-120"/>
                        </a:rPr>
                        <a:t>Test</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500" b="1" dirty="0">
                          <a:solidFill>
                            <a:srgbClr val="000000"/>
                          </a:solidFill>
                          <a:latin typeface="Calibri" pitchFamily="34" charset="0"/>
                          <a:ea typeface="Calibri" pitchFamily="34" charset="-122"/>
                          <a:cs typeface="Calibri" pitchFamily="34" charset="-120"/>
                        </a:rPr>
                        <a:t>Result</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384048">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AST</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C00000"/>
                          </a:solidFill>
                          <a:latin typeface="Calibri" pitchFamily="34" charset="0"/>
                          <a:ea typeface="Calibri" pitchFamily="34" charset="-122"/>
                          <a:cs typeface="Calibri" pitchFamily="34" charset="-120"/>
                        </a:rPr>
                        <a:t>6,820 U/L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ALT</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C00000"/>
                          </a:solidFill>
                          <a:latin typeface="Calibri" pitchFamily="34" charset="0"/>
                          <a:ea typeface="Calibri" pitchFamily="34" charset="-122"/>
                          <a:cs typeface="Calibri" pitchFamily="34" charset="-120"/>
                        </a:rPr>
                        <a:t>5,940 U/L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Total bilirubin</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C00000"/>
                          </a:solidFill>
                          <a:latin typeface="Calibri" pitchFamily="34" charset="0"/>
                          <a:ea typeface="Calibri" pitchFamily="34" charset="-122"/>
                          <a:cs typeface="Calibri" pitchFamily="34" charset="-120"/>
                        </a:rPr>
                        <a:t>2.9 mg/dL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4048">
                <a:tc>
                  <a:txBody>
                    <a:bodyPr/>
                    <a:lstStyle/>
                    <a:p>
                      <a:pPr algn="l" indent="0" marL="0">
                        <a:buNone/>
                      </a:pPr>
                      <a:r>
                        <a:rPr lang="en-US" sz="1500" b="1" dirty="0">
                          <a:solidFill>
                            <a:srgbClr val="000000"/>
                          </a:solidFill>
                          <a:latin typeface="Calibri" pitchFamily="34" charset="0"/>
                          <a:ea typeface="Calibri" pitchFamily="34" charset="-122"/>
                          <a:cs typeface="Calibri" pitchFamily="34" charset="-120"/>
                        </a:rPr>
                        <a:t>INR</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C00000"/>
                          </a:solidFill>
                          <a:latin typeface="Calibri" pitchFamily="34" charset="0"/>
                          <a:ea typeface="Calibri" pitchFamily="34" charset="-122"/>
                          <a:cs typeface="Calibri" pitchFamily="34" charset="-120"/>
                        </a:rPr>
                        <a:t>3.2</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4048">
                <a:tc>
                  <a:txBody>
                    <a:bodyPr/>
                    <a:lstStyle/>
                    <a:p>
                      <a:pPr algn="l" indent="0" marL="0">
                        <a:buNone/>
                      </a:pPr>
                      <a:r>
                        <a:rPr lang="en-US" sz="1500" b="1" dirty="0">
                          <a:solidFill>
                            <a:srgbClr val="000000"/>
                          </a:solidFill>
                          <a:latin typeface="Calibri" pitchFamily="34" charset="0"/>
                          <a:ea typeface="Calibri" pitchFamily="34" charset="-122"/>
                          <a:cs typeface="Calibri" pitchFamily="34" charset="-120"/>
                        </a:rPr>
                        <a:t>Glucose</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C00000"/>
                          </a:solidFill>
                          <a:latin typeface="Calibri" pitchFamily="34" charset="0"/>
                          <a:ea typeface="Calibri" pitchFamily="34" charset="-122"/>
                          <a:cs typeface="Calibri" pitchFamily="34" charset="-120"/>
                        </a:rPr>
                        <a:t>54 mg/dL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Body"/>
          <p:cNvSpPr txBox="1"/>
          <p:nvPr/>
        </p:nvSpPr>
        <p:spPr>
          <a:xfrm>
            <a:off x="731520" y="1371600"/>
            <a:ext cx="6217920" cy="2743200"/>
          </a:xfrm>
          <a:prstGeom prst="rect">
            <a:avLst/>
          </a:prstGeom>
          <a:noFill/>
          <a:ln/>
        </p:spPr>
        <p:txBody>
          <a:bodyPr wrap="square" lIns="50800" tIns="50800" rIns="50800" bIns="50800" rtlCol="0" anchor="t"/>
          <a:lstStyle/>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Disoriented to time, asterixis. Still there after the glucose is fixed</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Symptoms started 4 days ago</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Ultrasound: smooth liver, no ascites, patent vessels, normal spleen</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No history or imaging suggesting cirrhosis</a:t>
            </a:r>
            <a:endParaRPr lang="en-US" sz="2000" dirty="0"/>
          </a:p>
        </p:txBody>
      </p:sp>
      <p:sp>
        <p:nvSpPr>
          <p:cNvPr id="5" name="Question"/>
          <p:cNvSpPr txBox="1"/>
          <p:nvPr/>
        </p:nvSpPr>
        <p:spPr>
          <a:xfrm>
            <a:off x="822960" y="4480560"/>
            <a:ext cx="10545775" cy="548640"/>
          </a:xfrm>
          <a:prstGeom prst="rect">
            <a:avLst/>
          </a:prstGeom>
          <a:noFill/>
          <a:ln/>
        </p:spPr>
        <p:txBody>
          <a:bodyPr wrap="square" lIns="0" tIns="0" rIns="0" bIns="0" rtlCol="0" anchor="ctr"/>
          <a:lstStyle/>
          <a:p>
            <a:pPr algn="ctr" indent="0" marL="0">
              <a:buNone/>
            </a:pPr>
            <a:r>
              <a:rPr lang="en-US" sz="2800" b="1" dirty="0">
                <a:solidFill>
                  <a:srgbClr val="000000"/>
                </a:solidFill>
                <a:highlight>
                  <a:srgbClr val="FFFF00"/>
                </a:highlight>
                <a:latin typeface="Georgia" pitchFamily="34" charset="0"/>
                <a:ea typeface="Georgia" pitchFamily="34" charset="-122"/>
                <a:cs typeface="Georgia" pitchFamily="34" charset="-120"/>
              </a:rPr>
              <a:t>This is acute liver failure</a:t>
            </a:r>
            <a:endParaRPr lang="en-US" sz="28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Acute liver failure</a:t>
            </a:r>
            <a:endParaRPr lang="en-US" sz="3000" dirty="0"/>
          </a:p>
        </p:txBody>
      </p:sp>
      <p:sp>
        <p:nvSpPr>
          <p:cNvPr id="3" name="Body"/>
          <p:cNvSpPr txBox="1"/>
          <p:nvPr/>
        </p:nvSpPr>
        <p:spPr>
          <a:xfrm>
            <a:off x="731520" y="1188720"/>
            <a:ext cx="10728655" cy="2377440"/>
          </a:xfrm>
          <a:prstGeom prst="rect">
            <a:avLst/>
          </a:prstGeom>
          <a:noFill/>
          <a:ln/>
        </p:spPr>
        <p:txBody>
          <a:bodyPr wrap="square" lIns="50800" tIns="50800" rIns="50800" bIns="50800" rtlCol="0" anchor="t"/>
          <a:lstStyle/>
          <a:p>
            <a:pPr marL="228600" indent="-228600">
              <a:spcBef>
                <a:spcPts val="800"/>
              </a:spcBef>
              <a:buSzPct val="100000"/>
              <a:buChar char="–"/>
            </a:pPr>
            <a:r>
              <a:rPr lang="en-US" sz="2000" b="1" dirty="0">
                <a:solidFill>
                  <a:srgbClr val="000000"/>
                </a:solidFill>
                <a:latin typeface="Georgia" pitchFamily="34" charset="0"/>
                <a:ea typeface="Georgia" pitchFamily="34" charset="-122"/>
                <a:cs typeface="Georgia" pitchFamily="34" charset="-120"/>
              </a:rPr>
              <a:t>INR ≥ 1.5</a:t>
            </a:r>
            <a:r>
              <a:rPr lang="en-US" sz="2000" dirty="0">
                <a:solidFill>
                  <a:srgbClr val="000000"/>
                </a:solidFill>
                <a:latin typeface="Georgia" pitchFamily="34" charset="0"/>
                <a:ea typeface="Georgia" pitchFamily="34" charset="-122"/>
                <a:cs typeface="Georgia" pitchFamily="34" charset="-120"/>
              </a:rPr>
              <a:t> and </a:t>
            </a:r>
            <a:r>
              <a:rPr lang="en-US" sz="2000" b="1" dirty="0">
                <a:solidFill>
                  <a:srgbClr val="000000"/>
                </a:solidFill>
                <a:latin typeface="Georgia" pitchFamily="34" charset="0"/>
                <a:ea typeface="Georgia" pitchFamily="34" charset="-122"/>
                <a:cs typeface="Georgia" pitchFamily="34" charset="-120"/>
              </a:rPr>
              <a:t>any degree of encephalopathy</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Illness of less than 26 weeks</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No pre-existing cirrhosis</a:t>
            </a:r>
            <a:endParaRPr lang="en-US" sz="2000" dirty="0"/>
          </a:p>
          <a:p>
            <a:pPr lvl="1" marL="457200" indent="-228600">
              <a:spcBef>
                <a:spcPts val="200"/>
              </a:spcBef>
              <a:buSzPct val="100000"/>
              <a:buChar char="–"/>
            </a:pPr>
            <a:r>
              <a:rPr lang="en-US" sz="1800" dirty="0">
                <a:solidFill>
                  <a:srgbClr val="000000"/>
                </a:solidFill>
                <a:latin typeface="Georgia" pitchFamily="34" charset="0"/>
                <a:ea typeface="Georgia" pitchFamily="34" charset="-122"/>
                <a:cs typeface="Georgia" pitchFamily="34" charset="-120"/>
              </a:rPr>
              <a:t>AASLD and ACG: chronic liver disease without cirrhosis still allows ALF. EASL: no prior liver disease at all</a:t>
            </a:r>
            <a:endParaRPr lang="en-US" sz="2000" dirty="0"/>
          </a:p>
          <a:p>
            <a:pPr lvl="1" marL="457200" indent="-228600">
              <a:spcBef>
                <a:spcPts val="200"/>
              </a:spcBef>
              <a:buSzPct val="100000"/>
              <a:buChar char="–"/>
            </a:pPr>
            <a:r>
              <a:rPr lang="en-US" sz="1800" dirty="0">
                <a:solidFill>
                  <a:srgbClr val="000000"/>
                </a:solidFill>
                <a:latin typeface="Georgia" pitchFamily="34" charset="0"/>
                <a:ea typeface="Georgia" pitchFamily="34" charset="-122"/>
                <a:cs typeface="Georgia" pitchFamily="34" charset="-120"/>
              </a:rPr>
              <a:t>Wilson disease, autoimmune hepatitis and vertically acquired HBV can still count if recognized within 26 weeks</a:t>
            </a:r>
            <a:endParaRPr lang="en-US" sz="20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731520" y="3794760"/>
          <a:ext cx="10728655" cy="914400"/>
        </p:xfrm>
        <a:graphic>
          <a:graphicData uri="http://schemas.openxmlformats.org/drawingml/2006/table">
            <a:tbl>
              <a:tblPr/>
              <a:tblGrid>
                <a:gridCol w="2743200"/>
                <a:gridCol w="2651760"/>
                <a:gridCol w="2651760"/>
                <a:gridCol w="2679192"/>
              </a:tblGrid>
              <a:tr h="502920">
                <a:tc>
                  <a:txBody>
                    <a:bodyPr/>
                    <a:lstStyle/>
                    <a:p>
                      <a:pPr algn="l" indent="0" marL="0">
                        <a:buNone/>
                      </a:pPr>
                      <a:r>
                        <a:rPr lang="en-US" sz="1500" b="1" dirty="0">
                          <a:solidFill>
                            <a:srgbClr val="000000"/>
                          </a:solidFill>
                          <a:latin typeface="Calibri" pitchFamily="34" charset="0"/>
                          <a:ea typeface="Calibri" pitchFamily="34" charset="-122"/>
                          <a:cs typeface="Calibri" pitchFamily="34" charset="-120"/>
                        </a:rPr>
                        <a:t>Jaundice to encephalopathy</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500" b="1" dirty="0">
                          <a:solidFill>
                            <a:srgbClr val="000000"/>
                          </a:solidFill>
                          <a:latin typeface="Calibri" pitchFamily="34" charset="0"/>
                          <a:ea typeface="Calibri" pitchFamily="34" charset="-122"/>
                          <a:cs typeface="Calibri" pitchFamily="34" charset="-120"/>
                        </a:rPr>
                        <a:t>Hyperacute (&lt; 1 week)</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500" b="1" dirty="0">
                          <a:solidFill>
                            <a:srgbClr val="000000"/>
                          </a:solidFill>
                          <a:latin typeface="Calibri" pitchFamily="34" charset="0"/>
                          <a:ea typeface="Calibri" pitchFamily="34" charset="-122"/>
                          <a:cs typeface="Calibri" pitchFamily="34" charset="-120"/>
                        </a:rPr>
                        <a:t>Acute (1 to 4 weeks)</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500" b="1" dirty="0">
                          <a:solidFill>
                            <a:srgbClr val="000000"/>
                          </a:solidFill>
                          <a:latin typeface="Calibri" pitchFamily="34" charset="0"/>
                          <a:ea typeface="Calibri" pitchFamily="34" charset="-122"/>
                          <a:cs typeface="Calibri" pitchFamily="34" charset="-120"/>
                        </a:rPr>
                        <a:t>Subacute (4 to 12 weeks)</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02920">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Typical causes</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Acetaminophen, HAV, HEV, ischemia</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HBV</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Idiosyncratic drug injury, AIH, indeterminate</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Cerebral edema</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000000"/>
                          </a:solidFill>
                          <a:latin typeface="Calibri" pitchFamily="34" charset="0"/>
                          <a:ea typeface="Calibri" pitchFamily="34" charset="-122"/>
                          <a:cs typeface="Calibri" pitchFamily="34" charset="-120"/>
                        </a:rPr>
                        <a:t>Common</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Less common</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Uncommon</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Recovery without transplant</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More likely</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Intermediate</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000000"/>
                          </a:solidFill>
                          <a:latin typeface="Calibri" pitchFamily="34" charset="0"/>
                          <a:ea typeface="Calibri" pitchFamily="34" charset="-122"/>
                          <a:cs typeface="Calibri" pitchFamily="34" charset="-120"/>
                        </a:rPr>
                        <a:t>Less likely</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EASL ALF guideline 2017 [PMID: 28417882]; ACG ALF 2023 [PMID: 37377263]; Management of ALF: update 2022 [PMID: 36001996]</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INR 2.4, wide awake. Acute liver failure?</a:t>
            </a:r>
            <a:endParaRPr lang="en-US" sz="3000" dirty="0"/>
          </a:p>
        </p:txBody>
      </p:sp>
      <p:sp>
        <p:nvSpPr>
          <p:cNvPr id="3" name="Question"/>
          <p:cNvSpPr txBox="1"/>
          <p:nvPr/>
        </p:nvSpPr>
        <p:spPr>
          <a:xfrm>
            <a:off x="822960" y="2926080"/>
            <a:ext cx="10545775" cy="548640"/>
          </a:xfrm>
          <a:prstGeom prst="rect">
            <a:avLst/>
          </a:prstGeom>
          <a:noFill/>
          <a:ln/>
        </p:spPr>
        <p:txBody>
          <a:bodyPr wrap="square" lIns="0" tIns="0" rIns="0" bIns="0" rtlCol="0" anchor="ctr"/>
          <a:lstStyle/>
          <a:p>
            <a:pPr algn="ctr" indent="0" marL="0">
              <a:buNone/>
            </a:pPr>
            <a:r>
              <a:rPr lang="en-US" sz="2800" b="1" dirty="0">
                <a:solidFill>
                  <a:srgbClr val="000000"/>
                </a:solidFill>
                <a:latin typeface="Georgia" pitchFamily="34" charset="0"/>
                <a:ea typeface="Georgia" pitchFamily="34" charset="-122"/>
                <a:cs typeface="Georgia" pitchFamily="34" charset="-120"/>
              </a:rPr>
              <a:t>What do you call this, and what do you do now?</a:t>
            </a:r>
            <a:endParaRPr lang="en-US" sz="28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INR 2.4, wide awake. Acute liver failure?</a:t>
            </a:r>
            <a:endParaRPr lang="en-US" sz="3000" dirty="0"/>
          </a:p>
        </p:txBody>
      </p:sp>
      <p:sp>
        <p:nvSpPr>
          <p:cNvPr id="3" name="Body"/>
          <p:cNvSpPr txBox="1"/>
          <p:nvPr/>
        </p:nvSpPr>
        <p:spPr>
          <a:xfrm>
            <a:off x="822960" y="1325880"/>
            <a:ext cx="10545775" cy="4937760"/>
          </a:xfrm>
          <a:prstGeom prst="rect">
            <a:avLst/>
          </a:prstGeom>
          <a:noFill/>
          <a:ln/>
        </p:spPr>
        <p:txBody>
          <a:bodyPr wrap="square" lIns="50800" tIns="50800" rIns="50800" bIns="50800" rtlCol="0" anchor="t"/>
          <a:lstStyle/>
          <a:p>
            <a:pPr marL="228600" indent="-228600">
              <a:spcBef>
                <a:spcPts val="800"/>
              </a:spcBef>
              <a:buSzPct val="100000"/>
              <a:buChar char="–"/>
            </a:pPr>
            <a:r>
              <a:rPr lang="en-US" sz="2200" b="1" dirty="0">
                <a:solidFill>
                  <a:srgbClr val="000000"/>
                </a:solidFill>
                <a:latin typeface="Georgia" pitchFamily="34" charset="0"/>
                <a:ea typeface="Georgia" pitchFamily="34" charset="-122"/>
                <a:cs typeface="Georgia" pitchFamily="34" charset="-120"/>
              </a:rPr>
              <a:t>No. </a:t>
            </a:r>
            <a:r>
              <a:rPr lang="en-US" sz="2200" dirty="0">
                <a:solidFill>
                  <a:srgbClr val="000000"/>
                </a:solidFill>
                <a:latin typeface="Georgia" pitchFamily="34" charset="0"/>
                <a:ea typeface="Georgia" pitchFamily="34" charset="-122"/>
                <a:cs typeface="Georgia" pitchFamily="34" charset="-120"/>
              </a:rPr>
              <a:t>This is severe acute liver injury</a:t>
            </a:r>
            <a:endParaRPr lang="en-US" sz="2200" dirty="0"/>
          </a:p>
          <a:p>
            <a:pPr marL="228600" indent="-228600">
              <a:spcBef>
                <a:spcPts val="800"/>
              </a:spcBef>
              <a:buSzPct val="100000"/>
              <a:buChar char="–"/>
            </a:pPr>
            <a:r>
              <a:rPr lang="en-US" sz="2200" dirty="0">
                <a:solidFill>
                  <a:srgbClr val="000000"/>
                </a:solidFill>
                <a:latin typeface="Georgia" pitchFamily="34" charset="0"/>
                <a:ea typeface="Georgia" pitchFamily="34" charset="-122"/>
                <a:cs typeface="Georgia" pitchFamily="34" charset="-120"/>
              </a:rPr>
              <a:t>No encephalopathy means not yet ALF</a:t>
            </a:r>
            <a:endParaRPr lang="en-US" sz="2200" dirty="0"/>
          </a:p>
          <a:p>
            <a:pPr marL="228600" indent="-228600">
              <a:spcBef>
                <a:spcPts val="800"/>
              </a:spcBef>
              <a:buSzPct val="100000"/>
              <a:buChar char="–"/>
            </a:pPr>
            <a:r>
              <a:rPr lang="en-US" sz="2200" dirty="0">
                <a:solidFill>
                  <a:srgbClr val="000000"/>
                </a:solidFill>
                <a:latin typeface="Georgia" pitchFamily="34" charset="0"/>
                <a:ea typeface="Georgia" pitchFamily="34" charset="-122"/>
                <a:cs typeface="Georgia" pitchFamily="34" charset="-120"/>
              </a:rPr>
              <a:t>But it can become ALF within hours</a:t>
            </a:r>
            <a:endParaRPr lang="en-US" sz="2200" dirty="0"/>
          </a:p>
          <a:p>
            <a:pPr lvl="1" marL="457200" indent="-228600">
              <a:spcBef>
                <a:spcPts val="200"/>
              </a:spcBef>
              <a:buSzPct val="100000"/>
              <a:buChar char="–"/>
            </a:pPr>
            <a:r>
              <a:rPr lang="en-US" sz="2000" dirty="0">
                <a:solidFill>
                  <a:srgbClr val="000000"/>
                </a:solidFill>
                <a:latin typeface="Georgia" pitchFamily="34" charset="0"/>
                <a:ea typeface="Georgia" pitchFamily="34" charset="-122"/>
                <a:cs typeface="Georgia" pitchFamily="34" charset="-120"/>
              </a:rPr>
              <a:t>Check glucose often and examine the patient every few hours</a:t>
            </a:r>
            <a:endParaRPr lang="en-US" sz="2200" dirty="0"/>
          </a:p>
          <a:p>
            <a:pPr lvl="1" marL="457200" indent="-228600">
              <a:spcBef>
                <a:spcPts val="200"/>
              </a:spcBef>
              <a:buSzPct val="100000"/>
              <a:buChar char="–"/>
            </a:pPr>
            <a:r>
              <a:rPr lang="en-US" sz="2000" dirty="0">
                <a:solidFill>
                  <a:srgbClr val="000000"/>
                </a:solidFill>
                <a:latin typeface="Georgia" pitchFamily="34" charset="0"/>
                <a:ea typeface="Georgia" pitchFamily="34" charset="-122"/>
                <a:cs typeface="Georgia" pitchFamily="34" charset="-120"/>
              </a:rPr>
              <a:t>Call transplant hepatology early anyway</a:t>
            </a:r>
            <a:endParaRPr lang="en-US" sz="2200" dirty="0"/>
          </a:p>
          <a:p>
            <a:pPr marL="228600" indent="-228600">
              <a:spcBef>
                <a:spcPts val="800"/>
              </a:spcBef>
              <a:buSzPct val="100000"/>
              <a:buChar char="–"/>
            </a:pPr>
            <a:r>
              <a:rPr lang="en-US" sz="2200" dirty="0">
                <a:solidFill>
                  <a:srgbClr val="000000"/>
                </a:solidFill>
                <a:latin typeface="Georgia" pitchFamily="34" charset="0"/>
                <a:ea typeface="Georgia" pitchFamily="34" charset="-122"/>
                <a:cs typeface="Georgia" pitchFamily="34" charset="-120"/>
              </a:rPr>
              <a:t>And the opposite trap:</a:t>
            </a:r>
            <a:endParaRPr lang="en-US" sz="2200" dirty="0"/>
          </a:p>
          <a:p>
            <a:pPr lvl="1" marL="457200" indent="-228600">
              <a:spcBef>
                <a:spcPts val="200"/>
              </a:spcBef>
              <a:buSzPct val="100000"/>
              <a:buChar char="–"/>
            </a:pPr>
            <a:r>
              <a:rPr lang="en-US" sz="2000" dirty="0">
                <a:solidFill>
                  <a:srgbClr val="000000"/>
                </a:solidFill>
                <a:latin typeface="Georgia" pitchFamily="34" charset="0"/>
                <a:ea typeface="Georgia" pitchFamily="34" charset="-122"/>
                <a:cs typeface="Georgia" pitchFamily="34" charset="-120"/>
              </a:rPr>
              <a:t>Hypoglycemia, sedatives, sepsis, alcohol withdrawal and seizures can all look like encephalopathy</a:t>
            </a:r>
            <a:endParaRPr lang="en-US" sz="22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What else fails?</a:t>
            </a:r>
            <a:endParaRPr lang="en-US" sz="3000" dirty="0"/>
          </a:p>
        </p:txBody>
      </p:sp>
      <p:sp>
        <p:nvSpPr>
          <p:cNvPr id="3" name="Question"/>
          <p:cNvSpPr txBox="1"/>
          <p:nvPr/>
        </p:nvSpPr>
        <p:spPr>
          <a:xfrm>
            <a:off x="822960" y="2926080"/>
            <a:ext cx="10545775" cy="548640"/>
          </a:xfrm>
          <a:prstGeom prst="rect">
            <a:avLst/>
          </a:prstGeom>
          <a:noFill/>
          <a:ln/>
        </p:spPr>
        <p:txBody>
          <a:bodyPr wrap="square" lIns="0" tIns="0" rIns="0" bIns="0" rtlCol="0" anchor="ctr"/>
          <a:lstStyle/>
          <a:p>
            <a:pPr algn="ctr" indent="0" marL="0">
              <a:buNone/>
            </a:pPr>
            <a:r>
              <a:rPr lang="en-US" sz="2800" b="1" dirty="0">
                <a:solidFill>
                  <a:srgbClr val="000000"/>
                </a:solidFill>
                <a:latin typeface="Georgia" pitchFamily="34" charset="0"/>
                <a:ea typeface="Georgia" pitchFamily="34" charset="-122"/>
                <a:cs typeface="Georgia" pitchFamily="34" charset="-120"/>
              </a:rPr>
              <a:t>It's called liver failure. Which other organs fail?</a:t>
            </a:r>
            <a:endParaRPr lang="en-US" sz="28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What else fails?</a:t>
            </a:r>
            <a:endParaRPr lang="en-US" sz="3000" dirty="0"/>
          </a:p>
        </p:txBody>
      </p:sp>
      <p:pic>
        <p:nvPicPr>
          <p:cNvPr id="3" name="Image 0" descr="Clinical features of acute liver failure by organ">    </p:cNvPr>
          <p:cNvPicPr>
            <a:picLocks noChangeAspect="1"/>
          </p:cNvPicPr>
          <p:nvPr/>
        </p:nvPicPr>
        <p:blipFill>
          <a:blip r:embed="rId1"/>
          <a:stretch>
            <a:fillRect/>
          </a:stretch>
        </p:blipFill>
        <p:spPr>
          <a:xfrm>
            <a:off x="3695548" y="1188720"/>
            <a:ext cx="4800600" cy="4873752"/>
          </a:xfrm>
          <a:prstGeom prst="rect">
            <a:avLst/>
          </a:prstGeom>
        </p:spPr>
      </p:pic>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Bernal W, Wendon J. N Engl J Med 2013;369:2525-34, Figure 1</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28F, 4 days of nausea</a:t>
            </a:r>
            <a:endParaRPr lang="en-US" sz="3000" dirty="0"/>
          </a:p>
        </p:txBody>
      </p:sp>
      <p:sp>
        <p:nvSpPr>
          <p:cNvPr id="3" name="Question"/>
          <p:cNvSpPr txBox="1"/>
          <p:nvPr/>
        </p:nvSpPr>
        <p:spPr>
          <a:xfrm>
            <a:off x="822960" y="2926080"/>
            <a:ext cx="10545775" cy="914400"/>
          </a:xfrm>
          <a:prstGeom prst="rect">
            <a:avLst/>
          </a:prstGeom>
          <a:noFill/>
          <a:ln/>
        </p:spPr>
        <p:txBody>
          <a:bodyPr wrap="square" lIns="0" tIns="0" rIns="0" bIns="0" rtlCol="0" anchor="ctr"/>
          <a:lstStyle/>
          <a:p>
            <a:pPr algn="ctr" indent="0" marL="0">
              <a:buNone/>
            </a:pPr>
            <a:r>
              <a:rPr lang="en-US" sz="3600" b="1" dirty="0">
                <a:solidFill>
                  <a:srgbClr val="000000"/>
                </a:solidFill>
                <a:latin typeface="Georgia" pitchFamily="34" charset="0"/>
                <a:ea typeface="Georgia" pitchFamily="34" charset="-122"/>
                <a:cs typeface="Georgia" pitchFamily="34" charset="-120"/>
              </a:rPr>
              <a:t>What's your next step?</a:t>
            </a:r>
            <a:endParaRPr lang="en-US" sz="36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Three things, at the same time</a:t>
            </a:r>
            <a:endParaRPr lang="en-US" sz="3000" dirty="0"/>
          </a:p>
        </p:txBody>
      </p:sp>
      <p:graphicFrame>
        <p:nvGraphicFramePr>
          <p:cNvPr id="17" name="Table"/>
          <p:cNvGraphicFramePr>
            <a:graphicFrameLocks noGrp="1"/>
          </p:cNvGraphicFramePr>
          <p:nvPr>
            <p:extLst>
              <p:ext uri="{D42A27DB-BD31-4B8C-83A1-F6EECF244321}">
                <p14:modId xmlns:p14="http://schemas.microsoft.com/office/powerpoint/2010/main" val="1579011935"/>
              </p:ext>
            </p:extLst>
          </p:nvPr>
        </p:nvGraphicFramePr>
        <p:xfrm>
          <a:off x="731520" y="1463040"/>
          <a:ext cx="10728655" cy="914400"/>
        </p:xfrm>
        <a:graphic>
          <a:graphicData uri="http://schemas.openxmlformats.org/drawingml/2006/table">
            <a:tbl>
              <a:tblPr/>
              <a:tblGrid>
                <a:gridCol w="3566160"/>
                <a:gridCol w="3566160"/>
                <a:gridCol w="3593592"/>
              </a:tblGrid>
              <a:tr h="502920">
                <a:tc>
                  <a:txBody>
                    <a:bodyPr/>
                    <a:lstStyle/>
                    <a:p>
                      <a:pPr algn="l" indent="0" marL="0">
                        <a:buNone/>
                      </a:pPr>
                      <a:r>
                        <a:rPr lang="en-US" sz="1800" b="1" dirty="0">
                          <a:solidFill>
                            <a:srgbClr val="000000"/>
                          </a:solidFill>
                          <a:latin typeface="Calibri" pitchFamily="34" charset="0"/>
                          <a:ea typeface="Calibri" pitchFamily="34" charset="-122"/>
                          <a:cs typeface="Calibri" pitchFamily="34" charset="-120"/>
                        </a:rPr>
                        <a:t>Keep her alive</a:t>
                      </a:r>
                      <a:endParaRPr lang="en-US" sz="1800" dirty="0">
                        <a:latin typeface="Calibri" charset="0"/>
                        <a:ea typeface="Calibri" charset="0"/>
                        <a:cs typeface="Calibri" charset="0"/>
                      </a:endParaRPr>
                    </a:p>
                  </a:txBody>
                  <a:tcPr marL="76200" marR="76200" marT="38100" marB="3810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800" b="1" dirty="0">
                          <a:solidFill>
                            <a:srgbClr val="000000"/>
                          </a:solidFill>
                          <a:latin typeface="Calibri" pitchFamily="34" charset="0"/>
                          <a:ea typeface="Calibri" pitchFamily="34" charset="-122"/>
                          <a:cs typeface="Calibri" pitchFamily="34" charset="-120"/>
                        </a:rPr>
                        <a:t>Find and treat the cause</a:t>
                      </a:r>
                      <a:endParaRPr lang="en-US" sz="1800" dirty="0">
                        <a:latin typeface="Calibri" charset="0"/>
                        <a:ea typeface="Calibri" charset="0"/>
                        <a:cs typeface="Calibri" charset="0"/>
                      </a:endParaRPr>
                    </a:p>
                  </a:txBody>
                  <a:tcPr marL="76200" marR="76200" marT="38100" marB="3810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800" b="1" dirty="0">
                          <a:solidFill>
                            <a:srgbClr val="000000"/>
                          </a:solidFill>
                          <a:latin typeface="Calibri" pitchFamily="34" charset="0"/>
                          <a:ea typeface="Calibri" pitchFamily="34" charset="-122"/>
                          <a:cs typeface="Calibri" pitchFamily="34" charset="-120"/>
                        </a:rPr>
                        <a:t>Call transplant hepatology</a:t>
                      </a:r>
                      <a:endParaRPr lang="en-US" sz="1800" dirty="0">
                        <a:latin typeface="Calibri" charset="0"/>
                        <a:ea typeface="Calibri" charset="0"/>
                        <a:cs typeface="Calibri" charset="0"/>
                      </a:endParaRPr>
                    </a:p>
                  </a:txBody>
                  <a:tcPr marL="76200" marR="76200" marT="38100" marB="3810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2194560">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ICU bed</a:t>
                      </a:r>
                      <a:endParaRPr lang="en-US" sz="1800" dirty="0">
                        <a:latin typeface="Calibri" charset="0"/>
                        <a:ea typeface="Calibri" charset="0"/>
                        <a:cs typeface="Calibri" charset="0"/>
                      </a:endParaRPr>
                    </a:p>
                    <a:p>
                      <a:pPr algn="l" indent="0" marL="0">
                        <a:buNone/>
                      </a:pPr>
                      <a:r>
                        <a:rPr lang="en-US" sz="1800" dirty="0">
                          <a:solidFill>
                            <a:srgbClr val="000000"/>
                          </a:solidFill>
                          <a:latin typeface="Calibri" pitchFamily="34" charset="0"/>
                          <a:ea typeface="Calibri" pitchFamily="34" charset="-122"/>
                          <a:cs typeface="Calibri" pitchFamily="34" charset="-120"/>
                        </a:rPr>
                        <a:t>Glucose every 1 to 2 hours</a:t>
                      </a:r>
                      <a:endParaRPr lang="en-US" sz="1800" dirty="0">
                        <a:latin typeface="Calibri" charset="0"/>
                        <a:ea typeface="Calibri" charset="0"/>
                        <a:cs typeface="Calibri" charset="0"/>
                      </a:endParaRPr>
                    </a:p>
                    <a:p>
                      <a:pPr algn="l" indent="0" marL="0">
                        <a:buNone/>
                      </a:pPr>
                      <a:r>
                        <a:rPr lang="en-US" sz="1800" dirty="0">
                          <a:solidFill>
                            <a:srgbClr val="000000"/>
                          </a:solidFill>
                          <a:latin typeface="Calibri" pitchFamily="34" charset="0"/>
                          <a:ea typeface="Calibri" pitchFamily="34" charset="-122"/>
                          <a:cs typeface="Calibri" pitchFamily="34" charset="-120"/>
                        </a:rPr>
                        <a:t>Airway assessment</a:t>
                      </a:r>
                      <a:endParaRPr lang="en-US" sz="1800" dirty="0">
                        <a:latin typeface="Calibri" charset="0"/>
                        <a:ea typeface="Calibri" charset="0"/>
                        <a:cs typeface="Calibri" charset="0"/>
                      </a:endParaRPr>
                    </a:p>
                    <a:p>
                      <a:pPr algn="l" indent="0" marL="0">
                        <a:buNone/>
                      </a:pPr>
                      <a:r>
                        <a:rPr lang="en-US" sz="1800" dirty="0">
                          <a:solidFill>
                            <a:srgbClr val="000000"/>
                          </a:solidFill>
                          <a:latin typeface="Calibri" pitchFamily="34" charset="0"/>
                          <a:ea typeface="Calibri" pitchFamily="34" charset="-122"/>
                          <a:cs typeface="Calibri" pitchFamily="34" charset="-120"/>
                        </a:rPr>
                        <a:t>Volume, perfusion, lactate</a:t>
                      </a:r>
                      <a:endParaRPr lang="en-US" sz="1800" dirty="0">
                        <a:latin typeface="Calibri" charset="0"/>
                        <a:ea typeface="Calibri" charset="0"/>
                        <a:cs typeface="Calibri" charset="0"/>
                      </a:endParaRPr>
                    </a:p>
                    <a:p>
                      <a:pPr algn="l" indent="0" marL="0">
                        <a:buNone/>
                      </a:pPr>
                      <a:r>
                        <a:rPr lang="en-US" sz="1800" dirty="0">
                          <a:solidFill>
                            <a:srgbClr val="000000"/>
                          </a:solidFill>
                          <a:latin typeface="Calibri" pitchFamily="34" charset="0"/>
                          <a:ea typeface="Calibri" pitchFamily="34" charset="-122"/>
                          <a:cs typeface="Calibri" pitchFamily="34" charset="-120"/>
                        </a:rPr>
                        <a:t>Neuro checks</a:t>
                      </a:r>
                      <a:endParaRPr lang="en-US" sz="1800" dirty="0">
                        <a:latin typeface="Calibri" charset="0"/>
                        <a:ea typeface="Calibri" charset="0"/>
                        <a:cs typeface="Calibri" charset="0"/>
                      </a:endParaRPr>
                    </a:p>
                  </a:txBody>
                  <a:tcPr marL="76200" marR="76200" marT="38100" marB="3810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Acetaminophen level</a:t>
                      </a:r>
                      <a:endParaRPr lang="en-US" sz="1800" dirty="0">
                        <a:latin typeface="Calibri" charset="0"/>
                        <a:ea typeface="Calibri" charset="0"/>
                        <a:cs typeface="Calibri" charset="0"/>
                      </a:endParaRPr>
                    </a:p>
                    <a:p>
                      <a:pPr algn="l" indent="0" marL="0">
                        <a:buNone/>
                      </a:pPr>
                      <a:r>
                        <a:rPr lang="en-US" sz="1800" dirty="0">
                          <a:solidFill>
                            <a:srgbClr val="000000"/>
                          </a:solidFill>
                          <a:latin typeface="Calibri" pitchFamily="34" charset="0"/>
                          <a:ea typeface="Calibri" pitchFamily="34" charset="-122"/>
                          <a:cs typeface="Calibri" pitchFamily="34" charset="-120"/>
                        </a:rPr>
                        <a:t>Viral, autoimmune, Wilson, toxicology</a:t>
                      </a:r>
                      <a:endParaRPr lang="en-US" sz="1800" dirty="0">
                        <a:latin typeface="Calibri" charset="0"/>
                        <a:ea typeface="Calibri" charset="0"/>
                        <a:cs typeface="Calibri" charset="0"/>
                      </a:endParaRPr>
                    </a:p>
                    <a:p>
                      <a:pPr algn="l" indent="0" marL="0">
                        <a:buNone/>
                      </a:pPr>
                      <a:r>
                        <a:rPr lang="en-US" sz="1800" dirty="0">
                          <a:solidFill>
                            <a:srgbClr val="000000"/>
                          </a:solidFill>
                          <a:latin typeface="Calibri" pitchFamily="34" charset="0"/>
                          <a:ea typeface="Calibri" pitchFamily="34" charset="-122"/>
                          <a:cs typeface="Calibri" pitchFamily="34" charset="-120"/>
                        </a:rPr>
                        <a:t>Doppler ultrasound</a:t>
                      </a:r>
                      <a:endParaRPr lang="en-US" sz="1800" dirty="0">
                        <a:latin typeface="Calibri" charset="0"/>
                        <a:ea typeface="Calibri" charset="0"/>
                        <a:cs typeface="Calibri" charset="0"/>
                      </a:endParaRPr>
                    </a:p>
                    <a:p>
                      <a:pPr algn="l" indent="0" marL="0">
                        <a:buNone/>
                      </a:pPr>
                      <a:r>
                        <a:rPr lang="en-US" sz="1800" dirty="0">
                          <a:solidFill>
                            <a:srgbClr val="000000"/>
                          </a:solidFill>
                          <a:latin typeface="Calibri" pitchFamily="34" charset="0"/>
                          <a:ea typeface="Calibri" pitchFamily="34" charset="-122"/>
                          <a:cs typeface="Calibri" pitchFamily="34" charset="-120"/>
                        </a:rPr>
                        <a:t>Pregnancy test</a:t>
                      </a:r>
                      <a:endParaRPr lang="en-US" sz="1800" dirty="0">
                        <a:latin typeface="Calibri" charset="0"/>
                        <a:ea typeface="Calibri" charset="0"/>
                        <a:cs typeface="Calibri" charset="0"/>
                      </a:endParaRPr>
                    </a:p>
                    <a:p>
                      <a:pPr algn="l" indent="0" marL="0">
                        <a:buNone/>
                      </a:pPr>
                      <a:r>
                        <a:rPr lang="en-US" sz="1800" dirty="0">
                          <a:solidFill>
                            <a:srgbClr val="000000"/>
                          </a:solidFill>
                          <a:latin typeface="Calibri" pitchFamily="34" charset="0"/>
                          <a:ea typeface="Calibri" pitchFamily="34" charset="-122"/>
                          <a:cs typeface="Calibri" pitchFamily="34" charset="-120"/>
                        </a:rPr>
                        <a:t>Start NAC if acetaminophen is possible</a:t>
                      </a:r>
                      <a:endParaRPr lang="en-US" sz="1800" dirty="0">
                        <a:latin typeface="Calibri" charset="0"/>
                        <a:ea typeface="Calibri" charset="0"/>
                        <a:cs typeface="Calibri" charset="0"/>
                      </a:endParaRPr>
                    </a:p>
                  </a:txBody>
                  <a:tcPr marL="76200" marR="76200" marT="38100" marB="3810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Now, not after the workup</a:t>
                      </a:r>
                      <a:endParaRPr lang="en-US" sz="1800" dirty="0">
                        <a:latin typeface="Calibri" charset="0"/>
                        <a:ea typeface="Calibri" charset="0"/>
                        <a:cs typeface="Calibri" charset="0"/>
                      </a:endParaRPr>
                    </a:p>
                    <a:p>
                      <a:pPr algn="l" indent="0" marL="0">
                        <a:buNone/>
                      </a:pPr>
                      <a:r>
                        <a:rPr lang="en-US" sz="1800" dirty="0">
                          <a:solidFill>
                            <a:srgbClr val="000000"/>
                          </a:solidFill>
                          <a:latin typeface="Calibri" pitchFamily="34" charset="0"/>
                          <a:ea typeface="Calibri" pitchFamily="34" charset="-122"/>
                          <a:cs typeface="Calibri" pitchFamily="34" charset="-120"/>
                        </a:rPr>
                        <a:t>Transplant evaluation starts on admission</a:t>
                      </a:r>
                      <a:endParaRPr lang="en-US" sz="1800" dirty="0">
                        <a:latin typeface="Calibri" charset="0"/>
                        <a:ea typeface="Calibri" charset="0"/>
                        <a:cs typeface="Calibri" charset="0"/>
                      </a:endParaRPr>
                    </a:p>
                    <a:p>
                      <a:pPr algn="l" indent="0" marL="0">
                        <a:buNone/>
                      </a:pPr>
                      <a:r>
                        <a:rPr lang="en-US" sz="1800" dirty="0">
                          <a:solidFill>
                            <a:srgbClr val="000000"/>
                          </a:solidFill>
                          <a:latin typeface="Calibri" pitchFamily="34" charset="0"/>
                          <a:ea typeface="Calibri" pitchFamily="34" charset="-122"/>
                          <a:cs typeface="Calibri" pitchFamily="34" charset="-120"/>
                        </a:rPr>
                        <a:t>Social work and psychiatry while she can still talk</a:t>
                      </a:r>
                      <a:endParaRPr lang="en-US" sz="1800" dirty="0">
                        <a:latin typeface="Calibri" charset="0"/>
                        <a:ea typeface="Calibri" charset="0"/>
                        <a:cs typeface="Calibri" charset="0"/>
                      </a:endParaRPr>
                    </a:p>
                  </a:txBody>
                  <a:tcPr marL="76200" marR="76200" marT="38100" marB="3810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Question"/>
          <p:cNvSpPr txBox="1"/>
          <p:nvPr/>
        </p:nvSpPr>
        <p:spPr>
          <a:xfrm>
            <a:off x="822960" y="512064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highlight>
                  <a:srgbClr val="FFFF00"/>
                </a:highlight>
                <a:latin typeface="Georgia" pitchFamily="34" charset="0"/>
                <a:ea typeface="Georgia" pitchFamily="34" charset="-122"/>
                <a:cs typeface="Georgia" pitchFamily="34" charset="-120"/>
              </a:rPr>
              <a:t>All three start in the first hour</a:t>
            </a:r>
            <a:endParaRPr lang="en-US" sz="24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Which cause changes treatment right away?</a:t>
            </a:r>
            <a:endParaRPr lang="en-US" sz="30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640080" y="1188720"/>
          <a:ext cx="10911535" cy="914400"/>
        </p:xfrm>
        <a:graphic>
          <a:graphicData uri="http://schemas.openxmlformats.org/drawingml/2006/table">
            <a:tbl>
              <a:tblPr/>
              <a:tblGrid>
                <a:gridCol w="2651760"/>
                <a:gridCol w="4206240"/>
                <a:gridCol w="4050792"/>
              </a:tblGrid>
              <a:tr h="457200">
                <a:tc>
                  <a:txBody>
                    <a:bodyPr/>
                    <a:lstStyle/>
                    <a:p>
                      <a:pPr algn="l" indent="0" marL="0">
                        <a:buNone/>
                      </a:pPr>
                      <a:r>
                        <a:rPr lang="en-US" sz="1400" b="1" dirty="0">
                          <a:solidFill>
                            <a:srgbClr val="000000"/>
                          </a:solidFill>
                          <a:latin typeface="Calibri" pitchFamily="34" charset="0"/>
                          <a:ea typeface="Calibri" pitchFamily="34" charset="-122"/>
                          <a:cs typeface="Calibri" pitchFamily="34" charset="-120"/>
                        </a:rPr>
                        <a:t>If you suspect</a:t>
                      </a: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400" b="1" dirty="0">
                          <a:solidFill>
                            <a:srgbClr val="000000"/>
                          </a:solidFill>
                          <a:latin typeface="Calibri" pitchFamily="34" charset="0"/>
                          <a:ea typeface="Calibri" pitchFamily="34" charset="-122"/>
                          <a:cs typeface="Calibri" pitchFamily="34" charset="-120"/>
                        </a:rPr>
                        <a:t>Send</a:t>
                      </a: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400" b="1" dirty="0">
                          <a:solidFill>
                            <a:srgbClr val="000000"/>
                          </a:solidFill>
                          <a:latin typeface="Calibri" pitchFamily="34" charset="0"/>
                          <a:ea typeface="Calibri" pitchFamily="34" charset="-122"/>
                          <a:cs typeface="Calibri" pitchFamily="34" charset="-120"/>
                        </a:rPr>
                        <a:t>Don't wait for the result to</a:t>
                      </a: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457200">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Acetaminophen</a:t>
                      </a: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Level, ingestion history, combination products</a:t>
                      </a: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Herpes simplex</a:t>
                      </a: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HSV PCR (blood)</a:t>
                      </a: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Hepatitis B</a:t>
                      </a: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HBsAg, anti-HBc IgM, HBV DNA</a:t>
                      </a: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Autoimmune hepatitis</a:t>
                      </a: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ANA, ASMA, IgG (can be negative)</a:t>
                      </a: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Wilson disease</a:t>
                      </a: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Ceruloplasmin, urine copper, hemolysis, low ALP</a:t>
                      </a: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Pregnancy (AFLP, HELLP)</a:t>
                      </a: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hCG</a:t>
                      </a: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Budd-Chiari</a:t>
                      </a: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Doppler ultrasound or CT</a:t>
                      </a: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Ischemic hepatitis</a:t>
                      </a: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Echo, history of shock</a:t>
                      </a: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Mushrooms (Amanita)</a:t>
                      </a: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Wild mushrooms, then diarrhea 6 to 24 hours later</a:t>
                      </a: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Update 2022 [PMID: 36001996]; practical update 2024 [PMID: 39170946]; EASL AIH 2025 [PMID: 40348684]</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Which cause changes treatment right away?</a:t>
            </a:r>
            <a:endParaRPr lang="en-US" sz="3000" dirty="0"/>
          </a:p>
        </p:txBody>
      </p:sp>
      <p:graphicFrame>
        <p:nvGraphicFramePr>
          <p:cNvPr id="19" name="Table"/>
          <p:cNvGraphicFramePr>
            <a:graphicFrameLocks noGrp="1"/>
          </p:cNvGraphicFramePr>
          <p:nvPr>
            <p:extLst>
              <p:ext uri="{D42A27DB-BD31-4B8C-83A1-F6EECF244321}">
                <p14:modId xmlns:p14="http://schemas.microsoft.com/office/powerpoint/2010/main" val="1579011935"/>
              </p:ext>
            </p:extLst>
          </p:nvPr>
        </p:nvGraphicFramePr>
        <p:xfrm>
          <a:off x="640080" y="1188720"/>
          <a:ext cx="10911535" cy="914400"/>
        </p:xfrm>
        <a:graphic>
          <a:graphicData uri="http://schemas.openxmlformats.org/drawingml/2006/table">
            <a:tbl>
              <a:tblPr/>
              <a:tblGrid>
                <a:gridCol w="2651760"/>
                <a:gridCol w="4206240"/>
                <a:gridCol w="4050792"/>
              </a:tblGrid>
              <a:tr h="457200">
                <a:tc>
                  <a:txBody>
                    <a:bodyPr/>
                    <a:lstStyle/>
                    <a:p>
                      <a:pPr algn="l" indent="0" marL="0">
                        <a:buNone/>
                      </a:pPr>
                      <a:r>
                        <a:rPr lang="en-US" sz="1400" b="1" dirty="0">
                          <a:solidFill>
                            <a:srgbClr val="000000"/>
                          </a:solidFill>
                          <a:latin typeface="Calibri" pitchFamily="34" charset="0"/>
                          <a:ea typeface="Calibri" pitchFamily="34" charset="-122"/>
                          <a:cs typeface="Calibri" pitchFamily="34" charset="-120"/>
                        </a:rPr>
                        <a:t>If you suspect</a:t>
                      </a: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400" b="1" dirty="0">
                          <a:solidFill>
                            <a:srgbClr val="000000"/>
                          </a:solidFill>
                          <a:latin typeface="Calibri" pitchFamily="34" charset="0"/>
                          <a:ea typeface="Calibri" pitchFamily="34" charset="-122"/>
                          <a:cs typeface="Calibri" pitchFamily="34" charset="-120"/>
                        </a:rPr>
                        <a:t>Send</a:t>
                      </a: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400" b="1" dirty="0">
                          <a:solidFill>
                            <a:srgbClr val="000000"/>
                          </a:solidFill>
                          <a:latin typeface="Calibri" pitchFamily="34" charset="0"/>
                          <a:ea typeface="Calibri" pitchFamily="34" charset="-122"/>
                          <a:cs typeface="Calibri" pitchFamily="34" charset="-120"/>
                        </a:rPr>
                        <a:t>Don't wait for the result to</a:t>
                      </a: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457200">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Acetaminophen</a:t>
                      </a: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Level, ingestion history, combination products</a:t>
                      </a: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Start NAC</a:t>
                      </a: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Herpes simplex</a:t>
                      </a: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HSV PCR (blood)</a:t>
                      </a: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Start IV acyclovir</a:t>
                      </a: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Hepatitis B</a:t>
                      </a: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HBsAg, anti-HBc IgM, HBV DNA</a:t>
                      </a: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Start entecavir or tenofovir</a:t>
                      </a: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Autoimmune hepatitis</a:t>
                      </a: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ANA, ASMA, IgG (can be negative)</a:t>
                      </a: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Discuss steroids with hepatology, list in parallel</a:t>
                      </a: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Wilson disease</a:t>
                      </a: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Ceruloplasmin, urine copper, hemolysis, low ALP</a:t>
                      </a: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Prepare for urgent transplant</a:t>
                      </a: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Pregnancy (AFLP, HELLP)</a:t>
                      </a: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hCG</a:t>
                      </a: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Call obstetrics, plan delivery</a:t>
                      </a: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Budd-Chiari</a:t>
                      </a: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Doppler ultrasound or CT</a:t>
                      </a: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Anticoagulation, discuss TIPS or transplant</a:t>
                      </a: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Ischemic hepatitis</a:t>
                      </a: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Echo, history of shock</a:t>
                      </a: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Fix the circulation</a:t>
                      </a: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Mushrooms (Amanita)</a:t>
                      </a: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Wild mushrooms, then diarrhea 6 to 24 hours later</a:t>
                      </a: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00000"/>
                          </a:solidFill>
                          <a:latin typeface="Calibri" pitchFamily="34" charset="0"/>
                          <a:ea typeface="Calibri" pitchFamily="34" charset="-122"/>
                          <a:cs typeface="Calibri" pitchFamily="34" charset="-120"/>
                        </a:rPr>
                        <a:t>NAC, call poison control (silibinin if available)</a:t>
                      </a:r>
                      <a:endParaRPr lang="en-US" sz="14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Update 2022 [PMID: 36001996]; practical update 2024 [PMID: 39170946]; EASL AIH 2025 [PMID: 40348684]</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28F, 4 days of nausea</a:t>
            </a:r>
            <a:endParaRPr lang="en-US" sz="3000" dirty="0"/>
          </a:p>
        </p:txBody>
      </p:sp>
      <p:sp>
        <p:nvSpPr>
          <p:cNvPr id="3" name="Body"/>
          <p:cNvSpPr txBox="1"/>
          <p:nvPr/>
        </p:nvSpPr>
        <p:spPr>
          <a:xfrm>
            <a:off x="640080" y="1280160"/>
            <a:ext cx="7040880" cy="1737360"/>
          </a:xfrm>
          <a:prstGeom prst="rect">
            <a:avLst/>
          </a:prstGeom>
          <a:noFill/>
          <a:ln/>
        </p:spPr>
        <p:txBody>
          <a:bodyPr wrap="square" lIns="50800" tIns="50800" rIns="50800" bIns="50800" rtlCol="0" anchor="t"/>
          <a:lstStyle/>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Roommate: "She was taking a lot of the Tylenol with codeine, plus cold medicine, for 3 days"</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Acetaminophen level: </a:t>
            </a:r>
            <a:r>
              <a:rPr lang="en-US" sz="2000" b="1" dirty="0">
                <a:solidFill>
                  <a:srgbClr val="000000"/>
                </a:solidFill>
                <a:latin typeface="Georgia" pitchFamily="34" charset="0"/>
                <a:ea typeface="Georgia" pitchFamily="34" charset="-122"/>
                <a:cs typeface="Georgia" pitchFamily="34" charset="-120"/>
              </a:rPr>
              <a:t>12 μg/mL</a:t>
            </a:r>
            <a:r>
              <a:rPr lang="en-US" sz="2000" dirty="0">
                <a:solidFill>
                  <a:srgbClr val="000000"/>
                </a:solidFill>
                <a:latin typeface="Georgia" pitchFamily="34" charset="0"/>
                <a:ea typeface="Georgia" pitchFamily="34" charset="-122"/>
                <a:cs typeface="Georgia" pitchFamily="34" charset="-120"/>
              </a:rPr>
              <a:t>, time of last dose unknown</a:t>
            </a:r>
            <a:endParaRPr lang="en-US" sz="2000" dirty="0"/>
          </a:p>
        </p:txBody>
      </p:sp>
      <p:pic>
        <p:nvPicPr>
          <p:cNvPr id="4" name="Image 0" descr="Cold and flu box listing acetaminophen">    </p:cNvPr>
          <p:cNvPicPr>
            <a:picLocks noChangeAspect="1"/>
          </p:cNvPicPr>
          <p:nvPr/>
        </p:nvPicPr>
        <p:blipFill>
          <a:blip r:embed="rId1"/>
          <a:stretch>
            <a:fillRect/>
          </a:stretch>
        </p:blipFill>
        <p:spPr>
          <a:xfrm>
            <a:off x="8042366" y="1188720"/>
            <a:ext cx="3483429" cy="1828800"/>
          </a:xfrm>
          <a:prstGeom prst="rect">
            <a:avLst/>
          </a:prstGeom>
        </p:spPr>
      </p:pic>
      <p:sp>
        <p:nvSpPr>
          <p:cNvPr id="5" name="Question"/>
          <p:cNvSpPr txBox="1"/>
          <p:nvPr/>
        </p:nvSpPr>
        <p:spPr>
          <a:xfrm>
            <a:off x="822960" y="310896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Can you use the nomogram?</a:t>
            </a:r>
            <a:endParaRPr lang="en-US" sz="24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The Rumack-Matthew nomogram</a:t>
            </a:r>
            <a:endParaRPr lang="en-US" sz="3000" dirty="0"/>
          </a:p>
        </p:txBody>
      </p:sp>
      <p:graphicFrame>
        <p:nvGraphicFramePr>
          <p:cNvPr id="3" name="Chart 0" descr=""/>
          <p:cNvGraphicFramePr/>
          <p:nvPr/>
        </p:nvGraphicFramePr>
        <p:xfrm>
          <a:off x="548640" y="1188720"/>
          <a:ext cx="6766560" cy="4937760"/>
        </p:xfrm>
        <a:graphic xmlns:a="http://schemas.openxmlformats.org/drawingml/2006/main">
          <a:graphicData uri="http://schemas.openxmlformats.org/drawingml/2006/chart">
            <c:chart xmlns:c="http://schemas.openxmlformats.org/drawingml/2006/chart" r:id="rId1"/>
          </a:graphicData>
        </a:graphic>
      </p:graphicFrame>
      <p:sp>
        <p:nvSpPr>
          <p:cNvPr id="4" name="Body"/>
          <p:cNvSpPr txBox="1"/>
          <p:nvPr/>
        </p:nvSpPr>
        <p:spPr>
          <a:xfrm>
            <a:off x="7589520" y="1280160"/>
            <a:ext cx="4206240" cy="4937760"/>
          </a:xfrm>
          <a:prstGeom prst="rect">
            <a:avLst/>
          </a:prstGeom>
          <a:noFill/>
          <a:ln/>
        </p:spPr>
        <p:txBody>
          <a:bodyPr wrap="square" lIns="50800" tIns="50800" rIns="50800" bIns="50800" rtlCol="0" anchor="t"/>
          <a:lstStyle/>
          <a:p>
            <a:pPr marL="228600" indent="-228600">
              <a:spcBef>
                <a:spcPts val="800"/>
              </a:spcBef>
              <a:buSzPct val="100000"/>
              <a:buChar char="–"/>
            </a:pPr>
            <a:r>
              <a:rPr lang="en-US" sz="1800" b="1" dirty="0">
                <a:solidFill>
                  <a:srgbClr val="000000"/>
                </a:solidFill>
                <a:highlight>
                  <a:srgbClr val="FFFF00"/>
                </a:highlight>
                <a:latin typeface="Georgia" pitchFamily="34" charset="0"/>
                <a:ea typeface="Georgia" pitchFamily="34" charset="-122"/>
                <a:cs typeface="Georgia" pitchFamily="34" charset="-120"/>
              </a:rPr>
              <a:t>One acute ingestion at a known time: it tells you when NOT to give NAC</a:t>
            </a:r>
            <a:endParaRPr lang="en-US" sz="1800" dirty="0"/>
          </a:p>
          <a:p>
            <a:pPr marL="228600" indent="-228600">
              <a:spcBef>
                <a:spcPts val="800"/>
              </a:spcBef>
              <a:buSzPct val="100000"/>
              <a:buChar char="–"/>
            </a:pPr>
            <a:r>
              <a:rPr lang="en-US" sz="1800" dirty="0">
                <a:solidFill>
                  <a:srgbClr val="000000"/>
                </a:solidFill>
                <a:latin typeface="Georgia" pitchFamily="34" charset="0"/>
                <a:ea typeface="Georgia" pitchFamily="34" charset="-122"/>
                <a:cs typeface="Georgia" pitchFamily="34" charset="-120"/>
              </a:rPr>
              <a:t>Late, repeated or unknown-time ingestion: a low level doesn't rule out liver injury</a:t>
            </a:r>
            <a:endParaRPr lang="en-US" sz="1800" dirty="0"/>
          </a:p>
          <a:p>
            <a:pPr indent="0" marL="0">
              <a:spcBef>
                <a:spcPts val="1600"/>
              </a:spcBef>
              <a:buNone/>
            </a:pPr>
            <a:r>
              <a:rPr lang="en-US" sz="1800" b="1" dirty="0">
                <a:solidFill>
                  <a:srgbClr val="000000"/>
                </a:solidFill>
                <a:latin typeface="Georgia" pitchFamily="34" charset="0"/>
                <a:ea typeface="Georgia" pitchFamily="34" charset="-122"/>
                <a:cs typeface="Georgia" pitchFamily="34" charset="-120"/>
              </a:rPr>
              <a:t>If she had taken it all at once</a:t>
            </a:r>
            <a:endParaRPr lang="en-US" sz="1800" dirty="0"/>
          </a:p>
          <a:p>
            <a:pPr marL="228600" indent="-228600">
              <a:spcBef>
                <a:spcPts val="800"/>
              </a:spcBef>
              <a:buSzPct val="100000"/>
              <a:buChar char="–"/>
            </a:pPr>
            <a:r>
              <a:rPr lang="en-US" sz="1800" dirty="0">
                <a:solidFill>
                  <a:srgbClr val="000000"/>
                </a:solidFill>
                <a:latin typeface="Georgia" pitchFamily="34" charset="0"/>
                <a:ea typeface="Georgia" pitchFamily="34" charset="-122"/>
                <a:cs typeface="Georgia" pitchFamily="34" charset="-120"/>
              </a:rPr>
              <a:t>8 hours: 12 is below the line, no NAC</a:t>
            </a:r>
            <a:endParaRPr lang="en-US" sz="1800" dirty="0"/>
          </a:p>
          <a:p>
            <a:pPr marL="228600" indent="-228600">
              <a:spcBef>
                <a:spcPts val="800"/>
              </a:spcBef>
              <a:buSzPct val="100000"/>
              <a:buChar char="–"/>
            </a:pPr>
            <a:r>
              <a:rPr lang="en-US" sz="1800" dirty="0">
                <a:solidFill>
                  <a:srgbClr val="000000"/>
                </a:solidFill>
                <a:latin typeface="Georgia" pitchFamily="34" charset="0"/>
                <a:ea typeface="Georgia" pitchFamily="34" charset="-122"/>
                <a:cs typeface="Georgia" pitchFamily="34" charset="-120"/>
              </a:rPr>
              <a:t>20 hours: above the line, NAC</a:t>
            </a:r>
            <a:endParaRPr lang="en-US" sz="1800" dirty="0"/>
          </a:p>
          <a:p>
            <a:pPr marL="228600" indent="-228600">
              <a:spcBef>
                <a:spcPts val="800"/>
              </a:spcBef>
              <a:buSzPct val="100000"/>
              <a:buChar char="–"/>
            </a:pPr>
            <a:r>
              <a:rPr lang="en-US" sz="1800" dirty="0">
                <a:solidFill>
                  <a:srgbClr val="000000"/>
                </a:solidFill>
                <a:latin typeface="Georgia" pitchFamily="34" charset="0"/>
                <a:ea typeface="Georgia" pitchFamily="34" charset="-122"/>
                <a:cs typeface="Georgia" pitchFamily="34" charset="-120"/>
              </a:rPr>
              <a:t>But it was 3 days of repeated doses. </a:t>
            </a:r>
            <a:r>
              <a:rPr lang="en-US" sz="1800" b="1" dirty="0">
                <a:solidFill>
                  <a:srgbClr val="000000"/>
                </a:solidFill>
                <a:latin typeface="Georgia" pitchFamily="34" charset="0"/>
                <a:ea typeface="Georgia" pitchFamily="34" charset="-122"/>
                <a:cs typeface="Georgia" pitchFamily="34" charset="-120"/>
              </a:rPr>
              <a:t>There is no time zero</a:t>
            </a:r>
            <a:r>
              <a:rPr lang="en-US" sz="1800" dirty="0">
                <a:solidFill>
                  <a:srgbClr val="000000"/>
                </a:solidFill>
                <a:latin typeface="Georgia" pitchFamily="34" charset="0"/>
                <a:ea typeface="Georgia" pitchFamily="34" charset="-122"/>
                <a:cs typeface="Georgia" pitchFamily="34" charset="-120"/>
              </a:rPr>
              <a:t>. Give NAC</a:t>
            </a:r>
            <a:endParaRPr lang="en-US" sz="18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Rumack BH, Matthew H. Pediatrics 1975; US/Canada acetaminophen consensus 2023 [PMID: 37552484]</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28F, 4 days of nausea</a:t>
            </a:r>
            <a:endParaRPr lang="en-US" sz="3000" dirty="0"/>
          </a:p>
        </p:txBody>
      </p:sp>
      <p:sp>
        <p:nvSpPr>
          <p:cNvPr id="3" name="Body"/>
          <p:cNvSpPr txBox="1"/>
          <p:nvPr/>
        </p:nvSpPr>
        <p:spPr>
          <a:xfrm>
            <a:off x="640080" y="1280160"/>
            <a:ext cx="7040880" cy="1737360"/>
          </a:xfrm>
          <a:prstGeom prst="rect">
            <a:avLst/>
          </a:prstGeom>
          <a:noFill/>
          <a:ln/>
        </p:spPr>
        <p:txBody>
          <a:bodyPr wrap="square" lIns="50800" tIns="50800" rIns="50800" bIns="50800" rtlCol="0" anchor="t"/>
          <a:lstStyle/>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Roommate: "She was taking a lot of the Tylenol with codeine, plus cold medicine, for 3 days"</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Acetaminophen level: </a:t>
            </a:r>
            <a:r>
              <a:rPr lang="en-US" sz="2000" b="1" dirty="0">
                <a:solidFill>
                  <a:srgbClr val="000000"/>
                </a:solidFill>
                <a:latin typeface="Georgia" pitchFamily="34" charset="0"/>
                <a:ea typeface="Georgia" pitchFamily="34" charset="-122"/>
                <a:cs typeface="Georgia" pitchFamily="34" charset="-120"/>
              </a:rPr>
              <a:t>12 μg/mL</a:t>
            </a:r>
            <a:r>
              <a:rPr lang="en-US" sz="2000" dirty="0">
                <a:solidFill>
                  <a:srgbClr val="000000"/>
                </a:solidFill>
                <a:latin typeface="Georgia" pitchFamily="34" charset="0"/>
                <a:ea typeface="Georgia" pitchFamily="34" charset="-122"/>
                <a:cs typeface="Georgia" pitchFamily="34" charset="-120"/>
              </a:rPr>
              <a:t>, time of last dose unknown</a:t>
            </a:r>
            <a:endParaRPr lang="en-US" sz="2000" dirty="0"/>
          </a:p>
        </p:txBody>
      </p:sp>
      <p:pic>
        <p:nvPicPr>
          <p:cNvPr id="4" name="Image 0" descr="Cold and flu box listing acetaminophen">    </p:cNvPr>
          <p:cNvPicPr>
            <a:picLocks noChangeAspect="1"/>
          </p:cNvPicPr>
          <p:nvPr/>
        </p:nvPicPr>
        <p:blipFill>
          <a:blip r:embed="rId1"/>
          <a:stretch>
            <a:fillRect/>
          </a:stretch>
        </p:blipFill>
        <p:spPr>
          <a:xfrm>
            <a:off x="8042366" y="1188720"/>
            <a:ext cx="3483429" cy="1828800"/>
          </a:xfrm>
          <a:prstGeom prst="rect">
            <a:avLst/>
          </a:prstGeom>
        </p:spPr>
      </p:pic>
      <p:sp>
        <p:nvSpPr>
          <p:cNvPr id="5" name="Question"/>
          <p:cNvSpPr txBox="1"/>
          <p:nvPr/>
        </p:nvSpPr>
        <p:spPr>
          <a:xfrm>
            <a:off x="822960" y="310896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Can you use the nomogram?</a:t>
            </a:r>
            <a:endParaRPr lang="en-US" sz="2400" dirty="0"/>
          </a:p>
        </p:txBody>
      </p:sp>
      <p:sp>
        <p:nvSpPr>
          <p:cNvPr id="6" name="Body"/>
          <p:cNvSpPr txBox="1"/>
          <p:nvPr/>
        </p:nvSpPr>
        <p:spPr>
          <a:xfrm>
            <a:off x="822960" y="3749040"/>
            <a:ext cx="10545775" cy="2377440"/>
          </a:xfrm>
          <a:prstGeom prst="rect">
            <a:avLst/>
          </a:prstGeom>
          <a:noFill/>
          <a:ln/>
        </p:spPr>
        <p:txBody>
          <a:bodyPr wrap="square" lIns="50800" tIns="50800" rIns="50800" bIns="50800" rtlCol="0" anchor="t"/>
          <a:lstStyle/>
          <a:p>
            <a:pPr marL="228600" indent="-228600">
              <a:spcBef>
                <a:spcPts val="800"/>
              </a:spcBef>
              <a:buSzPct val="100000"/>
              <a:buChar char="–"/>
            </a:pPr>
            <a:r>
              <a:rPr lang="en-US" sz="2100" b="1" dirty="0">
                <a:solidFill>
                  <a:srgbClr val="000000"/>
                </a:solidFill>
                <a:latin typeface="Georgia" pitchFamily="34" charset="0"/>
                <a:ea typeface="Georgia" pitchFamily="34" charset="-122"/>
                <a:cs typeface="Georgia" pitchFamily="34" charset="-120"/>
              </a:rPr>
              <a:t>No.</a:t>
            </a:r>
            <a:r>
              <a:rPr lang="en-US" sz="2100" dirty="0">
                <a:solidFill>
                  <a:srgbClr val="000000"/>
                </a:solidFill>
                <a:latin typeface="Georgia" pitchFamily="34" charset="0"/>
                <a:ea typeface="Georgia" pitchFamily="34" charset="-122"/>
                <a:cs typeface="Georgia" pitchFamily="34" charset="-120"/>
              </a:rPr>
              <a:t> Rumack-Matthew is for a single acute ingestion with a known time</a:t>
            </a:r>
            <a:endParaRPr lang="en-US" sz="2100" dirty="0"/>
          </a:p>
          <a:p>
            <a:pPr marL="228600" indent="-228600">
              <a:spcBef>
                <a:spcPts val="800"/>
              </a:spcBef>
              <a:buSzPct val="100000"/>
              <a:buChar char="–"/>
            </a:pPr>
            <a:r>
              <a:rPr lang="en-US" sz="2100" dirty="0">
                <a:solidFill>
                  <a:srgbClr val="000000"/>
                </a:solidFill>
                <a:latin typeface="Georgia" pitchFamily="34" charset="0"/>
                <a:ea typeface="Georgia" pitchFamily="34" charset="-122"/>
                <a:cs typeface="Georgia" pitchFamily="34" charset="-120"/>
              </a:rPr>
              <a:t>Repeated supratherapeutic use and late presentation: the level can be low or undetectable</a:t>
            </a:r>
            <a:endParaRPr lang="en-US" sz="2100" dirty="0"/>
          </a:p>
          <a:p>
            <a:pPr marL="228600" indent="-228600">
              <a:spcBef>
                <a:spcPts val="800"/>
              </a:spcBef>
              <a:buSzPct val="100000"/>
              <a:buChar char="–"/>
            </a:pPr>
            <a:r>
              <a:rPr lang="en-US" sz="2100" b="1" dirty="0">
                <a:solidFill>
                  <a:srgbClr val="000000"/>
                </a:solidFill>
                <a:highlight>
                  <a:srgbClr val="FFFF00"/>
                </a:highlight>
                <a:latin typeface="Georgia" pitchFamily="34" charset="0"/>
                <a:ea typeface="Georgia" pitchFamily="34" charset="-122"/>
                <a:cs typeface="Georgia" pitchFamily="34" charset="-120"/>
              </a:rPr>
              <a:t>Start NAC now</a:t>
            </a:r>
            <a:endParaRPr lang="en-US" sz="21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NAC for every kind of acute liver failure?</a:t>
            </a:r>
            <a:endParaRPr lang="en-US" sz="3000" dirty="0"/>
          </a:p>
        </p:txBody>
      </p:sp>
      <p:pic>
        <p:nvPicPr>
          <p:cNvPr id="3" name="Image 0" descr="Lee 2009 NAC trial: title">    </p:cNvPr>
          <p:cNvPicPr>
            <a:picLocks noChangeAspect="1"/>
          </p:cNvPicPr>
          <p:nvPr/>
        </p:nvPicPr>
        <p:blipFill>
          <a:blip r:embed="rId1"/>
          <a:stretch>
            <a:fillRect/>
          </a:stretch>
        </p:blipFill>
        <p:spPr>
          <a:xfrm>
            <a:off x="2372490" y="1097280"/>
            <a:ext cx="7446716" cy="2743200"/>
          </a:xfrm>
          <a:prstGeom prst="rect">
            <a:avLst/>
          </a:prstGeom>
        </p:spPr>
      </p:pic>
      <p:sp>
        <p:nvSpPr>
          <p:cNvPr id="4" name="Question"/>
          <p:cNvSpPr txBox="1"/>
          <p:nvPr/>
        </p:nvSpPr>
        <p:spPr>
          <a:xfrm>
            <a:off x="822960" y="438912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What do you think they found?</a:t>
            </a:r>
            <a:endParaRPr lang="en-US" sz="24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Lee WM et al. Gastroenterology 2009;137:856-64 [PMID: 19524577]</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NAC for every kind of acute liver failure?</a:t>
            </a:r>
            <a:endParaRPr lang="en-US" sz="3000" dirty="0"/>
          </a:p>
        </p:txBody>
      </p:sp>
      <p:pic>
        <p:nvPicPr>
          <p:cNvPr id="3" name="Image 0" descr="Lee 2009 NAC trial: title">    </p:cNvPr>
          <p:cNvPicPr>
            <a:picLocks noChangeAspect="1"/>
          </p:cNvPicPr>
          <p:nvPr/>
        </p:nvPicPr>
        <p:blipFill>
          <a:blip r:embed="rId1"/>
          <a:stretch>
            <a:fillRect/>
          </a:stretch>
        </p:blipFill>
        <p:spPr>
          <a:xfrm>
            <a:off x="2372490" y="1097280"/>
            <a:ext cx="7446716" cy="2743200"/>
          </a:xfrm>
          <a:prstGeom prst="rect">
            <a:avLst/>
          </a:prstGeom>
        </p:spPr>
      </p:pic>
      <p:pic>
        <p:nvPicPr>
          <p:cNvPr id="4" name="Image 1" descr="Lee 2009 NAC trial">    </p:cNvPr>
          <p:cNvPicPr>
            <a:picLocks noChangeAspect="1"/>
          </p:cNvPicPr>
          <p:nvPr/>
        </p:nvPicPr>
        <p:blipFill>
          <a:blip r:embed="rId2"/>
          <a:stretch>
            <a:fillRect/>
          </a:stretch>
        </p:blipFill>
        <p:spPr>
          <a:xfrm>
            <a:off x="1280160" y="4069080"/>
            <a:ext cx="9631375" cy="1170908"/>
          </a:xfrm>
          <a:prstGeom prst="rect">
            <a:avLst/>
          </a:prstGeom>
        </p:spPr>
      </p:pic>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Lee WM et al. Gastroenterology 2009;137:856-64 [PMID: 19524577]</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NAC for every kind of acute liver failure?</a:t>
            </a:r>
            <a:endParaRPr lang="en-US" sz="3000" dirty="0"/>
          </a:p>
        </p:txBody>
      </p:sp>
      <p:sp>
        <p:nvSpPr>
          <p:cNvPr id="3" name="Body"/>
          <p:cNvSpPr txBox="1"/>
          <p:nvPr/>
        </p:nvSpPr>
        <p:spPr>
          <a:xfrm>
            <a:off x="822960" y="1143000"/>
            <a:ext cx="10545775" cy="457200"/>
          </a:xfrm>
          <a:prstGeom prst="rect">
            <a:avLst/>
          </a:prstGeom>
          <a:noFill/>
          <a:ln/>
        </p:spPr>
        <p:txBody>
          <a:bodyPr wrap="square" lIns="50800" tIns="50800" rIns="50800" bIns="50800" rtlCol="0" anchor="t"/>
          <a:lstStyle/>
          <a:p>
            <a:pPr algn="ctr" indent="0" marL="0">
              <a:spcBef>
                <a:spcPts val="800"/>
              </a:spcBef>
              <a:buNone/>
            </a:pPr>
            <a:r>
              <a:rPr lang="en-US" sz="1900" i="1" dirty="0">
                <a:solidFill>
                  <a:srgbClr val="000000"/>
                </a:solidFill>
                <a:latin typeface="Georgia" pitchFamily="34" charset="0"/>
                <a:ea typeface="Georgia" pitchFamily="34" charset="-122"/>
                <a:cs typeface="Georgia" pitchFamily="34" charset="-120"/>
              </a:rPr>
              <a:t>Adult non-acetaminophen ALF, randomized, NAC vs placebo, 173 patients</a:t>
            </a:r>
            <a:endParaRPr lang="en-US" sz="1900" dirty="0"/>
          </a:p>
        </p:txBody>
      </p:sp>
      <p:graphicFrame>
        <p:nvGraphicFramePr>
          <p:cNvPr id="4" name="Chart 0" descr=""/>
          <p:cNvGraphicFramePr/>
          <p:nvPr/>
        </p:nvGraphicFramePr>
        <p:xfrm>
          <a:off x="640080" y="1645920"/>
          <a:ext cx="7223760" cy="374904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8138160" y="1645920"/>
          <a:ext cx="3383280" cy="3310128"/>
        </p:xfrm>
        <a:graphic xmlns:a="http://schemas.openxmlformats.org/drawingml/2006/main">
          <a:graphicData uri="http://schemas.openxmlformats.org/drawingml/2006/chart">
            <c:chart xmlns:c="http://schemas.openxmlformats.org/drawingml/2006/chart" r:id="rId2"/>
          </a:graphicData>
        </a:graphic>
      </p:graphicFrame>
      <p:sp>
        <p:nvSpPr>
          <p:cNvPr id="6" name="Body"/>
          <p:cNvSpPr txBox="1"/>
          <p:nvPr/>
        </p:nvSpPr>
        <p:spPr>
          <a:xfrm>
            <a:off x="822960" y="5532120"/>
            <a:ext cx="10545775" cy="640080"/>
          </a:xfrm>
          <a:prstGeom prst="rect">
            <a:avLst/>
          </a:prstGeom>
          <a:noFill/>
          <a:ln/>
        </p:spPr>
        <p:txBody>
          <a:bodyPr wrap="square" lIns="50800" tIns="50800" rIns="50800" bIns="50800" rtlCol="0" anchor="t"/>
          <a:lstStyle/>
          <a:p>
            <a:pPr algn="ctr" indent="0" marL="0">
              <a:spcBef>
                <a:spcPts val="800"/>
              </a:spcBef>
              <a:buNone/>
            </a:pPr>
            <a:r>
              <a:rPr lang="en-US" sz="1900" b="1" dirty="0">
                <a:solidFill>
                  <a:srgbClr val="000000"/>
                </a:solidFill>
                <a:latin typeface="Georgia" pitchFamily="34" charset="0"/>
                <a:ea typeface="Georgia" pitchFamily="34" charset="-122"/>
                <a:cs typeface="Georgia" pitchFamily="34" charset="-120"/>
              </a:rPr>
              <a:t>Reasonable in early non-acetaminophen ALF. Don't extrapolate to advanced coma, children or ACLF</a:t>
            </a:r>
            <a:endParaRPr lang="en-US" sz="1900" dirty="0"/>
          </a:p>
        </p:txBody>
      </p:sp>
      <p:sp>
        <p:nvSpPr>
          <p:cNvPr id="7"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Lee WM et al. Gastroenterology 2009 [PMID: 19524577]</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731520" y="822960"/>
            <a:ext cx="10728655" cy="1097280"/>
          </a:xfrm>
          <a:prstGeom prst="rect">
            <a:avLst/>
          </a:prstGeom>
          <a:noFill/>
          <a:ln/>
        </p:spPr>
        <p:txBody>
          <a:bodyPr wrap="square" lIns="0" tIns="0" rIns="0" bIns="0" rtlCol="0" anchor="ctr"/>
          <a:lstStyle/>
          <a:p>
            <a:pPr algn="ctr" indent="0" marL="0">
              <a:buNone/>
            </a:pPr>
            <a:r>
              <a:rPr lang="en-US" sz="4800" dirty="0">
                <a:solidFill>
                  <a:srgbClr val="000000"/>
                </a:solidFill>
                <a:latin typeface="Georgia" pitchFamily="34" charset="0"/>
                <a:ea typeface="Georgia" pitchFamily="34" charset="-122"/>
                <a:cs typeface="Georgia" pitchFamily="34" charset="-120"/>
              </a:rPr>
              <a:t>Her brain</a:t>
            </a:r>
            <a:endParaRPr lang="en-US" sz="4800" dirty="0"/>
          </a:p>
        </p:txBody>
      </p:sp>
      <p:sp>
        <p:nvSpPr>
          <p:cNvPr id="3" name="Text 1"/>
          <p:cNvSpPr txBox="1"/>
          <p:nvPr/>
        </p:nvSpPr>
        <p:spPr>
          <a:xfrm>
            <a:off x="731520" y="1920240"/>
            <a:ext cx="10728655" cy="548640"/>
          </a:xfrm>
          <a:prstGeom prst="rect">
            <a:avLst/>
          </a:prstGeom>
          <a:noFill/>
          <a:ln/>
        </p:spPr>
        <p:txBody>
          <a:bodyPr wrap="square" lIns="0" tIns="0" rIns="0" bIns="0" rtlCol="0" anchor="ctr"/>
          <a:lstStyle/>
          <a:p>
            <a:pPr algn="ctr" indent="0" marL="0">
              <a:buNone/>
            </a:pPr>
            <a:r>
              <a:rPr lang="en-US" sz="2400" dirty="0">
                <a:solidFill>
                  <a:srgbClr val="7F7F7F"/>
                </a:solidFill>
                <a:latin typeface="Georgia" pitchFamily="34" charset="0"/>
                <a:ea typeface="Georgia" pitchFamily="34" charset="-122"/>
                <a:cs typeface="Georgia" pitchFamily="34" charset="-120"/>
              </a:rPr>
              <a:t>Hour 12</a:t>
            </a:r>
            <a:endParaRPr lang="en-US" sz="2400" dirty="0"/>
          </a:p>
        </p:txBody>
      </p:sp>
      <p:pic>
        <p:nvPicPr>
          <p:cNvPr id="4" name="Image 0" descr="Alzheimer type II astrocytes">    </p:cNvPr>
          <p:cNvPicPr>
            <a:picLocks noChangeAspect="1"/>
          </p:cNvPicPr>
          <p:nvPr/>
        </p:nvPicPr>
        <p:blipFill>
          <a:blip r:embed="rId1"/>
          <a:stretch>
            <a:fillRect/>
          </a:stretch>
        </p:blipFill>
        <p:spPr>
          <a:xfrm>
            <a:off x="3992728" y="2743200"/>
            <a:ext cx="4206240" cy="3136392"/>
          </a:xfrm>
          <a:prstGeom prst="rect">
            <a:avLst/>
          </a:prstGeom>
        </p:spPr>
      </p:pic>
      <p:sp>
        <p:nvSpPr>
          <p:cNvPr id="5" name="Text 2"/>
          <p:cNvSpPr txBox="1"/>
          <p:nvPr/>
        </p:nvSpPr>
        <p:spPr>
          <a:xfrm>
            <a:off x="731520" y="5925312"/>
            <a:ext cx="10728655" cy="411480"/>
          </a:xfrm>
          <a:prstGeom prst="rect">
            <a:avLst/>
          </a:prstGeom>
          <a:noFill/>
          <a:ln/>
        </p:spPr>
        <p:txBody>
          <a:bodyPr wrap="square" lIns="0" tIns="0" rIns="0" bIns="0" rtlCol="0" anchor="ctr"/>
          <a:lstStyle/>
          <a:p>
            <a:pPr algn="ctr" indent="0" marL="0">
              <a:buNone/>
            </a:pPr>
            <a:r>
              <a:rPr lang="en-US" sz="1500" i="1" dirty="0">
                <a:solidFill>
                  <a:srgbClr val="595959"/>
                </a:solidFill>
                <a:latin typeface="Georgia" pitchFamily="34" charset="0"/>
                <a:ea typeface="Georgia" pitchFamily="34" charset="-122"/>
                <a:cs typeface="Georgia" pitchFamily="34" charset="-120"/>
              </a:rPr>
              <a:t>Alzheimer type II astrocytes: the brain adapting over months of cirrhosis. In ALF there are no months</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28F, 4 days of nausea</a:t>
            </a:r>
            <a:endParaRPr lang="en-US" sz="3000" dirty="0"/>
          </a:p>
        </p:txBody>
      </p:sp>
      <p:graphicFrame>
        <p:nvGraphicFramePr>
          <p:cNvPr id="27" name="Table"/>
          <p:cNvGraphicFramePr>
            <a:graphicFrameLocks noGrp="1"/>
          </p:cNvGraphicFramePr>
          <p:nvPr>
            <p:extLst>
              <p:ext uri="{D42A27DB-BD31-4B8C-83A1-F6EECF244321}">
                <p14:modId xmlns:p14="http://schemas.microsoft.com/office/powerpoint/2010/main" val="1579011935"/>
              </p:ext>
            </p:extLst>
          </p:nvPr>
        </p:nvGraphicFramePr>
        <p:xfrm>
          <a:off x="1371600" y="1280160"/>
          <a:ext cx="9448495" cy="914400"/>
        </p:xfrm>
        <a:graphic>
          <a:graphicData uri="http://schemas.openxmlformats.org/drawingml/2006/table">
            <a:tbl>
              <a:tblPr/>
              <a:tblGrid>
                <a:gridCol w="2743200"/>
                <a:gridCol w="2743200"/>
                <a:gridCol w="3959352"/>
              </a:tblGrid>
              <a:tr h="457200">
                <a:tc>
                  <a:txBody>
                    <a:bodyPr/>
                    <a:lstStyle/>
                    <a:p>
                      <a:pPr algn="l"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700" b="1" dirty="0">
                          <a:solidFill>
                            <a:srgbClr val="000000"/>
                          </a:solidFill>
                          <a:latin typeface="Calibri" pitchFamily="34" charset="0"/>
                          <a:ea typeface="Calibri" pitchFamily="34" charset="-122"/>
                          <a:cs typeface="Calibri" pitchFamily="34" charset="-120"/>
                        </a:rPr>
                        <a:t>Admission</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700" b="1" dirty="0">
                          <a:solidFill>
                            <a:srgbClr val="000000"/>
                          </a:solidFill>
                          <a:latin typeface="Calibri" pitchFamily="34" charset="0"/>
                          <a:ea typeface="Calibri" pitchFamily="34" charset="-122"/>
                          <a:cs typeface="Calibri" pitchFamily="34" charset="-120"/>
                        </a:rPr>
                        <a:t>Hour 12</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45720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Mental status</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Disoriented, asterixis</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b="1" dirty="0">
                          <a:solidFill>
                            <a:srgbClr val="C00000"/>
                          </a:solidFill>
                          <a:latin typeface="Calibri" pitchFamily="34" charset="0"/>
                          <a:ea typeface="Calibri" pitchFamily="34" charset="-122"/>
                          <a:cs typeface="Calibri" pitchFamily="34" charset="-120"/>
                        </a:rPr>
                        <a:t>Responds only to voice (grade III)</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5720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Ammonia (arterial)</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Not sent</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b="1" dirty="0">
                          <a:solidFill>
                            <a:srgbClr val="C00000"/>
                          </a:solidFill>
                          <a:latin typeface="Calibri" pitchFamily="34" charset="0"/>
                          <a:ea typeface="Calibri" pitchFamily="34" charset="-122"/>
                          <a:cs typeface="Calibri" pitchFamily="34" charset="-120"/>
                        </a:rPr>
                        <a:t>182 μmol/L</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5720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Urine output</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OK</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C00000"/>
                          </a:solidFill>
                          <a:latin typeface="Calibri" pitchFamily="34" charset="0"/>
                          <a:ea typeface="Calibri" pitchFamily="34" charset="-122"/>
                          <a:cs typeface="Calibri" pitchFamily="34" charset="-120"/>
                        </a:rPr>
                        <a:t>15 mL/h for 4 hours</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5720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Lactate (after 3 L)</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2.1 mmol/L</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C00000"/>
                          </a:solidFill>
                          <a:latin typeface="Calibri" pitchFamily="34" charset="0"/>
                          <a:ea typeface="Calibri" pitchFamily="34" charset="-122"/>
                          <a:cs typeface="Calibri" pitchFamily="34" charset="-120"/>
                        </a:rPr>
                        <a:t>4.6 mmol/L</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5720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Creatinine</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1.0 mg/dL</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1.3 mg/dL</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5720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Sodium</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136 mmol/L</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133 mmol/L</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5720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Glucose</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54 mg/dL</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Needs D10</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Question"/>
          <p:cNvSpPr txBox="1"/>
          <p:nvPr/>
        </p:nvSpPr>
        <p:spPr>
          <a:xfrm>
            <a:off x="822960" y="530352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What worries you most?</a:t>
            </a:r>
            <a:endParaRPr lang="en-US" sz="24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28F, 4 days of nausea</a:t>
            </a:r>
            <a:endParaRPr lang="en-US" sz="3000" dirty="0"/>
          </a:p>
        </p:txBody>
      </p:sp>
      <p:graphicFrame>
        <p:nvGraphicFramePr>
          <p:cNvPr id="28" name="Table"/>
          <p:cNvGraphicFramePr>
            <a:graphicFrameLocks noGrp="1"/>
          </p:cNvGraphicFramePr>
          <p:nvPr>
            <p:extLst>
              <p:ext uri="{D42A27DB-BD31-4B8C-83A1-F6EECF244321}">
                <p14:modId xmlns:p14="http://schemas.microsoft.com/office/powerpoint/2010/main" val="1579011935"/>
              </p:ext>
            </p:extLst>
          </p:nvPr>
        </p:nvGraphicFramePr>
        <p:xfrm>
          <a:off x="1371600" y="1280160"/>
          <a:ext cx="9448495" cy="914400"/>
        </p:xfrm>
        <a:graphic>
          <a:graphicData uri="http://schemas.openxmlformats.org/drawingml/2006/table">
            <a:tbl>
              <a:tblPr/>
              <a:tblGrid>
                <a:gridCol w="2743200"/>
                <a:gridCol w="2743200"/>
                <a:gridCol w="3959352"/>
              </a:tblGrid>
              <a:tr h="457200">
                <a:tc>
                  <a:txBody>
                    <a:bodyPr/>
                    <a:lstStyle/>
                    <a:p>
                      <a:pPr algn="l"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700" b="1" dirty="0">
                          <a:solidFill>
                            <a:srgbClr val="000000"/>
                          </a:solidFill>
                          <a:latin typeface="Calibri" pitchFamily="34" charset="0"/>
                          <a:ea typeface="Calibri" pitchFamily="34" charset="-122"/>
                          <a:cs typeface="Calibri" pitchFamily="34" charset="-120"/>
                        </a:rPr>
                        <a:t>Admission</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700" b="1" dirty="0">
                          <a:solidFill>
                            <a:srgbClr val="000000"/>
                          </a:solidFill>
                          <a:latin typeface="Calibri" pitchFamily="34" charset="0"/>
                          <a:ea typeface="Calibri" pitchFamily="34" charset="-122"/>
                          <a:cs typeface="Calibri" pitchFamily="34" charset="-120"/>
                        </a:rPr>
                        <a:t>Hour 12</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45720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Mental status</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Disoriented, asterixis</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b="1" dirty="0">
                          <a:solidFill>
                            <a:srgbClr val="C00000"/>
                          </a:solidFill>
                          <a:latin typeface="Calibri" pitchFamily="34" charset="0"/>
                          <a:ea typeface="Calibri" pitchFamily="34" charset="-122"/>
                          <a:cs typeface="Calibri" pitchFamily="34" charset="-120"/>
                        </a:rPr>
                        <a:t>Responds only to voice (grade III)</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5720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Ammonia (arterial)</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Not sent</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b="1" dirty="0">
                          <a:solidFill>
                            <a:srgbClr val="C00000"/>
                          </a:solidFill>
                          <a:latin typeface="Calibri" pitchFamily="34" charset="0"/>
                          <a:ea typeface="Calibri" pitchFamily="34" charset="-122"/>
                          <a:cs typeface="Calibri" pitchFamily="34" charset="-120"/>
                        </a:rPr>
                        <a:t>182 μmol/L</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5720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Urine output</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OK</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C00000"/>
                          </a:solidFill>
                          <a:latin typeface="Calibri" pitchFamily="34" charset="0"/>
                          <a:ea typeface="Calibri" pitchFamily="34" charset="-122"/>
                          <a:cs typeface="Calibri" pitchFamily="34" charset="-120"/>
                        </a:rPr>
                        <a:t>15 mL/h for 4 hours</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5720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Lactate (after 3 L)</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2.1 mmol/L</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C00000"/>
                          </a:solidFill>
                          <a:latin typeface="Calibri" pitchFamily="34" charset="0"/>
                          <a:ea typeface="Calibri" pitchFamily="34" charset="-122"/>
                          <a:cs typeface="Calibri" pitchFamily="34" charset="-120"/>
                        </a:rPr>
                        <a:t>4.6 mmol/L</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5720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Creatinine</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1.0 mg/dL</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1.3 mg/dL</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5720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Sodium</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136 mmol/L</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133 mmol/L</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5720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Glucose</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54 mg/dL</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Needs D10</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Question"/>
          <p:cNvSpPr txBox="1"/>
          <p:nvPr/>
        </p:nvSpPr>
        <p:spPr>
          <a:xfrm>
            <a:off x="822960" y="5074920"/>
            <a:ext cx="10545775" cy="548640"/>
          </a:xfrm>
          <a:prstGeom prst="rect">
            <a:avLst/>
          </a:prstGeom>
          <a:noFill/>
          <a:ln/>
        </p:spPr>
        <p:txBody>
          <a:bodyPr wrap="square" lIns="0" tIns="0" rIns="0" bIns="0" rtlCol="0" anchor="ctr"/>
          <a:lstStyle/>
          <a:p>
            <a:pPr algn="ctr" indent="0" marL="0">
              <a:buNone/>
            </a:pPr>
            <a:r>
              <a:rPr lang="en-US" sz="2600" b="1" dirty="0">
                <a:solidFill>
                  <a:srgbClr val="000000"/>
                </a:solidFill>
                <a:highlight>
                  <a:srgbClr val="FFFF00"/>
                </a:highlight>
                <a:latin typeface="Georgia" pitchFamily="34" charset="0"/>
                <a:ea typeface="Georgia" pitchFamily="34" charset="-122"/>
                <a:cs typeface="Georgia" pitchFamily="34" charset="-120"/>
              </a:rPr>
              <a:t>Her brain</a:t>
            </a:r>
            <a:endParaRPr lang="en-US" sz="2600" dirty="0"/>
          </a:p>
        </p:txBody>
      </p:sp>
      <p:sp>
        <p:nvSpPr>
          <p:cNvPr id="5" name="Body"/>
          <p:cNvSpPr txBox="1"/>
          <p:nvPr/>
        </p:nvSpPr>
        <p:spPr>
          <a:xfrm>
            <a:off x="822960" y="5577840"/>
            <a:ext cx="10545775" cy="548640"/>
          </a:xfrm>
          <a:prstGeom prst="rect">
            <a:avLst/>
          </a:prstGeom>
          <a:noFill/>
          <a:ln/>
        </p:spPr>
        <p:txBody>
          <a:bodyPr wrap="square" lIns="50800" tIns="50800" rIns="50800" bIns="50800" rtlCol="0" anchor="t"/>
          <a:lstStyle/>
          <a:p>
            <a:pPr algn="ctr" indent="0" marL="0">
              <a:spcBef>
                <a:spcPts val="800"/>
              </a:spcBef>
              <a:buNone/>
            </a:pPr>
            <a:r>
              <a:rPr lang="en-US" sz="2000" i="1" dirty="0">
                <a:solidFill>
                  <a:srgbClr val="000000"/>
                </a:solidFill>
                <a:latin typeface="Georgia" pitchFamily="34" charset="0"/>
                <a:ea typeface="Georgia" pitchFamily="34" charset="-122"/>
                <a:cs typeface="Georgia" pitchFamily="34" charset="-120"/>
              </a:rPr>
              <a:t>When do you intubate?  Do you wait for the creatinine before dialysis?</a:t>
            </a:r>
            <a:endParaRPr lang="en-US" sz="2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Why does the brain swell?</a:t>
            </a:r>
            <a:endParaRPr lang="en-US" sz="3000" dirty="0"/>
          </a:p>
        </p:txBody>
      </p:sp>
      <p:sp>
        <p:nvSpPr>
          <p:cNvPr id="3" name="Box"/>
          <p:cNvSpPr/>
          <p:nvPr/>
        </p:nvSpPr>
        <p:spPr>
          <a:xfrm>
            <a:off x="731520" y="1371600"/>
            <a:ext cx="2743200" cy="777240"/>
          </a:xfrm>
          <a:prstGeom prst="rect">
            <a:avLst/>
          </a:prstGeom>
          <a:solidFill>
            <a:srgbClr val="FFFFFF"/>
          </a:solidFill>
          <a:ln w="12700">
            <a:solidFill>
              <a:srgbClr val="000000"/>
            </a:solidFill>
            <a:prstDash val="solid"/>
          </a:ln>
        </p:spPr>
      </p:sp>
      <p:sp>
        <p:nvSpPr>
          <p:cNvPr id="4" name="Text 2"/>
          <p:cNvSpPr txBox="1"/>
          <p:nvPr/>
        </p:nvSpPr>
        <p:spPr>
          <a:xfrm>
            <a:off x="731520" y="1371600"/>
            <a:ext cx="2743200" cy="777240"/>
          </a:xfrm>
          <a:prstGeom prst="rect">
            <a:avLst/>
          </a:prstGeom>
          <a:noFill/>
          <a:ln/>
        </p:spPr>
        <p:txBody>
          <a:bodyPr wrap="square" lIns="50800" tIns="50800" rIns="50800" bIns="50800" rtlCol="0" anchor="ctr"/>
          <a:lstStyle/>
          <a:p>
            <a:pPr algn="ctr" indent="0" marL="0">
              <a:buNone/>
            </a:pPr>
            <a:r>
              <a:rPr lang="en-US" sz="1600" dirty="0">
                <a:solidFill>
                  <a:srgbClr val="000000"/>
                </a:solidFill>
                <a:latin typeface="Georgia" pitchFamily="34" charset="0"/>
                <a:ea typeface="Georgia" pitchFamily="34" charset="-122"/>
                <a:cs typeface="Georgia" pitchFamily="34" charset="-120"/>
              </a:rPr>
              <a:t>Liver can't clear ammonia</a:t>
            </a:r>
            <a:endParaRPr lang="en-US" sz="1600" dirty="0"/>
          </a:p>
        </p:txBody>
      </p:sp>
      <p:sp>
        <p:nvSpPr>
          <p:cNvPr id="5" name="Box"/>
          <p:cNvSpPr/>
          <p:nvPr/>
        </p:nvSpPr>
        <p:spPr>
          <a:xfrm>
            <a:off x="4023360" y="1371600"/>
            <a:ext cx="2743200" cy="777240"/>
          </a:xfrm>
          <a:prstGeom prst="rect">
            <a:avLst/>
          </a:prstGeom>
          <a:solidFill>
            <a:srgbClr val="FFFFFF"/>
          </a:solidFill>
          <a:ln w="12700">
            <a:solidFill>
              <a:srgbClr val="000000"/>
            </a:solidFill>
            <a:prstDash val="solid"/>
          </a:ln>
        </p:spPr>
      </p:sp>
      <p:sp>
        <p:nvSpPr>
          <p:cNvPr id="6" name="Text 4"/>
          <p:cNvSpPr txBox="1"/>
          <p:nvPr/>
        </p:nvSpPr>
        <p:spPr>
          <a:xfrm>
            <a:off x="4023360" y="1371600"/>
            <a:ext cx="2743200" cy="777240"/>
          </a:xfrm>
          <a:prstGeom prst="rect">
            <a:avLst/>
          </a:prstGeom>
          <a:noFill/>
          <a:ln/>
        </p:spPr>
        <p:txBody>
          <a:bodyPr wrap="square" lIns="50800" tIns="50800" rIns="50800" bIns="50800" rtlCol="0" anchor="ctr"/>
          <a:lstStyle/>
          <a:p>
            <a:pPr algn="ctr" indent="0" marL="0">
              <a:buNone/>
            </a:pPr>
            <a:r>
              <a:rPr lang="en-US" sz="1600" dirty="0">
                <a:solidFill>
                  <a:srgbClr val="000000"/>
                </a:solidFill>
                <a:latin typeface="Georgia" pitchFamily="34" charset="0"/>
                <a:ea typeface="Georgia" pitchFamily="34" charset="-122"/>
                <a:cs typeface="Georgia" pitchFamily="34" charset="-120"/>
              </a:rPr>
              <a:t>Astrocytes take up ammonia</a:t>
            </a:r>
            <a:endParaRPr lang="en-US" sz="1600" dirty="0"/>
          </a:p>
        </p:txBody>
      </p:sp>
      <p:sp>
        <p:nvSpPr>
          <p:cNvPr id="7" name="Box"/>
          <p:cNvSpPr/>
          <p:nvPr/>
        </p:nvSpPr>
        <p:spPr>
          <a:xfrm>
            <a:off x="7315200" y="1371600"/>
            <a:ext cx="3657600" cy="777240"/>
          </a:xfrm>
          <a:prstGeom prst="rect">
            <a:avLst/>
          </a:prstGeom>
          <a:solidFill>
            <a:srgbClr val="FFFFFF"/>
          </a:solidFill>
          <a:ln w="12700">
            <a:solidFill>
              <a:srgbClr val="000000"/>
            </a:solidFill>
            <a:prstDash val="solid"/>
          </a:ln>
        </p:spPr>
      </p:sp>
      <p:sp>
        <p:nvSpPr>
          <p:cNvPr id="8" name="Text 6"/>
          <p:cNvSpPr txBox="1"/>
          <p:nvPr/>
        </p:nvSpPr>
        <p:spPr>
          <a:xfrm>
            <a:off x="7315200" y="1371600"/>
            <a:ext cx="3657600" cy="777240"/>
          </a:xfrm>
          <a:prstGeom prst="rect">
            <a:avLst/>
          </a:prstGeom>
          <a:noFill/>
          <a:ln/>
        </p:spPr>
        <p:txBody>
          <a:bodyPr wrap="square" lIns="50800" tIns="50800" rIns="50800" bIns="50800" rtlCol="0" anchor="ctr"/>
          <a:lstStyle/>
          <a:p>
            <a:pPr algn="ctr" indent="0" marL="0">
              <a:buNone/>
            </a:pPr>
            <a:r>
              <a:rPr lang="en-US" sz="1600" dirty="0">
                <a:solidFill>
                  <a:srgbClr val="000000"/>
                </a:solidFill>
                <a:latin typeface="Georgia" pitchFamily="34" charset="0"/>
                <a:ea typeface="Georgia" pitchFamily="34" charset="-122"/>
                <a:cs typeface="Georgia" pitchFamily="34" charset="-120"/>
              </a:rPr>
              <a:t>Ammonia + glutamate → glutamine</a:t>
            </a:r>
            <a:endParaRPr lang="en-US" sz="1600" dirty="0"/>
          </a:p>
        </p:txBody>
      </p:sp>
      <p:sp>
        <p:nvSpPr>
          <p:cNvPr id="9" name="Arrow"/>
          <p:cNvSpPr/>
          <p:nvPr/>
        </p:nvSpPr>
        <p:spPr>
          <a:xfrm>
            <a:off x="3474720" y="1760220"/>
            <a:ext cx="548640" cy="914"/>
          </a:xfrm>
          <a:prstGeom prst="line">
            <a:avLst/>
          </a:prstGeom>
          <a:noFill/>
          <a:ln w="19050">
            <a:solidFill>
              <a:srgbClr val="000000"/>
            </a:solidFill>
            <a:prstDash val="solid"/>
            <a:tailEnd type="triangle"/>
          </a:ln>
        </p:spPr>
      </p:sp>
      <p:sp>
        <p:nvSpPr>
          <p:cNvPr id="10" name="Arrow"/>
          <p:cNvSpPr/>
          <p:nvPr/>
        </p:nvSpPr>
        <p:spPr>
          <a:xfrm>
            <a:off x="6766560" y="1760220"/>
            <a:ext cx="548640" cy="914"/>
          </a:xfrm>
          <a:prstGeom prst="line">
            <a:avLst/>
          </a:prstGeom>
          <a:noFill/>
          <a:ln w="19050">
            <a:solidFill>
              <a:srgbClr val="000000"/>
            </a:solidFill>
            <a:prstDash val="solid"/>
            <a:tailEnd type="triangle"/>
          </a:ln>
        </p:spPr>
      </p:sp>
      <p:sp>
        <p:nvSpPr>
          <p:cNvPr id="11" name="Box"/>
          <p:cNvSpPr/>
          <p:nvPr/>
        </p:nvSpPr>
        <p:spPr>
          <a:xfrm>
            <a:off x="7315200" y="2743200"/>
            <a:ext cx="3657600" cy="777240"/>
          </a:xfrm>
          <a:prstGeom prst="rect">
            <a:avLst/>
          </a:prstGeom>
          <a:solidFill>
            <a:srgbClr val="FFFFFF"/>
          </a:solidFill>
          <a:ln w="12700">
            <a:solidFill>
              <a:srgbClr val="000000"/>
            </a:solidFill>
            <a:prstDash val="solid"/>
          </a:ln>
        </p:spPr>
      </p:sp>
      <p:sp>
        <p:nvSpPr>
          <p:cNvPr id="12" name="Text 10"/>
          <p:cNvSpPr txBox="1"/>
          <p:nvPr/>
        </p:nvSpPr>
        <p:spPr>
          <a:xfrm>
            <a:off x="7315200" y="2743200"/>
            <a:ext cx="3657600" cy="777240"/>
          </a:xfrm>
          <a:prstGeom prst="rect">
            <a:avLst/>
          </a:prstGeom>
          <a:noFill/>
          <a:ln/>
        </p:spPr>
        <p:txBody>
          <a:bodyPr wrap="square" lIns="50800" tIns="50800" rIns="50800" bIns="50800" rtlCol="0" anchor="ctr"/>
          <a:lstStyle/>
          <a:p>
            <a:pPr algn="ctr" indent="0" marL="0">
              <a:buNone/>
            </a:pPr>
            <a:r>
              <a:rPr lang="en-US" sz="1600" dirty="0">
                <a:solidFill>
                  <a:srgbClr val="000000"/>
                </a:solidFill>
                <a:latin typeface="Georgia" pitchFamily="34" charset="0"/>
                <a:ea typeface="Georgia" pitchFamily="34" charset="-122"/>
                <a:cs typeface="Georgia" pitchFamily="34" charset="-120"/>
              </a:rPr>
              <a:t>Glutamine pulls in water, mitochondria fail</a:t>
            </a:r>
            <a:endParaRPr lang="en-US" sz="1600" dirty="0"/>
          </a:p>
        </p:txBody>
      </p:sp>
      <p:sp>
        <p:nvSpPr>
          <p:cNvPr id="13" name="Arrow"/>
          <p:cNvSpPr/>
          <p:nvPr/>
        </p:nvSpPr>
        <p:spPr>
          <a:xfrm>
            <a:off x="9144000" y="2148840"/>
            <a:ext cx="914" cy="594360"/>
          </a:xfrm>
          <a:prstGeom prst="line">
            <a:avLst/>
          </a:prstGeom>
          <a:noFill/>
          <a:ln w="19050">
            <a:solidFill>
              <a:srgbClr val="000000"/>
            </a:solidFill>
            <a:prstDash val="solid"/>
            <a:tailEnd type="triangle"/>
          </a:ln>
        </p:spPr>
      </p:sp>
      <p:sp>
        <p:nvSpPr>
          <p:cNvPr id="14" name="Box"/>
          <p:cNvSpPr/>
          <p:nvPr/>
        </p:nvSpPr>
        <p:spPr>
          <a:xfrm>
            <a:off x="4023360" y="2743200"/>
            <a:ext cx="2743200" cy="777240"/>
          </a:xfrm>
          <a:prstGeom prst="rect">
            <a:avLst/>
          </a:prstGeom>
          <a:solidFill>
            <a:srgbClr val="FFFFFF"/>
          </a:solidFill>
          <a:ln w="12700">
            <a:solidFill>
              <a:srgbClr val="000000"/>
            </a:solidFill>
            <a:prstDash val="solid"/>
          </a:ln>
        </p:spPr>
      </p:sp>
      <p:sp>
        <p:nvSpPr>
          <p:cNvPr id="15" name="Text 13"/>
          <p:cNvSpPr txBox="1"/>
          <p:nvPr/>
        </p:nvSpPr>
        <p:spPr>
          <a:xfrm>
            <a:off x="4023360" y="2743200"/>
            <a:ext cx="2743200" cy="777240"/>
          </a:xfrm>
          <a:prstGeom prst="rect">
            <a:avLst/>
          </a:prstGeom>
          <a:noFill/>
          <a:ln/>
        </p:spPr>
        <p:txBody>
          <a:bodyPr wrap="square" lIns="50800" tIns="50800" rIns="50800" bIns="50800" rtlCol="0" anchor="ctr"/>
          <a:lstStyle/>
          <a:p>
            <a:pPr algn="ctr" indent="0" marL="0">
              <a:buNone/>
            </a:pPr>
            <a:r>
              <a:rPr lang="en-US" sz="1600" b="1" dirty="0">
                <a:solidFill>
                  <a:srgbClr val="000000"/>
                </a:solidFill>
                <a:latin typeface="Georgia" pitchFamily="34" charset="0"/>
                <a:ea typeface="Georgia" pitchFamily="34" charset="-122"/>
                <a:cs typeface="Georgia" pitchFamily="34" charset="-120"/>
              </a:rPr>
              <a:t>Astrocyte swelling, cerebral edema</a:t>
            </a:r>
            <a:endParaRPr lang="en-US" sz="1600" dirty="0"/>
          </a:p>
        </p:txBody>
      </p:sp>
      <p:sp>
        <p:nvSpPr>
          <p:cNvPr id="16" name="Arrow"/>
          <p:cNvSpPr/>
          <p:nvPr/>
        </p:nvSpPr>
        <p:spPr>
          <a:xfrm flipH="1">
            <a:off x="6766560" y="3131820"/>
            <a:ext cx="548640" cy="914"/>
          </a:xfrm>
          <a:prstGeom prst="line">
            <a:avLst/>
          </a:prstGeom>
          <a:noFill/>
          <a:ln w="19050">
            <a:solidFill>
              <a:srgbClr val="000000"/>
            </a:solidFill>
            <a:prstDash val="solid"/>
            <a:tailEnd type="triangle"/>
          </a:ln>
        </p:spPr>
      </p:sp>
      <p:sp>
        <p:nvSpPr>
          <p:cNvPr id="17" name="Box"/>
          <p:cNvSpPr/>
          <p:nvPr/>
        </p:nvSpPr>
        <p:spPr>
          <a:xfrm>
            <a:off x="731520" y="2743200"/>
            <a:ext cx="2743200" cy="777240"/>
          </a:xfrm>
          <a:prstGeom prst="rect">
            <a:avLst/>
          </a:prstGeom>
          <a:solidFill>
            <a:srgbClr val="FFFFFF"/>
          </a:solidFill>
          <a:ln w="12700">
            <a:solidFill>
              <a:srgbClr val="C00000"/>
            </a:solidFill>
            <a:prstDash val="solid"/>
          </a:ln>
        </p:spPr>
      </p:sp>
      <p:sp>
        <p:nvSpPr>
          <p:cNvPr id="18" name="Text 16"/>
          <p:cNvSpPr txBox="1"/>
          <p:nvPr/>
        </p:nvSpPr>
        <p:spPr>
          <a:xfrm>
            <a:off x="731520" y="2743200"/>
            <a:ext cx="2743200" cy="777240"/>
          </a:xfrm>
          <a:prstGeom prst="rect">
            <a:avLst/>
          </a:prstGeom>
          <a:noFill/>
          <a:ln/>
        </p:spPr>
        <p:txBody>
          <a:bodyPr wrap="square" lIns="50800" tIns="50800" rIns="50800" bIns="50800" rtlCol="0" anchor="ctr"/>
          <a:lstStyle/>
          <a:p>
            <a:pPr algn="ctr" indent="0" marL="0">
              <a:buNone/>
            </a:pPr>
            <a:r>
              <a:rPr lang="en-US" sz="1600" b="1" dirty="0">
                <a:solidFill>
                  <a:srgbClr val="C00000"/>
                </a:solidFill>
                <a:latin typeface="Georgia" pitchFamily="34" charset="0"/>
                <a:ea typeface="Georgia" pitchFamily="34" charset="-122"/>
                <a:cs typeface="Georgia" pitchFamily="34" charset="-120"/>
              </a:rPr>
              <a:t>Intracranial hypertension, herniation</a:t>
            </a:r>
            <a:endParaRPr lang="en-US" sz="1600" dirty="0"/>
          </a:p>
        </p:txBody>
      </p:sp>
      <p:sp>
        <p:nvSpPr>
          <p:cNvPr id="19" name="Arrow"/>
          <p:cNvSpPr/>
          <p:nvPr/>
        </p:nvSpPr>
        <p:spPr>
          <a:xfrm flipH="1">
            <a:off x="3474720" y="3131820"/>
            <a:ext cx="548640" cy="914"/>
          </a:xfrm>
          <a:prstGeom prst="line">
            <a:avLst/>
          </a:prstGeom>
          <a:noFill/>
          <a:ln w="19050">
            <a:solidFill>
              <a:srgbClr val="000000"/>
            </a:solidFill>
            <a:prstDash val="solid"/>
            <a:tailEnd type="triangle"/>
          </a:ln>
        </p:spPr>
      </p:sp>
      <p:sp>
        <p:nvSpPr>
          <p:cNvPr id="20" name="Body"/>
          <p:cNvSpPr txBox="1"/>
          <p:nvPr/>
        </p:nvSpPr>
        <p:spPr>
          <a:xfrm>
            <a:off x="822960" y="4023360"/>
            <a:ext cx="10545775" cy="2194560"/>
          </a:xfrm>
          <a:prstGeom prst="rect">
            <a:avLst/>
          </a:prstGeom>
          <a:noFill/>
          <a:ln/>
        </p:spPr>
        <p:txBody>
          <a:bodyPr wrap="square" lIns="50800" tIns="50800" rIns="50800" bIns="50800" rtlCol="0" anchor="t"/>
          <a:lstStyle/>
          <a:p>
            <a:pPr marL="228600" indent="-228600">
              <a:spcBef>
                <a:spcPts val="800"/>
              </a:spcBef>
              <a:buSzPct val="100000"/>
              <a:buChar char="–"/>
            </a:pPr>
            <a:r>
              <a:rPr lang="en-US" sz="1900" b="1" dirty="0">
                <a:solidFill>
                  <a:srgbClr val="000000"/>
                </a:solidFill>
                <a:latin typeface="Georgia" pitchFamily="34" charset="0"/>
                <a:ea typeface="Georgia" pitchFamily="34" charset="-122"/>
                <a:cs typeface="Georgia" pitchFamily="34" charset="-120"/>
              </a:rPr>
              <a:t>Makes it worse: </a:t>
            </a:r>
            <a:r>
              <a:rPr lang="en-US" sz="1900" dirty="0">
                <a:solidFill>
                  <a:srgbClr val="000000"/>
                </a:solidFill>
                <a:latin typeface="Georgia" pitchFamily="34" charset="0"/>
                <a:ea typeface="Georgia" pitchFamily="34" charset="-122"/>
                <a:cs typeface="Georgia" pitchFamily="34" charset="-120"/>
              </a:rPr>
              <a:t>inflammation and infection, loss of autoregulation, fever, low sodium, high CO2</a:t>
            </a:r>
            <a:endParaRPr lang="en-US" sz="1900" dirty="0"/>
          </a:p>
          <a:p>
            <a:pPr marL="228600" indent="-228600">
              <a:spcBef>
                <a:spcPts val="800"/>
              </a:spcBef>
              <a:buSzPct val="100000"/>
              <a:buChar char="–"/>
            </a:pPr>
            <a:r>
              <a:rPr lang="en-US" sz="1900" b="1" dirty="0">
                <a:solidFill>
                  <a:srgbClr val="000000"/>
                </a:solidFill>
                <a:latin typeface="Georgia" pitchFamily="34" charset="0"/>
                <a:ea typeface="Georgia" pitchFamily="34" charset="-122"/>
                <a:cs typeface="Georgia" pitchFamily="34" charset="-120"/>
              </a:rPr>
              <a:t>Highest risk: </a:t>
            </a:r>
            <a:r>
              <a:rPr lang="en-US" sz="1900" dirty="0">
                <a:solidFill>
                  <a:srgbClr val="000000"/>
                </a:solidFill>
                <a:latin typeface="Georgia" pitchFamily="34" charset="0"/>
                <a:ea typeface="Georgia" pitchFamily="34" charset="-122"/>
                <a:cs typeface="Georgia" pitchFamily="34" charset="-120"/>
              </a:rPr>
              <a:t>hyperacute course, young, grade III-IV encephalopathy, ammonia persistently above 150 to 200 μmol/L, AKI, vasopressors</a:t>
            </a:r>
            <a:endParaRPr lang="en-US" sz="1900" dirty="0"/>
          </a:p>
        </p:txBody>
      </p:sp>
      <p:sp>
        <p:nvSpPr>
          <p:cNvPr id="21"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Update 2022 [PMID: 36001996]; practical update 2024 [PMID: 39170946]</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Ammonia: how high is too high?</a:t>
            </a:r>
            <a:endParaRPr lang="en-US" sz="3000" dirty="0"/>
          </a:p>
        </p:txBody>
      </p:sp>
      <p:pic>
        <p:nvPicPr>
          <p:cNvPr id="3" name="Image 0" descr="Bottle of household ammonia">    </p:cNvPr>
          <p:cNvPicPr>
            <a:picLocks noChangeAspect="1"/>
          </p:cNvPicPr>
          <p:nvPr/>
        </p:nvPicPr>
        <p:blipFill>
          <a:blip r:embed="rId1"/>
          <a:stretch>
            <a:fillRect/>
          </a:stretch>
        </p:blipFill>
        <p:spPr>
          <a:xfrm>
            <a:off x="320040" y="109728"/>
            <a:ext cx="457200" cy="1005840"/>
          </a:xfrm>
          <a:prstGeom prst="rect">
            <a:avLst/>
          </a:prstGeom>
        </p:spPr>
      </p:pic>
      <p:graphicFrame>
        <p:nvGraphicFramePr>
          <p:cNvPr id="4" name="Chart 0" descr=""/>
          <p:cNvGraphicFramePr/>
          <p:nvPr/>
        </p:nvGraphicFramePr>
        <p:xfrm>
          <a:off x="548640" y="1188720"/>
          <a:ext cx="5120640" cy="3749040"/>
        </p:xfrm>
        <a:graphic xmlns:a="http://schemas.openxmlformats.org/drawingml/2006/main">
          <a:graphicData uri="http://schemas.openxmlformats.org/drawingml/2006/chart">
            <c:chart xmlns:c="http://schemas.openxmlformats.org/drawingml/2006/chart" r:id="rId2"/>
          </a:graphicData>
        </a:graphic>
      </p:graphicFrame>
      <p:sp>
        <p:nvSpPr>
          <p:cNvPr id="5" name="Line146"/>
          <p:cNvSpPr/>
          <p:nvPr/>
        </p:nvSpPr>
        <p:spPr>
          <a:xfrm>
            <a:off x="1265530" y="2836498"/>
            <a:ext cx="4198925" cy="0"/>
          </a:xfrm>
          <a:prstGeom prst="line">
            <a:avLst/>
          </a:prstGeom>
          <a:noFill/>
          <a:ln w="19050">
            <a:solidFill>
              <a:srgbClr val="000000"/>
            </a:solidFill>
            <a:prstDash val="dash"/>
          </a:ln>
        </p:spPr>
      </p:sp>
      <p:sp>
        <p:nvSpPr>
          <p:cNvPr id="6" name="Text 2"/>
          <p:cNvSpPr txBox="1"/>
          <p:nvPr/>
        </p:nvSpPr>
        <p:spPr>
          <a:xfrm>
            <a:off x="4915814" y="2507314"/>
            <a:ext cx="548640" cy="292608"/>
          </a:xfrm>
          <a:prstGeom prst="rect">
            <a:avLst/>
          </a:prstGeom>
          <a:noFill/>
          <a:ln/>
        </p:spPr>
        <p:txBody>
          <a:bodyPr wrap="square" lIns="0" tIns="0" rIns="0" bIns="0" rtlCol="0" anchor="ctr"/>
          <a:lstStyle/>
          <a:p>
            <a:pPr algn="r" indent="0" marL="0">
              <a:buNone/>
            </a:pPr>
            <a:r>
              <a:rPr lang="en-US" sz="1400" b="1" dirty="0">
                <a:solidFill>
                  <a:srgbClr val="000000"/>
                </a:solidFill>
                <a:latin typeface="Calibri" pitchFamily="34" charset="0"/>
                <a:ea typeface="Calibri" pitchFamily="34" charset="-122"/>
                <a:cs typeface="Calibri" pitchFamily="34" charset="-120"/>
              </a:rPr>
              <a:t>146</a:t>
            </a:r>
            <a:endParaRPr lang="en-US" sz="1400" dirty="0"/>
          </a:p>
        </p:txBody>
      </p:sp>
      <p:graphicFrame>
        <p:nvGraphicFramePr>
          <p:cNvPr id="7" name="Chart 1" descr=""/>
          <p:cNvGraphicFramePr/>
          <p:nvPr/>
        </p:nvGraphicFramePr>
        <p:xfrm>
          <a:off x="6217920" y="1188720"/>
          <a:ext cx="5486400" cy="3749040"/>
        </p:xfrm>
        <a:graphic xmlns:a="http://schemas.openxmlformats.org/drawingml/2006/main">
          <a:graphicData uri="http://schemas.openxmlformats.org/drawingml/2006/chart">
            <c:chart xmlns:c="http://schemas.openxmlformats.org/drawingml/2006/chart" r:id="rId3"/>
          </a:graphicData>
        </a:graphic>
      </p:graphicFrame>
      <p:sp>
        <p:nvSpPr>
          <p:cNvPr id="8" name="Question"/>
          <p:cNvSpPr txBox="1"/>
          <p:nvPr/>
        </p:nvSpPr>
        <p:spPr>
          <a:xfrm>
            <a:off x="822960" y="512064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So what number worries you?</a:t>
            </a:r>
            <a:endParaRPr lang="en-US" sz="2400" dirty="0"/>
          </a:p>
        </p:txBody>
      </p:sp>
      <p:sp>
        <p:nvSpPr>
          <p:cNvPr id="9"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Clemmesen JO et al. Hepatology 1999 [PMID: 10051463]; Kumar R et al. Clin Gastroenterol Hepatol 2012 [PMID: 22521861]; more studies in the appendix</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Ammonia: how high is too high?</a:t>
            </a:r>
            <a:endParaRPr lang="en-US" sz="3000" dirty="0"/>
          </a:p>
        </p:txBody>
      </p:sp>
      <p:pic>
        <p:nvPicPr>
          <p:cNvPr id="3" name="Image 0" descr="Bottle of household ammonia">    </p:cNvPr>
          <p:cNvPicPr>
            <a:picLocks noChangeAspect="1"/>
          </p:cNvPicPr>
          <p:nvPr/>
        </p:nvPicPr>
        <p:blipFill>
          <a:blip r:embed="rId1"/>
          <a:stretch>
            <a:fillRect/>
          </a:stretch>
        </p:blipFill>
        <p:spPr>
          <a:xfrm>
            <a:off x="320040" y="109728"/>
            <a:ext cx="457200" cy="1005840"/>
          </a:xfrm>
          <a:prstGeom prst="rect">
            <a:avLst/>
          </a:prstGeom>
        </p:spPr>
      </p:pic>
      <p:graphicFrame>
        <p:nvGraphicFramePr>
          <p:cNvPr id="4" name="Chart 0" descr=""/>
          <p:cNvGraphicFramePr/>
          <p:nvPr/>
        </p:nvGraphicFramePr>
        <p:xfrm>
          <a:off x="548640" y="1188720"/>
          <a:ext cx="5120640" cy="3749040"/>
        </p:xfrm>
        <a:graphic xmlns:a="http://schemas.openxmlformats.org/drawingml/2006/main">
          <a:graphicData uri="http://schemas.openxmlformats.org/drawingml/2006/chart">
            <c:chart xmlns:c="http://schemas.openxmlformats.org/drawingml/2006/chart" r:id="rId2"/>
          </a:graphicData>
        </a:graphic>
      </p:graphicFrame>
      <p:sp>
        <p:nvSpPr>
          <p:cNvPr id="5" name="Line146"/>
          <p:cNvSpPr/>
          <p:nvPr/>
        </p:nvSpPr>
        <p:spPr>
          <a:xfrm>
            <a:off x="1265530" y="2836498"/>
            <a:ext cx="4198925" cy="0"/>
          </a:xfrm>
          <a:prstGeom prst="line">
            <a:avLst/>
          </a:prstGeom>
          <a:noFill/>
          <a:ln w="19050">
            <a:solidFill>
              <a:srgbClr val="000000"/>
            </a:solidFill>
            <a:prstDash val="dash"/>
          </a:ln>
        </p:spPr>
      </p:sp>
      <p:sp>
        <p:nvSpPr>
          <p:cNvPr id="6" name="Text 2"/>
          <p:cNvSpPr txBox="1"/>
          <p:nvPr/>
        </p:nvSpPr>
        <p:spPr>
          <a:xfrm>
            <a:off x="4915814" y="2507314"/>
            <a:ext cx="548640" cy="292608"/>
          </a:xfrm>
          <a:prstGeom prst="rect">
            <a:avLst/>
          </a:prstGeom>
          <a:noFill/>
          <a:ln/>
        </p:spPr>
        <p:txBody>
          <a:bodyPr wrap="square" lIns="0" tIns="0" rIns="0" bIns="0" rtlCol="0" anchor="ctr"/>
          <a:lstStyle/>
          <a:p>
            <a:pPr algn="r" indent="0" marL="0">
              <a:buNone/>
            </a:pPr>
            <a:r>
              <a:rPr lang="en-US" sz="1400" b="1" dirty="0">
                <a:solidFill>
                  <a:srgbClr val="000000"/>
                </a:solidFill>
                <a:latin typeface="Calibri" pitchFamily="34" charset="0"/>
                <a:ea typeface="Calibri" pitchFamily="34" charset="-122"/>
                <a:cs typeface="Calibri" pitchFamily="34" charset="-120"/>
              </a:rPr>
              <a:t>146</a:t>
            </a:r>
            <a:endParaRPr lang="en-US" sz="1400" dirty="0"/>
          </a:p>
        </p:txBody>
      </p:sp>
      <p:graphicFrame>
        <p:nvGraphicFramePr>
          <p:cNvPr id="7" name="Chart 1" descr=""/>
          <p:cNvGraphicFramePr/>
          <p:nvPr/>
        </p:nvGraphicFramePr>
        <p:xfrm>
          <a:off x="6217920" y="1188720"/>
          <a:ext cx="5486400" cy="3749040"/>
        </p:xfrm>
        <a:graphic xmlns:a="http://schemas.openxmlformats.org/drawingml/2006/main">
          <a:graphicData uri="http://schemas.openxmlformats.org/drawingml/2006/chart">
            <c:chart xmlns:c="http://schemas.openxmlformats.org/drawingml/2006/chart" r:id="rId3"/>
          </a:graphicData>
        </a:graphic>
      </p:graphicFrame>
      <p:sp>
        <p:nvSpPr>
          <p:cNvPr id="8" name="Question"/>
          <p:cNvSpPr txBox="1"/>
          <p:nvPr/>
        </p:nvSpPr>
        <p:spPr>
          <a:xfrm>
            <a:off x="822960" y="5074920"/>
            <a:ext cx="10545775" cy="548640"/>
          </a:xfrm>
          <a:prstGeom prst="rect">
            <a:avLst/>
          </a:prstGeom>
          <a:noFill/>
          <a:ln/>
        </p:spPr>
        <p:txBody>
          <a:bodyPr wrap="square" lIns="0" tIns="0" rIns="0" bIns="0" rtlCol="0" anchor="ctr"/>
          <a:lstStyle/>
          <a:p>
            <a:pPr algn="ctr" indent="0" marL="0">
              <a:buNone/>
            </a:pPr>
            <a:r>
              <a:rPr lang="en-US" sz="2200" b="1" dirty="0">
                <a:solidFill>
                  <a:srgbClr val="000000"/>
                </a:solidFill>
                <a:highlight>
                  <a:srgbClr val="FFFF00"/>
                </a:highlight>
                <a:latin typeface="Georgia" pitchFamily="34" charset="0"/>
                <a:ea typeface="Georgia" pitchFamily="34" charset="-122"/>
                <a:cs typeface="Georgia" pitchFamily="34" charset="-120"/>
              </a:rPr>
              <a:t>Above 150 to 200 and not falling: worry about the brain</a:t>
            </a:r>
            <a:endParaRPr lang="en-US" sz="2200" dirty="0"/>
          </a:p>
        </p:txBody>
      </p:sp>
      <p:sp>
        <p:nvSpPr>
          <p:cNvPr id="9" name="Body"/>
          <p:cNvSpPr txBox="1"/>
          <p:nvPr/>
        </p:nvSpPr>
        <p:spPr>
          <a:xfrm>
            <a:off x="822960" y="5577840"/>
            <a:ext cx="10545775" cy="548640"/>
          </a:xfrm>
          <a:prstGeom prst="rect">
            <a:avLst/>
          </a:prstGeom>
          <a:noFill/>
          <a:ln/>
        </p:spPr>
        <p:txBody>
          <a:bodyPr wrap="square" lIns="50800" tIns="50800" rIns="50800" bIns="50800" rtlCol="0" anchor="t"/>
          <a:lstStyle/>
          <a:p>
            <a:pPr algn="ctr" indent="0" marL="0">
              <a:spcBef>
                <a:spcPts val="800"/>
              </a:spcBef>
              <a:buNone/>
            </a:pPr>
            <a:r>
              <a:rPr lang="en-US" sz="1800" i="1" dirty="0">
                <a:solidFill>
                  <a:srgbClr val="000000"/>
                </a:solidFill>
                <a:latin typeface="Georgia" pitchFamily="34" charset="0"/>
                <a:ea typeface="Georgia" pitchFamily="34" charset="-122"/>
                <a:cs typeface="Georgia" pitchFamily="34" charset="-120"/>
              </a:rPr>
              <a:t>No single level rules ICH in or out. Read it with the HE grade and the trend</a:t>
            </a:r>
            <a:endParaRPr lang="en-US" sz="1800" dirty="0"/>
          </a:p>
        </p:txBody>
      </p:sp>
      <p:sp>
        <p:nvSpPr>
          <p:cNvPr id="10"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Clemmesen JO et al. Hepatology 1999 [PMID: 10051463]; Kumar R et al. Clin Gastroenterol Hepatol 2012 [PMID: 22521861]; more studies in the appendix</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Lactulose for her?</a:t>
            </a:r>
            <a:endParaRPr lang="en-US" sz="3000" dirty="0"/>
          </a:p>
        </p:txBody>
      </p:sp>
      <p:sp>
        <p:nvSpPr>
          <p:cNvPr id="3" name="Body"/>
          <p:cNvSpPr txBox="1"/>
          <p:nvPr/>
        </p:nvSpPr>
        <p:spPr>
          <a:xfrm>
            <a:off x="822960" y="1188720"/>
            <a:ext cx="10545775" cy="457200"/>
          </a:xfrm>
          <a:prstGeom prst="rect">
            <a:avLst/>
          </a:prstGeom>
          <a:noFill/>
          <a:ln/>
        </p:spPr>
        <p:txBody>
          <a:bodyPr wrap="square" lIns="50800" tIns="50800" rIns="50800" bIns="50800" rtlCol="0" anchor="t"/>
          <a:lstStyle/>
          <a:p>
            <a:pPr algn="ctr" indent="0" marL="0">
              <a:spcBef>
                <a:spcPts val="800"/>
              </a:spcBef>
              <a:buNone/>
            </a:pPr>
            <a:r>
              <a:rPr lang="en-US" sz="1900" i="1" dirty="0">
                <a:solidFill>
                  <a:srgbClr val="000000"/>
                </a:solidFill>
                <a:latin typeface="Georgia" pitchFamily="34" charset="0"/>
                <a:ea typeface="Georgia" pitchFamily="34" charset="-122"/>
                <a:cs typeface="Georgia" pitchFamily="34" charset="-120"/>
              </a:rPr>
              <a:t>Hour 12: ammonia 182 μmol/L, grade III. In a cirrhotic we'd already be giving it</a:t>
            </a:r>
            <a:endParaRPr lang="en-US" sz="1900" dirty="0"/>
          </a:p>
        </p:txBody>
      </p:sp>
      <p:sp>
        <p:nvSpPr>
          <p:cNvPr id="4" name="Question"/>
          <p:cNvSpPr txBox="1"/>
          <p:nvPr/>
        </p:nvSpPr>
        <p:spPr>
          <a:xfrm>
            <a:off x="822960" y="2926080"/>
            <a:ext cx="10545775" cy="548640"/>
          </a:xfrm>
          <a:prstGeom prst="rect">
            <a:avLst/>
          </a:prstGeom>
          <a:noFill/>
          <a:ln/>
        </p:spPr>
        <p:txBody>
          <a:bodyPr wrap="square" lIns="0" tIns="0" rIns="0" bIns="0" rtlCol="0" anchor="ctr"/>
          <a:lstStyle/>
          <a:p>
            <a:pPr algn="ctr" indent="0" marL="0">
              <a:buNone/>
            </a:pPr>
            <a:r>
              <a:rPr lang="en-US" sz="3400" b="1" dirty="0">
                <a:solidFill>
                  <a:srgbClr val="000000"/>
                </a:solidFill>
                <a:latin typeface="Georgia" pitchFamily="34" charset="0"/>
                <a:ea typeface="Georgia" pitchFamily="34" charset="-122"/>
                <a:cs typeface="Georgia" pitchFamily="34" charset="-120"/>
              </a:rPr>
              <a:t>Yes or no?</a:t>
            </a:r>
            <a:endParaRPr lang="en-US" sz="34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Lactulose for her?</a:t>
            </a:r>
            <a:endParaRPr lang="en-US" sz="3000" dirty="0"/>
          </a:p>
        </p:txBody>
      </p:sp>
      <p:sp>
        <p:nvSpPr>
          <p:cNvPr id="3" name="Body"/>
          <p:cNvSpPr txBox="1"/>
          <p:nvPr/>
        </p:nvSpPr>
        <p:spPr>
          <a:xfrm>
            <a:off x="822960" y="1188720"/>
            <a:ext cx="10545775" cy="457200"/>
          </a:xfrm>
          <a:prstGeom prst="rect">
            <a:avLst/>
          </a:prstGeom>
          <a:noFill/>
          <a:ln/>
        </p:spPr>
        <p:txBody>
          <a:bodyPr wrap="square" lIns="50800" tIns="50800" rIns="50800" bIns="50800" rtlCol="0" anchor="t"/>
          <a:lstStyle/>
          <a:p>
            <a:pPr algn="ctr" indent="0" marL="0">
              <a:spcBef>
                <a:spcPts val="800"/>
              </a:spcBef>
              <a:buNone/>
            </a:pPr>
            <a:r>
              <a:rPr lang="en-US" sz="1900" i="1" dirty="0">
                <a:solidFill>
                  <a:srgbClr val="000000"/>
                </a:solidFill>
                <a:latin typeface="Georgia" pitchFamily="34" charset="0"/>
                <a:ea typeface="Georgia" pitchFamily="34" charset="-122"/>
                <a:cs typeface="Georgia" pitchFamily="34" charset="-120"/>
              </a:rPr>
              <a:t>Hour 12: ammonia 182 μmol/L, grade III. In a cirrhotic we'd already be giving it</a:t>
            </a:r>
            <a:endParaRPr lang="en-US" sz="1900" dirty="0"/>
          </a:p>
        </p:txBody>
      </p:sp>
      <p:graphicFrame>
        <p:nvGraphicFramePr>
          <p:cNvPr id="33" name="Table"/>
          <p:cNvGraphicFramePr>
            <a:graphicFrameLocks noGrp="1"/>
          </p:cNvGraphicFramePr>
          <p:nvPr>
            <p:extLst>
              <p:ext uri="{D42A27DB-BD31-4B8C-83A1-F6EECF244321}">
                <p14:modId xmlns:p14="http://schemas.microsoft.com/office/powerpoint/2010/main" val="1579011935"/>
              </p:ext>
            </p:extLst>
          </p:nvPr>
        </p:nvGraphicFramePr>
        <p:xfrm>
          <a:off x="731520" y="1828800"/>
          <a:ext cx="10728655" cy="914400"/>
        </p:xfrm>
        <a:graphic>
          <a:graphicData uri="http://schemas.openxmlformats.org/drawingml/2006/table">
            <a:tbl>
              <a:tblPr/>
              <a:tblGrid>
                <a:gridCol w="4572000"/>
                <a:gridCol w="6153912"/>
              </a:tblGrid>
              <a:tr h="457200">
                <a:tc>
                  <a:txBody>
                    <a:bodyPr/>
                    <a:lstStyle/>
                    <a:p>
                      <a:pPr algn="l" indent="0" marL="0">
                        <a:buNone/>
                      </a:pPr>
                      <a:r>
                        <a:rPr lang="en-US" sz="1700" b="1" dirty="0">
                          <a:solidFill>
                            <a:srgbClr val="000000"/>
                          </a:solidFill>
                          <a:latin typeface="Calibri" pitchFamily="34" charset="0"/>
                          <a:ea typeface="Calibri" pitchFamily="34" charset="-122"/>
                          <a:cs typeface="Calibri" pitchFamily="34" charset="-120"/>
                        </a:rPr>
                        <a:t>Why people give it</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700" b="1" dirty="0">
                          <a:solidFill>
                            <a:srgbClr val="000000"/>
                          </a:solidFill>
                          <a:latin typeface="Calibri" pitchFamily="34" charset="0"/>
                          <a:ea typeface="Calibri" pitchFamily="34" charset="-122"/>
                          <a:cs typeface="Calibri" pitchFamily="34" charset="-120"/>
                        </a:rPr>
                        <a:t>Why not</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86868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Ammonia drives the brain swelling</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b="1" dirty="0">
                          <a:solidFill>
                            <a:srgbClr val="000000"/>
                          </a:solidFill>
                          <a:latin typeface="Calibri" pitchFamily="34" charset="0"/>
                          <a:ea typeface="Calibri" pitchFamily="34" charset="-122"/>
                          <a:cs typeface="Calibri" pitchFamily="34" charset="-120"/>
                        </a:rPr>
                        <a:t>No proven benefit. ALFSG matched comparison: a little longer survival time, no difference in encephalopathy or outcome</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64008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It's what we do in cirrhosis</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Gas-distended bowel gets in the surgeon's way at transplant</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7724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Cheap, and the AASLD position paper allows it in early grades, short of diarrhea</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Diarrhea means free water loss and volume swings, which fight your sodium target</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640080">
                <a:tc>
                  <a:txBody>
                    <a:bodyPr/>
                    <a:lstStyle/>
                    <a:p>
                      <a:pPr algn="l"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Liquid by mouth or tube in a patient who can't protect her airway: aspiration</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5" name="Question"/>
          <p:cNvSpPr txBox="1"/>
          <p:nvPr/>
        </p:nvSpPr>
        <p:spPr>
          <a:xfrm>
            <a:off x="822960" y="5532120"/>
            <a:ext cx="10545775" cy="548640"/>
          </a:xfrm>
          <a:prstGeom prst="rect">
            <a:avLst/>
          </a:prstGeom>
          <a:noFill/>
          <a:ln/>
        </p:spPr>
        <p:txBody>
          <a:bodyPr wrap="square" lIns="0" tIns="0" rIns="0" bIns="0" rtlCol="0" anchor="ctr"/>
          <a:lstStyle/>
          <a:p>
            <a:pPr algn="ctr" indent="0" marL="0">
              <a:buNone/>
            </a:pPr>
            <a:r>
              <a:rPr lang="en-US" sz="2000" b="1" dirty="0">
                <a:solidFill>
                  <a:srgbClr val="000000"/>
                </a:solidFill>
                <a:highlight>
                  <a:srgbClr val="FFFF00"/>
                </a:highlight>
                <a:latin typeface="Georgia" pitchFamily="34" charset="0"/>
                <a:ea typeface="Georgia" pitchFamily="34" charset="-122"/>
                <a:cs typeface="Georgia" pitchFamily="34" charset="-120"/>
              </a:rPr>
              <a:t>Not for her: CRRT for the ammonia, protect the airway, keep the sodium up</a:t>
            </a:r>
            <a:endParaRPr lang="en-US" sz="2000" dirty="0"/>
          </a:p>
        </p:txBody>
      </p:sp>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AASLD position paper 2011, rec. 26; Alba L, Hay JE, Lee WM et al. J Hepatol 2002;36(Suppl 1):33 (abstract); ACG ALF 2023 [PMID: 37377263]</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When do you intubate?</a:t>
            </a:r>
            <a:endParaRPr lang="en-US" sz="3000" dirty="0"/>
          </a:p>
        </p:txBody>
      </p:sp>
      <p:sp>
        <p:nvSpPr>
          <p:cNvPr id="3" name="Body"/>
          <p:cNvSpPr txBox="1"/>
          <p:nvPr/>
        </p:nvSpPr>
        <p:spPr>
          <a:xfrm>
            <a:off x="1828800" y="1554480"/>
            <a:ext cx="8534095" cy="1828800"/>
          </a:xfrm>
          <a:prstGeom prst="rect">
            <a:avLst/>
          </a:prstGeom>
          <a:noFill/>
          <a:ln/>
        </p:spPr>
        <p:txBody>
          <a:bodyPr wrap="square" lIns="50800" tIns="50800" rIns="50800" bIns="50800" rtlCol="0" anchor="t"/>
          <a:lstStyle/>
          <a:p>
            <a:pPr marL="228600" indent="-228600">
              <a:spcBef>
                <a:spcPts val="800"/>
              </a:spcBef>
              <a:buSzPct val="100000"/>
              <a:buChar char="–"/>
            </a:pPr>
            <a:r>
              <a:rPr lang="en-US" sz="2200" dirty="0">
                <a:solidFill>
                  <a:srgbClr val="000000"/>
                </a:solidFill>
                <a:latin typeface="Georgia" pitchFamily="34" charset="0"/>
                <a:ea typeface="Georgia" pitchFamily="34" charset="-122"/>
                <a:cs typeface="Georgia" pitchFamily="34" charset="-120"/>
              </a:rPr>
              <a:t>Responds to voice, drifts off, intermittently agitated</a:t>
            </a:r>
            <a:endParaRPr lang="en-US" sz="2200" dirty="0"/>
          </a:p>
          <a:p>
            <a:pPr marL="228600" indent="-228600">
              <a:spcBef>
                <a:spcPts val="800"/>
              </a:spcBef>
              <a:buSzPct val="100000"/>
              <a:buChar char="–"/>
            </a:pPr>
            <a:r>
              <a:rPr lang="en-US" sz="2200" dirty="0">
                <a:solidFill>
                  <a:srgbClr val="000000"/>
                </a:solidFill>
                <a:latin typeface="Georgia" pitchFamily="34" charset="0"/>
                <a:ea typeface="Georgia" pitchFamily="34" charset="-122"/>
                <a:cs typeface="Georgia" pitchFamily="34" charset="-120"/>
              </a:rPr>
              <a:t>Handling secretions for now</a:t>
            </a:r>
            <a:endParaRPr lang="en-US" sz="2200" dirty="0"/>
          </a:p>
          <a:p>
            <a:pPr marL="228600" indent="-228600">
              <a:spcBef>
                <a:spcPts val="800"/>
              </a:spcBef>
              <a:buSzPct val="100000"/>
              <a:buChar char="–"/>
            </a:pPr>
            <a:r>
              <a:rPr lang="en-US" sz="2200" dirty="0">
                <a:solidFill>
                  <a:srgbClr val="000000"/>
                </a:solidFill>
                <a:latin typeface="Georgia" pitchFamily="34" charset="0"/>
                <a:ea typeface="Georgia" pitchFamily="34" charset="-122"/>
                <a:cs typeface="Georgia" pitchFamily="34" charset="-120"/>
              </a:rPr>
              <a:t>SpO2 96% on 2 L</a:t>
            </a:r>
            <a:endParaRPr lang="en-US" sz="2200" dirty="0"/>
          </a:p>
        </p:txBody>
      </p:sp>
      <p:sp>
        <p:nvSpPr>
          <p:cNvPr id="4" name="Question"/>
          <p:cNvSpPr txBox="1"/>
          <p:nvPr/>
        </p:nvSpPr>
        <p:spPr>
          <a:xfrm>
            <a:off x="822960" y="393192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Intubate now, or wait until she can't protect her airway?</a:t>
            </a:r>
            <a:endParaRPr lang="en-US" sz="24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When do you intubate?</a:t>
            </a:r>
            <a:endParaRPr lang="en-US" sz="3000" dirty="0"/>
          </a:p>
        </p:txBody>
      </p:sp>
      <p:sp>
        <p:nvSpPr>
          <p:cNvPr id="3" name="Question"/>
          <p:cNvSpPr txBox="1"/>
          <p:nvPr/>
        </p:nvSpPr>
        <p:spPr>
          <a:xfrm>
            <a:off x="822960" y="128016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highlight>
                  <a:srgbClr val="FFFF00"/>
                </a:highlight>
                <a:latin typeface="Georgia" pitchFamily="34" charset="0"/>
                <a:ea typeface="Georgia" pitchFamily="34" charset="-122"/>
                <a:cs typeface="Georgia" pitchFamily="34" charset="-120"/>
              </a:rPr>
              <a:t>Grade III-IV encephalopathy in ALF: intubate</a:t>
            </a:r>
            <a:endParaRPr lang="en-US" sz="2400" dirty="0"/>
          </a:p>
        </p:txBody>
      </p:sp>
      <p:graphicFrame>
        <p:nvGraphicFramePr>
          <p:cNvPr id="35" name="Table"/>
          <p:cNvGraphicFramePr>
            <a:graphicFrameLocks noGrp="1"/>
          </p:cNvGraphicFramePr>
          <p:nvPr>
            <p:extLst>
              <p:ext uri="{D42A27DB-BD31-4B8C-83A1-F6EECF244321}">
                <p14:modId xmlns:p14="http://schemas.microsoft.com/office/powerpoint/2010/main" val="1579011935"/>
              </p:ext>
            </p:extLst>
          </p:nvPr>
        </p:nvGraphicFramePr>
        <p:xfrm>
          <a:off x="731520" y="2103120"/>
          <a:ext cx="10728655" cy="914400"/>
        </p:xfrm>
        <a:graphic>
          <a:graphicData uri="http://schemas.openxmlformats.org/drawingml/2006/table">
            <a:tbl>
              <a:tblPr/>
              <a:tblGrid>
                <a:gridCol w="3291840"/>
                <a:gridCol w="3749040"/>
                <a:gridCol w="3685032"/>
              </a:tblGrid>
              <a:tr h="457200">
                <a:tc>
                  <a:txBody>
                    <a:bodyPr/>
                    <a:lstStyle/>
                    <a:p>
                      <a:pPr algn="l" indent="0" marL="0">
                        <a:buNone/>
                      </a:pPr>
                      <a:r>
                        <a:rPr lang="en-US" sz="1800" b="1" dirty="0">
                          <a:solidFill>
                            <a:srgbClr val="000000"/>
                          </a:solidFill>
                          <a:latin typeface="Calibri" pitchFamily="34" charset="0"/>
                          <a:ea typeface="Calibri" pitchFamily="34" charset="-122"/>
                          <a:cs typeface="Calibri" pitchFamily="34" charset="-120"/>
                        </a:rPr>
                        <a:t>Before</a:t>
                      </a:r>
                      <a:endParaRPr lang="en-US" sz="1800" dirty="0">
                        <a:latin typeface="Calibri" charset="0"/>
                        <a:ea typeface="Calibri" charset="0"/>
                        <a:cs typeface="Calibri" charset="0"/>
                      </a:endParaRPr>
                    </a:p>
                  </a:txBody>
                  <a:tcPr marL="76200" marR="76200" marT="38100" marB="3810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800" b="1" dirty="0">
                          <a:solidFill>
                            <a:srgbClr val="000000"/>
                          </a:solidFill>
                          <a:latin typeface="Calibri" pitchFamily="34" charset="0"/>
                          <a:ea typeface="Calibri" pitchFamily="34" charset="-122"/>
                          <a:cs typeface="Calibri" pitchFamily="34" charset="-120"/>
                        </a:rPr>
                        <a:t>During</a:t>
                      </a:r>
                      <a:endParaRPr lang="en-US" sz="1800" dirty="0">
                        <a:latin typeface="Calibri" charset="0"/>
                        <a:ea typeface="Calibri" charset="0"/>
                        <a:cs typeface="Calibri" charset="0"/>
                      </a:endParaRPr>
                    </a:p>
                  </a:txBody>
                  <a:tcPr marL="76200" marR="76200" marT="38100" marB="3810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800" b="1" dirty="0">
                          <a:solidFill>
                            <a:srgbClr val="000000"/>
                          </a:solidFill>
                          <a:latin typeface="Calibri" pitchFamily="34" charset="0"/>
                          <a:ea typeface="Calibri" pitchFamily="34" charset="-122"/>
                          <a:cs typeface="Calibri" pitchFamily="34" charset="-120"/>
                        </a:rPr>
                        <a:t>After</a:t>
                      </a:r>
                      <a:endParaRPr lang="en-US" sz="1800" dirty="0">
                        <a:latin typeface="Calibri" charset="0"/>
                        <a:ea typeface="Calibri" charset="0"/>
                        <a:cs typeface="Calibri" charset="0"/>
                      </a:endParaRPr>
                    </a:p>
                  </a:txBody>
                  <a:tcPr marL="76200" marR="76200" marT="38100" marB="3810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1737360">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Preoxygenate</a:t>
                      </a:r>
                      <a:endParaRPr lang="en-US" sz="1800" dirty="0">
                        <a:latin typeface="Calibri" charset="0"/>
                        <a:ea typeface="Calibri" charset="0"/>
                        <a:cs typeface="Calibri" charset="0"/>
                      </a:endParaRPr>
                    </a:p>
                    <a:p>
                      <a:pPr algn="l" indent="0" marL="0">
                        <a:buNone/>
                      </a:pPr>
                      <a:r>
                        <a:rPr lang="en-US" sz="1800" dirty="0">
                          <a:solidFill>
                            <a:srgbClr val="000000"/>
                          </a:solidFill>
                          <a:latin typeface="Calibri" pitchFamily="34" charset="0"/>
                          <a:ea typeface="Calibri" pitchFamily="34" charset="-122"/>
                          <a:cs typeface="Calibri" pitchFamily="34" charset="-120"/>
                        </a:rPr>
                        <a:t>Norepinephrine ready</a:t>
                      </a:r>
                      <a:endParaRPr lang="en-US" sz="1800" dirty="0">
                        <a:latin typeface="Calibri" charset="0"/>
                        <a:ea typeface="Calibri" charset="0"/>
                        <a:cs typeface="Calibri" charset="0"/>
                      </a:endParaRPr>
                    </a:p>
                    <a:p>
                      <a:pPr algn="l" indent="0" marL="0">
                        <a:buNone/>
                      </a:pPr>
                      <a:r>
                        <a:rPr lang="en-US" sz="1800" dirty="0">
                          <a:solidFill>
                            <a:srgbClr val="000000"/>
                          </a:solidFill>
                          <a:latin typeface="Calibri" pitchFamily="34" charset="0"/>
                          <a:ea typeface="Calibri" pitchFamily="34" charset="-122"/>
                          <a:cs typeface="Calibri" pitchFamily="34" charset="-120"/>
                        </a:rPr>
                        <a:t>Check glucose</a:t>
                      </a:r>
                      <a:endParaRPr lang="en-US" sz="1800" dirty="0">
                        <a:latin typeface="Calibri" charset="0"/>
                        <a:ea typeface="Calibri" charset="0"/>
                        <a:cs typeface="Calibri" charset="0"/>
                      </a:endParaRPr>
                    </a:p>
                    <a:p>
                      <a:pPr algn="l" indent="0" marL="0">
                        <a:buNone/>
                      </a:pPr>
                      <a:r>
                        <a:rPr lang="en-US" sz="1800" dirty="0">
                          <a:solidFill>
                            <a:srgbClr val="000000"/>
                          </a:solidFill>
                          <a:latin typeface="Calibri" pitchFamily="34" charset="0"/>
                          <a:ea typeface="Calibri" pitchFamily="34" charset="-122"/>
                          <a:cs typeface="Calibri" pitchFamily="34" charset="-120"/>
                        </a:rPr>
                        <a:t>Head of bed 30°, neck neutral</a:t>
                      </a:r>
                      <a:endParaRPr lang="en-US" sz="1800" dirty="0">
                        <a:latin typeface="Calibri" charset="0"/>
                        <a:ea typeface="Calibri" charset="0"/>
                        <a:cs typeface="Calibri" charset="0"/>
                      </a:endParaRPr>
                    </a:p>
                  </a:txBody>
                  <a:tcPr marL="76200" marR="76200" marT="38100" marB="3810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Avoid hypotension (perfusion pressure)</a:t>
                      </a:r>
                      <a:endParaRPr lang="en-US" sz="1800" dirty="0">
                        <a:latin typeface="Calibri" charset="0"/>
                        <a:ea typeface="Calibri" charset="0"/>
                        <a:cs typeface="Calibri" charset="0"/>
                      </a:endParaRPr>
                    </a:p>
                    <a:p>
                      <a:pPr algn="l" indent="0" marL="0">
                        <a:buNone/>
                      </a:pPr>
                      <a:r>
                        <a:rPr lang="en-US" sz="1800" dirty="0">
                          <a:solidFill>
                            <a:srgbClr val="000000"/>
                          </a:solidFill>
                          <a:latin typeface="Calibri" pitchFamily="34" charset="0"/>
                          <a:ea typeface="Calibri" pitchFamily="34" charset="-122"/>
                          <a:cs typeface="Calibri" pitchFamily="34" charset="-120"/>
                        </a:rPr>
                        <a:t>Avoid coughing and bucking (ICP spikes)</a:t>
                      </a:r>
                      <a:endParaRPr lang="en-US" sz="1800" dirty="0">
                        <a:latin typeface="Calibri" charset="0"/>
                        <a:ea typeface="Calibri" charset="0"/>
                        <a:cs typeface="Calibri" charset="0"/>
                      </a:endParaRPr>
                    </a:p>
                    <a:p>
                      <a:pPr algn="l" indent="0" marL="0">
                        <a:buNone/>
                      </a:pPr>
                      <a:r>
                        <a:rPr lang="en-US" sz="1800" dirty="0">
                          <a:solidFill>
                            <a:srgbClr val="000000"/>
                          </a:solidFill>
                          <a:latin typeface="Calibri" pitchFamily="34" charset="0"/>
                          <a:ea typeface="Calibri" pitchFamily="34" charset="-122"/>
                          <a:cs typeface="Calibri" pitchFamily="34" charset="-120"/>
                        </a:rPr>
                        <a:t>Most experienced operator</a:t>
                      </a:r>
                      <a:endParaRPr lang="en-US" sz="1800" dirty="0">
                        <a:latin typeface="Calibri" charset="0"/>
                        <a:ea typeface="Calibri" charset="0"/>
                        <a:cs typeface="Calibri" charset="0"/>
                      </a:endParaRPr>
                    </a:p>
                  </a:txBody>
                  <a:tcPr marL="76200" marR="76200" marT="38100" marB="3810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Propofol: short-acting, may lower ICP</a:t>
                      </a:r>
                      <a:endParaRPr lang="en-US" sz="1800" dirty="0">
                        <a:latin typeface="Calibri" charset="0"/>
                        <a:ea typeface="Calibri" charset="0"/>
                        <a:cs typeface="Calibri" charset="0"/>
                      </a:endParaRPr>
                    </a:p>
                    <a:p>
                      <a:pPr algn="l" indent="0" marL="0">
                        <a:buNone/>
                      </a:pPr>
                      <a:r>
                        <a:rPr lang="en-US" sz="1800" dirty="0">
                          <a:solidFill>
                            <a:srgbClr val="000000"/>
                          </a:solidFill>
                          <a:latin typeface="Calibri" pitchFamily="34" charset="0"/>
                          <a:ea typeface="Calibri" pitchFamily="34" charset="-122"/>
                          <a:cs typeface="Calibri" pitchFamily="34" charset="-120"/>
                        </a:rPr>
                        <a:t>Avoid long-acting benzodiazepines</a:t>
                      </a:r>
                      <a:endParaRPr lang="en-US" sz="1800" dirty="0">
                        <a:latin typeface="Calibri" charset="0"/>
                        <a:ea typeface="Calibri" charset="0"/>
                        <a:cs typeface="Calibri" charset="0"/>
                      </a:endParaRPr>
                    </a:p>
                    <a:p>
                      <a:pPr algn="l" indent="0" marL="0">
                        <a:buNone/>
                      </a:pPr>
                      <a:r>
                        <a:rPr lang="en-US" sz="1800" dirty="0">
                          <a:solidFill>
                            <a:srgbClr val="000000"/>
                          </a:solidFill>
                          <a:latin typeface="Calibri" pitchFamily="34" charset="0"/>
                          <a:ea typeface="Calibri" pitchFamily="34" charset="-122"/>
                          <a:cs typeface="Calibri" pitchFamily="34" charset="-120"/>
                        </a:rPr>
                        <a:t>Aim for normal CO2, check a gas</a:t>
                      </a:r>
                      <a:endParaRPr lang="en-US" sz="1800" dirty="0">
                        <a:latin typeface="Calibri" charset="0"/>
                        <a:ea typeface="Calibri" charset="0"/>
                        <a:cs typeface="Calibri" charset="0"/>
                      </a:endParaRPr>
                    </a:p>
                    <a:p>
                      <a:pPr algn="l" indent="0" marL="0">
                        <a:buNone/>
                      </a:pPr>
                      <a:r>
                        <a:rPr lang="en-US" sz="1800" dirty="0">
                          <a:solidFill>
                            <a:srgbClr val="000000"/>
                          </a:solidFill>
                          <a:latin typeface="Calibri" pitchFamily="34" charset="0"/>
                          <a:ea typeface="Calibri" pitchFamily="34" charset="-122"/>
                          <a:cs typeface="Calibri" pitchFamily="34" charset="-120"/>
                        </a:rPr>
                        <a:t>Sedation hides the neuro exam: check pupils</a:t>
                      </a:r>
                      <a:endParaRPr lang="en-US" sz="1800" dirty="0">
                        <a:latin typeface="Calibri" charset="0"/>
                        <a:ea typeface="Calibri" charset="0"/>
                        <a:cs typeface="Calibri" charset="0"/>
                      </a:endParaRPr>
                    </a:p>
                  </a:txBody>
                  <a:tcPr marL="76200" marR="76200" marT="38100" marB="3810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Practical update 2024 [PMID: 39170946]; ACG ALF 2023 [PMID: 37377263]; SCCM 2020 [PMID: 32058387]</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Can we use permissive hypercapnia?</a:t>
            </a:r>
            <a:endParaRPr lang="en-US" sz="3000" dirty="0"/>
          </a:p>
        </p:txBody>
      </p:sp>
      <p:sp>
        <p:nvSpPr>
          <p:cNvPr id="3" name="Body"/>
          <p:cNvSpPr txBox="1"/>
          <p:nvPr/>
        </p:nvSpPr>
        <p:spPr>
          <a:xfrm>
            <a:off x="822960" y="1188720"/>
            <a:ext cx="10545775" cy="457200"/>
          </a:xfrm>
          <a:prstGeom prst="rect">
            <a:avLst/>
          </a:prstGeom>
          <a:noFill/>
          <a:ln/>
        </p:spPr>
        <p:txBody>
          <a:bodyPr wrap="square" lIns="50800" tIns="50800" rIns="50800" bIns="50800" rtlCol="0" anchor="t"/>
          <a:lstStyle/>
          <a:p>
            <a:pPr algn="ctr" indent="0" marL="0">
              <a:spcBef>
                <a:spcPts val="800"/>
              </a:spcBef>
              <a:buNone/>
            </a:pPr>
            <a:r>
              <a:rPr lang="en-US" sz="2000" i="1" dirty="0">
                <a:solidFill>
                  <a:srgbClr val="000000"/>
                </a:solidFill>
                <a:latin typeface="Georgia" pitchFamily="34" charset="0"/>
                <a:ea typeface="Georgia" pitchFamily="34" charset="-122"/>
                <a:cs typeface="Georgia" pitchFamily="34" charset="-120"/>
              </a:rPr>
              <a:t>After intubation: bilateral infiltrates, P/F 150 on PEEP 10</a:t>
            </a:r>
            <a:endParaRPr lang="en-US" sz="2000" dirty="0"/>
          </a:p>
        </p:txBody>
      </p:sp>
      <p:sp>
        <p:nvSpPr>
          <p:cNvPr id="4" name="Question"/>
          <p:cNvSpPr txBox="1"/>
          <p:nvPr/>
        </p:nvSpPr>
        <p:spPr>
          <a:xfrm>
            <a:off x="822960" y="3017520"/>
            <a:ext cx="10545775" cy="548640"/>
          </a:xfrm>
          <a:prstGeom prst="rect">
            <a:avLst/>
          </a:prstGeom>
          <a:noFill/>
          <a:ln/>
        </p:spPr>
        <p:txBody>
          <a:bodyPr wrap="square" lIns="0" tIns="0" rIns="0" bIns="0" rtlCol="0" anchor="ctr"/>
          <a:lstStyle/>
          <a:p>
            <a:pPr algn="ctr" indent="0" marL="0">
              <a:buNone/>
            </a:pPr>
            <a:r>
              <a:rPr lang="en-US" sz="2800" b="1" dirty="0">
                <a:solidFill>
                  <a:srgbClr val="000000"/>
                </a:solidFill>
                <a:latin typeface="Georgia" pitchFamily="34" charset="0"/>
                <a:ea typeface="Georgia" pitchFamily="34" charset="-122"/>
                <a:cs typeface="Georgia" pitchFamily="34" charset="-120"/>
              </a:rPr>
              <a:t>Lung protection or brain protection?</a:t>
            </a:r>
            <a:endParaRPr lang="en-US" sz="28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Can we use permissive hypercapnia?</a:t>
            </a:r>
            <a:endParaRPr lang="en-US" sz="3000" dirty="0"/>
          </a:p>
        </p:txBody>
      </p:sp>
      <p:sp>
        <p:nvSpPr>
          <p:cNvPr id="3" name="Body"/>
          <p:cNvSpPr txBox="1"/>
          <p:nvPr/>
        </p:nvSpPr>
        <p:spPr>
          <a:xfrm>
            <a:off x="822960" y="1188720"/>
            <a:ext cx="10545775" cy="457200"/>
          </a:xfrm>
          <a:prstGeom prst="rect">
            <a:avLst/>
          </a:prstGeom>
          <a:noFill/>
          <a:ln/>
        </p:spPr>
        <p:txBody>
          <a:bodyPr wrap="square" lIns="50800" tIns="50800" rIns="50800" bIns="50800" rtlCol="0" anchor="t"/>
          <a:lstStyle/>
          <a:p>
            <a:pPr algn="ctr" indent="0" marL="0">
              <a:spcBef>
                <a:spcPts val="800"/>
              </a:spcBef>
              <a:buNone/>
            </a:pPr>
            <a:r>
              <a:rPr lang="en-US" sz="2000" i="1" dirty="0">
                <a:solidFill>
                  <a:srgbClr val="000000"/>
                </a:solidFill>
                <a:latin typeface="Georgia" pitchFamily="34" charset="0"/>
                <a:ea typeface="Georgia" pitchFamily="34" charset="-122"/>
                <a:cs typeface="Georgia" pitchFamily="34" charset="-120"/>
              </a:rPr>
              <a:t>After intubation: bilateral infiltrates, P/F 150 on PEEP 10</a:t>
            </a:r>
            <a:endParaRPr lang="en-US" sz="2000" dirty="0"/>
          </a:p>
        </p:txBody>
      </p:sp>
      <p:graphicFrame>
        <p:nvGraphicFramePr>
          <p:cNvPr id="37" name="Table"/>
          <p:cNvGraphicFramePr>
            <a:graphicFrameLocks noGrp="1"/>
          </p:cNvGraphicFramePr>
          <p:nvPr>
            <p:extLst>
              <p:ext uri="{D42A27DB-BD31-4B8C-83A1-F6EECF244321}">
                <p14:modId xmlns:p14="http://schemas.microsoft.com/office/powerpoint/2010/main" val="1579011935"/>
              </p:ext>
            </p:extLst>
          </p:nvPr>
        </p:nvGraphicFramePr>
        <p:xfrm>
          <a:off x="640080" y="1828800"/>
          <a:ext cx="10911535" cy="914400"/>
        </p:xfrm>
        <a:graphic>
          <a:graphicData uri="http://schemas.openxmlformats.org/drawingml/2006/table">
            <a:tbl>
              <a:tblPr/>
              <a:tblGrid>
                <a:gridCol w="1920240"/>
                <a:gridCol w="2651760"/>
                <a:gridCol w="3108960"/>
                <a:gridCol w="3227832"/>
              </a:tblGrid>
              <a:tr h="457200">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The lung wants</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The brain wants</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What we do</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685800">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Tidal volume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6 mL/kg predicted body weight</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Fine, but low volumes can push the CO2 up</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Do it, and raise the rate to hold the CO2</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1005840">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CO2</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Tolerate a high CO2</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High CO2 dilates vessels and raises ICP</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Aim for normal CO2. No permissive hypercapnia when ICP is a concern</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77240">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Hyperventilation</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No</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Lowers ICP briefly; if overdone or prolonged, can cause ischemia</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Only as a short rescue for herniation</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77240">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PEEP</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Recruit</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Very high pressures can impair venous return</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Set it for oxygen and blood pressure. PEEP is not forbidden</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SCCM 2020 [PMID: 32058387]; practical update 2024 [PMID: 39170946]</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CO2 and cerebral blood flow</a:t>
            </a:r>
            <a:endParaRPr lang="en-US" sz="3000" dirty="0"/>
          </a:p>
        </p:txBody>
      </p:sp>
      <p:sp>
        <p:nvSpPr>
          <p:cNvPr id="3" name="Target"/>
          <p:cNvSpPr/>
          <p:nvPr/>
        </p:nvSpPr>
        <p:spPr>
          <a:xfrm>
            <a:off x="3483864" y="1463040"/>
            <a:ext cx="603504" cy="4023360"/>
          </a:xfrm>
          <a:prstGeom prst="rect">
            <a:avLst/>
          </a:prstGeom>
          <a:solidFill>
            <a:srgbClr val="EDEDED"/>
          </a:solidFill>
          <a:ln/>
        </p:spPr>
      </p:sp>
      <p:sp>
        <p:nvSpPr>
          <p:cNvPr id="4" name="Text 2"/>
          <p:cNvSpPr txBox="1"/>
          <p:nvPr/>
        </p:nvSpPr>
        <p:spPr>
          <a:xfrm>
            <a:off x="3061411" y="1115568"/>
            <a:ext cx="1448410" cy="310896"/>
          </a:xfrm>
          <a:prstGeom prst="rect">
            <a:avLst/>
          </a:prstGeom>
          <a:noFill/>
          <a:ln/>
        </p:spPr>
        <p:txBody>
          <a:bodyPr wrap="square" lIns="0" tIns="0" rIns="0" bIns="0" rtlCol="0" anchor="ctr"/>
          <a:lstStyle/>
          <a:p>
            <a:pPr algn="ctr" indent="0" marL="0">
              <a:buNone/>
            </a:pPr>
            <a:r>
              <a:rPr lang="en-US" sz="1400" b="1" dirty="0">
                <a:solidFill>
                  <a:srgbClr val="000000"/>
                </a:solidFill>
                <a:latin typeface="Georgia" pitchFamily="34" charset="0"/>
                <a:ea typeface="Georgia" pitchFamily="34" charset="-122"/>
                <a:cs typeface="Georgia" pitchFamily="34" charset="-120"/>
              </a:rPr>
              <a:t>Aim here</a:t>
            </a:r>
            <a:endParaRPr lang="en-US" sz="1400" dirty="0"/>
          </a:p>
        </p:txBody>
      </p:sp>
      <p:sp>
        <p:nvSpPr>
          <p:cNvPr id="5" name="XAxis"/>
          <p:cNvSpPr/>
          <p:nvPr/>
        </p:nvSpPr>
        <p:spPr>
          <a:xfrm>
            <a:off x="1371600" y="5486400"/>
            <a:ext cx="6217920" cy="0"/>
          </a:xfrm>
          <a:prstGeom prst="line">
            <a:avLst/>
          </a:prstGeom>
          <a:noFill/>
          <a:ln w="15875">
            <a:solidFill>
              <a:srgbClr val="000000"/>
            </a:solidFill>
            <a:prstDash val="solid"/>
          </a:ln>
        </p:spPr>
      </p:sp>
      <p:sp>
        <p:nvSpPr>
          <p:cNvPr id="6" name="YAxis"/>
          <p:cNvSpPr/>
          <p:nvPr/>
        </p:nvSpPr>
        <p:spPr>
          <a:xfrm>
            <a:off x="1371600" y="1371600"/>
            <a:ext cx="0" cy="4114800"/>
          </a:xfrm>
          <a:prstGeom prst="line">
            <a:avLst/>
          </a:prstGeom>
          <a:noFill/>
          <a:ln w="15875">
            <a:solidFill>
              <a:srgbClr val="000000"/>
            </a:solidFill>
            <a:prstDash val="solid"/>
          </a:ln>
        </p:spPr>
      </p:sp>
      <p:sp>
        <p:nvSpPr>
          <p:cNvPr id="7" name="Shape 5"/>
          <p:cNvSpPr/>
          <p:nvPr/>
        </p:nvSpPr>
        <p:spPr>
          <a:xfrm>
            <a:off x="2578608" y="5486400"/>
            <a:ext cx="0" cy="73152"/>
          </a:xfrm>
          <a:prstGeom prst="line">
            <a:avLst/>
          </a:prstGeom>
          <a:noFill/>
          <a:ln w="12700">
            <a:solidFill>
              <a:srgbClr val="000000"/>
            </a:solidFill>
            <a:prstDash val="solid"/>
          </a:ln>
        </p:spPr>
      </p:sp>
      <p:sp>
        <p:nvSpPr>
          <p:cNvPr id="8" name="Text 6"/>
          <p:cNvSpPr txBox="1"/>
          <p:nvPr/>
        </p:nvSpPr>
        <p:spPr>
          <a:xfrm>
            <a:off x="2304288" y="5577840"/>
            <a:ext cx="548640" cy="274320"/>
          </a:xfrm>
          <a:prstGeom prst="rect">
            <a:avLst/>
          </a:prstGeom>
          <a:noFill/>
          <a:ln/>
        </p:spPr>
        <p:txBody>
          <a:bodyPr wrap="square" lIns="0" tIns="0" rIns="0" bIns="0"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20</a:t>
            </a:r>
            <a:endParaRPr lang="en-US" sz="1400" dirty="0"/>
          </a:p>
        </p:txBody>
      </p:sp>
      <p:sp>
        <p:nvSpPr>
          <p:cNvPr id="9" name="Shape 7"/>
          <p:cNvSpPr/>
          <p:nvPr/>
        </p:nvSpPr>
        <p:spPr>
          <a:xfrm>
            <a:off x="3785616" y="5486400"/>
            <a:ext cx="0" cy="73152"/>
          </a:xfrm>
          <a:prstGeom prst="line">
            <a:avLst/>
          </a:prstGeom>
          <a:noFill/>
          <a:ln w="12700">
            <a:solidFill>
              <a:srgbClr val="000000"/>
            </a:solidFill>
            <a:prstDash val="solid"/>
          </a:ln>
        </p:spPr>
      </p:sp>
      <p:sp>
        <p:nvSpPr>
          <p:cNvPr id="10" name="Text 8"/>
          <p:cNvSpPr txBox="1"/>
          <p:nvPr/>
        </p:nvSpPr>
        <p:spPr>
          <a:xfrm>
            <a:off x="3511296" y="5577840"/>
            <a:ext cx="548640" cy="274320"/>
          </a:xfrm>
          <a:prstGeom prst="rect">
            <a:avLst/>
          </a:prstGeom>
          <a:noFill/>
          <a:ln/>
        </p:spPr>
        <p:txBody>
          <a:bodyPr wrap="square" lIns="0" tIns="0" rIns="0" bIns="0"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40</a:t>
            </a:r>
            <a:endParaRPr lang="en-US" sz="1400" dirty="0"/>
          </a:p>
        </p:txBody>
      </p:sp>
      <p:sp>
        <p:nvSpPr>
          <p:cNvPr id="11" name="Shape 9"/>
          <p:cNvSpPr/>
          <p:nvPr/>
        </p:nvSpPr>
        <p:spPr>
          <a:xfrm>
            <a:off x="4992624" y="5486400"/>
            <a:ext cx="0" cy="73152"/>
          </a:xfrm>
          <a:prstGeom prst="line">
            <a:avLst/>
          </a:prstGeom>
          <a:noFill/>
          <a:ln w="12700">
            <a:solidFill>
              <a:srgbClr val="000000"/>
            </a:solidFill>
            <a:prstDash val="solid"/>
          </a:ln>
        </p:spPr>
      </p:sp>
      <p:sp>
        <p:nvSpPr>
          <p:cNvPr id="12" name="Text 10"/>
          <p:cNvSpPr txBox="1"/>
          <p:nvPr/>
        </p:nvSpPr>
        <p:spPr>
          <a:xfrm>
            <a:off x="4718304" y="5577840"/>
            <a:ext cx="548640" cy="274320"/>
          </a:xfrm>
          <a:prstGeom prst="rect">
            <a:avLst/>
          </a:prstGeom>
          <a:noFill/>
          <a:ln/>
        </p:spPr>
        <p:txBody>
          <a:bodyPr wrap="square" lIns="0" tIns="0" rIns="0" bIns="0"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60</a:t>
            </a:r>
            <a:endParaRPr lang="en-US" sz="1400" dirty="0"/>
          </a:p>
        </p:txBody>
      </p:sp>
      <p:sp>
        <p:nvSpPr>
          <p:cNvPr id="13" name="Shape 11"/>
          <p:cNvSpPr/>
          <p:nvPr/>
        </p:nvSpPr>
        <p:spPr>
          <a:xfrm>
            <a:off x="6199632" y="5486400"/>
            <a:ext cx="0" cy="73152"/>
          </a:xfrm>
          <a:prstGeom prst="line">
            <a:avLst/>
          </a:prstGeom>
          <a:noFill/>
          <a:ln w="12700">
            <a:solidFill>
              <a:srgbClr val="000000"/>
            </a:solidFill>
            <a:prstDash val="solid"/>
          </a:ln>
        </p:spPr>
      </p:sp>
      <p:sp>
        <p:nvSpPr>
          <p:cNvPr id="14" name="Text 12"/>
          <p:cNvSpPr txBox="1"/>
          <p:nvPr/>
        </p:nvSpPr>
        <p:spPr>
          <a:xfrm>
            <a:off x="5925312" y="5577840"/>
            <a:ext cx="548640" cy="274320"/>
          </a:xfrm>
          <a:prstGeom prst="rect">
            <a:avLst/>
          </a:prstGeom>
          <a:noFill/>
          <a:ln/>
        </p:spPr>
        <p:txBody>
          <a:bodyPr wrap="square" lIns="0" tIns="0" rIns="0" bIns="0"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80</a:t>
            </a:r>
            <a:endParaRPr lang="en-US" sz="1400" dirty="0"/>
          </a:p>
        </p:txBody>
      </p:sp>
      <p:sp>
        <p:nvSpPr>
          <p:cNvPr id="15" name="Shape 13"/>
          <p:cNvSpPr/>
          <p:nvPr/>
        </p:nvSpPr>
        <p:spPr>
          <a:xfrm>
            <a:off x="7406640" y="5486400"/>
            <a:ext cx="0" cy="73152"/>
          </a:xfrm>
          <a:prstGeom prst="line">
            <a:avLst/>
          </a:prstGeom>
          <a:noFill/>
          <a:ln w="12700">
            <a:solidFill>
              <a:srgbClr val="000000"/>
            </a:solidFill>
            <a:prstDash val="solid"/>
          </a:ln>
        </p:spPr>
      </p:sp>
      <p:sp>
        <p:nvSpPr>
          <p:cNvPr id="16" name="Text 14"/>
          <p:cNvSpPr txBox="1"/>
          <p:nvPr/>
        </p:nvSpPr>
        <p:spPr>
          <a:xfrm>
            <a:off x="7132320" y="5577840"/>
            <a:ext cx="548640" cy="274320"/>
          </a:xfrm>
          <a:prstGeom prst="rect">
            <a:avLst/>
          </a:prstGeom>
          <a:noFill/>
          <a:ln/>
        </p:spPr>
        <p:txBody>
          <a:bodyPr wrap="square" lIns="0" tIns="0" rIns="0" bIns="0"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100</a:t>
            </a:r>
            <a:endParaRPr lang="en-US" sz="1400" dirty="0"/>
          </a:p>
        </p:txBody>
      </p:sp>
      <p:sp>
        <p:nvSpPr>
          <p:cNvPr id="17" name="Text 15"/>
          <p:cNvSpPr txBox="1"/>
          <p:nvPr/>
        </p:nvSpPr>
        <p:spPr>
          <a:xfrm>
            <a:off x="1371600" y="5870448"/>
            <a:ext cx="6035040" cy="320040"/>
          </a:xfrm>
          <a:prstGeom prst="rect">
            <a:avLst/>
          </a:prstGeom>
          <a:noFill/>
          <a:ln/>
        </p:spPr>
        <p:txBody>
          <a:bodyPr wrap="square" lIns="0" tIns="0" rIns="0" bIns="0" rtlCol="0" anchor="ctr"/>
          <a:lstStyle/>
          <a:p>
            <a:pPr algn="ctr" indent="0" marL="0">
              <a:buNone/>
            </a:pPr>
            <a:r>
              <a:rPr lang="en-US" sz="1500" dirty="0">
                <a:solidFill>
                  <a:srgbClr val="000000"/>
                </a:solidFill>
                <a:latin typeface="Calibri" pitchFamily="34" charset="0"/>
                <a:ea typeface="Calibri" pitchFamily="34" charset="-122"/>
                <a:cs typeface="Calibri" pitchFamily="34" charset="-120"/>
              </a:rPr>
              <a:t>PaCO2 (mmHg)</a:t>
            </a:r>
            <a:endParaRPr lang="en-US" sz="1500" dirty="0"/>
          </a:p>
        </p:txBody>
      </p:sp>
      <p:sp>
        <p:nvSpPr>
          <p:cNvPr id="18" name="Text 16"/>
          <p:cNvSpPr txBox="1"/>
          <p:nvPr/>
        </p:nvSpPr>
        <p:spPr>
          <a:xfrm rot="16200000">
            <a:off x="-502920" y="3310128"/>
            <a:ext cx="3108960" cy="329184"/>
          </a:xfrm>
          <a:prstGeom prst="rect">
            <a:avLst/>
          </a:prstGeom>
          <a:noFill/>
          <a:ln/>
        </p:spPr>
        <p:txBody>
          <a:bodyPr wrap="square" lIns="0" tIns="0" rIns="0" bIns="0" rtlCol="0" anchor="ctr"/>
          <a:lstStyle/>
          <a:p>
            <a:pPr algn="ctr" indent="0" marL="0">
              <a:buNone/>
            </a:pPr>
            <a:r>
              <a:rPr lang="en-US" sz="1500" dirty="0">
                <a:solidFill>
                  <a:srgbClr val="000000"/>
                </a:solidFill>
                <a:latin typeface="Calibri" pitchFamily="34" charset="0"/>
                <a:ea typeface="Calibri" pitchFamily="34" charset="-122"/>
                <a:cs typeface="Calibri" pitchFamily="34" charset="-120"/>
              </a:rPr>
              <a:t>Cerebral blood flow</a:t>
            </a:r>
            <a:endParaRPr lang="en-US" sz="1500" dirty="0"/>
          </a:p>
        </p:txBody>
      </p:sp>
      <p:sp>
        <p:nvSpPr>
          <p:cNvPr id="19" name="CBFcurve"/>
          <p:cNvSpPr/>
          <p:nvPr/>
        </p:nvSpPr>
        <p:spPr>
          <a:xfrm>
            <a:off x="1371600" y="1965960"/>
            <a:ext cx="6035040" cy="2880360"/>
          </a:xfrm>
          <a:custGeom>
            <a:avLst/>
            <a:gdLst/>
            <a:ahLst/>
            <a:cxnLst/>
            <a:rect l="l" t="t" r="r" b="b"/>
            <a:pathLst>
              <a:path w="6035040" h="2880360">
                <a:moveTo>
                  <a:pt x="301752" y="2788920"/>
                </a:moveTo>
                <a:lnTo>
                  <a:pt x="905256" y="2743200"/>
                </a:lnTo>
                <a:cubicBezTo>
                  <a:pt x="1810512" y="2743200"/>
                  <a:pt x="4224528" y="45720"/>
                  <a:pt x="5129784" y="45720"/>
                </a:cubicBezTo>
                <a:lnTo>
                  <a:pt x="5853989" y="0"/>
                </a:lnTo>
              </a:path>
            </a:pathLst>
          </a:custGeom>
          <a:noFill/>
          <a:ln w="38100">
            <a:solidFill>
              <a:srgbClr val="000000"/>
            </a:solidFill>
            <a:prstDash val="solid"/>
          </a:ln>
        </p:spPr>
      </p:sp>
      <p:sp>
        <p:nvSpPr>
          <p:cNvPr id="20" name="Text 18"/>
          <p:cNvSpPr txBox="1"/>
          <p:nvPr/>
        </p:nvSpPr>
        <p:spPr>
          <a:xfrm>
            <a:off x="1431950" y="2926080"/>
            <a:ext cx="1828800" cy="1188720"/>
          </a:xfrm>
          <a:prstGeom prst="rect">
            <a:avLst/>
          </a:prstGeom>
          <a:noFill/>
          <a:ln/>
        </p:spPr>
        <p:txBody>
          <a:bodyPr wrap="square" lIns="0" tIns="0" rIns="0" bIns="0" rtlCol="0" anchor="b"/>
          <a:lstStyle/>
          <a:p>
            <a:pPr indent="0" marL="0">
              <a:buNone/>
            </a:pPr>
            <a:r>
              <a:rPr lang="en-US" sz="1400" dirty="0">
                <a:solidFill>
                  <a:srgbClr val="000000"/>
                </a:solidFill>
                <a:latin typeface="Georgia" pitchFamily="34" charset="0"/>
                <a:ea typeface="Georgia" pitchFamily="34" charset="-122"/>
                <a:cs typeface="Georgia" pitchFamily="34" charset="-120"/>
              </a:rPr>
              <a:t>Hyperventilation: less flow, lower ICP for a short time; too much can cause ischemia</a:t>
            </a:r>
            <a:endParaRPr lang="en-US" sz="1400" dirty="0"/>
          </a:p>
        </p:txBody>
      </p:sp>
      <p:sp>
        <p:nvSpPr>
          <p:cNvPr id="21" name="Text 19"/>
          <p:cNvSpPr txBox="1"/>
          <p:nvPr/>
        </p:nvSpPr>
        <p:spPr>
          <a:xfrm>
            <a:off x="5234026" y="3566160"/>
            <a:ext cx="2103120" cy="1188720"/>
          </a:xfrm>
          <a:prstGeom prst="rect">
            <a:avLst/>
          </a:prstGeom>
          <a:noFill/>
          <a:ln/>
        </p:spPr>
        <p:txBody>
          <a:bodyPr wrap="square" lIns="0" tIns="0" rIns="0" bIns="0" rtlCol="0" anchor="t"/>
          <a:lstStyle/>
          <a:p>
            <a:pPr indent="0" marL="0">
              <a:buNone/>
            </a:pPr>
            <a:r>
              <a:rPr lang="en-US" sz="1400" dirty="0">
                <a:solidFill>
                  <a:srgbClr val="C00000"/>
                </a:solidFill>
                <a:latin typeface="Georgia" pitchFamily="34" charset="0"/>
                <a:ea typeface="Georgia" pitchFamily="34" charset="-122"/>
                <a:cs typeface="Georgia" pitchFamily="34" charset="-120"/>
              </a:rPr>
              <a:t>Permissive hypercapnia: more flow, more blood volume, higher ICP</a:t>
            </a:r>
            <a:endParaRPr lang="en-US" sz="1400" dirty="0"/>
          </a:p>
        </p:txBody>
      </p:sp>
      <p:sp>
        <p:nvSpPr>
          <p:cNvPr id="22" name="Body"/>
          <p:cNvSpPr txBox="1"/>
          <p:nvPr/>
        </p:nvSpPr>
        <p:spPr>
          <a:xfrm>
            <a:off x="7955280" y="1463040"/>
            <a:ext cx="3840480" cy="4206240"/>
          </a:xfrm>
          <a:prstGeom prst="rect">
            <a:avLst/>
          </a:prstGeom>
          <a:noFill/>
          <a:ln/>
        </p:spPr>
        <p:txBody>
          <a:bodyPr wrap="square" lIns="50800" tIns="50800" rIns="50800" bIns="50800" rtlCol="0" anchor="t"/>
          <a:lstStyle/>
          <a:p>
            <a:pPr marL="228600" indent="-228600">
              <a:spcBef>
                <a:spcPts val="1400"/>
              </a:spcBef>
              <a:buSzPct val="100000"/>
              <a:buChar char="–"/>
            </a:pPr>
            <a:r>
              <a:rPr lang="en-US" sz="1900" dirty="0">
                <a:solidFill>
                  <a:srgbClr val="000000"/>
                </a:solidFill>
                <a:latin typeface="Georgia" pitchFamily="34" charset="0"/>
                <a:ea typeface="Georgia" pitchFamily="34" charset="-122"/>
                <a:cs typeface="Georgia" pitchFamily="34" charset="-120"/>
              </a:rPr>
              <a:t>Between about 20 and 80 mmHg, cerebral blood flow rises with PaCO2</a:t>
            </a:r>
            <a:endParaRPr lang="en-US" sz="1900" dirty="0"/>
          </a:p>
          <a:p>
            <a:pPr marL="228600" indent="-228600">
              <a:spcBef>
                <a:spcPts val="1400"/>
              </a:spcBef>
              <a:buSzPct val="100000"/>
              <a:buChar char="–"/>
            </a:pPr>
            <a:r>
              <a:rPr lang="en-US" sz="1900" dirty="0">
                <a:solidFill>
                  <a:srgbClr val="000000"/>
                </a:solidFill>
                <a:latin typeface="Georgia" pitchFamily="34" charset="0"/>
                <a:ea typeface="Georgia" pitchFamily="34" charset="-122"/>
                <a:cs typeface="Georgia" pitchFamily="34" charset="-120"/>
              </a:rPr>
              <a:t>In a swollen brain, more blood volume means a higher ICP</a:t>
            </a:r>
            <a:endParaRPr lang="en-US" sz="1900" dirty="0"/>
          </a:p>
          <a:p>
            <a:pPr marL="228600" indent="-228600">
              <a:spcBef>
                <a:spcPts val="1400"/>
              </a:spcBef>
              <a:buSzPct val="100000"/>
              <a:buChar char="–"/>
            </a:pPr>
            <a:r>
              <a:rPr lang="en-US" sz="1900" dirty="0">
                <a:solidFill>
                  <a:srgbClr val="000000"/>
                </a:solidFill>
                <a:latin typeface="Georgia" pitchFamily="34" charset="0"/>
                <a:ea typeface="Georgia" pitchFamily="34" charset="-122"/>
                <a:cs typeface="Georgia" pitchFamily="34" charset="-120"/>
              </a:rPr>
              <a:t>Keep PaCO2 normal. Hyperventilate only as a short bridge for herniation</a:t>
            </a:r>
            <a:endParaRPr lang="en-US" sz="1900" dirty="0"/>
          </a:p>
        </p:txBody>
      </p:sp>
      <p:sp>
        <p:nvSpPr>
          <p:cNvPr id="23"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Schematic, not to scale. Standard cerebral physiology</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Protecting the brain: every patient with grade III-IV</a:t>
            </a:r>
            <a:endParaRPr lang="en-US" sz="3000" dirty="0"/>
          </a:p>
        </p:txBody>
      </p:sp>
      <p:sp>
        <p:nvSpPr>
          <p:cNvPr id="3" name="Body"/>
          <p:cNvSpPr txBox="1"/>
          <p:nvPr/>
        </p:nvSpPr>
        <p:spPr>
          <a:xfrm>
            <a:off x="822960" y="1325880"/>
            <a:ext cx="7223760" cy="4937760"/>
          </a:xfrm>
          <a:prstGeom prst="rect">
            <a:avLst/>
          </a:prstGeom>
          <a:noFill/>
          <a:ln/>
        </p:spPr>
        <p:txBody>
          <a:bodyPr wrap="square" lIns="50800" tIns="50800" rIns="50800" bIns="50800" rtlCol="0" anchor="t"/>
          <a:lstStyle/>
          <a:p>
            <a:pPr marL="228600" indent="-228600">
              <a:spcBef>
                <a:spcPts val="1200"/>
              </a:spcBef>
              <a:buSzPct val="100000"/>
              <a:buChar char="–"/>
            </a:pPr>
            <a:r>
              <a:rPr lang="en-US" sz="2100" dirty="0">
                <a:solidFill>
                  <a:srgbClr val="000000"/>
                </a:solidFill>
                <a:latin typeface="Georgia" pitchFamily="34" charset="0"/>
                <a:ea typeface="Georgia" pitchFamily="34" charset="-122"/>
                <a:cs typeface="Georgia" pitchFamily="34" charset="-120"/>
              </a:rPr>
              <a:t>Head of bed 30°, neck neutral</a:t>
            </a:r>
            <a:endParaRPr lang="en-US" sz="2100" dirty="0"/>
          </a:p>
          <a:p>
            <a:pPr marL="228600" indent="-228600">
              <a:spcBef>
                <a:spcPts val="1200"/>
              </a:spcBef>
              <a:buSzPct val="100000"/>
              <a:buChar char="–"/>
            </a:pPr>
            <a:r>
              <a:rPr lang="en-US" sz="2100" dirty="0">
                <a:solidFill>
                  <a:srgbClr val="000000"/>
                </a:solidFill>
                <a:latin typeface="Georgia" pitchFamily="34" charset="0"/>
                <a:ea typeface="Georgia" pitchFamily="34" charset="-122"/>
                <a:cs typeface="Georgia" pitchFamily="34" charset="-120"/>
              </a:rPr>
              <a:t>Treat fever, avoid hypoglycemia</a:t>
            </a:r>
            <a:endParaRPr lang="en-US" sz="2100" dirty="0"/>
          </a:p>
          <a:p>
            <a:pPr marL="228600" indent="-228600">
              <a:spcBef>
                <a:spcPts val="1200"/>
              </a:spcBef>
              <a:buSzPct val="100000"/>
              <a:buChar char="–"/>
            </a:pPr>
            <a:r>
              <a:rPr lang="en-US" sz="2100" dirty="0">
                <a:solidFill>
                  <a:srgbClr val="000000"/>
                </a:solidFill>
                <a:latin typeface="Georgia" pitchFamily="34" charset="0"/>
                <a:ea typeface="Georgia" pitchFamily="34" charset="-122"/>
                <a:cs typeface="Georgia" pitchFamily="34" charset="-120"/>
              </a:rPr>
              <a:t>Sodium </a:t>
            </a:r>
            <a:r>
              <a:rPr lang="en-US" sz="2100" b="1" dirty="0">
                <a:solidFill>
                  <a:srgbClr val="000000"/>
                </a:solidFill>
                <a:latin typeface="Georgia" pitchFamily="34" charset="0"/>
                <a:ea typeface="Georgia" pitchFamily="34" charset="-122"/>
                <a:cs typeface="Georgia" pitchFamily="34" charset="-120"/>
              </a:rPr>
              <a:t>145 to 155 mmol/L</a:t>
            </a:r>
            <a:r>
              <a:rPr lang="en-US" sz="2100" dirty="0">
                <a:solidFill>
                  <a:srgbClr val="000000"/>
                </a:solidFill>
                <a:latin typeface="Georgia" pitchFamily="34" charset="0"/>
                <a:ea typeface="Georgia" pitchFamily="34" charset="-122"/>
                <a:cs typeface="Georgia" pitchFamily="34" charset="-120"/>
              </a:rPr>
              <a:t> with hypertonic saline (use your center's protocol)</a:t>
            </a:r>
            <a:endParaRPr lang="en-US" sz="2100" dirty="0"/>
          </a:p>
          <a:p>
            <a:pPr marL="228600" indent="-228600">
              <a:spcBef>
                <a:spcPts val="1200"/>
              </a:spcBef>
              <a:buSzPct val="100000"/>
              <a:buChar char="–"/>
            </a:pPr>
            <a:r>
              <a:rPr lang="en-US" sz="2100" dirty="0">
                <a:solidFill>
                  <a:srgbClr val="000000"/>
                </a:solidFill>
                <a:latin typeface="Georgia" pitchFamily="34" charset="0"/>
                <a:ea typeface="Georgia" pitchFamily="34" charset="-122"/>
                <a:cs typeface="Georgia" pitchFamily="34" charset="-120"/>
              </a:rPr>
              <a:t>Avoid fluid overload</a:t>
            </a:r>
            <a:endParaRPr lang="en-US" sz="2100" dirty="0"/>
          </a:p>
          <a:p>
            <a:pPr marL="228600" indent="-228600">
              <a:spcBef>
                <a:spcPts val="1200"/>
              </a:spcBef>
              <a:buSzPct val="100000"/>
              <a:buChar char="–"/>
            </a:pPr>
            <a:r>
              <a:rPr lang="en-US" sz="2100" dirty="0">
                <a:solidFill>
                  <a:srgbClr val="000000"/>
                </a:solidFill>
                <a:latin typeface="Georgia" pitchFamily="34" charset="0"/>
                <a:ea typeface="Georgia" pitchFamily="34" charset="-122"/>
                <a:cs typeface="Georgia" pitchFamily="34" charset="-120"/>
              </a:rPr>
              <a:t>Treat seizures, EEG if in doubt. No routine prophylaxis</a:t>
            </a:r>
            <a:endParaRPr lang="en-US" sz="2100" dirty="0"/>
          </a:p>
          <a:p>
            <a:pPr marL="228600" indent="-228600">
              <a:spcBef>
                <a:spcPts val="1200"/>
              </a:spcBef>
              <a:buSzPct val="100000"/>
              <a:buChar char="–"/>
            </a:pPr>
            <a:r>
              <a:rPr lang="en-US" sz="2100" dirty="0">
                <a:solidFill>
                  <a:srgbClr val="000000"/>
                </a:solidFill>
                <a:latin typeface="Georgia" pitchFamily="34" charset="0"/>
                <a:ea typeface="Georgia" pitchFamily="34" charset="-122"/>
                <a:cs typeface="Georgia" pitchFamily="34" charset="-120"/>
              </a:rPr>
              <a:t>No cooling: 34 °C did not prevent intracranial hypertension in an RCT</a:t>
            </a:r>
            <a:endParaRPr lang="en-US" sz="2100" dirty="0"/>
          </a:p>
        </p:txBody>
      </p:sp>
      <p:pic>
        <p:nvPicPr>
          <p:cNvPr id="4" name="Image 0" descr="Watercolor of an empty ICU bed with the head raised about 30 degrees">    </p:cNvPr>
          <p:cNvPicPr>
            <a:picLocks noChangeAspect="1"/>
          </p:cNvPicPr>
          <p:nvPr/>
        </p:nvPicPr>
        <p:blipFill>
          <a:blip r:embed="rId1"/>
          <a:stretch>
            <a:fillRect/>
          </a:stretch>
        </p:blipFill>
        <p:spPr>
          <a:xfrm>
            <a:off x="8001000" y="1371600"/>
            <a:ext cx="3840480" cy="3840480"/>
          </a:xfrm>
          <a:prstGeom prst="rect">
            <a:avLst/>
          </a:prstGeom>
        </p:spPr>
      </p:pic>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SCCM 2023 [PMID: 37052436]; update 2022 [PMID: 36001996]; Bernal W et al. J Hepatol 2016;65:273-9</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A surge: new hypertension, bradycardia or a pupil</a:t>
            </a:r>
            <a:endParaRPr lang="en-US" sz="3000" dirty="0"/>
          </a:p>
        </p:txBody>
      </p:sp>
      <p:sp>
        <p:nvSpPr>
          <p:cNvPr id="3" name="Body"/>
          <p:cNvSpPr txBox="1"/>
          <p:nvPr/>
        </p:nvSpPr>
        <p:spPr>
          <a:xfrm>
            <a:off x="640080" y="1280160"/>
            <a:ext cx="6400800" cy="4937760"/>
          </a:xfrm>
          <a:prstGeom prst="rect">
            <a:avLst/>
          </a:prstGeom>
          <a:noFill/>
          <a:ln/>
        </p:spPr>
        <p:txBody>
          <a:bodyPr wrap="square" lIns="50800" tIns="50800" rIns="50800" bIns="50800" rtlCol="0" anchor="t"/>
          <a:lstStyle/>
          <a:p>
            <a:pPr marL="228600" indent="-228600">
              <a:spcBef>
                <a:spcPts val="1000"/>
              </a:spcBef>
              <a:buSzPct val="100000"/>
              <a:buChar char="–"/>
            </a:pPr>
            <a:r>
              <a:rPr lang="en-US" sz="1900" dirty="0">
                <a:solidFill>
                  <a:srgbClr val="000000"/>
                </a:solidFill>
                <a:latin typeface="Georgia" pitchFamily="34" charset="0"/>
                <a:ea typeface="Georgia" pitchFamily="34" charset="-122"/>
                <a:cs typeface="Georgia" pitchFamily="34" charset="-120"/>
              </a:rPr>
              <a:t>Hyperosmolar bolus (hypertonic saline or mannitol)</a:t>
            </a:r>
            <a:endParaRPr lang="en-US" sz="1900" dirty="0"/>
          </a:p>
          <a:p>
            <a:pPr marL="228600" indent="-228600">
              <a:spcBef>
                <a:spcPts val="1000"/>
              </a:spcBef>
              <a:buSzPct val="100000"/>
              <a:buChar char="–"/>
            </a:pPr>
            <a:r>
              <a:rPr lang="en-US" sz="1900" dirty="0">
                <a:solidFill>
                  <a:srgbClr val="000000"/>
                </a:solidFill>
                <a:latin typeface="Georgia" pitchFamily="34" charset="0"/>
                <a:ea typeface="Georgia" pitchFamily="34" charset="-122"/>
                <a:cs typeface="Georgia" pitchFamily="34" charset="-120"/>
              </a:rPr>
              <a:t>Brief hyperventilation as a bridge</a:t>
            </a:r>
            <a:endParaRPr lang="en-US" sz="1900" dirty="0"/>
          </a:p>
          <a:p>
            <a:pPr marL="228600" indent="-228600">
              <a:spcBef>
                <a:spcPts val="1000"/>
              </a:spcBef>
              <a:buSzPct val="100000"/>
              <a:buChar char="–"/>
            </a:pPr>
            <a:r>
              <a:rPr lang="en-US" sz="1900" dirty="0">
                <a:solidFill>
                  <a:srgbClr val="000000"/>
                </a:solidFill>
                <a:latin typeface="Georgia" pitchFamily="34" charset="0"/>
                <a:ea typeface="Georgia" pitchFamily="34" charset="-122"/>
                <a:cs typeface="Georgia" pitchFamily="34" charset="-120"/>
              </a:rPr>
              <a:t>Call the transplant team now</a:t>
            </a:r>
            <a:endParaRPr lang="en-US" sz="1900" dirty="0"/>
          </a:p>
          <a:p>
            <a:pPr indent="0" marL="0">
              <a:spcBef>
                <a:spcPts val="1800"/>
              </a:spcBef>
              <a:buNone/>
            </a:pPr>
            <a:r>
              <a:rPr lang="en-US" sz="1900" b="1" dirty="0">
                <a:solidFill>
                  <a:srgbClr val="000000"/>
                </a:solidFill>
                <a:latin typeface="Georgia" pitchFamily="34" charset="0"/>
                <a:ea typeface="Georgia" pitchFamily="34" charset="-122"/>
                <a:cs typeface="Georgia" pitchFamily="34" charset="-120"/>
              </a:rPr>
              <a:t>Things to know</a:t>
            </a:r>
            <a:endParaRPr lang="en-US" sz="1900" dirty="0"/>
          </a:p>
          <a:p>
            <a:pPr marL="228600" indent="-228600">
              <a:spcBef>
                <a:spcPts val="1000"/>
              </a:spcBef>
              <a:buSzPct val="100000"/>
              <a:buChar char="–"/>
            </a:pPr>
            <a:r>
              <a:rPr lang="en-US" sz="1900" dirty="0">
                <a:solidFill>
                  <a:srgbClr val="000000"/>
                </a:solidFill>
                <a:latin typeface="Georgia" pitchFamily="34" charset="0"/>
                <a:ea typeface="Georgia" pitchFamily="34" charset="-122"/>
                <a:cs typeface="Georgia" pitchFamily="34" charset="-120"/>
              </a:rPr>
              <a:t>Hypertension and bradycardia come late. Don't wait for them</a:t>
            </a:r>
            <a:endParaRPr lang="en-US" sz="1900" dirty="0"/>
          </a:p>
          <a:p>
            <a:pPr marL="228600" indent="-228600">
              <a:spcBef>
                <a:spcPts val="1000"/>
              </a:spcBef>
              <a:buSzPct val="100000"/>
              <a:buChar char="–"/>
            </a:pPr>
            <a:r>
              <a:rPr lang="en-US" sz="1900" dirty="0">
                <a:solidFill>
                  <a:srgbClr val="000000"/>
                </a:solidFill>
                <a:latin typeface="Georgia" pitchFamily="34" charset="0"/>
                <a:ea typeface="Georgia" pitchFamily="34" charset="-122"/>
                <a:cs typeface="Georgia" pitchFamily="34" charset="-120"/>
              </a:rPr>
              <a:t>A normal head CT does not exclude raised ICP</a:t>
            </a:r>
            <a:endParaRPr lang="en-US" sz="1900" dirty="0"/>
          </a:p>
          <a:p>
            <a:pPr marL="228600" indent="-228600">
              <a:spcBef>
                <a:spcPts val="1000"/>
              </a:spcBef>
              <a:buSzPct val="100000"/>
              <a:buChar char="–"/>
            </a:pPr>
            <a:r>
              <a:rPr lang="en-US" sz="1900" dirty="0">
                <a:solidFill>
                  <a:srgbClr val="000000"/>
                </a:solidFill>
                <a:latin typeface="Georgia" pitchFamily="34" charset="0"/>
                <a:ea typeface="Georgia" pitchFamily="34" charset="-122"/>
                <a:cs typeface="Georgia" pitchFamily="34" charset="-120"/>
              </a:rPr>
              <a:t>ICP monitors are not routine; SCCM suggests against (very low certainty)</a:t>
            </a:r>
            <a:endParaRPr lang="en-US" sz="1900" dirty="0"/>
          </a:p>
        </p:txBody>
      </p:sp>
      <p:pic>
        <p:nvPicPr>
          <p:cNvPr id="4" name="Image 0" descr="Head CT: normal and with effaced sulci">    </p:cNvPr>
          <p:cNvPicPr>
            <a:picLocks noChangeAspect="1"/>
          </p:cNvPicPr>
          <p:nvPr/>
        </p:nvPicPr>
        <p:blipFill>
          <a:blip r:embed="rId1"/>
          <a:stretch>
            <a:fillRect/>
          </a:stretch>
        </p:blipFill>
        <p:spPr>
          <a:xfrm>
            <a:off x="7223760" y="1828800"/>
            <a:ext cx="4480560" cy="2856702"/>
          </a:xfrm>
          <a:prstGeom prst="rect">
            <a:avLst/>
          </a:prstGeom>
        </p:spPr>
      </p:pic>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SCCM 2023 [PMID: 37052436]; practical update 2024 [PMID: 39170946]</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The creatinine is only 1.3</a:t>
            </a:r>
            <a:endParaRPr lang="en-US" sz="3000" dirty="0"/>
          </a:p>
        </p:txBody>
      </p:sp>
      <p:sp>
        <p:nvSpPr>
          <p:cNvPr id="3" name="Body"/>
          <p:cNvSpPr txBox="1"/>
          <p:nvPr/>
        </p:nvSpPr>
        <p:spPr>
          <a:xfrm>
            <a:off x="822960" y="1188720"/>
            <a:ext cx="10545775" cy="457200"/>
          </a:xfrm>
          <a:prstGeom prst="rect">
            <a:avLst/>
          </a:prstGeom>
          <a:noFill/>
          <a:ln/>
        </p:spPr>
        <p:txBody>
          <a:bodyPr wrap="square" lIns="50800" tIns="50800" rIns="50800" bIns="50800" rtlCol="0" anchor="t"/>
          <a:lstStyle/>
          <a:p>
            <a:pPr algn="ctr" indent="0" marL="0">
              <a:spcBef>
                <a:spcPts val="800"/>
              </a:spcBef>
              <a:buNone/>
            </a:pPr>
            <a:r>
              <a:rPr lang="en-US" sz="2000" i="1" dirty="0">
                <a:solidFill>
                  <a:srgbClr val="000000"/>
                </a:solidFill>
                <a:latin typeface="Georgia" pitchFamily="34" charset="0"/>
                <a:ea typeface="Georgia" pitchFamily="34" charset="-122"/>
                <a:cs typeface="Georgia" pitchFamily="34" charset="-120"/>
              </a:rPr>
              <a:t>Ammonia 182 → 214 μmol/L, grade III, urine output 15 mL/h</a:t>
            </a:r>
            <a:endParaRPr lang="en-US" sz="2000" dirty="0"/>
          </a:p>
        </p:txBody>
      </p:sp>
      <p:sp>
        <p:nvSpPr>
          <p:cNvPr id="4" name="Question"/>
          <p:cNvSpPr txBox="1"/>
          <p:nvPr/>
        </p:nvSpPr>
        <p:spPr>
          <a:xfrm>
            <a:off x="822960" y="3017520"/>
            <a:ext cx="10545775" cy="548640"/>
          </a:xfrm>
          <a:prstGeom prst="rect">
            <a:avLst/>
          </a:prstGeom>
          <a:noFill/>
          <a:ln/>
        </p:spPr>
        <p:txBody>
          <a:bodyPr wrap="square" lIns="0" tIns="0" rIns="0" bIns="0" rtlCol="0" anchor="ctr"/>
          <a:lstStyle/>
          <a:p>
            <a:pPr algn="ctr" indent="0" marL="0">
              <a:buNone/>
            </a:pPr>
            <a:r>
              <a:rPr lang="en-US" sz="2800" b="1" dirty="0">
                <a:solidFill>
                  <a:srgbClr val="000000"/>
                </a:solidFill>
                <a:latin typeface="Georgia" pitchFamily="34" charset="0"/>
                <a:ea typeface="Georgia" pitchFamily="34" charset="-122"/>
                <a:cs typeface="Georgia" pitchFamily="34" charset="-120"/>
              </a:rPr>
              <a:t>Do you wait for a conventional dialysis indication?</a:t>
            </a:r>
            <a:endParaRPr lang="en-US" sz="28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The creatinine is only 1.3</a:t>
            </a:r>
            <a:endParaRPr lang="en-US" sz="3000" dirty="0"/>
          </a:p>
        </p:txBody>
      </p:sp>
      <p:sp>
        <p:nvSpPr>
          <p:cNvPr id="3" name="Body"/>
          <p:cNvSpPr txBox="1"/>
          <p:nvPr/>
        </p:nvSpPr>
        <p:spPr>
          <a:xfrm>
            <a:off x="822960" y="1188720"/>
            <a:ext cx="10545775" cy="457200"/>
          </a:xfrm>
          <a:prstGeom prst="rect">
            <a:avLst/>
          </a:prstGeom>
          <a:noFill/>
          <a:ln/>
        </p:spPr>
        <p:txBody>
          <a:bodyPr wrap="square" lIns="50800" tIns="50800" rIns="50800" bIns="50800" rtlCol="0" anchor="t"/>
          <a:lstStyle/>
          <a:p>
            <a:pPr algn="ctr" indent="0" marL="0">
              <a:spcBef>
                <a:spcPts val="800"/>
              </a:spcBef>
              <a:buNone/>
            </a:pPr>
            <a:r>
              <a:rPr lang="en-US" sz="2000" i="1" dirty="0">
                <a:solidFill>
                  <a:srgbClr val="000000"/>
                </a:solidFill>
                <a:latin typeface="Georgia" pitchFamily="34" charset="0"/>
                <a:ea typeface="Georgia" pitchFamily="34" charset="-122"/>
                <a:cs typeface="Georgia" pitchFamily="34" charset="-120"/>
              </a:rPr>
              <a:t>Ammonia 182 → 214 μmol/L, grade III, urine output 15 mL/h</a:t>
            </a:r>
            <a:endParaRPr lang="en-US" sz="2000" dirty="0"/>
          </a:p>
        </p:txBody>
      </p:sp>
      <p:sp>
        <p:nvSpPr>
          <p:cNvPr id="4" name="Question"/>
          <p:cNvSpPr txBox="1"/>
          <p:nvPr/>
        </p:nvSpPr>
        <p:spPr>
          <a:xfrm>
            <a:off x="822960" y="182880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highlight>
                  <a:srgbClr val="FFFF00"/>
                </a:highlight>
                <a:latin typeface="Georgia" pitchFamily="34" charset="0"/>
                <a:ea typeface="Georgia" pitchFamily="34" charset="-122"/>
                <a:cs typeface="Georgia" pitchFamily="34" charset="-120"/>
              </a:rPr>
              <a:t>No. In ALF, start CRRT for the ammonia</a:t>
            </a:r>
            <a:endParaRPr lang="en-US" sz="2400" dirty="0"/>
          </a:p>
        </p:txBody>
      </p:sp>
      <p:sp>
        <p:nvSpPr>
          <p:cNvPr id="5" name="Body"/>
          <p:cNvSpPr txBox="1"/>
          <p:nvPr/>
        </p:nvSpPr>
        <p:spPr>
          <a:xfrm>
            <a:off x="822960" y="2560320"/>
            <a:ext cx="7315200" cy="3657600"/>
          </a:xfrm>
          <a:prstGeom prst="rect">
            <a:avLst/>
          </a:prstGeom>
          <a:noFill/>
          <a:ln/>
        </p:spPr>
        <p:txBody>
          <a:bodyPr wrap="square" lIns="50800" tIns="50800" rIns="50800" bIns="50800" rtlCol="0" anchor="t"/>
          <a:lstStyle/>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ACG 2023: suggests early CRRT for hyperammonemia with grade II or higher encephalopathy, even without a renal indication (conditional, very low certainty)</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Continuous, not intermittent: fewer swings in blood pressure and brain water</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Call nephrology now</a:t>
            </a:r>
            <a:endParaRPr lang="en-US" sz="2000" dirty="0"/>
          </a:p>
        </p:txBody>
      </p:sp>
      <p:pic>
        <p:nvPicPr>
          <p:cNvPr id="6" name="Image 0" descr="Watercolor of a CRRT machine with filter and circuit">    </p:cNvPr>
          <p:cNvPicPr>
            <a:picLocks noChangeAspect="1"/>
          </p:cNvPicPr>
          <p:nvPr/>
        </p:nvPicPr>
        <p:blipFill>
          <a:blip r:embed="rId1"/>
          <a:stretch>
            <a:fillRect/>
          </a:stretch>
        </p:blipFill>
        <p:spPr>
          <a:xfrm>
            <a:off x="8275320" y="2423160"/>
            <a:ext cx="3520440" cy="3520440"/>
          </a:xfrm>
          <a:prstGeom prst="rect">
            <a:avLst/>
          </a:prstGeom>
        </p:spPr>
      </p:pic>
      <p:sp>
        <p:nvSpPr>
          <p:cNvPr id="7"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ACG ALF guideline 2023 [PMID: 37377263]; update 2022 [PMID: 36001996]</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Should we correct this INR?</a:t>
            </a:r>
            <a:endParaRPr lang="en-US" sz="3000" dirty="0"/>
          </a:p>
        </p:txBody>
      </p:sp>
      <p:sp>
        <p:nvSpPr>
          <p:cNvPr id="3" name="Body"/>
          <p:cNvSpPr txBox="1"/>
          <p:nvPr/>
        </p:nvSpPr>
        <p:spPr>
          <a:xfrm>
            <a:off x="822960" y="1188720"/>
            <a:ext cx="10545775" cy="457200"/>
          </a:xfrm>
          <a:prstGeom prst="rect">
            <a:avLst/>
          </a:prstGeom>
          <a:noFill/>
          <a:ln/>
        </p:spPr>
        <p:txBody>
          <a:bodyPr wrap="square" lIns="50800" tIns="50800" rIns="50800" bIns="50800" rtlCol="0" anchor="t"/>
          <a:lstStyle/>
          <a:p>
            <a:pPr algn="ctr" indent="0" marL="0">
              <a:spcBef>
                <a:spcPts val="800"/>
              </a:spcBef>
              <a:buNone/>
            </a:pPr>
            <a:r>
              <a:rPr lang="en-US" sz="2000" i="1" dirty="0">
                <a:solidFill>
                  <a:srgbClr val="000000"/>
                </a:solidFill>
                <a:latin typeface="Georgia" pitchFamily="34" charset="0"/>
                <a:ea typeface="Georgia" pitchFamily="34" charset="-122"/>
                <a:cs typeface="Georgia" pitchFamily="34" charset="-120"/>
              </a:rPr>
              <a:t>Hour 12: INR 4.1, platelets 88,000. She needs a dialysis catheter</a:t>
            </a:r>
            <a:endParaRPr lang="en-US" sz="2000" dirty="0"/>
          </a:p>
        </p:txBody>
      </p:sp>
      <p:sp>
        <p:nvSpPr>
          <p:cNvPr id="4" name="Question"/>
          <p:cNvSpPr txBox="1"/>
          <p:nvPr/>
        </p:nvSpPr>
        <p:spPr>
          <a:xfrm>
            <a:off x="822960" y="3017520"/>
            <a:ext cx="10545775" cy="548640"/>
          </a:xfrm>
          <a:prstGeom prst="rect">
            <a:avLst/>
          </a:prstGeom>
          <a:noFill/>
          <a:ln/>
        </p:spPr>
        <p:txBody>
          <a:bodyPr wrap="square" lIns="0" tIns="0" rIns="0" bIns="0" rtlCol="0" anchor="ctr"/>
          <a:lstStyle/>
          <a:p>
            <a:pPr algn="ctr" indent="0" marL="0">
              <a:buNone/>
            </a:pPr>
            <a:r>
              <a:rPr lang="en-US" sz="3000" b="1" dirty="0">
                <a:solidFill>
                  <a:srgbClr val="000000"/>
                </a:solidFill>
                <a:latin typeface="Georgia" pitchFamily="34" charset="0"/>
                <a:ea typeface="Georgia" pitchFamily="34" charset="-122"/>
                <a:cs typeface="Georgia" pitchFamily="34" charset="-120"/>
              </a:rPr>
              <a:t>2 units of FFP first?</a:t>
            </a:r>
            <a:endParaRPr lang="en-US" sz="3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Should we correct this INR?</a:t>
            </a:r>
            <a:endParaRPr lang="en-US" sz="3000" dirty="0"/>
          </a:p>
        </p:txBody>
      </p:sp>
      <p:sp>
        <p:nvSpPr>
          <p:cNvPr id="3" name="Body"/>
          <p:cNvSpPr txBox="1"/>
          <p:nvPr/>
        </p:nvSpPr>
        <p:spPr>
          <a:xfrm>
            <a:off x="822960" y="1188720"/>
            <a:ext cx="10545775" cy="457200"/>
          </a:xfrm>
          <a:prstGeom prst="rect">
            <a:avLst/>
          </a:prstGeom>
          <a:noFill/>
          <a:ln/>
        </p:spPr>
        <p:txBody>
          <a:bodyPr wrap="square" lIns="50800" tIns="50800" rIns="50800" bIns="50800" rtlCol="0" anchor="t"/>
          <a:lstStyle/>
          <a:p>
            <a:pPr algn="ctr" indent="0" marL="0">
              <a:spcBef>
                <a:spcPts val="800"/>
              </a:spcBef>
              <a:buNone/>
            </a:pPr>
            <a:r>
              <a:rPr lang="en-US" sz="2000" i="1" dirty="0">
                <a:solidFill>
                  <a:srgbClr val="000000"/>
                </a:solidFill>
                <a:latin typeface="Georgia" pitchFamily="34" charset="0"/>
                <a:ea typeface="Georgia" pitchFamily="34" charset="-122"/>
                <a:cs typeface="Georgia" pitchFamily="34" charset="-120"/>
              </a:rPr>
              <a:t>Hour 12: INR 4.1, platelets 88,000. She needs a dialysis catheter</a:t>
            </a:r>
            <a:endParaRPr lang="en-US" sz="2000" dirty="0"/>
          </a:p>
        </p:txBody>
      </p:sp>
      <p:sp>
        <p:nvSpPr>
          <p:cNvPr id="4" name="Body"/>
          <p:cNvSpPr txBox="1"/>
          <p:nvPr/>
        </p:nvSpPr>
        <p:spPr>
          <a:xfrm>
            <a:off x="822960" y="1783080"/>
            <a:ext cx="10545775" cy="4480560"/>
          </a:xfrm>
          <a:prstGeom prst="rect">
            <a:avLst/>
          </a:prstGeom>
          <a:noFill/>
          <a:ln/>
        </p:spPr>
        <p:txBody>
          <a:bodyPr wrap="square" lIns="50800" tIns="50800" rIns="50800" bIns="50800" rtlCol="0" anchor="t"/>
          <a:lstStyle/>
          <a:p>
            <a:pPr marL="228600" indent="-228600">
              <a:spcBef>
                <a:spcPts val="800"/>
              </a:spcBef>
              <a:buSzPct val="100000"/>
              <a:buChar char="–"/>
            </a:pPr>
            <a:r>
              <a:rPr lang="en-US" sz="1900" b="1" dirty="0">
                <a:solidFill>
                  <a:srgbClr val="000000"/>
                </a:solidFill>
                <a:highlight>
                  <a:srgbClr val="FFFF00"/>
                </a:highlight>
                <a:latin typeface="Georgia" pitchFamily="34" charset="0"/>
                <a:ea typeface="Georgia" pitchFamily="34" charset="-122"/>
                <a:cs typeface="Georgia" pitchFamily="34" charset="-120"/>
              </a:rPr>
              <a:t>No plasma just to fix the number</a:t>
            </a:r>
            <a:endParaRPr lang="en-US" sz="1900" dirty="0"/>
          </a:p>
          <a:p>
            <a:pPr marL="228600" indent="-228600">
              <a:spcBef>
                <a:spcPts val="800"/>
              </a:spcBef>
              <a:buSzPct val="100000"/>
              <a:buChar char="–"/>
            </a:pPr>
            <a:r>
              <a:rPr lang="en-US" sz="1900" dirty="0">
                <a:solidFill>
                  <a:srgbClr val="000000"/>
                </a:solidFill>
                <a:latin typeface="Georgia" pitchFamily="34" charset="0"/>
                <a:ea typeface="Georgia" pitchFamily="34" charset="-122"/>
                <a:cs typeface="Georgia" pitchFamily="34" charset="-120"/>
              </a:rPr>
              <a:t>The INR sees only the procoagulant side. Protein C and S are low too, factor VIII and von Willebrand factor are high. Most patients are rebalanced</a:t>
            </a:r>
            <a:endParaRPr lang="en-US" sz="1900" dirty="0"/>
          </a:p>
          <a:p>
            <a:pPr marL="228600" indent="-228600">
              <a:spcBef>
                <a:spcPts val="800"/>
              </a:spcBef>
              <a:buSzPct val="100000"/>
              <a:buChar char="–"/>
            </a:pPr>
            <a:r>
              <a:rPr lang="en-US" sz="1900" dirty="0">
                <a:solidFill>
                  <a:srgbClr val="000000"/>
                </a:solidFill>
                <a:latin typeface="Georgia" pitchFamily="34" charset="0"/>
                <a:ea typeface="Georgia" pitchFamily="34" charset="-122"/>
                <a:cs typeface="Georgia" pitchFamily="34" charset="-120"/>
              </a:rPr>
              <a:t>Plasma adds volume (lungs, brain) and erases the INR trend that prognosis and listing rely on</a:t>
            </a:r>
            <a:endParaRPr lang="en-US" sz="1900" dirty="0"/>
          </a:p>
          <a:p>
            <a:pPr indent="0" marL="0">
              <a:spcBef>
                <a:spcPts val="1400"/>
              </a:spcBef>
              <a:buNone/>
            </a:pPr>
            <a:r>
              <a:rPr lang="en-US" sz="1900" b="1" dirty="0">
                <a:solidFill>
                  <a:srgbClr val="000000"/>
                </a:solidFill>
                <a:latin typeface="Georgia" pitchFamily="34" charset="0"/>
                <a:ea typeface="Georgia" pitchFamily="34" charset="-122"/>
                <a:cs typeface="Georgia" pitchFamily="34" charset="-120"/>
              </a:rPr>
              <a:t>What to do instead</a:t>
            </a:r>
            <a:endParaRPr lang="en-US" sz="1900" dirty="0"/>
          </a:p>
          <a:p>
            <a:pPr marL="228600" indent="-228600">
              <a:spcBef>
                <a:spcPts val="800"/>
              </a:spcBef>
              <a:buSzPct val="100000"/>
              <a:buChar char="–"/>
            </a:pPr>
            <a:r>
              <a:rPr lang="en-US" sz="1900" dirty="0">
                <a:solidFill>
                  <a:srgbClr val="000000"/>
                </a:solidFill>
                <a:latin typeface="Georgia" pitchFamily="34" charset="0"/>
                <a:ea typeface="Georgia" pitchFamily="34" charset="-122"/>
                <a:cs typeface="Georgia" pitchFamily="34" charset="-120"/>
              </a:rPr>
              <a:t>Ultrasound-guided line, experienced operator, compressible site</a:t>
            </a:r>
            <a:endParaRPr lang="en-US" sz="1900" dirty="0"/>
          </a:p>
          <a:p>
            <a:pPr marL="228600" indent="-228600">
              <a:spcBef>
                <a:spcPts val="800"/>
              </a:spcBef>
              <a:buSzPct val="100000"/>
              <a:buChar char="–"/>
            </a:pPr>
            <a:r>
              <a:rPr lang="en-US" sz="1900" dirty="0">
                <a:solidFill>
                  <a:srgbClr val="000000"/>
                </a:solidFill>
                <a:latin typeface="Georgia" pitchFamily="34" charset="0"/>
                <a:ea typeface="Georgia" pitchFamily="34" charset="-122"/>
                <a:cs typeface="Georgia" pitchFamily="34" charset="-120"/>
              </a:rPr>
              <a:t>Vitamin K once; check fibrinogen and platelets; viscoelastic testing if available</a:t>
            </a:r>
            <a:endParaRPr lang="en-US" sz="1900" dirty="0"/>
          </a:p>
          <a:p>
            <a:pPr marL="228600" indent="-228600">
              <a:spcBef>
                <a:spcPts val="800"/>
              </a:spcBef>
              <a:buSzPct val="100000"/>
              <a:buChar char="–"/>
            </a:pPr>
            <a:r>
              <a:rPr lang="en-US" sz="1900" dirty="0">
                <a:solidFill>
                  <a:srgbClr val="000000"/>
                </a:solidFill>
                <a:latin typeface="Georgia" pitchFamily="34" charset="0"/>
                <a:ea typeface="Georgia" pitchFamily="34" charset="-122"/>
                <a:cs typeface="Georgia" pitchFamily="34" charset="-120"/>
              </a:rPr>
              <a:t>Treat bleeding. Plan high-risk procedures (like an ICP monitor) separately</a:t>
            </a:r>
            <a:endParaRPr lang="en-US" sz="19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Update 2022 [PMID: 36001996]; SCCM 2020 [PMID: 32058387]</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Rebalanced hemostasis</a:t>
            </a:r>
            <a:endParaRPr lang="en-US" sz="3000" dirty="0"/>
          </a:p>
        </p:txBody>
      </p:sp>
      <p:sp>
        <p:nvSpPr>
          <p:cNvPr id="3" name="Fulcrum"/>
          <p:cNvSpPr/>
          <p:nvPr/>
        </p:nvSpPr>
        <p:spPr>
          <a:xfrm>
            <a:off x="5592928" y="4041648"/>
            <a:ext cx="1005840" cy="914400"/>
          </a:xfrm>
          <a:prstGeom prst="triangle">
            <a:avLst/>
          </a:prstGeom>
          <a:solidFill>
            <a:srgbClr val="000000"/>
          </a:solidFill>
          <a:ln w="12700">
            <a:solidFill>
              <a:srgbClr val="000000"/>
            </a:solidFill>
            <a:prstDash val="solid"/>
          </a:ln>
        </p:spPr>
      </p:sp>
      <p:sp>
        <p:nvSpPr>
          <p:cNvPr id="4" name="Beam"/>
          <p:cNvSpPr/>
          <p:nvPr/>
        </p:nvSpPr>
        <p:spPr>
          <a:xfrm>
            <a:off x="1280160" y="3931920"/>
            <a:ext cx="9631375" cy="109728"/>
          </a:xfrm>
          <a:prstGeom prst="rect">
            <a:avLst/>
          </a:prstGeom>
          <a:solidFill>
            <a:srgbClr val="000000"/>
          </a:solidFill>
          <a:ln w="12700">
            <a:solidFill>
              <a:srgbClr val="000000"/>
            </a:solidFill>
            <a:prstDash val="solid"/>
          </a:ln>
        </p:spPr>
      </p:sp>
      <p:sp>
        <p:nvSpPr>
          <p:cNvPr id="5" name="Pan"/>
          <p:cNvSpPr/>
          <p:nvPr/>
        </p:nvSpPr>
        <p:spPr>
          <a:xfrm>
            <a:off x="1463040" y="1417320"/>
            <a:ext cx="4480560" cy="2423160"/>
          </a:xfrm>
          <a:prstGeom prst="rect">
            <a:avLst/>
          </a:prstGeom>
          <a:solidFill>
            <a:srgbClr val="FFFFFF"/>
          </a:solidFill>
          <a:ln w="15875">
            <a:solidFill>
              <a:srgbClr val="000000"/>
            </a:solidFill>
            <a:prstDash val="solid"/>
          </a:ln>
        </p:spPr>
      </p:sp>
      <p:sp>
        <p:nvSpPr>
          <p:cNvPr id="6" name="Text 4"/>
          <p:cNvSpPr txBox="1"/>
          <p:nvPr/>
        </p:nvSpPr>
        <p:spPr>
          <a:xfrm>
            <a:off x="1463040" y="1417320"/>
            <a:ext cx="4480560" cy="2423160"/>
          </a:xfrm>
          <a:prstGeom prst="rect">
            <a:avLst/>
          </a:prstGeom>
          <a:noFill/>
          <a:ln/>
        </p:spPr>
        <p:txBody>
          <a:bodyPr wrap="square" lIns="76200" tIns="76200" rIns="76200" bIns="76200" rtlCol="0" anchor="ctr"/>
          <a:lstStyle/>
          <a:p>
            <a:pPr algn="ctr" indent="0" marL="0">
              <a:buNone/>
            </a:pPr>
            <a:r>
              <a:rPr lang="en-US" sz="2000" b="1" dirty="0">
                <a:solidFill>
                  <a:srgbClr val="000000"/>
                </a:solidFill>
                <a:latin typeface="Georgia" pitchFamily="34" charset="0"/>
                <a:ea typeface="Georgia" pitchFamily="34" charset="-122"/>
                <a:cs typeface="Georgia" pitchFamily="34" charset="-120"/>
              </a:rPr>
              <a:t>Favors bleeding</a:t>
            </a:r>
            <a:endParaRPr lang="en-US" sz="2000" dirty="0"/>
          </a:p>
          <a:p>
            <a:pPr algn="ctr" indent="0" marL="0">
              <a:spcBef>
                <a:spcPts val="600"/>
              </a:spcBef>
              <a:buNone/>
            </a:pPr>
            <a:r>
              <a:rPr lang="en-US" sz="1700" dirty="0">
                <a:solidFill>
                  <a:srgbClr val="000000"/>
                </a:solidFill>
                <a:latin typeface="Georgia" pitchFamily="34" charset="0"/>
                <a:ea typeface="Georgia" pitchFamily="34" charset="-122"/>
                <a:cs typeface="Georgia" pitchFamily="34" charset="-120"/>
              </a:rPr>
              <a:t>Low factors II, V, VII, IX, X</a:t>
            </a:r>
            <a:endParaRPr lang="en-US" sz="2000" dirty="0"/>
          </a:p>
          <a:p>
            <a:pPr algn="ctr" indent="0" marL="0">
              <a:spcBef>
                <a:spcPts val="600"/>
              </a:spcBef>
              <a:buNone/>
            </a:pPr>
            <a:r>
              <a:rPr lang="en-US" sz="1700" dirty="0">
                <a:solidFill>
                  <a:srgbClr val="000000"/>
                </a:solidFill>
                <a:latin typeface="Georgia" pitchFamily="34" charset="0"/>
                <a:ea typeface="Georgia" pitchFamily="34" charset="-122"/>
                <a:cs typeface="Georgia" pitchFamily="34" charset="-120"/>
              </a:rPr>
              <a:t>Low fibrinogen when severe</a:t>
            </a:r>
            <a:endParaRPr lang="en-US" sz="2000" dirty="0"/>
          </a:p>
          <a:p>
            <a:pPr algn="ctr" indent="0" marL="0">
              <a:spcBef>
                <a:spcPts val="600"/>
              </a:spcBef>
              <a:buNone/>
            </a:pPr>
            <a:r>
              <a:rPr lang="en-US" sz="1700" dirty="0">
                <a:solidFill>
                  <a:srgbClr val="000000"/>
                </a:solidFill>
                <a:latin typeface="Georgia" pitchFamily="34" charset="0"/>
                <a:ea typeface="Georgia" pitchFamily="34" charset="-122"/>
                <a:cs typeface="Georgia" pitchFamily="34" charset="-120"/>
              </a:rPr>
              <a:t>Low platelets</a:t>
            </a:r>
            <a:endParaRPr lang="en-US" sz="2000" dirty="0"/>
          </a:p>
        </p:txBody>
      </p:sp>
      <p:sp>
        <p:nvSpPr>
          <p:cNvPr id="7" name="Pan"/>
          <p:cNvSpPr/>
          <p:nvPr/>
        </p:nvSpPr>
        <p:spPr>
          <a:xfrm>
            <a:off x="6248095" y="1417320"/>
            <a:ext cx="4480560" cy="2423160"/>
          </a:xfrm>
          <a:prstGeom prst="rect">
            <a:avLst/>
          </a:prstGeom>
          <a:solidFill>
            <a:srgbClr val="FFFFFF"/>
          </a:solidFill>
          <a:ln w="15875">
            <a:solidFill>
              <a:srgbClr val="000000"/>
            </a:solidFill>
            <a:prstDash val="solid"/>
          </a:ln>
        </p:spPr>
      </p:sp>
      <p:sp>
        <p:nvSpPr>
          <p:cNvPr id="8" name="Text 6"/>
          <p:cNvSpPr txBox="1"/>
          <p:nvPr/>
        </p:nvSpPr>
        <p:spPr>
          <a:xfrm>
            <a:off x="6248095" y="1417320"/>
            <a:ext cx="4480560" cy="2423160"/>
          </a:xfrm>
          <a:prstGeom prst="rect">
            <a:avLst/>
          </a:prstGeom>
          <a:noFill/>
          <a:ln/>
        </p:spPr>
        <p:txBody>
          <a:bodyPr wrap="square" lIns="76200" tIns="76200" rIns="76200" bIns="76200" rtlCol="0" anchor="ctr"/>
          <a:lstStyle/>
          <a:p>
            <a:pPr algn="ctr" indent="0" marL="0">
              <a:buNone/>
            </a:pPr>
            <a:r>
              <a:rPr lang="en-US" sz="2000" b="1" dirty="0">
                <a:solidFill>
                  <a:srgbClr val="000000"/>
                </a:solidFill>
                <a:latin typeface="Georgia" pitchFamily="34" charset="0"/>
                <a:ea typeface="Georgia" pitchFamily="34" charset="-122"/>
                <a:cs typeface="Georgia" pitchFamily="34" charset="-120"/>
              </a:rPr>
              <a:t>Favors clotting</a:t>
            </a:r>
            <a:endParaRPr lang="en-US" sz="2000" dirty="0"/>
          </a:p>
          <a:p>
            <a:pPr algn="ctr" indent="0" marL="0">
              <a:spcBef>
                <a:spcPts val="600"/>
              </a:spcBef>
              <a:buNone/>
            </a:pPr>
            <a:r>
              <a:rPr lang="en-US" sz="1700" dirty="0">
                <a:solidFill>
                  <a:srgbClr val="000000"/>
                </a:solidFill>
                <a:latin typeface="Georgia" pitchFamily="34" charset="0"/>
                <a:ea typeface="Georgia" pitchFamily="34" charset="-122"/>
                <a:cs typeface="Georgia" pitchFamily="34" charset="-120"/>
              </a:rPr>
              <a:t>Low protein C and protein S</a:t>
            </a:r>
            <a:endParaRPr lang="en-US" sz="2000" dirty="0"/>
          </a:p>
          <a:p>
            <a:pPr algn="ctr" indent="0" marL="0">
              <a:spcBef>
                <a:spcPts val="600"/>
              </a:spcBef>
              <a:buNone/>
            </a:pPr>
            <a:r>
              <a:rPr lang="en-US" sz="1700" dirty="0">
                <a:solidFill>
                  <a:srgbClr val="000000"/>
                </a:solidFill>
                <a:latin typeface="Georgia" pitchFamily="34" charset="0"/>
                <a:ea typeface="Georgia" pitchFamily="34" charset="-122"/>
                <a:cs typeface="Georgia" pitchFamily="34" charset="-120"/>
              </a:rPr>
              <a:t>Low antithrombin</a:t>
            </a:r>
            <a:endParaRPr lang="en-US" sz="2000" dirty="0"/>
          </a:p>
          <a:p>
            <a:pPr algn="ctr" indent="0" marL="0">
              <a:spcBef>
                <a:spcPts val="600"/>
              </a:spcBef>
              <a:buNone/>
            </a:pPr>
            <a:r>
              <a:rPr lang="en-US" sz="1700" dirty="0">
                <a:solidFill>
                  <a:srgbClr val="000000"/>
                </a:solidFill>
                <a:latin typeface="Georgia" pitchFamily="34" charset="0"/>
                <a:ea typeface="Georgia" pitchFamily="34" charset="-122"/>
                <a:cs typeface="Georgia" pitchFamily="34" charset="-120"/>
              </a:rPr>
              <a:t>High factor VIII and von Willebrand factor</a:t>
            </a:r>
            <a:endParaRPr lang="en-US" sz="2000" dirty="0"/>
          </a:p>
        </p:txBody>
      </p:sp>
      <p:sp>
        <p:nvSpPr>
          <p:cNvPr id="9" name="Text 7"/>
          <p:cNvSpPr txBox="1"/>
          <p:nvPr/>
        </p:nvSpPr>
        <p:spPr>
          <a:xfrm>
            <a:off x="1463040" y="4206240"/>
            <a:ext cx="4480560" cy="411480"/>
          </a:xfrm>
          <a:prstGeom prst="rect">
            <a:avLst/>
          </a:prstGeom>
          <a:noFill/>
          <a:ln/>
        </p:spPr>
        <p:txBody>
          <a:bodyPr wrap="square" lIns="0" tIns="0" rIns="0" bIns="0" rtlCol="0" anchor="ctr"/>
          <a:lstStyle/>
          <a:p>
            <a:pPr algn="ctr" indent="0" marL="0">
              <a:buNone/>
            </a:pPr>
            <a:r>
              <a:rPr lang="en-US" sz="1800" b="1" dirty="0">
                <a:solidFill>
                  <a:srgbClr val="C00000"/>
                </a:solidFill>
                <a:latin typeface="Georgia" pitchFamily="34" charset="0"/>
                <a:ea typeface="Georgia" pitchFamily="34" charset="-122"/>
                <a:cs typeface="Georgia" pitchFamily="34" charset="-120"/>
              </a:rPr>
              <a:t>The INR sees part of this side</a:t>
            </a:r>
            <a:endParaRPr lang="en-US" sz="1800" dirty="0"/>
          </a:p>
        </p:txBody>
      </p:sp>
      <p:sp>
        <p:nvSpPr>
          <p:cNvPr id="10" name="Text 8"/>
          <p:cNvSpPr txBox="1"/>
          <p:nvPr/>
        </p:nvSpPr>
        <p:spPr>
          <a:xfrm>
            <a:off x="6248095" y="4206240"/>
            <a:ext cx="4480560" cy="411480"/>
          </a:xfrm>
          <a:prstGeom prst="rect">
            <a:avLst/>
          </a:prstGeom>
          <a:noFill/>
          <a:ln/>
        </p:spPr>
        <p:txBody>
          <a:bodyPr wrap="square" lIns="0" tIns="0" rIns="0" bIns="0" rtlCol="0" anchor="ctr"/>
          <a:lstStyle/>
          <a:p>
            <a:pPr algn="ctr" indent="0" marL="0">
              <a:buNone/>
            </a:pPr>
            <a:r>
              <a:rPr lang="en-US" sz="1800" b="1" dirty="0">
                <a:solidFill>
                  <a:srgbClr val="C00000"/>
                </a:solidFill>
                <a:latin typeface="Georgia" pitchFamily="34" charset="0"/>
                <a:ea typeface="Georgia" pitchFamily="34" charset="-122"/>
                <a:cs typeface="Georgia" pitchFamily="34" charset="-120"/>
              </a:rPr>
              <a:t>The INR doesn't see this side</a:t>
            </a:r>
            <a:endParaRPr lang="en-US" sz="1800" dirty="0"/>
          </a:p>
        </p:txBody>
      </p:sp>
      <p:sp>
        <p:nvSpPr>
          <p:cNvPr id="11" name="Body"/>
          <p:cNvSpPr txBox="1"/>
          <p:nvPr/>
        </p:nvSpPr>
        <p:spPr>
          <a:xfrm>
            <a:off x="822960" y="5349240"/>
            <a:ext cx="10545775" cy="640080"/>
          </a:xfrm>
          <a:prstGeom prst="rect">
            <a:avLst/>
          </a:prstGeom>
          <a:noFill/>
          <a:ln/>
        </p:spPr>
        <p:txBody>
          <a:bodyPr wrap="square" lIns="50800" tIns="50800" rIns="50800" bIns="50800" rtlCol="0" anchor="t"/>
          <a:lstStyle/>
          <a:p>
            <a:pPr algn="ctr" indent="0" marL="0">
              <a:spcBef>
                <a:spcPts val="800"/>
              </a:spcBef>
              <a:buNone/>
            </a:pPr>
            <a:r>
              <a:rPr lang="en-US" sz="1900" i="1" dirty="0">
                <a:solidFill>
                  <a:srgbClr val="000000"/>
                </a:solidFill>
                <a:latin typeface="Georgia" pitchFamily="34" charset="0"/>
                <a:ea typeface="Georgia" pitchFamily="34" charset="-122"/>
                <a:cs typeface="Georgia" pitchFamily="34" charset="-120"/>
              </a:rPr>
              <a:t>Balanced in most patients, but easily tipped either way: both bleeding and thrombosis happen</a:t>
            </a:r>
            <a:endParaRPr lang="en-US" sz="1900" dirty="0"/>
          </a:p>
        </p:txBody>
      </p:sp>
      <p:sp>
        <p:nvSpPr>
          <p:cNvPr id="12"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Concept from Lisman T, Porte RJ. Blood 2010</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INR 4.2. What does the TEG say?</a:t>
            </a:r>
            <a:endParaRPr lang="en-US" sz="3000" dirty="0"/>
          </a:p>
        </p:txBody>
      </p:sp>
      <p:pic>
        <p:nvPicPr>
          <p:cNvPr id="3" name="Image 0" descr="Normal thromboelastogram in acute liver failure">    </p:cNvPr>
          <p:cNvPicPr>
            <a:picLocks noChangeAspect="1"/>
          </p:cNvPicPr>
          <p:nvPr/>
        </p:nvPicPr>
        <p:blipFill>
          <a:blip r:embed="rId1"/>
          <a:stretch>
            <a:fillRect/>
          </a:stretch>
        </p:blipFill>
        <p:spPr>
          <a:xfrm>
            <a:off x="3099407" y="1188720"/>
            <a:ext cx="5992882" cy="4206240"/>
          </a:xfrm>
          <a:prstGeom prst="rect">
            <a:avLst/>
          </a:prstGeom>
        </p:spPr>
      </p:pic>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Stravitz RT et al. J Hepatol 2012;56:129-36 [PMID: 21703173]</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INR 4.2. What does the TEG say?</a:t>
            </a:r>
            <a:endParaRPr lang="en-US" sz="3000" dirty="0"/>
          </a:p>
        </p:txBody>
      </p:sp>
      <p:pic>
        <p:nvPicPr>
          <p:cNvPr id="3" name="Image 0" descr="Normal thromboelastogram in acute liver failure">    </p:cNvPr>
          <p:cNvPicPr>
            <a:picLocks noChangeAspect="1"/>
          </p:cNvPicPr>
          <p:nvPr/>
        </p:nvPicPr>
        <p:blipFill>
          <a:blip r:embed="rId1"/>
          <a:stretch>
            <a:fillRect/>
          </a:stretch>
        </p:blipFill>
        <p:spPr>
          <a:xfrm>
            <a:off x="3099407" y="1188720"/>
            <a:ext cx="5992882" cy="4206240"/>
          </a:xfrm>
          <a:prstGeom prst="rect">
            <a:avLst/>
          </a:prstGeom>
        </p:spPr>
      </p:pic>
      <p:sp>
        <p:nvSpPr>
          <p:cNvPr id="4" name="Body"/>
          <p:cNvSpPr txBox="1"/>
          <p:nvPr/>
        </p:nvSpPr>
        <p:spPr>
          <a:xfrm>
            <a:off x="822960" y="5532120"/>
            <a:ext cx="10545775" cy="457200"/>
          </a:xfrm>
          <a:prstGeom prst="rect">
            <a:avLst/>
          </a:prstGeom>
          <a:noFill/>
          <a:ln/>
        </p:spPr>
        <p:txBody>
          <a:bodyPr wrap="square" lIns="50800" tIns="50800" rIns="50800" bIns="50800" rtlCol="0" anchor="t"/>
          <a:lstStyle/>
          <a:p>
            <a:pPr algn="ctr" indent="0" marL="0">
              <a:spcBef>
                <a:spcPts val="800"/>
              </a:spcBef>
              <a:buNone/>
            </a:pPr>
            <a:r>
              <a:rPr lang="en-US" sz="1800" i="1" dirty="0">
                <a:solidFill>
                  <a:srgbClr val="000000"/>
                </a:solidFill>
                <a:latin typeface="Georgia" pitchFamily="34" charset="0"/>
                <a:ea typeface="Georgia" pitchFamily="34" charset="-122"/>
                <a:cs typeface="Georgia" pitchFamily="34" charset="-120"/>
              </a:rPr>
              <a:t>Normal in all five TEG measures, in a patient with ALF and an INR of 4.2</a:t>
            </a:r>
            <a:endParaRPr lang="en-US" sz="18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Stravitz RT et al. J Hepatol 2012;56:129-36 [PMID: 21703173]</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CRRT for ammonia: what to agree on with nephrology</a:t>
            </a:r>
            <a:endParaRPr lang="en-US" sz="3000" dirty="0"/>
          </a:p>
        </p:txBody>
      </p:sp>
      <p:graphicFrame>
        <p:nvGraphicFramePr>
          <p:cNvPr id="48" name="Table"/>
          <p:cNvGraphicFramePr>
            <a:graphicFrameLocks noGrp="1"/>
          </p:cNvGraphicFramePr>
          <p:nvPr>
            <p:extLst>
              <p:ext uri="{D42A27DB-BD31-4B8C-83A1-F6EECF244321}">
                <p14:modId xmlns:p14="http://schemas.microsoft.com/office/powerpoint/2010/main" val="1579011935"/>
              </p:ext>
            </p:extLst>
          </p:nvPr>
        </p:nvGraphicFramePr>
        <p:xfrm>
          <a:off x="731520" y="1325880"/>
          <a:ext cx="10728655" cy="914400"/>
        </p:xfrm>
        <a:graphic>
          <a:graphicData uri="http://schemas.openxmlformats.org/drawingml/2006/table">
            <a:tbl>
              <a:tblPr/>
              <a:tblGrid>
                <a:gridCol w="1645920"/>
                <a:gridCol w="9079992"/>
              </a:tblGrid>
              <a:tr h="457200">
                <a:tc>
                  <a:txBody>
                    <a:bodyPr/>
                    <a:lstStyle/>
                    <a:p>
                      <a:pPr algn="l" indent="0" marL="0">
                        <a:buNone/>
                      </a:pP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800" b="1" dirty="0">
                          <a:solidFill>
                            <a:srgbClr val="000000"/>
                          </a:solidFill>
                          <a:latin typeface="Calibri" pitchFamily="34" charset="0"/>
                          <a:ea typeface="Calibri" pitchFamily="34" charset="-122"/>
                          <a:cs typeface="Calibri" pitchFamily="34" charset="-120"/>
                        </a:rPr>
                        <a:t>What to watch and say</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960120">
                <a:tc>
                  <a:txBody>
                    <a:bodyPr/>
                    <a:lstStyle/>
                    <a:p>
                      <a:pPr algn="l" indent="0" marL="0">
                        <a:buNone/>
                      </a:pPr>
                      <a:r>
                        <a:rPr lang="en-US" sz="1800" b="1" dirty="0">
                          <a:solidFill>
                            <a:srgbClr val="000000"/>
                          </a:solidFill>
                          <a:latin typeface="Calibri" pitchFamily="34" charset="0"/>
                          <a:ea typeface="Calibri" pitchFamily="34" charset="-122"/>
                          <a:cs typeface="Calibri" pitchFamily="34" charset="-120"/>
                        </a:rPr>
                        <a:t>Why</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It's for the ammonia and the brain, not the creatinine. Give them the HE grade, the ammonia trend, urine output and fluid status</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960120">
                <a:tc>
                  <a:txBody>
                    <a:bodyPr/>
                    <a:lstStyle/>
                    <a:p>
                      <a:pPr algn="l" indent="0" marL="0">
                        <a:buNone/>
                      </a:pPr>
                      <a:r>
                        <a:rPr lang="en-US" sz="1800" b="1" dirty="0">
                          <a:solidFill>
                            <a:srgbClr val="000000"/>
                          </a:solidFill>
                          <a:latin typeface="Calibri" pitchFamily="34" charset="0"/>
                          <a:ea typeface="Calibri" pitchFamily="34" charset="-122"/>
                          <a:cs typeface="Calibri" pitchFamily="34" charset="-120"/>
                        </a:rPr>
                        <a:t>Dose</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Prescribed vs delivered. Filter clotting and downtime mean less clearance, and the ammonia climbs back. Recheck it</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960120">
                <a:tc>
                  <a:txBody>
                    <a:bodyPr/>
                    <a:lstStyle/>
                    <a:p>
                      <a:pPr algn="l" indent="0" marL="0">
                        <a:buNone/>
                      </a:pPr>
                      <a:r>
                        <a:rPr lang="en-US" sz="1800" b="1" dirty="0">
                          <a:solidFill>
                            <a:srgbClr val="000000"/>
                          </a:solidFill>
                          <a:latin typeface="Calibri" pitchFamily="34" charset="0"/>
                          <a:ea typeface="Calibri" pitchFamily="34" charset="-122"/>
                          <a:cs typeface="Calibri" pitchFamily="34" charset="-120"/>
                        </a:rPr>
                        <a:t>Sodium</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One plan for replacement fluid or dialysate, hypertonic saline and every other sodium source. Check the sodium often</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1188720">
                <a:tc>
                  <a:txBody>
                    <a:bodyPr/>
                    <a:lstStyle/>
                    <a:p>
                      <a:pPr algn="l" indent="0" marL="0">
                        <a:buNone/>
                      </a:pPr>
                      <a:r>
                        <a:rPr lang="en-US" sz="1800" b="1" dirty="0">
                          <a:solidFill>
                            <a:srgbClr val="000000"/>
                          </a:solidFill>
                          <a:latin typeface="Calibri" pitchFamily="34" charset="0"/>
                          <a:ea typeface="Calibri" pitchFamily="34" charset="-122"/>
                          <a:cs typeface="Calibri" pitchFamily="34" charset="-120"/>
                        </a:rPr>
                        <a:t>Safety</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Phosphate and potassium fall. Blood pressure drops at connection. Anticoagulation per your protocol; citrate can build up in liver failure, so follow the total to ionized calcium ratio</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ACG ALF 2023 [PMID: 37377263]; Cardoso FS et al. Hepatology 2018 [PMID: 28859230]; update 2022 [PMID: 36001996]</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txBox="1"/>
          <p:nvPr/>
        </p:nvSpPr>
        <p:spPr>
          <a:xfrm>
            <a:off x="731520" y="2377440"/>
            <a:ext cx="10728655" cy="1280160"/>
          </a:xfrm>
          <a:prstGeom prst="rect">
            <a:avLst/>
          </a:prstGeom>
          <a:noFill/>
          <a:ln/>
        </p:spPr>
        <p:txBody>
          <a:bodyPr wrap="square" lIns="0" tIns="0" rIns="0" bIns="0" rtlCol="0" anchor="ctr"/>
          <a:lstStyle/>
          <a:p>
            <a:pPr algn="ctr" indent="0" marL="0">
              <a:buNone/>
            </a:pPr>
            <a:r>
              <a:rPr lang="en-US" sz="4400" i="1" dirty="0">
                <a:solidFill>
                  <a:srgbClr val="000000"/>
                </a:solidFill>
                <a:latin typeface="Georgia" pitchFamily="34" charset="0"/>
                <a:ea typeface="Georgia" pitchFamily="34" charset="-122"/>
                <a:cs typeface="Georgia" pitchFamily="34" charset="-120"/>
              </a:rPr>
              <a:t>I know what you're thinking...</a:t>
            </a:r>
            <a:endParaRPr lang="en-US" sz="4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"CVVH doesn't clear ammonia"</a:t>
            </a:r>
            <a:endParaRPr lang="en-US" sz="3000" dirty="0"/>
          </a:p>
        </p:txBody>
      </p:sp>
      <p:sp>
        <p:nvSpPr>
          <p:cNvPr id="3" name="Question"/>
          <p:cNvSpPr txBox="1"/>
          <p:nvPr/>
        </p:nvSpPr>
        <p:spPr>
          <a:xfrm>
            <a:off x="822960" y="2926080"/>
            <a:ext cx="10545775" cy="548640"/>
          </a:xfrm>
          <a:prstGeom prst="rect">
            <a:avLst/>
          </a:prstGeom>
          <a:noFill/>
          <a:ln/>
        </p:spPr>
        <p:txBody>
          <a:bodyPr wrap="square" lIns="0" tIns="0" rIns="0" bIns="0" rtlCol="0" anchor="ctr"/>
          <a:lstStyle/>
          <a:p>
            <a:pPr algn="ctr" indent="0" marL="0">
              <a:buNone/>
            </a:pPr>
            <a:r>
              <a:rPr lang="en-US" sz="3200" b="1" dirty="0">
                <a:solidFill>
                  <a:srgbClr val="000000"/>
                </a:solidFill>
                <a:latin typeface="Georgia" pitchFamily="34" charset="0"/>
                <a:ea typeface="Georgia" pitchFamily="34" charset="-122"/>
                <a:cs typeface="Georgia" pitchFamily="34" charset="-120"/>
              </a:rPr>
              <a:t>True or false?</a:t>
            </a:r>
            <a:endParaRPr lang="en-US" sz="32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"CVVH doesn't clear ammonia"</a:t>
            </a:r>
            <a:endParaRPr lang="en-US" sz="3000" dirty="0"/>
          </a:p>
        </p:txBody>
      </p:sp>
      <p:sp>
        <p:nvSpPr>
          <p:cNvPr id="3" name="Body"/>
          <p:cNvSpPr txBox="1"/>
          <p:nvPr/>
        </p:nvSpPr>
        <p:spPr>
          <a:xfrm>
            <a:off x="640080" y="1280160"/>
            <a:ext cx="6035040" cy="3931920"/>
          </a:xfrm>
          <a:prstGeom prst="rect">
            <a:avLst/>
          </a:prstGeom>
          <a:noFill/>
          <a:ln/>
        </p:spPr>
        <p:txBody>
          <a:bodyPr wrap="square" lIns="50800" tIns="50800" rIns="50800" bIns="50800" rtlCol="0" anchor="t"/>
          <a:lstStyle/>
          <a:p>
            <a:pPr marL="228600" indent="-228600">
              <a:spcBef>
                <a:spcPts val="1000"/>
              </a:spcBef>
              <a:buSzPct val="100000"/>
              <a:buChar char="–"/>
            </a:pPr>
            <a:r>
              <a:rPr lang="en-US" sz="1900" dirty="0">
                <a:solidFill>
                  <a:srgbClr val="000000"/>
                </a:solidFill>
                <a:latin typeface="Georgia" pitchFamily="34" charset="0"/>
                <a:ea typeface="Georgia" pitchFamily="34" charset="-122"/>
                <a:cs typeface="Georgia" pitchFamily="34" charset="-120"/>
              </a:rPr>
              <a:t>Ammonia is tiny (17 Da), water soluble and not protein bound</a:t>
            </a:r>
            <a:endParaRPr lang="en-US" sz="1900" dirty="0"/>
          </a:p>
          <a:p>
            <a:pPr marL="228600" indent="-228600">
              <a:spcBef>
                <a:spcPts val="1000"/>
              </a:spcBef>
              <a:buSzPct val="100000"/>
              <a:buChar char="–"/>
            </a:pPr>
            <a:r>
              <a:rPr lang="en-US" sz="1900" dirty="0">
                <a:solidFill>
                  <a:srgbClr val="000000"/>
                </a:solidFill>
                <a:latin typeface="Georgia" pitchFamily="34" charset="0"/>
                <a:ea typeface="Georgia" pitchFamily="34" charset="-122"/>
                <a:cs typeface="Georgia" pitchFamily="34" charset="-120"/>
              </a:rPr>
              <a:t>It crosses the filter with the water (convection, CVVH) or down its gradient (diffusion, CVVHD)</a:t>
            </a:r>
            <a:endParaRPr lang="en-US" sz="1900" dirty="0"/>
          </a:p>
          <a:p>
            <a:pPr marL="228600" indent="-228600">
              <a:spcBef>
                <a:spcPts val="1000"/>
              </a:spcBef>
              <a:buSzPct val="100000"/>
              <a:buChar char="–"/>
            </a:pPr>
            <a:r>
              <a:rPr lang="en-US" sz="1900" dirty="0">
                <a:solidFill>
                  <a:srgbClr val="000000"/>
                </a:solidFill>
                <a:latin typeface="Georgia" pitchFamily="34" charset="0"/>
                <a:ea typeface="Georgia" pitchFamily="34" charset="-122"/>
                <a:cs typeface="Georgia" pitchFamily="34" charset="-120"/>
              </a:rPr>
              <a:t>So what matters is effluent flow and hours on a working circuit, not the letters</a:t>
            </a:r>
            <a:endParaRPr lang="en-US" sz="1900" dirty="0"/>
          </a:p>
          <a:p>
            <a:pPr marL="228600" indent="-228600">
              <a:spcBef>
                <a:spcPts val="1000"/>
              </a:spcBef>
              <a:buSzPct val="100000"/>
              <a:buChar char="–"/>
            </a:pPr>
            <a:r>
              <a:rPr lang="en-US" sz="1900" dirty="0">
                <a:solidFill>
                  <a:srgbClr val="000000"/>
                </a:solidFill>
                <a:latin typeface="Georgia" pitchFamily="34" charset="0"/>
                <a:ea typeface="Georgia" pitchFamily="34" charset="-122"/>
                <a:cs typeface="Georgia" pitchFamily="34" charset="-120"/>
              </a:rPr>
              <a:t>More effluent, more clearance: </a:t>
            </a:r>
            <a:r>
              <a:rPr lang="en-US" sz="1900" b="1" dirty="0">
                <a:solidFill>
                  <a:srgbClr val="000000"/>
                </a:solidFill>
                <a:latin typeface="Georgia" pitchFamily="34" charset="0"/>
                <a:ea typeface="Georgia" pitchFamily="34" charset="-122"/>
                <a:cs typeface="Georgia" pitchFamily="34" charset="-120"/>
              </a:rPr>
              <a:t>90 vs 35 mL/kg/h</a:t>
            </a:r>
            <a:r>
              <a:rPr lang="en-US" sz="1900" dirty="0">
                <a:solidFill>
                  <a:srgbClr val="000000"/>
                </a:solidFill>
                <a:latin typeface="Georgia" pitchFamily="34" charset="0"/>
                <a:ea typeface="Georgia" pitchFamily="34" charset="-122"/>
                <a:cs typeface="Georgia" pitchFamily="34" charset="-120"/>
              </a:rPr>
              <a:t> (Slack 2014)</a:t>
            </a:r>
            <a:endParaRPr lang="en-US" sz="1900" dirty="0"/>
          </a:p>
          <a:p>
            <a:pPr marL="228600" indent="-228600">
              <a:spcBef>
                <a:spcPts val="1000"/>
              </a:spcBef>
              <a:buSzPct val="100000"/>
              <a:buChar char="–"/>
            </a:pPr>
            <a:r>
              <a:rPr lang="en-US" sz="1900" dirty="0">
                <a:solidFill>
                  <a:srgbClr val="000000"/>
                </a:solidFill>
                <a:latin typeface="Georgia" pitchFamily="34" charset="0"/>
                <a:ea typeface="Georgia" pitchFamily="34" charset="-122"/>
                <a:cs typeface="Georgia" pitchFamily="34" charset="-120"/>
              </a:rPr>
              <a:t>54 ALF patients on CRRT: median ammonia </a:t>
            </a:r>
            <a:r>
              <a:rPr lang="en-US" sz="1900" b="1" dirty="0">
                <a:solidFill>
                  <a:srgbClr val="000000"/>
                </a:solidFill>
                <a:latin typeface="Georgia" pitchFamily="34" charset="0"/>
                <a:ea typeface="Georgia" pitchFamily="34" charset="-122"/>
                <a:cs typeface="Georgia" pitchFamily="34" charset="-120"/>
              </a:rPr>
              <a:t>151 → 52 μmol/L</a:t>
            </a:r>
            <a:r>
              <a:rPr lang="en-US" sz="1900" dirty="0">
                <a:solidFill>
                  <a:srgbClr val="000000"/>
                </a:solidFill>
                <a:latin typeface="Georgia" pitchFamily="34" charset="0"/>
                <a:ea typeface="Georgia" pitchFamily="34" charset="-122"/>
                <a:cs typeface="Georgia" pitchFamily="34" charset="-120"/>
              </a:rPr>
              <a:t> by day 5 (Warrillow 2020)</a:t>
            </a:r>
            <a:endParaRPr lang="en-US" sz="1900" dirty="0"/>
          </a:p>
        </p:txBody>
      </p:sp>
      <p:graphicFrame>
        <p:nvGraphicFramePr>
          <p:cNvPr id="4" name="Chart 0" descr=""/>
          <p:cNvGraphicFramePr/>
          <p:nvPr/>
        </p:nvGraphicFramePr>
        <p:xfrm>
          <a:off x="6858000" y="1234440"/>
          <a:ext cx="4846320" cy="3931920"/>
        </p:xfrm>
        <a:graphic xmlns:a="http://schemas.openxmlformats.org/drawingml/2006/main">
          <a:graphicData uri="http://schemas.openxmlformats.org/drawingml/2006/chart">
            <c:chart xmlns:c="http://schemas.openxmlformats.org/drawingml/2006/chart" r:id="rId1"/>
          </a:graphicData>
        </a:graphic>
      </p:graphicFrame>
      <p:sp>
        <p:nvSpPr>
          <p:cNvPr id="5" name="Question"/>
          <p:cNvSpPr txBox="1"/>
          <p:nvPr/>
        </p:nvSpPr>
        <p:spPr>
          <a:xfrm>
            <a:off x="822960" y="5394960"/>
            <a:ext cx="10545775" cy="548640"/>
          </a:xfrm>
          <a:prstGeom prst="rect">
            <a:avLst/>
          </a:prstGeom>
          <a:noFill/>
          <a:ln/>
        </p:spPr>
        <p:txBody>
          <a:bodyPr wrap="square" lIns="0" tIns="0" rIns="0" bIns="0" rtlCol="0" anchor="ctr"/>
          <a:lstStyle/>
          <a:p>
            <a:pPr algn="ctr" indent="0" marL="0">
              <a:buNone/>
            </a:pPr>
            <a:r>
              <a:rPr lang="en-US" sz="2100" b="1" dirty="0">
                <a:solidFill>
                  <a:srgbClr val="000000"/>
                </a:solidFill>
                <a:highlight>
                  <a:srgbClr val="FFFF00"/>
                </a:highlight>
                <a:latin typeface="Georgia" pitchFamily="34" charset="0"/>
                <a:ea typeface="Georgia" pitchFamily="34" charset="-122"/>
                <a:cs typeface="Georgia" pitchFamily="34" charset="-120"/>
              </a:rPr>
              <a:t>It does. About half the clearance of urea, so dose and filter life matter</a:t>
            </a:r>
            <a:endParaRPr lang="en-US" sz="2100" dirty="0"/>
          </a:p>
        </p:txBody>
      </p:sp>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Fisher C et al. Blood Purif 2022 [PMID: 35042216]; Warrillow SJ et al. Crit Care Med 2020 [PMID: 31939790]; Slack AJ et al. Liver Int 2014</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Does early CRRT actually help?</a:t>
            </a:r>
            <a:endParaRPr lang="en-US" sz="3000" dirty="0"/>
          </a:p>
        </p:txBody>
      </p:sp>
      <p:pic>
        <p:nvPicPr>
          <p:cNvPr id="3" name="Image 0" descr="Ammonia on days 1 to 3 with CRRT, intermittent RRT or no RRT">    </p:cNvPr>
          <p:cNvPicPr>
            <a:picLocks noChangeAspect="1"/>
          </p:cNvPicPr>
          <p:nvPr/>
        </p:nvPicPr>
        <p:blipFill>
          <a:blip r:embed="rId1"/>
          <a:stretch>
            <a:fillRect/>
          </a:stretch>
        </p:blipFill>
        <p:spPr>
          <a:xfrm>
            <a:off x="2694261" y="1188720"/>
            <a:ext cx="6803174" cy="4297680"/>
          </a:xfrm>
          <a:prstGeom prst="rect">
            <a:avLst/>
          </a:prstGeom>
        </p:spPr>
      </p:pic>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Cardoso FS et al. Hepatology 2018;67:711-20 [PMID: 28859230]</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Does early CRRT actually help?</a:t>
            </a:r>
            <a:endParaRPr lang="en-US" sz="3000" dirty="0"/>
          </a:p>
        </p:txBody>
      </p:sp>
      <p:pic>
        <p:nvPicPr>
          <p:cNvPr id="3" name="Image 0" descr="Ammonia on days 1 to 3 with CRRT, intermittent RRT or no RRT">    </p:cNvPr>
          <p:cNvPicPr>
            <a:picLocks noChangeAspect="1"/>
          </p:cNvPicPr>
          <p:nvPr/>
        </p:nvPicPr>
        <p:blipFill>
          <a:blip r:embed="rId1"/>
          <a:stretch>
            <a:fillRect/>
          </a:stretch>
        </p:blipFill>
        <p:spPr>
          <a:xfrm>
            <a:off x="2694261" y="1188720"/>
            <a:ext cx="6803174" cy="4297680"/>
          </a:xfrm>
          <a:prstGeom prst="rect">
            <a:avLst/>
          </a:prstGeom>
        </p:spPr>
      </p:pic>
      <p:sp>
        <p:nvSpPr>
          <p:cNvPr id="4" name="Body"/>
          <p:cNvSpPr txBox="1"/>
          <p:nvPr/>
        </p:nvSpPr>
        <p:spPr>
          <a:xfrm>
            <a:off x="822960" y="5577840"/>
            <a:ext cx="10545775" cy="548640"/>
          </a:xfrm>
          <a:prstGeom prst="rect">
            <a:avLst/>
          </a:prstGeom>
          <a:noFill/>
          <a:ln/>
        </p:spPr>
        <p:txBody>
          <a:bodyPr wrap="square" lIns="50800" tIns="50800" rIns="50800" bIns="50800" rtlCol="0" anchor="t"/>
          <a:lstStyle/>
          <a:p>
            <a:pPr algn="ctr" indent="0" marL="0">
              <a:spcBef>
                <a:spcPts val="800"/>
              </a:spcBef>
              <a:buNone/>
            </a:pPr>
            <a:r>
              <a:rPr lang="en-US" sz="1700" i="1" dirty="0">
                <a:solidFill>
                  <a:srgbClr val="000000"/>
                </a:solidFill>
                <a:latin typeface="Georgia" pitchFamily="34" charset="0"/>
                <a:ea typeface="Georgia" pitchFamily="34" charset="-122"/>
                <a:cs typeface="Georgia" pitchFamily="34" charset="-120"/>
              </a:rPr>
              <a:t>Ammonia fell from about 140 to under 90 μmol/L over 3 days on CRRT. Little change with intermittent RRT or no RRT</a:t>
            </a:r>
            <a:endParaRPr lang="en-US" sz="17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Cardoso FS et al. Hepatology 2018;67:711-20 [PMID: 28859230]</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Does early CRRT actually help?</a:t>
            </a:r>
            <a:endParaRPr lang="en-US" sz="3000" dirty="0"/>
          </a:p>
        </p:txBody>
      </p:sp>
      <p:graphicFrame>
        <p:nvGraphicFramePr>
          <p:cNvPr id="54" name="Table"/>
          <p:cNvGraphicFramePr>
            <a:graphicFrameLocks noGrp="1"/>
          </p:cNvGraphicFramePr>
          <p:nvPr>
            <p:extLst>
              <p:ext uri="{D42A27DB-BD31-4B8C-83A1-F6EECF244321}">
                <p14:modId xmlns:p14="http://schemas.microsoft.com/office/powerpoint/2010/main" val="1579011935"/>
              </p:ext>
            </p:extLst>
          </p:nvPr>
        </p:nvGraphicFramePr>
        <p:xfrm>
          <a:off x="640080" y="1371600"/>
          <a:ext cx="10911535" cy="914400"/>
        </p:xfrm>
        <a:graphic>
          <a:graphicData uri="http://schemas.openxmlformats.org/drawingml/2006/table">
            <a:tbl>
              <a:tblPr/>
              <a:tblGrid>
                <a:gridCol w="1737360"/>
                <a:gridCol w="4572000"/>
                <a:gridCol w="4599432"/>
              </a:tblGrid>
              <a:tr h="457200">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US ALF Study Group cohort (2018)</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Pilot RCT (2026)</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73152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Design</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Large registry, observational</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Open label, ALF with cerebral edema; both arms got plasma exchange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3152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Comparison</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CRRT vs no CRRT</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CRRT within 12 hours vs CRRT only if plasma exchange failed</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109728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Finding</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100584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Catch</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Cardoso FS et al. Hepatology 2018 [PMID: 28859230]; Aliment Pharmacol Ther 2026 [PMID: 42332991]</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Does early CRRT actually help?</a:t>
            </a:r>
            <a:endParaRPr lang="en-US" sz="3000" dirty="0"/>
          </a:p>
        </p:txBody>
      </p:sp>
      <p:graphicFrame>
        <p:nvGraphicFramePr>
          <p:cNvPr id="55" name="Table"/>
          <p:cNvGraphicFramePr>
            <a:graphicFrameLocks noGrp="1"/>
          </p:cNvGraphicFramePr>
          <p:nvPr>
            <p:extLst>
              <p:ext uri="{D42A27DB-BD31-4B8C-83A1-F6EECF244321}">
                <p14:modId xmlns:p14="http://schemas.microsoft.com/office/powerpoint/2010/main" val="1579011935"/>
              </p:ext>
            </p:extLst>
          </p:nvPr>
        </p:nvGraphicFramePr>
        <p:xfrm>
          <a:off x="640080" y="1371600"/>
          <a:ext cx="10911535" cy="914400"/>
        </p:xfrm>
        <a:graphic>
          <a:graphicData uri="http://schemas.openxmlformats.org/drawingml/2006/table">
            <a:tbl>
              <a:tblPr/>
              <a:tblGrid>
                <a:gridCol w="1737360"/>
                <a:gridCol w="4572000"/>
                <a:gridCol w="4599432"/>
              </a:tblGrid>
              <a:tr h="457200">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US ALF Study Group cohort (2018)</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Pilot RCT (2026)</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73152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Design</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Large registry, observational</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Open label, ALF with cerebral edema; both arms got plasma exchange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3152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Comparison</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CRRT vs no CRRT</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CRRT within 12 hours vs CRRT only if plasma exchange failed</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109728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Finding</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CRRT linked to lower ammonia and better 21-day transplant-free survival</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Primary endpoint, 28-day survival: similar by intention to treat. Fewer deaths in the first 7 days (2.2% vs 17.8%)</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100584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Catch</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Association. Sicker or healthier patients may have been picked for CRRT</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Small pilot, one center, many protocol violations. Needs a larger trial</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Cardoso FS et al. Hepatology 2018 [PMID: 28859230]; Aliment Pharmacol Ther 2026 [PMID: 42332991]</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Day 3: the enzymes are falling</a:t>
            </a:r>
            <a:endParaRPr lang="en-US" sz="3000" dirty="0"/>
          </a:p>
        </p:txBody>
      </p:sp>
      <p:graphicFrame>
        <p:nvGraphicFramePr>
          <p:cNvPr id="3" name="Chart 0" descr=""/>
          <p:cNvGraphicFramePr/>
          <p:nvPr/>
        </p:nvGraphicFramePr>
        <p:xfrm>
          <a:off x="548640" y="1234440"/>
          <a:ext cx="5486400" cy="3931920"/>
        </p:xfrm>
        <a:graphic xmlns:a="http://schemas.openxmlformats.org/drawingml/2006/main">
          <a:graphicData uri="http://schemas.openxmlformats.org/drawingml/2006/chart">
            <c:chart xmlns:c="http://schemas.openxmlformats.org/drawingml/2006/chart" r:id="rId1"/>
          </a:graphicData>
        </a:graphic>
      </p:graphicFrame>
      <p:sp>
        <p:nvSpPr>
          <p:cNvPr id="4" name="Question"/>
          <p:cNvSpPr txBox="1"/>
          <p:nvPr/>
        </p:nvSpPr>
        <p:spPr>
          <a:xfrm>
            <a:off x="6583680" y="2743200"/>
            <a:ext cx="4937760" cy="914400"/>
          </a:xfrm>
          <a:prstGeom prst="rect">
            <a:avLst/>
          </a:prstGeom>
          <a:noFill/>
          <a:ln/>
        </p:spPr>
        <p:txBody>
          <a:bodyPr wrap="square" lIns="0" tIns="0" rIns="0" bIns="0" rtlCol="0" anchor="ctr"/>
          <a:lstStyle/>
          <a:p>
            <a:pPr algn="ctr" indent="0" marL="0">
              <a:buNone/>
            </a:pPr>
            <a:r>
              <a:rPr lang="en-US" sz="3000" b="1" dirty="0">
                <a:solidFill>
                  <a:srgbClr val="000000"/>
                </a:solidFill>
                <a:latin typeface="Georgia" pitchFamily="34" charset="0"/>
                <a:ea typeface="Georgia" pitchFamily="34" charset="-122"/>
                <a:cs typeface="Georgia" pitchFamily="34" charset="-120"/>
              </a:rPr>
              <a:t>Is she getting better?</a:t>
            </a:r>
            <a:endParaRPr lang="en-US" sz="3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Day 3: the enzymes are falling</a:t>
            </a:r>
            <a:endParaRPr lang="en-US" sz="3000" dirty="0"/>
          </a:p>
        </p:txBody>
      </p:sp>
      <p:graphicFrame>
        <p:nvGraphicFramePr>
          <p:cNvPr id="3" name="Chart 0" descr=""/>
          <p:cNvGraphicFramePr/>
          <p:nvPr/>
        </p:nvGraphicFramePr>
        <p:xfrm>
          <a:off x="548640" y="1234440"/>
          <a:ext cx="5486400" cy="393192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6217920" y="1234440"/>
          <a:ext cx="5486400" cy="3931920"/>
        </p:xfrm>
        <a:graphic xmlns:a="http://schemas.openxmlformats.org/drawingml/2006/main">
          <a:graphicData uri="http://schemas.openxmlformats.org/drawingml/2006/chart">
            <c:chart xmlns:c="http://schemas.openxmlformats.org/drawingml/2006/chart" r:id="rId2"/>
          </a:graphicData>
        </a:graphic>
      </p:graphicFrame>
      <p:sp>
        <p:nvSpPr>
          <p:cNvPr id="5" name="Body"/>
          <p:cNvSpPr txBox="1"/>
          <p:nvPr/>
        </p:nvSpPr>
        <p:spPr>
          <a:xfrm>
            <a:off x="6217920" y="5138928"/>
            <a:ext cx="5486400" cy="411480"/>
          </a:xfrm>
          <a:prstGeom prst="rect">
            <a:avLst/>
          </a:prstGeom>
          <a:noFill/>
          <a:ln/>
        </p:spPr>
        <p:txBody>
          <a:bodyPr wrap="square" lIns="50800" tIns="50800" rIns="50800" bIns="50800" rtlCol="0" anchor="t"/>
          <a:lstStyle/>
          <a:p>
            <a:pPr algn="ctr" indent="0" marL="0">
              <a:spcBef>
                <a:spcPts val="800"/>
              </a:spcBef>
              <a:buNone/>
            </a:pPr>
            <a:r>
              <a:rPr lang="en-US" sz="1700" i="1" dirty="0">
                <a:solidFill>
                  <a:srgbClr val="000000"/>
                </a:solidFill>
                <a:latin typeface="Georgia" pitchFamily="34" charset="0"/>
                <a:ea typeface="Georgia" pitchFamily="34" charset="-122"/>
                <a:cs typeface="Georgia" pitchFamily="34" charset="-120"/>
              </a:rPr>
              <a:t>Day 2 arterial pH 7.26 after fluids</a:t>
            </a:r>
            <a:endParaRPr lang="en-US" sz="1700" dirty="0"/>
          </a:p>
        </p:txBody>
      </p:sp>
      <p:sp>
        <p:nvSpPr>
          <p:cNvPr id="6" name="Question"/>
          <p:cNvSpPr txBox="1"/>
          <p:nvPr/>
        </p:nvSpPr>
        <p:spPr>
          <a:xfrm>
            <a:off x="822960" y="562356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highlight>
                  <a:srgbClr val="FFFF00"/>
                </a:highlight>
                <a:latin typeface="Georgia" pitchFamily="34" charset="0"/>
                <a:ea typeface="Georgia" pitchFamily="34" charset="-122"/>
                <a:cs typeface="Georgia" pitchFamily="34" charset="-120"/>
              </a:rPr>
              <a:t>No. The INR, the lactate and her brain are all worse</a:t>
            </a:r>
            <a:endParaRPr lang="en-US" sz="2400" dirty="0"/>
          </a:p>
        </p:txBody>
      </p:sp>
      <p:sp>
        <p:nvSpPr>
          <p:cNvPr id="7"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Made-up numbers for teaching</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When do you call transplant hepatology?</a:t>
            </a:r>
            <a:endParaRPr lang="en-US" sz="3000" dirty="0"/>
          </a:p>
        </p:txBody>
      </p:sp>
      <p:sp>
        <p:nvSpPr>
          <p:cNvPr id="3" name="Question"/>
          <p:cNvSpPr txBox="1"/>
          <p:nvPr/>
        </p:nvSpPr>
        <p:spPr>
          <a:xfrm>
            <a:off x="822960" y="2377440"/>
            <a:ext cx="10545775" cy="548640"/>
          </a:xfrm>
          <a:prstGeom prst="rect">
            <a:avLst/>
          </a:prstGeom>
          <a:noFill/>
          <a:ln/>
        </p:spPr>
        <p:txBody>
          <a:bodyPr wrap="square" lIns="0" tIns="0" rIns="0" bIns="0" rtlCol="0" anchor="ctr"/>
          <a:lstStyle/>
          <a:p>
            <a:pPr algn="ctr" indent="0" marL="0">
              <a:buNone/>
            </a:pPr>
            <a:r>
              <a:rPr lang="en-US" sz="2800" b="1" dirty="0">
                <a:solidFill>
                  <a:srgbClr val="000000"/>
                </a:solidFill>
                <a:latin typeface="Georgia" pitchFamily="34" charset="0"/>
                <a:ea typeface="Georgia" pitchFamily="34" charset="-122"/>
                <a:cs typeface="Georgia" pitchFamily="34" charset="-120"/>
              </a:rPr>
              <a:t>When she meets King's College criteria?</a:t>
            </a:r>
            <a:endParaRPr lang="en-US" sz="2800" dirty="0"/>
          </a:p>
        </p:txBody>
      </p:sp>
      <p:sp>
        <p:nvSpPr>
          <p:cNvPr id="4" name="Question"/>
          <p:cNvSpPr txBox="1"/>
          <p:nvPr/>
        </p:nvSpPr>
        <p:spPr>
          <a:xfrm>
            <a:off x="822960" y="3108960"/>
            <a:ext cx="10545775" cy="548640"/>
          </a:xfrm>
          <a:prstGeom prst="rect">
            <a:avLst/>
          </a:prstGeom>
          <a:noFill/>
          <a:ln/>
        </p:spPr>
        <p:txBody>
          <a:bodyPr wrap="square" lIns="0" tIns="0" rIns="0" bIns="0" rtlCol="0" anchor="ctr"/>
          <a:lstStyle/>
          <a:p>
            <a:pPr algn="ctr" indent="0" marL="0">
              <a:buNone/>
            </a:pPr>
            <a:r>
              <a:rPr lang="en-US" sz="2800" b="1" dirty="0">
                <a:solidFill>
                  <a:srgbClr val="000000"/>
                </a:solidFill>
                <a:latin typeface="Georgia" pitchFamily="34" charset="0"/>
                <a:ea typeface="Georgia" pitchFamily="34" charset="-122"/>
                <a:cs typeface="Georgia" pitchFamily="34" charset="-120"/>
              </a:rPr>
              <a:t>When MELD is high enough?</a:t>
            </a:r>
            <a:endParaRPr lang="en-US" sz="2800" dirty="0"/>
          </a:p>
        </p:txBody>
      </p:sp>
      <p:pic>
        <p:nvPicPr>
          <p:cNvPr id="5" name="Image 0" descr="Watercolor of a desk phone with the handset off the hook">    </p:cNvPr>
          <p:cNvPicPr>
            <a:picLocks noChangeAspect="1"/>
          </p:cNvPicPr>
          <p:nvPr/>
        </p:nvPicPr>
        <p:blipFill>
          <a:blip r:embed="rId1"/>
          <a:stretch>
            <a:fillRect/>
          </a:stretch>
        </p:blipFill>
        <p:spPr>
          <a:xfrm>
            <a:off x="4769968" y="3840480"/>
            <a:ext cx="2651760" cy="2651760"/>
          </a:xfrm>
          <a:prstGeom prst="rect">
            <a:avLst/>
          </a:prstGeom>
        </p:spPr>
      </p:pic>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When do you call transplant hepatology?</a:t>
            </a:r>
            <a:endParaRPr lang="en-US" sz="3000" dirty="0"/>
          </a:p>
        </p:txBody>
      </p:sp>
      <p:sp>
        <p:nvSpPr>
          <p:cNvPr id="3" name="Question"/>
          <p:cNvSpPr txBox="1"/>
          <p:nvPr/>
        </p:nvSpPr>
        <p:spPr>
          <a:xfrm>
            <a:off x="822960" y="146304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highlight>
                  <a:srgbClr val="FFFF00"/>
                </a:highlight>
                <a:latin typeface="Georgia" pitchFamily="34" charset="0"/>
                <a:ea typeface="Georgia" pitchFamily="34" charset="-122"/>
                <a:cs typeface="Georgia" pitchFamily="34" charset="-120"/>
              </a:rPr>
              <a:t>You should have called on admission, when you first suspected ALF</a:t>
            </a:r>
            <a:endParaRPr lang="en-US" sz="2400" dirty="0"/>
          </a:p>
        </p:txBody>
      </p:sp>
      <p:sp>
        <p:nvSpPr>
          <p:cNvPr id="4" name="Body"/>
          <p:cNvSpPr txBox="1"/>
          <p:nvPr/>
        </p:nvSpPr>
        <p:spPr>
          <a:xfrm>
            <a:off x="822960" y="2377440"/>
            <a:ext cx="7680960" cy="3108960"/>
          </a:xfrm>
          <a:prstGeom prst="rect">
            <a:avLst/>
          </a:prstGeom>
          <a:noFill/>
          <a:ln/>
        </p:spPr>
        <p:txBody>
          <a:bodyPr wrap="square" lIns="50800" tIns="50800" rIns="50800" bIns="50800" rtlCol="0" anchor="t"/>
          <a:lstStyle/>
          <a:p>
            <a:pPr marL="228600" indent="-228600">
              <a:spcBef>
                <a:spcPts val="1400"/>
              </a:spcBef>
              <a:buSzPct val="100000"/>
              <a:buChar char="–"/>
            </a:pPr>
            <a:r>
              <a:rPr lang="en-US" sz="2100" dirty="0">
                <a:solidFill>
                  <a:srgbClr val="000000"/>
                </a:solidFill>
                <a:latin typeface="Georgia" pitchFamily="34" charset="0"/>
                <a:ea typeface="Georgia" pitchFamily="34" charset="-122"/>
                <a:cs typeface="Georgia" pitchFamily="34" charset="-120"/>
              </a:rPr>
              <a:t>King's College criteria predict death without transplant. They are specific, not sensitive</a:t>
            </a:r>
            <a:endParaRPr lang="en-US" sz="2100" dirty="0"/>
          </a:p>
          <a:p>
            <a:pPr marL="228600" indent="-228600">
              <a:spcBef>
                <a:spcPts val="1400"/>
              </a:spcBef>
              <a:buSzPct val="100000"/>
              <a:buChar char="–"/>
            </a:pPr>
            <a:r>
              <a:rPr lang="en-US" sz="2100" dirty="0">
                <a:solidFill>
                  <a:srgbClr val="000000"/>
                </a:solidFill>
                <a:latin typeface="Georgia" pitchFamily="34" charset="0"/>
                <a:ea typeface="Georgia" pitchFamily="34" charset="-122"/>
                <a:cs typeface="Georgia" pitchFamily="34" charset="-120"/>
              </a:rPr>
              <a:t>They are not a referral threshold. If you wait for them, the evaluation starts too late</a:t>
            </a:r>
            <a:endParaRPr lang="en-US" sz="2100" dirty="0"/>
          </a:p>
          <a:p>
            <a:pPr marL="228600" indent="-228600">
              <a:spcBef>
                <a:spcPts val="1400"/>
              </a:spcBef>
              <a:buSzPct val="100000"/>
              <a:buChar char="–"/>
            </a:pPr>
            <a:r>
              <a:rPr lang="en-US" sz="2100" dirty="0">
                <a:solidFill>
                  <a:srgbClr val="000000"/>
                </a:solidFill>
                <a:latin typeface="Georgia" pitchFamily="34" charset="0"/>
                <a:ea typeface="Georgia" pitchFamily="34" charset="-122"/>
                <a:cs typeface="Georgia" pitchFamily="34" charset="-120"/>
              </a:rPr>
              <a:t>Patient A: arterial pH </a:t>
            </a:r>
            <a:r>
              <a:rPr lang="en-US" sz="2100" b="1" dirty="0">
                <a:solidFill>
                  <a:srgbClr val="C00000"/>
                </a:solidFill>
                <a:latin typeface="Georgia" pitchFamily="34" charset="0"/>
                <a:ea typeface="Georgia" pitchFamily="34" charset="-122"/>
                <a:cs typeface="Georgia" pitchFamily="34" charset="-120"/>
              </a:rPr>
              <a:t>7.26</a:t>
            </a:r>
            <a:r>
              <a:rPr lang="en-US" sz="2100" dirty="0">
                <a:solidFill>
                  <a:srgbClr val="000000"/>
                </a:solidFill>
                <a:latin typeface="Georgia" pitchFamily="34" charset="0"/>
                <a:ea typeface="Georgia" pitchFamily="34" charset="-122"/>
                <a:cs typeface="Georgia" pitchFamily="34" charset="-120"/>
              </a:rPr>
              <a:t> on day 2 after fluids. She now meets the acetaminophen criteria</a:t>
            </a:r>
            <a:endParaRPr lang="en-US" sz="2100" dirty="0"/>
          </a:p>
        </p:txBody>
      </p:sp>
      <p:pic>
        <p:nvPicPr>
          <p:cNvPr id="5" name="Image 0" descr="Watercolor of a desk phone with the handset off the hook">    </p:cNvPr>
          <p:cNvPicPr>
            <a:picLocks noChangeAspect="1"/>
          </p:cNvPicPr>
          <p:nvPr/>
        </p:nvPicPr>
        <p:blipFill>
          <a:blip r:embed="rId1"/>
          <a:stretch>
            <a:fillRect/>
          </a:stretch>
        </p:blipFill>
        <p:spPr>
          <a:xfrm>
            <a:off x="8595360" y="2377440"/>
            <a:ext cx="3200400" cy="3200400"/>
          </a:xfrm>
          <a:prstGeom prst="rect">
            <a:avLst/>
          </a:prstGeom>
        </p:spPr>
      </p:pic>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O'Grady 1989 criteria, as summarized in EASL 2017 [PMID: 28417882]; full criteria in the appendix</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Can plasma exchange buy time?</a:t>
            </a:r>
            <a:endParaRPr lang="en-US" sz="3000" dirty="0"/>
          </a:p>
        </p:txBody>
      </p:sp>
      <p:pic>
        <p:nvPicPr>
          <p:cNvPr id="3" name="Image 0" descr="Larsen 2016 plasma exchange trial: title">    </p:cNvPr>
          <p:cNvPicPr>
            <a:picLocks noChangeAspect="1"/>
          </p:cNvPicPr>
          <p:nvPr/>
        </p:nvPicPr>
        <p:blipFill>
          <a:blip r:embed="rId1"/>
          <a:stretch>
            <a:fillRect/>
          </a:stretch>
        </p:blipFill>
        <p:spPr>
          <a:xfrm>
            <a:off x="3045800" y="1097280"/>
            <a:ext cx="6100096" cy="2194560"/>
          </a:xfrm>
          <a:prstGeom prst="rect">
            <a:avLst/>
          </a:prstGeom>
        </p:spPr>
      </p:pic>
      <p:sp>
        <p:nvSpPr>
          <p:cNvPr id="4" name="Question"/>
          <p:cNvSpPr txBox="1"/>
          <p:nvPr/>
        </p:nvSpPr>
        <p:spPr>
          <a:xfrm>
            <a:off x="822960" y="384048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What do you think they found?</a:t>
            </a:r>
            <a:endParaRPr lang="en-US" sz="24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Larsen FS et al. J Hepatol 2016;64:69-78 [PMID: 26325537]</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Can plasma exchange buy time?</a:t>
            </a:r>
            <a:endParaRPr lang="en-US" sz="3000" dirty="0"/>
          </a:p>
        </p:txBody>
      </p:sp>
      <p:pic>
        <p:nvPicPr>
          <p:cNvPr id="3" name="Image 0" descr="Larsen 2016 plasma exchange trial: title">    </p:cNvPr>
          <p:cNvPicPr>
            <a:picLocks noChangeAspect="1"/>
          </p:cNvPicPr>
          <p:nvPr/>
        </p:nvPicPr>
        <p:blipFill>
          <a:blip r:embed="rId1"/>
          <a:stretch>
            <a:fillRect/>
          </a:stretch>
        </p:blipFill>
        <p:spPr>
          <a:xfrm>
            <a:off x="3045800" y="1097280"/>
            <a:ext cx="6100096" cy="2194560"/>
          </a:xfrm>
          <a:prstGeom prst="rect">
            <a:avLst/>
          </a:prstGeom>
        </p:spPr>
      </p:pic>
      <p:pic>
        <p:nvPicPr>
          <p:cNvPr id="4" name="Image 1" descr="Larsen 2016 plasma exchange trial">    </p:cNvPr>
          <p:cNvPicPr>
            <a:picLocks noChangeAspect="1"/>
          </p:cNvPicPr>
          <p:nvPr/>
        </p:nvPicPr>
        <p:blipFill>
          <a:blip r:embed="rId2"/>
          <a:stretch>
            <a:fillRect/>
          </a:stretch>
        </p:blipFill>
        <p:spPr>
          <a:xfrm>
            <a:off x="3474393" y="3520440"/>
            <a:ext cx="5242908" cy="2651760"/>
          </a:xfrm>
          <a:prstGeom prst="rect">
            <a:avLst/>
          </a:prstGeom>
        </p:spPr>
      </p:pic>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Larsen FS et al. J Hepatol 2016;64:69-78 [PMID: 26325537]</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Can plasma exchange buy time?</a:t>
            </a:r>
            <a:endParaRPr lang="en-US" sz="3000" dirty="0"/>
          </a:p>
        </p:txBody>
      </p:sp>
      <p:graphicFrame>
        <p:nvGraphicFramePr>
          <p:cNvPr id="62" name="Table"/>
          <p:cNvGraphicFramePr>
            <a:graphicFrameLocks noGrp="1"/>
          </p:cNvGraphicFramePr>
          <p:nvPr>
            <p:extLst>
              <p:ext uri="{D42A27DB-BD31-4B8C-83A1-F6EECF244321}">
                <p14:modId xmlns:p14="http://schemas.microsoft.com/office/powerpoint/2010/main" val="1579011935"/>
              </p:ext>
            </p:extLst>
          </p:nvPr>
        </p:nvGraphicFramePr>
        <p:xfrm>
          <a:off x="822960" y="1463040"/>
          <a:ext cx="10545775" cy="914400"/>
        </p:xfrm>
        <a:graphic>
          <a:graphicData uri="http://schemas.openxmlformats.org/drawingml/2006/table">
            <a:tbl>
              <a:tblPr/>
              <a:tblGrid>
                <a:gridCol w="2560320"/>
                <a:gridCol w="7982712"/>
              </a:tblGrid>
              <a:tr h="914400">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Study</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Open randomized trial, ALF, high-volume plasma exchange for 3 days vs standard care, 182 patients</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914400">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Main finding</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Hospital survival 58.7% vs 47.8% (HR 0.56); best in patients who were not transplanted</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1005840">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What it doesn't show</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822960">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So</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Larsen FS et al. J Hepatol 2016 [PMID: 26325537]</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Can plasma exchange buy time?</a:t>
            </a:r>
            <a:endParaRPr lang="en-US" sz="3000" dirty="0"/>
          </a:p>
        </p:txBody>
      </p:sp>
      <p:graphicFrame>
        <p:nvGraphicFramePr>
          <p:cNvPr id="63" name="Table"/>
          <p:cNvGraphicFramePr>
            <a:graphicFrameLocks noGrp="1"/>
          </p:cNvGraphicFramePr>
          <p:nvPr>
            <p:extLst>
              <p:ext uri="{D42A27DB-BD31-4B8C-83A1-F6EECF244321}">
                <p14:modId xmlns:p14="http://schemas.microsoft.com/office/powerpoint/2010/main" val="1579011935"/>
              </p:ext>
            </p:extLst>
          </p:nvPr>
        </p:nvGraphicFramePr>
        <p:xfrm>
          <a:off x="822960" y="1463040"/>
          <a:ext cx="10545775" cy="914400"/>
        </p:xfrm>
        <a:graphic>
          <a:graphicData uri="http://schemas.openxmlformats.org/drawingml/2006/table">
            <a:tbl>
              <a:tblPr/>
              <a:tblGrid>
                <a:gridCol w="2560320"/>
                <a:gridCol w="7982712"/>
              </a:tblGrid>
              <a:tr h="914400">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Study</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Open randomized trial, ALF, high-volume plasma exchange for 3 days vs standard care, 182 patients</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914400">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Main finding</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Hospital survival 58.7% vs 47.8% (HR 0.56); best in patients who were not transplanted</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1005840">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What it doesn't show</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800" b="1" dirty="0">
                          <a:solidFill>
                            <a:srgbClr val="000000"/>
                          </a:solidFill>
                          <a:latin typeface="Calibri" pitchFamily="34" charset="0"/>
                          <a:ea typeface="Calibri" pitchFamily="34" charset="-122"/>
                          <a:cs typeface="Calibri" pitchFamily="34" charset="-120"/>
                        </a:rPr>
                        <a:t>Not blinded; one regimen in one population. Says nothing about ACLF or about albumin dialysis devices</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822960">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So</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A bridge to discuss with transplant hepatology. Not a reason to delay listing</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Larsen FS et al. J Hepatol 2016 [PMID: 26325537]</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Let's recap: bed 4, day 3</a:t>
            </a:r>
            <a:endParaRPr lang="en-US" sz="3000" dirty="0"/>
          </a:p>
        </p:txBody>
      </p:sp>
      <p:graphicFrame>
        <p:nvGraphicFramePr>
          <p:cNvPr id="64" name="Table"/>
          <p:cNvGraphicFramePr>
            <a:graphicFrameLocks noGrp="1"/>
          </p:cNvGraphicFramePr>
          <p:nvPr>
            <p:extLst>
              <p:ext uri="{D42A27DB-BD31-4B8C-83A1-F6EECF244321}">
                <p14:modId xmlns:p14="http://schemas.microsoft.com/office/powerpoint/2010/main" val="1579011935"/>
              </p:ext>
            </p:extLst>
          </p:nvPr>
        </p:nvGraphicFramePr>
        <p:xfrm>
          <a:off x="640080" y="1280160"/>
          <a:ext cx="10911535" cy="914400"/>
        </p:xfrm>
        <a:graphic>
          <a:graphicData uri="http://schemas.openxmlformats.org/drawingml/2006/table">
            <a:tbl>
              <a:tblPr/>
              <a:tblGrid>
                <a:gridCol w="3566160"/>
                <a:gridCol w="3749040"/>
                <a:gridCol w="3593592"/>
              </a:tblGrid>
              <a:tr h="411480">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Problem</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What she's on</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What we watch</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68580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Acetaminophen ALF, meets King's (pH 7.26)</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NAC. Listed status 1A on day 2</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Time to an offer</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68580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Grade III-IV encephalopathy, ammonia 182</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Intubated, normal CO2, sodium 145 to 155, CRRT</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Pupils, ammonia on CRRT, sodium</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Lactate 5.8 and rising</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Volume and MAP, look for infection</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Lactate, MAP, pressor need</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INR 5.6, not bleeding</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No plasma</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Bleeding, INR trend</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68580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Infection risk</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Surveillance cultures</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New fever or shock: low bar for antibiotics and antifungals</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Made-up numbers for teaching</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pic>
        <p:nvPicPr>
          <p:cNvPr id="2" name="Image 0" descr="Watercolor of a coiled stethoscope on ivory paper">    </p:cNvPr>
          <p:cNvPicPr>
            <a:picLocks noChangeAspect="1"/>
          </p:cNvPicPr>
          <p:nvPr/>
        </p:nvPicPr>
        <p:blipFill>
          <a:blip r:embed="rId1"/>
          <a:stretch>
            <a:fillRect/>
          </a:stretch>
        </p:blipFill>
        <p:spPr>
          <a:xfrm>
            <a:off x="-45720" y="0"/>
            <a:ext cx="12280392" cy="6858000"/>
          </a:xfrm>
          <a:prstGeom prst="rect">
            <a:avLst/>
          </a:prstGeom>
        </p:spPr>
      </p:pic>
      <p:sp>
        <p:nvSpPr>
          <p:cNvPr id="3" name="Text 0"/>
          <p:cNvSpPr txBox="1"/>
          <p:nvPr/>
        </p:nvSpPr>
        <p:spPr>
          <a:xfrm>
            <a:off x="731520" y="1737360"/>
            <a:ext cx="10728655" cy="1280160"/>
          </a:xfrm>
          <a:prstGeom prst="rect">
            <a:avLst/>
          </a:prstGeom>
          <a:noFill/>
          <a:ln/>
        </p:spPr>
        <p:txBody>
          <a:bodyPr wrap="square" lIns="0" tIns="0" rIns="0" bIns="0" rtlCol="0" anchor="ctr"/>
          <a:lstStyle/>
          <a:p>
            <a:pPr algn="ctr" indent="0" marL="0">
              <a:buNone/>
            </a:pPr>
            <a:r>
              <a:rPr lang="en-US" sz="4800" dirty="0">
                <a:solidFill>
                  <a:srgbClr val="000000"/>
                </a:solidFill>
                <a:latin typeface="Georgia" pitchFamily="34" charset="0"/>
                <a:ea typeface="Georgia" pitchFamily="34" charset="-122"/>
                <a:cs typeface="Georgia" pitchFamily="34" charset="-120"/>
              </a:rPr>
              <a:t>Any questions so far?</a:t>
            </a:r>
            <a:endParaRPr lang="en-US" sz="4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pic>
        <p:nvPicPr>
          <p:cNvPr id="2" name="Image 0" descr="Watercolor of a shrunken nodular cirrhotic liver">    </p:cNvPr>
          <p:cNvPicPr>
            <a:picLocks noChangeAspect="1"/>
          </p:cNvPicPr>
          <p:nvPr/>
        </p:nvPicPr>
        <p:blipFill>
          <a:blip r:embed="rId1"/>
          <a:stretch>
            <a:fillRect/>
          </a:stretch>
        </p:blipFill>
        <p:spPr>
          <a:xfrm>
            <a:off x="-45720" y="0"/>
            <a:ext cx="12280392" cy="6858000"/>
          </a:xfrm>
          <a:prstGeom prst="rect">
            <a:avLst/>
          </a:prstGeom>
        </p:spPr>
      </p:pic>
      <p:sp>
        <p:nvSpPr>
          <p:cNvPr id="3" name="Text 0"/>
          <p:cNvSpPr txBox="1"/>
          <p:nvPr/>
        </p:nvSpPr>
        <p:spPr>
          <a:xfrm>
            <a:off x="548640" y="1417320"/>
            <a:ext cx="5212080" cy="2011680"/>
          </a:xfrm>
          <a:prstGeom prst="rect">
            <a:avLst/>
          </a:prstGeom>
          <a:noFill/>
          <a:ln/>
        </p:spPr>
        <p:txBody>
          <a:bodyPr wrap="square" lIns="0" tIns="0" rIns="0" bIns="0" rtlCol="0" anchor="b"/>
          <a:lstStyle/>
          <a:p>
            <a:pPr algn="ctr" indent="0" marL="0">
              <a:buNone/>
            </a:pPr>
            <a:r>
              <a:rPr lang="en-US" sz="4800" dirty="0">
                <a:solidFill>
                  <a:srgbClr val="000000"/>
                </a:solidFill>
                <a:latin typeface="Georgia" pitchFamily="34" charset="0"/>
                <a:ea typeface="Georgia" pitchFamily="34" charset="-122"/>
                <a:cs typeface="Georgia" pitchFamily="34" charset="-120"/>
              </a:rPr>
              <a:t>Bed 7</a:t>
            </a:r>
            <a:endParaRPr lang="en-US" sz="4800" dirty="0"/>
          </a:p>
        </p:txBody>
      </p:sp>
      <p:sp>
        <p:nvSpPr>
          <p:cNvPr id="4" name="Text 1"/>
          <p:cNvSpPr txBox="1"/>
          <p:nvPr/>
        </p:nvSpPr>
        <p:spPr>
          <a:xfrm>
            <a:off x="548640" y="3429000"/>
            <a:ext cx="5212080" cy="548640"/>
          </a:xfrm>
          <a:prstGeom prst="rect">
            <a:avLst/>
          </a:prstGeom>
          <a:noFill/>
          <a:ln/>
        </p:spPr>
        <p:txBody>
          <a:bodyPr wrap="square" lIns="0" tIns="0" rIns="0" bIns="0" rtlCol="0" anchor="ctr"/>
          <a:lstStyle/>
          <a:p>
            <a:pPr algn="ctr" indent="0" marL="0">
              <a:buNone/>
            </a:pPr>
            <a:r>
              <a:rPr lang="en-US" sz="2400" dirty="0">
                <a:solidFill>
                  <a:srgbClr val="595959"/>
                </a:solidFill>
                <a:latin typeface="Georgia" pitchFamily="34" charset="0"/>
                <a:ea typeface="Georgia" pitchFamily="34" charset="-122"/>
                <a:cs typeface="Georgia" pitchFamily="34" charset="-120"/>
              </a:rPr>
              <a:t>56M, cirrhosis and ACLF</a:t>
            </a:r>
            <a:endParaRPr lang="en-US" sz="24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Back to day 1: bed 7</a:t>
            </a:r>
            <a:endParaRPr lang="en-US" sz="3000" dirty="0"/>
          </a:p>
        </p:txBody>
      </p:sp>
      <p:graphicFrame>
        <p:nvGraphicFramePr>
          <p:cNvPr id="67" name="Table"/>
          <p:cNvGraphicFramePr>
            <a:graphicFrameLocks noGrp="1"/>
          </p:cNvGraphicFramePr>
          <p:nvPr>
            <p:extLst>
              <p:ext uri="{D42A27DB-BD31-4B8C-83A1-F6EECF244321}">
                <p14:modId xmlns:p14="http://schemas.microsoft.com/office/powerpoint/2010/main" val="1579011935"/>
              </p:ext>
            </p:extLst>
          </p:nvPr>
        </p:nvGraphicFramePr>
        <p:xfrm>
          <a:off x="2011680" y="1828800"/>
          <a:ext cx="8138160" cy="914400"/>
        </p:xfrm>
        <a:graphic>
          <a:graphicData uri="http://schemas.openxmlformats.org/drawingml/2006/table">
            <a:tbl>
              <a:tblPr/>
              <a:tblGrid>
                <a:gridCol w="4069080"/>
                <a:gridCol w="4069080"/>
              </a:tblGrid>
              <a:tr h="594360">
                <a:tc>
                  <a:txBody>
                    <a:bodyPr/>
                    <a:lstStyle/>
                    <a:p>
                      <a:pPr algn="ctr" indent="0" marL="0">
                        <a:buNone/>
                      </a:pPr>
                      <a:r>
                        <a:rPr lang="en-US" sz="2000" b="1" dirty="0">
                          <a:solidFill>
                            <a:srgbClr val="8C8C8C"/>
                          </a:solidFill>
                          <a:latin typeface="Calibri" pitchFamily="34" charset="0"/>
                          <a:ea typeface="Calibri" pitchFamily="34" charset="-122"/>
                          <a:cs typeface="Calibri" pitchFamily="34" charset="-120"/>
                        </a:rPr>
                        <a:t>Bed 4</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2000" b="1" dirty="0">
                          <a:solidFill>
                            <a:srgbClr val="000000"/>
                          </a:solidFill>
                          <a:highlight>
                            <a:srgbClr val="FFFF00"/>
                          </a:highlight>
                          <a:latin typeface="Calibri" pitchFamily="34" charset="0"/>
                          <a:ea typeface="Calibri" pitchFamily="34" charset="-122"/>
                          <a:cs typeface="Calibri" pitchFamily="34" charset="-120"/>
                        </a:rPr>
                        <a:t>Bed 7</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94360">
                <a:tc>
                  <a:txBody>
                    <a:bodyPr/>
                    <a:lstStyle/>
                    <a:p>
                      <a:pPr algn="ctr" indent="0" marL="0">
                        <a:buNone/>
                      </a:pPr>
                      <a:r>
                        <a:rPr lang="en-US" sz="2000" dirty="0">
                          <a:solidFill>
                            <a:srgbClr val="8C8C8C"/>
                          </a:solidFill>
                          <a:latin typeface="Calibri" pitchFamily="34" charset="0"/>
                          <a:ea typeface="Calibri" pitchFamily="34" charset="-122"/>
                          <a:cs typeface="Calibri" pitchFamily="34" charset="-120"/>
                        </a:rPr>
                        <a:t>28-year-old woman</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56-year-old man</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94360">
                <a:tc>
                  <a:txBody>
                    <a:bodyPr/>
                    <a:lstStyle/>
                    <a:p>
                      <a:pPr algn="ctr" indent="0" marL="0">
                        <a:buNone/>
                      </a:pPr>
                      <a:r>
                        <a:rPr lang="en-US" sz="2000" dirty="0">
                          <a:solidFill>
                            <a:srgbClr val="8C8C8C"/>
                          </a:solidFill>
                          <a:latin typeface="Calibri" pitchFamily="34" charset="0"/>
                          <a:ea typeface="Calibri" pitchFamily="34" charset="-122"/>
                          <a:cs typeface="Calibri" pitchFamily="34" charset="-120"/>
                        </a:rPr>
                        <a:t>Acetaminophen ALF</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Alcohol-related cirrhosis with ascites</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94360">
                <a:tc>
                  <a:txBody>
                    <a:bodyPr/>
                    <a:lstStyle/>
                    <a:p>
                      <a:pPr algn="ctr" indent="0" marL="0">
                        <a:buNone/>
                      </a:pPr>
                      <a:r>
                        <a:rPr lang="en-US" sz="2000" dirty="0">
                          <a:solidFill>
                            <a:srgbClr val="8C8C8C"/>
                          </a:solidFill>
                          <a:latin typeface="Calibri" pitchFamily="34" charset="0"/>
                          <a:ea typeface="Calibri" pitchFamily="34" charset="-122"/>
                          <a:cs typeface="Calibri" pitchFamily="34" charset="-120"/>
                        </a:rPr>
                        <a:t>Intubated, on CRRT, transplant hepatology involved</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000000"/>
                          </a:solidFill>
                          <a:latin typeface="Calibri" pitchFamily="34" charset="0"/>
                          <a:ea typeface="Calibri" pitchFamily="34" charset="-122"/>
                          <a:cs typeface="Calibri" pitchFamily="34" charset="-120"/>
                        </a:rPr>
                        <a:t>Fever, confusion, low blood pressure</a:t>
                      </a:r>
                      <a:endParaRPr lang="en-US" sz="20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Question"/>
          <p:cNvSpPr txBox="1"/>
          <p:nvPr/>
        </p:nvSpPr>
        <p:spPr>
          <a:xfrm>
            <a:off x="822960" y="4754880"/>
            <a:ext cx="10545775" cy="548640"/>
          </a:xfrm>
          <a:prstGeom prst="rect">
            <a:avLst/>
          </a:prstGeom>
          <a:noFill/>
          <a:ln/>
        </p:spPr>
        <p:txBody>
          <a:bodyPr wrap="square" lIns="0" tIns="0" rIns="0" bIns="0" rtlCol="0" anchor="ctr"/>
          <a:lstStyle/>
          <a:p>
            <a:pPr algn="ctr" indent="0" marL="0">
              <a:buNone/>
            </a:pPr>
            <a:r>
              <a:rPr lang="en-US" sz="2600" b="1" dirty="0">
                <a:solidFill>
                  <a:srgbClr val="000000"/>
                </a:solidFill>
                <a:latin typeface="Georgia" pitchFamily="34" charset="0"/>
                <a:ea typeface="Georgia" pitchFamily="34" charset="-122"/>
                <a:cs typeface="Georgia" pitchFamily="34" charset="-120"/>
              </a:rPr>
              <a:t>Is this liver failure too?</a:t>
            </a:r>
            <a:endParaRPr lang="en-US" sz="26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56M, cirrhosis and fever</a:t>
            </a:r>
            <a:endParaRPr lang="en-US" sz="3000" dirty="0"/>
          </a:p>
        </p:txBody>
      </p:sp>
      <p:sp>
        <p:nvSpPr>
          <p:cNvPr id="3" name="Body"/>
          <p:cNvSpPr txBox="1"/>
          <p:nvPr/>
        </p:nvSpPr>
        <p:spPr>
          <a:xfrm>
            <a:off x="640080" y="1371600"/>
            <a:ext cx="5852160" cy="3383280"/>
          </a:xfrm>
          <a:prstGeom prst="rect">
            <a:avLst/>
          </a:prstGeom>
          <a:noFill/>
          <a:ln/>
        </p:spPr>
        <p:txBody>
          <a:bodyPr wrap="square" lIns="50800" tIns="50800" rIns="50800" bIns="50800" rtlCol="0" anchor="t"/>
          <a:lstStyle/>
          <a:p>
            <a:pPr marL="228600" indent="-228600">
              <a:spcBef>
                <a:spcPts val="800"/>
              </a:spcBef>
              <a:buSzPct val="100000"/>
              <a:buChar char="–"/>
            </a:pPr>
            <a:r>
              <a:rPr lang="en-US" sz="1900" dirty="0">
                <a:solidFill>
                  <a:srgbClr val="000000"/>
                </a:solidFill>
                <a:latin typeface="Georgia" pitchFamily="34" charset="0"/>
                <a:ea typeface="Georgia" pitchFamily="34" charset="-122"/>
                <a:cs typeface="Georgia" pitchFamily="34" charset="-120"/>
              </a:rPr>
              <a:t>Alcohol-related cirrhosis, ascites on diuretics; last drink 3 weeks ago</a:t>
            </a:r>
            <a:endParaRPr lang="en-US" sz="1900" dirty="0"/>
          </a:p>
          <a:p>
            <a:pPr marL="228600" indent="-228600">
              <a:spcBef>
                <a:spcPts val="800"/>
              </a:spcBef>
              <a:buSzPct val="100000"/>
              <a:buChar char="–"/>
            </a:pPr>
            <a:r>
              <a:rPr lang="en-US" sz="1900" dirty="0">
                <a:solidFill>
                  <a:srgbClr val="000000"/>
                </a:solidFill>
                <a:latin typeface="Georgia" pitchFamily="34" charset="0"/>
                <a:ea typeface="Georgia" pitchFamily="34" charset="-122"/>
                <a:cs typeface="Georgia" pitchFamily="34" charset="-120"/>
              </a:rPr>
              <a:t>Temp 38.4 °C, HR 112, BP 82/46</a:t>
            </a:r>
            <a:endParaRPr lang="en-US" sz="1900" dirty="0"/>
          </a:p>
          <a:p>
            <a:pPr marL="228600" indent="-228600">
              <a:spcBef>
                <a:spcPts val="800"/>
              </a:spcBef>
              <a:buSzPct val="100000"/>
              <a:buChar char="–"/>
            </a:pPr>
            <a:r>
              <a:rPr lang="en-US" sz="1900" dirty="0">
                <a:solidFill>
                  <a:srgbClr val="000000"/>
                </a:solidFill>
                <a:latin typeface="Georgia" pitchFamily="34" charset="0"/>
                <a:ea typeface="Georgia" pitchFamily="34" charset="-122"/>
                <a:cs typeface="Georgia" pitchFamily="34" charset="-120"/>
              </a:rPr>
              <a:t>RR 26, SpO2 92% on a 35% Venturi mask; PaO2 74</a:t>
            </a:r>
            <a:endParaRPr lang="en-US" sz="1900" dirty="0"/>
          </a:p>
          <a:p>
            <a:pPr marL="228600" indent="-228600">
              <a:spcBef>
                <a:spcPts val="800"/>
              </a:spcBef>
              <a:buSzPct val="100000"/>
              <a:buChar char="–"/>
            </a:pPr>
            <a:r>
              <a:rPr lang="en-US" sz="1900" dirty="0">
                <a:solidFill>
                  <a:srgbClr val="000000"/>
                </a:solidFill>
                <a:latin typeface="Georgia" pitchFamily="34" charset="0"/>
                <a:ea typeface="Georgia" pitchFamily="34" charset="-122"/>
                <a:cs typeface="Georgia" pitchFamily="34" charset="-120"/>
              </a:rPr>
              <a:t>Confused, asterixis (grade II)</a:t>
            </a:r>
            <a:endParaRPr lang="en-US" sz="1900" dirty="0"/>
          </a:p>
          <a:p>
            <a:pPr marL="228600" indent="-228600">
              <a:spcBef>
                <a:spcPts val="800"/>
              </a:spcBef>
              <a:buSzPct val="100000"/>
              <a:buChar char="–"/>
            </a:pPr>
            <a:r>
              <a:rPr lang="en-US" sz="1900" dirty="0">
                <a:solidFill>
                  <a:srgbClr val="000000"/>
                </a:solidFill>
                <a:latin typeface="Georgia" pitchFamily="34" charset="0"/>
                <a:ea typeface="Georgia" pitchFamily="34" charset="-122"/>
                <a:cs typeface="Georgia" pitchFamily="34" charset="-120"/>
              </a:rPr>
              <a:t>Urine output 15 mL/h</a:t>
            </a:r>
            <a:endParaRPr lang="en-US" sz="1900" dirty="0"/>
          </a:p>
        </p:txBody>
      </p:sp>
      <p:graphicFrame>
        <p:nvGraphicFramePr>
          <p:cNvPr id="68" name="Table"/>
          <p:cNvGraphicFramePr>
            <a:graphicFrameLocks noGrp="1"/>
          </p:cNvGraphicFramePr>
          <p:nvPr>
            <p:extLst>
              <p:ext uri="{D42A27DB-BD31-4B8C-83A1-F6EECF244321}">
                <p14:modId xmlns:p14="http://schemas.microsoft.com/office/powerpoint/2010/main" val="1579011935"/>
              </p:ext>
            </p:extLst>
          </p:nvPr>
        </p:nvGraphicFramePr>
        <p:xfrm>
          <a:off x="6766560" y="1371600"/>
          <a:ext cx="4846320" cy="914400"/>
        </p:xfrm>
        <a:graphic>
          <a:graphicData uri="http://schemas.openxmlformats.org/drawingml/2006/table">
            <a:tbl>
              <a:tblPr/>
              <a:tblGrid>
                <a:gridCol w="2286000"/>
                <a:gridCol w="1280160"/>
                <a:gridCol w="1280160"/>
              </a:tblGrid>
              <a:tr h="384048">
                <a:tc>
                  <a:txBody>
                    <a:bodyPr/>
                    <a:lstStyle/>
                    <a:p>
                      <a:pPr algn="l" indent="0" marL="0">
                        <a:buNone/>
                      </a:pP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500" b="1" dirty="0">
                          <a:solidFill>
                            <a:srgbClr val="000000"/>
                          </a:solidFill>
                          <a:latin typeface="Calibri" pitchFamily="34" charset="0"/>
                          <a:ea typeface="Calibri" pitchFamily="34" charset="-122"/>
                          <a:cs typeface="Calibri" pitchFamily="34" charset="-120"/>
                        </a:rPr>
                        <a:t>Now</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500" b="1" dirty="0">
                          <a:solidFill>
                            <a:srgbClr val="000000"/>
                          </a:solidFill>
                          <a:latin typeface="Calibri" pitchFamily="34" charset="0"/>
                          <a:ea typeface="Calibri" pitchFamily="34" charset="-122"/>
                          <a:cs typeface="Calibri" pitchFamily="34" charset="-120"/>
                        </a:rPr>
                        <a:t>Baseline</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384048">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Bilirubin (mg/dL)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C00000"/>
                          </a:solidFill>
                          <a:latin typeface="Calibri" pitchFamily="34" charset="0"/>
                          <a:ea typeface="Calibri" pitchFamily="34" charset="-122"/>
                          <a:cs typeface="Calibri" pitchFamily="34" charset="-120"/>
                        </a:rPr>
                        <a:t>5.8</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2.1</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INR</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C00000"/>
                          </a:solidFill>
                          <a:latin typeface="Calibri" pitchFamily="34" charset="0"/>
                          <a:ea typeface="Calibri" pitchFamily="34" charset="-122"/>
                          <a:cs typeface="Calibri" pitchFamily="34" charset="-120"/>
                        </a:rPr>
                        <a:t>2.1</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1.6</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Creatinine (mg/dL)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C00000"/>
                          </a:solidFill>
                          <a:latin typeface="Calibri" pitchFamily="34" charset="0"/>
                          <a:ea typeface="Calibri" pitchFamily="34" charset="-122"/>
                          <a:cs typeface="Calibri" pitchFamily="34" charset="-120"/>
                        </a:rPr>
                        <a:t>2.6</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0.9</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Sodium (mmol/L)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C00000"/>
                          </a:solidFill>
                          <a:latin typeface="Calibri" pitchFamily="34" charset="0"/>
                          <a:ea typeface="Calibri" pitchFamily="34" charset="-122"/>
                          <a:cs typeface="Calibri" pitchFamily="34" charset="-120"/>
                        </a:rPr>
                        <a:t>127</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133</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WBC (/μL)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C00000"/>
                          </a:solidFill>
                          <a:latin typeface="Calibri" pitchFamily="34" charset="0"/>
                          <a:ea typeface="Calibri" pitchFamily="34" charset="-122"/>
                          <a:cs typeface="Calibri" pitchFamily="34" charset="-120"/>
                        </a:rPr>
                        <a:t>16,200</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Platelets (/μL)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C00000"/>
                          </a:solidFill>
                          <a:latin typeface="Calibri" pitchFamily="34" charset="0"/>
                          <a:ea typeface="Calibri" pitchFamily="34" charset="-122"/>
                          <a:cs typeface="Calibri" pitchFamily="34" charset="-120"/>
                        </a:rPr>
                        <a:t>62,000</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Lactate (mmol/L)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C00000"/>
                          </a:solidFill>
                          <a:latin typeface="Calibri" pitchFamily="34" charset="0"/>
                          <a:ea typeface="Calibri" pitchFamily="34" charset="-122"/>
                          <a:cs typeface="Calibri" pitchFamily="34" charset="-120"/>
                        </a:rPr>
                        <a:t>3.9</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5" name="Question"/>
          <p:cNvSpPr txBox="1"/>
          <p:nvPr/>
        </p:nvSpPr>
        <p:spPr>
          <a:xfrm>
            <a:off x="822960" y="512064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What's your next step?</a:t>
            </a:r>
            <a:endParaRPr lang="en-US" sz="24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56M, cirrhosis and fever</a:t>
            </a:r>
            <a:endParaRPr lang="en-US" sz="3000" dirty="0"/>
          </a:p>
        </p:txBody>
      </p:sp>
      <p:sp>
        <p:nvSpPr>
          <p:cNvPr id="3" name="Body"/>
          <p:cNvSpPr txBox="1"/>
          <p:nvPr/>
        </p:nvSpPr>
        <p:spPr>
          <a:xfrm>
            <a:off x="640080" y="1371600"/>
            <a:ext cx="5852160" cy="3383280"/>
          </a:xfrm>
          <a:prstGeom prst="rect">
            <a:avLst/>
          </a:prstGeom>
          <a:noFill/>
          <a:ln/>
        </p:spPr>
        <p:txBody>
          <a:bodyPr wrap="square" lIns="50800" tIns="50800" rIns="50800" bIns="50800" rtlCol="0" anchor="t"/>
          <a:lstStyle/>
          <a:p>
            <a:pPr marL="228600" indent="-228600">
              <a:spcBef>
                <a:spcPts val="800"/>
              </a:spcBef>
              <a:buSzPct val="100000"/>
              <a:buChar char="–"/>
            </a:pPr>
            <a:r>
              <a:rPr lang="en-US" sz="1900" dirty="0">
                <a:solidFill>
                  <a:srgbClr val="000000"/>
                </a:solidFill>
                <a:latin typeface="Georgia" pitchFamily="34" charset="0"/>
                <a:ea typeface="Georgia" pitchFamily="34" charset="-122"/>
                <a:cs typeface="Georgia" pitchFamily="34" charset="-120"/>
              </a:rPr>
              <a:t>Alcohol-related cirrhosis, ascites on diuretics; last drink 3 weeks ago</a:t>
            </a:r>
            <a:endParaRPr lang="en-US" sz="1900" dirty="0"/>
          </a:p>
          <a:p>
            <a:pPr marL="228600" indent="-228600">
              <a:spcBef>
                <a:spcPts val="800"/>
              </a:spcBef>
              <a:buSzPct val="100000"/>
              <a:buChar char="–"/>
            </a:pPr>
            <a:r>
              <a:rPr lang="en-US" sz="1900" dirty="0">
                <a:solidFill>
                  <a:srgbClr val="000000"/>
                </a:solidFill>
                <a:latin typeface="Georgia" pitchFamily="34" charset="0"/>
                <a:ea typeface="Georgia" pitchFamily="34" charset="-122"/>
                <a:cs typeface="Georgia" pitchFamily="34" charset="-120"/>
              </a:rPr>
              <a:t>Temp 38.4 °C, HR 112, BP 82/46</a:t>
            </a:r>
            <a:endParaRPr lang="en-US" sz="1900" dirty="0"/>
          </a:p>
          <a:p>
            <a:pPr marL="228600" indent="-228600">
              <a:spcBef>
                <a:spcPts val="800"/>
              </a:spcBef>
              <a:buSzPct val="100000"/>
              <a:buChar char="–"/>
            </a:pPr>
            <a:r>
              <a:rPr lang="en-US" sz="1900" dirty="0">
                <a:solidFill>
                  <a:srgbClr val="000000"/>
                </a:solidFill>
                <a:latin typeface="Georgia" pitchFamily="34" charset="0"/>
                <a:ea typeface="Georgia" pitchFamily="34" charset="-122"/>
                <a:cs typeface="Georgia" pitchFamily="34" charset="-120"/>
              </a:rPr>
              <a:t>RR 26, SpO2 92% on a 35% Venturi mask; PaO2 74</a:t>
            </a:r>
            <a:endParaRPr lang="en-US" sz="1900" dirty="0"/>
          </a:p>
          <a:p>
            <a:pPr marL="228600" indent="-228600">
              <a:spcBef>
                <a:spcPts val="800"/>
              </a:spcBef>
              <a:buSzPct val="100000"/>
              <a:buChar char="–"/>
            </a:pPr>
            <a:r>
              <a:rPr lang="en-US" sz="1900" dirty="0">
                <a:solidFill>
                  <a:srgbClr val="000000"/>
                </a:solidFill>
                <a:latin typeface="Georgia" pitchFamily="34" charset="0"/>
                <a:ea typeface="Georgia" pitchFamily="34" charset="-122"/>
                <a:cs typeface="Georgia" pitchFamily="34" charset="-120"/>
              </a:rPr>
              <a:t>Confused, asterixis (grade II)</a:t>
            </a:r>
            <a:endParaRPr lang="en-US" sz="1900" dirty="0"/>
          </a:p>
          <a:p>
            <a:pPr marL="228600" indent="-228600">
              <a:spcBef>
                <a:spcPts val="800"/>
              </a:spcBef>
              <a:buSzPct val="100000"/>
              <a:buChar char="–"/>
            </a:pPr>
            <a:r>
              <a:rPr lang="en-US" sz="1900" dirty="0">
                <a:solidFill>
                  <a:srgbClr val="000000"/>
                </a:solidFill>
                <a:latin typeface="Georgia" pitchFamily="34" charset="0"/>
                <a:ea typeface="Georgia" pitchFamily="34" charset="-122"/>
                <a:cs typeface="Georgia" pitchFamily="34" charset="-120"/>
              </a:rPr>
              <a:t>Urine output 15 mL/h</a:t>
            </a:r>
            <a:endParaRPr lang="en-US" sz="1900" dirty="0"/>
          </a:p>
        </p:txBody>
      </p:sp>
      <p:graphicFrame>
        <p:nvGraphicFramePr>
          <p:cNvPr id="69" name="Table"/>
          <p:cNvGraphicFramePr>
            <a:graphicFrameLocks noGrp="1"/>
          </p:cNvGraphicFramePr>
          <p:nvPr>
            <p:extLst>
              <p:ext uri="{D42A27DB-BD31-4B8C-83A1-F6EECF244321}">
                <p14:modId xmlns:p14="http://schemas.microsoft.com/office/powerpoint/2010/main" val="1579011935"/>
              </p:ext>
            </p:extLst>
          </p:nvPr>
        </p:nvGraphicFramePr>
        <p:xfrm>
          <a:off x="6766560" y="1371600"/>
          <a:ext cx="4846320" cy="914400"/>
        </p:xfrm>
        <a:graphic>
          <a:graphicData uri="http://schemas.openxmlformats.org/drawingml/2006/table">
            <a:tbl>
              <a:tblPr/>
              <a:tblGrid>
                <a:gridCol w="2286000"/>
                <a:gridCol w="1280160"/>
                <a:gridCol w="1280160"/>
              </a:tblGrid>
              <a:tr h="384048">
                <a:tc>
                  <a:txBody>
                    <a:bodyPr/>
                    <a:lstStyle/>
                    <a:p>
                      <a:pPr algn="l" indent="0" marL="0">
                        <a:buNone/>
                      </a:pP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500" b="1" dirty="0">
                          <a:solidFill>
                            <a:srgbClr val="000000"/>
                          </a:solidFill>
                          <a:latin typeface="Calibri" pitchFamily="34" charset="0"/>
                          <a:ea typeface="Calibri" pitchFamily="34" charset="-122"/>
                          <a:cs typeface="Calibri" pitchFamily="34" charset="-120"/>
                        </a:rPr>
                        <a:t>Now</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500" b="1" dirty="0">
                          <a:solidFill>
                            <a:srgbClr val="000000"/>
                          </a:solidFill>
                          <a:latin typeface="Calibri" pitchFamily="34" charset="0"/>
                          <a:ea typeface="Calibri" pitchFamily="34" charset="-122"/>
                          <a:cs typeface="Calibri" pitchFamily="34" charset="-120"/>
                        </a:rPr>
                        <a:t>Baseline</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384048">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Bilirubin (mg/dL)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C00000"/>
                          </a:solidFill>
                          <a:latin typeface="Calibri" pitchFamily="34" charset="0"/>
                          <a:ea typeface="Calibri" pitchFamily="34" charset="-122"/>
                          <a:cs typeface="Calibri" pitchFamily="34" charset="-120"/>
                        </a:rPr>
                        <a:t>5.8</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2.1</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INR</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C00000"/>
                          </a:solidFill>
                          <a:latin typeface="Calibri" pitchFamily="34" charset="0"/>
                          <a:ea typeface="Calibri" pitchFamily="34" charset="-122"/>
                          <a:cs typeface="Calibri" pitchFamily="34" charset="-120"/>
                        </a:rPr>
                        <a:t>2.1</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1.6</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Creatinine (mg/dL)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C00000"/>
                          </a:solidFill>
                          <a:latin typeface="Calibri" pitchFamily="34" charset="0"/>
                          <a:ea typeface="Calibri" pitchFamily="34" charset="-122"/>
                          <a:cs typeface="Calibri" pitchFamily="34" charset="-120"/>
                        </a:rPr>
                        <a:t>2.6</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0.9</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Sodium (mmol/L)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C00000"/>
                          </a:solidFill>
                          <a:latin typeface="Calibri" pitchFamily="34" charset="0"/>
                          <a:ea typeface="Calibri" pitchFamily="34" charset="-122"/>
                          <a:cs typeface="Calibri" pitchFamily="34" charset="-120"/>
                        </a:rPr>
                        <a:t>127</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133</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WBC (/μL)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C00000"/>
                          </a:solidFill>
                          <a:latin typeface="Calibri" pitchFamily="34" charset="0"/>
                          <a:ea typeface="Calibri" pitchFamily="34" charset="-122"/>
                          <a:cs typeface="Calibri" pitchFamily="34" charset="-120"/>
                        </a:rPr>
                        <a:t>16,200</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Platelets (/μL)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C00000"/>
                          </a:solidFill>
                          <a:latin typeface="Calibri" pitchFamily="34" charset="0"/>
                          <a:ea typeface="Calibri" pitchFamily="34" charset="-122"/>
                          <a:cs typeface="Calibri" pitchFamily="34" charset="-120"/>
                        </a:rPr>
                        <a:t>62,000</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Lactate (mmol/L)</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C00000"/>
                          </a:solidFill>
                          <a:latin typeface="Calibri" pitchFamily="34" charset="0"/>
                          <a:ea typeface="Calibri" pitchFamily="34" charset="-122"/>
                          <a:cs typeface="Calibri" pitchFamily="34" charset="-120"/>
                        </a:rPr>
                        <a:t>3.9</a:t>
                      </a: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5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5" name="Question"/>
          <p:cNvSpPr txBox="1"/>
          <p:nvPr/>
        </p:nvSpPr>
        <p:spPr>
          <a:xfrm>
            <a:off x="822960" y="4846320"/>
            <a:ext cx="10545775" cy="548640"/>
          </a:xfrm>
          <a:prstGeom prst="rect">
            <a:avLst/>
          </a:prstGeom>
          <a:noFill/>
          <a:ln/>
        </p:spPr>
        <p:txBody>
          <a:bodyPr wrap="square" lIns="0" tIns="0" rIns="0" bIns="0" rtlCol="0" anchor="ctr"/>
          <a:lstStyle/>
          <a:p>
            <a:pPr algn="ctr" indent="0" marL="0">
              <a:buNone/>
            </a:pPr>
            <a:r>
              <a:rPr lang="en-US" sz="2200" b="1" dirty="0">
                <a:solidFill>
                  <a:srgbClr val="000000"/>
                </a:solidFill>
                <a:latin typeface="Georgia" pitchFamily="34" charset="0"/>
                <a:ea typeface="Georgia" pitchFamily="34" charset="-122"/>
                <a:cs typeface="Georgia" pitchFamily="34" charset="-120"/>
              </a:rPr>
              <a:t>What's your next step?</a:t>
            </a:r>
            <a:endParaRPr lang="en-US" sz="2200" dirty="0"/>
          </a:p>
        </p:txBody>
      </p:sp>
      <p:sp>
        <p:nvSpPr>
          <p:cNvPr id="6" name="Question"/>
          <p:cNvSpPr txBox="1"/>
          <p:nvPr/>
        </p:nvSpPr>
        <p:spPr>
          <a:xfrm>
            <a:off x="822960" y="5440680"/>
            <a:ext cx="10545775" cy="548640"/>
          </a:xfrm>
          <a:prstGeom prst="rect">
            <a:avLst/>
          </a:prstGeom>
          <a:noFill/>
          <a:ln/>
        </p:spPr>
        <p:txBody>
          <a:bodyPr wrap="square" lIns="0" tIns="0" rIns="0" bIns="0" rtlCol="0" anchor="ctr"/>
          <a:lstStyle/>
          <a:p>
            <a:pPr algn="ctr" indent="0" marL="0">
              <a:buNone/>
            </a:pPr>
            <a:r>
              <a:rPr lang="en-US" sz="2200" b="1" dirty="0">
                <a:solidFill>
                  <a:srgbClr val="000000"/>
                </a:solidFill>
                <a:highlight>
                  <a:srgbClr val="FFFF00"/>
                </a:highlight>
                <a:latin typeface="Georgia" pitchFamily="34" charset="0"/>
                <a:ea typeface="Georgia" pitchFamily="34" charset="-122"/>
                <a:cs typeface="Georgia" pitchFamily="34" charset="-120"/>
              </a:rPr>
              <a:t>Find the source: cultures, antibiotics, a diagnostic tap</a:t>
            </a:r>
            <a:endParaRPr lang="en-US" sz="22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What tipped him over?</a:t>
            </a:r>
            <a:endParaRPr lang="en-US" sz="3000" dirty="0"/>
          </a:p>
        </p:txBody>
      </p:sp>
      <p:sp>
        <p:nvSpPr>
          <p:cNvPr id="3" name="Question"/>
          <p:cNvSpPr txBox="1"/>
          <p:nvPr/>
        </p:nvSpPr>
        <p:spPr>
          <a:xfrm>
            <a:off x="822960" y="2743200"/>
            <a:ext cx="10545775" cy="548640"/>
          </a:xfrm>
          <a:prstGeom prst="rect">
            <a:avLst/>
          </a:prstGeom>
          <a:noFill/>
          <a:ln/>
        </p:spPr>
        <p:txBody>
          <a:bodyPr wrap="square" lIns="0" tIns="0" rIns="0" bIns="0" rtlCol="0" anchor="ctr"/>
          <a:lstStyle/>
          <a:p>
            <a:pPr algn="ctr" indent="0" marL="0">
              <a:buNone/>
            </a:pPr>
            <a:r>
              <a:rPr lang="en-US" sz="3000" b="1" dirty="0">
                <a:solidFill>
                  <a:srgbClr val="000000"/>
                </a:solidFill>
                <a:latin typeface="Georgia" pitchFamily="34" charset="0"/>
                <a:ea typeface="Georgia" pitchFamily="34" charset="-122"/>
                <a:cs typeface="Georgia" pitchFamily="34" charset="-120"/>
              </a:rPr>
              <a:t>INR 2.1, platelets 62,000. Do you tap him?</a:t>
            </a:r>
            <a:endParaRPr lang="en-US" sz="3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What tipped him over?</a:t>
            </a:r>
            <a:endParaRPr lang="en-US" sz="3000" dirty="0"/>
          </a:p>
        </p:txBody>
      </p:sp>
      <p:sp>
        <p:nvSpPr>
          <p:cNvPr id="3" name="Body"/>
          <p:cNvSpPr txBox="1"/>
          <p:nvPr/>
        </p:nvSpPr>
        <p:spPr>
          <a:xfrm>
            <a:off x="822960" y="1325880"/>
            <a:ext cx="7589520" cy="4937760"/>
          </a:xfrm>
          <a:prstGeom prst="rect">
            <a:avLst/>
          </a:prstGeom>
          <a:noFill/>
          <a:ln/>
        </p:spPr>
        <p:txBody>
          <a:bodyPr wrap="square" lIns="50800" tIns="50800" rIns="50800" bIns="50800" rtlCol="0" anchor="t"/>
          <a:lstStyle/>
          <a:p>
            <a:pPr marL="228600" indent="-228600">
              <a:spcBef>
                <a:spcPts val="800"/>
              </a:spcBef>
              <a:buSzPct val="100000"/>
              <a:buChar char="–"/>
            </a:pPr>
            <a:r>
              <a:rPr lang="en-US" sz="2000" b="1" dirty="0">
                <a:solidFill>
                  <a:srgbClr val="000000"/>
                </a:solidFill>
                <a:latin typeface="Georgia" pitchFamily="34" charset="0"/>
                <a:ea typeface="Georgia" pitchFamily="34" charset="-122"/>
                <a:cs typeface="Georgia" pitchFamily="34" charset="-120"/>
              </a:rPr>
              <a:t>Yes, now. </a:t>
            </a:r>
            <a:r>
              <a:rPr lang="en-US" sz="2000" b="1" dirty="0">
                <a:solidFill>
                  <a:srgbClr val="000000"/>
                </a:solidFill>
                <a:highlight>
                  <a:srgbClr val="FFFF00"/>
                </a:highlight>
                <a:latin typeface="Georgia" pitchFamily="34" charset="0"/>
                <a:ea typeface="Georgia" pitchFamily="34" charset="-122"/>
                <a:cs typeface="Georgia" pitchFamily="34" charset="-120"/>
              </a:rPr>
              <a:t>No plasma, no platelets</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Ascitic fluid: </a:t>
            </a:r>
            <a:r>
              <a:rPr lang="en-US" sz="2000" b="1" dirty="0">
                <a:solidFill>
                  <a:srgbClr val="C00000"/>
                </a:solidFill>
                <a:latin typeface="Georgia" pitchFamily="34" charset="0"/>
                <a:ea typeface="Georgia" pitchFamily="34" charset="-122"/>
                <a:cs typeface="Georgia" pitchFamily="34" charset="-120"/>
              </a:rPr>
              <a:t>PMN 1,240/mm³</a:t>
            </a:r>
            <a:r>
              <a:rPr lang="en-US" sz="2000" dirty="0">
                <a:solidFill>
                  <a:srgbClr val="000000"/>
                </a:solidFill>
                <a:latin typeface="Georgia" pitchFamily="34" charset="0"/>
                <a:ea typeface="Georgia" pitchFamily="34" charset="-122"/>
                <a:cs typeface="Georgia" pitchFamily="34" charset="-120"/>
              </a:rPr>
              <a:t>. Spontaneous bacterial peritonitis</a:t>
            </a:r>
            <a:endParaRPr lang="en-US" sz="2000" dirty="0"/>
          </a:p>
          <a:p>
            <a:pPr indent="0" marL="0">
              <a:spcBef>
                <a:spcPts val="1800"/>
              </a:spcBef>
              <a:buNone/>
            </a:pPr>
            <a:r>
              <a:rPr lang="en-US" sz="2000" b="1" dirty="0">
                <a:solidFill>
                  <a:srgbClr val="000000"/>
                </a:solidFill>
                <a:latin typeface="Georgia" pitchFamily="34" charset="0"/>
                <a:ea typeface="Georgia" pitchFamily="34" charset="-122"/>
                <a:cs typeface="Georgia" pitchFamily="34" charset="-120"/>
              </a:rPr>
              <a:t>Common triggers</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Infection: SBP, pneumonia, urine, lines, C. difficile</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Alcohol-associated hepatitis</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GI bleeding</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Drugs: NSAIDs, sedatives, too much diuretic</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HBV flare, ischemia</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No trigger is found in some patients. Repeat the search if he gets worse</a:t>
            </a:r>
            <a:endParaRPr lang="en-US" sz="2000" dirty="0"/>
          </a:p>
        </p:txBody>
      </p:sp>
      <p:pic>
        <p:nvPicPr>
          <p:cNvPr id="4" name="Image 0" descr="Watercolor of a paracentesis set with tubes of ascitic fluid and a culture bottle">    </p:cNvPr>
          <p:cNvPicPr>
            <a:picLocks noChangeAspect="1"/>
          </p:cNvPicPr>
          <p:nvPr/>
        </p:nvPicPr>
        <p:blipFill>
          <a:blip r:embed="rId1"/>
          <a:stretch>
            <a:fillRect/>
          </a:stretch>
        </p:blipFill>
        <p:spPr>
          <a:xfrm>
            <a:off x="8458200" y="1554480"/>
            <a:ext cx="3429000" cy="3429000"/>
          </a:xfrm>
          <a:prstGeom prst="rect">
            <a:avLst/>
          </a:prstGeom>
        </p:spPr>
      </p:pic>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EASL ACLF 2023 [PMID: 37364789]; SCCM 2023 [PMID: 37052436]</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Why is he hypotensive?</a:t>
            </a:r>
            <a:endParaRPr lang="en-US" sz="3000" dirty="0"/>
          </a:p>
        </p:txBody>
      </p:sp>
      <p:graphicFrame>
        <p:nvGraphicFramePr>
          <p:cNvPr id="72" name="Table"/>
          <p:cNvGraphicFramePr>
            <a:graphicFrameLocks noGrp="1"/>
          </p:cNvGraphicFramePr>
          <p:nvPr>
            <p:extLst>
              <p:ext uri="{D42A27DB-BD31-4B8C-83A1-F6EECF244321}">
                <p14:modId xmlns:p14="http://schemas.microsoft.com/office/powerpoint/2010/main" val="1579011935"/>
              </p:ext>
            </p:extLst>
          </p:nvPr>
        </p:nvGraphicFramePr>
        <p:xfrm>
          <a:off x="731520" y="1280160"/>
          <a:ext cx="10728655" cy="914400"/>
        </p:xfrm>
        <a:graphic>
          <a:graphicData uri="http://schemas.openxmlformats.org/drawingml/2006/table">
            <a:tbl>
              <a:tblPr/>
              <a:tblGrid>
                <a:gridCol w="3657600"/>
                <a:gridCol w="7068312"/>
              </a:tblGrid>
              <a:tr h="457200">
                <a:tc>
                  <a:txBody>
                    <a:bodyPr/>
                    <a:lstStyle/>
                    <a:p>
                      <a:pPr algn="l" indent="0" marL="0">
                        <a:buNone/>
                      </a:pPr>
                      <a:r>
                        <a:rPr lang="en-US" sz="1700" b="1" dirty="0">
                          <a:solidFill>
                            <a:srgbClr val="000000"/>
                          </a:solidFill>
                          <a:latin typeface="Calibri" pitchFamily="34" charset="0"/>
                          <a:ea typeface="Calibri" pitchFamily="34" charset="-122"/>
                          <a:cs typeface="Calibri" pitchFamily="34" charset="-120"/>
                        </a:rPr>
                        <a:t>Mechanism</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700" b="1" dirty="0">
                          <a:solidFill>
                            <a:srgbClr val="000000"/>
                          </a:solidFill>
                          <a:latin typeface="Calibri" pitchFamily="34" charset="0"/>
                          <a:ea typeface="Calibri" pitchFamily="34" charset="-122"/>
                          <a:cs typeface="Calibri" pitchFamily="34" charset="-120"/>
                        </a:rPr>
                        <a:t>What you do</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777240">
                <a:tc>
                  <a:txBody>
                    <a:bodyPr/>
                    <a:lstStyle/>
                    <a:p>
                      <a:pPr algn="l"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640080">
                <a:tc>
                  <a:txBody>
                    <a:bodyPr/>
                    <a:lstStyle/>
                    <a:p>
                      <a:pPr algn="l"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640080">
                <a:tc>
                  <a:txBody>
                    <a:bodyPr/>
                    <a:lstStyle/>
                    <a:p>
                      <a:pPr algn="l"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Surviving Sepsis 2026 [PMID: 41869847]; SCCM 2020 [PMID: 32058387]; EASL ACLF 2023 [PMID: 37364789]</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Why is he hypotensive?</a:t>
            </a:r>
            <a:endParaRPr lang="en-US" sz="3000" dirty="0"/>
          </a:p>
        </p:txBody>
      </p:sp>
      <p:graphicFrame>
        <p:nvGraphicFramePr>
          <p:cNvPr id="73" name="Table"/>
          <p:cNvGraphicFramePr>
            <a:graphicFrameLocks noGrp="1"/>
          </p:cNvGraphicFramePr>
          <p:nvPr>
            <p:extLst>
              <p:ext uri="{D42A27DB-BD31-4B8C-83A1-F6EECF244321}">
                <p14:modId xmlns:p14="http://schemas.microsoft.com/office/powerpoint/2010/main" val="1579011935"/>
              </p:ext>
            </p:extLst>
          </p:nvPr>
        </p:nvGraphicFramePr>
        <p:xfrm>
          <a:off x="731520" y="1280160"/>
          <a:ext cx="10728655" cy="914400"/>
        </p:xfrm>
        <a:graphic>
          <a:graphicData uri="http://schemas.openxmlformats.org/drawingml/2006/table">
            <a:tbl>
              <a:tblPr/>
              <a:tblGrid>
                <a:gridCol w="3657600"/>
                <a:gridCol w="7068312"/>
              </a:tblGrid>
              <a:tr h="457200">
                <a:tc>
                  <a:txBody>
                    <a:bodyPr/>
                    <a:lstStyle/>
                    <a:p>
                      <a:pPr algn="l" indent="0" marL="0">
                        <a:buNone/>
                      </a:pPr>
                      <a:r>
                        <a:rPr lang="en-US" sz="1700" b="1" dirty="0">
                          <a:solidFill>
                            <a:srgbClr val="000000"/>
                          </a:solidFill>
                          <a:latin typeface="Calibri" pitchFamily="34" charset="0"/>
                          <a:ea typeface="Calibri" pitchFamily="34" charset="-122"/>
                          <a:cs typeface="Calibri" pitchFamily="34" charset="-120"/>
                        </a:rPr>
                        <a:t>Mechanism</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700" b="1" dirty="0">
                          <a:solidFill>
                            <a:srgbClr val="000000"/>
                          </a:solidFill>
                          <a:latin typeface="Calibri" pitchFamily="34" charset="0"/>
                          <a:ea typeface="Calibri" pitchFamily="34" charset="-122"/>
                          <a:cs typeface="Calibri" pitchFamily="34" charset="-120"/>
                        </a:rPr>
                        <a:t>What you do</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77724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Sepsis (SBP)</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Cultures, antibiotics in the first hour, source control. Cover for prior exposure and local resistance</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64008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Splanchnic vasodilation of cirrhosis</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Norepinephrine. Start at MAP 65 and adjust to perfusion</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64008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Too little volume, or too much</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Ultrasound and dynamic measures. Edema does not mean the vessels are full</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Hidden bleeding</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Hemoglobin, rectal exam, think varices</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Relative adrenal insufficiency</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Hydrocortisone if shock is refractory</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Cirrhotic cardiomyopathy</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Echo</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Question"/>
          <p:cNvSpPr txBox="1"/>
          <p:nvPr/>
        </p:nvSpPr>
        <p:spPr>
          <a:xfrm>
            <a:off x="822960" y="5623560"/>
            <a:ext cx="10545775" cy="548640"/>
          </a:xfrm>
          <a:prstGeom prst="rect">
            <a:avLst/>
          </a:prstGeom>
          <a:noFill/>
          <a:ln/>
        </p:spPr>
        <p:txBody>
          <a:bodyPr wrap="square" lIns="0" tIns="0" rIns="0" bIns="0" rtlCol="0" anchor="ctr"/>
          <a:lstStyle/>
          <a:p>
            <a:pPr algn="ctr" indent="0" marL="0">
              <a:buNone/>
            </a:pPr>
            <a:r>
              <a:rPr lang="en-US" sz="2200" b="1" dirty="0">
                <a:solidFill>
                  <a:srgbClr val="000000"/>
                </a:solidFill>
                <a:latin typeface="Georgia" pitchFamily="34" charset="0"/>
                <a:ea typeface="Georgia" pitchFamily="34" charset="-122"/>
                <a:cs typeface="Georgia" pitchFamily="34" charset="-120"/>
              </a:rPr>
              <a:t>Usually more than one of these</a:t>
            </a:r>
            <a:endParaRPr lang="en-US" sz="22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Surviving Sepsis 2026 [PMID: 41869847]; SCCM 2020 [PMID: 32058387]; EASL ACLF 2023 [PMID: 37364789]</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Too little volume, or too much?</a:t>
            </a:r>
            <a:endParaRPr lang="en-US" sz="3000" dirty="0"/>
          </a:p>
        </p:txBody>
      </p:sp>
      <p:pic>
        <p:nvPicPr>
          <p:cNvPr id="3" name="Image 0" descr="IVC on ultrasound: full and collapsing">    </p:cNvPr>
          <p:cNvPicPr>
            <a:picLocks noChangeAspect="1"/>
          </p:cNvPicPr>
          <p:nvPr/>
        </p:nvPicPr>
        <p:blipFill>
          <a:blip r:embed="rId1"/>
          <a:stretch>
            <a:fillRect/>
          </a:stretch>
        </p:blipFill>
        <p:spPr>
          <a:xfrm>
            <a:off x="731520" y="1280160"/>
            <a:ext cx="10728655" cy="3847302"/>
          </a:xfrm>
          <a:prstGeom prst="rect">
            <a:avLst/>
          </a:prstGeom>
        </p:spPr>
      </p:pic>
      <p:sp>
        <p:nvSpPr>
          <p:cNvPr id="4" name="Question"/>
          <p:cNvSpPr txBox="1"/>
          <p:nvPr/>
        </p:nvSpPr>
        <p:spPr>
          <a:xfrm>
            <a:off x="822960" y="548640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Which one would you give more fluid?</a:t>
            </a:r>
            <a:endParaRPr lang="en-US" sz="24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Too little volume, or too much?</a:t>
            </a:r>
            <a:endParaRPr lang="en-US" sz="3000" dirty="0"/>
          </a:p>
        </p:txBody>
      </p:sp>
      <p:pic>
        <p:nvPicPr>
          <p:cNvPr id="3" name="Image 0" descr="IVC on ultrasound: full and collapsing">    </p:cNvPr>
          <p:cNvPicPr>
            <a:picLocks noChangeAspect="1"/>
          </p:cNvPicPr>
          <p:nvPr/>
        </p:nvPicPr>
        <p:blipFill>
          <a:blip r:embed="rId1"/>
          <a:stretch>
            <a:fillRect/>
          </a:stretch>
        </p:blipFill>
        <p:spPr>
          <a:xfrm>
            <a:off x="731520" y="1280160"/>
            <a:ext cx="10728655" cy="3847302"/>
          </a:xfrm>
          <a:prstGeom prst="rect">
            <a:avLst/>
          </a:prstGeom>
        </p:spPr>
      </p:pic>
      <p:sp>
        <p:nvSpPr>
          <p:cNvPr id="4" name="Body"/>
          <p:cNvSpPr txBox="1"/>
          <p:nvPr/>
        </p:nvSpPr>
        <p:spPr>
          <a:xfrm>
            <a:off x="822960" y="5349240"/>
            <a:ext cx="10545775" cy="411480"/>
          </a:xfrm>
          <a:prstGeom prst="rect">
            <a:avLst/>
          </a:prstGeom>
          <a:noFill/>
          <a:ln/>
        </p:spPr>
        <p:txBody>
          <a:bodyPr wrap="square" lIns="50800" tIns="50800" rIns="50800" bIns="50800" rtlCol="0" anchor="t"/>
          <a:lstStyle/>
          <a:p>
            <a:pPr algn="ctr" indent="0" marL="0">
              <a:spcBef>
                <a:spcPts val="800"/>
              </a:spcBef>
              <a:buNone/>
            </a:pPr>
            <a:r>
              <a:rPr lang="en-US" sz="1800" i="1" dirty="0">
                <a:solidFill>
                  <a:srgbClr val="000000"/>
                </a:solidFill>
                <a:latin typeface="Georgia" pitchFamily="34" charset="0"/>
                <a:ea typeface="Georgia" pitchFamily="34" charset="-122"/>
                <a:cs typeface="Georgia" pitchFamily="34" charset="-120"/>
              </a:rPr>
              <a:t>Left: a full, plethoric IVC. Right: an IVC that collapses</a:t>
            </a:r>
            <a:endParaRPr lang="en-US" sz="1800" dirty="0"/>
          </a:p>
        </p:txBody>
      </p:sp>
      <p:sp>
        <p:nvSpPr>
          <p:cNvPr id="5" name="Question"/>
          <p:cNvSpPr txBox="1"/>
          <p:nvPr/>
        </p:nvSpPr>
        <p:spPr>
          <a:xfrm>
            <a:off x="822960" y="5760720"/>
            <a:ext cx="10545775" cy="548640"/>
          </a:xfrm>
          <a:prstGeom prst="rect">
            <a:avLst/>
          </a:prstGeom>
          <a:noFill/>
          <a:ln/>
        </p:spPr>
        <p:txBody>
          <a:bodyPr wrap="square" lIns="0" tIns="0" rIns="0" bIns="0" rtlCol="0" anchor="ctr"/>
          <a:lstStyle/>
          <a:p>
            <a:pPr algn="ctr" indent="0" marL="0">
              <a:buNone/>
            </a:pPr>
            <a:r>
              <a:rPr lang="en-US" sz="2200" b="1" dirty="0">
                <a:solidFill>
                  <a:srgbClr val="000000"/>
                </a:solidFill>
                <a:latin typeface="Georgia" pitchFamily="34" charset="0"/>
                <a:ea typeface="Georgia" pitchFamily="34" charset="-122"/>
                <a:cs typeface="Georgia" pitchFamily="34" charset="-120"/>
              </a:rPr>
              <a:t>Look before you give the next liter</a:t>
            </a:r>
            <a:endParaRPr lang="en-US" sz="22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Why is his pressure low to begin with?</a:t>
            </a:r>
            <a:endParaRPr lang="en-US" sz="3000" dirty="0"/>
          </a:p>
        </p:txBody>
      </p:sp>
      <p:pic>
        <p:nvPicPr>
          <p:cNvPr id="3" name="Image 0" descr="Splanchnic vasodilation in cirrhosis">    </p:cNvPr>
          <p:cNvPicPr>
            <a:picLocks noChangeAspect="1"/>
          </p:cNvPicPr>
          <p:nvPr/>
        </p:nvPicPr>
        <p:blipFill>
          <a:blip r:embed="rId1"/>
          <a:stretch>
            <a:fillRect/>
          </a:stretch>
        </p:blipFill>
        <p:spPr>
          <a:xfrm>
            <a:off x="2026768" y="1188720"/>
            <a:ext cx="8138160" cy="4892040"/>
          </a:xfrm>
          <a:prstGeom prst="rect">
            <a:avLst/>
          </a:prstGeom>
        </p:spPr>
      </p:pic>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Rondon-Berrios H, Velez JCQ. Clin Liver Dis 2022</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ALF, decompensation or ACLF?</a:t>
            </a:r>
            <a:endParaRPr lang="en-US" sz="3000" dirty="0"/>
          </a:p>
        </p:txBody>
      </p:sp>
      <p:graphicFrame>
        <p:nvGraphicFramePr>
          <p:cNvPr id="77" name="Table"/>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2011680"/>
                <a:gridCol w="2926080"/>
                <a:gridCol w="2926080"/>
                <a:gridCol w="3227832"/>
              </a:tblGrid>
              <a:tr h="457200">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Acute liver failure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Acute decompensation</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ACLF</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868680">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Liver before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31520">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What defines it</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31520">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What usually kills</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31520">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ICU focus</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31520">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Transplant</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EASL ALF 2017 [PMID: 28417882]; EASL ACLF 2023 [PMID: 37364789]</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ALF, decompensation or ACLF?</a:t>
            </a:r>
            <a:endParaRPr lang="en-US" sz="3000" dirty="0"/>
          </a:p>
        </p:txBody>
      </p:sp>
      <p:graphicFrame>
        <p:nvGraphicFramePr>
          <p:cNvPr id="78" name="Table"/>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2011680"/>
                <a:gridCol w="2926080"/>
                <a:gridCol w="2926080"/>
                <a:gridCol w="3227832"/>
              </a:tblGrid>
              <a:tr h="457200">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Acute liver failure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Acute decompensation</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ACLF</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868680">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Liver before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No cirrhosis</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Cirrhosis</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Cirrhosis (or chronic liver disease, depending on definition)</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31520">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What defines it</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INR ≥ 1.5 + encephalopathy</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Ascites, bleeding, encephalopathy, jaundice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Decompensation + organ failure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31520">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What usually kills</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Brain, multiorgan failure, sepsis</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Bleeding, infection. Can turn into ACLF</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Infection, shock, multiorgan failure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31520">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ICU focus</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Brain, ammonia, early CRRT</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Treat the trigger</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Source control, shock, kidney vs lung</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31520">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Transplant</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Urgent listing pathway</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Refer when MELD or the complication calls for it</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Narrow window; reassess daily</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EASL ALF 2017 [PMID: 28417882]; EASL ACLF 2023 [PMID: 37364789]</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Count the failing organs</a:t>
            </a:r>
            <a:endParaRPr lang="en-US" sz="3000" dirty="0"/>
          </a:p>
        </p:txBody>
      </p:sp>
      <p:graphicFrame>
        <p:nvGraphicFramePr>
          <p:cNvPr id="79" name="Table"/>
          <p:cNvGraphicFramePr>
            <a:graphicFrameLocks noGrp="1"/>
          </p:cNvGraphicFramePr>
          <p:nvPr>
            <p:extLst>
              <p:ext uri="{D42A27DB-BD31-4B8C-83A1-F6EECF244321}">
                <p14:modId xmlns:p14="http://schemas.microsoft.com/office/powerpoint/2010/main" val="1579011935"/>
              </p:ext>
            </p:extLst>
          </p:nvPr>
        </p:nvGraphicFramePr>
        <p:xfrm>
          <a:off x="640080" y="1280160"/>
          <a:ext cx="8229600" cy="914400"/>
        </p:xfrm>
        <a:graphic>
          <a:graphicData uri="http://schemas.openxmlformats.org/drawingml/2006/table">
            <a:tbl>
              <a:tblPr/>
              <a:tblGrid>
                <a:gridCol w="2103120"/>
                <a:gridCol w="6126480"/>
              </a:tblGrid>
              <a:tr h="457200">
                <a:tc>
                  <a:txBody>
                    <a:bodyPr/>
                    <a:lstStyle/>
                    <a:p>
                      <a:pPr algn="l" indent="0" marL="0">
                        <a:buNone/>
                      </a:pPr>
                      <a:r>
                        <a:rPr lang="en-US" sz="1700" b="1" dirty="0">
                          <a:solidFill>
                            <a:srgbClr val="000000"/>
                          </a:solidFill>
                          <a:latin typeface="Calibri" pitchFamily="34" charset="0"/>
                          <a:ea typeface="Calibri" pitchFamily="34" charset="-122"/>
                          <a:cs typeface="Calibri" pitchFamily="34" charset="-120"/>
                        </a:rPr>
                        <a:t>Organ</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700" b="1" dirty="0">
                          <a:solidFill>
                            <a:srgbClr val="000000"/>
                          </a:solidFill>
                          <a:latin typeface="Calibri" pitchFamily="34" charset="0"/>
                          <a:ea typeface="Calibri" pitchFamily="34" charset="-122"/>
                          <a:cs typeface="Calibri" pitchFamily="34" charset="-120"/>
                        </a:rPr>
                        <a:t>Failure (EASL-CLIF)</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4864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Liver</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Bilirubin ≥ 12 mg/dL</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Kidney</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Creatinine ≥ 2.0 mg/dL or on RRT</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Brain</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Encephalopathy grade III-IV</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Coagulation</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INR ≥ 2.5</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Circulation</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Vasopressors (or terlipressin)</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7724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Lungs</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PaO2/FiO2 ≤ 200, SpO2/FiO2 ≤ 214, or ventilated (not for encephalopathy)</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CLIF-C organ failure score, EASL ACLF 2023 [PMID: 37364789]; CANONIC [PMID: 23474284]</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Count the failing organs</a:t>
            </a:r>
            <a:endParaRPr lang="en-US" sz="3000" dirty="0"/>
          </a:p>
        </p:txBody>
      </p:sp>
      <p:graphicFrame>
        <p:nvGraphicFramePr>
          <p:cNvPr id="80" name="Table"/>
          <p:cNvGraphicFramePr>
            <a:graphicFrameLocks noGrp="1"/>
          </p:cNvGraphicFramePr>
          <p:nvPr>
            <p:extLst>
              <p:ext uri="{D42A27DB-BD31-4B8C-83A1-F6EECF244321}">
                <p14:modId xmlns:p14="http://schemas.microsoft.com/office/powerpoint/2010/main" val="1579011935"/>
              </p:ext>
            </p:extLst>
          </p:nvPr>
        </p:nvGraphicFramePr>
        <p:xfrm>
          <a:off x="640080" y="1280160"/>
          <a:ext cx="10911535" cy="914400"/>
        </p:xfrm>
        <a:graphic>
          <a:graphicData uri="http://schemas.openxmlformats.org/drawingml/2006/table">
            <a:tbl>
              <a:tblPr/>
              <a:tblGrid>
                <a:gridCol w="1828800"/>
                <a:gridCol w="5669280"/>
                <a:gridCol w="3410712"/>
              </a:tblGrid>
              <a:tr h="457200">
                <a:tc>
                  <a:txBody>
                    <a:bodyPr/>
                    <a:lstStyle/>
                    <a:p>
                      <a:pPr algn="l" indent="0" marL="0">
                        <a:buNone/>
                      </a:pPr>
                      <a:r>
                        <a:rPr lang="en-US" sz="1700" b="1" dirty="0">
                          <a:solidFill>
                            <a:srgbClr val="000000"/>
                          </a:solidFill>
                          <a:latin typeface="Calibri" pitchFamily="34" charset="0"/>
                          <a:ea typeface="Calibri" pitchFamily="34" charset="-122"/>
                          <a:cs typeface="Calibri" pitchFamily="34" charset="-120"/>
                        </a:rPr>
                        <a:t>Organ</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700" b="1" dirty="0">
                          <a:solidFill>
                            <a:srgbClr val="000000"/>
                          </a:solidFill>
                          <a:latin typeface="Calibri" pitchFamily="34" charset="0"/>
                          <a:ea typeface="Calibri" pitchFamily="34" charset="-122"/>
                          <a:cs typeface="Calibri" pitchFamily="34" charset="-120"/>
                        </a:rPr>
                        <a:t>Failure (EASL-CLIF)</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700" b="1" dirty="0">
                          <a:solidFill>
                            <a:srgbClr val="000000"/>
                          </a:solidFill>
                          <a:latin typeface="Calibri" pitchFamily="34" charset="0"/>
                          <a:ea typeface="Calibri" pitchFamily="34" charset="-122"/>
                          <a:cs typeface="Calibri" pitchFamily="34" charset="-120"/>
                        </a:rPr>
                        <a:t>Patient B</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4864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Liver</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Bilirubin ≥ 12 mg/dL</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5.8: no</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Kidney</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Creatinine ≥ 2.0 mg/dL or on RRT</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b="1" dirty="0">
                          <a:solidFill>
                            <a:srgbClr val="000000"/>
                          </a:solidFill>
                          <a:highlight>
                            <a:srgbClr val="FFFF00"/>
                          </a:highlight>
                          <a:latin typeface="Calibri" pitchFamily="34" charset="0"/>
                          <a:ea typeface="Calibri" pitchFamily="34" charset="-122"/>
                          <a:cs typeface="Calibri" pitchFamily="34" charset="-120"/>
                        </a:rPr>
                        <a:t>2.6: yes</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Brain</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Encephalopathy grade III-IV</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Grade II: no</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Coagulation</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INR ≥ 2.5</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2.1: no</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Circulation</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Vasopressors (or terlipressin)</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b="1" dirty="0">
                          <a:solidFill>
                            <a:srgbClr val="000000"/>
                          </a:solidFill>
                          <a:highlight>
                            <a:srgbClr val="FFFF00"/>
                          </a:highlight>
                          <a:latin typeface="Calibri" pitchFamily="34" charset="0"/>
                          <a:ea typeface="Calibri" pitchFamily="34" charset="-122"/>
                          <a:cs typeface="Calibri" pitchFamily="34" charset="-120"/>
                        </a:rPr>
                        <a:t>Norepinephrine: yes</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7724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Lungs</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PaO2/FiO2 ≤ 200, SpO2/FiO2 ≤ 214, or ventilated (not for encephalopathy)</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PaO2/FiO2 211: no</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Question"/>
          <p:cNvSpPr txBox="1"/>
          <p:nvPr/>
        </p:nvSpPr>
        <p:spPr>
          <a:xfrm>
            <a:off x="822960" y="5486400"/>
            <a:ext cx="10545775" cy="548640"/>
          </a:xfrm>
          <a:prstGeom prst="rect">
            <a:avLst/>
          </a:prstGeom>
          <a:noFill/>
          <a:ln/>
        </p:spPr>
        <p:txBody>
          <a:bodyPr wrap="square" lIns="0" tIns="0" rIns="0" bIns="0" rtlCol="0" anchor="ctr"/>
          <a:lstStyle/>
          <a:p>
            <a:pPr algn="ctr" indent="0" marL="0">
              <a:buNone/>
            </a:pPr>
            <a:r>
              <a:rPr lang="en-US" sz="2600" b="1" dirty="0">
                <a:solidFill>
                  <a:srgbClr val="000000"/>
                </a:solidFill>
                <a:highlight>
                  <a:srgbClr val="FFFF00"/>
                </a:highlight>
                <a:latin typeface="Georgia" pitchFamily="34" charset="0"/>
                <a:ea typeface="Georgia" pitchFamily="34" charset="-122"/>
                <a:cs typeface="Georgia" pitchFamily="34" charset="-120"/>
              </a:rPr>
              <a:t>Two organ failures: ACLF grade 2</a:t>
            </a:r>
            <a:endParaRPr lang="en-US" sz="26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CLIF-C organ failure score, EASL ACLF 2023 [PMID: 37364789]; CANONIC [PMID: 23474284]</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ACLF grades</a:t>
            </a:r>
            <a:endParaRPr lang="en-US" sz="3000" dirty="0"/>
          </a:p>
        </p:txBody>
      </p:sp>
      <p:graphicFrame>
        <p:nvGraphicFramePr>
          <p:cNvPr id="81" name="Table"/>
          <p:cNvGraphicFramePr>
            <a:graphicFrameLocks noGrp="1"/>
          </p:cNvGraphicFramePr>
          <p:nvPr>
            <p:extLst>
              <p:ext uri="{D42A27DB-BD31-4B8C-83A1-F6EECF244321}">
                <p14:modId xmlns:p14="http://schemas.microsoft.com/office/powerpoint/2010/main" val="1579011935"/>
              </p:ext>
            </p:extLst>
          </p:nvPr>
        </p:nvGraphicFramePr>
        <p:xfrm>
          <a:off x="822960" y="1325880"/>
          <a:ext cx="10545775" cy="914400"/>
        </p:xfrm>
        <a:graphic>
          <a:graphicData uri="http://schemas.openxmlformats.org/drawingml/2006/table">
            <a:tbl>
              <a:tblPr/>
              <a:tblGrid>
                <a:gridCol w="1828800"/>
                <a:gridCol w="8897112"/>
              </a:tblGrid>
              <a:tr h="457200">
                <a:tc>
                  <a:txBody>
                    <a:bodyPr/>
                    <a:lstStyle/>
                    <a:p>
                      <a:pPr algn="l" indent="0" marL="0">
                        <a:buNone/>
                      </a:pPr>
                      <a:r>
                        <a:rPr lang="en-US" sz="1800" b="1" dirty="0">
                          <a:solidFill>
                            <a:srgbClr val="000000"/>
                          </a:solidFill>
                          <a:latin typeface="Calibri" pitchFamily="34" charset="0"/>
                          <a:ea typeface="Calibri" pitchFamily="34" charset="-122"/>
                          <a:cs typeface="Calibri" pitchFamily="34" charset="-120"/>
                        </a:rPr>
                        <a:t>Grade</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800" b="1" dirty="0">
                          <a:solidFill>
                            <a:srgbClr val="000000"/>
                          </a:solidFill>
                          <a:latin typeface="Calibri" pitchFamily="34" charset="0"/>
                          <a:ea typeface="Calibri" pitchFamily="34" charset="-122"/>
                          <a:cs typeface="Calibri" pitchFamily="34" charset="-120"/>
                        </a:rPr>
                        <a:t>What it takes</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1280160">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No ACLF</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No organ failure; or</a:t>
                      </a:r>
                      <a:endParaRPr lang="en-US" sz="1800" dirty="0">
                        <a:latin typeface="Calibri" charset="0"/>
                        <a:ea typeface="Calibri" charset="0"/>
                        <a:cs typeface="Calibri" charset="0"/>
                      </a:endParaRPr>
                    </a:p>
                    <a:p>
                      <a:pPr algn="l" indent="0" marL="0">
                        <a:buNone/>
                      </a:pPr>
                      <a:r>
                        <a:rPr lang="en-US" sz="1800" dirty="0">
                          <a:solidFill>
                            <a:srgbClr val="000000"/>
                          </a:solidFill>
                          <a:latin typeface="Calibri" pitchFamily="34" charset="0"/>
                          <a:ea typeface="Calibri" pitchFamily="34" charset="-122"/>
                          <a:cs typeface="Calibri" pitchFamily="34" charset="-120"/>
                        </a:rPr>
                        <a:t>one failure of liver, clotting, circulation or lungs, with creatinine &lt; 1.5 and no HE; or</a:t>
                      </a:r>
                      <a:endParaRPr lang="en-US" sz="1800" dirty="0">
                        <a:latin typeface="Calibri" charset="0"/>
                        <a:ea typeface="Calibri" charset="0"/>
                        <a:cs typeface="Calibri" charset="0"/>
                      </a:endParaRPr>
                    </a:p>
                    <a:p>
                      <a:pPr algn="l" indent="0" marL="0">
                        <a:buNone/>
                      </a:pPr>
                      <a:r>
                        <a:rPr lang="en-US" sz="1800" dirty="0">
                          <a:solidFill>
                            <a:srgbClr val="000000"/>
                          </a:solidFill>
                          <a:latin typeface="Calibri" pitchFamily="34" charset="0"/>
                          <a:ea typeface="Calibri" pitchFamily="34" charset="-122"/>
                          <a:cs typeface="Calibri" pitchFamily="34" charset="-120"/>
                        </a:rPr>
                        <a:t>brain failure alone, with creatinine &lt; 1.5</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1280160">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ACLF 1</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Kidney failure alone; or</a:t>
                      </a:r>
                      <a:endParaRPr lang="en-US" sz="1800" dirty="0">
                        <a:latin typeface="Calibri" charset="0"/>
                        <a:ea typeface="Calibri" charset="0"/>
                        <a:cs typeface="Calibri" charset="0"/>
                      </a:endParaRPr>
                    </a:p>
                    <a:p>
                      <a:pPr algn="l" indent="0" marL="0">
                        <a:buNone/>
                      </a:pPr>
                      <a:r>
                        <a:rPr lang="en-US" sz="1800" dirty="0">
                          <a:solidFill>
                            <a:srgbClr val="000000"/>
                          </a:solidFill>
                          <a:latin typeface="Calibri" pitchFamily="34" charset="0"/>
                          <a:ea typeface="Calibri" pitchFamily="34" charset="-122"/>
                          <a:cs typeface="Calibri" pitchFamily="34" charset="-120"/>
                        </a:rPr>
                        <a:t>one failure of liver, clotting, circulation or lungs, with creatinine 1.5 to 1.9 and/or grade I-II HE; or</a:t>
                      </a:r>
                      <a:endParaRPr lang="en-US" sz="1800" dirty="0">
                        <a:latin typeface="Calibri" charset="0"/>
                        <a:ea typeface="Calibri" charset="0"/>
                        <a:cs typeface="Calibri" charset="0"/>
                      </a:endParaRPr>
                    </a:p>
                    <a:p>
                      <a:pPr algn="l" indent="0" marL="0">
                        <a:buNone/>
                      </a:pPr>
                      <a:r>
                        <a:rPr lang="en-US" sz="1800" dirty="0">
                          <a:solidFill>
                            <a:srgbClr val="000000"/>
                          </a:solidFill>
                          <a:latin typeface="Calibri" pitchFamily="34" charset="0"/>
                          <a:ea typeface="Calibri" pitchFamily="34" charset="-122"/>
                          <a:cs typeface="Calibri" pitchFamily="34" charset="-120"/>
                        </a:rPr>
                        <a:t>brain failure alone, with creatinine 1.5 to 1.9</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ACLF 2</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Two organ failures</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ACLF 3</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Three or more</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Body"/>
          <p:cNvSpPr txBox="1"/>
          <p:nvPr/>
        </p:nvSpPr>
        <p:spPr>
          <a:xfrm>
            <a:off x="822960" y="5486400"/>
            <a:ext cx="10545775" cy="548640"/>
          </a:xfrm>
          <a:prstGeom prst="rect">
            <a:avLst/>
          </a:prstGeom>
          <a:noFill/>
          <a:ln/>
        </p:spPr>
        <p:txBody>
          <a:bodyPr wrap="square" lIns="50800" tIns="50800" rIns="50800" bIns="50800" rtlCol="0" anchor="t"/>
          <a:lstStyle/>
          <a:p>
            <a:pPr algn="ctr" indent="0" marL="0">
              <a:spcBef>
                <a:spcPts val="800"/>
              </a:spcBef>
              <a:buNone/>
            </a:pPr>
            <a:r>
              <a:rPr lang="en-US" sz="1800" i="1" dirty="0">
                <a:solidFill>
                  <a:srgbClr val="000000"/>
                </a:solidFill>
                <a:latin typeface="Georgia" pitchFamily="34" charset="0"/>
                <a:ea typeface="Georgia" pitchFamily="34" charset="-122"/>
                <a:cs typeface="Georgia" pitchFamily="34" charset="-120"/>
              </a:rPr>
              <a:t>A patient with "no ACLF" can still be very sick. Use the CLIF-C calculator</a:t>
            </a:r>
            <a:endParaRPr lang="en-US" sz="18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Moreau R et al. Gastroenterology 2013 [PMID: 23474284]; EASL ACLF 2023 [PMID: 37364789]</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28-day mortality by ACLF grade</a:t>
            </a:r>
            <a:endParaRPr lang="en-US" sz="3000" dirty="0"/>
          </a:p>
        </p:txBody>
      </p:sp>
      <p:graphicFrame>
        <p:nvGraphicFramePr>
          <p:cNvPr id="3" name="Chart 0" descr=""/>
          <p:cNvGraphicFramePr/>
          <p:nvPr/>
        </p:nvGraphicFramePr>
        <p:xfrm>
          <a:off x="1828800" y="1280160"/>
          <a:ext cx="8503920" cy="4023360"/>
        </p:xfrm>
        <a:graphic xmlns:a="http://schemas.openxmlformats.org/drawingml/2006/main">
          <a:graphicData uri="http://schemas.openxmlformats.org/drawingml/2006/chart">
            <c:chart xmlns:c="http://schemas.openxmlformats.org/drawingml/2006/chart" r:id="rId1"/>
          </a:graphicData>
        </a:graphic>
      </p:graphicFrame>
      <p:sp>
        <p:nvSpPr>
          <p:cNvPr id="4" name="Body"/>
          <p:cNvSpPr txBox="1"/>
          <p:nvPr/>
        </p:nvSpPr>
        <p:spPr>
          <a:xfrm>
            <a:off x="822960" y="5440680"/>
            <a:ext cx="10545775" cy="548640"/>
          </a:xfrm>
          <a:prstGeom prst="rect">
            <a:avLst/>
          </a:prstGeom>
          <a:noFill/>
          <a:ln/>
        </p:spPr>
        <p:txBody>
          <a:bodyPr wrap="square" lIns="50800" tIns="50800" rIns="50800" bIns="50800" rtlCol="0" anchor="t"/>
          <a:lstStyle/>
          <a:p>
            <a:pPr algn="ctr" indent="0" marL="0">
              <a:spcBef>
                <a:spcPts val="800"/>
              </a:spcBef>
              <a:buNone/>
            </a:pPr>
            <a:r>
              <a:rPr lang="en-US" sz="1800" i="1" dirty="0">
                <a:solidFill>
                  <a:srgbClr val="000000"/>
                </a:solidFill>
                <a:latin typeface="Georgia" pitchFamily="34" charset="0"/>
                <a:ea typeface="Georgia" pitchFamily="34" charset="-122"/>
                <a:cs typeface="Georgia" pitchFamily="34" charset="-120"/>
              </a:rPr>
              <a:t>CANONIC, 1,343 patients, 2013</a:t>
            </a:r>
            <a:endParaRPr lang="en-US" sz="18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Moreau R et al. Gastroenterology 2013 [PMID: 23474284]</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Why do the organs fail?</a:t>
            </a:r>
            <a:endParaRPr lang="en-US" sz="3000" dirty="0"/>
          </a:p>
        </p:txBody>
      </p:sp>
      <p:sp>
        <p:nvSpPr>
          <p:cNvPr id="3" name="Box"/>
          <p:cNvSpPr/>
          <p:nvPr/>
        </p:nvSpPr>
        <p:spPr>
          <a:xfrm>
            <a:off x="548640" y="1463040"/>
            <a:ext cx="3017520" cy="868680"/>
          </a:xfrm>
          <a:prstGeom prst="rect">
            <a:avLst/>
          </a:prstGeom>
          <a:solidFill>
            <a:srgbClr val="FFFFFF"/>
          </a:solidFill>
          <a:ln w="12700">
            <a:solidFill>
              <a:srgbClr val="000000"/>
            </a:solidFill>
            <a:prstDash val="solid"/>
          </a:ln>
        </p:spPr>
      </p:sp>
      <p:sp>
        <p:nvSpPr>
          <p:cNvPr id="4" name="Text 2"/>
          <p:cNvSpPr txBox="1"/>
          <p:nvPr/>
        </p:nvSpPr>
        <p:spPr>
          <a:xfrm>
            <a:off x="548640" y="1463040"/>
            <a:ext cx="3017520" cy="868680"/>
          </a:xfrm>
          <a:prstGeom prst="rect">
            <a:avLst/>
          </a:prstGeom>
          <a:noFill/>
          <a:ln/>
        </p:spPr>
        <p:txBody>
          <a:bodyPr wrap="square" lIns="50800" tIns="50800" rIns="50800" bIns="50800" rtlCol="0" anchor="ctr"/>
          <a:lstStyle/>
          <a:p>
            <a:pPr algn="ctr" indent="0" marL="0">
              <a:buNone/>
            </a:pPr>
            <a:r>
              <a:rPr lang="en-US" sz="1600" dirty="0">
                <a:solidFill>
                  <a:srgbClr val="000000"/>
                </a:solidFill>
                <a:latin typeface="Georgia" pitchFamily="34" charset="0"/>
                <a:ea typeface="Georgia" pitchFamily="34" charset="-122"/>
                <a:cs typeface="Georgia" pitchFamily="34" charset="-120"/>
              </a:rPr>
              <a:t>Trigger: SBP</a:t>
            </a:r>
            <a:endParaRPr lang="en-US" sz="1600" dirty="0"/>
          </a:p>
        </p:txBody>
      </p:sp>
      <p:sp>
        <p:nvSpPr>
          <p:cNvPr id="5" name="Box"/>
          <p:cNvSpPr/>
          <p:nvPr/>
        </p:nvSpPr>
        <p:spPr>
          <a:xfrm>
            <a:off x="4526280" y="1463040"/>
            <a:ext cx="3017520" cy="868680"/>
          </a:xfrm>
          <a:prstGeom prst="rect">
            <a:avLst/>
          </a:prstGeom>
          <a:solidFill>
            <a:srgbClr val="FFFFFF"/>
          </a:solidFill>
          <a:ln w="12700">
            <a:solidFill>
              <a:srgbClr val="000000"/>
            </a:solidFill>
            <a:prstDash val="solid"/>
          </a:ln>
        </p:spPr>
      </p:sp>
      <p:sp>
        <p:nvSpPr>
          <p:cNvPr id="6" name="Text 4"/>
          <p:cNvSpPr txBox="1"/>
          <p:nvPr/>
        </p:nvSpPr>
        <p:spPr>
          <a:xfrm>
            <a:off x="4526280" y="1463040"/>
            <a:ext cx="3017520" cy="868680"/>
          </a:xfrm>
          <a:prstGeom prst="rect">
            <a:avLst/>
          </a:prstGeom>
          <a:noFill/>
          <a:ln/>
        </p:spPr>
        <p:txBody>
          <a:bodyPr wrap="square" lIns="50800" tIns="50800" rIns="50800" bIns="50800" rtlCol="0" anchor="ctr"/>
          <a:lstStyle/>
          <a:p>
            <a:pPr algn="ctr" indent="0" marL="0">
              <a:buNone/>
            </a:pPr>
            <a:r>
              <a:rPr lang="en-US" sz="1600" dirty="0">
                <a:solidFill>
                  <a:srgbClr val="000000"/>
                </a:solidFill>
                <a:latin typeface="Georgia" pitchFamily="34" charset="0"/>
                <a:ea typeface="Georgia" pitchFamily="34" charset="-122"/>
                <a:cs typeface="Georgia" pitchFamily="34" charset="-120"/>
              </a:rPr>
              <a:t>Bacterial products and damaged-cell signals (PAMPs, DAMPs)</a:t>
            </a:r>
            <a:endParaRPr lang="en-US" sz="1600" dirty="0"/>
          </a:p>
        </p:txBody>
      </p:sp>
      <p:sp>
        <p:nvSpPr>
          <p:cNvPr id="7" name="Box"/>
          <p:cNvSpPr/>
          <p:nvPr/>
        </p:nvSpPr>
        <p:spPr>
          <a:xfrm>
            <a:off x="8503920" y="1463040"/>
            <a:ext cx="3017520" cy="868680"/>
          </a:xfrm>
          <a:prstGeom prst="rect">
            <a:avLst/>
          </a:prstGeom>
          <a:solidFill>
            <a:srgbClr val="FFFFFF"/>
          </a:solidFill>
          <a:ln w="12700">
            <a:solidFill>
              <a:srgbClr val="000000"/>
            </a:solidFill>
            <a:prstDash val="solid"/>
          </a:ln>
        </p:spPr>
      </p:sp>
      <p:sp>
        <p:nvSpPr>
          <p:cNvPr id="8" name="Text 6"/>
          <p:cNvSpPr txBox="1"/>
          <p:nvPr/>
        </p:nvSpPr>
        <p:spPr>
          <a:xfrm>
            <a:off x="8503920" y="1463040"/>
            <a:ext cx="3017520" cy="868680"/>
          </a:xfrm>
          <a:prstGeom prst="rect">
            <a:avLst/>
          </a:prstGeom>
          <a:noFill/>
          <a:ln/>
        </p:spPr>
        <p:txBody>
          <a:bodyPr wrap="square" lIns="50800" tIns="50800" rIns="50800" bIns="50800" rtlCol="0" anchor="ctr"/>
          <a:lstStyle/>
          <a:p>
            <a:pPr algn="ctr" indent="0" marL="0">
              <a:buNone/>
            </a:pPr>
            <a:r>
              <a:rPr lang="en-US" sz="1600" b="1" dirty="0">
                <a:solidFill>
                  <a:srgbClr val="000000"/>
                </a:solidFill>
                <a:latin typeface="Georgia" pitchFamily="34" charset="0"/>
                <a:ea typeface="Georgia" pitchFamily="34" charset="-122"/>
                <a:cs typeface="Georgia" pitchFamily="34" charset="-120"/>
              </a:rPr>
              <a:t>Systemic inflammation, cytokine storm</a:t>
            </a:r>
            <a:endParaRPr lang="en-US" sz="1600" dirty="0"/>
          </a:p>
        </p:txBody>
      </p:sp>
      <p:sp>
        <p:nvSpPr>
          <p:cNvPr id="9" name="Arrow"/>
          <p:cNvSpPr/>
          <p:nvPr/>
        </p:nvSpPr>
        <p:spPr>
          <a:xfrm>
            <a:off x="3566160" y="1897380"/>
            <a:ext cx="960120" cy="914"/>
          </a:xfrm>
          <a:prstGeom prst="line">
            <a:avLst/>
          </a:prstGeom>
          <a:noFill/>
          <a:ln w="19050">
            <a:solidFill>
              <a:srgbClr val="000000"/>
            </a:solidFill>
            <a:prstDash val="solid"/>
            <a:tailEnd type="triangle"/>
          </a:ln>
        </p:spPr>
      </p:sp>
      <p:sp>
        <p:nvSpPr>
          <p:cNvPr id="10" name="Arrow"/>
          <p:cNvSpPr/>
          <p:nvPr/>
        </p:nvSpPr>
        <p:spPr>
          <a:xfrm>
            <a:off x="7543800" y="1897380"/>
            <a:ext cx="960120" cy="914"/>
          </a:xfrm>
          <a:prstGeom prst="line">
            <a:avLst/>
          </a:prstGeom>
          <a:noFill/>
          <a:ln w="19050">
            <a:solidFill>
              <a:srgbClr val="000000"/>
            </a:solidFill>
            <a:prstDash val="solid"/>
            <a:tailEnd type="triangle"/>
          </a:ln>
        </p:spPr>
      </p:sp>
      <p:sp>
        <p:nvSpPr>
          <p:cNvPr id="11" name="Box"/>
          <p:cNvSpPr/>
          <p:nvPr/>
        </p:nvSpPr>
        <p:spPr>
          <a:xfrm>
            <a:off x="8503920" y="3108960"/>
            <a:ext cx="3017520" cy="868680"/>
          </a:xfrm>
          <a:prstGeom prst="rect">
            <a:avLst/>
          </a:prstGeom>
          <a:solidFill>
            <a:srgbClr val="FFFFFF"/>
          </a:solidFill>
          <a:ln w="12700">
            <a:solidFill>
              <a:srgbClr val="000000"/>
            </a:solidFill>
            <a:prstDash val="solid"/>
          </a:ln>
        </p:spPr>
      </p:sp>
      <p:sp>
        <p:nvSpPr>
          <p:cNvPr id="12" name="Text 10"/>
          <p:cNvSpPr txBox="1"/>
          <p:nvPr/>
        </p:nvSpPr>
        <p:spPr>
          <a:xfrm>
            <a:off x="8503920" y="3108960"/>
            <a:ext cx="3017520" cy="868680"/>
          </a:xfrm>
          <a:prstGeom prst="rect">
            <a:avLst/>
          </a:prstGeom>
          <a:noFill/>
          <a:ln/>
        </p:spPr>
        <p:txBody>
          <a:bodyPr wrap="square" lIns="50800" tIns="50800" rIns="50800" bIns="50800" rtlCol="0" anchor="ctr"/>
          <a:lstStyle/>
          <a:p>
            <a:pPr algn="ctr" indent="0" marL="0">
              <a:buNone/>
            </a:pPr>
            <a:r>
              <a:rPr lang="en-US" sz="1600" dirty="0">
                <a:solidFill>
                  <a:srgbClr val="000000"/>
                </a:solidFill>
                <a:latin typeface="Georgia" pitchFamily="34" charset="0"/>
                <a:ea typeface="Georgia" pitchFamily="34" charset="-122"/>
                <a:cs typeface="Georgia" pitchFamily="34" charset="-120"/>
              </a:rPr>
              <a:t>Worse vasodilation on top of portal hypertension</a:t>
            </a:r>
            <a:endParaRPr lang="en-US" sz="1600" dirty="0"/>
          </a:p>
        </p:txBody>
      </p:sp>
      <p:sp>
        <p:nvSpPr>
          <p:cNvPr id="13" name="Box"/>
          <p:cNvSpPr/>
          <p:nvPr/>
        </p:nvSpPr>
        <p:spPr>
          <a:xfrm>
            <a:off x="4526280" y="3108960"/>
            <a:ext cx="3017520" cy="868680"/>
          </a:xfrm>
          <a:prstGeom prst="rect">
            <a:avLst/>
          </a:prstGeom>
          <a:solidFill>
            <a:srgbClr val="FFFFFF"/>
          </a:solidFill>
          <a:ln w="12700">
            <a:solidFill>
              <a:srgbClr val="000000"/>
            </a:solidFill>
            <a:prstDash val="solid"/>
          </a:ln>
        </p:spPr>
      </p:sp>
      <p:sp>
        <p:nvSpPr>
          <p:cNvPr id="14" name="Text 12"/>
          <p:cNvSpPr txBox="1"/>
          <p:nvPr/>
        </p:nvSpPr>
        <p:spPr>
          <a:xfrm>
            <a:off x="4526280" y="3108960"/>
            <a:ext cx="3017520" cy="868680"/>
          </a:xfrm>
          <a:prstGeom prst="rect">
            <a:avLst/>
          </a:prstGeom>
          <a:noFill/>
          <a:ln/>
        </p:spPr>
        <p:txBody>
          <a:bodyPr wrap="square" lIns="50800" tIns="50800" rIns="50800" bIns="50800" rtlCol="0" anchor="ctr"/>
          <a:lstStyle/>
          <a:p>
            <a:pPr algn="ctr" indent="0" marL="0">
              <a:buNone/>
            </a:pPr>
            <a:r>
              <a:rPr lang="en-US" sz="1600" dirty="0">
                <a:solidFill>
                  <a:srgbClr val="000000"/>
                </a:solidFill>
                <a:latin typeface="Georgia" pitchFamily="34" charset="0"/>
                <a:ea typeface="Georgia" pitchFamily="34" charset="-122"/>
                <a:cs typeface="Georgia" pitchFamily="34" charset="-120"/>
              </a:rPr>
              <a:t>Immune paralysis, mitochondrial failure</a:t>
            </a:r>
            <a:endParaRPr lang="en-US" sz="1600" dirty="0"/>
          </a:p>
        </p:txBody>
      </p:sp>
      <p:sp>
        <p:nvSpPr>
          <p:cNvPr id="15" name="Box"/>
          <p:cNvSpPr/>
          <p:nvPr/>
        </p:nvSpPr>
        <p:spPr>
          <a:xfrm>
            <a:off x="548640" y="3108960"/>
            <a:ext cx="3017520" cy="868680"/>
          </a:xfrm>
          <a:prstGeom prst="rect">
            <a:avLst/>
          </a:prstGeom>
          <a:solidFill>
            <a:srgbClr val="FFFFFF"/>
          </a:solidFill>
          <a:ln w="12700">
            <a:solidFill>
              <a:srgbClr val="C00000"/>
            </a:solidFill>
            <a:prstDash val="solid"/>
          </a:ln>
        </p:spPr>
      </p:sp>
      <p:sp>
        <p:nvSpPr>
          <p:cNvPr id="16" name="Text 14"/>
          <p:cNvSpPr txBox="1"/>
          <p:nvPr/>
        </p:nvSpPr>
        <p:spPr>
          <a:xfrm>
            <a:off x="548640" y="3108960"/>
            <a:ext cx="3017520" cy="868680"/>
          </a:xfrm>
          <a:prstGeom prst="rect">
            <a:avLst/>
          </a:prstGeom>
          <a:noFill/>
          <a:ln/>
        </p:spPr>
        <p:txBody>
          <a:bodyPr wrap="square" lIns="50800" tIns="50800" rIns="50800" bIns="50800" rtlCol="0" anchor="ctr"/>
          <a:lstStyle/>
          <a:p>
            <a:pPr algn="ctr" indent="0" marL="0">
              <a:buNone/>
            </a:pPr>
            <a:r>
              <a:rPr lang="en-US" sz="1600" b="1" dirty="0">
                <a:solidFill>
                  <a:srgbClr val="C00000"/>
                </a:solidFill>
                <a:latin typeface="Georgia" pitchFamily="34" charset="0"/>
                <a:ea typeface="Georgia" pitchFamily="34" charset="-122"/>
                <a:cs typeface="Georgia" pitchFamily="34" charset="-120"/>
              </a:rPr>
              <a:t>Organ failure</a:t>
            </a:r>
            <a:endParaRPr lang="en-US" sz="1600" dirty="0"/>
          </a:p>
        </p:txBody>
      </p:sp>
      <p:sp>
        <p:nvSpPr>
          <p:cNvPr id="17" name="Arrow"/>
          <p:cNvSpPr/>
          <p:nvPr/>
        </p:nvSpPr>
        <p:spPr>
          <a:xfrm>
            <a:off x="10012680" y="2331720"/>
            <a:ext cx="914" cy="777240"/>
          </a:xfrm>
          <a:prstGeom prst="line">
            <a:avLst/>
          </a:prstGeom>
          <a:noFill/>
          <a:ln w="19050">
            <a:solidFill>
              <a:srgbClr val="000000"/>
            </a:solidFill>
            <a:prstDash val="solid"/>
            <a:tailEnd type="triangle"/>
          </a:ln>
        </p:spPr>
      </p:sp>
      <p:sp>
        <p:nvSpPr>
          <p:cNvPr id="18" name="Arrow"/>
          <p:cNvSpPr/>
          <p:nvPr/>
        </p:nvSpPr>
        <p:spPr>
          <a:xfrm flipH="1">
            <a:off x="7543800" y="3543300"/>
            <a:ext cx="960120" cy="914"/>
          </a:xfrm>
          <a:prstGeom prst="line">
            <a:avLst/>
          </a:prstGeom>
          <a:noFill/>
          <a:ln w="19050">
            <a:solidFill>
              <a:srgbClr val="000000"/>
            </a:solidFill>
            <a:prstDash val="solid"/>
            <a:tailEnd type="triangle"/>
          </a:ln>
        </p:spPr>
      </p:sp>
      <p:sp>
        <p:nvSpPr>
          <p:cNvPr id="19" name="Arrow"/>
          <p:cNvSpPr/>
          <p:nvPr/>
        </p:nvSpPr>
        <p:spPr>
          <a:xfrm flipH="1">
            <a:off x="3566160" y="3543300"/>
            <a:ext cx="960120" cy="914"/>
          </a:xfrm>
          <a:prstGeom prst="line">
            <a:avLst/>
          </a:prstGeom>
          <a:noFill/>
          <a:ln w="19050">
            <a:solidFill>
              <a:srgbClr val="000000"/>
            </a:solidFill>
            <a:prstDash val="solid"/>
            <a:tailEnd type="triangle"/>
          </a:ln>
        </p:spPr>
      </p:sp>
      <p:sp>
        <p:nvSpPr>
          <p:cNvPr id="20" name="Body"/>
          <p:cNvSpPr txBox="1"/>
          <p:nvPr/>
        </p:nvSpPr>
        <p:spPr>
          <a:xfrm>
            <a:off x="822960" y="4389120"/>
            <a:ext cx="10545775" cy="1645920"/>
          </a:xfrm>
          <a:prstGeom prst="rect">
            <a:avLst/>
          </a:prstGeom>
          <a:noFill/>
          <a:ln/>
        </p:spPr>
        <p:txBody>
          <a:bodyPr wrap="square" lIns="50800" tIns="50800" rIns="50800" bIns="50800" rtlCol="0" anchor="t"/>
          <a:lstStyle/>
          <a:p>
            <a:pPr marL="228600" indent="-228600">
              <a:spcBef>
                <a:spcPts val="1000"/>
              </a:spcBef>
              <a:buSzPct val="100000"/>
              <a:buChar char="–"/>
            </a:pPr>
            <a:r>
              <a:rPr lang="en-US" sz="2000" dirty="0">
                <a:solidFill>
                  <a:srgbClr val="000000"/>
                </a:solidFill>
                <a:latin typeface="Georgia" pitchFamily="34" charset="0"/>
                <a:ea typeface="Georgia" pitchFamily="34" charset="-122"/>
                <a:cs typeface="Georgia" pitchFamily="34" charset="-120"/>
              </a:rPr>
              <a:t>Bed 7 so far: </a:t>
            </a:r>
            <a:r>
              <a:rPr lang="en-US" sz="2000" b="1" dirty="0">
                <a:solidFill>
                  <a:srgbClr val="C00000"/>
                </a:solidFill>
                <a:latin typeface="Georgia" pitchFamily="34" charset="0"/>
                <a:ea typeface="Georgia" pitchFamily="34" charset="-122"/>
                <a:cs typeface="Georgia" pitchFamily="34" charset="-120"/>
              </a:rPr>
              <a:t>kidney</a:t>
            </a:r>
            <a:r>
              <a:rPr lang="en-US" sz="2000" dirty="0">
                <a:solidFill>
                  <a:srgbClr val="000000"/>
                </a:solidFill>
                <a:latin typeface="Georgia" pitchFamily="34" charset="0"/>
                <a:ea typeface="Georgia" pitchFamily="34" charset="-122"/>
                <a:cs typeface="Georgia" pitchFamily="34" charset="-120"/>
              </a:rPr>
              <a:t> and </a:t>
            </a:r>
            <a:r>
              <a:rPr lang="en-US" sz="2000" b="1" dirty="0">
                <a:solidFill>
                  <a:srgbClr val="C00000"/>
                </a:solidFill>
                <a:latin typeface="Georgia" pitchFamily="34" charset="0"/>
                <a:ea typeface="Georgia" pitchFamily="34" charset="-122"/>
                <a:cs typeface="Georgia" pitchFamily="34" charset="-120"/>
              </a:rPr>
              <a:t>circulation</a:t>
            </a:r>
            <a:r>
              <a:rPr lang="en-US" sz="2000" dirty="0">
                <a:solidFill>
                  <a:srgbClr val="000000"/>
                </a:solidFill>
                <a:latin typeface="Georgia" pitchFamily="34" charset="0"/>
                <a:ea typeface="Georgia" pitchFamily="34" charset="-122"/>
                <a:cs typeface="Georgia" pitchFamily="34" charset="-120"/>
              </a:rPr>
              <a:t>. Lungs and brain are next in line</a:t>
            </a:r>
            <a:endParaRPr lang="en-US" sz="2000" dirty="0"/>
          </a:p>
          <a:p>
            <a:pPr marL="228600" indent="-228600">
              <a:spcBef>
                <a:spcPts val="1000"/>
              </a:spcBef>
              <a:buSzPct val="100000"/>
              <a:buChar char="–"/>
            </a:pPr>
            <a:r>
              <a:rPr lang="en-US" sz="2000" dirty="0">
                <a:solidFill>
                  <a:srgbClr val="000000"/>
                </a:solidFill>
                <a:latin typeface="Georgia" pitchFamily="34" charset="0"/>
                <a:ea typeface="Georgia" pitchFamily="34" charset="-122"/>
                <a:cs typeface="Georgia" pitchFamily="34" charset="-120"/>
              </a:rPr>
              <a:t>Treat the trigger early and support the organs; there is no drug for the inflammation itself</a:t>
            </a:r>
            <a:endParaRPr lang="en-US" sz="2000" dirty="0"/>
          </a:p>
        </p:txBody>
      </p:sp>
      <p:sp>
        <p:nvSpPr>
          <p:cNvPr id="21"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Concept from Arroyo V, Moreau R, Jalan R. N Engl J Med 2020</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Does he have HRS?</a:t>
            </a:r>
            <a:endParaRPr lang="en-US" sz="3000" dirty="0"/>
          </a:p>
        </p:txBody>
      </p:sp>
      <p:sp>
        <p:nvSpPr>
          <p:cNvPr id="3" name="Body"/>
          <p:cNvSpPr txBox="1"/>
          <p:nvPr/>
        </p:nvSpPr>
        <p:spPr>
          <a:xfrm>
            <a:off x="822960" y="1188720"/>
            <a:ext cx="10545775" cy="457200"/>
          </a:xfrm>
          <a:prstGeom prst="rect">
            <a:avLst/>
          </a:prstGeom>
          <a:noFill/>
          <a:ln/>
        </p:spPr>
        <p:txBody>
          <a:bodyPr wrap="square" lIns="50800" tIns="50800" rIns="50800" bIns="50800" rtlCol="0" anchor="t"/>
          <a:lstStyle/>
          <a:p>
            <a:pPr algn="ctr" indent="0" marL="0">
              <a:spcBef>
                <a:spcPts val="800"/>
              </a:spcBef>
              <a:buNone/>
            </a:pPr>
            <a:r>
              <a:rPr lang="en-US" sz="1900" i="1" dirty="0">
                <a:solidFill>
                  <a:srgbClr val="000000"/>
                </a:solidFill>
                <a:latin typeface="Georgia" pitchFamily="34" charset="0"/>
                <a:ea typeface="Georgia" pitchFamily="34" charset="-122"/>
                <a:cs typeface="Georgia" pitchFamily="34" charset="-120"/>
              </a:rPr>
              <a:t>12 hours later: creatinine 3.0, urine 10 mL/h, still on norepinephrine</a:t>
            </a:r>
            <a:endParaRPr lang="en-US" sz="1900" dirty="0"/>
          </a:p>
        </p:txBody>
      </p:sp>
      <p:sp>
        <p:nvSpPr>
          <p:cNvPr id="4" name="Question"/>
          <p:cNvSpPr txBox="1"/>
          <p:nvPr/>
        </p:nvSpPr>
        <p:spPr>
          <a:xfrm>
            <a:off x="822960" y="3017520"/>
            <a:ext cx="10545775" cy="548640"/>
          </a:xfrm>
          <a:prstGeom prst="rect">
            <a:avLst/>
          </a:prstGeom>
          <a:noFill/>
          <a:ln/>
        </p:spPr>
        <p:txBody>
          <a:bodyPr wrap="square" lIns="0" tIns="0" rIns="0" bIns="0" rtlCol="0" anchor="ctr"/>
          <a:lstStyle/>
          <a:p>
            <a:pPr algn="ctr" indent="0" marL="0">
              <a:buNone/>
            </a:pPr>
            <a:r>
              <a:rPr lang="en-US" sz="3000" b="1" dirty="0">
                <a:solidFill>
                  <a:srgbClr val="000000"/>
                </a:solidFill>
                <a:latin typeface="Georgia" pitchFamily="34" charset="0"/>
                <a:ea typeface="Georgia" pitchFamily="34" charset="-122"/>
                <a:cs typeface="Georgia" pitchFamily="34" charset="-120"/>
              </a:rPr>
              <a:t>HRS? Start terlipressin?</a:t>
            </a:r>
            <a:endParaRPr lang="en-US" sz="3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HRS-AKI: what changed in 2024</a:t>
            </a:r>
            <a:endParaRPr lang="en-US" sz="3000" dirty="0"/>
          </a:p>
        </p:txBody>
      </p:sp>
      <p:graphicFrame>
        <p:nvGraphicFramePr>
          <p:cNvPr id="85" name="Table"/>
          <p:cNvGraphicFramePr>
            <a:graphicFrameLocks noGrp="1"/>
          </p:cNvGraphicFramePr>
          <p:nvPr>
            <p:extLst>
              <p:ext uri="{D42A27DB-BD31-4B8C-83A1-F6EECF244321}">
                <p14:modId xmlns:p14="http://schemas.microsoft.com/office/powerpoint/2010/main" val="1579011935"/>
              </p:ext>
            </p:extLst>
          </p:nvPr>
        </p:nvGraphicFramePr>
        <p:xfrm>
          <a:off x="731520" y="1371600"/>
          <a:ext cx="10728655" cy="914400"/>
        </p:xfrm>
        <a:graphic>
          <a:graphicData uri="http://schemas.openxmlformats.org/drawingml/2006/table">
            <a:tbl>
              <a:tblPr/>
              <a:tblGrid>
                <a:gridCol w="5358384"/>
                <a:gridCol w="5367528"/>
              </a:tblGrid>
              <a:tr h="502920">
                <a:tc>
                  <a:txBody>
                    <a:bodyPr/>
                    <a:lstStyle/>
                    <a:p>
                      <a:pPr algn="l" indent="0" marL="0">
                        <a:buNone/>
                      </a:pPr>
                      <a:r>
                        <a:rPr lang="en-US" sz="2000" b="1" dirty="0">
                          <a:solidFill>
                            <a:srgbClr val="000000"/>
                          </a:solidFill>
                          <a:latin typeface="Calibri" pitchFamily="34" charset="0"/>
                          <a:ea typeface="Calibri" pitchFamily="34" charset="-122"/>
                          <a:cs typeface="Calibri" pitchFamily="34" charset="-120"/>
                        </a:rPr>
                        <a:t>What many of us learned (ICA 2015)</a:t>
                      </a:r>
                      <a:endParaRPr lang="en-US" sz="2000" dirty="0">
                        <a:latin typeface="Calibri" charset="0"/>
                        <a:ea typeface="Calibri" charset="0"/>
                        <a:cs typeface="Calibri" charset="0"/>
                      </a:endParaRPr>
                    </a:p>
                  </a:txBody>
                  <a:tcPr marL="76200" marR="76200" marT="38100" marB="3810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2000" b="1" dirty="0">
                          <a:solidFill>
                            <a:srgbClr val="000000"/>
                          </a:solidFill>
                          <a:latin typeface="Calibri" pitchFamily="34" charset="0"/>
                          <a:ea typeface="Calibri" pitchFamily="34" charset="-122"/>
                          <a:cs typeface="Calibri" pitchFamily="34" charset="-120"/>
                        </a:rPr>
                        <a:t>Now (ADQI-ICA 2024)</a:t>
                      </a:r>
                      <a:endParaRPr lang="en-US" sz="2000" dirty="0">
                        <a:latin typeface="Calibri" charset="0"/>
                        <a:ea typeface="Calibri" charset="0"/>
                        <a:cs typeface="Calibri" charset="0"/>
                      </a:endParaRPr>
                    </a:p>
                  </a:txBody>
                  <a:tcPr marL="76200" marR="76200" marT="38100" marB="3810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2377440">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No response after 2 days of diuretic withdrawal and albumin 1 g/kg</a:t>
                      </a:r>
                      <a:endParaRPr lang="en-US" sz="2000" dirty="0">
                        <a:latin typeface="Calibri" charset="0"/>
                        <a:ea typeface="Calibri" charset="0"/>
                        <a:cs typeface="Calibri" charset="0"/>
                      </a:endParaRPr>
                    </a:p>
                    <a:p>
                      <a:pPr algn="l" indent="0" marL="0">
                        <a:buNone/>
                      </a:pPr>
                      <a:r>
                        <a:rPr lang="en-US" sz="2000" dirty="0">
                          <a:solidFill>
                            <a:srgbClr val="000000"/>
                          </a:solidFill>
                          <a:latin typeface="Calibri" pitchFamily="34" charset="0"/>
                          <a:ea typeface="Calibri" pitchFamily="34" charset="-122"/>
                          <a:cs typeface="Calibri" pitchFamily="34" charset="-120"/>
                        </a:rPr>
                        <a:t>No shock</a:t>
                      </a:r>
                      <a:endParaRPr lang="en-US" sz="2000" dirty="0">
                        <a:latin typeface="Calibri" charset="0"/>
                        <a:ea typeface="Calibri" charset="0"/>
                        <a:cs typeface="Calibri" charset="0"/>
                      </a:endParaRPr>
                    </a:p>
                    <a:p>
                      <a:pPr algn="l" indent="0" marL="0">
                        <a:buNone/>
                      </a:pPr>
                      <a:r>
                        <a:rPr lang="en-US" sz="2000" dirty="0">
                          <a:solidFill>
                            <a:srgbClr val="000000"/>
                          </a:solidFill>
                          <a:latin typeface="Calibri" pitchFamily="34" charset="0"/>
                          <a:ea typeface="Calibri" pitchFamily="34" charset="-122"/>
                          <a:cs typeface="Calibri" pitchFamily="34" charset="-120"/>
                        </a:rPr>
                        <a:t>No nephrotoxins, no structural kidney disease</a:t>
                      </a:r>
                      <a:endParaRPr lang="en-US" sz="2000" dirty="0">
                        <a:latin typeface="Calibri" charset="0"/>
                        <a:ea typeface="Calibri" charset="0"/>
                        <a:cs typeface="Calibri" charset="0"/>
                      </a:endParaRPr>
                    </a:p>
                  </a:txBody>
                  <a:tcPr marL="76200" marR="76200" marT="38100" marB="3810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000000"/>
                          </a:solidFill>
                          <a:latin typeface="Calibri" pitchFamily="34" charset="0"/>
                          <a:ea typeface="Calibri" pitchFamily="34" charset="-122"/>
                          <a:cs typeface="Calibri" pitchFamily="34" charset="-120"/>
                        </a:rPr>
                        <a:t>Cirrhosis with ascites</a:t>
                      </a:r>
                      <a:endParaRPr lang="en-US" sz="2000" dirty="0">
                        <a:latin typeface="Calibri" charset="0"/>
                        <a:ea typeface="Calibri" charset="0"/>
                        <a:cs typeface="Calibri" charset="0"/>
                      </a:endParaRPr>
                    </a:p>
                    <a:p>
                      <a:pPr algn="l" indent="0" marL="0">
                        <a:buNone/>
                      </a:pPr>
                      <a:r>
                        <a:rPr lang="en-US" sz="2000" dirty="0">
                          <a:solidFill>
                            <a:srgbClr val="000000"/>
                          </a:solidFill>
                          <a:latin typeface="Calibri" pitchFamily="34" charset="0"/>
                          <a:ea typeface="Calibri" pitchFamily="34" charset="-122"/>
                          <a:cs typeface="Calibri" pitchFamily="34" charset="-120"/>
                        </a:rPr>
                        <a:t>AKI by creatinine and/or urine output</a:t>
                      </a:r>
                      <a:endParaRPr lang="en-US" sz="2000" dirty="0">
                        <a:latin typeface="Calibri" charset="0"/>
                        <a:ea typeface="Calibri" charset="0"/>
                        <a:cs typeface="Calibri" charset="0"/>
                      </a:endParaRPr>
                    </a:p>
                    <a:p>
                      <a:pPr algn="l" indent="0" marL="0">
                        <a:buNone/>
                      </a:pPr>
                      <a:r>
                        <a:rPr lang="en-US" sz="2000" dirty="0">
                          <a:solidFill>
                            <a:srgbClr val="000000"/>
                          </a:solidFill>
                          <a:latin typeface="Calibri" pitchFamily="34" charset="0"/>
                          <a:ea typeface="Calibri" pitchFamily="34" charset="-122"/>
                          <a:cs typeface="Calibri" pitchFamily="34" charset="-120"/>
                        </a:rPr>
                        <a:t>No improvement within 24 hours of volume resuscitation, if he needs it</a:t>
                      </a:r>
                      <a:endParaRPr lang="en-US" sz="2000" dirty="0">
                        <a:latin typeface="Calibri" charset="0"/>
                        <a:ea typeface="Calibri" charset="0"/>
                        <a:cs typeface="Calibri" charset="0"/>
                      </a:endParaRPr>
                    </a:p>
                    <a:p>
                      <a:pPr algn="l" indent="0" marL="0">
                        <a:buNone/>
                      </a:pPr>
                      <a:r>
                        <a:rPr lang="en-US" sz="2000" dirty="0">
                          <a:solidFill>
                            <a:srgbClr val="000000"/>
                          </a:solidFill>
                          <a:latin typeface="Calibri" pitchFamily="34" charset="0"/>
                          <a:ea typeface="Calibri" pitchFamily="34" charset="-122"/>
                          <a:cs typeface="Calibri" pitchFamily="34" charset="-120"/>
                        </a:rPr>
                        <a:t>No albumin challenge if he is already euvolemic or wet</a:t>
                      </a:r>
                      <a:endParaRPr lang="en-US" sz="2000" dirty="0">
                        <a:latin typeface="Calibri" charset="0"/>
                        <a:ea typeface="Calibri" charset="0"/>
                        <a:cs typeface="Calibri" charset="0"/>
                      </a:endParaRPr>
                    </a:p>
                    <a:p>
                      <a:pPr algn="l" indent="0" marL="0">
                        <a:buNone/>
                      </a:pPr>
                      <a:r>
                        <a:rPr lang="en-US" sz="2000" dirty="0">
                          <a:solidFill>
                            <a:srgbClr val="000000"/>
                          </a:solidFill>
                          <a:latin typeface="Calibri" pitchFamily="34" charset="0"/>
                          <a:ea typeface="Calibri" pitchFamily="34" charset="-122"/>
                          <a:cs typeface="Calibri" pitchFamily="34" charset="-120"/>
                        </a:rPr>
                        <a:t>No strong alternative explanation as the main cause</a:t>
                      </a:r>
                      <a:endParaRPr lang="en-US" sz="2000" dirty="0">
                        <a:latin typeface="Calibri" charset="0"/>
                        <a:ea typeface="Calibri" charset="0"/>
                        <a:cs typeface="Calibri" charset="0"/>
                      </a:endParaRPr>
                    </a:p>
                  </a:txBody>
                  <a:tcPr marL="76200" marR="76200" marT="38100" marB="3810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Question"/>
          <p:cNvSpPr txBox="1"/>
          <p:nvPr/>
        </p:nvSpPr>
        <p:spPr>
          <a:xfrm>
            <a:off x="822960" y="4846320"/>
            <a:ext cx="10545775" cy="548640"/>
          </a:xfrm>
          <a:prstGeom prst="rect">
            <a:avLst/>
          </a:prstGeom>
          <a:noFill/>
          <a:ln/>
        </p:spPr>
        <p:txBody>
          <a:bodyPr wrap="square" lIns="0" tIns="0" rIns="0" bIns="0" rtlCol="0" anchor="ctr"/>
          <a:lstStyle/>
          <a:p>
            <a:pPr algn="ctr" indent="0" marL="0">
              <a:buNone/>
            </a:pPr>
            <a:r>
              <a:rPr lang="en-US" sz="2200" b="1" dirty="0">
                <a:solidFill>
                  <a:srgbClr val="000000"/>
                </a:solidFill>
                <a:latin typeface="Georgia" pitchFamily="34" charset="0"/>
                <a:ea typeface="Georgia" pitchFamily="34" charset="-122"/>
                <a:cs typeface="Georgia" pitchFamily="34" charset="-120"/>
              </a:rPr>
              <a:t>Faster to call. But you still have to look for the other causes</a:t>
            </a:r>
            <a:endParaRPr lang="en-US" sz="22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Angeli P et al. J Hepatol 2015 (ICA); ADQI-ICA consensus, J Hepatol 2024 [PMID: 38527522]</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Does he have HRS?</a:t>
            </a:r>
            <a:endParaRPr lang="en-US" sz="3000" dirty="0"/>
          </a:p>
        </p:txBody>
      </p:sp>
      <p:sp>
        <p:nvSpPr>
          <p:cNvPr id="3" name="Body"/>
          <p:cNvSpPr txBox="1"/>
          <p:nvPr/>
        </p:nvSpPr>
        <p:spPr>
          <a:xfrm>
            <a:off x="822960" y="1188720"/>
            <a:ext cx="10545775" cy="457200"/>
          </a:xfrm>
          <a:prstGeom prst="rect">
            <a:avLst/>
          </a:prstGeom>
          <a:noFill/>
          <a:ln/>
        </p:spPr>
        <p:txBody>
          <a:bodyPr wrap="square" lIns="50800" tIns="50800" rIns="50800" bIns="50800" rtlCol="0" anchor="t"/>
          <a:lstStyle/>
          <a:p>
            <a:pPr algn="ctr" indent="0" marL="0">
              <a:spcBef>
                <a:spcPts val="800"/>
              </a:spcBef>
              <a:buNone/>
            </a:pPr>
            <a:r>
              <a:rPr lang="en-US" sz="1900" i="1" dirty="0">
                <a:solidFill>
                  <a:srgbClr val="000000"/>
                </a:solidFill>
                <a:latin typeface="Georgia" pitchFamily="34" charset="0"/>
                <a:ea typeface="Georgia" pitchFamily="34" charset="-122"/>
                <a:cs typeface="Georgia" pitchFamily="34" charset="-120"/>
              </a:rPr>
              <a:t>12 hours later: creatinine 3.0, urine 10 mL/h, still on norepinephrine</a:t>
            </a:r>
            <a:endParaRPr lang="en-US" sz="1900" dirty="0"/>
          </a:p>
        </p:txBody>
      </p:sp>
      <p:graphicFrame>
        <p:nvGraphicFramePr>
          <p:cNvPr id="86" name="Table"/>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5120640"/>
                <a:gridCol w="4572000"/>
                <a:gridCol w="1216152"/>
              </a:tblGrid>
              <a:tr h="411480">
                <a:tc>
                  <a:txBody>
                    <a:bodyPr/>
                    <a:lstStyle/>
                    <a:p>
                      <a:pPr algn="l" indent="0" marL="0">
                        <a:buNone/>
                      </a:pPr>
                      <a:r>
                        <a:rPr lang="en-US" sz="1700" b="1" dirty="0">
                          <a:solidFill>
                            <a:srgbClr val="000000"/>
                          </a:solidFill>
                          <a:latin typeface="Calibri" pitchFamily="34" charset="0"/>
                          <a:ea typeface="Calibri" pitchFamily="34" charset="-122"/>
                          <a:cs typeface="Calibri" pitchFamily="34" charset="-120"/>
                        </a:rPr>
                        <a:t>HRS-AKI (ADQI-ICA 2024)</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700" b="1" dirty="0">
                          <a:solidFill>
                            <a:srgbClr val="000000"/>
                          </a:solidFill>
                          <a:latin typeface="Calibri" pitchFamily="34" charset="0"/>
                          <a:ea typeface="Calibri" pitchFamily="34" charset="-122"/>
                          <a:cs typeface="Calibri" pitchFamily="34" charset="-120"/>
                        </a:rPr>
                        <a:t>Bed 7, day 1</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0292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Cirrhosis with ascites</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9436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AKI by creatinine and/or urine output</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68580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No improvement within 24 hours of volume resuscitation, if he needs it</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68580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No strong alternative explanation (shock, nephrotoxins, structural injury)</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5" name="Question"/>
          <p:cNvSpPr txBox="1"/>
          <p:nvPr/>
        </p:nvSpPr>
        <p:spPr>
          <a:xfrm>
            <a:off x="822960" y="512064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Go down the list for him. Which boxes does he tick?</a:t>
            </a:r>
            <a:endParaRPr lang="en-US" sz="2400" dirty="0"/>
          </a:p>
        </p:txBody>
      </p:sp>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ADQI-ICA consensus, J Hepatol 2024 [PMID: 38527522]</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Does he have HRS?</a:t>
            </a:r>
            <a:endParaRPr lang="en-US" sz="3000" dirty="0"/>
          </a:p>
        </p:txBody>
      </p:sp>
      <p:sp>
        <p:nvSpPr>
          <p:cNvPr id="3" name="Body"/>
          <p:cNvSpPr txBox="1"/>
          <p:nvPr/>
        </p:nvSpPr>
        <p:spPr>
          <a:xfrm>
            <a:off x="822960" y="1188720"/>
            <a:ext cx="10545775" cy="457200"/>
          </a:xfrm>
          <a:prstGeom prst="rect">
            <a:avLst/>
          </a:prstGeom>
          <a:noFill/>
          <a:ln/>
        </p:spPr>
        <p:txBody>
          <a:bodyPr wrap="square" lIns="50800" tIns="50800" rIns="50800" bIns="50800" rtlCol="0" anchor="t"/>
          <a:lstStyle/>
          <a:p>
            <a:pPr algn="ctr" indent="0" marL="0">
              <a:spcBef>
                <a:spcPts val="800"/>
              </a:spcBef>
              <a:buNone/>
            </a:pPr>
            <a:r>
              <a:rPr lang="en-US" sz="1900" i="1" dirty="0">
                <a:solidFill>
                  <a:srgbClr val="000000"/>
                </a:solidFill>
                <a:latin typeface="Georgia" pitchFamily="34" charset="0"/>
                <a:ea typeface="Georgia" pitchFamily="34" charset="-122"/>
                <a:cs typeface="Georgia" pitchFamily="34" charset="-120"/>
              </a:rPr>
              <a:t>12 hours later: creatinine 3.0, urine 10 mL/h, still on norepinephrine</a:t>
            </a:r>
            <a:endParaRPr lang="en-US" sz="1900" dirty="0"/>
          </a:p>
        </p:txBody>
      </p:sp>
      <p:graphicFrame>
        <p:nvGraphicFramePr>
          <p:cNvPr id="87" name="Table"/>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5120640"/>
                <a:gridCol w="4572000"/>
                <a:gridCol w="1216152"/>
              </a:tblGrid>
              <a:tr h="411480">
                <a:tc>
                  <a:txBody>
                    <a:bodyPr/>
                    <a:lstStyle/>
                    <a:p>
                      <a:pPr algn="l" indent="0" marL="0">
                        <a:buNone/>
                      </a:pPr>
                      <a:r>
                        <a:rPr lang="en-US" sz="1700" b="1" dirty="0">
                          <a:solidFill>
                            <a:srgbClr val="000000"/>
                          </a:solidFill>
                          <a:latin typeface="Calibri" pitchFamily="34" charset="0"/>
                          <a:ea typeface="Calibri" pitchFamily="34" charset="-122"/>
                          <a:cs typeface="Calibri" pitchFamily="34" charset="-120"/>
                        </a:rPr>
                        <a:t>HRS-AKI (ADQI-ICA 2024)</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700" b="1" dirty="0">
                          <a:solidFill>
                            <a:srgbClr val="000000"/>
                          </a:solidFill>
                          <a:latin typeface="Calibri" pitchFamily="34" charset="0"/>
                          <a:ea typeface="Calibri" pitchFamily="34" charset="-122"/>
                          <a:cs typeface="Calibri" pitchFamily="34" charset="-120"/>
                        </a:rPr>
                        <a:t>Bed 7, day 1</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50292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Cirrhosis with ascites</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Yes</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9436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AKI by creatinine and/or urine output</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Creatinine 0.9 → 3.0, urine 10 mL/h</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68580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No improvement within 24 hours of volume resuscitation, if he needs it</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2 L given on arrival. Too early to say</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68580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No strong alternative explanation (shock, nephrotoxins, structural injury)</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b="1" dirty="0">
                          <a:solidFill>
                            <a:srgbClr val="C00000"/>
                          </a:solidFill>
                          <a:latin typeface="Calibri" pitchFamily="34" charset="0"/>
                          <a:ea typeface="Calibri" pitchFamily="34" charset="-122"/>
                          <a:cs typeface="Calibri" pitchFamily="34" charset="-120"/>
                        </a:rPr>
                        <a:t>Septic shock on norepinephrine</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000000"/>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5" name="Question"/>
          <p:cNvSpPr txBox="1"/>
          <p:nvPr/>
        </p:nvSpPr>
        <p:spPr>
          <a:xfrm>
            <a:off x="822960" y="512064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highlight>
                  <a:srgbClr val="FFFF00"/>
                </a:highlight>
                <a:latin typeface="Georgia" pitchFamily="34" charset="0"/>
                <a:ea typeface="Georgia" pitchFamily="34" charset="-122"/>
                <a:cs typeface="Georgia" pitchFamily="34" charset="-120"/>
              </a:rPr>
              <a:t>Not HRS yet. Treat the shock first</a:t>
            </a:r>
            <a:endParaRPr lang="en-US" sz="2400" dirty="0"/>
          </a:p>
        </p:txBody>
      </p:sp>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ADQI-ICA consensus, J Hepatol 2024 [PMID: 38527522]</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Kidney failure in cirrhosis is usually a mixture</a:t>
            </a:r>
            <a:endParaRPr lang="en-US" sz="3000" dirty="0"/>
          </a:p>
        </p:txBody>
      </p:sp>
      <p:sp>
        <p:nvSpPr>
          <p:cNvPr id="3" name="Body"/>
          <p:cNvSpPr txBox="1"/>
          <p:nvPr/>
        </p:nvSpPr>
        <p:spPr>
          <a:xfrm>
            <a:off x="548640" y="1280160"/>
            <a:ext cx="4023360" cy="4572000"/>
          </a:xfrm>
          <a:prstGeom prst="rect">
            <a:avLst/>
          </a:prstGeom>
          <a:noFill/>
          <a:ln/>
        </p:spPr>
        <p:txBody>
          <a:bodyPr wrap="square" lIns="50800" tIns="50800" rIns="50800" bIns="50800" rtlCol="0" anchor="t"/>
          <a:lstStyle/>
          <a:p>
            <a:pPr indent="0" marL="0">
              <a:spcBef>
                <a:spcPts val="800"/>
              </a:spcBef>
              <a:buNone/>
            </a:pPr>
            <a:r>
              <a:rPr lang="en-US" sz="1900" b="1" dirty="0">
                <a:solidFill>
                  <a:srgbClr val="000000"/>
                </a:solidFill>
                <a:latin typeface="Georgia" pitchFamily="34" charset="0"/>
                <a:ea typeface="Georgia" pitchFamily="34" charset="-122"/>
                <a:cs typeface="Georgia" pitchFamily="34" charset="-120"/>
              </a:rPr>
              <a:t>Possible contributors</a:t>
            </a:r>
            <a:endParaRPr lang="en-US" sz="1900" dirty="0"/>
          </a:p>
          <a:p>
            <a:pPr marL="228600" indent="-228600">
              <a:spcBef>
                <a:spcPts val="800"/>
              </a:spcBef>
              <a:buSzPct val="100000"/>
              <a:buChar char="–"/>
            </a:pPr>
            <a:r>
              <a:rPr lang="en-US" sz="1900" dirty="0">
                <a:solidFill>
                  <a:srgbClr val="000000"/>
                </a:solidFill>
                <a:latin typeface="Georgia" pitchFamily="34" charset="0"/>
                <a:ea typeface="Georgia" pitchFamily="34" charset="-122"/>
                <a:cs typeface="Georgia" pitchFamily="34" charset="-120"/>
              </a:rPr>
              <a:t>Low effective volume</a:t>
            </a:r>
            <a:endParaRPr lang="en-US" sz="1900" dirty="0"/>
          </a:p>
          <a:p>
            <a:pPr marL="228600" indent="-228600">
              <a:spcBef>
                <a:spcPts val="800"/>
              </a:spcBef>
              <a:buSzPct val="100000"/>
              <a:buChar char="–"/>
            </a:pPr>
            <a:r>
              <a:rPr lang="en-US" sz="1900" dirty="0">
                <a:solidFill>
                  <a:srgbClr val="000000"/>
                </a:solidFill>
                <a:latin typeface="Georgia" pitchFamily="34" charset="0"/>
                <a:ea typeface="Georgia" pitchFamily="34" charset="-122"/>
                <a:cs typeface="Georgia" pitchFamily="34" charset="-120"/>
              </a:rPr>
              <a:t>Tubular injury: sepsis, contrast, drugs</a:t>
            </a:r>
            <a:endParaRPr lang="en-US" sz="1900" dirty="0"/>
          </a:p>
          <a:p>
            <a:pPr marL="228600" indent="-228600">
              <a:spcBef>
                <a:spcPts val="800"/>
              </a:spcBef>
              <a:buSzPct val="100000"/>
              <a:buChar char="–"/>
            </a:pPr>
            <a:r>
              <a:rPr lang="en-US" sz="1900" dirty="0">
                <a:solidFill>
                  <a:srgbClr val="000000"/>
                </a:solidFill>
                <a:latin typeface="Georgia" pitchFamily="34" charset="0"/>
                <a:ea typeface="Georgia" pitchFamily="34" charset="-122"/>
                <a:cs typeface="Georgia" pitchFamily="34" charset="-120"/>
              </a:rPr>
              <a:t>HRS physiology</a:t>
            </a:r>
            <a:endParaRPr lang="en-US" sz="1900" dirty="0"/>
          </a:p>
          <a:p>
            <a:pPr marL="228600" indent="-228600">
              <a:spcBef>
                <a:spcPts val="800"/>
              </a:spcBef>
              <a:buSzPct val="100000"/>
              <a:buChar char="–"/>
            </a:pPr>
            <a:r>
              <a:rPr lang="en-US" sz="1900" dirty="0">
                <a:solidFill>
                  <a:srgbClr val="000000"/>
                </a:solidFill>
                <a:latin typeface="Georgia" pitchFamily="34" charset="0"/>
                <a:ea typeface="Georgia" pitchFamily="34" charset="-122"/>
                <a:cs typeface="Georgia" pitchFamily="34" charset="-120"/>
              </a:rPr>
              <a:t>Tense ascites (abdominal compartment)</a:t>
            </a:r>
            <a:endParaRPr lang="en-US" sz="1900" dirty="0"/>
          </a:p>
          <a:p>
            <a:pPr marL="228600" indent="-228600">
              <a:spcBef>
                <a:spcPts val="800"/>
              </a:spcBef>
              <a:buSzPct val="100000"/>
              <a:buChar char="–"/>
            </a:pPr>
            <a:r>
              <a:rPr lang="en-US" sz="1900" dirty="0">
                <a:solidFill>
                  <a:srgbClr val="000000"/>
                </a:solidFill>
                <a:latin typeface="Georgia" pitchFamily="34" charset="0"/>
                <a:ea typeface="Georgia" pitchFamily="34" charset="-122"/>
                <a:cs typeface="Georgia" pitchFamily="34" charset="-120"/>
              </a:rPr>
              <a:t>Congestion</a:t>
            </a:r>
            <a:endParaRPr lang="en-US" sz="1900" dirty="0"/>
          </a:p>
        </p:txBody>
      </p:sp>
      <p:pic>
        <p:nvPicPr>
          <p:cNvPr id="4" name="Image 0" descr="Watercolor of a kidney with its hilar vessels and ureter">    </p:cNvPr>
          <p:cNvPicPr>
            <a:picLocks noChangeAspect="1"/>
          </p:cNvPicPr>
          <p:nvPr/>
        </p:nvPicPr>
        <p:blipFill>
          <a:blip r:embed="rId1"/>
          <a:stretch>
            <a:fillRect/>
          </a:stretch>
        </p:blipFill>
        <p:spPr>
          <a:xfrm>
            <a:off x="4572000" y="1600200"/>
            <a:ext cx="3017520" cy="3017520"/>
          </a:xfrm>
          <a:prstGeom prst="rect">
            <a:avLst/>
          </a:prstGeom>
        </p:spPr>
      </p:pic>
      <p:sp>
        <p:nvSpPr>
          <p:cNvPr id="5" name="Body"/>
          <p:cNvSpPr txBox="1"/>
          <p:nvPr/>
        </p:nvSpPr>
        <p:spPr>
          <a:xfrm>
            <a:off x="7589520" y="1280160"/>
            <a:ext cx="4114800" cy="4572000"/>
          </a:xfrm>
          <a:prstGeom prst="rect">
            <a:avLst/>
          </a:prstGeom>
          <a:noFill/>
          <a:ln/>
        </p:spPr>
        <p:txBody>
          <a:bodyPr wrap="square" lIns="50800" tIns="50800" rIns="50800" bIns="50800" rtlCol="0" anchor="t"/>
          <a:lstStyle/>
          <a:p>
            <a:pPr indent="0" marL="0">
              <a:spcBef>
                <a:spcPts val="800"/>
              </a:spcBef>
              <a:buNone/>
            </a:pPr>
            <a:r>
              <a:rPr lang="en-US" sz="1900" b="1" dirty="0">
                <a:solidFill>
                  <a:srgbClr val="000000"/>
                </a:solidFill>
                <a:latin typeface="Georgia" pitchFamily="34" charset="0"/>
                <a:ea typeface="Georgia" pitchFamily="34" charset="-122"/>
                <a:cs typeface="Georgia" pitchFamily="34" charset="-120"/>
              </a:rPr>
              <a:t>Look</a:t>
            </a:r>
            <a:endParaRPr lang="en-US" sz="1900" dirty="0"/>
          </a:p>
          <a:p>
            <a:pPr marL="228600" indent="-228600">
              <a:spcBef>
                <a:spcPts val="800"/>
              </a:spcBef>
              <a:buSzPct val="100000"/>
              <a:buChar char="–"/>
            </a:pPr>
            <a:r>
              <a:rPr lang="en-US" sz="1900" dirty="0">
                <a:solidFill>
                  <a:srgbClr val="000000"/>
                </a:solidFill>
                <a:latin typeface="Georgia" pitchFamily="34" charset="0"/>
                <a:ea typeface="Georgia" pitchFamily="34" charset="-122"/>
                <a:cs typeface="Georgia" pitchFamily="34" charset="-120"/>
              </a:rPr>
              <a:t>Urinalysis and sediment</a:t>
            </a:r>
            <a:endParaRPr lang="en-US" sz="1900" dirty="0"/>
          </a:p>
          <a:p>
            <a:pPr marL="228600" indent="-228600">
              <a:spcBef>
                <a:spcPts val="800"/>
              </a:spcBef>
              <a:buSzPct val="100000"/>
              <a:buChar char="–"/>
            </a:pPr>
            <a:r>
              <a:rPr lang="en-US" sz="1900" dirty="0">
                <a:solidFill>
                  <a:srgbClr val="000000"/>
                </a:solidFill>
                <a:latin typeface="Georgia" pitchFamily="34" charset="0"/>
                <a:ea typeface="Georgia" pitchFamily="34" charset="-122"/>
                <a:cs typeface="Georgia" pitchFamily="34" charset="-120"/>
              </a:rPr>
              <a:t>Drug list</a:t>
            </a:r>
            <a:endParaRPr lang="en-US" sz="1900" dirty="0"/>
          </a:p>
          <a:p>
            <a:pPr marL="228600" indent="-228600">
              <a:spcBef>
                <a:spcPts val="800"/>
              </a:spcBef>
              <a:buSzPct val="100000"/>
              <a:buChar char="–"/>
            </a:pPr>
            <a:r>
              <a:rPr lang="en-US" sz="1900" dirty="0">
                <a:solidFill>
                  <a:srgbClr val="000000"/>
                </a:solidFill>
                <a:latin typeface="Georgia" pitchFamily="34" charset="0"/>
                <a:ea typeface="Georgia" pitchFamily="34" charset="-122"/>
                <a:cs typeface="Georgia" pitchFamily="34" charset="-120"/>
              </a:rPr>
              <a:t>Ultrasound: kidneys, bladder, IVC, heart, lungs</a:t>
            </a:r>
            <a:endParaRPr lang="en-US" sz="1900" dirty="0"/>
          </a:p>
          <a:p>
            <a:pPr marL="228600" indent="-228600">
              <a:spcBef>
                <a:spcPts val="800"/>
              </a:spcBef>
              <a:buSzPct val="100000"/>
              <a:buChar char="–"/>
            </a:pPr>
            <a:r>
              <a:rPr lang="en-US" sz="1900" dirty="0">
                <a:solidFill>
                  <a:srgbClr val="000000"/>
                </a:solidFill>
                <a:latin typeface="Georgia" pitchFamily="34" charset="0"/>
                <a:ea typeface="Georgia" pitchFamily="34" charset="-122"/>
                <a:cs typeface="Georgia" pitchFamily="34" charset="-120"/>
              </a:rPr>
              <a:t>Bladder pressure if the belly is tight</a:t>
            </a:r>
            <a:endParaRPr lang="en-US" sz="1900" dirty="0"/>
          </a:p>
          <a:p>
            <a:pPr marL="228600" indent="-228600">
              <a:spcBef>
                <a:spcPts val="800"/>
              </a:spcBef>
              <a:buSzPct val="100000"/>
              <a:buChar char="–"/>
            </a:pPr>
            <a:r>
              <a:rPr lang="en-US" sz="1900" dirty="0">
                <a:solidFill>
                  <a:srgbClr val="000000"/>
                </a:solidFill>
                <a:latin typeface="Georgia" pitchFamily="34" charset="0"/>
                <a:ea typeface="Georgia" pitchFamily="34" charset="-122"/>
                <a:cs typeface="Georgia" pitchFamily="34" charset="-120"/>
              </a:rPr>
              <a:t>A low urine sodium is </a:t>
            </a:r>
            <a:r>
              <a:rPr lang="en-US" sz="1900" b="1" dirty="0">
                <a:solidFill>
                  <a:srgbClr val="000000"/>
                </a:solidFill>
                <a:latin typeface="Georgia" pitchFamily="34" charset="0"/>
                <a:ea typeface="Georgia" pitchFamily="34" charset="-122"/>
                <a:cs typeface="Georgia" pitchFamily="34" charset="-120"/>
              </a:rPr>
              <a:t>not</a:t>
            </a:r>
            <a:r>
              <a:rPr lang="en-US" sz="1900" dirty="0">
                <a:solidFill>
                  <a:srgbClr val="000000"/>
                </a:solidFill>
                <a:latin typeface="Georgia" pitchFamily="34" charset="0"/>
                <a:ea typeface="Georgia" pitchFamily="34" charset="-122"/>
                <a:cs typeface="Georgia" pitchFamily="34" charset="-120"/>
              </a:rPr>
              <a:t> proof of HRS</a:t>
            </a:r>
            <a:endParaRPr lang="en-US" sz="1900" dirty="0"/>
          </a:p>
        </p:txBody>
      </p:sp>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ADQI-ICA consensus 2024 [PMID: 38527522]</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Function and damage: four kinds of AKI</a:t>
            </a:r>
            <a:endParaRPr lang="en-US" sz="3000" dirty="0"/>
          </a:p>
        </p:txBody>
      </p:sp>
      <p:pic>
        <p:nvPicPr>
          <p:cNvPr id="3" name="Image 0" descr="ADQI framework of AKI phenotypes by function and damage markers">    </p:cNvPr>
          <p:cNvPicPr>
            <a:picLocks noChangeAspect="1"/>
          </p:cNvPicPr>
          <p:nvPr/>
        </p:nvPicPr>
        <p:blipFill>
          <a:blip r:embed="rId1"/>
          <a:stretch>
            <a:fillRect/>
          </a:stretch>
        </p:blipFill>
        <p:spPr>
          <a:xfrm>
            <a:off x="2654816" y="1143000"/>
            <a:ext cx="6882063" cy="5029200"/>
          </a:xfrm>
          <a:prstGeom prst="rect">
            <a:avLst/>
          </a:prstGeom>
        </p:spPr>
      </p:pic>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Nadim MK et al. J Hepatol 2024;81:163-83 [PMID: 38527522], Fig. 4 (CC BY 2.0, adapted from ADQI)</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Day 1: more confused</a:t>
            </a:r>
            <a:endParaRPr lang="en-US" sz="3000" dirty="0"/>
          </a:p>
        </p:txBody>
      </p:sp>
      <p:sp>
        <p:nvSpPr>
          <p:cNvPr id="3" name="Body"/>
          <p:cNvSpPr txBox="1"/>
          <p:nvPr/>
        </p:nvSpPr>
        <p:spPr>
          <a:xfrm>
            <a:off x="822960" y="1280160"/>
            <a:ext cx="10545775" cy="1097280"/>
          </a:xfrm>
          <a:prstGeom prst="rect">
            <a:avLst/>
          </a:prstGeom>
          <a:noFill/>
          <a:ln/>
        </p:spPr>
        <p:txBody>
          <a:bodyPr wrap="square" lIns="50800" tIns="50800" rIns="50800" bIns="50800" rtlCol="0" anchor="t"/>
          <a:lstStyle/>
          <a:p>
            <a:pPr marL="228600" indent="-228600">
              <a:spcBef>
                <a:spcPts val="800"/>
              </a:spcBef>
              <a:buSzPct val="100000"/>
              <a:buChar char="–"/>
            </a:pPr>
            <a:r>
              <a:rPr lang="en-US" sz="2100" dirty="0">
                <a:solidFill>
                  <a:srgbClr val="000000"/>
                </a:solidFill>
                <a:latin typeface="Georgia" pitchFamily="34" charset="0"/>
                <a:ea typeface="Georgia" pitchFamily="34" charset="-122"/>
                <a:cs typeface="Georgia" pitchFamily="34" charset="-120"/>
              </a:rPr>
              <a:t>More disoriented, pulling at his lines, asterixis. Awake, follows commands</a:t>
            </a:r>
            <a:endParaRPr lang="en-US" sz="2100" dirty="0"/>
          </a:p>
          <a:p>
            <a:pPr marL="228600" indent="-228600">
              <a:spcBef>
                <a:spcPts val="800"/>
              </a:spcBef>
              <a:buSzPct val="100000"/>
              <a:buChar char="–"/>
            </a:pPr>
            <a:r>
              <a:rPr lang="en-US" sz="2100" dirty="0">
                <a:solidFill>
                  <a:srgbClr val="000000"/>
                </a:solidFill>
                <a:latin typeface="Georgia" pitchFamily="34" charset="0"/>
                <a:ea typeface="Georgia" pitchFamily="34" charset="-122"/>
                <a:cs typeface="Georgia" pitchFamily="34" charset="-120"/>
              </a:rPr>
              <a:t>The nurse sent an ammonia: </a:t>
            </a:r>
            <a:r>
              <a:rPr lang="en-US" sz="2100" b="1" dirty="0">
                <a:solidFill>
                  <a:srgbClr val="000000"/>
                </a:solidFill>
                <a:latin typeface="Georgia" pitchFamily="34" charset="0"/>
                <a:ea typeface="Georgia" pitchFamily="34" charset="-122"/>
                <a:cs typeface="Georgia" pitchFamily="34" charset="-120"/>
              </a:rPr>
              <a:t>88 μmol/L</a:t>
            </a:r>
            <a:endParaRPr lang="en-US" sz="2100" dirty="0"/>
          </a:p>
        </p:txBody>
      </p:sp>
      <p:sp>
        <p:nvSpPr>
          <p:cNvPr id="4" name="Question"/>
          <p:cNvSpPr txBox="1"/>
          <p:nvPr/>
        </p:nvSpPr>
        <p:spPr>
          <a:xfrm>
            <a:off x="822960" y="3291840"/>
            <a:ext cx="10545775" cy="548640"/>
          </a:xfrm>
          <a:prstGeom prst="rect">
            <a:avLst/>
          </a:prstGeom>
          <a:noFill/>
          <a:ln/>
        </p:spPr>
        <p:txBody>
          <a:bodyPr wrap="square" lIns="0" tIns="0" rIns="0" bIns="0" rtlCol="0" anchor="ctr"/>
          <a:lstStyle/>
          <a:p>
            <a:pPr algn="ctr" indent="0" marL="0">
              <a:buNone/>
            </a:pPr>
            <a:r>
              <a:rPr lang="en-US" sz="2600" b="1" dirty="0">
                <a:solidFill>
                  <a:srgbClr val="000000"/>
                </a:solidFill>
                <a:latin typeface="Georgia" pitchFamily="34" charset="0"/>
                <a:ea typeface="Georgia" pitchFamily="34" charset="-122"/>
                <a:cs typeface="Georgia" pitchFamily="34" charset="-120"/>
              </a:rPr>
              <a:t>More lactulose? Repeat the ammonia in 6 hours?</a:t>
            </a:r>
            <a:endParaRPr lang="en-US" sz="26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Day 1: more confused</a:t>
            </a:r>
            <a:endParaRPr lang="en-US" sz="3000" dirty="0"/>
          </a:p>
        </p:txBody>
      </p:sp>
      <p:sp>
        <p:nvSpPr>
          <p:cNvPr id="3" name="Body"/>
          <p:cNvSpPr txBox="1"/>
          <p:nvPr/>
        </p:nvSpPr>
        <p:spPr>
          <a:xfrm>
            <a:off x="822960" y="1280160"/>
            <a:ext cx="10545775" cy="1097280"/>
          </a:xfrm>
          <a:prstGeom prst="rect">
            <a:avLst/>
          </a:prstGeom>
          <a:noFill/>
          <a:ln/>
        </p:spPr>
        <p:txBody>
          <a:bodyPr wrap="square" lIns="50800" tIns="50800" rIns="50800" bIns="50800" rtlCol="0" anchor="t"/>
          <a:lstStyle/>
          <a:p>
            <a:pPr marL="228600" indent="-228600">
              <a:spcBef>
                <a:spcPts val="800"/>
              </a:spcBef>
              <a:buSzPct val="100000"/>
              <a:buChar char="–"/>
            </a:pPr>
            <a:r>
              <a:rPr lang="en-US" sz="2100" dirty="0">
                <a:solidFill>
                  <a:srgbClr val="000000"/>
                </a:solidFill>
                <a:latin typeface="Georgia" pitchFamily="34" charset="0"/>
                <a:ea typeface="Georgia" pitchFamily="34" charset="-122"/>
                <a:cs typeface="Georgia" pitchFamily="34" charset="-120"/>
              </a:rPr>
              <a:t>More disoriented, pulling at his lines, asterixis. Awake, follows commands</a:t>
            </a:r>
            <a:endParaRPr lang="en-US" sz="2100" dirty="0"/>
          </a:p>
          <a:p>
            <a:pPr marL="228600" indent="-228600">
              <a:spcBef>
                <a:spcPts val="800"/>
              </a:spcBef>
              <a:buSzPct val="100000"/>
              <a:buChar char="–"/>
            </a:pPr>
            <a:r>
              <a:rPr lang="en-US" sz="2100" dirty="0">
                <a:solidFill>
                  <a:srgbClr val="000000"/>
                </a:solidFill>
                <a:latin typeface="Georgia" pitchFamily="34" charset="0"/>
                <a:ea typeface="Georgia" pitchFamily="34" charset="-122"/>
                <a:cs typeface="Georgia" pitchFamily="34" charset="-120"/>
              </a:rPr>
              <a:t>The nurse sent an ammonia: </a:t>
            </a:r>
            <a:r>
              <a:rPr lang="en-US" sz="2100" b="1" dirty="0">
                <a:solidFill>
                  <a:srgbClr val="000000"/>
                </a:solidFill>
                <a:latin typeface="Georgia" pitchFamily="34" charset="0"/>
                <a:ea typeface="Georgia" pitchFamily="34" charset="-122"/>
                <a:cs typeface="Georgia" pitchFamily="34" charset="-120"/>
              </a:rPr>
              <a:t>88 μmol/L</a:t>
            </a:r>
            <a:endParaRPr lang="en-US" sz="2100" dirty="0"/>
          </a:p>
        </p:txBody>
      </p:sp>
      <p:sp>
        <p:nvSpPr>
          <p:cNvPr id="4" name="Question"/>
          <p:cNvSpPr txBox="1"/>
          <p:nvPr/>
        </p:nvSpPr>
        <p:spPr>
          <a:xfrm>
            <a:off x="822960" y="2514600"/>
            <a:ext cx="10545775" cy="548640"/>
          </a:xfrm>
          <a:prstGeom prst="rect">
            <a:avLst/>
          </a:prstGeom>
          <a:noFill/>
          <a:ln/>
        </p:spPr>
        <p:txBody>
          <a:bodyPr wrap="square" lIns="0" tIns="0" rIns="0" bIns="0" rtlCol="0" anchor="ctr"/>
          <a:lstStyle/>
          <a:p>
            <a:pPr algn="ctr" indent="0" marL="0">
              <a:buNone/>
            </a:pPr>
            <a:r>
              <a:rPr lang="en-US" sz="2200" b="1" dirty="0">
                <a:solidFill>
                  <a:srgbClr val="000000"/>
                </a:solidFill>
                <a:highlight>
                  <a:srgbClr val="FFFF00"/>
                </a:highlight>
                <a:latin typeface="Georgia" pitchFamily="34" charset="0"/>
                <a:ea typeface="Georgia" pitchFamily="34" charset="-122"/>
                <a:cs typeface="Georgia" pitchFamily="34" charset="-120"/>
              </a:rPr>
              <a:t>Look for the reason first. The ammonia doesn't tell you</a:t>
            </a:r>
            <a:endParaRPr lang="en-US" sz="2200" dirty="0"/>
          </a:p>
        </p:txBody>
      </p:sp>
      <p:sp>
        <p:nvSpPr>
          <p:cNvPr id="5" name="Body"/>
          <p:cNvSpPr txBox="1"/>
          <p:nvPr/>
        </p:nvSpPr>
        <p:spPr>
          <a:xfrm>
            <a:off x="822960" y="3108960"/>
            <a:ext cx="10545775" cy="3154680"/>
          </a:xfrm>
          <a:prstGeom prst="rect">
            <a:avLst/>
          </a:prstGeom>
          <a:noFill/>
          <a:ln/>
        </p:spPr>
        <p:txBody>
          <a:bodyPr wrap="square" lIns="50800" tIns="50800" rIns="50800" bIns="50800" rtlCol="0" anchor="t"/>
          <a:lstStyle/>
          <a:p>
            <a:pPr marL="228600" indent="-228600">
              <a:spcBef>
                <a:spcPts val="400"/>
              </a:spcBef>
              <a:buSzPct val="100000"/>
              <a:buChar char="–"/>
            </a:pPr>
            <a:r>
              <a:rPr lang="en-US" sz="1800" dirty="0">
                <a:solidFill>
                  <a:srgbClr val="000000"/>
                </a:solidFill>
                <a:latin typeface="Georgia" pitchFamily="34" charset="0"/>
                <a:ea typeface="Georgia" pitchFamily="34" charset="-122"/>
                <a:cs typeface="Georgia" pitchFamily="34" charset="-120"/>
              </a:rPr>
              <a:t>Glucose, sodium, oxygen and CO2</a:t>
            </a:r>
            <a:endParaRPr lang="en-US" sz="1800" dirty="0"/>
          </a:p>
          <a:p>
            <a:pPr marL="228600" indent="-228600">
              <a:spcBef>
                <a:spcPts val="400"/>
              </a:spcBef>
              <a:buSzPct val="100000"/>
              <a:buChar char="–"/>
            </a:pPr>
            <a:r>
              <a:rPr lang="en-US" sz="1800" dirty="0">
                <a:solidFill>
                  <a:srgbClr val="000000"/>
                </a:solidFill>
                <a:latin typeface="Georgia" pitchFamily="34" charset="0"/>
                <a:ea typeface="Georgia" pitchFamily="34" charset="-122"/>
                <a:cs typeface="Georgia" pitchFamily="34" charset="-120"/>
              </a:rPr>
              <a:t>Is the infection controlled? Cultures, source, antibiotic coverage</a:t>
            </a:r>
            <a:endParaRPr lang="en-US" sz="1800" dirty="0"/>
          </a:p>
          <a:p>
            <a:pPr marL="228600" indent="-228600">
              <a:spcBef>
                <a:spcPts val="400"/>
              </a:spcBef>
              <a:buSzPct val="100000"/>
              <a:buChar char="–"/>
            </a:pPr>
            <a:r>
              <a:rPr lang="en-US" sz="1800" dirty="0">
                <a:solidFill>
                  <a:srgbClr val="000000"/>
                </a:solidFill>
                <a:latin typeface="Georgia" pitchFamily="34" charset="0"/>
                <a:ea typeface="Georgia" pitchFamily="34" charset="-122"/>
                <a:cs typeface="Georgia" pitchFamily="34" charset="-120"/>
              </a:rPr>
              <a:t>Bleeding, sedatives and opioids, withdrawal, seizures, a new focal deficit (CT head)</a:t>
            </a:r>
            <a:endParaRPr lang="en-US" sz="1800" dirty="0"/>
          </a:p>
          <a:p>
            <a:pPr marL="228600" indent="-228600">
              <a:spcBef>
                <a:spcPts val="400"/>
              </a:spcBef>
              <a:buSzPct val="100000"/>
              <a:buChar char="–"/>
            </a:pPr>
            <a:r>
              <a:rPr lang="en-US" sz="1800" dirty="0">
                <a:solidFill>
                  <a:srgbClr val="000000"/>
                </a:solidFill>
                <a:latin typeface="Georgia" pitchFamily="34" charset="0"/>
                <a:ea typeface="Georgia" pitchFamily="34" charset="-122"/>
                <a:cs typeface="Georgia" pitchFamily="34" charset="-120"/>
              </a:rPr>
              <a:t>Lactulose for overt HE: 2 to 3 soft stools a day. By tube if he can't swallow safely; watch for dehydration and high sodium</a:t>
            </a:r>
            <a:endParaRPr lang="en-US" sz="1800" dirty="0"/>
          </a:p>
          <a:p>
            <a:pPr marL="228600" indent="-228600">
              <a:spcBef>
                <a:spcPts val="400"/>
              </a:spcBef>
              <a:buSzPct val="100000"/>
              <a:buChar char="–"/>
            </a:pPr>
            <a:r>
              <a:rPr lang="en-US" sz="1800" dirty="0">
                <a:solidFill>
                  <a:srgbClr val="000000"/>
                </a:solidFill>
                <a:latin typeface="Georgia" pitchFamily="34" charset="0"/>
                <a:ea typeface="Georgia" pitchFamily="34" charset="-122"/>
                <a:cs typeface="Georgia" pitchFamily="34" charset="-120"/>
              </a:rPr>
              <a:t>Rifaximin is an add-on, mainly to prevent the next episode</a:t>
            </a:r>
            <a:endParaRPr lang="en-US" sz="1800" dirty="0"/>
          </a:p>
          <a:p>
            <a:pPr marL="228600" indent="-228600">
              <a:spcBef>
                <a:spcPts val="400"/>
              </a:spcBef>
              <a:buSzPct val="100000"/>
              <a:buChar char="–"/>
            </a:pPr>
            <a:r>
              <a:rPr lang="en-US" sz="1800" dirty="0">
                <a:solidFill>
                  <a:srgbClr val="000000"/>
                </a:solidFill>
                <a:latin typeface="Georgia" pitchFamily="34" charset="0"/>
                <a:ea typeface="Georgia" pitchFamily="34" charset="-122"/>
                <a:cs typeface="Georgia" pitchFamily="34" charset="-120"/>
              </a:rPr>
              <a:t>Grade III-IV and a poor airway: intubate</a:t>
            </a:r>
            <a:endParaRPr lang="en-US" sz="1800" dirty="0"/>
          </a:p>
          <a:p>
            <a:pPr marL="228600" indent="-228600">
              <a:spcBef>
                <a:spcPts val="400"/>
              </a:spcBef>
              <a:buSzPct val="100000"/>
              <a:buChar char="–"/>
            </a:pPr>
            <a:r>
              <a:rPr lang="en-US" sz="1800" dirty="0">
                <a:solidFill>
                  <a:srgbClr val="000000"/>
                </a:solidFill>
                <a:latin typeface="Georgia" pitchFamily="34" charset="0"/>
                <a:ea typeface="Georgia" pitchFamily="34" charset="-122"/>
                <a:cs typeface="Georgia" pitchFamily="34" charset="-120"/>
              </a:rPr>
              <a:t>No repeat ammonia</a:t>
            </a:r>
            <a:endParaRPr lang="en-US" sz="1800" dirty="0"/>
          </a:p>
        </p:txBody>
      </p:sp>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EASL HE guideline 2022 [PMID: 35724930]; SCCM 2023 [PMID: 37052436]</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Day 2: worse kidney, worse lungs</a:t>
            </a:r>
            <a:endParaRPr lang="en-US" sz="3000" dirty="0"/>
          </a:p>
        </p:txBody>
      </p:sp>
      <p:graphicFrame>
        <p:nvGraphicFramePr>
          <p:cNvPr id="92" name="Table"/>
          <p:cNvGraphicFramePr>
            <a:graphicFrameLocks noGrp="1"/>
          </p:cNvGraphicFramePr>
          <p:nvPr>
            <p:extLst>
              <p:ext uri="{D42A27DB-BD31-4B8C-83A1-F6EECF244321}">
                <p14:modId xmlns:p14="http://schemas.microsoft.com/office/powerpoint/2010/main" val="1579011935"/>
              </p:ext>
            </p:extLst>
          </p:nvPr>
        </p:nvGraphicFramePr>
        <p:xfrm>
          <a:off x="1097280" y="1280160"/>
          <a:ext cx="9997135" cy="914400"/>
        </p:xfrm>
        <a:graphic>
          <a:graphicData uri="http://schemas.openxmlformats.org/drawingml/2006/table">
            <a:tbl>
              <a:tblPr/>
              <a:tblGrid>
                <a:gridCol w="2651760"/>
                <a:gridCol w="2743200"/>
                <a:gridCol w="4599432"/>
              </a:tblGrid>
              <a:tr h="457200">
                <a:tc>
                  <a:txBody>
                    <a:bodyPr/>
                    <a:lstStyle/>
                    <a:p>
                      <a:pPr algn="l"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700" b="1" dirty="0">
                          <a:solidFill>
                            <a:srgbClr val="000000"/>
                          </a:solidFill>
                          <a:latin typeface="Calibri" pitchFamily="34" charset="0"/>
                          <a:ea typeface="Calibri" pitchFamily="34" charset="-122"/>
                          <a:cs typeface="Calibri" pitchFamily="34" charset="-120"/>
                        </a:rPr>
                        <a:t>Admission</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700" b="1" dirty="0">
                          <a:solidFill>
                            <a:srgbClr val="000000"/>
                          </a:solidFill>
                          <a:latin typeface="Calibri" pitchFamily="34" charset="0"/>
                          <a:ea typeface="Calibri" pitchFamily="34" charset="-122"/>
                          <a:cs typeface="Calibri" pitchFamily="34" charset="-120"/>
                        </a:rPr>
                        <a:t>Day 2</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45720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Albumin received</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110 g (SBP dose, 1.5 g/kg at 73 kg) + 2 L crystalloid</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5720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Breathing</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SpO2 92%, Venturi 35%</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b="1" dirty="0">
                          <a:solidFill>
                            <a:srgbClr val="C00000"/>
                          </a:solidFill>
                          <a:latin typeface="Calibri" pitchFamily="34" charset="0"/>
                          <a:ea typeface="Calibri" pitchFamily="34" charset="-122"/>
                          <a:cs typeface="Calibri" pitchFamily="34" charset="-120"/>
                        </a:rPr>
                        <a:t>SpO2 86% on Venturi 50%, RR 32, crackles</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5720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Ultrasound</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C00000"/>
                          </a:solidFill>
                          <a:latin typeface="Calibri" pitchFamily="34" charset="0"/>
                          <a:ea typeface="Calibri" pitchFamily="34" charset="-122"/>
                          <a:cs typeface="Calibri" pitchFamily="34" charset="-120"/>
                        </a:rPr>
                        <a:t>Diffuse B-lines, IVC full</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5720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Creatinine (mg/dL)</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2.6</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C00000"/>
                          </a:solidFill>
                          <a:latin typeface="Calibri" pitchFamily="34" charset="0"/>
                          <a:ea typeface="Calibri" pitchFamily="34" charset="-122"/>
                          <a:cs typeface="Calibri" pitchFamily="34" charset="-120"/>
                        </a:rPr>
                        <a:t>3.1</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5720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Urine output</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15 mL/h</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C00000"/>
                          </a:solidFill>
                          <a:latin typeface="Calibri" pitchFamily="34" charset="0"/>
                          <a:ea typeface="Calibri" pitchFamily="34" charset="-122"/>
                          <a:cs typeface="Calibri" pitchFamily="34" charset="-120"/>
                        </a:rPr>
                        <a:t>10 mL/h</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5720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Norepinephrine (mcg/kg/min)</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0.15</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0.22</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Question"/>
          <p:cNvSpPr txBox="1"/>
          <p:nvPr/>
        </p:nvSpPr>
        <p:spPr>
          <a:xfrm>
            <a:off x="822960" y="4937760"/>
            <a:ext cx="10545775" cy="548640"/>
          </a:xfrm>
          <a:prstGeom prst="rect">
            <a:avLst/>
          </a:prstGeom>
          <a:noFill/>
          <a:ln/>
        </p:spPr>
        <p:txBody>
          <a:bodyPr wrap="square" lIns="0" tIns="0" rIns="0" bIns="0" rtlCol="0" anchor="ctr"/>
          <a:lstStyle/>
          <a:p>
            <a:pPr algn="ctr" indent="0" marL="0">
              <a:buNone/>
            </a:pPr>
            <a:r>
              <a:rPr lang="en-US" sz="2600" b="1" dirty="0">
                <a:solidFill>
                  <a:srgbClr val="000000"/>
                </a:solidFill>
                <a:latin typeface="Georgia" pitchFamily="34" charset="0"/>
                <a:ea typeface="Georgia" pitchFamily="34" charset="-122"/>
                <a:cs typeface="Georgia" pitchFamily="34" charset="-120"/>
              </a:rPr>
              <a:t>More albumin? Terlipressin? Something else?</a:t>
            </a:r>
            <a:endParaRPr lang="en-US" sz="26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Day 2: worse kidney, worse lungs</a:t>
            </a:r>
            <a:endParaRPr lang="en-US" sz="3000" dirty="0"/>
          </a:p>
        </p:txBody>
      </p:sp>
      <p:graphicFrame>
        <p:nvGraphicFramePr>
          <p:cNvPr id="93" name="Table"/>
          <p:cNvGraphicFramePr>
            <a:graphicFrameLocks noGrp="1"/>
          </p:cNvGraphicFramePr>
          <p:nvPr>
            <p:extLst>
              <p:ext uri="{D42A27DB-BD31-4B8C-83A1-F6EECF244321}">
                <p14:modId xmlns:p14="http://schemas.microsoft.com/office/powerpoint/2010/main" val="1579011935"/>
              </p:ext>
            </p:extLst>
          </p:nvPr>
        </p:nvGraphicFramePr>
        <p:xfrm>
          <a:off x="1097280" y="1280160"/>
          <a:ext cx="9997135" cy="914400"/>
        </p:xfrm>
        <a:graphic>
          <a:graphicData uri="http://schemas.openxmlformats.org/drawingml/2006/table">
            <a:tbl>
              <a:tblPr/>
              <a:tblGrid>
                <a:gridCol w="2651760"/>
                <a:gridCol w="2743200"/>
                <a:gridCol w="4599432"/>
              </a:tblGrid>
              <a:tr h="457200">
                <a:tc>
                  <a:txBody>
                    <a:bodyPr/>
                    <a:lstStyle/>
                    <a:p>
                      <a:pPr algn="l"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700" b="1" dirty="0">
                          <a:solidFill>
                            <a:srgbClr val="000000"/>
                          </a:solidFill>
                          <a:latin typeface="Calibri" pitchFamily="34" charset="0"/>
                          <a:ea typeface="Calibri" pitchFamily="34" charset="-122"/>
                          <a:cs typeface="Calibri" pitchFamily="34" charset="-120"/>
                        </a:rPr>
                        <a:t>Admission</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700" b="1" dirty="0">
                          <a:solidFill>
                            <a:srgbClr val="000000"/>
                          </a:solidFill>
                          <a:latin typeface="Calibri" pitchFamily="34" charset="0"/>
                          <a:ea typeface="Calibri" pitchFamily="34" charset="-122"/>
                          <a:cs typeface="Calibri" pitchFamily="34" charset="-120"/>
                        </a:rPr>
                        <a:t>Day 2</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45720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Albumin received</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110 g (SBP dose, 1.5 g/kg at 73 kg) + 2 L crystalloid</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5720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Breathing</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SpO2 92%, Venturi 35%</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b="1" dirty="0">
                          <a:solidFill>
                            <a:srgbClr val="C00000"/>
                          </a:solidFill>
                          <a:latin typeface="Calibri" pitchFamily="34" charset="0"/>
                          <a:ea typeface="Calibri" pitchFamily="34" charset="-122"/>
                          <a:cs typeface="Calibri" pitchFamily="34" charset="-120"/>
                        </a:rPr>
                        <a:t>SpO2 86% on Venturi 50%, RR 32, crackles</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5720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Ultrasound</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C00000"/>
                          </a:solidFill>
                          <a:latin typeface="Calibri" pitchFamily="34" charset="0"/>
                          <a:ea typeface="Calibri" pitchFamily="34" charset="-122"/>
                          <a:cs typeface="Calibri" pitchFamily="34" charset="-120"/>
                        </a:rPr>
                        <a:t>Diffuse B-lines, IVC full</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5720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Creatinine (mg/dL)</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2.6</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C00000"/>
                          </a:solidFill>
                          <a:latin typeface="Calibri" pitchFamily="34" charset="0"/>
                          <a:ea typeface="Calibri" pitchFamily="34" charset="-122"/>
                          <a:cs typeface="Calibri" pitchFamily="34" charset="-120"/>
                        </a:rPr>
                        <a:t>3.1</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5720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Urine output</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15 mL/h</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C00000"/>
                          </a:solidFill>
                          <a:latin typeface="Calibri" pitchFamily="34" charset="0"/>
                          <a:ea typeface="Calibri" pitchFamily="34" charset="-122"/>
                          <a:cs typeface="Calibri" pitchFamily="34" charset="-120"/>
                        </a:rPr>
                        <a:t>10 mL/h</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5720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Norepinephrine (mcg/kg/min)</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0.15</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0.22</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Question"/>
          <p:cNvSpPr txBox="1"/>
          <p:nvPr/>
        </p:nvSpPr>
        <p:spPr>
          <a:xfrm>
            <a:off x="822960" y="475488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First, what are the lungs telling you?</a:t>
            </a:r>
            <a:endParaRPr lang="en-US" sz="2400" dirty="0"/>
          </a:p>
        </p:txBody>
      </p:sp>
      <p:sp>
        <p:nvSpPr>
          <p:cNvPr id="5" name="Question"/>
          <p:cNvSpPr txBox="1"/>
          <p:nvPr/>
        </p:nvSpPr>
        <p:spPr>
          <a:xfrm>
            <a:off x="822960" y="5394960"/>
            <a:ext cx="10545775" cy="548640"/>
          </a:xfrm>
          <a:prstGeom prst="rect">
            <a:avLst/>
          </a:prstGeom>
          <a:noFill/>
          <a:ln/>
        </p:spPr>
        <p:txBody>
          <a:bodyPr wrap="square" lIns="0" tIns="0" rIns="0" bIns="0" rtlCol="0" anchor="ctr"/>
          <a:lstStyle/>
          <a:p>
            <a:pPr algn="ctr" indent="0" marL="0">
              <a:buNone/>
            </a:pPr>
            <a:r>
              <a:rPr lang="en-US" sz="2000" b="1" dirty="0">
                <a:solidFill>
                  <a:srgbClr val="000000"/>
                </a:solidFill>
                <a:highlight>
                  <a:srgbClr val="FFFF00"/>
                </a:highlight>
                <a:latin typeface="Georgia" pitchFamily="34" charset="0"/>
                <a:ea typeface="Georgia" pitchFamily="34" charset="-122"/>
                <a:cs typeface="Georgia" pitchFamily="34" charset="-120"/>
              </a:rPr>
              <a:t>Now on high-flow, FiO2 0.6, SpO2 90%: SpO2/FiO2 150. That's a third organ failure</a:t>
            </a:r>
            <a:endParaRPr lang="en-US" sz="2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Day 2: what do his lungs look like?</a:t>
            </a:r>
            <a:endParaRPr lang="en-US" sz="3000" dirty="0"/>
          </a:p>
        </p:txBody>
      </p:sp>
      <p:pic>
        <p:nvPicPr>
          <p:cNvPr id="3" name="Image 0" descr="Chest X-ray with bilateral pulmonary edema">    </p:cNvPr>
          <p:cNvPicPr>
            <a:picLocks noChangeAspect="1"/>
          </p:cNvPicPr>
          <p:nvPr/>
        </p:nvPicPr>
        <p:blipFill>
          <a:blip r:embed="rId1"/>
          <a:stretch>
            <a:fillRect/>
          </a:stretch>
        </p:blipFill>
        <p:spPr>
          <a:xfrm>
            <a:off x="548640" y="1188720"/>
            <a:ext cx="5120640" cy="4813402"/>
          </a:xfrm>
          <a:prstGeom prst="rect">
            <a:avLst/>
          </a:prstGeom>
        </p:spPr>
      </p:pic>
      <p:pic>
        <p:nvPicPr>
          <p:cNvPr id="4" name="Image 1" descr="Lung ultrasound with B-lines">    </p:cNvPr>
          <p:cNvPicPr>
            <a:picLocks noChangeAspect="1"/>
          </p:cNvPicPr>
          <p:nvPr/>
        </p:nvPicPr>
        <p:blipFill>
          <a:blip r:embed="rId2"/>
          <a:stretch>
            <a:fillRect/>
          </a:stretch>
        </p:blipFill>
        <p:spPr>
          <a:xfrm>
            <a:off x="5943600" y="1188720"/>
            <a:ext cx="5669280" cy="4720964"/>
          </a:xfrm>
          <a:prstGeom prst="rect">
            <a:avLst/>
          </a:prstGeom>
        </p:spPr>
      </p:pic>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Images for teaching, not this patient</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Will fixing the kidney hurt the lungs?</a:t>
            </a:r>
            <a:endParaRPr lang="en-US" sz="3000" dirty="0"/>
          </a:p>
        </p:txBody>
      </p:sp>
      <p:sp>
        <p:nvSpPr>
          <p:cNvPr id="3" name="Question"/>
          <p:cNvSpPr txBox="1"/>
          <p:nvPr/>
        </p:nvSpPr>
        <p:spPr>
          <a:xfrm>
            <a:off x="822960" y="2926080"/>
            <a:ext cx="10545775" cy="548640"/>
          </a:xfrm>
          <a:prstGeom prst="rect">
            <a:avLst/>
          </a:prstGeom>
          <a:noFill/>
          <a:ln/>
        </p:spPr>
        <p:txBody>
          <a:bodyPr wrap="square" lIns="0" tIns="0" rIns="0" bIns="0" rtlCol="0" anchor="ctr"/>
          <a:lstStyle/>
          <a:p>
            <a:pPr algn="ctr" indent="0" marL="0">
              <a:buNone/>
            </a:pPr>
            <a:r>
              <a:rPr lang="en-US" sz="2600" b="1" dirty="0">
                <a:solidFill>
                  <a:srgbClr val="000000"/>
                </a:solidFill>
                <a:latin typeface="Georgia" pitchFamily="34" charset="0"/>
                <a:ea typeface="Georgia" pitchFamily="34" charset="-122"/>
                <a:cs typeface="Georgia" pitchFamily="34" charset="-120"/>
              </a:rPr>
              <a:t>Terlipressin, more albumin, dialysis: what would you do for him today?</a:t>
            </a:r>
            <a:endParaRPr lang="en-US" sz="26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Will fixing the kidney hurt the lungs?</a:t>
            </a:r>
            <a:endParaRPr lang="en-US" sz="3000" dirty="0"/>
          </a:p>
        </p:txBody>
      </p:sp>
      <p:sp>
        <p:nvSpPr>
          <p:cNvPr id="3" name="Body"/>
          <p:cNvSpPr txBox="1"/>
          <p:nvPr/>
        </p:nvSpPr>
        <p:spPr>
          <a:xfrm>
            <a:off x="822960" y="1280160"/>
            <a:ext cx="10545775" cy="4206240"/>
          </a:xfrm>
          <a:prstGeom prst="rect">
            <a:avLst/>
          </a:prstGeom>
          <a:noFill/>
          <a:ln/>
        </p:spPr>
        <p:txBody>
          <a:bodyPr wrap="square" lIns="50800" tIns="50800" rIns="50800" bIns="50800" rtlCol="0" anchor="t"/>
          <a:lstStyle/>
          <a:p>
            <a:pPr marL="228600" indent="-228600">
              <a:spcBef>
                <a:spcPts val="800"/>
              </a:spcBef>
              <a:buSzPct val="100000"/>
              <a:buChar char="–"/>
            </a:pPr>
            <a:r>
              <a:rPr lang="en-US" sz="2000" b="1" dirty="0">
                <a:solidFill>
                  <a:srgbClr val="000000"/>
                </a:solidFill>
                <a:latin typeface="Georgia" pitchFamily="34" charset="0"/>
                <a:ea typeface="Georgia" pitchFamily="34" charset="-122"/>
                <a:cs typeface="Georgia" pitchFamily="34" charset="-120"/>
              </a:rPr>
              <a:t>Terlipressin: not for him today</a:t>
            </a:r>
            <a:endParaRPr lang="en-US" sz="2000" dirty="0"/>
          </a:p>
          <a:p>
            <a:pPr lvl="1" marL="457200" indent="-228600">
              <a:spcBef>
                <a:spcPts val="200"/>
              </a:spcBef>
              <a:buSzPct val="100000"/>
              <a:buChar char="–"/>
            </a:pPr>
            <a:r>
              <a:rPr lang="en-US" sz="1800" dirty="0">
                <a:solidFill>
                  <a:srgbClr val="000000"/>
                </a:solidFill>
                <a:latin typeface="Georgia" pitchFamily="34" charset="0"/>
                <a:ea typeface="Georgia" pitchFamily="34" charset="-122"/>
                <a:cs typeface="Georgia" pitchFamily="34" charset="-120"/>
              </a:rPr>
              <a:t>Label: contraindicated with hypoxia or worsening respiratory symptoms; don't start if SpO2 &lt; 90%, stop if it falls below 90%</a:t>
            </a:r>
            <a:endParaRPr lang="en-US" sz="2000" dirty="0"/>
          </a:p>
          <a:p>
            <a:pPr lvl="1" marL="457200" indent="-228600">
              <a:spcBef>
                <a:spcPts val="200"/>
              </a:spcBef>
              <a:buSzPct val="100000"/>
              <a:buChar char="–"/>
            </a:pPr>
            <a:r>
              <a:rPr lang="en-US" sz="1800" dirty="0">
                <a:solidFill>
                  <a:srgbClr val="000000"/>
                </a:solidFill>
                <a:latin typeface="Georgia" pitchFamily="34" charset="0"/>
                <a:ea typeface="Georgia" pitchFamily="34" charset="-122"/>
                <a:cs typeface="Georgia" pitchFamily="34" charset="-120"/>
              </a:rPr>
              <a:t>Label: avoid in ACLF grade 3; volume overload raises the risk of respiratory failure</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Stop the albumin while he is wet</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He is already on a vasoconstrictor. Norepinephrine, titrated to perfusion</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RRT if he stays overloaded. For HRS, RRT is a bridge to transplant: if he isn't a candidate, talk about goals before you start</a:t>
            </a:r>
            <a:endParaRPr lang="en-US" sz="2000" dirty="0"/>
          </a:p>
          <a:p>
            <a:pPr marL="228600" indent="-228600">
              <a:spcBef>
                <a:spcPts val="800"/>
              </a:spcBef>
              <a:buSzPct val="100000"/>
              <a:buChar char="–"/>
            </a:pPr>
            <a:r>
              <a:rPr lang="en-US" sz="2000" dirty="0">
                <a:solidFill>
                  <a:srgbClr val="000000"/>
                </a:solidFill>
                <a:latin typeface="Georgia" pitchFamily="34" charset="0"/>
                <a:ea typeface="Georgia" pitchFamily="34" charset="-122"/>
                <a:cs typeface="Georgia" pitchFamily="34" charset="-120"/>
              </a:rPr>
              <a:t>Midodrine and octreotide? They work poorly, and not in someone on IV pressors</a:t>
            </a:r>
            <a:endParaRPr lang="en-US" sz="2000" dirty="0"/>
          </a:p>
        </p:txBody>
      </p:sp>
      <p:sp>
        <p:nvSpPr>
          <p:cNvPr id="4" name="Question"/>
          <p:cNvSpPr txBox="1"/>
          <p:nvPr/>
        </p:nvSpPr>
        <p:spPr>
          <a:xfrm>
            <a:off x="822960" y="5532120"/>
            <a:ext cx="10545775" cy="548640"/>
          </a:xfrm>
          <a:prstGeom prst="rect">
            <a:avLst/>
          </a:prstGeom>
          <a:noFill/>
          <a:ln/>
        </p:spPr>
        <p:txBody>
          <a:bodyPr wrap="square" lIns="0" tIns="0" rIns="0" bIns="0" rtlCol="0" anchor="ctr"/>
          <a:lstStyle/>
          <a:p>
            <a:pPr algn="ctr" indent="0" marL="0">
              <a:buNone/>
            </a:pPr>
            <a:r>
              <a:rPr lang="en-US" sz="2000" b="1" dirty="0">
                <a:solidFill>
                  <a:srgbClr val="000000"/>
                </a:solidFill>
                <a:latin typeface="Georgia" pitchFamily="34" charset="0"/>
                <a:ea typeface="Georgia" pitchFamily="34" charset="-122"/>
                <a:cs typeface="Georgia" pitchFamily="34" charset="-120"/>
              </a:rPr>
              <a:t>Check oxygen and volume before any kidney treatment</a:t>
            </a:r>
            <a:endParaRPr lang="en-US" sz="20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TERLIVAZ prescribing information, revised 6/2026; ADQI-ICA 2024 [PMID: 38527522]</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What each HRS drug does to the heart and lungs</a:t>
            </a:r>
            <a:endParaRPr lang="en-US" sz="3000" dirty="0"/>
          </a:p>
        </p:txBody>
      </p:sp>
      <p:pic>
        <p:nvPicPr>
          <p:cNvPr id="3" name="Image 0" descr="Effects of HRS-AKI treatments on vascular beds, heart, kidney and lungs">    </p:cNvPr>
          <p:cNvPicPr>
            <a:picLocks noChangeAspect="1"/>
          </p:cNvPicPr>
          <p:nvPr/>
        </p:nvPicPr>
        <p:blipFill>
          <a:blip r:embed="rId1"/>
          <a:stretch>
            <a:fillRect/>
          </a:stretch>
        </p:blipFill>
        <p:spPr>
          <a:xfrm>
            <a:off x="2023621" y="1143000"/>
            <a:ext cx="8144453" cy="5029200"/>
          </a:xfrm>
          <a:prstGeom prst="rect">
            <a:avLst/>
          </a:prstGeom>
        </p:spPr>
      </p:pic>
      <p:sp>
        <p:nvSpPr>
          <p:cNvPr id="4"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Nadim MK et al. J Hepatol 2024;81:163-83 [PMID: 38527522], Fig. 5 (CC BY 2.0, adapted from ADQI)</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Does HRS reversal mean survival?</a:t>
            </a:r>
            <a:endParaRPr lang="en-US" sz="3000" dirty="0"/>
          </a:p>
        </p:txBody>
      </p:sp>
      <p:pic>
        <p:nvPicPr>
          <p:cNvPr id="3" name="Image 0" descr="CONFIRM trial: title">    </p:cNvPr>
          <p:cNvPicPr>
            <a:picLocks noChangeAspect="1"/>
          </p:cNvPicPr>
          <p:nvPr/>
        </p:nvPicPr>
        <p:blipFill>
          <a:blip r:embed="rId1"/>
          <a:stretch>
            <a:fillRect/>
          </a:stretch>
        </p:blipFill>
        <p:spPr>
          <a:xfrm>
            <a:off x="3233049" y="1097280"/>
            <a:ext cx="5725597" cy="2743200"/>
          </a:xfrm>
          <a:prstGeom prst="rect">
            <a:avLst/>
          </a:prstGeom>
        </p:spPr>
      </p:pic>
      <p:sp>
        <p:nvSpPr>
          <p:cNvPr id="4" name="Question"/>
          <p:cNvSpPr txBox="1"/>
          <p:nvPr/>
        </p:nvSpPr>
        <p:spPr>
          <a:xfrm>
            <a:off x="822960" y="438912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What do you think they found?</a:t>
            </a:r>
            <a:endParaRPr lang="en-US" sz="24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Wong F et al. N Engl J Med 2021;384:818-28 [PMID: 33657294]</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Does HRS reversal mean survival?</a:t>
            </a:r>
            <a:endParaRPr lang="en-US" sz="3000" dirty="0"/>
          </a:p>
        </p:txBody>
      </p:sp>
      <p:pic>
        <p:nvPicPr>
          <p:cNvPr id="3" name="Image 0" descr="CONFIRM trial: title">    </p:cNvPr>
          <p:cNvPicPr>
            <a:picLocks noChangeAspect="1"/>
          </p:cNvPicPr>
          <p:nvPr/>
        </p:nvPicPr>
        <p:blipFill>
          <a:blip r:embed="rId1"/>
          <a:stretch>
            <a:fillRect/>
          </a:stretch>
        </p:blipFill>
        <p:spPr>
          <a:xfrm>
            <a:off x="3233049" y="1097280"/>
            <a:ext cx="5725597" cy="2743200"/>
          </a:xfrm>
          <a:prstGeom prst="rect">
            <a:avLst/>
          </a:prstGeom>
        </p:spPr>
      </p:pic>
      <p:pic>
        <p:nvPicPr>
          <p:cNvPr id="4" name="Image 1" descr="CONFIRM trial">    </p:cNvPr>
          <p:cNvPicPr>
            <a:picLocks noChangeAspect="1"/>
          </p:cNvPicPr>
          <p:nvPr/>
        </p:nvPicPr>
        <p:blipFill>
          <a:blip r:embed="rId2"/>
          <a:stretch>
            <a:fillRect/>
          </a:stretch>
        </p:blipFill>
        <p:spPr>
          <a:xfrm>
            <a:off x="1280160" y="4069080"/>
            <a:ext cx="9631375" cy="1657943"/>
          </a:xfrm>
          <a:prstGeom prst="rect">
            <a:avLst/>
          </a:prstGeom>
        </p:spPr>
      </p:pic>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Wong F et al. N Engl J Med 2021;384:818-28 [PMID: 33657294]</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Does HRS reversal mean survival?</a:t>
            </a:r>
            <a:endParaRPr lang="en-US" sz="3000" dirty="0"/>
          </a:p>
        </p:txBody>
      </p:sp>
      <p:graphicFrame>
        <p:nvGraphicFramePr>
          <p:cNvPr id="3" name="Chart 0" descr=""/>
          <p:cNvGraphicFramePr/>
          <p:nvPr/>
        </p:nvGraphicFramePr>
        <p:xfrm>
          <a:off x="548640" y="1280160"/>
          <a:ext cx="6766560" cy="4846320"/>
        </p:xfrm>
        <a:graphic xmlns:a="http://schemas.openxmlformats.org/drawingml/2006/main">
          <a:graphicData uri="http://schemas.openxmlformats.org/drawingml/2006/chart">
            <c:chart xmlns:c="http://schemas.openxmlformats.org/drawingml/2006/chart" r:id="rId1"/>
          </a:graphicData>
        </a:graphic>
      </p:graphicFrame>
      <p:sp>
        <p:nvSpPr>
          <p:cNvPr id="4" name="Body"/>
          <p:cNvSpPr txBox="1"/>
          <p:nvPr/>
        </p:nvSpPr>
        <p:spPr>
          <a:xfrm>
            <a:off x="7589520" y="1463040"/>
            <a:ext cx="4114800" cy="4572000"/>
          </a:xfrm>
          <a:prstGeom prst="rect">
            <a:avLst/>
          </a:prstGeom>
          <a:noFill/>
          <a:ln/>
        </p:spPr>
        <p:txBody>
          <a:bodyPr wrap="square" lIns="50800" tIns="50800" rIns="50800" bIns="50800" rtlCol="0" anchor="t"/>
          <a:lstStyle/>
          <a:p>
            <a:pPr indent="0" marL="0">
              <a:spcBef>
                <a:spcPts val="1200"/>
              </a:spcBef>
              <a:buNone/>
            </a:pPr>
            <a:r>
              <a:rPr lang="en-US" sz="2000" b="1" dirty="0">
                <a:solidFill>
                  <a:srgbClr val="000000"/>
                </a:solidFill>
                <a:latin typeface="Georgia" pitchFamily="34" charset="0"/>
                <a:ea typeface="Georgia" pitchFamily="34" charset="-122"/>
                <a:cs typeface="Georgia" pitchFamily="34" charset="-120"/>
              </a:rPr>
              <a:t>CONFIRM: type 1 HRS, 300 patients</a:t>
            </a:r>
            <a:endParaRPr lang="en-US" sz="2000" dirty="0"/>
          </a:p>
          <a:p>
            <a:pPr marL="228600" indent="-228600">
              <a:spcBef>
                <a:spcPts val="1200"/>
              </a:spcBef>
              <a:buSzPct val="100000"/>
              <a:buChar char="–"/>
            </a:pPr>
            <a:r>
              <a:rPr lang="en-US" sz="2000" dirty="0">
                <a:solidFill>
                  <a:srgbClr val="000000"/>
                </a:solidFill>
                <a:latin typeface="Georgia" pitchFamily="34" charset="0"/>
                <a:ea typeface="Georgia" pitchFamily="34" charset="-122"/>
                <a:cs typeface="Georgia" pitchFamily="34" charset="-120"/>
              </a:rPr>
              <a:t>More kidneys recovered</a:t>
            </a:r>
            <a:endParaRPr lang="en-US" sz="2000" dirty="0"/>
          </a:p>
          <a:p>
            <a:pPr marL="228600" indent="-228600">
              <a:spcBef>
                <a:spcPts val="1200"/>
              </a:spcBef>
              <a:buSzPct val="100000"/>
              <a:buChar char="–"/>
            </a:pPr>
            <a:r>
              <a:rPr lang="en-US" sz="2000" b="1" dirty="0">
                <a:solidFill>
                  <a:srgbClr val="C00000"/>
                </a:solidFill>
                <a:latin typeface="Georgia" pitchFamily="34" charset="0"/>
                <a:ea typeface="Georgia" pitchFamily="34" charset="-122"/>
                <a:cs typeface="Georgia" pitchFamily="34" charset="-120"/>
              </a:rPr>
              <a:t>More patients died of respiratory failure</a:t>
            </a:r>
            <a:endParaRPr lang="en-US" sz="2000" dirty="0"/>
          </a:p>
          <a:p>
            <a:pPr marL="228600" indent="-228600">
              <a:spcBef>
                <a:spcPts val="1200"/>
              </a:spcBef>
              <a:buSzPct val="100000"/>
              <a:buChar char="–"/>
            </a:pPr>
            <a:r>
              <a:rPr lang="en-US" sz="2000" dirty="0">
                <a:solidFill>
                  <a:srgbClr val="000000"/>
                </a:solidFill>
                <a:latin typeface="Georgia" pitchFamily="34" charset="0"/>
                <a:ea typeface="Georgia" pitchFamily="34" charset="-122"/>
                <a:cs typeface="Georgia" pitchFamily="34" charset="-120"/>
              </a:rPr>
              <a:t>All-cause 90-day mortality was not different</a:t>
            </a:r>
            <a:endParaRPr lang="en-US" sz="2000" dirty="0"/>
          </a:p>
          <a:p>
            <a:pPr marL="228600" indent="-228600">
              <a:spcBef>
                <a:spcPts val="1200"/>
              </a:spcBef>
              <a:buSzPct val="100000"/>
              <a:buChar char="–"/>
            </a:pPr>
            <a:r>
              <a:rPr lang="en-US" sz="2000" dirty="0">
                <a:solidFill>
                  <a:srgbClr val="000000"/>
                </a:solidFill>
                <a:latin typeface="Georgia" pitchFamily="34" charset="0"/>
                <a:ea typeface="Georgia" pitchFamily="34" charset="-122"/>
                <a:cs typeface="Georgia" pitchFamily="34" charset="-120"/>
              </a:rPr>
              <a:t>Respiratory failure as an adverse event: about 14% vs 5% (label)</a:t>
            </a:r>
            <a:endParaRPr lang="en-US" sz="20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Wong F et al. NEJM 2021 [PMID: 33657294]; TERLIVAZ prescribing information, revised 6/2026</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Should we treat the albumin number?</a:t>
            </a:r>
            <a:endParaRPr lang="en-US" sz="3000" dirty="0"/>
          </a:p>
        </p:txBody>
      </p:sp>
      <p:pic>
        <p:nvPicPr>
          <p:cNvPr id="3" name="Image 0" descr="ATTIRE trial: title">    </p:cNvPr>
          <p:cNvPicPr>
            <a:picLocks noChangeAspect="1"/>
          </p:cNvPicPr>
          <p:nvPr/>
        </p:nvPicPr>
        <p:blipFill>
          <a:blip r:embed="rId1"/>
          <a:stretch>
            <a:fillRect/>
          </a:stretch>
        </p:blipFill>
        <p:spPr>
          <a:xfrm>
            <a:off x="3413639" y="1097280"/>
            <a:ext cx="5364417" cy="2743200"/>
          </a:xfrm>
          <a:prstGeom prst="rect">
            <a:avLst/>
          </a:prstGeom>
        </p:spPr>
      </p:pic>
      <p:sp>
        <p:nvSpPr>
          <p:cNvPr id="4" name="Question"/>
          <p:cNvSpPr txBox="1"/>
          <p:nvPr/>
        </p:nvSpPr>
        <p:spPr>
          <a:xfrm>
            <a:off x="822960" y="438912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What do you think they found?</a:t>
            </a:r>
            <a:endParaRPr lang="en-US" sz="24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China L et al. N Engl J Med 2021;384:808-17 [PMID: 33657293]</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Should we treat the albumin number?</a:t>
            </a:r>
            <a:endParaRPr lang="en-US" sz="3000" dirty="0"/>
          </a:p>
        </p:txBody>
      </p:sp>
      <p:pic>
        <p:nvPicPr>
          <p:cNvPr id="3" name="Image 0" descr="ATTIRE trial: title">    </p:cNvPr>
          <p:cNvPicPr>
            <a:picLocks noChangeAspect="1"/>
          </p:cNvPicPr>
          <p:nvPr/>
        </p:nvPicPr>
        <p:blipFill>
          <a:blip r:embed="rId1"/>
          <a:stretch>
            <a:fillRect/>
          </a:stretch>
        </p:blipFill>
        <p:spPr>
          <a:xfrm>
            <a:off x="3413639" y="1097280"/>
            <a:ext cx="5364417" cy="2743200"/>
          </a:xfrm>
          <a:prstGeom prst="rect">
            <a:avLst/>
          </a:prstGeom>
        </p:spPr>
      </p:pic>
      <p:pic>
        <p:nvPicPr>
          <p:cNvPr id="4" name="Image 1" descr="ATTIRE trial">    </p:cNvPr>
          <p:cNvPicPr>
            <a:picLocks noChangeAspect="1"/>
          </p:cNvPicPr>
          <p:nvPr/>
        </p:nvPicPr>
        <p:blipFill>
          <a:blip r:embed="rId2"/>
          <a:stretch>
            <a:fillRect/>
          </a:stretch>
        </p:blipFill>
        <p:spPr>
          <a:xfrm>
            <a:off x="1280160" y="4069080"/>
            <a:ext cx="9631375" cy="1404786"/>
          </a:xfrm>
          <a:prstGeom prst="rect">
            <a:avLst/>
          </a:prstGeom>
        </p:spPr>
      </p:pic>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China L et al. N Engl J Med 2021;384:808-17 [PMID: 33657293]</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Should we treat the albumin number?</a:t>
            </a:r>
            <a:endParaRPr lang="en-US" sz="3000" dirty="0"/>
          </a:p>
        </p:txBody>
      </p:sp>
      <p:graphicFrame>
        <p:nvGraphicFramePr>
          <p:cNvPr id="103" name="Table"/>
          <p:cNvGraphicFramePr>
            <a:graphicFrameLocks noGrp="1"/>
          </p:cNvGraphicFramePr>
          <p:nvPr>
            <p:extLst>
              <p:ext uri="{D42A27DB-BD31-4B8C-83A1-F6EECF244321}">
                <p14:modId xmlns:p14="http://schemas.microsoft.com/office/powerpoint/2010/main" val="1579011935"/>
              </p:ext>
            </p:extLst>
          </p:nvPr>
        </p:nvGraphicFramePr>
        <p:xfrm>
          <a:off x="822960" y="1280160"/>
          <a:ext cx="10545775" cy="914400"/>
        </p:xfrm>
        <a:graphic>
          <a:graphicData uri="http://schemas.openxmlformats.org/drawingml/2006/table">
            <a:tbl>
              <a:tblPr/>
              <a:tblGrid>
                <a:gridCol w="2560320"/>
                <a:gridCol w="7982712"/>
              </a:tblGrid>
              <a:tr h="91440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Study</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ATTIRE: daily albumin to keep serum albumin ≥ 30 g/L vs standard care, hospitalized decompensated cirrhosis, 777 patients</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68580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Main finding</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Composite of new infection, kidney dysfunction or death: 29.7% vs 30.2%</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77240">
                <a:tc>
                  <a:txBody>
                    <a:bodyPr/>
                    <a:lstStyle/>
                    <a:p>
                      <a:pPr algn="l" indent="0" marL="0">
                        <a:buNone/>
                      </a:pPr>
                      <a:r>
                        <a:rPr lang="en-US" sz="1700" dirty="0">
                          <a:solidFill>
                            <a:srgbClr val="000000"/>
                          </a:solidFill>
                          <a:latin typeface="Calibri" pitchFamily="34" charset="0"/>
                          <a:ea typeface="Calibri" pitchFamily="34" charset="-122"/>
                          <a:cs typeface="Calibri" pitchFamily="34" charset="-120"/>
                        </a:rPr>
                        <a:t>The catch</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b="1" dirty="0">
                          <a:solidFill>
                            <a:srgbClr val="000000"/>
                          </a:solidFill>
                          <a:latin typeface="Calibri" pitchFamily="34" charset="0"/>
                          <a:ea typeface="Calibri" pitchFamily="34" charset="-122"/>
                          <a:cs typeface="Calibri" pitchFamily="34" charset="-120"/>
                        </a:rPr>
                        <a:t>More serious adverse events with albumin, including fluid overload and pulmonary edema</a:t>
                      </a:r>
                      <a:endParaRPr lang="en-US" sz="17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Body"/>
          <p:cNvSpPr txBox="1"/>
          <p:nvPr/>
        </p:nvSpPr>
        <p:spPr>
          <a:xfrm>
            <a:off x="822960" y="3977640"/>
            <a:ext cx="10545775" cy="2194560"/>
          </a:xfrm>
          <a:prstGeom prst="rect">
            <a:avLst/>
          </a:prstGeom>
          <a:noFill/>
          <a:ln/>
        </p:spPr>
        <p:txBody>
          <a:bodyPr wrap="square" lIns="50800" tIns="50800" rIns="50800" bIns="50800" rtlCol="0" anchor="t"/>
          <a:lstStyle/>
          <a:p>
            <a:pPr indent="0" marL="0">
              <a:spcBef>
                <a:spcPts val="800"/>
              </a:spcBef>
              <a:buNone/>
            </a:pPr>
            <a:r>
              <a:rPr lang="en-US" sz="1900" b="1" dirty="0">
                <a:solidFill>
                  <a:srgbClr val="000000"/>
                </a:solidFill>
                <a:latin typeface="Georgia" pitchFamily="34" charset="0"/>
                <a:ea typeface="Georgia" pitchFamily="34" charset="-122"/>
                <a:cs typeface="Georgia" pitchFamily="34" charset="-120"/>
              </a:rPr>
              <a:t>When albumin is indicated</a:t>
            </a:r>
            <a:endParaRPr lang="en-US" sz="1900" dirty="0"/>
          </a:p>
          <a:p>
            <a:pPr marL="228600" indent="-228600">
              <a:spcBef>
                <a:spcPts val="800"/>
              </a:spcBef>
              <a:buSzPct val="100000"/>
              <a:buChar char="–"/>
            </a:pPr>
            <a:r>
              <a:rPr lang="en-US" sz="1900" dirty="0">
                <a:solidFill>
                  <a:srgbClr val="000000"/>
                </a:solidFill>
                <a:latin typeface="Georgia" pitchFamily="34" charset="0"/>
                <a:ea typeface="Georgia" pitchFamily="34" charset="-122"/>
                <a:cs typeface="Georgia" pitchFamily="34" charset="-120"/>
              </a:rPr>
              <a:t>SBP: 1.5 g/kg on day 1, 1 g/kg on day 3</a:t>
            </a:r>
            <a:endParaRPr lang="en-US" sz="1900" dirty="0"/>
          </a:p>
          <a:p>
            <a:pPr marL="228600" indent="-228600">
              <a:spcBef>
                <a:spcPts val="800"/>
              </a:spcBef>
              <a:buSzPct val="100000"/>
              <a:buChar char="–"/>
            </a:pPr>
            <a:r>
              <a:rPr lang="en-US" sz="1900" dirty="0">
                <a:solidFill>
                  <a:srgbClr val="000000"/>
                </a:solidFill>
                <a:latin typeface="Georgia" pitchFamily="34" charset="0"/>
                <a:ea typeface="Georgia" pitchFamily="34" charset="-122"/>
                <a:cs typeface="Georgia" pitchFamily="34" charset="-120"/>
              </a:rPr>
              <a:t>Paracentesis over 5 L: 6 to 8 g per liter removed</a:t>
            </a:r>
            <a:endParaRPr lang="en-US" sz="1900" dirty="0"/>
          </a:p>
          <a:p>
            <a:pPr marL="228600" indent="-228600">
              <a:spcBef>
                <a:spcPts val="800"/>
              </a:spcBef>
              <a:buSzPct val="100000"/>
              <a:buChar char="–"/>
            </a:pPr>
            <a:r>
              <a:rPr lang="en-US" sz="1900" dirty="0">
                <a:solidFill>
                  <a:srgbClr val="000000"/>
                </a:solidFill>
                <a:latin typeface="Georgia" pitchFamily="34" charset="0"/>
                <a:ea typeface="Georgia" pitchFamily="34" charset="-122"/>
                <a:cs typeface="Georgia" pitchFamily="34" charset="-120"/>
              </a:rPr>
              <a:t>HRS-AKI: with a vasoconstrictor, dosed to volume status</a:t>
            </a:r>
            <a:endParaRPr lang="en-US" sz="19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China L et al. NEJM 2021 [PMID: 33657293]; ADQI-ICA 2024 [PMID: 38527522]</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Midodrine and octreotide for HRS-AKI?</a:t>
            </a:r>
            <a:endParaRPr lang="en-US" sz="3000" dirty="0"/>
          </a:p>
        </p:txBody>
      </p:sp>
      <p:sp>
        <p:nvSpPr>
          <p:cNvPr id="3" name="Body"/>
          <p:cNvSpPr txBox="1"/>
          <p:nvPr/>
        </p:nvSpPr>
        <p:spPr>
          <a:xfrm>
            <a:off x="822960" y="2011680"/>
            <a:ext cx="10545775" cy="822960"/>
          </a:xfrm>
          <a:prstGeom prst="rect">
            <a:avLst/>
          </a:prstGeom>
          <a:noFill/>
          <a:ln/>
        </p:spPr>
        <p:txBody>
          <a:bodyPr wrap="square" lIns="50800" tIns="50800" rIns="50800" bIns="50800" rtlCol="0" anchor="t"/>
          <a:lstStyle/>
          <a:p>
            <a:pPr algn="ctr" indent="0" marL="0">
              <a:spcBef>
                <a:spcPts val="800"/>
              </a:spcBef>
              <a:buNone/>
            </a:pPr>
            <a:r>
              <a:rPr lang="en-US" sz="2200" dirty="0">
                <a:solidFill>
                  <a:srgbClr val="000000"/>
                </a:solidFill>
                <a:latin typeface="Georgia" pitchFamily="34" charset="0"/>
                <a:ea typeface="Georgia" pitchFamily="34" charset="-122"/>
                <a:cs typeface="Georgia" pitchFamily="34" charset="-120"/>
              </a:rPr>
              <a:t>Head to head: terlipressin vs midodrine plus octreotide, both with albumin, type 1 HRS</a:t>
            </a:r>
            <a:endParaRPr lang="en-US" sz="2200" dirty="0"/>
          </a:p>
        </p:txBody>
      </p:sp>
      <p:sp>
        <p:nvSpPr>
          <p:cNvPr id="4" name="Question"/>
          <p:cNvSpPr txBox="1"/>
          <p:nvPr/>
        </p:nvSpPr>
        <p:spPr>
          <a:xfrm>
            <a:off x="822960" y="3291840"/>
            <a:ext cx="10545775" cy="548640"/>
          </a:xfrm>
          <a:prstGeom prst="rect">
            <a:avLst/>
          </a:prstGeom>
          <a:noFill/>
          <a:ln/>
        </p:spPr>
        <p:txBody>
          <a:bodyPr wrap="square" lIns="0" tIns="0" rIns="0" bIns="0" rtlCol="0" anchor="ctr"/>
          <a:lstStyle/>
          <a:p>
            <a:pPr algn="ctr" indent="0" marL="0">
              <a:buNone/>
            </a:pPr>
            <a:r>
              <a:rPr lang="en-US" sz="2800" b="1" dirty="0">
                <a:solidFill>
                  <a:srgbClr val="000000"/>
                </a:solidFill>
                <a:latin typeface="Georgia" pitchFamily="34" charset="0"/>
                <a:ea typeface="Georgia" pitchFamily="34" charset="-122"/>
                <a:cs typeface="Georgia" pitchFamily="34" charset="-120"/>
              </a:rPr>
              <a:t>How different can two vasoconstrictors be?</a:t>
            </a:r>
            <a:endParaRPr lang="en-US" sz="28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Midodrine and octreotide for HRS-AKI?</a:t>
            </a:r>
            <a:endParaRPr lang="en-US" sz="3000" dirty="0"/>
          </a:p>
        </p:txBody>
      </p:sp>
      <p:graphicFrame>
        <p:nvGraphicFramePr>
          <p:cNvPr id="3" name="Chart 0" descr=""/>
          <p:cNvGraphicFramePr/>
          <p:nvPr/>
        </p:nvGraphicFramePr>
        <p:xfrm>
          <a:off x="548640" y="1280160"/>
          <a:ext cx="6766560" cy="4846320"/>
        </p:xfrm>
        <a:graphic xmlns:a="http://schemas.openxmlformats.org/drawingml/2006/main">
          <a:graphicData uri="http://schemas.openxmlformats.org/drawingml/2006/chart">
            <c:chart xmlns:c="http://schemas.openxmlformats.org/drawingml/2006/chart" r:id="rId1"/>
          </a:graphicData>
        </a:graphic>
      </p:graphicFrame>
      <p:sp>
        <p:nvSpPr>
          <p:cNvPr id="4" name="Body"/>
          <p:cNvSpPr txBox="1"/>
          <p:nvPr/>
        </p:nvSpPr>
        <p:spPr>
          <a:xfrm>
            <a:off x="7589520" y="1371600"/>
            <a:ext cx="4206240" cy="4754880"/>
          </a:xfrm>
          <a:prstGeom prst="rect">
            <a:avLst/>
          </a:prstGeom>
          <a:noFill/>
          <a:ln/>
        </p:spPr>
        <p:txBody>
          <a:bodyPr wrap="square" lIns="50800" tIns="50800" rIns="50800" bIns="50800" rtlCol="0" anchor="t"/>
          <a:lstStyle/>
          <a:p>
            <a:pPr indent="0" marL="0">
              <a:spcBef>
                <a:spcPts val="1200"/>
              </a:spcBef>
              <a:buNone/>
            </a:pPr>
            <a:r>
              <a:rPr lang="en-US" sz="1900" b="1" dirty="0">
                <a:solidFill>
                  <a:srgbClr val="000000"/>
                </a:solidFill>
                <a:latin typeface="Georgia" pitchFamily="34" charset="0"/>
                <a:ea typeface="Georgia" pitchFamily="34" charset="-122"/>
                <a:cs typeface="Georgia" pitchFamily="34" charset="-120"/>
              </a:rPr>
              <a:t>Randomized, 8 Italian centers, type 1 HRS. 49 randomized (27 vs 22), 48 analyzed</a:t>
            </a:r>
            <a:endParaRPr lang="en-US" sz="1900" dirty="0"/>
          </a:p>
          <a:p>
            <a:pPr marL="228600" indent="-228600">
              <a:spcBef>
                <a:spcPts val="1200"/>
              </a:spcBef>
              <a:buSzPct val="100000"/>
              <a:buChar char="–"/>
            </a:pPr>
            <a:r>
              <a:rPr lang="en-US" sz="1900" dirty="0">
                <a:solidFill>
                  <a:srgbClr val="000000"/>
                </a:solidFill>
                <a:latin typeface="Georgia" pitchFamily="34" charset="0"/>
                <a:ea typeface="Georgia" pitchFamily="34" charset="-122"/>
                <a:cs typeface="Georgia" pitchFamily="34" charset="-120"/>
              </a:rPr>
              <a:t>Stopped early at the interim analysis because the difference was already clear</a:t>
            </a:r>
            <a:endParaRPr lang="en-US" sz="1900" dirty="0"/>
          </a:p>
          <a:p>
            <a:pPr marL="228600" indent="-228600">
              <a:spcBef>
                <a:spcPts val="1200"/>
              </a:spcBef>
              <a:buSzPct val="100000"/>
              <a:buChar char="–"/>
            </a:pPr>
            <a:r>
              <a:rPr lang="en-US" sz="1900" dirty="0">
                <a:solidFill>
                  <a:srgbClr val="000000"/>
                </a:solidFill>
                <a:latin typeface="Georgia" pitchFamily="34" charset="0"/>
                <a:ea typeface="Georgia" pitchFamily="34" charset="-122"/>
                <a:cs typeface="Georgia" pitchFamily="34" charset="-120"/>
              </a:rPr>
              <a:t>Blood pressure rose more with terlipressin</a:t>
            </a:r>
            <a:endParaRPr lang="en-US" sz="1900" dirty="0"/>
          </a:p>
          <a:p>
            <a:pPr marL="228600" indent="-228600">
              <a:spcBef>
                <a:spcPts val="1200"/>
              </a:spcBef>
              <a:buSzPct val="100000"/>
              <a:buChar char="–"/>
            </a:pPr>
            <a:r>
              <a:rPr lang="en-US" sz="1900" dirty="0">
                <a:solidFill>
                  <a:srgbClr val="000000"/>
                </a:solidFill>
                <a:latin typeface="Georgia" pitchFamily="34" charset="0"/>
                <a:ea typeface="Georgia" pitchFamily="34" charset="-122"/>
                <a:cs typeface="Georgia" pitchFamily="34" charset="-120"/>
              </a:rPr>
              <a:t>3-month survival 59% vs 43%; too small to tell</a:t>
            </a:r>
            <a:endParaRPr lang="en-US" sz="1900" dirty="0"/>
          </a:p>
          <a:p>
            <a:pPr marL="228600" indent="-228600">
              <a:spcBef>
                <a:spcPts val="1200"/>
              </a:spcBef>
              <a:buSzPct val="100000"/>
              <a:buChar char="–"/>
            </a:pPr>
            <a:r>
              <a:rPr lang="en-US" sz="1900" b="1" dirty="0">
                <a:solidFill>
                  <a:srgbClr val="000000"/>
                </a:solidFill>
                <a:highlight>
                  <a:srgbClr val="FFFF00"/>
                </a:highlight>
                <a:latin typeface="Georgia" pitchFamily="34" charset="0"/>
                <a:ea typeface="Georgia" pitchFamily="34" charset="-122"/>
                <a:cs typeface="Georgia" pitchFamily="34" charset="-120"/>
              </a:rPr>
              <a:t>Use it only if terlipressin and norepinephrine are not options</a:t>
            </a:r>
            <a:endParaRPr lang="en-US" sz="19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Cavallin M et al. Hepatology 2015;62:567-74 [PMID: 25644760]; ADQI-ICA 2024 [PMID: 38527522]</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What changed since yesterday?</a:t>
            </a:r>
            <a:endParaRPr lang="en-US" sz="3000" dirty="0"/>
          </a:p>
        </p:txBody>
      </p:sp>
      <p:graphicFrame>
        <p:nvGraphicFramePr>
          <p:cNvPr id="106" name="Table"/>
          <p:cNvGraphicFramePr>
            <a:graphicFrameLocks noGrp="1"/>
          </p:cNvGraphicFramePr>
          <p:nvPr>
            <p:extLst>
              <p:ext uri="{D42A27DB-BD31-4B8C-83A1-F6EECF244321}">
                <p14:modId xmlns:p14="http://schemas.microsoft.com/office/powerpoint/2010/main" val="1579011935"/>
              </p:ext>
            </p:extLst>
          </p:nvPr>
        </p:nvGraphicFramePr>
        <p:xfrm>
          <a:off x="640080" y="1188720"/>
          <a:ext cx="10911535" cy="914400"/>
        </p:xfrm>
        <a:graphic>
          <a:graphicData uri="http://schemas.openxmlformats.org/drawingml/2006/table">
            <a:tbl>
              <a:tblPr/>
              <a:tblGrid>
                <a:gridCol w="3044952"/>
                <a:gridCol w="1965960"/>
                <a:gridCol w="1965960"/>
                <a:gridCol w="1965960"/>
                <a:gridCol w="1965960"/>
              </a:tblGrid>
              <a:tr h="402336">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600" b="1" dirty="0">
                          <a:solidFill>
                            <a:srgbClr val="000000"/>
                          </a:solidFill>
                          <a:latin typeface="Calibri" pitchFamily="34" charset="0"/>
                          <a:ea typeface="Calibri" pitchFamily="34" charset="-122"/>
                          <a:cs typeface="Calibri" pitchFamily="34" charset="-120"/>
                        </a:rPr>
                        <a:t>Day 1</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600" b="1" dirty="0">
                          <a:solidFill>
                            <a:srgbClr val="000000"/>
                          </a:solidFill>
                          <a:latin typeface="Calibri" pitchFamily="34" charset="0"/>
                          <a:ea typeface="Calibri" pitchFamily="34" charset="-122"/>
                          <a:cs typeface="Calibri" pitchFamily="34" charset="-120"/>
                        </a:rPr>
                        <a:t>Day 2</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600" b="1" dirty="0">
                          <a:solidFill>
                            <a:srgbClr val="000000"/>
                          </a:solidFill>
                          <a:latin typeface="Calibri" pitchFamily="34" charset="0"/>
                          <a:ea typeface="Calibri" pitchFamily="34" charset="-122"/>
                          <a:cs typeface="Calibri" pitchFamily="34" charset="-120"/>
                        </a:rPr>
                        <a:t>Day 3</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600" b="1" dirty="0">
                          <a:solidFill>
                            <a:srgbClr val="000000"/>
                          </a:solidFill>
                          <a:latin typeface="Calibri" pitchFamily="34" charset="0"/>
                          <a:ea typeface="Calibri" pitchFamily="34" charset="-122"/>
                          <a:cs typeface="Calibri" pitchFamily="34" charset="-120"/>
                        </a:rPr>
                        <a:t>Day 5</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402336">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Norepinephrine (mcg/kg/min)</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0.15</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0.22</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0.12</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Off</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02336">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Oxygen, SpO2</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Venturi 0.35, 92%</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HFNC 0.6, 90%</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HFNC 0.4, 95%</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2 L, 97%</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02336">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Lung failure?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No (P/F 211)</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C00000"/>
                          </a:solidFill>
                          <a:latin typeface="Calibri" pitchFamily="34" charset="0"/>
                          <a:ea typeface="Calibri" pitchFamily="34" charset="-122"/>
                          <a:cs typeface="Calibri" pitchFamily="34" charset="-120"/>
                        </a:rPr>
                        <a:t>Yes (S/F 150)</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No (S/F 238)</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No</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02336">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Kidney</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Cr 2.6</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Cr 3.1</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CRRT for fluid</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On CRRT</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02336">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Encephalopathy</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Grade II</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Grade II</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Grade I</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Grade I</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02336">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Bilirubin / INR</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5.8 / 2.1</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6.4 / 2.3</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6.1 / 2.2</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5.2 / 2.0</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02336">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ACLF grade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C00000"/>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Question"/>
          <p:cNvSpPr txBox="1"/>
          <p:nvPr/>
        </p:nvSpPr>
        <p:spPr>
          <a:xfrm>
            <a:off x="822960" y="5166360"/>
            <a:ext cx="10545775" cy="548640"/>
          </a:xfrm>
          <a:prstGeom prst="rect">
            <a:avLst/>
          </a:prstGeom>
          <a:noFill/>
          <a:ln/>
        </p:spPr>
        <p:txBody>
          <a:bodyPr wrap="square" lIns="0" tIns="0" rIns="0" bIns="0" rtlCol="0" anchor="ctr"/>
          <a:lstStyle/>
          <a:p>
            <a:pPr algn="ctr" indent="0" marL="0">
              <a:buNone/>
            </a:pPr>
            <a:r>
              <a:rPr lang="en-US" sz="2400" b="1" dirty="0">
                <a:solidFill>
                  <a:srgbClr val="000000"/>
                </a:solidFill>
                <a:latin typeface="Georgia" pitchFamily="34" charset="0"/>
                <a:ea typeface="Georgia" pitchFamily="34" charset="-122"/>
                <a:cs typeface="Georgia" pitchFamily="34" charset="-120"/>
              </a:rPr>
              <a:t>Better or worse? What do you tell his family?</a:t>
            </a:r>
            <a:endParaRPr lang="en-US" sz="24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Made-up numbers for teaching. CLIF-C ACLF score [PMID: 24950482]; EASL ACLF 2023 [PMID: 37364789]</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What changed since yesterday?</a:t>
            </a:r>
            <a:endParaRPr lang="en-US" sz="3000" dirty="0"/>
          </a:p>
        </p:txBody>
      </p:sp>
      <p:graphicFrame>
        <p:nvGraphicFramePr>
          <p:cNvPr id="107" name="Table"/>
          <p:cNvGraphicFramePr>
            <a:graphicFrameLocks noGrp="1"/>
          </p:cNvGraphicFramePr>
          <p:nvPr>
            <p:extLst>
              <p:ext uri="{D42A27DB-BD31-4B8C-83A1-F6EECF244321}">
                <p14:modId xmlns:p14="http://schemas.microsoft.com/office/powerpoint/2010/main" val="1579011935"/>
              </p:ext>
            </p:extLst>
          </p:nvPr>
        </p:nvGraphicFramePr>
        <p:xfrm>
          <a:off x="640080" y="1188720"/>
          <a:ext cx="10911535" cy="914400"/>
        </p:xfrm>
        <a:graphic>
          <a:graphicData uri="http://schemas.openxmlformats.org/drawingml/2006/table">
            <a:tbl>
              <a:tblPr/>
              <a:tblGrid>
                <a:gridCol w="3044952"/>
                <a:gridCol w="1965960"/>
                <a:gridCol w="1965960"/>
                <a:gridCol w="1965960"/>
                <a:gridCol w="1965960"/>
              </a:tblGrid>
              <a:tr h="402336">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600" b="1" dirty="0">
                          <a:solidFill>
                            <a:srgbClr val="000000"/>
                          </a:solidFill>
                          <a:latin typeface="Calibri" pitchFamily="34" charset="0"/>
                          <a:ea typeface="Calibri" pitchFamily="34" charset="-122"/>
                          <a:cs typeface="Calibri" pitchFamily="34" charset="-120"/>
                        </a:rPr>
                        <a:t>Day 1</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600" b="1" dirty="0">
                          <a:solidFill>
                            <a:srgbClr val="000000"/>
                          </a:solidFill>
                          <a:latin typeface="Calibri" pitchFamily="34" charset="0"/>
                          <a:ea typeface="Calibri" pitchFamily="34" charset="-122"/>
                          <a:cs typeface="Calibri" pitchFamily="34" charset="-120"/>
                        </a:rPr>
                        <a:t>Day 2</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600" b="1" dirty="0">
                          <a:solidFill>
                            <a:srgbClr val="000000"/>
                          </a:solidFill>
                          <a:latin typeface="Calibri" pitchFamily="34" charset="0"/>
                          <a:ea typeface="Calibri" pitchFamily="34" charset="-122"/>
                          <a:cs typeface="Calibri" pitchFamily="34" charset="-120"/>
                        </a:rPr>
                        <a:t>Day 3</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ctr" indent="0" marL="0">
                        <a:buNone/>
                      </a:pPr>
                      <a:r>
                        <a:rPr lang="en-US" sz="1600" b="1" dirty="0">
                          <a:solidFill>
                            <a:srgbClr val="000000"/>
                          </a:solidFill>
                          <a:latin typeface="Calibri" pitchFamily="34" charset="0"/>
                          <a:ea typeface="Calibri" pitchFamily="34" charset="-122"/>
                          <a:cs typeface="Calibri" pitchFamily="34" charset="-120"/>
                        </a:rPr>
                        <a:t>Day 5</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402336">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Norepinephrine (mcg/kg/min)</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0.15</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0.22</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0.12</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Off</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02336">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Oxygen, SpO2</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Venturi 0.35, 92%</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HFNC 0.6, 90%</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HFNC 0.4, 95%</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2 L, 97%</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02336">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Lung failure?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No (P/F 211)</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C00000"/>
                          </a:solidFill>
                          <a:latin typeface="Calibri" pitchFamily="34" charset="0"/>
                          <a:ea typeface="Calibri" pitchFamily="34" charset="-122"/>
                          <a:cs typeface="Calibri" pitchFamily="34" charset="-120"/>
                        </a:rPr>
                        <a:t>Yes (S/F 150)</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No (S/F 238)</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No</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02336">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Kidney</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Cr 2.6</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Cr 3.1</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CRRT for fluid</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On CRRT</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02336">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Encephalopathy</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Grade II</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Grade II</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Grade I</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Grade I</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02336">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Bilirubin / INR</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5.8 / 2.1</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6.4 / 2.3</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6.1 / 2.2</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5.2 / 2.0</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402336">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ACLF grade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C00000"/>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00000"/>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000000"/>
                          </a:solidFill>
                          <a:highlight>
                            <a:srgbClr val="FFFF00"/>
                          </a:highlight>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Body"/>
          <p:cNvSpPr txBox="1"/>
          <p:nvPr/>
        </p:nvSpPr>
        <p:spPr>
          <a:xfrm>
            <a:off x="822960" y="4572000"/>
            <a:ext cx="10545775" cy="1737360"/>
          </a:xfrm>
          <a:prstGeom prst="rect">
            <a:avLst/>
          </a:prstGeom>
          <a:noFill/>
          <a:ln/>
        </p:spPr>
        <p:txBody>
          <a:bodyPr wrap="square" lIns="50800" tIns="50800" rIns="50800" bIns="50800" rtlCol="0" anchor="t"/>
          <a:lstStyle/>
          <a:p>
            <a:pPr marL="228600" indent="-228600">
              <a:spcBef>
                <a:spcPts val="200"/>
              </a:spcBef>
              <a:buSzPct val="100000"/>
              <a:buChar char="–"/>
            </a:pPr>
            <a:r>
              <a:rPr lang="en-US" sz="1600" dirty="0">
                <a:solidFill>
                  <a:srgbClr val="000000"/>
                </a:solidFill>
                <a:latin typeface="Georgia" pitchFamily="34" charset="0"/>
                <a:ea typeface="Georgia" pitchFamily="34" charset="-122"/>
                <a:cs typeface="Georgia" pitchFamily="34" charset="-120"/>
              </a:rPr>
              <a:t>The grade at days 3 to 7 predicts outcome better than the grade at admission</a:t>
            </a:r>
            <a:endParaRPr lang="en-US" sz="1600" dirty="0"/>
          </a:p>
          <a:p>
            <a:pPr marL="228600" indent="-228600">
              <a:spcBef>
                <a:spcPts val="200"/>
              </a:spcBef>
              <a:buSzPct val="100000"/>
              <a:buChar char="–"/>
            </a:pPr>
            <a:r>
              <a:rPr lang="en-US" sz="1600" dirty="0">
                <a:solidFill>
                  <a:srgbClr val="000000"/>
                </a:solidFill>
                <a:latin typeface="Georgia" pitchFamily="34" charset="0"/>
                <a:ea typeface="Georgia" pitchFamily="34" charset="-122"/>
                <a:cs typeface="Georgia" pitchFamily="34" charset="-120"/>
              </a:rPr>
              <a:t>Persistent ACLF 3 at days 3 to 7, especially with four or more organ failures, has a very high mortality without transplant</a:t>
            </a:r>
            <a:endParaRPr lang="en-US" sz="1600" dirty="0"/>
          </a:p>
          <a:p>
            <a:pPr marL="228600" indent="-228600">
              <a:spcBef>
                <a:spcPts val="200"/>
              </a:spcBef>
              <a:buSzPct val="100000"/>
              <a:buChar char="–"/>
            </a:pPr>
            <a:r>
              <a:rPr lang="en-US" sz="1600" dirty="0">
                <a:solidFill>
                  <a:srgbClr val="000000"/>
                </a:solidFill>
                <a:latin typeface="Georgia" pitchFamily="34" charset="0"/>
                <a:ea typeface="Georgia" pitchFamily="34" charset="-122"/>
                <a:cs typeface="Georgia" pitchFamily="34" charset="-120"/>
              </a:rPr>
              <a:t>If he is not a transplant candidate, discuss goals of care with the family and involve palliative care</a:t>
            </a:r>
            <a:endParaRPr lang="en-US" sz="16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Made-up numbers for teaching. CLIF-C ACLF score [PMID: 24950482]; EASL ACLF 2023 [PMID: 37364789]</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pic>
        <p:nvPicPr>
          <p:cNvPr id="2" name="Image 0" descr="Watercolor of a donor liver in an organ bag on ice in a transport cooler">    </p:cNvPr>
          <p:cNvPicPr>
            <a:picLocks noChangeAspect="1"/>
          </p:cNvPicPr>
          <p:nvPr/>
        </p:nvPicPr>
        <p:blipFill>
          <a:blip r:embed="rId1"/>
          <a:stretch>
            <a:fillRect/>
          </a:stretch>
        </p:blipFill>
        <p:spPr>
          <a:xfrm>
            <a:off x="-45720" y="0"/>
            <a:ext cx="12280392" cy="6858000"/>
          </a:xfrm>
          <a:prstGeom prst="rect">
            <a:avLst/>
          </a:prstGeom>
        </p:spPr>
      </p:pic>
      <p:sp>
        <p:nvSpPr>
          <p:cNvPr id="3" name="Text 0"/>
          <p:cNvSpPr txBox="1"/>
          <p:nvPr/>
        </p:nvSpPr>
        <p:spPr>
          <a:xfrm>
            <a:off x="548640" y="1417320"/>
            <a:ext cx="5212080" cy="2011680"/>
          </a:xfrm>
          <a:prstGeom prst="rect">
            <a:avLst/>
          </a:prstGeom>
          <a:noFill/>
          <a:ln/>
        </p:spPr>
        <p:txBody>
          <a:bodyPr wrap="square" lIns="0" tIns="0" rIns="0" bIns="0" rtlCol="0" anchor="b"/>
          <a:lstStyle/>
          <a:p>
            <a:pPr algn="ctr" indent="0" marL="0">
              <a:buNone/>
            </a:pPr>
            <a:r>
              <a:rPr lang="en-US" sz="4800" dirty="0">
                <a:solidFill>
                  <a:srgbClr val="000000"/>
                </a:solidFill>
                <a:latin typeface="Georgia" pitchFamily="34" charset="0"/>
                <a:ea typeface="Georgia" pitchFamily="34" charset="-122"/>
                <a:cs typeface="Georgia" pitchFamily="34" charset="-120"/>
              </a:rPr>
              <a:t>Who gets a liver?</a:t>
            </a:r>
            <a:endParaRPr lang="en-US" sz="4800" dirty="0"/>
          </a:p>
        </p:txBody>
      </p:sp>
      <p:sp>
        <p:nvSpPr>
          <p:cNvPr id="4" name="Text 1"/>
          <p:cNvSpPr txBox="1"/>
          <p:nvPr/>
        </p:nvSpPr>
        <p:spPr>
          <a:xfrm>
            <a:off x="548640" y="3429000"/>
            <a:ext cx="5212080" cy="548640"/>
          </a:xfrm>
          <a:prstGeom prst="rect">
            <a:avLst/>
          </a:prstGeom>
          <a:noFill/>
          <a:ln/>
        </p:spPr>
        <p:txBody>
          <a:bodyPr wrap="square" lIns="0" tIns="0" rIns="0" bIns="0" rtlCol="0" anchor="ctr"/>
          <a:lstStyle/>
          <a:p>
            <a:pPr algn="ctr" indent="0" marL="0">
              <a:buNone/>
            </a:pPr>
            <a:r>
              <a:rPr lang="en-US" sz="2400" dirty="0">
                <a:solidFill>
                  <a:srgbClr val="595959"/>
                </a:solidFill>
                <a:latin typeface="Georgia" pitchFamily="34" charset="0"/>
                <a:ea typeface="Georgia" pitchFamily="34" charset="-122"/>
                <a:cs typeface="Georgia" pitchFamily="34" charset="-120"/>
              </a:rPr>
              <a:t>Transplant in ACLF</a:t>
            </a:r>
            <a:endParaRPr lang="en-US" sz="24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Too sick for a transplant, or sick enough to need one?</a:t>
            </a:r>
            <a:endParaRPr lang="en-US" sz="3000" dirty="0"/>
          </a:p>
        </p:txBody>
      </p:sp>
      <p:sp>
        <p:nvSpPr>
          <p:cNvPr id="3" name="Question"/>
          <p:cNvSpPr txBox="1"/>
          <p:nvPr/>
        </p:nvSpPr>
        <p:spPr>
          <a:xfrm>
            <a:off x="822960" y="2926080"/>
            <a:ext cx="10545775" cy="548640"/>
          </a:xfrm>
          <a:prstGeom prst="rect">
            <a:avLst/>
          </a:prstGeom>
          <a:noFill/>
          <a:ln/>
        </p:spPr>
        <p:txBody>
          <a:bodyPr wrap="square" lIns="0" tIns="0" rIns="0" bIns="0" rtlCol="0" anchor="ctr"/>
          <a:lstStyle/>
          <a:p>
            <a:pPr algn="ctr" indent="0" marL="0">
              <a:buNone/>
            </a:pPr>
            <a:r>
              <a:rPr lang="en-US" sz="2800" b="1" dirty="0">
                <a:solidFill>
                  <a:srgbClr val="000000"/>
                </a:solidFill>
                <a:latin typeface="Georgia" pitchFamily="34" charset="0"/>
                <a:ea typeface="Georgia" pitchFamily="34" charset="-122"/>
                <a:cs typeface="Georgia" pitchFamily="34" charset="-120"/>
              </a:rPr>
              <a:t>Ventilator, pressors, CRRT, ACLF 3. Is he too sick?</a:t>
            </a:r>
            <a:endParaRPr lang="en-US" sz="28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Too sick for a transplant, or sick enough to need one?</a:t>
            </a:r>
            <a:endParaRPr lang="en-US" sz="3000" dirty="0"/>
          </a:p>
        </p:txBody>
      </p:sp>
      <p:sp>
        <p:nvSpPr>
          <p:cNvPr id="3" name="Body"/>
          <p:cNvSpPr txBox="1"/>
          <p:nvPr/>
        </p:nvSpPr>
        <p:spPr>
          <a:xfrm>
            <a:off x="548640" y="1280160"/>
            <a:ext cx="6309360" cy="4937760"/>
          </a:xfrm>
          <a:prstGeom prst="rect">
            <a:avLst/>
          </a:prstGeom>
          <a:noFill/>
          <a:ln/>
        </p:spPr>
        <p:txBody>
          <a:bodyPr wrap="square" lIns="50800" tIns="50800" rIns="50800" bIns="50800" rtlCol="0" anchor="t"/>
          <a:lstStyle/>
          <a:p>
            <a:pPr marL="228600" indent="-228600">
              <a:spcBef>
                <a:spcPts val="800"/>
              </a:spcBef>
              <a:buSzPct val="100000"/>
              <a:buChar char="–"/>
            </a:pPr>
            <a:r>
              <a:rPr lang="en-US" sz="1800" dirty="0">
                <a:solidFill>
                  <a:srgbClr val="000000"/>
                </a:solidFill>
                <a:latin typeface="Georgia" pitchFamily="34" charset="0"/>
                <a:ea typeface="Georgia" pitchFamily="34" charset="-122"/>
                <a:cs typeface="Georgia" pitchFamily="34" charset="-120"/>
              </a:rPr>
              <a:t>A ventilator, pressors or dialysis do not by themselves exclude transplant</a:t>
            </a:r>
            <a:endParaRPr lang="en-US" sz="1800" dirty="0"/>
          </a:p>
          <a:p>
            <a:pPr marL="228600" indent="-228600">
              <a:spcBef>
                <a:spcPts val="800"/>
              </a:spcBef>
              <a:buSzPct val="100000"/>
              <a:buChar char="–"/>
            </a:pPr>
            <a:r>
              <a:rPr lang="en-US" sz="1800" dirty="0">
                <a:solidFill>
                  <a:srgbClr val="000000"/>
                </a:solidFill>
                <a:latin typeface="Georgia" pitchFamily="34" charset="0"/>
                <a:ea typeface="Georgia" pitchFamily="34" charset="-122"/>
                <a:cs typeface="Georgia" pitchFamily="34" charset="-120"/>
              </a:rPr>
              <a:t>Selected patients with ACLF grade 3 do well after transplant. The window is short</a:t>
            </a:r>
            <a:endParaRPr lang="en-US" sz="1800" dirty="0"/>
          </a:p>
          <a:p>
            <a:pPr indent="0" marL="0">
              <a:spcBef>
                <a:spcPts val="1600"/>
              </a:spcBef>
              <a:buNone/>
            </a:pPr>
            <a:r>
              <a:rPr lang="en-US" sz="1800" b="1" dirty="0">
                <a:solidFill>
                  <a:srgbClr val="000000"/>
                </a:solidFill>
                <a:latin typeface="Georgia" pitchFamily="34" charset="0"/>
                <a:ea typeface="Georgia" pitchFamily="34" charset="-122"/>
                <a:cs typeface="Georgia" pitchFamily="34" charset="-120"/>
              </a:rPr>
              <a:t>What can close the window</a:t>
            </a:r>
            <a:endParaRPr lang="en-US" sz="1800" dirty="0"/>
          </a:p>
          <a:p>
            <a:pPr marL="228600" indent="-228600">
              <a:spcBef>
                <a:spcPts val="800"/>
              </a:spcBef>
              <a:buSzPct val="100000"/>
              <a:buChar char="–"/>
            </a:pPr>
            <a:r>
              <a:rPr lang="en-US" sz="1800" dirty="0">
                <a:solidFill>
                  <a:srgbClr val="000000"/>
                </a:solidFill>
                <a:latin typeface="Georgia" pitchFamily="34" charset="0"/>
                <a:ea typeface="Georgia" pitchFamily="34" charset="-122"/>
                <a:cs typeface="Georgia" pitchFamily="34" charset="-120"/>
              </a:rPr>
              <a:t>Uncontrolled infection</a:t>
            </a:r>
            <a:endParaRPr lang="en-US" sz="1800" dirty="0"/>
          </a:p>
          <a:p>
            <a:pPr marL="228600" indent="-228600">
              <a:spcBef>
                <a:spcPts val="800"/>
              </a:spcBef>
              <a:buSzPct val="100000"/>
              <a:buChar char="–"/>
            </a:pPr>
            <a:r>
              <a:rPr lang="en-US" sz="1800" dirty="0">
                <a:solidFill>
                  <a:srgbClr val="000000"/>
                </a:solidFill>
                <a:latin typeface="Georgia" pitchFamily="34" charset="0"/>
                <a:ea typeface="Georgia" pitchFamily="34" charset="-122"/>
                <a:cs typeface="Georgia" pitchFamily="34" charset="-120"/>
              </a:rPr>
              <a:t>Rising vasopressor needs, severe respiratory failure</a:t>
            </a:r>
            <a:endParaRPr lang="en-US" sz="1800" dirty="0"/>
          </a:p>
          <a:p>
            <a:pPr marL="228600" indent="-228600">
              <a:spcBef>
                <a:spcPts val="800"/>
              </a:spcBef>
              <a:buSzPct val="100000"/>
              <a:buChar char="–"/>
            </a:pPr>
            <a:r>
              <a:rPr lang="en-US" sz="1800" dirty="0">
                <a:solidFill>
                  <a:srgbClr val="000000"/>
                </a:solidFill>
                <a:latin typeface="Georgia" pitchFamily="34" charset="0"/>
                <a:ea typeface="Georgia" pitchFamily="34" charset="-122"/>
                <a:cs typeface="Georgia" pitchFamily="34" charset="-120"/>
              </a:rPr>
              <a:t>Irreversible brain injury</a:t>
            </a:r>
            <a:endParaRPr lang="en-US" sz="1800" dirty="0"/>
          </a:p>
          <a:p>
            <a:pPr marL="228600" indent="-228600">
              <a:spcBef>
                <a:spcPts val="800"/>
              </a:spcBef>
              <a:buSzPct val="100000"/>
              <a:buChar char="–"/>
            </a:pPr>
            <a:r>
              <a:rPr lang="en-US" sz="1800" dirty="0">
                <a:solidFill>
                  <a:srgbClr val="000000"/>
                </a:solidFill>
                <a:latin typeface="Georgia" pitchFamily="34" charset="0"/>
                <a:ea typeface="Georgia" pitchFamily="34" charset="-122"/>
                <a:cs typeface="Georgia" pitchFamily="34" charset="-120"/>
              </a:rPr>
              <a:t>Frailty and comorbidity</a:t>
            </a:r>
            <a:endParaRPr lang="en-US" sz="1800" dirty="0"/>
          </a:p>
          <a:p>
            <a:pPr marL="228600" indent="-228600">
              <a:spcBef>
                <a:spcPts val="800"/>
              </a:spcBef>
              <a:buSzPct val="100000"/>
              <a:buChar char="–"/>
            </a:pPr>
            <a:r>
              <a:rPr lang="en-US" sz="1800" dirty="0">
                <a:solidFill>
                  <a:srgbClr val="000000"/>
                </a:solidFill>
                <a:latin typeface="Georgia" pitchFamily="34" charset="0"/>
                <a:ea typeface="Georgia" pitchFamily="34" charset="-122"/>
                <a:cs typeface="Georgia" pitchFamily="34" charset="-120"/>
              </a:rPr>
              <a:t>Alcohol: centers now evaluate individually rather than by a fixed abstinence rule</a:t>
            </a:r>
            <a:endParaRPr lang="en-US" sz="1800" dirty="0"/>
          </a:p>
        </p:txBody>
      </p:sp>
      <p:pic>
        <p:nvPicPr>
          <p:cNvPr id="4" name="Image 0" descr="Artru 2017: title">    </p:cNvPr>
          <p:cNvPicPr>
            <a:picLocks noChangeAspect="1"/>
          </p:cNvPicPr>
          <p:nvPr/>
        </p:nvPicPr>
        <p:blipFill>
          <a:blip r:embed="rId1"/>
          <a:stretch>
            <a:fillRect/>
          </a:stretch>
        </p:blipFill>
        <p:spPr>
          <a:xfrm>
            <a:off x="7040880" y="1188720"/>
            <a:ext cx="4663440" cy="1236732"/>
          </a:xfrm>
          <a:prstGeom prst="rect">
            <a:avLst/>
          </a:prstGeom>
        </p:spPr>
      </p:pic>
      <p:pic>
        <p:nvPicPr>
          <p:cNvPr id="5" name="Image 1" descr="One-year survival, transplanted ACLF 3 vs non-transplanted controls">    </p:cNvPr>
          <p:cNvPicPr>
            <a:picLocks noChangeAspect="1"/>
          </p:cNvPicPr>
          <p:nvPr/>
        </p:nvPicPr>
        <p:blipFill>
          <a:blip r:embed="rId2"/>
          <a:stretch>
            <a:fillRect/>
          </a:stretch>
        </p:blipFill>
        <p:spPr>
          <a:xfrm>
            <a:off x="7102213" y="2562612"/>
            <a:ext cx="4540774" cy="3198108"/>
          </a:xfrm>
          <a:prstGeom prst="rect">
            <a:avLst/>
          </a:prstGeom>
        </p:spPr>
      </p:pic>
      <p:sp>
        <p:nvSpPr>
          <p:cNvPr id="6" name="Body"/>
          <p:cNvSpPr txBox="1"/>
          <p:nvPr/>
        </p:nvSpPr>
        <p:spPr>
          <a:xfrm>
            <a:off x="7040880" y="5806440"/>
            <a:ext cx="4663440" cy="411480"/>
          </a:xfrm>
          <a:prstGeom prst="rect">
            <a:avLst/>
          </a:prstGeom>
          <a:noFill/>
          <a:ln/>
        </p:spPr>
        <p:txBody>
          <a:bodyPr wrap="square" lIns="50800" tIns="50800" rIns="50800" bIns="50800" rtlCol="0" anchor="t"/>
          <a:lstStyle/>
          <a:p>
            <a:pPr algn="ctr" indent="0" marL="0">
              <a:spcBef>
                <a:spcPts val="800"/>
              </a:spcBef>
              <a:buNone/>
            </a:pPr>
            <a:r>
              <a:rPr lang="en-US" sz="1600" i="1" dirty="0">
                <a:solidFill>
                  <a:srgbClr val="000000"/>
                </a:solidFill>
                <a:latin typeface="Georgia" pitchFamily="34" charset="0"/>
                <a:ea typeface="Georgia" pitchFamily="34" charset="-122"/>
                <a:cs typeface="Georgia" pitchFamily="34" charset="-120"/>
              </a:rPr>
              <a:t>Selected patients, not randomized</a:t>
            </a:r>
            <a:endParaRPr lang="en-US" sz="1600" dirty="0"/>
          </a:p>
        </p:txBody>
      </p:sp>
      <p:sp>
        <p:nvSpPr>
          <p:cNvPr id="7"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Artru F et al. J Hepatol 2017 [PMID: 28645736]; Lancet Gastroenterol Hepatol 2024 [PMID: 38309288]; AASLD/AST 2026 [PMID: 41405234]</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Calling transplant hepatology</a:t>
            </a:r>
            <a:endParaRPr lang="en-US" sz="3000" dirty="0"/>
          </a:p>
        </p:txBody>
      </p:sp>
      <p:graphicFrame>
        <p:nvGraphicFramePr>
          <p:cNvPr id="111" name="Table"/>
          <p:cNvGraphicFramePr>
            <a:graphicFrameLocks noGrp="1"/>
          </p:cNvGraphicFramePr>
          <p:nvPr>
            <p:extLst>
              <p:ext uri="{D42A27DB-BD31-4B8C-83A1-F6EECF244321}">
                <p14:modId xmlns:p14="http://schemas.microsoft.com/office/powerpoint/2010/main" val="1579011935"/>
              </p:ext>
            </p:extLst>
          </p:nvPr>
        </p:nvGraphicFramePr>
        <p:xfrm>
          <a:off x="822960" y="1965960"/>
          <a:ext cx="10545775" cy="914400"/>
        </p:xfrm>
        <a:graphic>
          <a:graphicData uri="http://schemas.openxmlformats.org/drawingml/2006/table">
            <a:tbl>
              <a:tblPr/>
              <a:tblGrid>
                <a:gridCol w="5266944"/>
                <a:gridCol w="5276088"/>
              </a:tblGrid>
              <a:tr h="457200">
                <a:tc>
                  <a:txBody>
                    <a:bodyPr/>
                    <a:lstStyle/>
                    <a:p>
                      <a:pPr algn="l" indent="0" marL="0">
                        <a:buNone/>
                      </a:pPr>
                      <a:r>
                        <a:rPr lang="en-US" sz="1800" b="1" dirty="0">
                          <a:solidFill>
                            <a:srgbClr val="000000"/>
                          </a:solidFill>
                          <a:latin typeface="Calibri" pitchFamily="34" charset="0"/>
                          <a:ea typeface="Calibri" pitchFamily="34" charset="-122"/>
                          <a:cs typeface="Calibri" pitchFamily="34" charset="-120"/>
                        </a:rPr>
                        <a:t>Patient A (ALF)</a:t>
                      </a:r>
                      <a:endParaRPr lang="en-US" sz="1800" dirty="0">
                        <a:latin typeface="Calibri" charset="0"/>
                        <a:ea typeface="Calibri" charset="0"/>
                        <a:cs typeface="Calibri" charset="0"/>
                      </a:endParaRPr>
                    </a:p>
                  </a:txBody>
                  <a:tcPr marL="76200" marR="76200" marT="38100" marB="3810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800" b="1" dirty="0">
                          <a:solidFill>
                            <a:srgbClr val="000000"/>
                          </a:solidFill>
                          <a:latin typeface="Calibri" pitchFamily="34" charset="0"/>
                          <a:ea typeface="Calibri" pitchFamily="34" charset="-122"/>
                          <a:cs typeface="Calibri" pitchFamily="34" charset="-120"/>
                        </a:rPr>
                        <a:t>Patient B (ACLF)</a:t>
                      </a:r>
                      <a:endParaRPr lang="en-US" sz="1800" dirty="0">
                        <a:latin typeface="Calibri" charset="0"/>
                        <a:ea typeface="Calibri" charset="0"/>
                        <a:cs typeface="Calibri" charset="0"/>
                      </a:endParaRPr>
                    </a:p>
                  </a:txBody>
                  <a:tcPr marL="76200" marR="76200" marT="38100" marB="3810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2743200">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Cause and time course (days from jaundice to encephalopathy)</a:t>
                      </a:r>
                      <a:endParaRPr lang="en-US" sz="1800" dirty="0">
                        <a:latin typeface="Calibri" charset="0"/>
                        <a:ea typeface="Calibri" charset="0"/>
                        <a:cs typeface="Calibri" charset="0"/>
                      </a:endParaRPr>
                    </a:p>
                    <a:p>
                      <a:pPr algn="l" indent="0" marL="0">
                        <a:buNone/>
                      </a:pPr>
                      <a:r>
                        <a:rPr lang="en-US" sz="1800" dirty="0">
                          <a:solidFill>
                            <a:srgbClr val="000000"/>
                          </a:solidFill>
                          <a:latin typeface="Calibri" pitchFamily="34" charset="0"/>
                          <a:ea typeface="Calibri" pitchFamily="34" charset="-122"/>
                          <a:cs typeface="Calibri" pitchFamily="34" charset="-120"/>
                        </a:rPr>
                        <a:t>Encephalopathy grade, pupils, sedation</a:t>
                      </a:r>
                      <a:endParaRPr lang="en-US" sz="1800" dirty="0">
                        <a:latin typeface="Calibri" charset="0"/>
                        <a:ea typeface="Calibri" charset="0"/>
                        <a:cs typeface="Calibri" charset="0"/>
                      </a:endParaRPr>
                    </a:p>
                    <a:p>
                      <a:pPr algn="l" indent="0" marL="0">
                        <a:buNone/>
                      </a:pPr>
                      <a:r>
                        <a:rPr lang="en-US" sz="1800" dirty="0">
                          <a:solidFill>
                            <a:srgbClr val="000000"/>
                          </a:solidFill>
                          <a:latin typeface="Calibri" pitchFamily="34" charset="0"/>
                          <a:ea typeface="Calibri" pitchFamily="34" charset="-122"/>
                          <a:cs typeface="Calibri" pitchFamily="34" charset="-120"/>
                        </a:rPr>
                        <a:t>Airway and ventilator settings</a:t>
                      </a:r>
                      <a:endParaRPr lang="en-US" sz="1800" dirty="0">
                        <a:latin typeface="Calibri" charset="0"/>
                        <a:ea typeface="Calibri" charset="0"/>
                        <a:cs typeface="Calibri" charset="0"/>
                      </a:endParaRPr>
                    </a:p>
                    <a:p>
                      <a:pPr algn="l" indent="0" marL="0">
                        <a:buNone/>
                      </a:pPr>
                      <a:r>
                        <a:rPr lang="en-US" sz="1800" dirty="0">
                          <a:solidFill>
                            <a:srgbClr val="000000"/>
                          </a:solidFill>
                          <a:latin typeface="Calibri" pitchFamily="34" charset="0"/>
                          <a:ea typeface="Calibri" pitchFamily="34" charset="-122"/>
                          <a:cs typeface="Calibri" pitchFamily="34" charset="-120"/>
                        </a:rPr>
                        <a:t>Ammonia, sodium, CRRT</a:t>
                      </a:r>
                      <a:endParaRPr lang="en-US" sz="1800" dirty="0">
                        <a:latin typeface="Calibri" charset="0"/>
                        <a:ea typeface="Calibri" charset="0"/>
                        <a:cs typeface="Calibri" charset="0"/>
                      </a:endParaRPr>
                    </a:p>
                    <a:p>
                      <a:pPr algn="l" indent="0" marL="0">
                        <a:buNone/>
                      </a:pPr>
                      <a:r>
                        <a:rPr lang="en-US" sz="1800" dirty="0">
                          <a:solidFill>
                            <a:srgbClr val="000000"/>
                          </a:solidFill>
                          <a:latin typeface="Calibri" pitchFamily="34" charset="0"/>
                          <a:ea typeface="Calibri" pitchFamily="34" charset="-122"/>
                          <a:cs typeface="Calibri" pitchFamily="34" charset="-120"/>
                        </a:rPr>
                        <a:t>INR, lactate, pH, glucose trends</a:t>
                      </a:r>
                      <a:endParaRPr lang="en-US" sz="1800" dirty="0">
                        <a:latin typeface="Calibri" charset="0"/>
                        <a:ea typeface="Calibri" charset="0"/>
                        <a:cs typeface="Calibri" charset="0"/>
                      </a:endParaRPr>
                    </a:p>
                    <a:p>
                      <a:pPr algn="l" indent="0" marL="0">
                        <a:buNone/>
                      </a:pPr>
                      <a:r>
                        <a:rPr lang="en-US" sz="1800" dirty="0">
                          <a:solidFill>
                            <a:srgbClr val="000000"/>
                          </a:solidFill>
                          <a:latin typeface="Calibri" pitchFamily="34" charset="0"/>
                          <a:ea typeface="Calibri" pitchFamily="34" charset="-122"/>
                          <a:cs typeface="Calibri" pitchFamily="34" charset="-120"/>
                        </a:rPr>
                        <a:t>Pressors, infection</a:t>
                      </a:r>
                      <a:endParaRPr lang="en-US" sz="1800" dirty="0">
                        <a:latin typeface="Calibri" charset="0"/>
                        <a:ea typeface="Calibri" charset="0"/>
                        <a:cs typeface="Calibri" charset="0"/>
                      </a:endParaRPr>
                    </a:p>
                    <a:p>
                      <a:pPr algn="l" indent="0" marL="0">
                        <a:buNone/>
                      </a:pPr>
                      <a:r>
                        <a:rPr lang="en-US" sz="1800" dirty="0">
                          <a:solidFill>
                            <a:srgbClr val="000000"/>
                          </a:solidFill>
                          <a:latin typeface="Calibri" pitchFamily="34" charset="0"/>
                          <a:ea typeface="Calibri" pitchFamily="34" charset="-122"/>
                          <a:cs typeface="Calibri" pitchFamily="34" charset="-120"/>
                        </a:rPr>
                        <a:t>Social support, intent of ingestion</a:t>
                      </a:r>
                      <a:endParaRPr lang="en-US" sz="1800" dirty="0">
                        <a:latin typeface="Calibri" charset="0"/>
                        <a:ea typeface="Calibri" charset="0"/>
                        <a:cs typeface="Calibri" charset="0"/>
                      </a:endParaRPr>
                    </a:p>
                  </a:txBody>
                  <a:tcPr marL="76200" marR="76200" marT="38100" marB="3810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Cause of cirrhosis, recent alcohol use</a:t>
                      </a:r>
                      <a:endParaRPr lang="en-US" sz="1800" dirty="0">
                        <a:latin typeface="Calibri" charset="0"/>
                        <a:ea typeface="Calibri" charset="0"/>
                        <a:cs typeface="Calibri" charset="0"/>
                      </a:endParaRPr>
                    </a:p>
                    <a:p>
                      <a:pPr algn="l" indent="0" marL="0">
                        <a:buNone/>
                      </a:pPr>
                      <a:r>
                        <a:rPr lang="en-US" sz="1800" dirty="0">
                          <a:solidFill>
                            <a:srgbClr val="000000"/>
                          </a:solidFill>
                          <a:latin typeface="Calibri" pitchFamily="34" charset="0"/>
                          <a:ea typeface="Calibri" pitchFamily="34" charset="-122"/>
                          <a:cs typeface="Calibri" pitchFamily="34" charset="-120"/>
                        </a:rPr>
                        <a:t>Precipitant and source control</a:t>
                      </a:r>
                      <a:endParaRPr lang="en-US" sz="1800" dirty="0">
                        <a:latin typeface="Calibri" charset="0"/>
                        <a:ea typeface="Calibri" charset="0"/>
                        <a:cs typeface="Calibri" charset="0"/>
                      </a:endParaRPr>
                    </a:p>
                    <a:p>
                      <a:pPr algn="l" indent="0" marL="0">
                        <a:buNone/>
                      </a:pPr>
                      <a:r>
                        <a:rPr lang="en-US" sz="1800" dirty="0">
                          <a:solidFill>
                            <a:srgbClr val="000000"/>
                          </a:solidFill>
                          <a:latin typeface="Calibri" pitchFamily="34" charset="0"/>
                          <a:ea typeface="Calibri" pitchFamily="34" charset="-122"/>
                          <a:cs typeface="Calibri" pitchFamily="34" charset="-120"/>
                        </a:rPr>
                        <a:t>Organ failures today and yesterday</a:t>
                      </a:r>
                      <a:endParaRPr lang="en-US" sz="1800" dirty="0">
                        <a:latin typeface="Calibri" charset="0"/>
                        <a:ea typeface="Calibri" charset="0"/>
                        <a:cs typeface="Calibri" charset="0"/>
                      </a:endParaRPr>
                    </a:p>
                    <a:p>
                      <a:pPr algn="l" indent="0" marL="0">
                        <a:buNone/>
                      </a:pPr>
                      <a:r>
                        <a:rPr lang="en-US" sz="1800" dirty="0">
                          <a:solidFill>
                            <a:srgbClr val="000000"/>
                          </a:solidFill>
                          <a:latin typeface="Calibri" pitchFamily="34" charset="0"/>
                          <a:ea typeface="Calibri" pitchFamily="34" charset="-122"/>
                          <a:cs typeface="Calibri" pitchFamily="34" charset="-120"/>
                        </a:rPr>
                        <a:t>Pressor dose, oxygen, RRT</a:t>
                      </a:r>
                      <a:endParaRPr lang="en-US" sz="1800" dirty="0">
                        <a:latin typeface="Calibri" charset="0"/>
                        <a:ea typeface="Calibri" charset="0"/>
                        <a:cs typeface="Calibri" charset="0"/>
                      </a:endParaRPr>
                    </a:p>
                    <a:p>
                      <a:pPr algn="l" indent="0" marL="0">
                        <a:buNone/>
                      </a:pPr>
                      <a:r>
                        <a:rPr lang="en-US" sz="1800" dirty="0">
                          <a:solidFill>
                            <a:srgbClr val="000000"/>
                          </a:solidFill>
                          <a:latin typeface="Calibri" pitchFamily="34" charset="0"/>
                          <a:ea typeface="Calibri" pitchFamily="34" charset="-122"/>
                          <a:cs typeface="Calibri" pitchFamily="34" charset="-120"/>
                        </a:rPr>
                        <a:t>MELD, CLIF-C scores</a:t>
                      </a:r>
                      <a:endParaRPr lang="en-US" sz="1800" dirty="0">
                        <a:latin typeface="Calibri" charset="0"/>
                        <a:ea typeface="Calibri" charset="0"/>
                        <a:cs typeface="Calibri" charset="0"/>
                      </a:endParaRPr>
                    </a:p>
                    <a:p>
                      <a:pPr algn="l" indent="0" marL="0">
                        <a:buNone/>
                      </a:pPr>
                      <a:r>
                        <a:rPr lang="en-US" sz="1800" dirty="0">
                          <a:solidFill>
                            <a:srgbClr val="000000"/>
                          </a:solidFill>
                          <a:latin typeface="Calibri" pitchFamily="34" charset="0"/>
                          <a:ea typeface="Calibri" pitchFamily="34" charset="-122"/>
                          <a:cs typeface="Calibri" pitchFamily="34" charset="-120"/>
                        </a:rPr>
                        <a:t>Frailty, comorbidities</a:t>
                      </a:r>
                      <a:endParaRPr lang="en-US" sz="1800" dirty="0">
                        <a:latin typeface="Calibri" charset="0"/>
                        <a:ea typeface="Calibri" charset="0"/>
                        <a:cs typeface="Calibri" charset="0"/>
                      </a:endParaRPr>
                    </a:p>
                    <a:p>
                      <a:pPr algn="l" indent="0" marL="0">
                        <a:buNone/>
                      </a:pPr>
                      <a:r>
                        <a:rPr lang="en-US" sz="1800" dirty="0">
                          <a:solidFill>
                            <a:srgbClr val="000000"/>
                          </a:solidFill>
                          <a:latin typeface="Calibri" pitchFamily="34" charset="0"/>
                          <a:ea typeface="Calibri" pitchFamily="34" charset="-122"/>
                          <a:cs typeface="Calibri" pitchFamily="34" charset="-120"/>
                        </a:rPr>
                        <a:t>Prior transplant evaluation, support</a:t>
                      </a:r>
                      <a:endParaRPr lang="en-US" sz="1800" dirty="0">
                        <a:latin typeface="Calibri" charset="0"/>
                        <a:ea typeface="Calibri" charset="0"/>
                        <a:cs typeface="Calibri" charset="0"/>
                      </a:endParaRPr>
                    </a:p>
                  </a:txBody>
                  <a:tcPr marL="76200" marR="76200" marT="38100" marB="3810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Question"/>
          <p:cNvSpPr txBox="1"/>
          <p:nvPr/>
        </p:nvSpPr>
        <p:spPr>
          <a:xfrm>
            <a:off x="822960" y="1325880"/>
            <a:ext cx="10545775" cy="548640"/>
          </a:xfrm>
          <a:prstGeom prst="rect">
            <a:avLst/>
          </a:prstGeom>
          <a:noFill/>
          <a:ln/>
        </p:spPr>
        <p:txBody>
          <a:bodyPr wrap="square" lIns="0" tIns="0" rIns="0" bIns="0" rtlCol="0" anchor="ctr"/>
          <a:lstStyle/>
          <a:p>
            <a:pPr algn="ctr" indent="0" marL="0">
              <a:buNone/>
            </a:pPr>
            <a:r>
              <a:rPr lang="en-US" sz="2200" b="1" dirty="0">
                <a:solidFill>
                  <a:srgbClr val="000000"/>
                </a:solidFill>
                <a:highlight>
                  <a:srgbClr val="FFFF00"/>
                </a:highlight>
                <a:latin typeface="Georgia" pitchFamily="34" charset="0"/>
                <a:ea typeface="Georgia" pitchFamily="34" charset="-122"/>
                <a:cs typeface="Georgia" pitchFamily="34" charset="-120"/>
              </a:rPr>
              <a:t>Call first. Gather this while you wait for the call back</a:t>
            </a:r>
            <a:endParaRPr lang="en-US" sz="22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ALF and ACLF: what changes at the bedside</a:t>
            </a:r>
            <a:endParaRPr lang="en-US" sz="3000" dirty="0"/>
          </a:p>
        </p:txBody>
      </p:sp>
      <p:sp>
        <p:nvSpPr>
          <p:cNvPr id="3" name="Body"/>
          <p:cNvSpPr txBox="1"/>
          <p:nvPr/>
        </p:nvSpPr>
        <p:spPr>
          <a:xfrm>
            <a:off x="822960" y="1051560"/>
            <a:ext cx="10545775" cy="411480"/>
          </a:xfrm>
          <a:prstGeom prst="rect">
            <a:avLst/>
          </a:prstGeom>
          <a:noFill/>
          <a:ln/>
        </p:spPr>
        <p:txBody>
          <a:bodyPr wrap="square" lIns="50800" tIns="50800" rIns="50800" bIns="50800" rtlCol="0" anchor="t"/>
          <a:lstStyle/>
          <a:p>
            <a:pPr algn="ctr" indent="0" marL="0">
              <a:spcBef>
                <a:spcPts val="800"/>
              </a:spcBef>
              <a:buNone/>
            </a:pPr>
            <a:r>
              <a:rPr lang="en-US" sz="1800" i="1" dirty="0">
                <a:solidFill>
                  <a:srgbClr val="000000"/>
                </a:solidFill>
                <a:latin typeface="Georgia" pitchFamily="34" charset="0"/>
                <a:ea typeface="Georgia" pitchFamily="34" charset="-122"/>
                <a:cs typeface="Georgia" pitchFamily="34" charset="-120"/>
              </a:rPr>
              <a:t>Both have a sick liver. Do they have the same disease?</a:t>
            </a:r>
            <a:endParaRPr lang="en-US" sz="1800" dirty="0"/>
          </a:p>
        </p:txBody>
      </p:sp>
      <p:graphicFrame>
        <p:nvGraphicFramePr>
          <p:cNvPr id="112" name="Table"/>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1737360"/>
                <a:gridCol w="4672584"/>
                <a:gridCol w="4681728"/>
              </a:tblGrid>
              <a:tr h="411480">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Acute liver failure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ACLF</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822960">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Ammonia</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822960">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Lactulose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868680">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Sodium</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685800">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Antibiotics</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685800">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INR</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ACG ALF 2023 [PMID: 37377263]; SCCM 2023 [PMID: 37052436]; update 2022 [PMID: 36001996]</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ALF and ACLF: what changes at the bedside</a:t>
            </a:r>
            <a:endParaRPr lang="en-US" sz="3000" dirty="0"/>
          </a:p>
        </p:txBody>
      </p:sp>
      <p:sp>
        <p:nvSpPr>
          <p:cNvPr id="3" name="Body"/>
          <p:cNvSpPr txBox="1"/>
          <p:nvPr/>
        </p:nvSpPr>
        <p:spPr>
          <a:xfrm>
            <a:off x="822960" y="1051560"/>
            <a:ext cx="10545775" cy="411480"/>
          </a:xfrm>
          <a:prstGeom prst="rect">
            <a:avLst/>
          </a:prstGeom>
          <a:noFill/>
          <a:ln/>
        </p:spPr>
        <p:txBody>
          <a:bodyPr wrap="square" lIns="50800" tIns="50800" rIns="50800" bIns="50800" rtlCol="0" anchor="t"/>
          <a:lstStyle/>
          <a:p>
            <a:pPr algn="ctr" indent="0" marL="0">
              <a:spcBef>
                <a:spcPts val="800"/>
              </a:spcBef>
              <a:buNone/>
            </a:pPr>
            <a:r>
              <a:rPr lang="en-US" sz="1800" i="1" dirty="0">
                <a:solidFill>
                  <a:srgbClr val="000000"/>
                </a:solidFill>
                <a:latin typeface="Georgia" pitchFamily="34" charset="0"/>
                <a:ea typeface="Georgia" pitchFamily="34" charset="-122"/>
                <a:cs typeface="Georgia" pitchFamily="34" charset="-120"/>
              </a:rPr>
              <a:t>Both have a sick liver. Do they have the same disease?</a:t>
            </a:r>
            <a:endParaRPr lang="en-US" sz="1800" dirty="0"/>
          </a:p>
        </p:txBody>
      </p:sp>
      <p:graphicFrame>
        <p:nvGraphicFramePr>
          <p:cNvPr id="113" name="Table"/>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1737360"/>
                <a:gridCol w="4672584"/>
                <a:gridCol w="4681728"/>
              </a:tblGrid>
              <a:tr h="411480">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Acute liver failure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ACLF</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822960">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Ammonia</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With the HE grade and the trend: brain risk, and when to start CRRT. No level rules out ICH</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Doesn't diagnose HE. Don't trend it to dose lactulose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822960">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Lactulose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No proven benefit; bowel distension can get in the way of surgery</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Yes for overt HE, plus treat the trigger. Rifaximin as an add-on. Avoid dehydration</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868680">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Sodium</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Grade III-IV or high ammonia: center protocol, often 145 to 155, matched to the CRRT fluid</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Often chronically low: correct slowly. In high-risk patients, no more than 8 mmol/L in 24 hours</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685800">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Antibiotics</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No routine prophylaxis. Surveillance cultures, low threshold to treat</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Treat infection fast; prophylaxis with GI bleeding</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685800">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INR</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Tracks severity, poor at predicting bleeding. No plasma just for the number</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Same. Judge the procedure and the patient</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ACG ALF 2023 [PMID: 37377263]; SCCM 2023 [PMID: 37052436]; update 2022 [PMID: 36001996]</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112</a:t>
            </a:fld>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What happened to them</a:t>
            </a:r>
            <a:endParaRPr lang="en-US" sz="3000" dirty="0"/>
          </a:p>
        </p:txBody>
      </p:sp>
      <p:sp>
        <p:nvSpPr>
          <p:cNvPr id="3" name="Text 1"/>
          <p:cNvSpPr txBox="1"/>
          <p:nvPr/>
        </p:nvSpPr>
        <p:spPr>
          <a:xfrm>
            <a:off x="548640" y="1417320"/>
            <a:ext cx="5486400" cy="411480"/>
          </a:xfrm>
          <a:prstGeom prst="rect">
            <a:avLst/>
          </a:prstGeom>
          <a:noFill/>
          <a:ln/>
        </p:spPr>
        <p:txBody>
          <a:bodyPr wrap="square" lIns="0" tIns="0" rIns="0" bIns="0" rtlCol="0" anchor="ctr"/>
          <a:lstStyle/>
          <a:p>
            <a:pPr indent="0" marL="0">
              <a:buNone/>
            </a:pPr>
            <a:r>
              <a:rPr lang="en-US" sz="2000" b="1" dirty="0">
                <a:solidFill>
                  <a:srgbClr val="000000"/>
                </a:solidFill>
                <a:latin typeface="Georgia" pitchFamily="34" charset="0"/>
                <a:ea typeface="Georgia" pitchFamily="34" charset="-122"/>
                <a:cs typeface="Georgia" pitchFamily="34" charset="-120"/>
              </a:rPr>
              <a:t>Bed 4</a:t>
            </a:r>
            <a:endParaRPr lang="en-US" sz="2000" dirty="0"/>
          </a:p>
        </p:txBody>
      </p:sp>
      <p:sp>
        <p:nvSpPr>
          <p:cNvPr id="4" name="Shape 2"/>
          <p:cNvSpPr/>
          <p:nvPr/>
        </p:nvSpPr>
        <p:spPr>
          <a:xfrm>
            <a:off x="1371600" y="2103120"/>
            <a:ext cx="9448495" cy="0"/>
          </a:xfrm>
          <a:prstGeom prst="line">
            <a:avLst/>
          </a:prstGeom>
          <a:noFill/>
          <a:ln w="25400">
            <a:solidFill>
              <a:srgbClr val="000000"/>
            </a:solidFill>
            <a:prstDash val="solid"/>
          </a:ln>
        </p:spPr>
      </p:sp>
      <p:sp>
        <p:nvSpPr>
          <p:cNvPr id="5" name="Shape 3"/>
          <p:cNvSpPr/>
          <p:nvPr/>
        </p:nvSpPr>
        <p:spPr>
          <a:xfrm>
            <a:off x="1289304" y="2020824"/>
            <a:ext cx="164592" cy="164592"/>
          </a:xfrm>
          <a:prstGeom prst="ellipse">
            <a:avLst/>
          </a:prstGeom>
          <a:solidFill>
            <a:srgbClr val="000000"/>
          </a:solidFill>
          <a:ln w="12700">
            <a:solidFill>
              <a:srgbClr val="000000"/>
            </a:solidFill>
            <a:prstDash val="solid"/>
          </a:ln>
        </p:spPr>
      </p:sp>
      <p:sp>
        <p:nvSpPr>
          <p:cNvPr id="6" name="Text 4"/>
          <p:cNvSpPr txBox="1"/>
          <p:nvPr/>
        </p:nvSpPr>
        <p:spPr>
          <a:xfrm>
            <a:off x="320040" y="2267712"/>
            <a:ext cx="2103120" cy="868680"/>
          </a:xfrm>
          <a:prstGeom prst="rect">
            <a:avLst/>
          </a:prstGeom>
          <a:noFill/>
          <a:ln/>
        </p:spPr>
        <p:txBody>
          <a:bodyPr wrap="square" lIns="0" tIns="0" rIns="0" bIns="0" rtlCol="0" anchor="t"/>
          <a:lstStyle/>
          <a:p>
            <a:pPr algn="ctr" indent="0" marL="0">
              <a:buNone/>
            </a:pPr>
            <a:r>
              <a:rPr lang="en-US" sz="1400" b="1" dirty="0">
                <a:solidFill>
                  <a:srgbClr val="000000"/>
                </a:solidFill>
                <a:latin typeface="Georgia" pitchFamily="34" charset="0"/>
                <a:ea typeface="Georgia" pitchFamily="34" charset="-122"/>
                <a:cs typeface="Georgia" pitchFamily="34" charset="-120"/>
              </a:rPr>
              <a:t>Day 0</a:t>
            </a:r>
            <a:endParaRPr lang="en-US" sz="1400" dirty="0"/>
          </a:p>
          <a:p>
            <a:pPr algn="ctr" indent="0" marL="0">
              <a:buNone/>
            </a:pPr>
            <a:r>
              <a:rPr lang="en-US" sz="1400" dirty="0">
                <a:solidFill>
                  <a:srgbClr val="000000"/>
                </a:solidFill>
                <a:latin typeface="Georgia" pitchFamily="34" charset="0"/>
                <a:ea typeface="Georgia" pitchFamily="34" charset="-122"/>
                <a:cs typeface="Georgia" pitchFamily="34" charset="-120"/>
              </a:rPr>
              <a:t>Admitted, NAC</a:t>
            </a:r>
            <a:endParaRPr lang="en-US" sz="1400" dirty="0"/>
          </a:p>
        </p:txBody>
      </p:sp>
      <p:sp>
        <p:nvSpPr>
          <p:cNvPr id="7" name="Shape 5"/>
          <p:cNvSpPr/>
          <p:nvPr/>
        </p:nvSpPr>
        <p:spPr>
          <a:xfrm>
            <a:off x="3367973" y="2020824"/>
            <a:ext cx="164592" cy="164592"/>
          </a:xfrm>
          <a:prstGeom prst="ellipse">
            <a:avLst/>
          </a:prstGeom>
          <a:solidFill>
            <a:srgbClr val="000000"/>
          </a:solidFill>
          <a:ln w="12700">
            <a:solidFill>
              <a:srgbClr val="000000"/>
            </a:solidFill>
            <a:prstDash val="solid"/>
          </a:ln>
        </p:spPr>
      </p:sp>
      <p:sp>
        <p:nvSpPr>
          <p:cNvPr id="8" name="Text 6"/>
          <p:cNvSpPr txBox="1"/>
          <p:nvPr/>
        </p:nvSpPr>
        <p:spPr>
          <a:xfrm>
            <a:off x="2398709" y="2267712"/>
            <a:ext cx="2103120" cy="868680"/>
          </a:xfrm>
          <a:prstGeom prst="rect">
            <a:avLst/>
          </a:prstGeom>
          <a:noFill/>
          <a:ln/>
        </p:spPr>
        <p:txBody>
          <a:bodyPr wrap="square" lIns="0" tIns="0" rIns="0" bIns="0" rtlCol="0" anchor="t"/>
          <a:lstStyle/>
          <a:p>
            <a:pPr algn="ctr" indent="0" marL="0">
              <a:buNone/>
            </a:pPr>
            <a:r>
              <a:rPr lang="en-US" sz="1400" b="1" dirty="0">
                <a:solidFill>
                  <a:srgbClr val="000000"/>
                </a:solidFill>
                <a:latin typeface="Georgia" pitchFamily="34" charset="0"/>
                <a:ea typeface="Georgia" pitchFamily="34" charset="-122"/>
                <a:cs typeface="Georgia" pitchFamily="34" charset="-120"/>
              </a:rPr>
              <a:t>Day 1</a:t>
            </a:r>
            <a:endParaRPr lang="en-US" sz="1400" dirty="0"/>
          </a:p>
          <a:p>
            <a:pPr algn="ctr" indent="0" marL="0">
              <a:buNone/>
            </a:pPr>
            <a:r>
              <a:rPr lang="en-US" sz="1400" dirty="0">
                <a:solidFill>
                  <a:srgbClr val="000000"/>
                </a:solidFill>
                <a:latin typeface="Georgia" pitchFamily="34" charset="0"/>
                <a:ea typeface="Georgia" pitchFamily="34" charset="-122"/>
                <a:cs typeface="Georgia" pitchFamily="34" charset="-120"/>
              </a:rPr>
              <a:t>Intubated, CRRT</a:t>
            </a:r>
            <a:endParaRPr lang="en-US" sz="1400" dirty="0"/>
          </a:p>
        </p:txBody>
      </p:sp>
      <p:sp>
        <p:nvSpPr>
          <p:cNvPr id="9" name="Shape 7"/>
          <p:cNvSpPr/>
          <p:nvPr/>
        </p:nvSpPr>
        <p:spPr>
          <a:xfrm>
            <a:off x="5446642" y="2020824"/>
            <a:ext cx="164592" cy="164592"/>
          </a:xfrm>
          <a:prstGeom prst="ellipse">
            <a:avLst/>
          </a:prstGeom>
          <a:solidFill>
            <a:srgbClr val="000000"/>
          </a:solidFill>
          <a:ln w="12700">
            <a:solidFill>
              <a:srgbClr val="000000"/>
            </a:solidFill>
            <a:prstDash val="solid"/>
          </a:ln>
        </p:spPr>
      </p:sp>
      <p:sp>
        <p:nvSpPr>
          <p:cNvPr id="10" name="Text 8"/>
          <p:cNvSpPr txBox="1"/>
          <p:nvPr/>
        </p:nvSpPr>
        <p:spPr>
          <a:xfrm>
            <a:off x="4477378" y="2267712"/>
            <a:ext cx="2103120" cy="868680"/>
          </a:xfrm>
          <a:prstGeom prst="rect">
            <a:avLst/>
          </a:prstGeom>
          <a:noFill/>
          <a:ln/>
        </p:spPr>
        <p:txBody>
          <a:bodyPr wrap="square" lIns="0" tIns="0" rIns="0" bIns="0" rtlCol="0" anchor="t"/>
          <a:lstStyle/>
          <a:p>
            <a:pPr algn="ctr" indent="0" marL="0">
              <a:buNone/>
            </a:pPr>
            <a:r>
              <a:rPr lang="en-US" sz="1400" b="1" dirty="0">
                <a:solidFill>
                  <a:srgbClr val="000000"/>
                </a:solidFill>
                <a:latin typeface="Georgia" pitchFamily="34" charset="0"/>
                <a:ea typeface="Georgia" pitchFamily="34" charset="-122"/>
                <a:cs typeface="Georgia" pitchFamily="34" charset="-120"/>
              </a:rPr>
              <a:t>Day 2</a:t>
            </a:r>
            <a:endParaRPr lang="en-US" sz="1400" dirty="0"/>
          </a:p>
          <a:p>
            <a:pPr algn="ctr" indent="0" marL="0">
              <a:buNone/>
            </a:pPr>
            <a:r>
              <a:rPr lang="en-US" sz="1400" dirty="0">
                <a:solidFill>
                  <a:srgbClr val="000000"/>
                </a:solidFill>
                <a:latin typeface="Georgia" pitchFamily="34" charset="0"/>
                <a:ea typeface="Georgia" pitchFamily="34" charset="-122"/>
                <a:cs typeface="Georgia" pitchFamily="34" charset="-120"/>
              </a:rPr>
              <a:t>Listed 1A</a:t>
            </a:r>
            <a:endParaRPr lang="en-US" sz="1400" dirty="0"/>
          </a:p>
        </p:txBody>
      </p:sp>
      <p:sp>
        <p:nvSpPr>
          <p:cNvPr id="11" name="Shape 9"/>
          <p:cNvSpPr/>
          <p:nvPr/>
        </p:nvSpPr>
        <p:spPr>
          <a:xfrm>
            <a:off x="7525311" y="2020824"/>
            <a:ext cx="164592" cy="164592"/>
          </a:xfrm>
          <a:prstGeom prst="ellipse">
            <a:avLst/>
          </a:prstGeom>
          <a:solidFill>
            <a:srgbClr val="000000"/>
          </a:solidFill>
          <a:ln w="12700">
            <a:solidFill>
              <a:srgbClr val="000000"/>
            </a:solidFill>
            <a:prstDash val="solid"/>
          </a:ln>
        </p:spPr>
      </p:sp>
      <p:sp>
        <p:nvSpPr>
          <p:cNvPr id="12" name="Text 10"/>
          <p:cNvSpPr txBox="1"/>
          <p:nvPr/>
        </p:nvSpPr>
        <p:spPr>
          <a:xfrm>
            <a:off x="6556047" y="2267712"/>
            <a:ext cx="2103120" cy="868680"/>
          </a:xfrm>
          <a:prstGeom prst="rect">
            <a:avLst/>
          </a:prstGeom>
          <a:noFill/>
          <a:ln/>
        </p:spPr>
        <p:txBody>
          <a:bodyPr wrap="square" lIns="0" tIns="0" rIns="0" bIns="0" rtlCol="0" anchor="t"/>
          <a:lstStyle/>
          <a:p>
            <a:pPr algn="ctr" indent="0" marL="0">
              <a:buNone/>
            </a:pPr>
            <a:r>
              <a:rPr lang="en-US" sz="1400" b="1" dirty="0">
                <a:solidFill>
                  <a:srgbClr val="000000"/>
                </a:solidFill>
                <a:latin typeface="Georgia" pitchFamily="34" charset="0"/>
                <a:ea typeface="Georgia" pitchFamily="34" charset="-122"/>
                <a:cs typeface="Georgia" pitchFamily="34" charset="-120"/>
              </a:rPr>
              <a:t>Day 4</a:t>
            </a:r>
            <a:endParaRPr lang="en-US" sz="1400" dirty="0"/>
          </a:p>
          <a:p>
            <a:pPr algn="ctr" indent="0" marL="0">
              <a:buNone/>
            </a:pPr>
            <a:r>
              <a:rPr lang="en-US" sz="1400" dirty="0">
                <a:solidFill>
                  <a:srgbClr val="000000"/>
                </a:solidFill>
                <a:latin typeface="Georgia" pitchFamily="34" charset="0"/>
                <a:ea typeface="Georgia" pitchFamily="34" charset="-122"/>
                <a:cs typeface="Georgia" pitchFamily="34" charset="-120"/>
              </a:rPr>
              <a:t>Transplanted</a:t>
            </a:r>
            <a:endParaRPr lang="en-US" sz="1400" dirty="0"/>
          </a:p>
        </p:txBody>
      </p:sp>
      <p:sp>
        <p:nvSpPr>
          <p:cNvPr id="13" name="Shape 11"/>
          <p:cNvSpPr/>
          <p:nvPr/>
        </p:nvSpPr>
        <p:spPr>
          <a:xfrm>
            <a:off x="10737799" y="2020824"/>
            <a:ext cx="164592" cy="164592"/>
          </a:xfrm>
          <a:prstGeom prst="ellipse">
            <a:avLst/>
          </a:prstGeom>
          <a:solidFill>
            <a:srgbClr val="000000"/>
          </a:solidFill>
          <a:ln w="12700">
            <a:solidFill>
              <a:srgbClr val="000000"/>
            </a:solidFill>
            <a:prstDash val="solid"/>
          </a:ln>
        </p:spPr>
      </p:sp>
      <p:sp>
        <p:nvSpPr>
          <p:cNvPr id="14" name="Text 12"/>
          <p:cNvSpPr txBox="1"/>
          <p:nvPr/>
        </p:nvSpPr>
        <p:spPr>
          <a:xfrm>
            <a:off x="9768535" y="2267712"/>
            <a:ext cx="2103120" cy="868680"/>
          </a:xfrm>
          <a:prstGeom prst="rect">
            <a:avLst/>
          </a:prstGeom>
          <a:noFill/>
          <a:ln/>
        </p:spPr>
        <p:txBody>
          <a:bodyPr wrap="square" lIns="0" tIns="0" rIns="0" bIns="0" rtlCol="0" anchor="t"/>
          <a:lstStyle/>
          <a:p>
            <a:pPr algn="ctr" indent="0" marL="0">
              <a:buNone/>
            </a:pPr>
            <a:r>
              <a:rPr lang="en-US" sz="1400" b="1" dirty="0">
                <a:solidFill>
                  <a:srgbClr val="000000"/>
                </a:solidFill>
                <a:latin typeface="Georgia" pitchFamily="34" charset="0"/>
                <a:ea typeface="Georgia" pitchFamily="34" charset="-122"/>
                <a:cs typeface="Georgia" pitchFamily="34" charset="-120"/>
              </a:rPr>
              <a:t>Day 19</a:t>
            </a:r>
            <a:endParaRPr lang="en-US" sz="1400" dirty="0"/>
          </a:p>
          <a:p>
            <a:pPr algn="ctr" indent="0" marL="0">
              <a:buNone/>
            </a:pPr>
            <a:r>
              <a:rPr lang="en-US" sz="1400" dirty="0">
                <a:solidFill>
                  <a:srgbClr val="000000"/>
                </a:solidFill>
                <a:latin typeface="Georgia" pitchFamily="34" charset="0"/>
                <a:ea typeface="Georgia" pitchFamily="34" charset="-122"/>
                <a:cs typeface="Georgia" pitchFamily="34" charset="-120"/>
              </a:rPr>
              <a:t>Home</a:t>
            </a:r>
            <a:endParaRPr lang="en-US" sz="1400" dirty="0"/>
          </a:p>
        </p:txBody>
      </p:sp>
      <p:sp>
        <p:nvSpPr>
          <p:cNvPr id="15" name="Text 13"/>
          <p:cNvSpPr txBox="1"/>
          <p:nvPr/>
        </p:nvSpPr>
        <p:spPr>
          <a:xfrm>
            <a:off x="548640" y="3749040"/>
            <a:ext cx="5486400" cy="411480"/>
          </a:xfrm>
          <a:prstGeom prst="rect">
            <a:avLst/>
          </a:prstGeom>
          <a:noFill/>
          <a:ln/>
        </p:spPr>
        <p:txBody>
          <a:bodyPr wrap="square" lIns="0" tIns="0" rIns="0" bIns="0" rtlCol="0" anchor="ctr"/>
          <a:lstStyle/>
          <a:p>
            <a:pPr indent="0" marL="0">
              <a:buNone/>
            </a:pPr>
            <a:r>
              <a:rPr lang="en-US" sz="2000" b="1" dirty="0">
                <a:solidFill>
                  <a:srgbClr val="000000"/>
                </a:solidFill>
                <a:latin typeface="Georgia" pitchFamily="34" charset="0"/>
                <a:ea typeface="Georgia" pitchFamily="34" charset="-122"/>
                <a:cs typeface="Georgia" pitchFamily="34" charset="-120"/>
              </a:rPr>
              <a:t>Bed 7</a:t>
            </a:r>
            <a:endParaRPr lang="en-US" sz="2000" dirty="0"/>
          </a:p>
        </p:txBody>
      </p:sp>
      <p:sp>
        <p:nvSpPr>
          <p:cNvPr id="16" name="Shape 14"/>
          <p:cNvSpPr/>
          <p:nvPr/>
        </p:nvSpPr>
        <p:spPr>
          <a:xfrm>
            <a:off x="1371600" y="4434840"/>
            <a:ext cx="9448495" cy="0"/>
          </a:xfrm>
          <a:prstGeom prst="line">
            <a:avLst/>
          </a:prstGeom>
          <a:noFill/>
          <a:ln w="25400">
            <a:solidFill>
              <a:srgbClr val="000000"/>
            </a:solidFill>
            <a:prstDash val="solid"/>
          </a:ln>
        </p:spPr>
      </p:sp>
      <p:sp>
        <p:nvSpPr>
          <p:cNvPr id="17" name="Shape 15"/>
          <p:cNvSpPr/>
          <p:nvPr/>
        </p:nvSpPr>
        <p:spPr>
          <a:xfrm>
            <a:off x="1289304" y="4352544"/>
            <a:ext cx="164592" cy="164592"/>
          </a:xfrm>
          <a:prstGeom prst="ellipse">
            <a:avLst/>
          </a:prstGeom>
          <a:solidFill>
            <a:srgbClr val="000000"/>
          </a:solidFill>
          <a:ln w="12700">
            <a:solidFill>
              <a:srgbClr val="000000"/>
            </a:solidFill>
            <a:prstDash val="solid"/>
          </a:ln>
        </p:spPr>
      </p:sp>
      <p:sp>
        <p:nvSpPr>
          <p:cNvPr id="18" name="Text 16"/>
          <p:cNvSpPr txBox="1"/>
          <p:nvPr/>
        </p:nvSpPr>
        <p:spPr>
          <a:xfrm>
            <a:off x="320040" y="4599432"/>
            <a:ext cx="2103120" cy="868680"/>
          </a:xfrm>
          <a:prstGeom prst="rect">
            <a:avLst/>
          </a:prstGeom>
          <a:noFill/>
          <a:ln/>
        </p:spPr>
        <p:txBody>
          <a:bodyPr wrap="square" lIns="0" tIns="0" rIns="0" bIns="0" rtlCol="0" anchor="t"/>
          <a:lstStyle/>
          <a:p>
            <a:pPr algn="ctr" indent="0" marL="0">
              <a:buNone/>
            </a:pPr>
            <a:r>
              <a:rPr lang="en-US" sz="1400" b="1" dirty="0">
                <a:solidFill>
                  <a:srgbClr val="000000"/>
                </a:solidFill>
                <a:latin typeface="Georgia" pitchFamily="34" charset="0"/>
                <a:ea typeface="Georgia" pitchFamily="34" charset="-122"/>
                <a:cs typeface="Georgia" pitchFamily="34" charset="-120"/>
              </a:rPr>
              <a:t>Day 1</a:t>
            </a:r>
            <a:endParaRPr lang="en-US" sz="1400" dirty="0"/>
          </a:p>
          <a:p>
            <a:pPr algn="ctr" indent="0" marL="0">
              <a:buNone/>
            </a:pPr>
            <a:r>
              <a:rPr lang="en-US" sz="1400" dirty="0">
                <a:solidFill>
                  <a:srgbClr val="000000"/>
                </a:solidFill>
                <a:latin typeface="Georgia" pitchFamily="34" charset="0"/>
                <a:ea typeface="Georgia" pitchFamily="34" charset="-122"/>
                <a:cs typeface="Georgia" pitchFamily="34" charset="-120"/>
              </a:rPr>
              <a:t>SBP, ACLF 2</a:t>
            </a:r>
            <a:endParaRPr lang="en-US" sz="1400" dirty="0"/>
          </a:p>
        </p:txBody>
      </p:sp>
      <p:sp>
        <p:nvSpPr>
          <p:cNvPr id="19" name="Shape 17"/>
          <p:cNvSpPr/>
          <p:nvPr/>
        </p:nvSpPr>
        <p:spPr>
          <a:xfrm>
            <a:off x="3179003" y="4352544"/>
            <a:ext cx="164592" cy="164592"/>
          </a:xfrm>
          <a:prstGeom prst="ellipse">
            <a:avLst/>
          </a:prstGeom>
          <a:solidFill>
            <a:srgbClr val="000000"/>
          </a:solidFill>
          <a:ln w="12700">
            <a:solidFill>
              <a:srgbClr val="000000"/>
            </a:solidFill>
            <a:prstDash val="solid"/>
          </a:ln>
        </p:spPr>
      </p:sp>
      <p:sp>
        <p:nvSpPr>
          <p:cNvPr id="20" name="Text 18"/>
          <p:cNvSpPr txBox="1"/>
          <p:nvPr/>
        </p:nvSpPr>
        <p:spPr>
          <a:xfrm>
            <a:off x="2209739" y="4599432"/>
            <a:ext cx="2103120" cy="868680"/>
          </a:xfrm>
          <a:prstGeom prst="rect">
            <a:avLst/>
          </a:prstGeom>
          <a:noFill/>
          <a:ln/>
        </p:spPr>
        <p:txBody>
          <a:bodyPr wrap="square" lIns="0" tIns="0" rIns="0" bIns="0" rtlCol="0" anchor="t"/>
          <a:lstStyle/>
          <a:p>
            <a:pPr algn="ctr" indent="0" marL="0">
              <a:buNone/>
            </a:pPr>
            <a:r>
              <a:rPr lang="en-US" sz="1400" b="1" dirty="0">
                <a:solidFill>
                  <a:srgbClr val="000000"/>
                </a:solidFill>
                <a:latin typeface="Georgia" pitchFamily="34" charset="0"/>
                <a:ea typeface="Georgia" pitchFamily="34" charset="-122"/>
                <a:cs typeface="Georgia" pitchFamily="34" charset="-120"/>
              </a:rPr>
              <a:t>Day 2</a:t>
            </a:r>
            <a:endParaRPr lang="en-US" sz="1400" dirty="0"/>
          </a:p>
          <a:p>
            <a:pPr algn="ctr" indent="0" marL="0">
              <a:buNone/>
            </a:pPr>
            <a:r>
              <a:rPr lang="en-US" sz="1400" dirty="0">
                <a:solidFill>
                  <a:srgbClr val="000000"/>
                </a:solidFill>
                <a:latin typeface="Georgia" pitchFamily="34" charset="0"/>
                <a:ea typeface="Georgia" pitchFamily="34" charset="-122"/>
                <a:cs typeface="Georgia" pitchFamily="34" charset="-120"/>
              </a:rPr>
              <a:t>ACLF 3</a:t>
            </a:r>
            <a:endParaRPr lang="en-US" sz="1400" dirty="0"/>
          </a:p>
        </p:txBody>
      </p:sp>
      <p:sp>
        <p:nvSpPr>
          <p:cNvPr id="21" name="Shape 19"/>
          <p:cNvSpPr/>
          <p:nvPr/>
        </p:nvSpPr>
        <p:spPr>
          <a:xfrm>
            <a:off x="5257672" y="4352544"/>
            <a:ext cx="164592" cy="164592"/>
          </a:xfrm>
          <a:prstGeom prst="ellipse">
            <a:avLst/>
          </a:prstGeom>
          <a:solidFill>
            <a:srgbClr val="000000"/>
          </a:solidFill>
          <a:ln w="12700">
            <a:solidFill>
              <a:srgbClr val="000000"/>
            </a:solidFill>
            <a:prstDash val="solid"/>
          </a:ln>
        </p:spPr>
      </p:sp>
      <p:sp>
        <p:nvSpPr>
          <p:cNvPr id="22" name="Text 20"/>
          <p:cNvSpPr txBox="1"/>
          <p:nvPr/>
        </p:nvSpPr>
        <p:spPr>
          <a:xfrm>
            <a:off x="4288408" y="4599432"/>
            <a:ext cx="2103120" cy="868680"/>
          </a:xfrm>
          <a:prstGeom prst="rect">
            <a:avLst/>
          </a:prstGeom>
          <a:noFill/>
          <a:ln/>
        </p:spPr>
        <p:txBody>
          <a:bodyPr wrap="square" lIns="0" tIns="0" rIns="0" bIns="0" rtlCol="0" anchor="t"/>
          <a:lstStyle/>
          <a:p>
            <a:pPr algn="ctr" indent="0" marL="0">
              <a:buNone/>
            </a:pPr>
            <a:r>
              <a:rPr lang="en-US" sz="1400" b="1" dirty="0">
                <a:solidFill>
                  <a:srgbClr val="000000"/>
                </a:solidFill>
                <a:latin typeface="Georgia" pitchFamily="34" charset="0"/>
                <a:ea typeface="Georgia" pitchFamily="34" charset="-122"/>
                <a:cs typeface="Georgia" pitchFamily="34" charset="-120"/>
              </a:rPr>
              <a:t>Day 5</a:t>
            </a:r>
            <a:endParaRPr lang="en-US" sz="1400" dirty="0"/>
          </a:p>
          <a:p>
            <a:pPr algn="ctr" indent="0" marL="0">
              <a:buNone/>
            </a:pPr>
            <a:r>
              <a:rPr lang="en-US" sz="1400" dirty="0">
                <a:solidFill>
                  <a:srgbClr val="000000"/>
                </a:solidFill>
                <a:latin typeface="Georgia" pitchFamily="34" charset="0"/>
                <a:ea typeface="Georgia" pitchFamily="34" charset="-122"/>
                <a:cs typeface="Georgia" pitchFamily="34" charset="-120"/>
              </a:rPr>
              <a:t>Off pressors, ACLF 1</a:t>
            </a:r>
            <a:endParaRPr lang="en-US" sz="1400" dirty="0"/>
          </a:p>
        </p:txBody>
      </p:sp>
      <p:sp>
        <p:nvSpPr>
          <p:cNvPr id="23" name="Shape 21"/>
          <p:cNvSpPr/>
          <p:nvPr/>
        </p:nvSpPr>
        <p:spPr>
          <a:xfrm>
            <a:off x="7525311" y="4352544"/>
            <a:ext cx="164592" cy="164592"/>
          </a:xfrm>
          <a:prstGeom prst="ellipse">
            <a:avLst/>
          </a:prstGeom>
          <a:solidFill>
            <a:srgbClr val="000000"/>
          </a:solidFill>
          <a:ln w="12700">
            <a:solidFill>
              <a:srgbClr val="000000"/>
            </a:solidFill>
            <a:prstDash val="solid"/>
          </a:ln>
        </p:spPr>
      </p:sp>
      <p:sp>
        <p:nvSpPr>
          <p:cNvPr id="24" name="Text 22"/>
          <p:cNvSpPr txBox="1"/>
          <p:nvPr/>
        </p:nvSpPr>
        <p:spPr>
          <a:xfrm>
            <a:off x="6556047" y="4599432"/>
            <a:ext cx="2103120" cy="868680"/>
          </a:xfrm>
          <a:prstGeom prst="rect">
            <a:avLst/>
          </a:prstGeom>
          <a:noFill/>
          <a:ln/>
        </p:spPr>
        <p:txBody>
          <a:bodyPr wrap="square" lIns="0" tIns="0" rIns="0" bIns="0" rtlCol="0" anchor="t"/>
          <a:lstStyle/>
          <a:p>
            <a:pPr algn="ctr" indent="0" marL="0">
              <a:buNone/>
            </a:pPr>
            <a:r>
              <a:rPr lang="en-US" sz="1400" b="1" dirty="0">
                <a:solidFill>
                  <a:srgbClr val="000000"/>
                </a:solidFill>
                <a:latin typeface="Georgia" pitchFamily="34" charset="0"/>
                <a:ea typeface="Georgia" pitchFamily="34" charset="-122"/>
                <a:cs typeface="Georgia" pitchFamily="34" charset="-120"/>
              </a:rPr>
              <a:t>Day 12</a:t>
            </a:r>
            <a:endParaRPr lang="en-US" sz="1400" dirty="0"/>
          </a:p>
          <a:p>
            <a:pPr algn="ctr" indent="0" marL="0">
              <a:buNone/>
            </a:pPr>
            <a:r>
              <a:rPr lang="en-US" sz="1400" dirty="0">
                <a:solidFill>
                  <a:srgbClr val="000000"/>
                </a:solidFill>
                <a:latin typeface="Georgia" pitchFamily="34" charset="0"/>
                <a:ea typeface="Georgia" pitchFamily="34" charset="-122"/>
                <a:cs typeface="Georgia" pitchFamily="34" charset="-120"/>
              </a:rPr>
              <a:t>Off CRRT</a:t>
            </a:r>
            <a:endParaRPr lang="en-US" sz="1400" dirty="0"/>
          </a:p>
        </p:txBody>
      </p:sp>
      <p:sp>
        <p:nvSpPr>
          <p:cNvPr id="25" name="Shape 23"/>
          <p:cNvSpPr/>
          <p:nvPr/>
        </p:nvSpPr>
        <p:spPr>
          <a:xfrm>
            <a:off x="10737799" y="4352544"/>
            <a:ext cx="164592" cy="164592"/>
          </a:xfrm>
          <a:prstGeom prst="ellipse">
            <a:avLst/>
          </a:prstGeom>
          <a:solidFill>
            <a:srgbClr val="000000"/>
          </a:solidFill>
          <a:ln w="12700">
            <a:solidFill>
              <a:srgbClr val="000000"/>
            </a:solidFill>
            <a:prstDash val="solid"/>
          </a:ln>
        </p:spPr>
      </p:sp>
      <p:sp>
        <p:nvSpPr>
          <p:cNvPr id="26" name="Text 24"/>
          <p:cNvSpPr txBox="1"/>
          <p:nvPr/>
        </p:nvSpPr>
        <p:spPr>
          <a:xfrm>
            <a:off x="9768535" y="4599432"/>
            <a:ext cx="2103120" cy="868680"/>
          </a:xfrm>
          <a:prstGeom prst="rect">
            <a:avLst/>
          </a:prstGeom>
          <a:noFill/>
          <a:ln/>
        </p:spPr>
        <p:txBody>
          <a:bodyPr wrap="square" lIns="0" tIns="0" rIns="0" bIns="0" rtlCol="0" anchor="t"/>
          <a:lstStyle/>
          <a:p>
            <a:pPr algn="ctr" indent="0" marL="0">
              <a:buNone/>
            </a:pPr>
            <a:r>
              <a:rPr lang="en-US" sz="1400" b="1" dirty="0">
                <a:solidFill>
                  <a:srgbClr val="000000"/>
                </a:solidFill>
                <a:latin typeface="Georgia" pitchFamily="34" charset="0"/>
                <a:ea typeface="Georgia" pitchFamily="34" charset="-122"/>
                <a:cs typeface="Georgia" pitchFamily="34" charset="-120"/>
              </a:rPr>
              <a:t>Day 21</a:t>
            </a:r>
            <a:endParaRPr lang="en-US" sz="1400" dirty="0"/>
          </a:p>
          <a:p>
            <a:pPr algn="ctr" indent="0" marL="0">
              <a:buNone/>
            </a:pPr>
            <a:r>
              <a:rPr lang="en-US" sz="1400" dirty="0">
                <a:solidFill>
                  <a:srgbClr val="000000"/>
                </a:solidFill>
                <a:latin typeface="Georgia" pitchFamily="34" charset="0"/>
                <a:ea typeface="Georgia" pitchFamily="34" charset="-122"/>
                <a:cs typeface="Georgia" pitchFamily="34" charset="-120"/>
              </a:rPr>
              <a:t>Home, transplant clinic</a:t>
            </a:r>
            <a:endParaRPr lang="en-US" sz="1400" dirty="0"/>
          </a:p>
        </p:txBody>
      </p:sp>
      <p:sp>
        <p:nvSpPr>
          <p:cNvPr id="27"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Made-up outcomes for teaching</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Back to our patients</a:t>
            </a:r>
            <a:endParaRPr lang="en-US" sz="3000" dirty="0"/>
          </a:p>
        </p:txBody>
      </p:sp>
      <p:sp>
        <p:nvSpPr>
          <p:cNvPr id="3" name="Body"/>
          <p:cNvSpPr txBox="1"/>
          <p:nvPr/>
        </p:nvSpPr>
        <p:spPr>
          <a:xfrm>
            <a:off x="1280160" y="1325880"/>
            <a:ext cx="9631375" cy="4937760"/>
          </a:xfrm>
          <a:prstGeom prst="rect">
            <a:avLst/>
          </a:prstGeom>
          <a:noFill/>
          <a:ln/>
        </p:spPr>
        <p:txBody>
          <a:bodyPr wrap="square" lIns="50800" tIns="50800" rIns="50800" bIns="50800" rtlCol="0" anchor="t"/>
          <a:lstStyle/>
          <a:p>
            <a:pPr marL="228600" indent="-228600">
              <a:spcBef>
                <a:spcPts val="1400"/>
              </a:spcBef>
              <a:buSzPct val="100000"/>
              <a:buChar char="–"/>
            </a:pPr>
            <a:r>
              <a:rPr lang="en-US" sz="2200" dirty="0">
                <a:solidFill>
                  <a:srgbClr val="000000"/>
                </a:solidFill>
                <a:latin typeface="Georgia" pitchFamily="34" charset="0"/>
                <a:ea typeface="Georgia" pitchFamily="34" charset="-122"/>
                <a:cs typeface="Georgia" pitchFamily="34" charset="-120"/>
              </a:rPr>
              <a:t>Which one needed transplant hepatology before the tests came back?</a:t>
            </a:r>
            <a:endParaRPr lang="en-US" sz="2200" dirty="0"/>
          </a:p>
          <a:p>
            <a:pPr marL="228600" indent="-228600">
              <a:spcBef>
                <a:spcPts val="1400"/>
              </a:spcBef>
              <a:buSzPct val="100000"/>
              <a:buChar char="–"/>
            </a:pPr>
            <a:r>
              <a:rPr lang="en-US" sz="2200" dirty="0">
                <a:solidFill>
                  <a:srgbClr val="000000"/>
                </a:solidFill>
                <a:latin typeface="Georgia" pitchFamily="34" charset="0"/>
                <a:ea typeface="Georgia" pitchFamily="34" charset="-122"/>
                <a:cs typeface="Georgia" pitchFamily="34" charset="-120"/>
              </a:rPr>
              <a:t>Why did a falling ALT make you more worried?</a:t>
            </a:r>
            <a:endParaRPr lang="en-US" sz="2200" dirty="0"/>
          </a:p>
          <a:p>
            <a:pPr marL="228600" indent="-228600">
              <a:spcBef>
                <a:spcPts val="1400"/>
              </a:spcBef>
              <a:buSzPct val="100000"/>
              <a:buChar char="–"/>
            </a:pPr>
            <a:r>
              <a:rPr lang="en-US" sz="2200" dirty="0">
                <a:solidFill>
                  <a:srgbClr val="000000"/>
                </a:solidFill>
                <a:latin typeface="Georgia" pitchFamily="34" charset="0"/>
                <a:ea typeface="Georgia" pitchFamily="34" charset="-122"/>
                <a:cs typeface="Georgia" pitchFamily="34" charset="-120"/>
              </a:rPr>
              <a:t>When is CRRT right before the creatinine is high?</a:t>
            </a:r>
            <a:endParaRPr lang="en-US" sz="2200" dirty="0"/>
          </a:p>
          <a:p>
            <a:pPr marL="228600" indent="-228600">
              <a:spcBef>
                <a:spcPts val="1400"/>
              </a:spcBef>
              <a:buSzPct val="100000"/>
              <a:buChar char="–"/>
            </a:pPr>
            <a:r>
              <a:rPr lang="en-US" sz="2200" dirty="0">
                <a:solidFill>
                  <a:srgbClr val="000000"/>
                </a:solidFill>
                <a:latin typeface="Georgia" pitchFamily="34" charset="0"/>
                <a:ea typeface="Georgia" pitchFamily="34" charset="-122"/>
                <a:cs typeface="Georgia" pitchFamily="34" charset="-120"/>
              </a:rPr>
              <a:t>Why isn't lactulose for ACLF evidence for ALF?</a:t>
            </a:r>
            <a:endParaRPr lang="en-US" sz="2200" dirty="0"/>
          </a:p>
          <a:p>
            <a:pPr marL="228600" indent="-228600">
              <a:spcBef>
                <a:spcPts val="1400"/>
              </a:spcBef>
              <a:buSzPct val="100000"/>
              <a:buChar char="–"/>
            </a:pPr>
            <a:r>
              <a:rPr lang="en-US" sz="2200" dirty="0">
                <a:solidFill>
                  <a:srgbClr val="000000"/>
                </a:solidFill>
                <a:latin typeface="Georgia" pitchFamily="34" charset="0"/>
                <a:ea typeface="Georgia" pitchFamily="34" charset="-122"/>
                <a:cs typeface="Georgia" pitchFamily="34" charset="-120"/>
              </a:rPr>
              <a:t>Why were albumin and terlipressin the wrong next step for bed 7?</a:t>
            </a:r>
            <a:endParaRPr lang="en-US" sz="2200" dirty="0"/>
          </a:p>
          <a:p>
            <a:pPr marL="228600" indent="-228600">
              <a:spcBef>
                <a:spcPts val="1400"/>
              </a:spcBef>
              <a:buSzPct val="100000"/>
              <a:buChar char="–"/>
            </a:pPr>
            <a:r>
              <a:rPr lang="en-US" sz="2200" dirty="0">
                <a:solidFill>
                  <a:srgbClr val="000000"/>
                </a:solidFill>
                <a:latin typeface="Georgia" pitchFamily="34" charset="0"/>
                <a:ea typeface="Georgia" pitchFamily="34" charset="-122"/>
                <a:cs typeface="Georgia" pitchFamily="34" charset="-120"/>
              </a:rPr>
              <a:t>What would make you change yesterday's plan?</a:t>
            </a:r>
            <a:endParaRPr lang="en-US" sz="22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114</a:t>
            </a:fld>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Some tricks of the trade</a:t>
            </a:r>
            <a:endParaRPr lang="en-US" sz="3000" dirty="0"/>
          </a:p>
        </p:txBody>
      </p:sp>
      <p:sp>
        <p:nvSpPr>
          <p:cNvPr id="3" name="Body"/>
          <p:cNvSpPr txBox="1"/>
          <p:nvPr/>
        </p:nvSpPr>
        <p:spPr>
          <a:xfrm>
            <a:off x="822960" y="1325880"/>
            <a:ext cx="10545775" cy="4937760"/>
          </a:xfrm>
          <a:prstGeom prst="rect">
            <a:avLst/>
          </a:prstGeom>
          <a:noFill/>
          <a:ln/>
        </p:spPr>
        <p:txBody>
          <a:bodyPr wrap="square" lIns="50800" tIns="50800" rIns="50800" bIns="50800" rtlCol="0" anchor="t"/>
          <a:lstStyle/>
          <a:p>
            <a:pPr marL="228600" indent="-228600">
              <a:spcBef>
                <a:spcPts val="1400"/>
              </a:spcBef>
              <a:buSzPct val="100000"/>
              <a:buChar char="–"/>
            </a:pPr>
            <a:r>
              <a:rPr lang="en-US" sz="2200" dirty="0">
                <a:solidFill>
                  <a:srgbClr val="000000"/>
                </a:solidFill>
                <a:latin typeface="Georgia" pitchFamily="34" charset="0"/>
                <a:ea typeface="Georgia" pitchFamily="34" charset="-122"/>
                <a:cs typeface="Georgia" pitchFamily="34" charset="-120"/>
              </a:rPr>
              <a:t>High AST and ALT alone are not liver failure. Get an INR and examine the patient</a:t>
            </a:r>
            <a:endParaRPr lang="en-US" sz="2200" dirty="0"/>
          </a:p>
          <a:p>
            <a:pPr marL="228600" indent="-228600">
              <a:spcBef>
                <a:spcPts val="1400"/>
              </a:spcBef>
              <a:buSzPct val="100000"/>
              <a:buChar char="–"/>
            </a:pPr>
            <a:r>
              <a:rPr lang="en-US" sz="2200" dirty="0">
                <a:solidFill>
                  <a:srgbClr val="000000"/>
                </a:solidFill>
                <a:latin typeface="Georgia" pitchFamily="34" charset="0"/>
                <a:ea typeface="Georgia" pitchFamily="34" charset="-122"/>
                <a:cs typeface="Georgia" pitchFamily="34" charset="-120"/>
              </a:rPr>
              <a:t>Stabilize, treat the cause and call transplant hepatology in the same hour</a:t>
            </a:r>
            <a:endParaRPr lang="en-US" sz="2200" dirty="0"/>
          </a:p>
          <a:p>
            <a:pPr marL="228600" indent="-228600">
              <a:spcBef>
                <a:spcPts val="1400"/>
              </a:spcBef>
              <a:buSzPct val="100000"/>
              <a:buChar char="–"/>
            </a:pPr>
            <a:r>
              <a:rPr lang="en-US" sz="2200" dirty="0">
                <a:solidFill>
                  <a:srgbClr val="000000"/>
                </a:solidFill>
                <a:latin typeface="Georgia" pitchFamily="34" charset="0"/>
                <a:ea typeface="Georgia" pitchFamily="34" charset="-122"/>
                <a:cs typeface="Georgia" pitchFamily="34" charset="-120"/>
              </a:rPr>
              <a:t>ALF: </a:t>
            </a:r>
            <a:r>
              <a:rPr lang="en-US" sz="2200" b="1" dirty="0">
                <a:solidFill>
                  <a:srgbClr val="000000"/>
                </a:solidFill>
                <a:latin typeface="Georgia" pitchFamily="34" charset="0"/>
                <a:ea typeface="Georgia" pitchFamily="34" charset="-122"/>
                <a:cs typeface="Georgia" pitchFamily="34" charset="-120"/>
              </a:rPr>
              <a:t>protect the brain</a:t>
            </a:r>
            <a:r>
              <a:rPr lang="en-US" sz="2200" dirty="0">
                <a:solidFill>
                  <a:srgbClr val="000000"/>
                </a:solidFill>
                <a:latin typeface="Georgia" pitchFamily="34" charset="0"/>
                <a:ea typeface="Georgia" pitchFamily="34" charset="-122"/>
                <a:cs typeface="Georgia" pitchFamily="34" charset="-120"/>
              </a:rPr>
              <a:t>. Intubate at grade III, keep the CO2 normal, follow your center's sodium plan, and start CRRT for rising ammonia</a:t>
            </a:r>
            <a:endParaRPr lang="en-US" sz="2200" dirty="0"/>
          </a:p>
          <a:p>
            <a:pPr marL="228600" indent="-228600">
              <a:spcBef>
                <a:spcPts val="1400"/>
              </a:spcBef>
              <a:buSzPct val="100000"/>
              <a:buChar char="–"/>
            </a:pPr>
            <a:r>
              <a:rPr lang="en-US" sz="2200" dirty="0">
                <a:solidFill>
                  <a:srgbClr val="000000"/>
                </a:solidFill>
                <a:latin typeface="Georgia" pitchFamily="34" charset="0"/>
                <a:ea typeface="Georgia" pitchFamily="34" charset="-122"/>
                <a:cs typeface="Georgia" pitchFamily="34" charset="-120"/>
              </a:rPr>
              <a:t>ACLF: count the organs, find the trigger</a:t>
            </a:r>
            <a:endParaRPr lang="en-US" sz="2200" dirty="0"/>
          </a:p>
          <a:p>
            <a:pPr marL="228600" indent="-228600">
              <a:spcBef>
                <a:spcPts val="1400"/>
              </a:spcBef>
              <a:buSzPct val="100000"/>
              <a:buChar char="–"/>
            </a:pPr>
            <a:r>
              <a:rPr lang="en-US" sz="2200" dirty="0">
                <a:solidFill>
                  <a:srgbClr val="000000"/>
                </a:solidFill>
                <a:latin typeface="Georgia" pitchFamily="34" charset="0"/>
                <a:ea typeface="Georgia" pitchFamily="34" charset="-122"/>
                <a:cs typeface="Georgia" pitchFamily="34" charset="-120"/>
              </a:rPr>
              <a:t>ACLF: check oxygenation and volume status before albumin or terlipressin</a:t>
            </a:r>
            <a:endParaRPr lang="en-US" sz="2200" dirty="0"/>
          </a:p>
          <a:p>
            <a:pPr marL="228600" indent="-228600">
              <a:spcBef>
                <a:spcPts val="1400"/>
              </a:spcBef>
              <a:buSzPct val="100000"/>
              <a:buChar char="–"/>
            </a:pPr>
            <a:r>
              <a:rPr lang="en-US" sz="2200" dirty="0">
                <a:solidFill>
                  <a:srgbClr val="000000"/>
                </a:solidFill>
                <a:latin typeface="Georgia" pitchFamily="34" charset="0"/>
                <a:ea typeface="Georgia" pitchFamily="34" charset="-122"/>
                <a:cs typeface="Georgia" pitchFamily="34" charset="-120"/>
              </a:rPr>
              <a:t>Reassess organ failures daily. The trend matters more than the admission score</a:t>
            </a:r>
            <a:endParaRPr lang="en-US" sz="22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115</a:t>
            </a:fld>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pic>
        <p:nvPicPr>
          <p:cNvPr id="2" name="Image 0" descr="Watercolor of a healthy liver in warm light on ivory paper">    </p:cNvPr>
          <p:cNvPicPr>
            <a:picLocks noChangeAspect="1"/>
          </p:cNvPicPr>
          <p:nvPr/>
        </p:nvPicPr>
        <p:blipFill>
          <a:blip r:embed="rId1"/>
          <a:stretch>
            <a:fillRect/>
          </a:stretch>
        </p:blipFill>
        <p:spPr>
          <a:xfrm>
            <a:off x="-45720" y="0"/>
            <a:ext cx="12280392" cy="6858000"/>
          </a:xfrm>
          <a:prstGeom prst="rect">
            <a:avLst/>
          </a:prstGeom>
        </p:spPr>
      </p:pic>
      <p:sp>
        <p:nvSpPr>
          <p:cNvPr id="3" name="Text 0"/>
          <p:cNvSpPr txBox="1"/>
          <p:nvPr/>
        </p:nvSpPr>
        <p:spPr>
          <a:xfrm>
            <a:off x="6492240" y="2560320"/>
            <a:ext cx="5212080" cy="1280160"/>
          </a:xfrm>
          <a:prstGeom prst="rect">
            <a:avLst/>
          </a:prstGeom>
          <a:noFill/>
          <a:ln/>
        </p:spPr>
        <p:txBody>
          <a:bodyPr wrap="square" lIns="0" tIns="0" rIns="0" bIns="0" rtlCol="0" anchor="ctr"/>
          <a:lstStyle/>
          <a:p>
            <a:pPr algn="ctr" indent="0" marL="0">
              <a:buNone/>
            </a:pPr>
            <a:r>
              <a:rPr lang="en-US" sz="5400" dirty="0">
                <a:solidFill>
                  <a:srgbClr val="000000"/>
                </a:solidFill>
                <a:latin typeface="Georgia" pitchFamily="34" charset="0"/>
                <a:ea typeface="Georgia" pitchFamily="34" charset="-122"/>
                <a:cs typeface="Georgia" pitchFamily="34" charset="-120"/>
              </a:rPr>
              <a:t>Questions?</a:t>
            </a:r>
            <a:endParaRPr lang="en-US" sz="54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Appendix: West Haven grades</a:t>
            </a:r>
            <a:endParaRPr lang="en-US" sz="3000" dirty="0"/>
          </a:p>
        </p:txBody>
      </p:sp>
      <p:graphicFrame>
        <p:nvGraphicFramePr>
          <p:cNvPr id="118" name="Table"/>
          <p:cNvGraphicFramePr>
            <a:graphicFrameLocks noGrp="1"/>
          </p:cNvGraphicFramePr>
          <p:nvPr>
            <p:extLst>
              <p:ext uri="{D42A27DB-BD31-4B8C-83A1-F6EECF244321}">
                <p14:modId xmlns:p14="http://schemas.microsoft.com/office/powerpoint/2010/main" val="1579011935"/>
              </p:ext>
            </p:extLst>
          </p:nvPr>
        </p:nvGraphicFramePr>
        <p:xfrm>
          <a:off x="1097280" y="1463040"/>
          <a:ext cx="9997135" cy="914400"/>
        </p:xfrm>
        <a:graphic>
          <a:graphicData uri="http://schemas.openxmlformats.org/drawingml/2006/table">
            <a:tbl>
              <a:tblPr/>
              <a:tblGrid>
                <a:gridCol w="1280160"/>
                <a:gridCol w="8714232"/>
              </a:tblGrid>
              <a:tr h="457200">
                <a:tc>
                  <a:txBody>
                    <a:bodyPr/>
                    <a:lstStyle/>
                    <a:p>
                      <a:pPr algn="l" indent="0" marL="0">
                        <a:buNone/>
                      </a:pPr>
                      <a:r>
                        <a:rPr lang="en-US" sz="1800" b="1" dirty="0">
                          <a:solidFill>
                            <a:srgbClr val="000000"/>
                          </a:solidFill>
                          <a:latin typeface="Calibri" pitchFamily="34" charset="0"/>
                          <a:ea typeface="Calibri" pitchFamily="34" charset="-122"/>
                          <a:cs typeface="Calibri" pitchFamily="34" charset="-120"/>
                        </a:rPr>
                        <a:t>Grade</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800" b="1" dirty="0">
                          <a:solidFill>
                            <a:srgbClr val="000000"/>
                          </a:solidFill>
                          <a:latin typeface="Calibri" pitchFamily="34" charset="0"/>
                          <a:ea typeface="Calibri" pitchFamily="34" charset="-122"/>
                          <a:cs typeface="Calibri" pitchFamily="34" charset="-120"/>
                        </a:rPr>
                        <a:t>What you see</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731520">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I</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Short attention, mild confusion, reversed sleep, subtle personality change</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31520">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II</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Lethargy, disorientation to time, obvious personality change, asterixis</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31520">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III</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Somnolent but rousable to voice or pain, grossly disoriented, bizarre behavior</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548640">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IV</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800" dirty="0">
                          <a:solidFill>
                            <a:srgbClr val="000000"/>
                          </a:solidFill>
                          <a:latin typeface="Calibri" pitchFamily="34" charset="0"/>
                          <a:ea typeface="Calibri" pitchFamily="34" charset="-122"/>
                          <a:cs typeface="Calibri" pitchFamily="34" charset="-120"/>
                        </a:rPr>
                        <a:t>Coma</a:t>
                      </a:r>
                      <a:endParaRPr lang="en-US" sz="18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117</a:t>
            </a:fld>
            <a:endParaRPr 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Appendix: King's College criteria</a:t>
            </a:r>
            <a:endParaRPr lang="en-US" sz="3000" dirty="0"/>
          </a:p>
        </p:txBody>
      </p:sp>
      <p:graphicFrame>
        <p:nvGraphicFramePr>
          <p:cNvPr id="119" name="Table"/>
          <p:cNvGraphicFramePr>
            <a:graphicFrameLocks noGrp="1"/>
          </p:cNvGraphicFramePr>
          <p:nvPr>
            <p:extLst>
              <p:ext uri="{D42A27DB-BD31-4B8C-83A1-F6EECF244321}">
                <p14:modId xmlns:p14="http://schemas.microsoft.com/office/powerpoint/2010/main" val="1579011935"/>
              </p:ext>
            </p:extLst>
          </p:nvPr>
        </p:nvGraphicFramePr>
        <p:xfrm>
          <a:off x="1097280" y="1371600"/>
          <a:ext cx="9997135" cy="914400"/>
        </p:xfrm>
        <a:graphic>
          <a:graphicData uri="http://schemas.openxmlformats.org/drawingml/2006/table">
            <a:tbl>
              <a:tblPr/>
              <a:tblGrid>
                <a:gridCol w="5001768"/>
                <a:gridCol w="5001768"/>
              </a:tblGrid>
              <a:tr h="411480">
                <a:tc>
                  <a:txBody>
                    <a:bodyPr/>
                    <a:lstStyle/>
                    <a:p>
                      <a:pPr algn="l" indent="0" marL="0">
                        <a:buNone/>
                      </a:pPr>
                      <a:r>
                        <a:rPr lang="en-US" sz="1700" b="1" dirty="0">
                          <a:solidFill>
                            <a:srgbClr val="000000"/>
                          </a:solidFill>
                          <a:latin typeface="Calibri" pitchFamily="34" charset="0"/>
                          <a:ea typeface="Calibri" pitchFamily="34" charset="-122"/>
                          <a:cs typeface="Calibri" pitchFamily="34" charset="-120"/>
                        </a:rPr>
                        <a:t>Acetaminophen</a:t>
                      </a:r>
                      <a:endParaRPr lang="en-US" sz="1700" dirty="0">
                        <a:latin typeface="Calibri" charset="0"/>
                        <a:ea typeface="Calibri" charset="0"/>
                        <a:cs typeface="Calibri" charset="0"/>
                      </a:endParaRPr>
                    </a:p>
                  </a:txBody>
                  <a:tcPr marL="76200" marR="76200" marT="38100" marB="3810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700" b="1" dirty="0">
                          <a:solidFill>
                            <a:srgbClr val="000000"/>
                          </a:solidFill>
                          <a:latin typeface="Calibri" pitchFamily="34" charset="0"/>
                          <a:ea typeface="Calibri" pitchFamily="34" charset="-122"/>
                          <a:cs typeface="Calibri" pitchFamily="34" charset="-120"/>
                        </a:rPr>
                        <a:t>Not acetaminophen</a:t>
                      </a:r>
                      <a:endParaRPr lang="en-US" sz="1700" dirty="0">
                        <a:latin typeface="Calibri" charset="0"/>
                        <a:ea typeface="Calibri" charset="0"/>
                        <a:cs typeface="Calibri" charset="0"/>
                      </a:endParaRPr>
                    </a:p>
                  </a:txBody>
                  <a:tcPr marL="76200" marR="76200" marT="38100" marB="3810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2377440">
                <a:tc>
                  <a:txBody>
                    <a:bodyPr/>
                    <a:lstStyle/>
                    <a:p>
                      <a:pPr algn="l" indent="0" marL="0">
                        <a:buNone/>
                      </a:pPr>
                      <a:r>
                        <a:rPr lang="en-US" sz="1700" b="1" dirty="0">
                          <a:solidFill>
                            <a:srgbClr val="000000"/>
                          </a:solidFill>
                          <a:latin typeface="Calibri" pitchFamily="34" charset="0"/>
                          <a:ea typeface="Calibri" pitchFamily="34" charset="-122"/>
                          <a:cs typeface="Calibri" pitchFamily="34" charset="-120"/>
                        </a:rPr>
                        <a:t>Arterial pH &lt; 7.30 after fluids</a:t>
                      </a:r>
                      <a:endParaRPr lang="en-US" sz="1700" dirty="0">
                        <a:latin typeface="Calibri" charset="0"/>
                        <a:ea typeface="Calibri" charset="0"/>
                        <a:cs typeface="Calibri" charset="0"/>
                      </a:endParaRPr>
                    </a:p>
                    <a:p>
                      <a:pPr algn="l" indent="0" marL="0">
                        <a:buNone/>
                      </a:pPr>
                      <a:r>
                        <a:rPr lang="en-US" sz="1700" i="1" dirty="0">
                          <a:solidFill>
                            <a:srgbClr val="000000"/>
                          </a:solidFill>
                          <a:latin typeface="Calibri" pitchFamily="34" charset="0"/>
                          <a:ea typeface="Calibri" pitchFamily="34" charset="-122"/>
                          <a:cs typeface="Calibri" pitchFamily="34" charset="-120"/>
                        </a:rPr>
                        <a:t>or all three within 24 hours:</a:t>
                      </a:r>
                      <a:endParaRPr lang="en-US" sz="1700" dirty="0">
                        <a:latin typeface="Calibri" charset="0"/>
                        <a:ea typeface="Calibri" charset="0"/>
                        <a:cs typeface="Calibri" charset="0"/>
                      </a:endParaRPr>
                    </a:p>
                    <a:p>
                      <a:pPr algn="l" indent="0" marL="0">
                        <a:buNone/>
                      </a:pPr>
                      <a:r>
                        <a:rPr lang="en-US" sz="1700" dirty="0">
                          <a:solidFill>
                            <a:srgbClr val="000000"/>
                          </a:solidFill>
                          <a:latin typeface="Calibri" pitchFamily="34" charset="0"/>
                          <a:ea typeface="Calibri" pitchFamily="34" charset="-122"/>
                          <a:cs typeface="Calibri" pitchFamily="34" charset="-120"/>
                        </a:rPr>
                        <a:t>INR &gt; 6.5</a:t>
                      </a:r>
                      <a:endParaRPr lang="en-US" sz="1700" dirty="0">
                        <a:latin typeface="Calibri" charset="0"/>
                        <a:ea typeface="Calibri" charset="0"/>
                        <a:cs typeface="Calibri" charset="0"/>
                      </a:endParaRPr>
                    </a:p>
                    <a:p>
                      <a:pPr algn="l" indent="0" marL="0">
                        <a:buNone/>
                      </a:pPr>
                      <a:r>
                        <a:rPr lang="en-US" sz="1700" dirty="0">
                          <a:solidFill>
                            <a:srgbClr val="000000"/>
                          </a:solidFill>
                          <a:latin typeface="Calibri" pitchFamily="34" charset="0"/>
                          <a:ea typeface="Calibri" pitchFamily="34" charset="-122"/>
                          <a:cs typeface="Calibri" pitchFamily="34" charset="-120"/>
                        </a:rPr>
                        <a:t>Creatinine &gt; 3.4 mg/dL</a:t>
                      </a:r>
                      <a:endParaRPr lang="en-US" sz="1700" dirty="0">
                        <a:latin typeface="Calibri" charset="0"/>
                        <a:ea typeface="Calibri" charset="0"/>
                        <a:cs typeface="Calibri" charset="0"/>
                      </a:endParaRPr>
                    </a:p>
                    <a:p>
                      <a:pPr algn="l" indent="0" marL="0">
                        <a:buNone/>
                      </a:pPr>
                      <a:r>
                        <a:rPr lang="en-US" sz="1700" dirty="0">
                          <a:solidFill>
                            <a:srgbClr val="000000"/>
                          </a:solidFill>
                          <a:latin typeface="Calibri" pitchFamily="34" charset="0"/>
                          <a:ea typeface="Calibri" pitchFamily="34" charset="-122"/>
                          <a:cs typeface="Calibri" pitchFamily="34" charset="-120"/>
                        </a:rPr>
                        <a:t>Grade III-IV encephalopathy</a:t>
                      </a:r>
                      <a:endParaRPr lang="en-US" sz="1700" dirty="0">
                        <a:latin typeface="Calibri" charset="0"/>
                        <a:ea typeface="Calibri" charset="0"/>
                        <a:cs typeface="Calibri" charset="0"/>
                      </a:endParaRPr>
                    </a:p>
                    <a:p>
                      <a:pPr algn="l" indent="0" marL="0">
                        <a:buNone/>
                      </a:pPr>
                      <a:r>
                        <a:rPr lang="en-US" sz="1400" i="1" dirty="0">
                          <a:solidFill>
                            <a:srgbClr val="000000"/>
                          </a:solidFill>
                          <a:latin typeface="Calibri" pitchFamily="34" charset="0"/>
                          <a:ea typeface="Calibri" pitchFamily="34" charset="-122"/>
                          <a:cs typeface="Calibri" pitchFamily="34" charset="-120"/>
                        </a:rPr>
                        <a:t>(Modified: lactate &gt; 3.5 at 4 h or &gt; 3.0 at 12 h after fluids)</a:t>
                      </a:r>
                      <a:endParaRPr lang="en-US" sz="1700" dirty="0">
                        <a:latin typeface="Calibri" charset="0"/>
                        <a:ea typeface="Calibri" charset="0"/>
                        <a:cs typeface="Calibri" charset="0"/>
                      </a:endParaRPr>
                    </a:p>
                  </a:txBody>
                  <a:tcPr marL="76200" marR="76200" marT="38100" marB="3810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700" b="1" dirty="0">
                          <a:solidFill>
                            <a:srgbClr val="000000"/>
                          </a:solidFill>
                          <a:latin typeface="Calibri" pitchFamily="34" charset="0"/>
                          <a:ea typeface="Calibri" pitchFamily="34" charset="-122"/>
                          <a:cs typeface="Calibri" pitchFamily="34" charset="-120"/>
                        </a:rPr>
                        <a:t>INR &gt; 6.5</a:t>
                      </a:r>
                      <a:endParaRPr lang="en-US" sz="1700" dirty="0">
                        <a:latin typeface="Calibri" charset="0"/>
                        <a:ea typeface="Calibri" charset="0"/>
                        <a:cs typeface="Calibri" charset="0"/>
                      </a:endParaRPr>
                    </a:p>
                    <a:p>
                      <a:pPr algn="l" indent="0" marL="0">
                        <a:buNone/>
                      </a:pPr>
                      <a:r>
                        <a:rPr lang="en-US" sz="1700" i="1" dirty="0">
                          <a:solidFill>
                            <a:srgbClr val="000000"/>
                          </a:solidFill>
                          <a:latin typeface="Calibri" pitchFamily="34" charset="0"/>
                          <a:ea typeface="Calibri" pitchFamily="34" charset="-122"/>
                          <a:cs typeface="Calibri" pitchFamily="34" charset="-120"/>
                        </a:rPr>
                        <a:t>or any three of:</a:t>
                      </a:r>
                      <a:endParaRPr lang="en-US" sz="1700" dirty="0">
                        <a:latin typeface="Calibri" charset="0"/>
                        <a:ea typeface="Calibri" charset="0"/>
                        <a:cs typeface="Calibri" charset="0"/>
                      </a:endParaRPr>
                    </a:p>
                    <a:p>
                      <a:pPr algn="l" indent="0" marL="0">
                        <a:buNone/>
                      </a:pPr>
                      <a:r>
                        <a:rPr lang="en-US" sz="1700" dirty="0">
                          <a:solidFill>
                            <a:srgbClr val="000000"/>
                          </a:solidFill>
                          <a:latin typeface="Calibri" pitchFamily="34" charset="0"/>
                          <a:ea typeface="Calibri" pitchFamily="34" charset="-122"/>
                          <a:cs typeface="Calibri" pitchFamily="34" charset="-120"/>
                        </a:rPr>
                        <a:t>Age &lt; 10 or &gt; 40</a:t>
                      </a:r>
                      <a:endParaRPr lang="en-US" sz="1700" dirty="0">
                        <a:latin typeface="Calibri" charset="0"/>
                        <a:ea typeface="Calibri" charset="0"/>
                        <a:cs typeface="Calibri" charset="0"/>
                      </a:endParaRPr>
                    </a:p>
                    <a:p>
                      <a:pPr algn="l" indent="0" marL="0">
                        <a:buNone/>
                      </a:pPr>
                      <a:r>
                        <a:rPr lang="en-US" sz="1700" dirty="0">
                          <a:solidFill>
                            <a:srgbClr val="000000"/>
                          </a:solidFill>
                          <a:latin typeface="Calibri" pitchFamily="34" charset="0"/>
                          <a:ea typeface="Calibri" pitchFamily="34" charset="-122"/>
                          <a:cs typeface="Calibri" pitchFamily="34" charset="-120"/>
                        </a:rPr>
                        <a:t>Drug reaction, or indeterminate cause</a:t>
                      </a:r>
                      <a:endParaRPr lang="en-US" sz="1700" dirty="0">
                        <a:latin typeface="Calibri" charset="0"/>
                        <a:ea typeface="Calibri" charset="0"/>
                        <a:cs typeface="Calibri" charset="0"/>
                      </a:endParaRPr>
                    </a:p>
                    <a:p>
                      <a:pPr algn="l" indent="0" marL="0">
                        <a:buNone/>
                      </a:pPr>
                      <a:r>
                        <a:rPr lang="en-US" sz="1700" dirty="0">
                          <a:solidFill>
                            <a:srgbClr val="000000"/>
                          </a:solidFill>
                          <a:latin typeface="Calibri" pitchFamily="34" charset="0"/>
                          <a:ea typeface="Calibri" pitchFamily="34" charset="-122"/>
                          <a:cs typeface="Calibri" pitchFamily="34" charset="-120"/>
                        </a:rPr>
                        <a:t>Jaundice to encephalopathy &gt; 7 days</a:t>
                      </a:r>
                      <a:endParaRPr lang="en-US" sz="1700" dirty="0">
                        <a:latin typeface="Calibri" charset="0"/>
                        <a:ea typeface="Calibri" charset="0"/>
                        <a:cs typeface="Calibri" charset="0"/>
                      </a:endParaRPr>
                    </a:p>
                    <a:p>
                      <a:pPr algn="l" indent="0" marL="0">
                        <a:buNone/>
                      </a:pPr>
                      <a:r>
                        <a:rPr lang="en-US" sz="1700" dirty="0">
                          <a:solidFill>
                            <a:srgbClr val="000000"/>
                          </a:solidFill>
                          <a:latin typeface="Calibri" pitchFamily="34" charset="0"/>
                          <a:ea typeface="Calibri" pitchFamily="34" charset="-122"/>
                          <a:cs typeface="Calibri" pitchFamily="34" charset="-120"/>
                        </a:rPr>
                        <a:t>INR &gt; 3.5</a:t>
                      </a:r>
                      <a:endParaRPr lang="en-US" sz="1700" dirty="0">
                        <a:latin typeface="Calibri" charset="0"/>
                        <a:ea typeface="Calibri" charset="0"/>
                        <a:cs typeface="Calibri" charset="0"/>
                      </a:endParaRPr>
                    </a:p>
                    <a:p>
                      <a:pPr algn="l" indent="0" marL="0">
                        <a:buNone/>
                      </a:pPr>
                      <a:r>
                        <a:rPr lang="en-US" sz="1700" dirty="0">
                          <a:solidFill>
                            <a:srgbClr val="000000"/>
                          </a:solidFill>
                          <a:latin typeface="Calibri" pitchFamily="34" charset="0"/>
                          <a:ea typeface="Calibri" pitchFamily="34" charset="-122"/>
                          <a:cs typeface="Calibri" pitchFamily="34" charset="-120"/>
                        </a:rPr>
                        <a:t>Bilirubin &gt; 17.5 mg/dL</a:t>
                      </a:r>
                      <a:endParaRPr lang="en-US" sz="1700" dirty="0">
                        <a:latin typeface="Calibri" charset="0"/>
                        <a:ea typeface="Calibri" charset="0"/>
                        <a:cs typeface="Calibri" charset="0"/>
                      </a:endParaRPr>
                    </a:p>
                  </a:txBody>
                  <a:tcPr marL="76200" marR="76200" marT="38100" marB="38100" anchor="t">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Body"/>
          <p:cNvSpPr txBox="1"/>
          <p:nvPr/>
        </p:nvSpPr>
        <p:spPr>
          <a:xfrm>
            <a:off x="822960" y="4343400"/>
            <a:ext cx="10545775" cy="548640"/>
          </a:xfrm>
          <a:prstGeom prst="rect">
            <a:avLst/>
          </a:prstGeom>
          <a:noFill/>
          <a:ln/>
        </p:spPr>
        <p:txBody>
          <a:bodyPr wrap="square" lIns="50800" tIns="50800" rIns="50800" bIns="50800" rtlCol="0" anchor="t"/>
          <a:lstStyle/>
          <a:p>
            <a:pPr algn="ctr" indent="0" marL="0">
              <a:spcBef>
                <a:spcPts val="800"/>
              </a:spcBef>
              <a:buNone/>
            </a:pPr>
            <a:r>
              <a:rPr lang="en-US" sz="1700" i="1" dirty="0">
                <a:solidFill>
                  <a:srgbClr val="000000"/>
                </a:solidFill>
                <a:latin typeface="Georgia" pitchFamily="34" charset="0"/>
                <a:ea typeface="Georgia" pitchFamily="34" charset="-122"/>
                <a:cs typeface="Georgia" pitchFamily="34" charset="-120"/>
              </a:rPr>
              <a:t>Original O'Grady criteria; the lactate line is the later modification</a:t>
            </a:r>
            <a:endParaRPr lang="en-US" sz="17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O'Grady 1989 criteria, as summarized in EASL 2017 [PMID: 28417882] and update 2022 [PMID: 36001996]</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118</a:t>
            </a:fld>
            <a:endParaRPr lang="en-US"/>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Appendix: arterial ammonia studies in ALF</a:t>
            </a:r>
            <a:endParaRPr lang="en-US" sz="3000" dirty="0"/>
          </a:p>
        </p:txBody>
      </p:sp>
      <p:graphicFrame>
        <p:nvGraphicFramePr>
          <p:cNvPr id="120" name="Table"/>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2651760"/>
                <a:gridCol w="1828800"/>
                <a:gridCol w="4480560"/>
                <a:gridCol w="2130552"/>
              </a:tblGrid>
              <a:tr h="457200">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Study (arterial ammonia)</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Patients</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What they found</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The catch</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86868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Clemmesen 1999, Copenhagen</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44 ALF</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14 herniated. Mean ammonia 230 vs 118 μmol/L; every herniation was above 146</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Small, one center</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7724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Bhatia 2006, Delhi</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80 ALF</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Admission ammonia ≥ 124 predicted death (sensitivity 79%, specificity 76%)</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One center; the endpoint was death, not ICH</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7724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Bernal 2007, King's</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165 ALF, grade III-IV</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&gt; 100 predicted severe HE (70% accuracy). </a:t>
                      </a:r>
                      <a:r>
                        <a:rPr lang="en-US" sz="1600" b="1" dirty="0">
                          <a:solidFill>
                            <a:srgbClr val="000000"/>
                          </a:solidFill>
                          <a:latin typeface="Calibri" pitchFamily="34" charset="0"/>
                          <a:ea typeface="Calibri" pitchFamily="34" charset="-122"/>
                          <a:cs typeface="Calibri" pitchFamily="34" charset="-120"/>
                        </a:rPr>
                        <a:t>&gt; 200: ICH in 55%</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200 missed most of the ICH cases</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77724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Kumar 2012, Delhi</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295 ALF</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 122 for 3 days: survival 23% vs 72%</a:t>
                      </a:r>
                      <a:r>
                        <a:rPr lang="en-US" sz="1600" dirty="0">
                          <a:solidFill>
                            <a:srgbClr val="000000"/>
                          </a:solidFill>
                          <a:latin typeface="Calibri" pitchFamily="34" charset="0"/>
                          <a:ea typeface="Calibri" pitchFamily="34" charset="-122"/>
                          <a:cs typeface="Calibri" pitchFamily="34" charset="-120"/>
                        </a:rPr>
                        <a:t>, cerebral edema 71% vs 37%</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One center, but the trend beat a single value</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Question"/>
          <p:cNvSpPr txBox="1"/>
          <p:nvPr/>
        </p:nvSpPr>
        <p:spPr>
          <a:xfrm>
            <a:off x="822960" y="5074920"/>
            <a:ext cx="10545775" cy="548640"/>
          </a:xfrm>
          <a:prstGeom prst="rect">
            <a:avLst/>
          </a:prstGeom>
          <a:noFill/>
          <a:ln/>
        </p:spPr>
        <p:txBody>
          <a:bodyPr wrap="square" lIns="0" tIns="0" rIns="0" bIns="0" rtlCol="0" anchor="ctr"/>
          <a:lstStyle/>
          <a:p>
            <a:pPr algn="ctr" indent="0" marL="0">
              <a:buNone/>
            </a:pPr>
            <a:r>
              <a:rPr lang="en-US" sz="2200" b="1" dirty="0">
                <a:solidFill>
                  <a:srgbClr val="000000"/>
                </a:solidFill>
                <a:highlight>
                  <a:srgbClr val="FFFF00"/>
                </a:highlight>
                <a:latin typeface="Georgia" pitchFamily="34" charset="0"/>
                <a:ea typeface="Georgia" pitchFamily="34" charset="-122"/>
                <a:cs typeface="Georgia" pitchFamily="34" charset="-120"/>
              </a:rPr>
              <a:t>Above 150 to 200 and not falling: worry about the brain</a:t>
            </a:r>
            <a:endParaRPr lang="en-US" sz="2200" dirty="0"/>
          </a:p>
        </p:txBody>
      </p:sp>
      <p:sp>
        <p:nvSpPr>
          <p:cNvPr id="5" name="Body"/>
          <p:cNvSpPr txBox="1"/>
          <p:nvPr/>
        </p:nvSpPr>
        <p:spPr>
          <a:xfrm>
            <a:off x="822960" y="5577840"/>
            <a:ext cx="10545775" cy="548640"/>
          </a:xfrm>
          <a:prstGeom prst="rect">
            <a:avLst/>
          </a:prstGeom>
          <a:noFill/>
          <a:ln/>
        </p:spPr>
        <p:txBody>
          <a:bodyPr wrap="square" lIns="50800" tIns="50800" rIns="50800" bIns="50800" rtlCol="0" anchor="t"/>
          <a:lstStyle/>
          <a:p>
            <a:pPr algn="ctr" indent="0" marL="0">
              <a:spcBef>
                <a:spcPts val="800"/>
              </a:spcBef>
              <a:buNone/>
            </a:pPr>
            <a:r>
              <a:rPr lang="en-US" sz="1800" i="1" dirty="0">
                <a:solidFill>
                  <a:srgbClr val="000000"/>
                </a:solidFill>
                <a:latin typeface="Georgia" pitchFamily="34" charset="0"/>
                <a:ea typeface="Georgia" pitchFamily="34" charset="-122"/>
                <a:cs typeface="Georgia" pitchFamily="34" charset="-120"/>
              </a:rPr>
              <a:t>ICH can occur below 200. Interpret the level with the HE grade and the trend</a:t>
            </a:r>
            <a:endParaRPr lang="en-US" sz="1800" dirty="0"/>
          </a:p>
        </p:txBody>
      </p:sp>
      <p:sp>
        <p:nvSpPr>
          <p:cNvPr id="6"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Clemmesen 1999 [PMID: 10051463]; Bhatia 2006 [PMID: 16024550]; Bernal 2007 [PMID: 17685471]; Kumar 2012 [PMID: 22521861]</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119</a:t>
            </a:fld>
            <a:endParaRPr 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Appendix: which ACLF?</a:t>
            </a:r>
            <a:endParaRPr lang="en-US" sz="3000" dirty="0"/>
          </a:p>
        </p:txBody>
      </p:sp>
      <p:graphicFrame>
        <p:nvGraphicFramePr>
          <p:cNvPr id="121" name="Table"/>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1645920"/>
                <a:gridCol w="3108960"/>
                <a:gridCol w="3291840"/>
                <a:gridCol w="3044952"/>
              </a:tblGrid>
              <a:tr h="457200">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EASL-CLIF</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NACSELD</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c>
                  <a:txBody>
                    <a:bodyPr/>
                    <a:lstStyle/>
                    <a:p>
                      <a:pPr algn="l" indent="0" marL="0">
                        <a:buNone/>
                      </a:pPr>
                      <a:r>
                        <a:rPr lang="en-US" sz="1600" b="1" dirty="0">
                          <a:solidFill>
                            <a:srgbClr val="000000"/>
                          </a:solidFill>
                          <a:latin typeface="Calibri" pitchFamily="34" charset="0"/>
                          <a:ea typeface="Calibri" pitchFamily="34" charset="-122"/>
                          <a:cs typeface="Calibri" pitchFamily="34" charset="-120"/>
                        </a:rPr>
                        <a:t>APASL</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2F2F2"/>
                    </a:solidFill>
                  </a:tcPr>
                </a:tc>
              </a:tr>
              <a:tr h="82296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Who</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Cirrhosis with acute decompensation</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Cirrhosis, hospitalized</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Chronic liver disease, with or without cirrhosis</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128016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Defined by</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Organ failures (CLIF-C)</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Two or more extrahepatic failures: shock, grade III-IV HE, dialysis, ventilation</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Jaundice (bilirubin ≥ 5) and INR ≥ 1.5, then ascites or HE within 4 weeks</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r h="685800">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Picks up</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Broader, earlier</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Sicker patients</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Calibri" pitchFamily="34" charset="0"/>
                          <a:ea typeface="Calibri" pitchFamily="34" charset="-122"/>
                          <a:cs typeface="Calibri" pitchFamily="34" charset="-120"/>
                        </a:rPr>
                        <a:t>A primary liver insult</a:t>
                      </a:r>
                      <a:endParaRPr lang="en-US" sz="1600" dirty="0">
                        <a:latin typeface="Calibri" charset="0"/>
                        <a:ea typeface="Calibri" charset="0"/>
                        <a:cs typeface="Calibri" charset="0"/>
                      </a:endParaRPr>
                    </a:p>
                  </a:txBody>
                  <a:tcPr marL="76200" marR="76200" marT="38100" marB="38100"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r>
            </a:tbl>
          </a:graphicData>
        </a:graphic>
      </p:graphicFrame>
      <p:sp>
        <p:nvSpPr>
          <p:cNvPr id="4" name="Question"/>
          <p:cNvSpPr txBox="1"/>
          <p:nvPr/>
        </p:nvSpPr>
        <p:spPr>
          <a:xfrm>
            <a:off x="822960" y="5120640"/>
            <a:ext cx="10545775" cy="548640"/>
          </a:xfrm>
          <a:prstGeom prst="rect">
            <a:avLst/>
          </a:prstGeom>
          <a:noFill/>
          <a:ln/>
        </p:spPr>
        <p:txBody>
          <a:bodyPr wrap="square" lIns="0" tIns="0" rIns="0" bIns="0" rtlCol="0" anchor="ctr"/>
          <a:lstStyle/>
          <a:p>
            <a:pPr algn="ctr" indent="0" marL="0">
              <a:buNone/>
            </a:pPr>
            <a:r>
              <a:rPr lang="en-US" sz="2200" b="1" dirty="0">
                <a:solidFill>
                  <a:srgbClr val="000000"/>
                </a:solidFill>
                <a:latin typeface="Georgia" pitchFamily="34" charset="0"/>
                <a:ea typeface="Georgia" pitchFamily="34" charset="-122"/>
                <a:cs typeface="Georgia" pitchFamily="34" charset="-120"/>
              </a:rPr>
              <a:t>They find different patients. Say which one you're using</a:t>
            </a:r>
            <a:endParaRPr lang="en-US" sz="22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Kyoto consensus 2025 [PMID: 39961976]; ACG ACLF 2022 [PMID: 35006099]; AASLD 2024 [PMID: 37939273]</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120</a:t>
            </a:fld>
            <a:endParaRPr 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Appendix: early transplant for alcohol-associated hepatitis</a:t>
            </a:r>
            <a:endParaRPr lang="en-US" sz="3000" dirty="0"/>
          </a:p>
        </p:txBody>
      </p:sp>
      <p:pic>
        <p:nvPicPr>
          <p:cNvPr id="3" name="Image 0" descr="Survival with early transplant vs matched controls">    </p:cNvPr>
          <p:cNvPicPr>
            <a:picLocks noChangeAspect="1"/>
          </p:cNvPicPr>
          <p:nvPr/>
        </p:nvPicPr>
        <p:blipFill>
          <a:blip r:embed="rId1"/>
          <a:stretch>
            <a:fillRect/>
          </a:stretch>
        </p:blipFill>
        <p:spPr>
          <a:xfrm>
            <a:off x="457200" y="1280160"/>
            <a:ext cx="6766560" cy="4800600"/>
          </a:xfrm>
          <a:prstGeom prst="rect">
            <a:avLst/>
          </a:prstGeom>
        </p:spPr>
      </p:pic>
      <p:sp>
        <p:nvSpPr>
          <p:cNvPr id="4" name="Body"/>
          <p:cNvSpPr txBox="1"/>
          <p:nvPr/>
        </p:nvSpPr>
        <p:spPr>
          <a:xfrm>
            <a:off x="7498080" y="1463040"/>
            <a:ext cx="4297680" cy="4572000"/>
          </a:xfrm>
          <a:prstGeom prst="rect">
            <a:avLst/>
          </a:prstGeom>
          <a:noFill/>
          <a:ln/>
        </p:spPr>
        <p:txBody>
          <a:bodyPr wrap="square" lIns="50800" tIns="50800" rIns="50800" bIns="50800" rtlCol="0" anchor="t"/>
          <a:lstStyle/>
          <a:p>
            <a:pPr marL="228600" indent="-228600">
              <a:spcBef>
                <a:spcPts val="1200"/>
              </a:spcBef>
              <a:buSzPct val="100000"/>
              <a:buChar char="–"/>
            </a:pPr>
            <a:r>
              <a:rPr lang="en-US" sz="1900" dirty="0">
                <a:solidFill>
                  <a:srgbClr val="000000"/>
                </a:solidFill>
                <a:latin typeface="Georgia" pitchFamily="34" charset="0"/>
                <a:ea typeface="Georgia" pitchFamily="34" charset="-122"/>
                <a:cs typeface="Georgia" pitchFamily="34" charset="-120"/>
              </a:rPr>
              <a:t>26 patients with a first episode of severe alcohol-associated hepatitis, not responding to steroids</a:t>
            </a:r>
            <a:endParaRPr lang="en-US" sz="1900" dirty="0"/>
          </a:p>
          <a:p>
            <a:pPr marL="228600" indent="-228600">
              <a:spcBef>
                <a:spcPts val="1200"/>
              </a:spcBef>
              <a:buSzPct val="100000"/>
              <a:buChar char="–"/>
            </a:pPr>
            <a:r>
              <a:rPr lang="en-US" sz="1900" dirty="0">
                <a:solidFill>
                  <a:srgbClr val="000000"/>
                </a:solidFill>
                <a:latin typeface="Georgia" pitchFamily="34" charset="0"/>
                <a:ea typeface="Georgia" pitchFamily="34" charset="-122"/>
                <a:cs typeface="Georgia" pitchFamily="34" charset="-120"/>
              </a:rPr>
              <a:t>Highly selected: first liver-related event, close family support, no severe other illness, agreed to abstinence</a:t>
            </a:r>
            <a:endParaRPr lang="en-US" sz="1900" dirty="0"/>
          </a:p>
          <a:p>
            <a:pPr marL="228600" indent="-228600">
              <a:spcBef>
                <a:spcPts val="1200"/>
              </a:spcBef>
              <a:buSzPct val="100000"/>
              <a:buChar char="–"/>
            </a:pPr>
            <a:r>
              <a:rPr lang="en-US" sz="1900" dirty="0">
                <a:solidFill>
                  <a:srgbClr val="000000"/>
                </a:solidFill>
                <a:latin typeface="Georgia" pitchFamily="34" charset="0"/>
                <a:ea typeface="Georgia" pitchFamily="34" charset="-122"/>
                <a:cs typeface="Georgia" pitchFamily="34" charset="-120"/>
              </a:rPr>
              <a:t>6-month survival </a:t>
            </a:r>
            <a:r>
              <a:rPr lang="en-US" sz="1900" b="1" dirty="0">
                <a:solidFill>
                  <a:srgbClr val="000000"/>
                </a:solidFill>
                <a:latin typeface="Georgia" pitchFamily="34" charset="0"/>
                <a:ea typeface="Georgia" pitchFamily="34" charset="-122"/>
                <a:cs typeface="Georgia" pitchFamily="34" charset="-120"/>
              </a:rPr>
              <a:t>77% vs 23%</a:t>
            </a:r>
            <a:endParaRPr lang="en-US" sz="1900" dirty="0"/>
          </a:p>
          <a:p>
            <a:pPr marL="228600" indent="-228600">
              <a:spcBef>
                <a:spcPts val="1200"/>
              </a:spcBef>
              <a:buSzPct val="100000"/>
              <a:buChar char="–"/>
            </a:pPr>
            <a:r>
              <a:rPr lang="en-US" sz="1900" dirty="0">
                <a:solidFill>
                  <a:srgbClr val="000000"/>
                </a:solidFill>
                <a:latin typeface="Georgia" pitchFamily="34" charset="0"/>
                <a:ea typeface="Georgia" pitchFamily="34" charset="-122"/>
                <a:cs typeface="Georgia" pitchFamily="34" charset="-120"/>
              </a:rPr>
              <a:t>Recent drinking alone is not a reason to skip the call</a:t>
            </a:r>
            <a:endParaRPr lang="en-US" sz="1900" dirty="0"/>
          </a:p>
        </p:txBody>
      </p:sp>
      <p:sp>
        <p:nvSpPr>
          <p:cNvPr id="5" name="Source"/>
          <p:cNvSpPr txBox="1"/>
          <p:nvPr/>
        </p:nvSpPr>
        <p:spPr>
          <a:xfrm>
            <a:off x="548640" y="6355080"/>
            <a:ext cx="10545775" cy="320040"/>
          </a:xfrm>
          <a:prstGeom prst="rect">
            <a:avLst/>
          </a:prstGeom>
          <a:noFill/>
          <a:ln/>
        </p:spPr>
        <p:txBody>
          <a:bodyPr wrap="square" lIns="0" tIns="0" rIns="0" bIns="0" rtlCol="0" anchor="b"/>
          <a:lstStyle/>
          <a:p>
            <a:pPr indent="0" marL="0">
              <a:buNone/>
            </a:pPr>
            <a:r>
              <a:rPr lang="en-US" sz="1000" i="1" dirty="0">
                <a:solidFill>
                  <a:srgbClr val="595959"/>
                </a:solidFill>
                <a:latin typeface="Georgia" pitchFamily="34" charset="0"/>
                <a:ea typeface="Georgia" pitchFamily="34" charset="-122"/>
                <a:cs typeface="Georgia" pitchFamily="34" charset="-120"/>
              </a:rPr>
              <a:t>Mathurin P et al. N Engl J Med 2011 [PMID: 22070476]</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121</a:t>
            </a:fld>
            <a:endParaRPr 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Appendix: sources (1)</a:t>
            </a:r>
            <a:endParaRPr lang="en-US" sz="3000" dirty="0"/>
          </a:p>
        </p:txBody>
      </p:sp>
      <p:sp>
        <p:nvSpPr>
          <p:cNvPr id="3" name="Body"/>
          <p:cNvSpPr txBox="1"/>
          <p:nvPr/>
        </p:nvSpPr>
        <p:spPr>
          <a:xfrm>
            <a:off x="822960" y="1234440"/>
            <a:ext cx="10545775" cy="5029200"/>
          </a:xfrm>
          <a:prstGeom prst="rect">
            <a:avLst/>
          </a:prstGeom>
          <a:noFill/>
          <a:ln/>
        </p:spPr>
        <p:txBody>
          <a:bodyPr wrap="square" lIns="50800" tIns="50800" rIns="50800" bIns="50800" rtlCol="0" anchor="t"/>
          <a:lstStyle/>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SCCM ALF/ACLF ICU guidelines, part 1. Crit Care Med 2020 [PMID: 32058387]</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SCCM ALF/ACLF ICU guidelines, part 2. Crit Care Med 2023 [PMID: 37052436]</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EASL acute liver failure guideline. J Hepatol 2017 [PMID: 28417882]</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ACG acute liver failure guideline. Am J Gastroenterol 2023 [PMID: 37377263]</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Management of acute liver failure: update 2022. Semin Liver Dis [PMID: 36001996]</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Acute liver failure: a practical update. JHEP Rep 2024 [PMID: 39170946]</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EASL ACLF guideline. J Hepatol 2023 [PMID: 37364789]</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AASLD ACLF and critically ill cirrhosis guidance. Hepatology 2024 [PMID: 37939273], errata [PMID: 38551831], [PMID: 42467893]</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ACG ACLF guideline. Am J Gastroenterol 2022 [PMID: 35006099]</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ADQI-ICA consensus on AKI in cirrhosis. J Hepatol 2024 [PMID: 38527522]</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Surviving Sepsis Campaign 2026. Crit Care Med [PMID: 41869847]</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EASL autoimmune hepatitis guideline. J Hepatol 2025 [PMID: 40348684]</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EASL hepatic encephalopathy guideline. J Hepatol 2022 [PMID: 35724930]</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US/Canada acetaminophen poisoning consensus. JAMA Netw Open 2023 [PMID: 37552484]</a:t>
            </a:r>
            <a:endParaRPr lang="en-US" sz="15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122</a:t>
            </a:fld>
            <a:endParaRPr lang="en-US"/>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11094415" cy="914400"/>
          </a:xfrm>
          <a:prstGeom prst="rect">
            <a:avLst/>
          </a:prstGeom>
          <a:noFill/>
          <a:ln/>
        </p:spPr>
        <p:txBody>
          <a:bodyPr wrap="square" rtlCol="0" anchor="ctr"/>
          <a:lstStyle/>
          <a:p>
            <a:pPr algn="ctr" indent="0" marL="0">
              <a:buNone/>
            </a:pPr>
            <a:r>
              <a:rPr lang="en-US" sz="3000" dirty="0">
                <a:solidFill>
                  <a:srgbClr val="000000"/>
                </a:solidFill>
                <a:latin typeface="Georgia" pitchFamily="34" charset="0"/>
                <a:ea typeface="Georgia" pitchFamily="34" charset="-122"/>
                <a:cs typeface="Georgia" pitchFamily="34" charset="-120"/>
              </a:rPr>
              <a:t>Appendix: sources (2)</a:t>
            </a:r>
            <a:endParaRPr lang="en-US" sz="3000" dirty="0"/>
          </a:p>
        </p:txBody>
      </p:sp>
      <p:sp>
        <p:nvSpPr>
          <p:cNvPr id="3" name="Body"/>
          <p:cNvSpPr txBox="1"/>
          <p:nvPr/>
        </p:nvSpPr>
        <p:spPr>
          <a:xfrm>
            <a:off x="822960" y="1234440"/>
            <a:ext cx="10545775" cy="5029200"/>
          </a:xfrm>
          <a:prstGeom prst="rect">
            <a:avLst/>
          </a:prstGeom>
          <a:noFill/>
          <a:ln/>
        </p:spPr>
        <p:txBody>
          <a:bodyPr wrap="square" lIns="50800" tIns="50800" rIns="50800" bIns="50800" rtlCol="0" anchor="t"/>
          <a:lstStyle/>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Moreau R et al. CANONIC. Gastroenterology 2013 [PMID: 23474284]</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Jalan R et al. CLIF-C ACLF score. J Hepatol 2014 [PMID: 24950482]</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Lee WM et al. NAC in non-acetaminophen ALF. Gastroenterology 2009 [PMID: 19524577]</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Clemmesen JO et al. Cerebral herniation and arterial ammonia. Hepatology 1999 [PMID: 10051463]</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Bernal W et al. Arterial ammonia, HE and intracranial hypertension. Hepatology 2007 [PMID: 17685471]</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Bhatia V et al. Arterial ammonia in ALF. Gut 2006 [PMID: 16024550]</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Kumar R et al. Persistent hyperammonemia in ALF. Clin Gastroenterol Hepatol 2012 [PMID: 22521861]</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Cardoso FS et al. CRRT and ammonia in ALF. Hepatology 2018 [PMID: 28859230]</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Pre-emptive CRRT in ALF with cerebral edema. Aliment Pharmacol Ther 2026 [PMID: 42332991]</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Larsen FS et al. High-volume plasma exchange. J Hepatol 2016 [PMID: 26325537]</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Cavallin M et al. Terlipressin vs midodrine and octreotide. Hepatology 2015 [PMID: 25644760]</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Wong F et al. CONFIRM. NEJM 2021 [PMID: 33657294]</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Artru F et al. Transplant in ACLF grade 3. J Hepatol 2017 [PMID: 28645736]</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Mathurin P et al. Early transplant for alcoholic hepatitis. NEJM 2011 [PMID: 22070476]</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China L et al. ATTIRE. NEJM 2021 [PMID: 33657293]</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Liver transplantation for ACLF. Lancet Gastroenterol Hepatol 2024 [PMID: 38309288]</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AASLD/AST candidate evaluation guideline. Hepatology 2026 [PMID: 41405234]</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Kyoto consensus on ACLF. Hepatol Int 2025 [PMID: 39961976]</a:t>
            </a:r>
            <a:endParaRPr lang="en-US" sz="1500" dirty="0"/>
          </a:p>
          <a:p>
            <a:pPr marL="228600" indent="-228600">
              <a:spcBef>
                <a:spcPts val="400"/>
              </a:spcBef>
              <a:buSzPct val="100000"/>
              <a:buChar char="–"/>
            </a:pPr>
            <a:r>
              <a:rPr lang="en-US" sz="1500" dirty="0">
                <a:solidFill>
                  <a:srgbClr val="000000"/>
                </a:solidFill>
                <a:latin typeface="Georgia" pitchFamily="34" charset="0"/>
                <a:ea typeface="Georgia" pitchFamily="34" charset="-122"/>
                <a:cs typeface="Georgia" pitchFamily="34" charset="-120"/>
              </a:rPr>
              <a:t>TERLIVAZ (terlipressin) prescribing information, revised 6/2026</a:t>
            </a:r>
            <a:endParaRPr lang="en-US" sz="15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6A6A6"/>
                </a:solidFill>
                <a:latin typeface="Georgia"/>
                <a:ea typeface="Georgia"/>
                <a:cs typeface="Georgia"/>
              </a:defRPr>
            </a:lvl1pPr>
          </a:lstStyle>
          <a:p>
            <a:pPr algn="r"/>
            <a:fld id="{F7021451-1387-4CA6-816F-3879F97B5CBC}" type="slidenum">
              <a:rPr b="0" lang="en-US"/>
              <a:t>123</a:t>
            </a:fld>
            <a:endParaRPr lang="en-US"/>
          </a:p>
        </p:txBody>
      </p:sp>
    </p:spTree>
  </p:cSld>
  <p:clrMapOvr>
    <a:masterClrMapping/>
  </p:clrMapOvr>
</p:sld>
</file>

<file path=ppt/theme/theme1.xml><?xml version="1.0" encoding="utf-8"?>
<a:theme xmlns:a="http://schemas.openxmlformats.org/drawingml/2006/main" name="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orgi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123</Slides>
  <Notes>123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123</vt:i4>
      </vt:variant>
    </vt:vector>
  </HeadingPairs>
  <TitlesOfParts>
    <vt:vector size="1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Acute Liver Failure and ACLF in the ICU</dc:title>
  <dc:subject>PptxGenJS Presentation</dc:subject>
  <dc:creator>Mohammad Almeqdadi, MD</dc:creator>
  <cp:lastModifiedBy>Mohammad Almeqdadi, MD</cp:lastModifiedBy>
  <cp:revision>1</cp:revision>
  <dcterms:created xsi:type="dcterms:W3CDTF">2026-10-26T23:10:12Z</dcterms:created>
  <dcterms:modified xsi:type="dcterms:W3CDTF">2026-10-26T23:10:12Z</dcterms:modified>
</cp:coreProperties>
</file>