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9.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0.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charts/chart13.xml" ContentType="application/vnd.openxmlformats-officedocument.drawingml.chart+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charts/chart14.xml" ContentType="application/vnd.openxmlformats-officedocument.drawingml.chart+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charts/chart15.xml" ContentType="application/vnd.openxmlformats-officedocument.drawingml.chart+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Lst>
  <p:notesMasterIdLst>
    <p:notesMasterId r:id="rId1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9137ba1-8046-1de7-7cdc-34f00d247c6c}">
          <p14:sldIdLst>
            <p14:sldId id="256"/>
            <p14:sldId id="257"/>
          </p14:sldIdLst>
        </p14:section>
        <p14:section name="Patient A" id="{88b52a21-bfa6-15f1-6749-3a43ec0f1fa6}">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atient B" id="{af4b4916-e818-d49e-f361-e1ac2acac796}">
          <p14:sldIdLst>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Closing" id="{3965459a-569a-e59e-caed-0206480be5b0}">
          <p14:sldIdLst>
            <p14:sldId id="372"/>
            <p14:sldId id="373"/>
            <p14:sldId id="374"/>
            <p14:sldId id="375"/>
          </p14:sldIdLst>
        </p14:section>
        <p14:section name="Appendix" id="{e2ad37a2-1534-433e-5833-52d1cf9da1e9}">
          <p14:sldIdLst>
            <p14:sldId id="376"/>
            <p14:sldId id="377"/>
            <p14:sldId id="378"/>
            <p14:sldId id="379"/>
            <p14:sldId id="380"/>
            <p14:sldId id="381"/>
            <p14:sldId id="3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notesMaster" Target="notesMasters/notesMaster1.xml"/><Relationship Id="rId130" Type="http://schemas.openxmlformats.org/officeDocument/2006/relationships/presProps" Target="presProps.xml"/><Relationship Id="rId131" Type="http://schemas.openxmlformats.org/officeDocument/2006/relationships/viewProps" Target="viewProps.xml"/><Relationship Id="rId132" Type="http://schemas.openxmlformats.org/officeDocument/2006/relationships/theme" Target="theme/theme1.xml"/><Relationship Id="rId1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TEG in 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2.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2.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2.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4.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2.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4.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3767328"/>
                <a:gridCol w="437083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355080"/>
            <a:ext cx="6400800"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 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3" name="Question"/>
          <p:cNvSpPr txBox="1"/>
          <p:nvPr/>
        </p:nvSpPr>
        <p:spPr>
          <a:xfrm>
            <a:off x="822960" y="2743200"/>
            <a:ext cx="10545775" cy="109728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26/85</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pic>
        <p:nvPicPr>
          <p:cNvPr id="3" name="Image 0" descr="TEG tracing with R, K, alpha-angle, maximum amplitude and lysis at 30 minutes labeled">    </p:cNvPr>
          <p:cNvPicPr>
            <a:picLocks noChangeAspect="1"/>
          </p:cNvPicPr>
          <p:nvPr/>
        </p:nvPicPr>
        <p:blipFill>
          <a:blip r:embed="rId1"/>
          <a:stretch>
            <a:fillRect/>
          </a:stretch>
        </p:blipFill>
        <p:spPr>
          <a:xfrm>
            <a:off x="640080" y="1371600"/>
            <a:ext cx="5120640" cy="3593592"/>
          </a:xfrm>
          <a:prstGeom prst="rect">
            <a:avLst/>
          </a:prstGeom>
        </p:spPr>
      </p:pic>
      <p:sp>
        <p:nvSpPr>
          <p:cNvPr id="4" name="Body"/>
          <p:cNvSpPr txBox="1"/>
          <p:nvPr/>
        </p:nvSpPr>
        <p:spPr>
          <a:xfrm>
            <a:off x="6126480" y="1463040"/>
            <a:ext cx="5669280" cy="347472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graphicFrame>
        <p:nvGraphicFramePr>
          <p:cNvPr id="3" name="Chart 0" descr=""/>
          <p:cNvGraphicFramePr/>
          <p:nvPr/>
        </p:nvGraphicFramePr>
        <p:xfrm>
          <a:off x="457200" y="1188720"/>
          <a:ext cx="5760720" cy="411480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6492240" y="1280160"/>
            <a:ext cx="5303520" cy="411480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Stravitz 2012: acute liver injury or ALF, TEG on admission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Patients with encephalopathy had stronger clots than those without</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Factors V and VII were low, but protein C, protein S and antithrombin fell too, and factor VIII was about 4 times normal</a:t>
            </a:r>
            <a:endParaRPr lang="en-US" sz="1700" dirty="0"/>
          </a:p>
        </p:txBody>
      </p:sp>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31520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275320" y="1828800"/>
            <a:ext cx="3520440" cy="352044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1536192"/>
                <a:gridCol w="9006840"/>
              </a:tblGrid>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Study</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RCT, 182 ALF: high-volume plasma exchange × 3 days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Finding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Hospital survival 58.7% vs 47.8% (HR 0.56)</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Limits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So</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1536192"/>
                <a:gridCol w="9006840"/>
              </a:tblGrid>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Study</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RCT, 182 ALF: high-volume plasma exchange × 3 days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Finding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Hospital survival 58.7% vs 47.8% (HR 0.56)</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Limits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Not blinded; nothing on ACLF</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So</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 bridge; don't delay listing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42/85</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43/85</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44/85</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4325112"/>
                <a:gridCol w="6400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Mechanism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do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4325112"/>
                <a:gridCol w="6400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Mechanism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do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Sepsis (SBP)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Cultures, antibiotics within 1 h, source control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Splanchnic vasodilation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Norepinephrine, MAP 65, adjust to perfusion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Too little volume, or too much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Ultrasound and dynamic measures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Hidden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Hemoglobin, rectal exam, think varices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Relative adrenal insufficiency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Hydrocortisone if shock is refractory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Cirrhotic cardiomyopathy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Echo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49/85</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1298448"/>
                <a:gridCol w="6931152"/>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371600"/>
                <a:gridCol w="7324344"/>
                <a:gridCol w="2212848"/>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52/85</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54/85</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55/85</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623560"/>
                <a:gridCol w="51023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67741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to 2 days off diuretics + albumin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response to 24 h of volume, if needed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other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56/85</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58/85</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59/85</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64/85</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66/85</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7"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75/85</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76/85</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77/85</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78/85</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79/85</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80/85</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81/85</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82/85</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83/85</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84/85</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127</Slides>
  <Notes>127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127</vt:i4>
      </vt:variant>
    </vt:vector>
  </HeadingPairs>
  <TitlesOfParts>
    <vt:vector size="1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2026-10-27T01:00:42Z</dcterms:created>
  <dcterms:modified xsi:type="dcterms:W3CDTF">2026-10-27T01:00:42Z</dcterms:modified>
</cp:coreProperties>
</file>