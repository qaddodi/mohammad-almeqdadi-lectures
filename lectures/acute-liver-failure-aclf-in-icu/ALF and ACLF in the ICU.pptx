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8.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9.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2.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charts/chart13.xml" ContentType="application/vnd.openxmlformats-officedocument.drawingml.chart+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charts/chart14.xml" ContentType="application/vnd.openxmlformats-officedocument.drawingml.chart+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Lst>
  <p:notesMasterIdLst>
    <p:notesMasterId r:id="rId1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7286851-121b-465f-c6cd-5ea6ad040717}">
          <p14:sldIdLst>
            <p14:sldId id="256"/>
            <p14:sldId id="257"/>
          </p14:sldIdLst>
        </p14:section>
        <p14:section name="Patient A: acute liver failure" id="{97d81b49-acd2-ba03-d875-d2cd30e2f603}">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Lst>
        </p14:section>
        <p14:section name="Patient B: ACLF" id="{7b39d508-1074-078b-3fb2-dcb5b642b355}">
          <p14:sldIdLst>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 name="Closing" id="{c03d2b79-883f-b998-c22e-6cf42cf2e74f}">
          <p14:sldIdLst>
            <p14:sldId id="368"/>
            <p14:sldId id="369"/>
            <p14:sldId id="370"/>
            <p14:sldId id="371"/>
          </p14:sldIdLst>
        </p14:section>
        <p14:section name="Appendix" id="{044a0304-8d8e-f163-bed5-a225e528695e}">
          <p14:sldIdLst>
            <p14:sldId id="372"/>
            <p14:sldId id="373"/>
            <p14:sldId id="374"/>
            <p14:sldId id="375"/>
            <p14:sldId id="376"/>
            <p14:sldId id="377"/>
            <p14:sldId id="3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notesMaster" Target="notesMasters/notesMaster1.xml"/><Relationship Id="rId126" Type="http://schemas.openxmlformats.org/officeDocument/2006/relationships/presProps" Target="presProps.xml"/><Relationship Id="rId127" Type="http://schemas.openxmlformats.org/officeDocument/2006/relationships/viewProps" Target="viewProps.xml"/><Relationship Id="rId128" Type="http://schemas.openxmlformats.org/officeDocument/2006/relationships/theme" Target="theme/theme1.xml"/><Relationship Id="rId1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admission,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Once she is grade III-IV the tools that lower ammonia are CRRT and time.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4.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2.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2.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slideLayout" Target="../slideLayouts/slideLayout2.xm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4.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2.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jpg"/><Relationship Id="rId2" Type="http://schemas.openxmlformats.org/officeDocument/2006/relationships/slideLayout" Target="../slideLayouts/slideLayout4.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2.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Text 1"/>
          <p:cNvSpPr txBox="1"/>
          <p:nvPr/>
        </p:nvSpPr>
        <p:spPr>
          <a:xfrm>
            <a:off x="6309360" y="2651760"/>
            <a:ext cx="5653735" cy="457200"/>
          </a:xfrm>
          <a:prstGeom prst="rect">
            <a:avLst/>
          </a:prstGeom>
          <a:noFill/>
          <a:ln/>
        </p:spPr>
        <p:txBody>
          <a:bodyPr wrap="square" lIns="0" tIns="0" rIns="0" bIns="0" rtlCol="0" anchor="ctr"/>
          <a:lstStyle/>
          <a:p>
            <a:pPr algn="ctr" indent="0" marL="0">
              <a:buNone/>
            </a:pPr>
            <a:r>
              <a:rPr lang="en-US" sz="2000" i="1" dirty="0">
                <a:solidFill>
                  <a:srgbClr val="595959"/>
                </a:solidFill>
                <a:latin typeface="Georgia" pitchFamily="34" charset="0"/>
                <a:ea typeface="Georgia" pitchFamily="34" charset="-122"/>
                <a:cs typeface="Georgia" pitchFamily="34" charset="-120"/>
              </a:rPr>
              <a:t>For pulmonary and critical care fellows</a:t>
            </a:r>
            <a:endParaRPr lang="en-US" sz="2000" dirty="0"/>
          </a:p>
        </p:txBody>
      </p:sp>
      <p:sp>
        <p:nvSpPr>
          <p:cNvPr id="5" name="Shape 2"/>
          <p:cNvSpPr/>
          <p:nvPr/>
        </p:nvSpPr>
        <p:spPr>
          <a:xfrm>
            <a:off x="7589520" y="3429000"/>
            <a:ext cx="3093415" cy="0"/>
          </a:xfrm>
          <a:prstGeom prst="line">
            <a:avLst/>
          </a:prstGeom>
          <a:noFill/>
          <a:ln w="12700">
            <a:solidFill>
              <a:srgbClr val="A6A6A6"/>
            </a:solidFill>
            <a:prstDash val="solid"/>
          </a:ln>
        </p:spPr>
      </p:sp>
      <p:sp>
        <p:nvSpPr>
          <p:cNvPr id="6" name="Text 3"/>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7" name="Image 1" descr="Tufts University School of Medicine">    </p:cNvPr>
          <p:cNvPicPr>
            <a:picLocks noChangeAspect="1"/>
          </p:cNvPicPr>
          <p:nvPr/>
        </p:nvPicPr>
        <p:blipFill>
          <a:blip r:embed="rId2"/>
          <a:stretch>
            <a:fillRect/>
          </a:stretch>
        </p:blipFill>
        <p:spPr>
          <a:xfrm>
            <a:off x="7403440" y="5349240"/>
            <a:ext cx="3465576" cy="704088"/>
          </a:xfrm>
          <a:prstGeom prst="rect">
            <a:avLst/>
          </a:prstGeom>
        </p:spPr>
      </p:pic>
      <p:sp>
        <p:nvSpPr>
          <p:cNvPr id="8"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the first-hour care of ALF: cause, NAC, glucose, airway</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Protect the brain in ALF and know when to intubate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CRRT for ammonia without waiting for a renal indication</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Diagnose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 including HRS-AKI, without hurting the lungs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acute liver failure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Now is it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on admission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pic>
        <p:nvPicPr>
          <p:cNvPr id="5" name="Image 1" descr="Lee 2009 NAC trial">    </p:cNvPr>
          <p:cNvPicPr>
            <a:picLocks noChangeAspect="1"/>
          </p:cNvPicPr>
          <p:nvPr/>
        </p:nvPicPr>
        <p:blipFill>
          <a:blip r:embed="rId2"/>
          <a:stretch>
            <a:fillRect/>
          </a:stretch>
        </p:blipFill>
        <p:spPr>
          <a:xfrm>
            <a:off x="1280160" y="4069080"/>
            <a:ext cx="9631375" cy="1214927"/>
          </a:xfrm>
          <a:prstGeom prst="rect">
            <a:avLst/>
          </a:prstGeom>
        </p:spPr>
      </p:pic>
      <p:sp>
        <p:nvSpPr>
          <p:cNvPr id="6" name="Shape 2"/>
          <p:cNvSpPr/>
          <p:nvPr/>
        </p:nvSpPr>
        <p:spPr>
          <a:xfrm>
            <a:off x="1280160" y="4069080"/>
            <a:ext cx="9631375" cy="1214927"/>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82296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3" name="Text 1"/>
          <p:cNvSpPr txBox="1"/>
          <p:nvPr/>
        </p:nvSpPr>
        <p:spPr>
          <a:xfrm>
            <a:off x="731520" y="192024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Hour 12</a:t>
            </a:r>
            <a:endParaRPr lang="en-US" sz="2400" dirty="0"/>
          </a:p>
        </p:txBody>
      </p:sp>
      <p:pic>
        <p:nvPicPr>
          <p:cNvPr id="4" name="Image 0" descr="Alzheimer type II astrocytes">    </p:cNvPr>
          <p:cNvPicPr>
            <a:picLocks noChangeAspect="1"/>
          </p:cNvPicPr>
          <p:nvPr/>
        </p:nvPicPr>
        <p:blipFill>
          <a:blip r:embed="rId1"/>
          <a:stretch>
            <a:fillRect/>
          </a:stretch>
        </p:blipFill>
        <p:spPr>
          <a:xfrm>
            <a:off x="3992728" y="2743200"/>
            <a:ext cx="4206240" cy="3136392"/>
          </a:xfrm>
          <a:prstGeom prst="rect">
            <a:avLst/>
          </a:prstGeom>
        </p:spPr>
      </p:pic>
      <p:sp>
        <p:nvSpPr>
          <p:cNvPr id="5" name="Text 2"/>
          <p:cNvSpPr txBox="1"/>
          <p:nvPr/>
        </p:nvSpPr>
        <p:spPr>
          <a:xfrm>
            <a:off x="731520" y="5925312"/>
            <a:ext cx="10728655" cy="411480"/>
          </a:xfrm>
          <a:prstGeom prst="rect">
            <a:avLst/>
          </a:prstGeom>
          <a:noFill/>
          <a:ln/>
        </p:spPr>
        <p:txBody>
          <a:bodyPr wrap="square" lIns="0" tIns="0" rIns="0" bIns="0" rtlCol="0" anchor="ctr"/>
          <a:lstStyle/>
          <a:p>
            <a:pPr algn="ctr" indent="0" marL="0">
              <a:buNone/>
            </a:pPr>
            <a:r>
              <a:rPr lang="en-US" sz="1500" i="1" dirty="0">
                <a:solidFill>
                  <a:srgbClr val="595959"/>
                </a:solidFill>
                <a:latin typeface="Georgia" pitchFamily="34" charset="0"/>
                <a:ea typeface="Georgia" pitchFamily="34" charset="-122"/>
                <a:cs typeface="Georgia" pitchFamily="34" charset="-120"/>
              </a:rPr>
              <a:t>Alzheimer type II astrocytes: the brain adapting over months of cirrhosis. In ALF there are no months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Not for her: CRRT for the ammonia, protect the airway, keep the sodium up</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sp>
        <p:nvSpPr>
          <p:cNvPr id="5"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pic>
        <p:nvPicPr>
          <p:cNvPr id="5"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6" name="Shape 2"/>
          <p:cNvSpPr/>
          <p:nvPr/>
        </p:nvSpPr>
        <p:spPr>
          <a:xfrm>
            <a:off x="3474393" y="3520440"/>
            <a:ext cx="5242908" cy="2651760"/>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ACLF</a:t>
            </a:r>
            <a:endParaRPr lang="en-US" sz="2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9037" y="1143000"/>
            <a:ext cx="687362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2"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3"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pic>
        <p:nvPicPr>
          <p:cNvPr id="5"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6" name="Shape 2"/>
          <p:cNvSpPr/>
          <p:nvPr/>
        </p:nvSpPr>
        <p:spPr>
          <a:xfrm>
            <a:off x="1280160" y="4069080"/>
            <a:ext cx="9631375" cy="1657943"/>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pic>
        <p:nvPicPr>
          <p:cNvPr id="5"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6" name="Shape 2"/>
          <p:cNvSpPr/>
          <p:nvPr/>
        </p:nvSpPr>
        <p:spPr>
          <a:xfrm>
            <a:off x="1280160" y="4069080"/>
            <a:ext cx="9631375" cy="1404786"/>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sp>
        <p:nvSpPr>
          <p:cNvPr id="5" name="Shape 2"/>
          <p:cNvSpPr/>
          <p:nvPr/>
        </p:nvSpPr>
        <p:spPr>
          <a:xfrm>
            <a:off x="7040880" y="1188720"/>
            <a:ext cx="4663440" cy="1236732"/>
          </a:xfrm>
          <a:prstGeom prst="rect">
            <a:avLst/>
          </a:prstGeom>
          <a:ln w="9525">
            <a:solidFill>
              <a:srgbClr val="BFBFBF"/>
            </a:solidFill>
            <a:prstDash val="solid"/>
          </a:ln>
        </p:spPr>
      </p:sp>
      <p:pic>
        <p:nvPicPr>
          <p:cNvPr id="6"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7"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2"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18"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19"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123</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123</Slides>
  <Notes>123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123</vt:i4>
      </vt:variant>
    </vt:vector>
  </HeadingPairs>
  <TitlesOfParts>
    <vt:vector size="1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2026-10-26T23:00:58Z</dcterms:created>
  <dcterms:modified xsi:type="dcterms:W3CDTF">2026-10-26T23:00:58Z</dcterms:modified>
</cp:coreProperties>
</file>