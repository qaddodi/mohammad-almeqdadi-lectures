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charts/chart8.xml" ContentType="application/vnd.openxmlformats-officedocument.drawingml.chart+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charts/chart9.xml" ContentType="application/vnd.openxmlformats-officedocument.drawingml.chart+xml"/>
  <Override PartName="/ppt/slideMasters/slideMaster58.xml" ContentType="application/vnd.openxmlformats-officedocument.presentationml.slideMaster+xml"/>
  <Override PartName="/ppt/slides/slide58.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charts/chart12.xml" ContentType="application/vnd.openxmlformats-officedocument.drawingml.chart+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charts/chart13.xml" ContentType="application/vnd.openxmlformats-officedocument.drawingml.chart+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charts/chart14.xml" ContentType="application/vnd.openxmlformats-officedocument.drawingml.chart+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Lst>
  <p:notesMasterIdLst>
    <p:notesMasterId r:id="rId1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dcf6d9a-f165-982b-c6fc-e9dadfcbfe51}">
          <p14:sldIdLst>
            <p14:sldId id="256"/>
            <p14:sldId id="257"/>
          </p14:sldIdLst>
        </p14:section>
        <p14:section name="Patient A" id="{58d3c118-2450-adc7-dda4-b4332f1901a2}">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Lst>
        </p14:section>
        <p14:section name="Patient B" id="{5c70deb7-a5cc-0ebc-6947-5ea86126221e}">
          <p14:sldIdLst>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Lst>
        </p14:section>
        <p14:section name="Closing" id="{4328b8b9-6fe5-15e2-d60d-121d4f03e60f}">
          <p14:sldIdLst>
            <p14:sldId id="370"/>
            <p14:sldId id="371"/>
            <p14:sldId id="372"/>
            <p14:sldId id="373"/>
          </p14:sldIdLst>
        </p14:section>
        <p14:section name="Appendix" id="{28d9bdaa-aa74-9026-9fb7-1712be514bbc}">
          <p14:sldIdLst>
            <p14:sldId id="374"/>
            <p14:sldId id="375"/>
            <p14:sldId id="376"/>
            <p14:sldId id="377"/>
            <p14:sldId id="378"/>
            <p14:sldId id="379"/>
            <p14:sldId id="3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notesMaster" Target="notesMasters/notesMaster1.xml"/><Relationship Id="rId128" Type="http://schemas.openxmlformats.org/officeDocument/2006/relationships/presProps" Target="presProps.xml"/><Relationship Id="rId129" Type="http://schemas.openxmlformats.org/officeDocument/2006/relationships/viewProps" Target="viewProps.xml"/><Relationship Id="rId130" Type="http://schemas.openxmlformats.org/officeDocument/2006/relationships/theme" Target="theme/theme1.xml"/><Relationship Id="rId1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call hepatology. By then she is intubated and the evaluation has lost a day. Here the transplant evaluation runs in parallel from admission, and the psychosocial part is much easier while she can still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Astrocytes in chronic liver disease have time to adapt to ammonia. In hyperacute ALF they don't, and they swell.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and start CRRT.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and start CRRT.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Once she is grade III-IV the tools that lower ammonia are CRRT and time.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patients with acute liver injury or failure, mean INR 3.4. Mean TEG values were normal, and all five TEG parameters were normal in 63%. Low clot strength showed up only with platelets under about 126,000. Factors V and VII were low, but so were the anticoagulant proteins, and factor VIII was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patients with acute liver injury or failure, mean INR 3.4. Mean TEG values were normal, and all five TEG parameters were normal in 63%. Low clot strength showed up only with platelets under about 126,000. Factors V and VII were low, but so were the anticoagulant proteins, and factor VIII was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31-1.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2-1.png"/><Relationship Id="rId4" Type="http://schemas.openxmlformats.org/officeDocument/2006/relationships/slideLayout" Target="../slideLayouts/slideLayout2.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2.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2.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4.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4.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2.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2.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2.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image" Target="../media/image-95-2.png"/><Relationship Id="rId3" Type="http://schemas.openxmlformats.org/officeDocument/2006/relationships/slideLayout" Target="../slideLayouts/slideLayout2.xml"/><Relationship Id="rId4"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slideLayout" Target="../slideLayouts/slideLayout2.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2.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image" Target="../media/image-100-2.png"/><Relationship Id="rId3" Type="http://schemas.openxmlformats.org/officeDocument/2006/relationships/slideLayout" Target="../slideLayouts/slideLayout2.xml"/><Relationship Id="rId4"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slideLayout" Target="../slideLayouts/slideLayout2.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image" Target="../media/image-103-2.png"/><Relationship Id="rId3" Type="http://schemas.openxmlformats.org/officeDocument/2006/relationships/slideLayout" Target="../slideLayouts/slideLayout2.xml"/><Relationship Id="rId4"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jpg"/><Relationship Id="rId2" Type="http://schemas.openxmlformats.org/officeDocument/2006/relationships/slideLayout" Target="../slideLayouts/slideLayout4.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png"/><Relationship Id="rId2" Type="http://schemas.openxmlformats.org/officeDocument/2006/relationships/image" Target="../media/image-111-2.png"/><Relationship Id="rId3" Type="http://schemas.openxmlformats.org/officeDocument/2006/relationships/slideLayout" Target="../slideLayouts/slideLayout2.xml"/><Relationship Id="rId4"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jpg"/><Relationship Id="rId2" Type="http://schemas.openxmlformats.org/officeDocument/2006/relationships/slideLayout" Target="../slideLayouts/slideLayout4.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image-123-1.png"/><Relationship Id="rId2" Type="http://schemas.openxmlformats.org/officeDocument/2006/relationships/slideLayout" Target="../slideLayouts/slideLayout2.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Start the first-hour care of ALF: cause, NAC, glucose, airway</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Protect the brain in ALF and know when to intubate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Start CRRT for ammonia without waiting for a renal indication</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Diagnose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 including HRS-AKI, without hurting the lungs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ICU</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2651760"/>
                <a:gridCol w="2651760"/>
                <a:gridCol w="2679192"/>
              </a:tblGrid>
              <a:tr h="50292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Jaundice to encephalopathy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Hyperacute (&lt; 1 week)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Acute (1 to 4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Subacute (4 to 12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Typical causes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 HAV, HEV, ischemia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HBV</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Idiosyncratic drug injury, AIH, indeterminate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Cerebral edema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Less 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Uncommon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Recovery without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More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Intermediate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Less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Call transplant hepatology early anyway</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pic>
        <p:nvPicPr>
          <p:cNvPr id="3" name="Image 0" descr="Clinical features of acute liver failure by organ">    </p:cNvPr>
          <p:cNvPicPr>
            <a:picLocks noChangeAspect="1"/>
          </p:cNvPicPr>
          <p:nvPr/>
        </p:nvPicPr>
        <p:blipFill>
          <a:blip r:embed="rId1"/>
          <a:stretch>
            <a:fillRect/>
          </a:stretch>
        </p:blipFill>
        <p:spPr>
          <a:xfrm>
            <a:off x="3695548" y="1188720"/>
            <a:ext cx="4800600" cy="4873752"/>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Bernal W, Wendon J. N Engl J Med 2013;369:2525-34, Figure 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10/87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Three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3566160"/>
                <a:gridCol w="3566160"/>
                <a:gridCol w="3593592"/>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Keep her alive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Find and treat the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Call transplant hepatology</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1945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ICU bed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Glucose every 1 to 2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assessment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Volume, perfusion, lactate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Neuro checks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Acetaminophen level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Viral, autoimmune, Wilson, toxicology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Doppler ultrasound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Pregnancy test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Start NAC if acetaminophen is possible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Now, not after the workup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Transplant evaluation starts on admission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work and psychiatry while she can still talk</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All three start in the first hour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11/87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NAC</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IV acyclovir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entecavir or tenofovir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Discuss steroids with hepatology, list in parallel</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Prepare for urgent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Call obstetrics, plan delivery</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Anticoagulation, discuss TIPS or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Fix the circulation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NAC, call poison control (silibinin if available)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14/87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15/87</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16/87</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16/87</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17/87</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Watercolor of a brain in coronal sec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Her brain</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Hour 12</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18/87</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19/87</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 high CO2</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21/87</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sp>
        <p:nvSpPr>
          <p:cNvPr id="3" name="Question"/>
          <p:cNvSpPr txBox="1"/>
          <p:nvPr/>
        </p:nvSpPr>
        <p:spPr>
          <a:xfrm>
            <a:off x="822960" y="2743200"/>
            <a:ext cx="10545775" cy="109728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22/87</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22/87</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23/87</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23/87</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24/87</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572000"/>
                <a:gridCol w="61539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people give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not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drives the brain swelling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 proven benefit. ALFSG matched comparison: a little longer survival time, no difference in encephalopathy or outcome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It's what we do in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Gas-distended bowel gets in the surgeon's way at 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Cheap, and the AASLD position paper allows it in early grades, short of diarrhea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Diarrhea means free water loss and volume swings, which fight your sodium target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Liquid by mouth or tube in a patient who can't protect her airway: aspiration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Not for her: CRRT for the ammonia, protect the airway, keep the sodium up</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24/87</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25/87</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291840"/>
                <a:gridCol w="3749040"/>
                <a:gridCol w="36850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Before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During</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After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Preoxygenate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Norepinephrine ready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Check glucose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Head of bed 30°, neck neutral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Avoid hypotension (perfusion pressure)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coughing and bucking (ICP spikes)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Most experienced operator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Propofol: short-acting, may lower ICP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long-acting benzodiazepines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Aim for normal CO2, check a gas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Sedation hides the neuro exam: check pupils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25/87</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26/87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20240"/>
                <a:gridCol w="2651760"/>
                <a:gridCol w="310896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lung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brain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do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Tidal volume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 mL/kg predicted body weight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Fine, but low volumes can push the CO2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 it, and raise the rate to hold the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Tolerate a high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High CO2 dilates vessels and raises ICP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Aim for normal CO2. No permissive hypercapnia when ICP is a concern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Hyperventilation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Lowers ICP briefly; if overdone or prolonged, can cause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Only as a short rescue for herniation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PEEP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Recruit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Very high pressures can impair venous return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Set it for oxygen and blood pressure. PEEP is not forbidden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26/87</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27/87</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822960" y="1325880"/>
            <a:ext cx="722376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Head of bed 30°, neck neutral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fever, avoid hypoglycemia</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Sodium </a:t>
            </a:r>
            <a:r>
              <a:rPr lang="en-US" sz="2100" b="1" dirty="0">
                <a:solidFill>
                  <a:srgbClr val="000000"/>
                </a:solidFill>
                <a:latin typeface="Georgia" pitchFamily="34" charset="0"/>
                <a:ea typeface="Georgia" pitchFamily="34" charset="-122"/>
                <a:cs typeface="Georgia" pitchFamily="34" charset="-120"/>
              </a:rPr>
              <a:t>145 to 155 mmol/L</a:t>
            </a:r>
            <a:r>
              <a:rPr lang="en-US" sz="2100" dirty="0">
                <a:solidFill>
                  <a:srgbClr val="000000"/>
                </a:solidFill>
                <a:latin typeface="Georgia" pitchFamily="34" charset="0"/>
                <a:ea typeface="Georgia" pitchFamily="34" charset="-122"/>
                <a:cs typeface="Georgia" pitchFamily="34" charset="-120"/>
              </a:rPr>
              <a:t> with hypertonic saline (use your center's protocol)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Avoid fluid overload</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seizures, EEG if in doubt. No routine prophylaxis</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1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8001000" y="1371600"/>
            <a:ext cx="3840480" cy="384048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28/87</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7223760" y="1828800"/>
            <a:ext cx="4480560" cy="28567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29/87</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30/87</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31520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8275320" y="2423160"/>
            <a:ext cx="3520440" cy="352044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30/87</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31/87</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sees only the procoagulant side. Protein C and S are low too, factor VIII and von Willebrand factor are high. Most patients are rebalanced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31/87</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bleeding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sees part of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1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32/87</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4.2. What does the TEG say?</a:t>
            </a:r>
            <a:endParaRPr lang="en-US" sz="3000" dirty="0"/>
          </a:p>
        </p:txBody>
      </p:sp>
      <p:pic>
        <p:nvPicPr>
          <p:cNvPr id="3" name="Image 0" descr="Normal thromboelastogram in acute liver failure">    </p:cNvPr>
          <p:cNvPicPr>
            <a:picLocks noChangeAspect="1"/>
          </p:cNvPicPr>
          <p:nvPr/>
        </p:nvPicPr>
        <p:blipFill>
          <a:blip r:embed="rId1"/>
          <a:stretch>
            <a:fillRect/>
          </a:stretch>
        </p:blipFill>
        <p:spPr>
          <a:xfrm>
            <a:off x="3099407" y="1188720"/>
            <a:ext cx="5992882" cy="42062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33/87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4.2. What does the TEG say?</a:t>
            </a:r>
            <a:endParaRPr lang="en-US" sz="3000" dirty="0"/>
          </a:p>
        </p:txBody>
      </p:sp>
      <p:pic>
        <p:nvPicPr>
          <p:cNvPr id="3" name="Image 0" descr="Normal thromboelastogram in acute liver failure">    </p:cNvPr>
          <p:cNvPicPr>
            <a:picLocks noChangeAspect="1"/>
          </p:cNvPicPr>
          <p:nvPr/>
        </p:nvPicPr>
        <p:blipFill>
          <a:blip r:embed="rId1"/>
          <a:stretch>
            <a:fillRect/>
          </a:stretch>
        </p:blipFill>
        <p:spPr>
          <a:xfrm>
            <a:off x="3099407" y="1188720"/>
            <a:ext cx="5992882" cy="4206240"/>
          </a:xfrm>
          <a:prstGeom prst="rect">
            <a:avLst/>
          </a:prstGeom>
        </p:spPr>
      </p:pic>
      <p:sp>
        <p:nvSpPr>
          <p:cNvPr id="4" name="Body"/>
          <p:cNvSpPr txBox="1"/>
          <p:nvPr/>
        </p:nvSpPr>
        <p:spPr>
          <a:xfrm>
            <a:off x="822960" y="5532120"/>
            <a:ext cx="10545775" cy="45720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Normal in all five TEG measures, in a patient with ALF and an INR of 4.2</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33/87</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CRRT for ammonia: what to agree on with nephrology</a:t>
            </a:r>
            <a:endParaRPr lang="en-US" sz="3000" dirty="0"/>
          </a:p>
        </p:txBody>
      </p:sp>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728655" cy="914400"/>
        </p:xfrm>
        <a:graphic>
          <a:graphicData uri="http://schemas.openxmlformats.org/drawingml/2006/table">
            <a:tbl>
              <a:tblPr/>
              <a:tblGrid>
                <a:gridCol w="1645920"/>
                <a:gridCol w="9079992"/>
              </a:tblGrid>
              <a:tr h="457200">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to watch and say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It's for the ammonia and the brain, not the creatinine. Give them the HE grade, the ammonia trend, urine output and fluid status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Dose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Prescribed vs delivered. Filter clotting and downtime mean less clearance, and the ammonia climbs back. Recheck it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Sodium</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One plan for replacement fluid or dialysate, hypertonic saline and every other sodium source. Check the sodium often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1887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Safety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Phosphate and potassium fall. Blood pressure drops at connection. Anticoagulation per your protocol; citrate can build up in liver failure, so follow the total to ionized calcium ratio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Cardoso FS et al. Hepatology 2018 [PMID: 28859230]; update 2022 [PMID: 36001996]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34/87</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35/87</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36/87</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36/87</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37/87</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37/87</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6"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38/87</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7"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linked to lower ammonia and better 21-day transplant-free survival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Primary endpoint, 28-day survival: similar by intention to treat. Fewer deaths in the first 7 days (2.2% vs 17.8%)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Association. Sicker or healthier patients may have been picked for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Small pilot, one center, many protocol violations. Needs a larger trial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38/87</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39/87</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769968" y="3840480"/>
            <a:ext cx="2651760" cy="265176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40/87</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68096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Patient A: arterial pH </a:t>
            </a:r>
            <a:r>
              <a:rPr lang="en-US" sz="2100" b="1" dirty="0">
                <a:solidFill>
                  <a:srgbClr val="C00000"/>
                </a:solidFill>
                <a:latin typeface="Georgia" pitchFamily="34" charset="0"/>
                <a:ea typeface="Georgia" pitchFamily="34" charset="-122"/>
                <a:cs typeface="Georgia" pitchFamily="34" charset="-120"/>
              </a:rPr>
              <a:t>7.26</a:t>
            </a:r>
            <a:r>
              <a:rPr lang="en-US" sz="21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100" dirty="0"/>
          </a:p>
        </p:txBody>
      </p:sp>
      <p:pic>
        <p:nvPicPr>
          <p:cNvPr id="5" name="Image 0" descr="Watercolor of a desk phone with the handset off the hook">    </p:cNvPr>
          <p:cNvPicPr>
            <a:picLocks noChangeAspect="1"/>
          </p:cNvPicPr>
          <p:nvPr/>
        </p:nvPicPr>
        <p:blipFill>
          <a:blip r:embed="rId1"/>
          <a:stretch>
            <a:fillRect/>
          </a:stretch>
        </p:blipFill>
        <p:spPr>
          <a:xfrm>
            <a:off x="8595360" y="2377440"/>
            <a:ext cx="3200400" cy="320040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40/87</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41/87</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pic>
        <p:nvPicPr>
          <p:cNvPr id="4"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41/87</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42/87</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5"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Not blinded; one regimen in one population. Says nothing about ACLF or about albumin dialysis devices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bridge to discuss with transplant hepatology. Not a reason to delay listing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42/87</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566160"/>
                <a:gridCol w="3749040"/>
                <a:gridCol w="3593592"/>
              </a:tblGrid>
              <a:tr h="4114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Problem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she's 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watch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 ALF, meets King's (pH 7.26)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NAC. Listed status 1A on 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Time to an offer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encephalopathy, ammonia 182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Intubated, normal CO2, sodium 145 to 155,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Pupils, ammonia on CRRT, 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5.8 and rising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Volume and MAP, look for infection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MAP, pressor need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5.6, not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plasma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INR trend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risk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Surveillance cultures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New fever or shock: low bar for antibiotics and antifungals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43/87</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44/87</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45/87</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69"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 transplant hepatology involved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46/87</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0"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47/87</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 a diagnostic tap</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47/87</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48/87</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58952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8458200" y="1554480"/>
            <a:ext cx="3429000" cy="34290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48/87</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4"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49/87</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5"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Sepsis (SBP)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Cultures, antibiotics in the first hour, source control. Cover for prior exposure and local resistance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Splanchnic vasodilation of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Start at MAP 65 and adjust to perfusion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Too little volume, or too much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 and dynamic measures. Edema does not mean the vessels are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Hidden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Hemoglobin, rectal exam, think varices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Relative adrenal insufficiency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Hydrocortisone if shock is refractory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Cirrhotic cardiomyopathy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Echo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49/87</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full and collapsing">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50/87</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full and collapsing">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50/87</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his pressure low to begin with?</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51/87</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9"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52/87</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0"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(or chronic liver disease, depending on definition)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 1.5 +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Ascites, bleeding, encephalopathy,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Decompensation + 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multiorgan failure, sepsis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infection. Can turn into 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shock, multiorgan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ammonia, early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the trigger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Source control, shock, kidney vs lung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Urgent listing pathway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Refer when MELD or the complication calls for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Narrow window; reassess daily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52/87</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2103120"/>
                <a:gridCol w="6126480"/>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53/87</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2"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28800"/>
                <a:gridCol w="5669280"/>
                <a:gridCol w="34107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PaO2/FiO2 211: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53/87</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3"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828800"/>
                <a:gridCol w="889711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&lt; 1.5 and no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1.5 to 1.9 and/or grade I-II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1.5 to 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54/87</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55/87</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r>
              <a:rPr lang="en-US" sz="2000" dirty="0">
                <a:solidFill>
                  <a:srgbClr val="000000"/>
                </a:solidFill>
                <a:latin typeface="Georgia" pitchFamily="34" charset="0"/>
                <a:ea typeface="Georgia" pitchFamily="34" charset="-122"/>
                <a:cs typeface="Georgia" pitchFamily="34" charset="-120"/>
              </a:rPr>
              <a:t>. Lungs and brain are next in line</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56/87</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57/87</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8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358384"/>
                <a:gridCol w="5367528"/>
              </a:tblGrid>
              <a:tr h="50292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after 2 days of diuretic withdrawal and albumin 1 g/kg</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and/or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he is already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strong alternative explanation as the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58/87</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8"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59/87</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9"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0.9 → 3.0, urine 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 given on arrival. Too early to say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Septic shock on norepinephrine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59/87</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72000" y="1600200"/>
            <a:ext cx="3017520" cy="3017520"/>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60/87</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4816" y="1143000"/>
            <a:ext cx="688206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61/87</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62/87</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62/87</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4"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63/87</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5"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63/87</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64/87</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Terlipressin, more albumin, dialysis: what would you do for him today?</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65/87</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contraindicated with hypoxia or worsening respiratory symptoms; don't start if SpO2 &lt; 90%, stop if it falls below 90%</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volume overload raises the risk of respiratory failure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Midodrine and octreotide? They work poorly, and not in someone on IV pressors</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65/87</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66/87</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67/87</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pic>
        <p:nvPicPr>
          <p:cNvPr id="4"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67/87</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68/87</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69/87</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pic>
        <p:nvPicPr>
          <p:cNvPr id="4"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69/87</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105"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2560320"/>
                <a:gridCol w="7982712"/>
              </a:tblGrid>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Study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ATTIRE: daily albumin to keep serum albumin ≥ 30 g/L vs standard care, hospitalized decompensated cirrhosis, 777 patients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Main finding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Composite of new infection, kidney dysfunction or death: 29.7% vs 30.2%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The catch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More serious adverse events with albumin, including fluid overload and pulmonary edema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70/87</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sp>
        <p:nvSpPr>
          <p:cNvPr id="3" name="Body"/>
          <p:cNvSpPr txBox="1"/>
          <p:nvPr/>
        </p:nvSpPr>
        <p:spPr>
          <a:xfrm>
            <a:off x="822960" y="2011680"/>
            <a:ext cx="10545775" cy="822960"/>
          </a:xfrm>
          <a:prstGeom prst="rect">
            <a:avLst/>
          </a:prstGeom>
          <a:noFill/>
          <a:ln/>
        </p:spPr>
        <p:txBody>
          <a:bodyPr wrap="square" lIns="50800" tIns="50800" rIns="50800" bIns="50800" rtlCol="0" anchor="t"/>
          <a:lstStyle/>
          <a:p>
            <a:pPr algn="ctr" indent="0" marL="0">
              <a:spcBef>
                <a:spcPts val="800"/>
              </a:spcBef>
              <a:buNone/>
            </a:pPr>
            <a:r>
              <a:rPr lang="en-US" sz="2200" dirty="0">
                <a:solidFill>
                  <a:srgbClr val="000000"/>
                </a:solidFill>
                <a:latin typeface="Georgia" pitchFamily="34" charset="0"/>
                <a:ea typeface="Georgia" pitchFamily="34" charset="-122"/>
                <a:cs typeface="Georgia" pitchFamily="34" charset="-120"/>
              </a:rPr>
              <a:t>Head to head: terlipressin vs midodrine plus octreotide, both with albumin, type 1 HRS</a:t>
            </a:r>
            <a:endParaRPr lang="en-US" sz="22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How different can two vasoconstrictors be?</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71/87</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1200"/>
              </a:spcBef>
              <a:buNone/>
            </a:pPr>
            <a:r>
              <a:rPr lang="en-US" sz="19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Blood pressure rose more with terlipressin</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3-month survival 59% vs 43%; too small to tell</a:t>
            </a:r>
            <a:endParaRPr lang="en-US" sz="1900" dirty="0"/>
          </a:p>
          <a:p>
            <a:pPr marL="228600" indent="-228600">
              <a:spcBef>
                <a:spcPts val="12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71/87</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8"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72/87</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9"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72/87</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Transplant in ACLF</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73/87</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74/87</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74/87</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13"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266944"/>
                <a:gridCol w="5276088"/>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A (ALF)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B (ACLF)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7432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and time course (days from jaundice to encephalopathy)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Encephalopathy grade, pupils, sedation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and ventilator settings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Ammonia, sodium, CRRT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lactate, pH, glucose trends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Pressors, infection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support, intent of ingestion</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of cirrhosis, recent alcohol 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Precipitant and source control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Organ failures today and yesterday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 dose, oxygen, 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MELD, CLIF-C scores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Frailty, comorbidities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Prior transplant evaluation, support</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75/87</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4"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76/87</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5"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With the HE grade and the trend: brain risk, and when to start CRRT. No level rules out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Doesn't diagnose HE. Don't trend it to dose 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proven benefit; bowel distension can get in the way of surgery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Yes for overt HE, plus treat the trigger. Rifaximin as an add-on. Avoid dehydration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or high ammonia: center protocol, often 145 to 155, matched to the CRRT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Often chronically low: correct slowly. In high-risk patients, no more than 8 mmol/L in 24 hours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routine prophylaxis. Surveillance cultures, low threshold to treat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infection fast; prophylaxis with GI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Tracks severity, poor at predicting bleeding. No plasma just for the number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Same. Judge the procedure and the patient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76/87</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77/87</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78/87</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79/87</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25603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80/87</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20"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1280160"/>
                <a:gridCol w="87142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you see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Somnolent but rousable to voice or pain, grossly disoriented, bizarre behavior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81/87</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21"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001768"/>
                <a:gridCol w="5001768"/>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Not 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Arterial pH &lt; 7.30 after fluids</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all three within 24 hours: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Creatinine &gt; 3.4 mg/dL</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Grade III-IV encephalopathy</a:t>
                      </a:r>
                      <a:endParaRPr lang="en-US" sz="17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any three of:</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Age &lt; 10 or &gt; 40</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Drug reaction, or indeterminate cause</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Jaundice to encephalopathy &gt; 7 days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3.5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Bilirubin &gt; 17.5 mg/dL</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82/87</a:t>
            </a:r>
            <a:endParaRPr lang="en-US"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22"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651760"/>
                <a:gridCol w="1828800"/>
                <a:gridCol w="4480560"/>
                <a:gridCol w="2130552"/>
              </a:tblGrid>
              <a:tr h="4572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Study (arterial 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they found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Clemmesen 1999, Copenhagen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44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14 herniated. Mean ammonia 230 vs 118 μmol/L; every herniation was above 146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Small, one center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Bhatia 2006,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80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Admission ammonia ≥ 124 predicted death (sensitivity 79%, specificity 76%)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the endpoint was death, not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Bernal 2007, King's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165 ALF, grade III-IV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&gt; 100 predicted severe HE (70% accuracy). </a:t>
                      </a:r>
                      <a:r>
                        <a:rPr lang="en-US" sz="1600" b="1" dirty="0">
                          <a:solidFill>
                            <a:srgbClr val="000000"/>
                          </a:solidFill>
                          <a:latin typeface="Calibri" pitchFamily="34" charset="0"/>
                          <a:ea typeface="Calibri" pitchFamily="34" charset="-122"/>
                          <a:cs typeface="Calibri" pitchFamily="34" charset="-120"/>
                        </a:rPr>
                        <a:t>&gt; 200: ICH in 55%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200 missed most of the ICH cases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Kumar 2012,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295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 122 for 3 days: survival 23% vs 72%</a:t>
                      </a:r>
                      <a:r>
                        <a:rPr lang="en-US" sz="1600" dirty="0">
                          <a:solidFill>
                            <a:srgbClr val="000000"/>
                          </a:solidFill>
                          <a:latin typeface="Calibri" pitchFamily="34" charset="0"/>
                          <a:ea typeface="Calibri" pitchFamily="34" charset="-122"/>
                          <a:cs typeface="Calibri" pitchFamily="34" charset="-120"/>
                        </a:rPr>
                        <a:t>, cerebral edema 71% vs 37%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but the trend beat a single value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83/87</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23"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645920"/>
                <a:gridCol w="3108960"/>
                <a:gridCol w="3291840"/>
                <a:gridCol w="304495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EASL-CLIF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NACSELD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APASL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with 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hospitalized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Chronic liver disease, with or without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Defined by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Organ failures (CLIF-C)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Two or more extrahepatic failures: shock, grade III-IV HE, dialysis, 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Jaundice (bilirubin ≥ 5) and INR ≥ 1.5, then ascites or HE within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Picks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Broader, earlier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Sicker 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 primary liver insult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84/87</a:t>
            </a:r>
            <a:endParaRPr lang="en-US"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85/87</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86/87</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87/87</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125</Slides>
  <Notes>125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125</vt:i4>
      </vt:variant>
    </vt:vector>
  </HeadingPairs>
  <TitlesOfParts>
    <vt:vector size="1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2026-10-26T23:41:25Z</dcterms:created>
  <dcterms:modified xsi:type="dcterms:W3CDTF">2026-10-26T23:41:25Z</dcterms:modified>
</cp:coreProperties>
</file>