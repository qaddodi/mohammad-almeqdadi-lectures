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9.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charts/chart10.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charts/chart13.xml" ContentType="application/vnd.openxmlformats-officedocument.drawingml.chart+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charts/chart14.xml" ContentType="application/vnd.openxmlformats-officedocument.drawingml.chart+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charts/chart15.xml" ContentType="application/vnd.openxmlformats-officedocument.drawingml.chart+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Lst>
  <p:notesMasterIdLst>
    <p:notesMasterId r:id="rId1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2165307-5aa0-12b2-a889-802e8dfaf22f}">
          <p14:sldIdLst>
            <p14:sldId id="256"/>
            <p14:sldId id="257"/>
          </p14:sldIdLst>
        </p14:section>
        <p14:section name="Patient A" id="{c130c06e-c546-e2eb-49f5-4c05862883e8}">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atient B" id="{9b1b214f-22bd-367e-6086-fd49460508bd}">
          <p14:sldIdLst>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Lst>
        </p14:section>
        <p14:section name="Closing" id="{eff2a6bb-cdae-a01e-bd1b-34523dbe5895}">
          <p14:sldIdLst>
            <p14:sldId id="372"/>
            <p14:sldId id="373"/>
            <p14:sldId id="374"/>
            <p14:sldId id="375"/>
          </p14:sldIdLst>
        </p14:section>
        <p14:section name="Appendix" id="{965aefeb-f0c8-ba79-ec44-425f8867672a}">
          <p14:sldIdLst>
            <p14:sldId id="376"/>
            <p14:sldId id="377"/>
            <p14:sldId id="378"/>
            <p14:sldId id="379"/>
            <p14:sldId id="380"/>
            <p14:sldId id="381"/>
            <p14:sldId id="3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notesMaster" Target="notesMasters/notesMaster1.xml"/><Relationship Id="rId130" Type="http://schemas.openxmlformats.org/officeDocument/2006/relationships/presProps" Target="presProps.xml"/><Relationship Id="rId131" Type="http://schemas.openxmlformats.org/officeDocument/2006/relationships/viewProps" Target="viewProps.xml"/><Relationship Id="rId132" Type="http://schemas.openxmlformats.org/officeDocument/2006/relationships/theme" Target="theme/theme1.xml"/><Relationship Id="rId1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TEG in 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2-1.png"/><Relationship Id="rId4" Type="http://schemas.openxmlformats.org/officeDocument/2006/relationships/slideLayout" Target="../slideLayouts/slideLayout2.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jp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2.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jp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jp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4.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jp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jp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jp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jpg"/><Relationship Id="rId2" Type="http://schemas.openxmlformats.org/officeDocument/2006/relationships/slideLayout" Target="../slideLayouts/slideLayout2.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2.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jpg"/><Relationship Id="rId2" Type="http://schemas.openxmlformats.org/officeDocument/2006/relationships/slideLayout" Target="../slideLayouts/slideLayout2.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2.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jpg"/><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2.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slideLayout" Target="../slideLayouts/slideLayout2.xml"/><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slideLayout" Target="../slideLayouts/slideLayout2.xml"/><Relationship Id="rId4"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jpg"/><Relationship Id="rId2" Type="http://schemas.openxmlformats.org/officeDocument/2006/relationships/slideLayout" Target="../slideLayouts/slideLayout2.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2.xml"/><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image" Target="../media/image-111-1.jpg"/><Relationship Id="rId2" Type="http://schemas.openxmlformats.org/officeDocument/2006/relationships/slideLayout" Target="../slideLayouts/slideLayout4.xm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jpg"/><Relationship Id="rId2" Type="http://schemas.openxmlformats.org/officeDocument/2006/relationships/slideLayout" Target="../slideLayouts/slideLayout2.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image" Target="../media/image-113-2.png"/><Relationship Id="rId3" Type="http://schemas.openxmlformats.org/officeDocument/2006/relationships/slideLayout" Target="../slideLayouts/slideLayout2.xml"/><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jpg"/><Relationship Id="rId2" Type="http://schemas.openxmlformats.org/officeDocument/2006/relationships/slideLayout" Target="../slideLayouts/slideLayout2.xml"/><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jpg"/><Relationship Id="rId2" Type="http://schemas.openxmlformats.org/officeDocument/2006/relationships/slideLayout" Target="../slideLayouts/slideLayout2.xml"/><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jpg"/><Relationship Id="rId2" Type="http://schemas.openxmlformats.org/officeDocument/2006/relationships/slideLayout" Target="../slideLayouts/slideLayout4.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slideLayout" Target="../slideLayouts/slideLayout2.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6583680" cy="914400"/>
        </p:xfrm>
        <a:graphic>
          <a:graphicData uri="http://schemas.openxmlformats.org/drawingml/2006/table">
            <a:tbl>
              <a:tblPr/>
              <a:tblGrid>
                <a:gridCol w="3054096"/>
                <a:gridCol w="3529584"/>
              </a:tblGrid>
              <a:tr h="502920">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28-year-old woman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56-year-old 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known liver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Alcohol-related cirrhosis with ascites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Nausea and vomiting for 4 days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confusion, low blood pressure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wo empty ICU beds side by side">    </p:cNvPr>
          <p:cNvPicPr>
            <a:picLocks noChangeAspect="1"/>
          </p:cNvPicPr>
          <p:nvPr/>
        </p:nvPicPr>
        <p:blipFill>
          <a:blip r:embed="rId1"/>
          <a:stretch>
            <a:fillRect/>
          </a:stretch>
        </p:blipFill>
        <p:spPr>
          <a:xfrm>
            <a:off x="7086600" y="1188720"/>
            <a:ext cx="4754880" cy="3241964"/>
          </a:xfrm>
          <a:prstGeom prst="rect">
            <a:avLst/>
          </a:prstGeom>
        </p:spPr>
      </p:pic>
      <p:sp>
        <p:nvSpPr>
          <p:cNvPr id="5"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pic>
        <p:nvPicPr>
          <p:cNvPr id="5" name="Image 0" descr="Watercolor of an empty hospital bed sitting up, with a cup of water, a book and a phone on the tray table">    </p:cNvPr>
          <p:cNvPicPr>
            <a:picLocks noChangeAspect="1"/>
          </p:cNvPicPr>
          <p:nvPr/>
        </p:nvPicPr>
        <p:blipFill>
          <a:blip r:embed="rId1"/>
          <a:stretch>
            <a:fillRect/>
          </a:stretch>
        </p:blipFill>
        <p:spPr>
          <a:xfrm>
            <a:off x="4041247" y="2514600"/>
            <a:ext cx="410920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8/85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Watercolor anatomical figure showing the brain, lungs, heart, liver, pancreas, adrenals, kidneys, spleen and bone marrow">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Text 1"/>
          <p:cNvSpPr txBox="1"/>
          <p:nvPr/>
        </p:nvSpPr>
        <p:spPr>
          <a:xfrm>
            <a:off x="8092440" y="5943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Brain</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encephalopathy, cerebral edema</a:t>
            </a:r>
            <a:endParaRPr lang="en-US" sz="1800" dirty="0"/>
          </a:p>
        </p:txBody>
      </p:sp>
      <p:sp>
        <p:nvSpPr>
          <p:cNvPr id="5" name="Leader"/>
          <p:cNvSpPr/>
          <p:nvPr/>
        </p:nvSpPr>
        <p:spPr>
          <a:xfrm flipH="1">
            <a:off x="5989320" y="914400"/>
            <a:ext cx="2011680" cy="914"/>
          </a:xfrm>
          <a:prstGeom prst="line">
            <a:avLst/>
          </a:prstGeom>
          <a:noFill/>
          <a:ln w="12700">
            <a:solidFill>
              <a:srgbClr val="595959"/>
            </a:solidFill>
            <a:prstDash val="solid"/>
            <a:tailEnd type="oval"/>
          </a:ln>
        </p:spPr>
      </p:sp>
      <p:sp>
        <p:nvSpPr>
          <p:cNvPr id="6" name="Text 3"/>
          <p:cNvSpPr txBox="1"/>
          <p:nvPr/>
        </p:nvSpPr>
        <p:spPr>
          <a:xfrm>
            <a:off x="457200" y="242316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Lungs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ARDS</a:t>
            </a:r>
            <a:endParaRPr lang="en-US" sz="1800" dirty="0"/>
          </a:p>
        </p:txBody>
      </p:sp>
      <p:sp>
        <p:nvSpPr>
          <p:cNvPr id="7" name="Leader"/>
          <p:cNvSpPr/>
          <p:nvPr/>
        </p:nvSpPr>
        <p:spPr>
          <a:xfrm>
            <a:off x="4206240" y="2743200"/>
            <a:ext cx="1271016" cy="128016"/>
          </a:xfrm>
          <a:prstGeom prst="line">
            <a:avLst/>
          </a:prstGeom>
          <a:noFill/>
          <a:ln w="12700">
            <a:solidFill>
              <a:srgbClr val="595959"/>
            </a:solidFill>
            <a:prstDash val="solid"/>
            <a:tailEnd type="oval"/>
          </a:ln>
        </p:spPr>
      </p:sp>
      <p:sp>
        <p:nvSpPr>
          <p:cNvPr id="8" name="Text 5"/>
          <p:cNvSpPr txBox="1"/>
          <p:nvPr/>
        </p:nvSpPr>
        <p:spPr>
          <a:xfrm>
            <a:off x="8092440" y="233172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Heart and vessels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vasodilatory shock</a:t>
            </a:r>
            <a:endParaRPr lang="en-US" sz="1800" dirty="0"/>
          </a:p>
        </p:txBody>
      </p:sp>
      <p:sp>
        <p:nvSpPr>
          <p:cNvPr id="9" name="Leader"/>
          <p:cNvSpPr/>
          <p:nvPr/>
        </p:nvSpPr>
        <p:spPr>
          <a:xfrm flipH="1">
            <a:off x="6172200" y="2651760"/>
            <a:ext cx="1828800" cy="365760"/>
          </a:xfrm>
          <a:prstGeom prst="line">
            <a:avLst/>
          </a:prstGeom>
          <a:noFill/>
          <a:ln w="12700">
            <a:solidFill>
              <a:srgbClr val="595959"/>
            </a:solidFill>
            <a:prstDash val="solid"/>
            <a:tailEnd type="oval"/>
          </a:ln>
        </p:spPr>
      </p:sp>
      <p:sp>
        <p:nvSpPr>
          <p:cNvPr id="10" name="Text 7"/>
          <p:cNvSpPr txBox="1"/>
          <p:nvPr/>
        </p:nvSpPr>
        <p:spPr>
          <a:xfrm>
            <a:off x="457200" y="342900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Liver</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hypoglycemia, lactate, INR</a:t>
            </a:r>
            <a:endParaRPr lang="en-US" sz="1800" dirty="0"/>
          </a:p>
        </p:txBody>
      </p:sp>
      <p:sp>
        <p:nvSpPr>
          <p:cNvPr id="11" name="Leader"/>
          <p:cNvSpPr/>
          <p:nvPr/>
        </p:nvSpPr>
        <p:spPr>
          <a:xfrm>
            <a:off x="4206240" y="3749040"/>
            <a:ext cx="1371600" cy="137160"/>
          </a:xfrm>
          <a:prstGeom prst="line">
            <a:avLst/>
          </a:prstGeom>
          <a:noFill/>
          <a:ln w="12700">
            <a:solidFill>
              <a:srgbClr val="595959"/>
            </a:solidFill>
            <a:prstDash val="solid"/>
            <a:tailEnd type="oval"/>
          </a:ln>
        </p:spPr>
      </p:sp>
      <p:sp>
        <p:nvSpPr>
          <p:cNvPr id="12" name="Text 9"/>
          <p:cNvSpPr txBox="1"/>
          <p:nvPr/>
        </p:nvSpPr>
        <p:spPr>
          <a:xfrm>
            <a:off x="8092440" y="320040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Spleen and immune system</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infection</a:t>
            </a:r>
            <a:endParaRPr lang="en-US" sz="1800" dirty="0"/>
          </a:p>
        </p:txBody>
      </p:sp>
      <p:sp>
        <p:nvSpPr>
          <p:cNvPr id="13" name="Leader"/>
          <p:cNvSpPr/>
          <p:nvPr/>
        </p:nvSpPr>
        <p:spPr>
          <a:xfrm flipH="1">
            <a:off x="6711696" y="3520440"/>
            <a:ext cx="1289304" cy="292608"/>
          </a:xfrm>
          <a:prstGeom prst="line">
            <a:avLst/>
          </a:prstGeom>
          <a:noFill/>
          <a:ln w="12700">
            <a:solidFill>
              <a:srgbClr val="595959"/>
            </a:solidFill>
            <a:prstDash val="solid"/>
            <a:tailEnd type="oval"/>
          </a:ln>
        </p:spPr>
      </p:sp>
      <p:sp>
        <p:nvSpPr>
          <p:cNvPr id="14" name="Text 11"/>
          <p:cNvSpPr txBox="1"/>
          <p:nvPr/>
        </p:nvSpPr>
        <p:spPr>
          <a:xfrm>
            <a:off x="8092440" y="406908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Adrenals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relative insufficiency</a:t>
            </a:r>
            <a:endParaRPr lang="en-US" sz="1800" dirty="0"/>
          </a:p>
        </p:txBody>
      </p:sp>
      <p:sp>
        <p:nvSpPr>
          <p:cNvPr id="15" name="Leader"/>
          <p:cNvSpPr/>
          <p:nvPr/>
        </p:nvSpPr>
        <p:spPr>
          <a:xfrm flipH="1" flipV="1">
            <a:off x="6464808" y="4224528"/>
            <a:ext cx="1536192" cy="164592"/>
          </a:xfrm>
          <a:prstGeom prst="line">
            <a:avLst/>
          </a:prstGeom>
          <a:noFill/>
          <a:ln w="12700">
            <a:solidFill>
              <a:srgbClr val="595959"/>
            </a:solidFill>
            <a:prstDash val="solid"/>
            <a:tailEnd type="oval"/>
          </a:ln>
        </p:spPr>
      </p:sp>
      <p:sp>
        <p:nvSpPr>
          <p:cNvPr id="16" name="Text 13"/>
          <p:cNvSpPr txBox="1"/>
          <p:nvPr/>
        </p:nvSpPr>
        <p:spPr>
          <a:xfrm>
            <a:off x="457200" y="429768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Kidneys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AKI</a:t>
            </a:r>
            <a:endParaRPr lang="en-US" sz="1800" dirty="0"/>
          </a:p>
        </p:txBody>
      </p:sp>
      <p:sp>
        <p:nvSpPr>
          <p:cNvPr id="17" name="Leader"/>
          <p:cNvSpPr/>
          <p:nvPr/>
        </p:nvSpPr>
        <p:spPr>
          <a:xfrm flipV="1">
            <a:off x="4206240" y="4544568"/>
            <a:ext cx="1426464" cy="73152"/>
          </a:xfrm>
          <a:prstGeom prst="line">
            <a:avLst/>
          </a:prstGeom>
          <a:noFill/>
          <a:ln w="12700">
            <a:solidFill>
              <a:srgbClr val="595959"/>
            </a:solidFill>
            <a:prstDash val="solid"/>
            <a:tailEnd type="oval"/>
          </a:ln>
        </p:spPr>
      </p:sp>
      <p:sp>
        <p:nvSpPr>
          <p:cNvPr id="18" name="Text 15"/>
          <p:cNvSpPr txBox="1"/>
          <p:nvPr/>
        </p:nvSpPr>
        <p:spPr>
          <a:xfrm>
            <a:off x="8092440" y="49377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Pancreas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pancreatitis</a:t>
            </a:r>
            <a:endParaRPr lang="en-US" sz="1800" dirty="0"/>
          </a:p>
        </p:txBody>
      </p:sp>
      <p:sp>
        <p:nvSpPr>
          <p:cNvPr id="19" name="Leader"/>
          <p:cNvSpPr/>
          <p:nvPr/>
        </p:nvSpPr>
        <p:spPr>
          <a:xfrm flipH="1" flipV="1">
            <a:off x="6172200" y="4224528"/>
            <a:ext cx="1828800" cy="1033272"/>
          </a:xfrm>
          <a:prstGeom prst="line">
            <a:avLst/>
          </a:prstGeom>
          <a:noFill/>
          <a:ln w="12700">
            <a:solidFill>
              <a:srgbClr val="595959"/>
            </a:solidFill>
            <a:prstDash val="solid"/>
            <a:tailEnd type="oval"/>
          </a:ln>
        </p:spPr>
      </p:sp>
      <p:sp>
        <p:nvSpPr>
          <p:cNvPr id="20" name="Text 17"/>
          <p:cNvSpPr txBox="1"/>
          <p:nvPr/>
        </p:nvSpPr>
        <p:spPr>
          <a:xfrm>
            <a:off x="457200" y="534924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Bone marrow</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suppression</a:t>
            </a:r>
            <a:endParaRPr lang="en-US" sz="1800" dirty="0"/>
          </a:p>
        </p:txBody>
      </p:sp>
      <p:sp>
        <p:nvSpPr>
          <p:cNvPr id="21" name="Leader"/>
          <p:cNvSpPr/>
          <p:nvPr/>
        </p:nvSpPr>
        <p:spPr>
          <a:xfrm>
            <a:off x="4206240" y="5669280"/>
            <a:ext cx="1124712" cy="365760"/>
          </a:xfrm>
          <a:prstGeom prst="line">
            <a:avLst/>
          </a:prstGeom>
          <a:noFill/>
          <a:ln w="12700">
            <a:solidFill>
              <a:srgbClr val="595959"/>
            </a:solidFill>
            <a:prstDash val="solid"/>
            <a:tailEnd type="oval"/>
          </a:ln>
        </p:spPr>
      </p:sp>
      <p:sp>
        <p:nvSpPr>
          <p:cNvPr id="22" name="Source"/>
          <p:cNvSpPr txBox="1"/>
          <p:nvPr/>
        </p:nvSpPr>
        <p:spPr>
          <a:xfrm>
            <a:off x="411480" y="6217920"/>
            <a:ext cx="3931920" cy="45720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content after Bernal W, Wendon J.</a:t>
            </a:r>
            <a:endParaRPr lang="en-US" sz="1000" dirty="0"/>
          </a:p>
          <a:p>
            <a:pPr indent="0" marL="0">
              <a:buNone/>
            </a:pPr>
            <a:r>
              <a:rPr lang="en-US" sz="1000" i="1" dirty="0">
                <a:solidFill>
                  <a:srgbClr val="595959"/>
                </a:solidFill>
                <a:latin typeface="Georgia" pitchFamily="34" charset="0"/>
                <a:ea typeface="Georgia" pitchFamily="34" charset="-122"/>
                <a:cs typeface="Georgia" pitchFamily="34" charset="-120"/>
              </a:rPr>
              <a:t>N Engl J Med 2013;369:2525-34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9/85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10/85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3858768"/>
                <a:gridCol w="5404104"/>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6753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11/85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TIPS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12/85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027769"/>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027769"/>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548640" y="3703320"/>
            <a:ext cx="6858000" cy="256032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No.</a:t>
            </a:r>
            <a:r>
              <a:rPr lang="en-US" sz="20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000" dirty="0"/>
          </a:p>
          <a:p>
            <a:pPr marL="228600" indent="-228600">
              <a:spcBef>
                <a:spcPts val="800"/>
              </a:spcBef>
              <a:buSzPct val="100000"/>
              <a:buChar char="–"/>
            </a:pPr>
            <a:r>
              <a:rPr lang="en-US" sz="20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13/85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14/85</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15/85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16/85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17/85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Watercolor of a brain in coronal sec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Ammonia and the brain</a:t>
            </a:r>
            <a:endParaRPr lang="en-US" sz="4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18/85</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19/85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3" name="Question"/>
          <p:cNvSpPr txBox="1"/>
          <p:nvPr/>
        </p:nvSpPr>
        <p:spPr>
          <a:xfrm>
            <a:off x="822960" y="2743200"/>
            <a:ext cx="10545775" cy="109728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6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20/85</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21/85</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pic>
        <p:nvPicPr>
          <p:cNvPr id="5" name="Image 0" descr="Watercolor of a cup and a bottle of lactulose syrup">    </p:cNvPr>
          <p:cNvPicPr>
            <a:picLocks noChangeAspect="1"/>
          </p:cNvPicPr>
          <p:nvPr/>
        </p:nvPicPr>
        <p:blipFill>
          <a:blip r:embed="rId1"/>
          <a:stretch>
            <a:fillRect/>
          </a:stretch>
        </p:blipFill>
        <p:spPr>
          <a:xfrm>
            <a:off x="4323505" y="2514600"/>
            <a:ext cx="3544685"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22/85</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640080" y="1645920"/>
            <a:ext cx="5760720"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pic>
        <p:nvPicPr>
          <p:cNvPr id="4" name="Image 0" descr="Watercolor of a nasal cannula on a wall oxygen flowmeter and a suction tip">    </p:cNvPr>
          <p:cNvPicPr>
            <a:picLocks noChangeAspect="1"/>
          </p:cNvPicPr>
          <p:nvPr/>
        </p:nvPicPr>
        <p:blipFill>
          <a:blip r:embed="rId1"/>
          <a:stretch>
            <a:fillRect/>
          </a:stretch>
        </p:blipFill>
        <p:spPr>
          <a:xfrm>
            <a:off x="6629400" y="1188720"/>
            <a:ext cx="5212080" cy="5044387"/>
          </a:xfrm>
          <a:prstGeom prst="rect">
            <a:avLst/>
          </a:prstGeom>
        </p:spPr>
      </p:pic>
      <p:sp>
        <p:nvSpPr>
          <p:cNvPr id="5" name="Question"/>
          <p:cNvSpPr txBox="1"/>
          <p:nvPr/>
        </p:nvSpPr>
        <p:spPr>
          <a:xfrm>
            <a:off x="640080" y="3931920"/>
            <a:ext cx="5760720" cy="109728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23/85</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pic>
        <p:nvPicPr>
          <p:cNvPr id="5" name="Image 0" descr="Watercolor of an ICU ventilator">    </p:cNvPr>
          <p:cNvPicPr>
            <a:picLocks noChangeAspect="1"/>
          </p:cNvPicPr>
          <p:nvPr/>
        </p:nvPicPr>
        <p:blipFill>
          <a:blip r:embed="rId1"/>
          <a:stretch>
            <a:fillRect/>
          </a:stretch>
        </p:blipFill>
        <p:spPr>
          <a:xfrm>
            <a:off x="4853753" y="2514600"/>
            <a:ext cx="2484190"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84248"/>
                <a:gridCol w="2231136"/>
                <a:gridCol w="3236976"/>
                <a:gridCol w="3456432"/>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lung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brain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24/85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25/85</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457200" y="1325880"/>
            <a:ext cx="667512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Head of bed 30°, neck neutral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fever, avoid hypoglycemia</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Sodium </a:t>
            </a:r>
            <a:r>
              <a:rPr lang="en-US" sz="2000" b="1" dirty="0">
                <a:solidFill>
                  <a:srgbClr val="000000"/>
                </a:solidFill>
                <a:latin typeface="Georgia" pitchFamily="34" charset="0"/>
                <a:ea typeface="Georgia" pitchFamily="34" charset="-122"/>
                <a:cs typeface="Georgia" pitchFamily="34" charset="-120"/>
              </a:rPr>
              <a:t>145 to 155 mmol/L</a:t>
            </a:r>
            <a:r>
              <a:rPr lang="en-US" sz="2000" dirty="0">
                <a:solidFill>
                  <a:srgbClr val="000000"/>
                </a:solidFill>
                <a:latin typeface="Georgia" pitchFamily="34" charset="0"/>
                <a:ea typeface="Georgia" pitchFamily="34" charset="-122"/>
                <a:cs typeface="Georgia" pitchFamily="34" charset="-120"/>
              </a:rPr>
              <a:t> with hypertonic saline (use your center's protocol)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Avoid fluid overload</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seizures, EEG if in doubt. No routine prophylaxis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0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7269480" y="1280160"/>
            <a:ext cx="4617720" cy="370136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26/85</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6949440" y="1280160"/>
            <a:ext cx="4937760" cy="31482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27/85</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pic>
        <p:nvPicPr>
          <p:cNvPr id="5" name="Image 0" descr="Watercolor of a urine drainage bag with a little dark urine">    </p:cNvPr>
          <p:cNvPicPr>
            <a:picLocks noChangeAspect="1"/>
          </p:cNvPicPr>
          <p:nvPr/>
        </p:nvPicPr>
        <p:blipFill>
          <a:blip r:embed="rId1"/>
          <a:stretch>
            <a:fillRect/>
          </a:stretch>
        </p:blipFill>
        <p:spPr>
          <a:xfrm>
            <a:off x="4201211" y="2514600"/>
            <a:ext cx="3789274"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86384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9381682" y="2377440"/>
            <a:ext cx="1810636" cy="393192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28/85</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pic>
        <p:nvPicPr>
          <p:cNvPr id="5" name="Image 0" descr="Watercolor of a unit of fresh frozen plasma">    </p:cNvPr>
          <p:cNvPicPr>
            <a:picLocks noChangeAspect="1"/>
          </p:cNvPicPr>
          <p:nvPr/>
        </p:nvPicPr>
        <p:blipFill>
          <a:blip r:embed="rId1"/>
          <a:stretch>
            <a:fillRect/>
          </a:stretch>
        </p:blipFill>
        <p:spPr>
          <a:xfrm>
            <a:off x="5008082" y="2514600"/>
            <a:ext cx="2175532"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29/85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her blood thin?</a:t>
            </a:r>
            <a:endParaRPr lang="en-US" sz="3000" dirty="0"/>
          </a:p>
        </p:txBody>
      </p:sp>
      <p:pic>
        <p:nvPicPr>
          <p:cNvPr id="3" name="Image 0" descr="TEG tracing with R, K, alpha-angle, maximum amplitude and lysis at 30 minutes labeled">    </p:cNvPr>
          <p:cNvPicPr>
            <a:picLocks noChangeAspect="1"/>
          </p:cNvPicPr>
          <p:nvPr/>
        </p:nvPicPr>
        <p:blipFill>
          <a:blip r:embed="rId1"/>
          <a:stretch>
            <a:fillRect/>
          </a:stretch>
        </p:blipFill>
        <p:spPr>
          <a:xfrm>
            <a:off x="640080" y="1371600"/>
            <a:ext cx="5120640" cy="3593592"/>
          </a:xfrm>
          <a:prstGeom prst="rect">
            <a:avLst/>
          </a:prstGeom>
        </p:spPr>
      </p:pic>
      <p:sp>
        <p:nvSpPr>
          <p:cNvPr id="4" name="Body"/>
          <p:cNvSpPr txBox="1"/>
          <p:nvPr/>
        </p:nvSpPr>
        <p:spPr>
          <a:xfrm>
            <a:off x="6126480" y="1463040"/>
            <a:ext cx="5669280" cy="347472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Is her blood thin?</a:t>
            </a:r>
            <a:endParaRPr lang="en-US" sz="3000" dirty="0"/>
          </a:p>
        </p:txBody>
      </p:sp>
      <p:graphicFrame>
        <p:nvGraphicFramePr>
          <p:cNvPr id="3" name="Chart 0" descr=""/>
          <p:cNvGraphicFramePr/>
          <p:nvPr/>
        </p:nvGraphicFramePr>
        <p:xfrm>
          <a:off x="457200" y="1188720"/>
          <a:ext cx="5760720" cy="411480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6492240" y="1280160"/>
            <a:ext cx="5303520" cy="411480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Stravitz 2012: acute liver injury or ALF, TEG on admission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Patients with encephalopathy had stronger clots than those without</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Factors V and VII were low, but protein C, protein S and antithrombin fell too, and factor VIII was about 4 times normal</a:t>
            </a:r>
            <a:endParaRPr lang="en-US" sz="1700" dirty="0"/>
          </a:p>
        </p:txBody>
      </p:sp>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30/85</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1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31/85</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68096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It's for the ammonia and the brain, not the creatinine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991875" y="1188720"/>
            <a:ext cx="2315930"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32/85</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33/85</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34/85</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35/85</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9"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36/85</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37/85</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205740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046597" y="2788920"/>
            <a:ext cx="4098500" cy="35204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13232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Patient A: arterial pH </a:t>
            </a:r>
            <a:r>
              <a:rPr lang="en-US" sz="2000" b="1" dirty="0">
                <a:solidFill>
                  <a:srgbClr val="C00000"/>
                </a:solidFill>
                <a:latin typeface="Georgia" pitchFamily="34" charset="0"/>
                <a:ea typeface="Georgia" pitchFamily="34" charset="-122"/>
                <a:cs typeface="Georgia" pitchFamily="34" charset="-120"/>
              </a:rPr>
              <a:t>7.26</a:t>
            </a:r>
            <a:r>
              <a:rPr lang="en-US" sz="20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000" dirty="0"/>
          </a:p>
        </p:txBody>
      </p:sp>
      <p:pic>
        <p:nvPicPr>
          <p:cNvPr id="5" name="Image 0" descr="Watercolor of a desk phone with the handset off the hook">    </p:cNvPr>
          <p:cNvPicPr>
            <a:picLocks noChangeAspect="1"/>
          </p:cNvPicPr>
          <p:nvPr/>
        </p:nvPicPr>
        <p:blipFill>
          <a:blip r:embed="rId1"/>
          <a:stretch>
            <a:fillRect/>
          </a:stretch>
        </p:blipFill>
        <p:spPr>
          <a:xfrm>
            <a:off x="7863840" y="2286000"/>
            <a:ext cx="4023360" cy="3455898"/>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38/85</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pic>
        <p:nvPicPr>
          <p:cNvPr id="4"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39/85</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457200" y="1737360"/>
          <a:ext cx="7589520" cy="914400"/>
        </p:xfrm>
        <a:graphic>
          <a:graphicData uri="http://schemas.openxmlformats.org/drawingml/2006/table">
            <a:tbl>
              <a:tblPr/>
              <a:tblGrid>
                <a:gridCol w="1133856"/>
                <a:gridCol w="6455664"/>
              </a:tblGrid>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Study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RCT, 182 ALF: high-volume plasma exchange × 3 days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Finding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Hospital survival 58.7% vs 47.8% (HR 0.56)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Limits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n apheresis machine for plasma exchange">    </p:cNvPr>
          <p:cNvPicPr>
            <a:picLocks noChangeAspect="1"/>
          </p:cNvPicPr>
          <p:nvPr/>
        </p:nvPicPr>
        <p:blipFill>
          <a:blip r:embed="rId1"/>
          <a:stretch>
            <a:fillRect/>
          </a:stretch>
        </p:blipFill>
        <p:spPr>
          <a:xfrm>
            <a:off x="8183880" y="1143000"/>
            <a:ext cx="3749040" cy="476811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457200" y="1737360"/>
          <a:ext cx="7589520" cy="914400"/>
        </p:xfrm>
        <a:graphic>
          <a:graphicData uri="http://schemas.openxmlformats.org/drawingml/2006/table">
            <a:tbl>
              <a:tblPr/>
              <a:tblGrid>
                <a:gridCol w="1133856"/>
                <a:gridCol w="6455664"/>
              </a:tblGrid>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Study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RCT, 182 ALF: high-volume plasma exchange × 3 days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Finding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Hospital survival 58.7% vs 47.8% (HR 0.56)</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Limits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Not blinded; nothing on ACLF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 bridge; don't delay listing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n apheresis machine for plasma exchange">    </p:cNvPr>
          <p:cNvPicPr>
            <a:picLocks noChangeAspect="1"/>
          </p:cNvPicPr>
          <p:nvPr/>
        </p:nvPicPr>
        <p:blipFill>
          <a:blip r:embed="rId1"/>
          <a:stretch>
            <a:fillRect/>
          </a:stretch>
        </p:blipFill>
        <p:spPr>
          <a:xfrm>
            <a:off x="8183880" y="1143000"/>
            <a:ext cx="3749040" cy="476811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40/85</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41/85</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42/85</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43/85</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2953512"/>
                <a:gridCol w="5184648"/>
              </a:tblGrid>
              <a:tr h="475488">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44/85</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45/85</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pic>
        <p:nvPicPr>
          <p:cNvPr id="4" name="Image 0" descr="Watercolor of a thin man in a hospital bed with a tense, distended abdomen">    </p:cNvPr>
          <p:cNvPicPr>
            <a:picLocks noChangeAspect="1"/>
          </p:cNvPicPr>
          <p:nvPr/>
        </p:nvPicPr>
        <p:blipFill>
          <a:blip r:embed="rId1"/>
          <a:stretch>
            <a:fillRect/>
          </a:stretch>
        </p:blipFill>
        <p:spPr>
          <a:xfrm>
            <a:off x="3264821" y="2148840"/>
            <a:ext cx="5662052" cy="420624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31520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7863840" y="1371600"/>
            <a:ext cx="4023360" cy="3920947"/>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46/85</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4325112"/>
                <a:gridCol w="6400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Mechanism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do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4325112"/>
                <a:gridCol w="6400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Mechanism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do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Sepsis (SBP)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Cultures, antibiotics within 1 h, source control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Splanchnic vasodilation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Norepinephrine, MAP 65, adjust to perfusion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Too little volume, or too much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Ultrasound and dynamic measures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Hidden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Hemoglobin, rectal exam, think varices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Relative adrenal insufficiency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Hydrocortisone if shock is refractory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Cirrhotic cardiomyopathy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Echo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47/85</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48/85</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Splanchnic vasodilation in cirrhosis</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49/85</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82"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50/85</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1298448"/>
                <a:gridCol w="6931152"/>
              </a:tblGrid>
              <a:tr h="404165">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371600"/>
                <a:gridCol w="7324344"/>
                <a:gridCol w="2212848"/>
              </a:tblGrid>
              <a:tr h="404165">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51/85</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271016"/>
                <a:gridCol w="9272016"/>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creatinine &lt; 1.5, no HE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 creatinine 1.5-1.9 or HE I-II</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 creatinine 1.5-1.9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52/85</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53/85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54/85</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pic>
        <p:nvPicPr>
          <p:cNvPr id="5" name="Image 0" descr="Watercolor of a vial of powder and a syringe">    </p:cNvPr>
          <p:cNvPicPr>
            <a:picLocks noChangeAspect="1"/>
          </p:cNvPicPr>
          <p:nvPr/>
        </p:nvPicPr>
        <p:blipFill>
          <a:blip r:embed="rId1"/>
          <a:stretch>
            <a:fillRect/>
          </a:stretch>
        </p:blipFill>
        <p:spPr>
          <a:xfrm>
            <a:off x="3757508" y="2514600"/>
            <a:ext cx="4676679"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55/85</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623560"/>
                <a:gridCol w="51023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67741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to 2 days off diuretics + albumin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response to 24 h of volume, if needed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other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56/85</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0"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91"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57/85</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26280" y="1280160"/>
            <a:ext cx="3017520" cy="4056822"/>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58/85</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59/85</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pic>
        <p:nvPicPr>
          <p:cNvPr id="5" name="Image 0" descr="Watercolor of a blood tube standing in a cup of ice">    </p:cNvPr>
          <p:cNvPicPr>
            <a:picLocks noChangeAspect="1"/>
          </p:cNvPicPr>
          <p:nvPr/>
        </p:nvPicPr>
        <p:blipFill>
          <a:blip r:embed="rId1"/>
          <a:stretch>
            <a:fillRect/>
          </a:stretch>
        </p:blipFill>
        <p:spPr>
          <a:xfrm>
            <a:off x="4697073" y="3063240"/>
            <a:ext cx="2797549" cy="32918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60/85</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6"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7"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61/85</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62/85</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pic>
        <p:nvPicPr>
          <p:cNvPr id="4" name="Image 0" descr="Watercolor of a vial, a bottle of albumin and a dialysis catheter on a tray">    </p:cNvPr>
          <p:cNvPicPr>
            <a:picLocks noChangeAspect="1"/>
          </p:cNvPicPr>
          <p:nvPr/>
        </p:nvPicPr>
        <p:blipFill>
          <a:blip r:embed="rId1"/>
          <a:stretch>
            <a:fillRect/>
          </a:stretch>
        </p:blipFill>
        <p:spPr>
          <a:xfrm>
            <a:off x="2956736" y="2148840"/>
            <a:ext cx="6278224"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63/85</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64/85</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65/85</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66/85</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67/85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68/85</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128016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22402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pic>
        <p:nvPicPr>
          <p:cNvPr id="5" name="Image 0" descr="Watercolor of a cup of tablets, an ampule and a syringe">    </p:cNvPr>
          <p:cNvPicPr>
            <a:picLocks noChangeAspect="1"/>
          </p:cNvPicPr>
          <p:nvPr/>
        </p:nvPicPr>
        <p:blipFill>
          <a:blip r:embed="rId1"/>
          <a:stretch>
            <a:fillRect/>
          </a:stretch>
        </p:blipFill>
        <p:spPr>
          <a:xfrm>
            <a:off x="4371919" y="2926080"/>
            <a:ext cx="3447858" cy="34290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Blood pressure rose more with terlipressin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3-month survival 59% vs 43%; too small to tell</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Not a substitute for IV pressors in the ICU</a:t>
            </a:r>
            <a:endParaRPr lang="en-US" sz="1700" dirty="0"/>
          </a:p>
          <a:p>
            <a:pPr marL="228600" indent="-228600">
              <a:spcBef>
                <a:spcPts val="800"/>
              </a:spcBef>
              <a:buSzPct val="100000"/>
              <a:buChar char="–"/>
            </a:pPr>
            <a:r>
              <a:rPr lang="en-US" sz="17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69/85</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70/85</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71/85</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pic>
        <p:nvPicPr>
          <p:cNvPr id="4" name="Image 0" descr="Watercolor of an ICU bed surrounded by a ventilator, infusion pumps and a CRRT machine">    </p:cNvPr>
          <p:cNvPicPr>
            <a:picLocks noChangeAspect="1"/>
          </p:cNvPicPr>
          <p:nvPr/>
        </p:nvPicPr>
        <p:blipFill>
          <a:blip r:embed="rId1"/>
          <a:stretch>
            <a:fillRect/>
          </a:stretch>
        </p:blipFill>
        <p:spPr>
          <a:xfrm>
            <a:off x="3739860" y="2148840"/>
            <a:ext cx="4711976"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72/85</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5"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73/85</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6"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7"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With HE grade and trend: brain risk,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Doesn't diagnose HE; don't trend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proven benefit; distends the bowel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 for overt HE ± rifaximin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 III-IV: often 145-155, match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Often low: ≤ 8 mmol/L per 24 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routine prophylaxis; low threshold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 fast; prophylaxis with GI bleed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Tracks severity,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Same; judge the procedure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74/85</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75/85</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457200" y="1325880"/>
            <a:ext cx="630936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Why did a falling ALT make you more worried?</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When is CRRT right before the creatinine is high?</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Why isn't lactulose for ACLF evidence for ALF?</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What would make you change yesterday's plan?</a:t>
            </a:r>
            <a:endParaRPr lang="en-US" sz="2000" dirty="0"/>
          </a:p>
        </p:txBody>
      </p:sp>
      <p:pic>
        <p:nvPicPr>
          <p:cNvPr id="4" name="Image 0" descr="Watercolor of two empty ICU beds side by side">    </p:cNvPr>
          <p:cNvPicPr>
            <a:picLocks noChangeAspect="1"/>
          </p:cNvPicPr>
          <p:nvPr/>
        </p:nvPicPr>
        <p:blipFill>
          <a:blip r:embed="rId1"/>
          <a:stretch>
            <a:fillRect/>
          </a:stretch>
        </p:blipFill>
        <p:spPr>
          <a:xfrm>
            <a:off x="6903720" y="1463040"/>
            <a:ext cx="4983480" cy="3397827"/>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76/85</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457200" y="1325880"/>
            <a:ext cx="704088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ALF: </a:t>
            </a:r>
            <a:r>
              <a:rPr lang="en-US" sz="2000" b="1" dirty="0">
                <a:solidFill>
                  <a:srgbClr val="000000"/>
                </a:solidFill>
                <a:latin typeface="Georgia" pitchFamily="34" charset="0"/>
                <a:ea typeface="Georgia" pitchFamily="34" charset="-122"/>
                <a:cs typeface="Georgia" pitchFamily="34" charset="-120"/>
              </a:rPr>
              <a:t>protect the brain</a:t>
            </a:r>
            <a:r>
              <a:rPr lang="en-US" sz="20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count the organs, find the trigger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000" dirty="0"/>
          </a:p>
        </p:txBody>
      </p:sp>
      <p:pic>
        <p:nvPicPr>
          <p:cNvPr id="4" name="Image 0" descr="Watercolor of a pocket notebook, a pen and a penlight">    </p:cNvPr>
          <p:cNvPicPr>
            <a:picLocks noChangeAspect="1"/>
          </p:cNvPicPr>
          <p:nvPr/>
        </p:nvPicPr>
        <p:blipFill>
          <a:blip r:embed="rId1"/>
          <a:stretch>
            <a:fillRect/>
          </a:stretch>
        </p:blipFill>
        <p:spPr>
          <a:xfrm>
            <a:off x="7726680" y="1280160"/>
            <a:ext cx="4160520" cy="3747118"/>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77/85</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78/85</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22"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79/85</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23"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80/85</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4"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81/85</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5"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82/85</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83/85</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84/85</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85/85</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127</Slides>
  <Notes>127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127</vt:i4>
      </vt:variant>
    </vt:vector>
  </HeadingPairs>
  <TitlesOfParts>
    <vt:vector size="1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2026-10-27T01:40:09Z</dcterms:created>
  <dcterms:modified xsi:type="dcterms:W3CDTF">2026-10-27T01:40:09Z</dcterms:modified>
</cp:coreProperties>
</file>