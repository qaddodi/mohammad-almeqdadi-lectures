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charts/chart8.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charts/chart9.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charts/chart10.xml" ContentType="application/vnd.openxmlformats-officedocument.drawingml.chart+xml"/>
  <Override PartName="/ppt/slideMasters/slideMaster60.xml" ContentType="application/vnd.openxmlformats-officedocument.presentationml.slideMaster+xml"/>
  <Override PartName="/ppt/slides/slide60.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charts/chart13.xml" ContentType="application/vnd.openxmlformats-officedocument.drawingml.chart+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charts/chart14.xml" ContentType="application/vnd.openxmlformats-officedocument.drawingml.chart+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charts/chart15.xml" ContentType="application/vnd.openxmlformats-officedocument.drawingml.chart+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Lst>
  <p:notesMasterIdLst>
    <p:notesMasterId r:id="rId1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3b124bb-6175-6a6c-89df-4811bbf58902}">
          <p14:sldIdLst>
            <p14:sldId id="256"/>
            <p14:sldId id="257"/>
          </p14:sldIdLst>
        </p14:section>
        <p14:section name="Patient A" id="{bada86f0-74f7-cddf-934d-fca002845455}">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Patient B" id="{33b94542-2816-38c5-e035-d4887c3ab950}">
          <p14:sldIdLst>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Lst>
        </p14:section>
        <p14:section name="Closing" id="{e900c3b4-2da7-553f-7dfb-849e5a5d0df3}">
          <p14:sldIdLst>
            <p14:sldId id="372"/>
            <p14:sldId id="373"/>
            <p14:sldId id="374"/>
            <p14:sldId id="375"/>
          </p14:sldIdLst>
        </p14:section>
        <p14:section name="Appendix" id="{9a03c06e-2408-af11-2519-049d05650317}">
          <p14:sldIdLst>
            <p14:sldId id="376"/>
            <p14:sldId id="377"/>
            <p14:sldId id="378"/>
            <p14:sldId id="379"/>
            <p14:sldId id="380"/>
            <p14:sldId id="381"/>
            <p14:sldId id="3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notesMaster" Target="notesMasters/notesMaster1.xml"/><Relationship Id="rId130" Type="http://schemas.openxmlformats.org/officeDocument/2006/relationships/presProps" Target="presProps.xml"/><Relationship Id="rId131" Type="http://schemas.openxmlformats.org/officeDocument/2006/relationships/viewProps" Target="viewProps.xml"/><Relationship Id="rId132" Type="http://schemas.openxmlformats.org/officeDocument/2006/relationships/theme" Target="theme/theme1.xml"/><Relationship Id="rId1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51 patients, mean INR 3.4</a:t>
            </a:r>
          </a:p>
        </c:rich>
      </c:tx>
      <c:layout/>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All 5 normal</c:v>
                  </c:pt>
                  <c:pt idx="1">
                    <c:v>1-2 low</c:v>
                  </c:pt>
                  <c:pt idx="2">
                    <c:v>3-4 low</c:v>
                  </c:pt>
                  <c:pt idx="3">
                    <c:v>Hypercoagulable</c:v>
                  </c:pt>
                </c:lvl>
              </c:multiLvlStrCache>
            </c:multiLvlStrRef>
          </c:cat>
          <c:val>
            <c:numRef>
              <c:f>Sheet1!$B$2:$B$5</c:f>
              <c:numCache>
                <c:formatCode>General</c:formatCode>
                <c:ptCount val="4"/>
                <c:pt idx="0">
                  <c:v>63</c:v>
                </c:pt>
                <c:pt idx="1">
                  <c:v>25</c:v>
                </c:pt>
                <c:pt idx="2">
                  <c:v>12</c:v>
                </c:pt>
                <c:pt idx="3">
                  <c:v>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question: in most patients, normal. 51 patients with acute liver injury (INR at least 1.5) or ALF (the same plus encephalopathy), mean INR 3.4, range 1.5 to 9.6. 32 of 51 (63%) had all five TEG parameters normal; 8 had one abnormal in the hypocoagulable direction, 5 had two, 4 had three, 2 had four. 4 patients (8%) had parameters in the hypercoagulable range. Lysis at 30 minutes was normal in all 51. Factors V and VII were low, but protein C, protein S and antithrombin fell too, and factor VIII was about 4 times normal. The INR measures only the procoagulant factors the liver makes; the liver also makes the anticoagulants, which fall just as far, and the endothelium pours out factor VIII and von Willebrand factor. The TEG sees the whole balance. That's why spontaneous bleeding is uncommon and why plasma before a line is not needed. Caveat: TEG is not validated to predict procedural bleeding, and a low platelet count or low fibrinogen still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 Citrate can build up in liver failure, so follow the total to ionized calcium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enjoy it, then the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causes before you show the figure. Most will say sepsis and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 Sources: Surviving Sepsis 2026 [PMID: 41869847]; SCCM 2020 [PMID: 32058387]; EASL ACLF 2023 [PMID: 37364789].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2-1.pn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2" Type="http://schemas.openxmlformats.org/officeDocument/2006/relationships/chart" Target="/ppt/charts/chart8.xml"/><Relationship Id="rId1" Type="http://schemas.openxmlformats.org/officeDocument/2006/relationships/image" Target="../media/image-47-1.jpg"/><Relationship Id="rId3" Type="http://schemas.openxmlformats.org/officeDocument/2006/relationships/slideLayout" Target="../slideLayouts/slideLayout4.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2.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2.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4.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g"/><Relationship Id="rId2" Type="http://schemas.openxmlformats.org/officeDocument/2006/relationships/slideLayout" Target="../slideLayouts/slideLayout4.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jpg"/><Relationship Id="rId2" Type="http://schemas.openxmlformats.org/officeDocument/2006/relationships/slideLayout" Target="../slideLayouts/slideLayout4.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jpg"/><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2.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jpg"/><Relationship Id="rId2" Type="http://schemas.openxmlformats.org/officeDocument/2006/relationships/slideLayout" Target="../slideLayouts/slideLayout2.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image" Target="../media/image-97-2.png"/><Relationship Id="rId3" Type="http://schemas.openxmlformats.org/officeDocument/2006/relationships/slideLayout" Target="../slideLayouts/slideLayout2.xml"/><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jpg"/><Relationship Id="rId2" Type="http://schemas.openxmlformats.org/officeDocument/2006/relationships/slideLayout" Target="../slideLayouts/slideLayout2.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2.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2.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slideLayout" Target="../slideLayouts/slideLayout2.xml"/><Relationship Id="rId4"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slideLayout" Target="../slideLayouts/slideLayout2.xml"/><Relationship Id="rId4"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jpg"/><Relationship Id="rId2" Type="http://schemas.openxmlformats.org/officeDocument/2006/relationships/slideLayout" Target="../slideLayouts/slideLayout2.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2.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jpg"/><Relationship Id="rId2" Type="http://schemas.openxmlformats.org/officeDocument/2006/relationships/slideLayout" Target="../slideLayouts/slideLayout4.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jpg"/><Relationship Id="rId2" Type="http://schemas.openxmlformats.org/officeDocument/2006/relationships/slideLayout" Target="../slideLayouts/slideLayout2.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image" Target="../media/image-113-2.png"/><Relationship Id="rId3" Type="http://schemas.openxmlformats.org/officeDocument/2006/relationships/slideLayout" Target="../slideLayouts/slideLayout2.xml"/><Relationship Id="rId4"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jpg"/><Relationship Id="rId2" Type="http://schemas.openxmlformats.org/officeDocument/2006/relationships/slideLayout" Target="../slideLayouts/slideLayout2.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jpg"/><Relationship Id="rId2" Type="http://schemas.openxmlformats.org/officeDocument/2006/relationships/slideLayout" Target="../slideLayouts/slideLayout2.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jpg"/><Relationship Id="rId2" Type="http://schemas.openxmlformats.org/officeDocument/2006/relationships/slideLayout" Target="../slideLayouts/slideLayout4.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png"/><Relationship Id="rId2" Type="http://schemas.openxmlformats.org/officeDocument/2006/relationships/slideLayout" Target="../slideLayouts/slideLayout2.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6583680" cy="914400"/>
        </p:xfrm>
        <a:graphic>
          <a:graphicData uri="http://schemas.openxmlformats.org/drawingml/2006/table">
            <a:tbl>
              <a:tblPr/>
              <a:tblGrid>
                <a:gridCol w="3054096"/>
                <a:gridCol w="3529584"/>
              </a:tblGrid>
              <a:tr h="502920">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28-year-old woman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56-year-old 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known liver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Alcohol-related cirrhosis with ascites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Nausea and vomiting for 4 days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confusion, low blood pressure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wo empty ICU beds side by side">    </p:cNvPr>
          <p:cNvPicPr>
            <a:picLocks noChangeAspect="1"/>
          </p:cNvPicPr>
          <p:nvPr/>
        </p:nvPicPr>
        <p:blipFill>
          <a:blip r:embed="rId1"/>
          <a:stretch>
            <a:fillRect/>
          </a:stretch>
        </p:blipFill>
        <p:spPr>
          <a:xfrm>
            <a:off x="7086600" y="1188720"/>
            <a:ext cx="4754880" cy="3241964"/>
          </a:xfrm>
          <a:prstGeom prst="rect">
            <a:avLst/>
          </a:prstGeom>
        </p:spPr>
      </p:pic>
      <p:sp>
        <p:nvSpPr>
          <p:cNvPr id="5"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3447288"/>
                <a:gridCol w="2057400"/>
                <a:gridCol w="2478024"/>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Jaundice to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Hyperacute (&lt; 1 week)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Acute (1 to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Subacute (4 to 12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Typical causes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Acetaminophen, HAV, HEV,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DILI, AIH, unknown cause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Less 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Spontaneous recovery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More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Intermediate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Less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pic>
        <p:nvPicPr>
          <p:cNvPr id="5" name="Image 0" descr="Watercolor of an empty hospital bed sitting up, with a cup of water, a book and a phone on the tray table">    </p:cNvPr>
          <p:cNvPicPr>
            <a:picLocks noChangeAspect="1"/>
          </p:cNvPicPr>
          <p:nvPr/>
        </p:nvPicPr>
        <p:blipFill>
          <a:blip r:embed="rId1"/>
          <a:stretch>
            <a:fillRect/>
          </a:stretch>
        </p:blipFill>
        <p:spPr>
          <a:xfrm>
            <a:off x="4041247" y="2514600"/>
            <a:ext cx="410920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Watercolor anatomical figure showing the brain, lungs, heart, liver, pancreas, adrenals, kidneys, spleen and bone marrow">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Text 1"/>
          <p:cNvSpPr txBox="1"/>
          <p:nvPr/>
        </p:nvSpPr>
        <p:spPr>
          <a:xfrm>
            <a:off x="8092440" y="5943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Brain</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encephalopathy, cerebral edema</a:t>
            </a:r>
            <a:endParaRPr lang="en-US" sz="1800" dirty="0"/>
          </a:p>
        </p:txBody>
      </p:sp>
      <p:sp>
        <p:nvSpPr>
          <p:cNvPr id="5" name="Leader"/>
          <p:cNvSpPr/>
          <p:nvPr/>
        </p:nvSpPr>
        <p:spPr>
          <a:xfrm flipH="1">
            <a:off x="5989320" y="914400"/>
            <a:ext cx="2011680" cy="914"/>
          </a:xfrm>
          <a:prstGeom prst="line">
            <a:avLst/>
          </a:prstGeom>
          <a:noFill/>
          <a:ln w="12700">
            <a:solidFill>
              <a:srgbClr val="595959"/>
            </a:solidFill>
            <a:prstDash val="solid"/>
            <a:tailEnd type="oval"/>
          </a:ln>
        </p:spPr>
      </p:sp>
      <p:sp>
        <p:nvSpPr>
          <p:cNvPr id="6" name="Text 3"/>
          <p:cNvSpPr txBox="1"/>
          <p:nvPr/>
        </p:nvSpPr>
        <p:spPr>
          <a:xfrm>
            <a:off x="457200" y="242316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Lungs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ARDS</a:t>
            </a:r>
            <a:endParaRPr lang="en-US" sz="1800" dirty="0"/>
          </a:p>
        </p:txBody>
      </p:sp>
      <p:sp>
        <p:nvSpPr>
          <p:cNvPr id="7" name="Leader"/>
          <p:cNvSpPr/>
          <p:nvPr/>
        </p:nvSpPr>
        <p:spPr>
          <a:xfrm>
            <a:off x="4206240" y="2743200"/>
            <a:ext cx="1271016" cy="128016"/>
          </a:xfrm>
          <a:prstGeom prst="line">
            <a:avLst/>
          </a:prstGeom>
          <a:noFill/>
          <a:ln w="12700">
            <a:solidFill>
              <a:srgbClr val="595959"/>
            </a:solidFill>
            <a:prstDash val="solid"/>
            <a:tailEnd type="oval"/>
          </a:ln>
        </p:spPr>
      </p:sp>
      <p:sp>
        <p:nvSpPr>
          <p:cNvPr id="8" name="Text 5"/>
          <p:cNvSpPr txBox="1"/>
          <p:nvPr/>
        </p:nvSpPr>
        <p:spPr>
          <a:xfrm>
            <a:off x="8092440" y="233172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Heart and vessels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vasodilatory shock</a:t>
            </a:r>
            <a:endParaRPr lang="en-US" sz="1800" dirty="0"/>
          </a:p>
        </p:txBody>
      </p:sp>
      <p:sp>
        <p:nvSpPr>
          <p:cNvPr id="9" name="Leader"/>
          <p:cNvSpPr/>
          <p:nvPr/>
        </p:nvSpPr>
        <p:spPr>
          <a:xfrm flipH="1">
            <a:off x="6172200" y="2651760"/>
            <a:ext cx="1828800" cy="365760"/>
          </a:xfrm>
          <a:prstGeom prst="line">
            <a:avLst/>
          </a:prstGeom>
          <a:noFill/>
          <a:ln w="12700">
            <a:solidFill>
              <a:srgbClr val="595959"/>
            </a:solidFill>
            <a:prstDash val="solid"/>
            <a:tailEnd type="oval"/>
          </a:ln>
        </p:spPr>
      </p:sp>
      <p:sp>
        <p:nvSpPr>
          <p:cNvPr id="10" name="Text 7"/>
          <p:cNvSpPr txBox="1"/>
          <p:nvPr/>
        </p:nvSpPr>
        <p:spPr>
          <a:xfrm>
            <a:off x="457200" y="342900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Liver</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hypoglycemia, lactate, INR</a:t>
            </a:r>
            <a:endParaRPr lang="en-US" sz="1800" dirty="0"/>
          </a:p>
        </p:txBody>
      </p:sp>
      <p:sp>
        <p:nvSpPr>
          <p:cNvPr id="11" name="Leader"/>
          <p:cNvSpPr/>
          <p:nvPr/>
        </p:nvSpPr>
        <p:spPr>
          <a:xfrm>
            <a:off x="4206240" y="3749040"/>
            <a:ext cx="1371600" cy="137160"/>
          </a:xfrm>
          <a:prstGeom prst="line">
            <a:avLst/>
          </a:prstGeom>
          <a:noFill/>
          <a:ln w="12700">
            <a:solidFill>
              <a:srgbClr val="595959"/>
            </a:solidFill>
            <a:prstDash val="solid"/>
            <a:tailEnd type="oval"/>
          </a:ln>
        </p:spPr>
      </p:sp>
      <p:sp>
        <p:nvSpPr>
          <p:cNvPr id="12" name="Text 9"/>
          <p:cNvSpPr txBox="1"/>
          <p:nvPr/>
        </p:nvSpPr>
        <p:spPr>
          <a:xfrm>
            <a:off x="8092440" y="320040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Spleen and immune system</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infection</a:t>
            </a:r>
            <a:endParaRPr lang="en-US" sz="1800" dirty="0"/>
          </a:p>
        </p:txBody>
      </p:sp>
      <p:sp>
        <p:nvSpPr>
          <p:cNvPr id="13" name="Leader"/>
          <p:cNvSpPr/>
          <p:nvPr/>
        </p:nvSpPr>
        <p:spPr>
          <a:xfrm flipH="1">
            <a:off x="6711696" y="3520440"/>
            <a:ext cx="1289304" cy="292608"/>
          </a:xfrm>
          <a:prstGeom prst="line">
            <a:avLst/>
          </a:prstGeom>
          <a:noFill/>
          <a:ln w="12700">
            <a:solidFill>
              <a:srgbClr val="595959"/>
            </a:solidFill>
            <a:prstDash val="solid"/>
            <a:tailEnd type="oval"/>
          </a:ln>
        </p:spPr>
      </p:sp>
      <p:sp>
        <p:nvSpPr>
          <p:cNvPr id="14" name="Text 11"/>
          <p:cNvSpPr txBox="1"/>
          <p:nvPr/>
        </p:nvSpPr>
        <p:spPr>
          <a:xfrm>
            <a:off x="8092440" y="406908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Adrenals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relative insufficiency</a:t>
            </a:r>
            <a:endParaRPr lang="en-US" sz="1800" dirty="0"/>
          </a:p>
        </p:txBody>
      </p:sp>
      <p:sp>
        <p:nvSpPr>
          <p:cNvPr id="15" name="Leader"/>
          <p:cNvSpPr/>
          <p:nvPr/>
        </p:nvSpPr>
        <p:spPr>
          <a:xfrm flipH="1" flipV="1">
            <a:off x="6464808" y="4224528"/>
            <a:ext cx="1536192" cy="164592"/>
          </a:xfrm>
          <a:prstGeom prst="line">
            <a:avLst/>
          </a:prstGeom>
          <a:noFill/>
          <a:ln w="12700">
            <a:solidFill>
              <a:srgbClr val="595959"/>
            </a:solidFill>
            <a:prstDash val="solid"/>
            <a:tailEnd type="oval"/>
          </a:ln>
        </p:spPr>
      </p:sp>
      <p:sp>
        <p:nvSpPr>
          <p:cNvPr id="16" name="Text 13"/>
          <p:cNvSpPr txBox="1"/>
          <p:nvPr/>
        </p:nvSpPr>
        <p:spPr>
          <a:xfrm>
            <a:off x="457200" y="429768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Kidneys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AKI</a:t>
            </a:r>
            <a:endParaRPr lang="en-US" sz="1800" dirty="0"/>
          </a:p>
        </p:txBody>
      </p:sp>
      <p:sp>
        <p:nvSpPr>
          <p:cNvPr id="17" name="Leader"/>
          <p:cNvSpPr/>
          <p:nvPr/>
        </p:nvSpPr>
        <p:spPr>
          <a:xfrm flipV="1">
            <a:off x="4206240" y="4544568"/>
            <a:ext cx="1426464" cy="73152"/>
          </a:xfrm>
          <a:prstGeom prst="line">
            <a:avLst/>
          </a:prstGeom>
          <a:noFill/>
          <a:ln w="12700">
            <a:solidFill>
              <a:srgbClr val="595959"/>
            </a:solidFill>
            <a:prstDash val="solid"/>
            <a:tailEnd type="oval"/>
          </a:ln>
        </p:spPr>
      </p:sp>
      <p:sp>
        <p:nvSpPr>
          <p:cNvPr id="18" name="Text 15"/>
          <p:cNvSpPr txBox="1"/>
          <p:nvPr/>
        </p:nvSpPr>
        <p:spPr>
          <a:xfrm>
            <a:off x="8092440" y="49377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Pancreas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pancreatitis</a:t>
            </a:r>
            <a:endParaRPr lang="en-US" sz="1800" dirty="0"/>
          </a:p>
        </p:txBody>
      </p:sp>
      <p:sp>
        <p:nvSpPr>
          <p:cNvPr id="19" name="Leader"/>
          <p:cNvSpPr/>
          <p:nvPr/>
        </p:nvSpPr>
        <p:spPr>
          <a:xfrm flipH="1" flipV="1">
            <a:off x="6172200" y="4224528"/>
            <a:ext cx="1828800" cy="1033272"/>
          </a:xfrm>
          <a:prstGeom prst="line">
            <a:avLst/>
          </a:prstGeom>
          <a:noFill/>
          <a:ln w="12700">
            <a:solidFill>
              <a:srgbClr val="595959"/>
            </a:solidFill>
            <a:prstDash val="solid"/>
            <a:tailEnd type="oval"/>
          </a:ln>
        </p:spPr>
      </p:sp>
      <p:sp>
        <p:nvSpPr>
          <p:cNvPr id="20" name="Text 17"/>
          <p:cNvSpPr txBox="1"/>
          <p:nvPr/>
        </p:nvSpPr>
        <p:spPr>
          <a:xfrm>
            <a:off x="457200" y="534924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Bone marrow</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suppression</a:t>
            </a:r>
            <a:endParaRPr lang="en-US" sz="1800" dirty="0"/>
          </a:p>
        </p:txBody>
      </p:sp>
      <p:sp>
        <p:nvSpPr>
          <p:cNvPr id="21" name="Leader"/>
          <p:cNvSpPr/>
          <p:nvPr/>
        </p:nvSpPr>
        <p:spPr>
          <a:xfrm>
            <a:off x="4206240" y="5669280"/>
            <a:ext cx="1124712" cy="365760"/>
          </a:xfrm>
          <a:prstGeom prst="line">
            <a:avLst/>
          </a:prstGeom>
          <a:noFill/>
          <a:ln w="12700">
            <a:solidFill>
              <a:srgbClr val="595959"/>
            </a:solidFill>
            <a:prstDash val="solid"/>
            <a:tailEnd type="oval"/>
          </a:ln>
        </p:spPr>
      </p:sp>
      <p:sp>
        <p:nvSpPr>
          <p:cNvPr id="22" name="Source"/>
          <p:cNvSpPr txBox="1"/>
          <p:nvPr/>
        </p:nvSpPr>
        <p:spPr>
          <a:xfrm>
            <a:off x="411480" y="6217920"/>
            <a:ext cx="3931920" cy="45720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content after Bernal W, Wendon J.</a:t>
            </a:r>
            <a:endParaRPr lang="en-US" sz="1000" dirty="0"/>
          </a:p>
          <a:p>
            <a:pPr indent="0" marL="0">
              <a:buNone/>
            </a:pPr>
            <a:r>
              <a:rPr lang="en-US" sz="1000" i="1" dirty="0">
                <a:solidFill>
                  <a:srgbClr val="595959"/>
                </a:solidFill>
                <a:latin typeface="Georgia" pitchFamily="34" charset="0"/>
                <a:ea typeface="Georgia" pitchFamily="34" charset="-122"/>
                <a:cs typeface="Georgia" pitchFamily="34" charset="-120"/>
              </a:rPr>
              <a:t>N Engl J Med 2013;369:2525-34</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10/85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463040" y="1463040"/>
          <a:ext cx="9265615" cy="914400"/>
        </p:xfrm>
        <a:graphic>
          <a:graphicData uri="http://schemas.openxmlformats.org/drawingml/2006/table">
            <a:tbl>
              <a:tblPr/>
              <a:tblGrid>
                <a:gridCol w="3858768"/>
                <a:gridCol w="5404104"/>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Keep her alive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Find the cause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6753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ICU bed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Glucose every 1 to 2 hours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Volume, perfusion, lactate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Neuro checks</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level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Viral, autoimmune, Wilson, toxicology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Doppler ultrasound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Pregnancy test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Both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11/85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NAC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IV acyclovir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Entecavir or tenofovir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Steroids with hepatology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Urgent 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Obstetrics: delivery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Anticoagulate; TIPS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Fix the circulation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NAC, silibinin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027769"/>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027769"/>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548640" y="3703320"/>
            <a:ext cx="6858000" cy="256032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No.</a:t>
            </a:r>
            <a:r>
              <a:rPr lang="en-US" sz="20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000" dirty="0"/>
          </a:p>
          <a:p>
            <a:pPr marL="228600" indent="-228600">
              <a:spcBef>
                <a:spcPts val="800"/>
              </a:spcBef>
              <a:buSzPct val="100000"/>
              <a:buChar char="–"/>
            </a:pPr>
            <a:r>
              <a:rPr lang="en-US" sz="20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14/85</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16/85</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Watercolor of a brain in coronal sec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Ammonia and the brain</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18/85</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19/85</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Watercolor of a normal human brain, side view,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669280" y="411480"/>
            <a:ext cx="6309360" cy="731520"/>
          </a:xfrm>
          <a:prstGeom prst="rect">
            <a:avLst/>
          </a:prstGeom>
          <a:noFill/>
          <a:ln/>
        </p:spPr>
        <p:txBody>
          <a:bodyPr wrap="square" lIns="0" tIns="0" rIns="0" bIns="0"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sp>
        <p:nvSpPr>
          <p:cNvPr id="4" name="Question"/>
          <p:cNvSpPr txBox="1"/>
          <p:nvPr/>
        </p:nvSpPr>
        <p:spPr>
          <a:xfrm>
            <a:off x="6035040" y="2377440"/>
            <a:ext cx="5577840" cy="182880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pic>
        <p:nvPicPr>
          <p:cNvPr id="5" name="Image 0" descr="Watercolor of a cup and a bottle of lactulose syrup">    </p:cNvPr>
          <p:cNvPicPr>
            <a:picLocks noChangeAspect="1"/>
          </p:cNvPicPr>
          <p:nvPr/>
        </p:nvPicPr>
        <p:blipFill>
          <a:blip r:embed="rId1"/>
          <a:stretch>
            <a:fillRect/>
          </a:stretch>
        </p:blipFill>
        <p:spPr>
          <a:xfrm>
            <a:off x="4323505" y="2514600"/>
            <a:ext cx="3544685"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709160"/>
                <a:gridCol w="60167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people give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not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Ammonia drives brain swelling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proven benefit in ALF (ALFSG)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It's what we do in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Distended bowel gets in the way at transplant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Cheap; AASLD 2011 allowed it early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Diarrhea: free water loss, sodium swings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Liquid by mouth or tube: aspiration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640080" y="1645920"/>
            <a:ext cx="5760720"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pic>
        <p:nvPicPr>
          <p:cNvPr id="4" name="Image 0" descr="Watercolor of a nasal cannula on a wall oxygen flowmeter and a suction tip">    </p:cNvPr>
          <p:cNvPicPr>
            <a:picLocks noChangeAspect="1"/>
          </p:cNvPicPr>
          <p:nvPr/>
        </p:nvPicPr>
        <p:blipFill>
          <a:blip r:embed="rId1"/>
          <a:stretch>
            <a:fillRect/>
          </a:stretch>
        </p:blipFill>
        <p:spPr>
          <a:xfrm>
            <a:off x="6629400" y="1188720"/>
            <a:ext cx="5212080" cy="5044387"/>
          </a:xfrm>
          <a:prstGeom prst="rect">
            <a:avLst/>
          </a:prstGeom>
        </p:spPr>
      </p:pic>
      <p:sp>
        <p:nvSpPr>
          <p:cNvPr id="5" name="Question"/>
          <p:cNvSpPr txBox="1"/>
          <p:nvPr/>
        </p:nvSpPr>
        <p:spPr>
          <a:xfrm>
            <a:off x="640080" y="3931920"/>
            <a:ext cx="5760720" cy="109728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319272"/>
                <a:gridCol w="3218688"/>
                <a:gridCol w="4187952"/>
              </a:tblGrid>
              <a:tr h="451714">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Before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During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055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Preoxygenate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Norepinephrine ready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glucose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Head of bed 30°, neck neutral</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Avoid hypotension (CPP)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 coughing or bucking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Most experienced operator</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Propofol: short-acting, may lower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Avoid long-acting benzodiazepines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pupils: sedation hides the exam</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pic>
        <p:nvPicPr>
          <p:cNvPr id="5" name="Image 0" descr="Watercolor of an ICU ventilator">    </p:cNvPr>
          <p:cNvPicPr>
            <a:picLocks noChangeAspect="1"/>
          </p:cNvPicPr>
          <p:nvPr/>
        </p:nvPicPr>
        <p:blipFill>
          <a:blip r:embed="rId1"/>
          <a:stretch>
            <a:fillRect/>
          </a:stretch>
        </p:blipFill>
        <p:spPr>
          <a:xfrm>
            <a:off x="4853753" y="2514600"/>
            <a:ext cx="2484190"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84248"/>
                <a:gridCol w="2231136"/>
                <a:gridCol w="3236976"/>
                <a:gridCol w="3456432"/>
              </a:tblGrid>
              <a:tr h="45171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lung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brain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we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Tidal volume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PBW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Watch the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raise the rate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Tolerate a high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CO2 raises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Keep the CO2 normal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Hyperventilation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Lowers ICP briefly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Short rescue for herniation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PEEP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Recruit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PEEP: less venous return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Set for O2 and BP; PEEP is fine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25/85</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457200" y="1325880"/>
            <a:ext cx="667512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Head of bed 30°, neck neutral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fever, avoid hypoglycemia</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Sodium </a:t>
            </a:r>
            <a:r>
              <a:rPr lang="en-US" sz="2000" b="1" dirty="0">
                <a:solidFill>
                  <a:srgbClr val="000000"/>
                </a:solidFill>
                <a:latin typeface="Georgia" pitchFamily="34" charset="0"/>
                <a:ea typeface="Georgia" pitchFamily="34" charset="-122"/>
                <a:cs typeface="Georgia" pitchFamily="34" charset="-120"/>
              </a:rPr>
              <a:t>145 to 155 mmol/L</a:t>
            </a:r>
            <a:r>
              <a:rPr lang="en-US" sz="2000" dirty="0">
                <a:solidFill>
                  <a:srgbClr val="000000"/>
                </a:solidFill>
                <a:latin typeface="Georgia" pitchFamily="34" charset="0"/>
                <a:ea typeface="Georgia" pitchFamily="34" charset="-122"/>
                <a:cs typeface="Georgia" pitchFamily="34" charset="-120"/>
              </a:rPr>
              <a:t> with hypertonic saline (use your center's protocol)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Avoid fluid overload</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seizures, EEG if in doubt. No routine prophylaxis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0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7269480" y="1280160"/>
            <a:ext cx="4617720" cy="370136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26/85</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6949440" y="1280160"/>
            <a:ext cx="4937760" cy="31482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27/85</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pic>
        <p:nvPicPr>
          <p:cNvPr id="5" name="Image 0" descr="Watercolor of a urine drainage bag with a little dark urine">    </p:cNvPr>
          <p:cNvPicPr>
            <a:picLocks noChangeAspect="1"/>
          </p:cNvPicPr>
          <p:nvPr/>
        </p:nvPicPr>
        <p:blipFill>
          <a:blip r:embed="rId1"/>
          <a:stretch>
            <a:fillRect/>
          </a:stretch>
        </p:blipFill>
        <p:spPr>
          <a:xfrm>
            <a:off x="4201211" y="2514600"/>
            <a:ext cx="3789274"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86384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9381682" y="2377440"/>
            <a:ext cx="1810636" cy="393192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pic>
        <p:nvPicPr>
          <p:cNvPr id="5" name="Image 0" descr="Watercolor of a unit of fresh frozen plasma">    </p:cNvPr>
          <p:cNvPicPr>
            <a:picLocks noChangeAspect="1"/>
          </p:cNvPicPr>
          <p:nvPr/>
        </p:nvPicPr>
        <p:blipFill>
          <a:blip r:embed="rId1"/>
          <a:stretch>
            <a:fillRect/>
          </a:stretch>
        </p:blipFill>
        <p:spPr>
          <a:xfrm>
            <a:off x="5008082" y="2514600"/>
            <a:ext cx="2175532"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measures only part of clotting, and in ALF it doesn't predict who bleeds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sp>
        <p:nvSpPr>
          <p:cNvPr id="4" name="Body"/>
          <p:cNvSpPr txBox="1"/>
          <p:nvPr/>
        </p:nvSpPr>
        <p:spPr>
          <a:xfrm>
            <a:off x="7680960" y="1371600"/>
            <a:ext cx="4206240" cy="4023360"/>
          </a:xfrm>
          <a:prstGeom prst="rect">
            <a:avLst/>
          </a:prstGeom>
          <a:noFill/>
          <a:ln/>
        </p:spPr>
        <p:txBody>
          <a:bodyPr wrap="square" lIns="50800" tIns="50800" rIns="50800" bIns="50800" rtlCol="0" anchor="t"/>
          <a:lstStyle/>
          <a:p>
            <a:pPr indent="0" marL="0">
              <a:spcBef>
                <a:spcPts val="1000"/>
              </a:spcBef>
              <a:buNone/>
            </a:pPr>
            <a:r>
              <a:rPr lang="en-US" sz="1900" b="1" dirty="0">
                <a:solidFill>
                  <a:srgbClr val="000000"/>
                </a:solidFill>
                <a:latin typeface="Georgia" pitchFamily="34" charset="0"/>
                <a:ea typeface="Georgia" pitchFamily="34" charset="-122"/>
                <a:cs typeface="Georgia" pitchFamily="34" charset="-120"/>
              </a:rPr>
              <a:t>What a TEG measures in whole blood</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R: </a:t>
            </a:r>
            <a:r>
              <a:rPr lang="en-US" sz="1900" dirty="0">
                <a:solidFill>
                  <a:srgbClr val="000000"/>
                </a:solidFill>
                <a:latin typeface="Georgia" pitchFamily="34" charset="0"/>
                <a:ea typeface="Georgia" pitchFamily="34" charset="-122"/>
                <a:cs typeface="Georgia" pitchFamily="34" charset="-120"/>
              </a:rPr>
              <a:t>time until the clot starts (clotting factors)</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K and α-angle: </a:t>
            </a:r>
            <a:r>
              <a:rPr lang="en-US" sz="1900" dirty="0">
                <a:solidFill>
                  <a:srgbClr val="000000"/>
                </a:solidFill>
                <a:latin typeface="Georgia" pitchFamily="34" charset="0"/>
                <a:ea typeface="Georgia" pitchFamily="34" charset="-122"/>
                <a:cs typeface="Georgia" pitchFamily="34" charset="-120"/>
              </a:rPr>
              <a:t>how fast the clot builds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MA: </a:t>
            </a:r>
            <a:r>
              <a:rPr lang="en-US" sz="1900" dirty="0">
                <a:solidFill>
                  <a:srgbClr val="000000"/>
                </a:solidFill>
                <a:latin typeface="Georgia" pitchFamily="34" charset="0"/>
                <a:ea typeface="Georgia" pitchFamily="34" charset="-122"/>
                <a:cs typeface="Georgia" pitchFamily="34" charset="-120"/>
              </a:rPr>
              <a:t>how strong the clot gets (platelets,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Ly30: </a:t>
            </a:r>
            <a:r>
              <a:rPr lang="en-US" sz="1900" dirty="0">
                <a:solidFill>
                  <a:srgbClr val="000000"/>
                </a:solidFill>
                <a:latin typeface="Georgia" pitchFamily="34" charset="0"/>
                <a:ea typeface="Georgia" pitchFamily="34" charset="-122"/>
                <a:cs typeface="Georgia" pitchFamily="34" charset="-120"/>
              </a:rPr>
              <a:t>how much of the clot breaks down in 30 minutes</a:t>
            </a:r>
            <a:endParaRPr lang="en-US" sz="1900" dirty="0"/>
          </a:p>
        </p:txBody>
      </p:sp>
      <p:sp>
        <p:nvSpPr>
          <p:cNvPr id="5"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Her INR is 4.1. What will her TEG show?</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graphicFrame>
        <p:nvGraphicFramePr>
          <p:cNvPr id="4" name="Chart 0" descr=""/>
          <p:cNvGraphicFramePr/>
          <p:nvPr/>
        </p:nvGraphicFramePr>
        <p:xfrm>
          <a:off x="7589520" y="1188720"/>
          <a:ext cx="4343400" cy="265176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7680960" y="3886200"/>
            <a:ext cx="4206240" cy="1691640"/>
          </a:xfrm>
          <a:prstGeom prst="rect">
            <a:avLst/>
          </a:prstGeom>
          <a:noFill/>
          <a:ln/>
        </p:spPr>
        <p:txBody>
          <a:bodyPr wrap="square" lIns="50800" tIns="50800" rIns="50800" bIns="50800" rtlCol="0" anchor="t"/>
          <a:lstStyle/>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Most had a completely normal TEG, even with INRs up to 9.6</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A weak clot (low MA) only when platelets were below about 126,000</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Encephalopathy: stronger clots, not weaker</a:t>
            </a:r>
            <a:endParaRPr lang="en-US" sz="1600" dirty="0"/>
          </a:p>
        </p:txBody>
      </p:sp>
      <p:sp>
        <p:nvSpPr>
          <p:cNvPr id="6"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A high INR doesn't mean she will bleed</a:t>
            </a:r>
            <a:endParaRPr lang="en-US" sz="2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1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31/85</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What do you ask them for?</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Body"/>
          <p:cNvSpPr txBox="1"/>
          <p:nvPr/>
        </p:nvSpPr>
        <p:spPr>
          <a:xfrm>
            <a:off x="640080" y="1463040"/>
            <a:ext cx="7680960" cy="4389120"/>
          </a:xfrm>
          <a:prstGeom prst="rect">
            <a:avLst/>
          </a:prstGeom>
          <a:noFill/>
          <a:ln/>
        </p:spPr>
        <p:txBody>
          <a:bodyPr wrap="square" lIns="50800" tIns="50800" rIns="50800" bIns="50800" rtlCol="0" anchor="t"/>
          <a:lstStyle/>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It's for the ammonia and the brain, not the creatinine</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Start now and keep it running. A clotted filter means the ammonia climbs back</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One sodium plan: the CRRT fluid and the hypertonic saline together</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Watch phosphate and potassium, and calcium if they use citrate</a:t>
            </a:r>
            <a:endParaRPr lang="en-US" sz="2200" dirty="0"/>
          </a:p>
        </p:txBody>
      </p:sp>
      <p:pic>
        <p:nvPicPr>
          <p:cNvPr id="4" name="Image 0" descr="Watercolor of a CRRT machine with filter and circuit">    </p:cNvPr>
          <p:cNvPicPr>
            <a:picLocks noChangeAspect="1"/>
          </p:cNvPicPr>
          <p:nvPr/>
        </p:nvPicPr>
        <p:blipFill>
          <a:blip r:embed="rId1"/>
          <a:stretch>
            <a:fillRect/>
          </a:stretch>
        </p:blipFill>
        <p:spPr>
          <a:xfrm>
            <a:off x="8991875" y="1188720"/>
            <a:ext cx="2315930" cy="50292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33/85</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Dwight Schrute: False.">    </p:cNvPr>
          <p:cNvPicPr>
            <a:picLocks noChangeAspect="1"/>
          </p:cNvPicPr>
          <p:nvPr/>
        </p:nvPicPr>
        <p:blipFill>
          <a:blip r:embed="rId1"/>
          <a:stretch>
            <a:fillRect/>
          </a:stretch>
        </p:blipFill>
        <p:spPr>
          <a:xfrm>
            <a:off x="1565914" y="411480"/>
            <a:ext cx="9059866" cy="6035040"/>
          </a:xfrm>
          <a:prstGeom prst="rect">
            <a:avLst/>
          </a:prstGeom>
        </p:spPr>
      </p:pic>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9"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Lower ammonia, better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Same 28-day survival; fewer deaths by day 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Association; selection bias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Small, one center, protocol violations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205740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046597" y="2788920"/>
            <a:ext cx="4098500" cy="35204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13232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Patient A: arterial pH </a:t>
            </a:r>
            <a:r>
              <a:rPr lang="en-US" sz="2000" b="1" dirty="0">
                <a:solidFill>
                  <a:srgbClr val="C00000"/>
                </a:solidFill>
                <a:latin typeface="Georgia" pitchFamily="34" charset="0"/>
                <a:ea typeface="Georgia" pitchFamily="34" charset="-122"/>
                <a:cs typeface="Georgia" pitchFamily="34" charset="-120"/>
              </a:rPr>
              <a:t>7.26</a:t>
            </a:r>
            <a:r>
              <a:rPr lang="en-US" sz="20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000" dirty="0"/>
          </a:p>
        </p:txBody>
      </p:sp>
      <p:pic>
        <p:nvPicPr>
          <p:cNvPr id="5" name="Image 0" descr="Watercolor of a desk phone with the handset off the hook">    </p:cNvPr>
          <p:cNvPicPr>
            <a:picLocks noChangeAspect="1"/>
          </p:cNvPicPr>
          <p:nvPr/>
        </p:nvPicPr>
        <p:blipFill>
          <a:blip r:embed="rId1"/>
          <a:stretch>
            <a:fillRect/>
          </a:stretch>
        </p:blipFill>
        <p:spPr>
          <a:xfrm>
            <a:off x="7863840" y="2286000"/>
            <a:ext cx="4023360" cy="3455898"/>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pic>
        <p:nvPicPr>
          <p:cNvPr id="4"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457200" y="1737360"/>
          <a:ext cx="7589520" cy="914400"/>
        </p:xfrm>
        <a:graphic>
          <a:graphicData uri="http://schemas.openxmlformats.org/drawingml/2006/table">
            <a:tbl>
              <a:tblPr/>
              <a:tblGrid>
                <a:gridCol w="1133856"/>
                <a:gridCol w="6455664"/>
              </a:tblGrid>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Study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RCT, 182 ALF: high-volume plasma exchange × 3 days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Finding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Hospital survival 58.7% vs 47.8% (HR 0.56)</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Limits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n apheresis machine for plasma exchange">    </p:cNvPr>
          <p:cNvPicPr>
            <a:picLocks noChangeAspect="1"/>
          </p:cNvPicPr>
          <p:nvPr/>
        </p:nvPicPr>
        <p:blipFill>
          <a:blip r:embed="rId1"/>
          <a:stretch>
            <a:fillRect/>
          </a:stretch>
        </p:blipFill>
        <p:spPr>
          <a:xfrm>
            <a:off x="8183880" y="1143000"/>
            <a:ext cx="3749040" cy="476811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457200" y="1737360"/>
          <a:ext cx="7589520" cy="914400"/>
        </p:xfrm>
        <a:graphic>
          <a:graphicData uri="http://schemas.openxmlformats.org/drawingml/2006/table">
            <a:tbl>
              <a:tblPr/>
              <a:tblGrid>
                <a:gridCol w="1133856"/>
                <a:gridCol w="6455664"/>
              </a:tblGrid>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Study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RCT, 182 ALF: high-volume plasma exchange × 3 days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Finding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Hospital survival 58.7% vs 47.8% (HR 0.56)</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Limits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Not blinded; nothing on ACLF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 bridge; don't delay listing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n apheresis machine for plasma exchange">    </p:cNvPr>
          <p:cNvPicPr>
            <a:picLocks noChangeAspect="1"/>
          </p:cNvPicPr>
          <p:nvPr/>
        </p:nvPicPr>
        <p:blipFill>
          <a:blip r:embed="rId1"/>
          <a:stretch>
            <a:fillRect/>
          </a:stretch>
        </p:blipFill>
        <p:spPr>
          <a:xfrm>
            <a:off x="8183880" y="1143000"/>
            <a:ext cx="3749040" cy="476811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282696"/>
                <a:gridCol w="4654296"/>
                <a:gridCol w="2971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Problem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she's 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we watch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ALF, pH 7.26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NAC; listed 1A on day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Time to an offer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 III-IV, ammonia 182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Intubated, CO2 normal, Na 145-155,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Pupils, ammonia, 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Lactate 5.8 and rising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Volume, MAP, look for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Lactate, MAP, pressors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INR 5.6,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plasma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Bleeding, INR trend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Infection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Surveillance cultures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 bar for antimicrobials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41/85</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42/85</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43/85</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2953512"/>
                <a:gridCol w="5184648"/>
              </a:tblGrid>
              <a:tr h="475488">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44/85</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pic>
        <p:nvPicPr>
          <p:cNvPr id="4" name="Image 0" descr="Watercolor of a thin man in a hospital bed with a tense, distended abdomen">    </p:cNvPr>
          <p:cNvPicPr>
            <a:picLocks noChangeAspect="1"/>
          </p:cNvPicPr>
          <p:nvPr/>
        </p:nvPicPr>
        <p:blipFill>
          <a:blip r:embed="rId1"/>
          <a:stretch>
            <a:fillRect/>
          </a:stretch>
        </p:blipFill>
        <p:spPr>
          <a:xfrm>
            <a:off x="3264821" y="2148840"/>
            <a:ext cx="5662052" cy="420624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31520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7863840" y="1371600"/>
            <a:ext cx="4023360" cy="3920947"/>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Image 0" descr="Watercolor figure of a man with cirrhosis showing the heart, IVC, nodular liver, varices, adrenals, ascites and dilated mesenteric vessels">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4" name="Text 1"/>
          <p:cNvSpPr txBox="1"/>
          <p:nvPr/>
        </p:nvSpPr>
        <p:spPr>
          <a:xfrm>
            <a:off x="274320" y="21031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Too little volume, or too much</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Ultrasound and dynamic measures</a:t>
            </a:r>
            <a:endParaRPr lang="en-US" sz="1800" dirty="0"/>
          </a:p>
        </p:txBody>
      </p:sp>
      <p:sp>
        <p:nvSpPr>
          <p:cNvPr id="5" name="Leader"/>
          <p:cNvSpPr/>
          <p:nvPr/>
        </p:nvSpPr>
        <p:spPr>
          <a:xfrm>
            <a:off x="4754880" y="2514600"/>
            <a:ext cx="1234440" cy="777240"/>
          </a:xfrm>
          <a:prstGeom prst="line">
            <a:avLst/>
          </a:prstGeom>
          <a:noFill/>
          <a:ln w="12700">
            <a:solidFill>
              <a:srgbClr val="595959"/>
            </a:solidFill>
            <a:prstDash val="solid"/>
            <a:tailEnd type="oval"/>
          </a:ln>
        </p:spPr>
      </p:sp>
      <p:sp>
        <p:nvSpPr>
          <p:cNvPr id="6" name="Text 3"/>
          <p:cNvSpPr txBox="1"/>
          <p:nvPr/>
        </p:nvSpPr>
        <p:spPr>
          <a:xfrm>
            <a:off x="274320" y="46177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Sepsis (SBP)</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Cultures, antibiotics within 1 h, source control</a:t>
            </a:r>
            <a:endParaRPr lang="en-US" sz="1800" dirty="0"/>
          </a:p>
        </p:txBody>
      </p:sp>
      <p:sp>
        <p:nvSpPr>
          <p:cNvPr id="7" name="Leader"/>
          <p:cNvSpPr/>
          <p:nvPr/>
        </p:nvSpPr>
        <p:spPr>
          <a:xfrm>
            <a:off x="4754880" y="5029200"/>
            <a:ext cx="685800" cy="685800"/>
          </a:xfrm>
          <a:prstGeom prst="line">
            <a:avLst/>
          </a:prstGeom>
          <a:noFill/>
          <a:ln w="12700">
            <a:solidFill>
              <a:srgbClr val="595959"/>
            </a:solidFill>
            <a:prstDash val="solid"/>
            <a:tailEnd type="oval"/>
          </a:ln>
        </p:spPr>
      </p:sp>
      <p:sp>
        <p:nvSpPr>
          <p:cNvPr id="8" name="Text 5"/>
          <p:cNvSpPr txBox="1"/>
          <p:nvPr/>
        </p:nvSpPr>
        <p:spPr>
          <a:xfrm>
            <a:off x="7772400" y="17830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Cirrhotic cardiomyopathy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Echo</a:t>
            </a:r>
            <a:endParaRPr lang="en-US" sz="1800" dirty="0"/>
          </a:p>
        </p:txBody>
      </p:sp>
      <p:sp>
        <p:nvSpPr>
          <p:cNvPr id="9" name="Leader"/>
          <p:cNvSpPr/>
          <p:nvPr/>
        </p:nvSpPr>
        <p:spPr>
          <a:xfrm flipH="1">
            <a:off x="6583680" y="2194560"/>
            <a:ext cx="1097280" cy="731520"/>
          </a:xfrm>
          <a:prstGeom prst="line">
            <a:avLst/>
          </a:prstGeom>
          <a:noFill/>
          <a:ln w="12700">
            <a:solidFill>
              <a:srgbClr val="595959"/>
            </a:solidFill>
            <a:prstDash val="solid"/>
            <a:tailEnd type="oval"/>
          </a:ln>
        </p:spPr>
      </p:sp>
      <p:sp>
        <p:nvSpPr>
          <p:cNvPr id="10" name="Text 7"/>
          <p:cNvSpPr txBox="1"/>
          <p:nvPr/>
        </p:nvSpPr>
        <p:spPr>
          <a:xfrm>
            <a:off x="7772400" y="288036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Hidden bleeding</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Hemoglobin, rectal exam, think varices</a:t>
            </a:r>
            <a:endParaRPr lang="en-US" sz="1800" dirty="0"/>
          </a:p>
        </p:txBody>
      </p:sp>
      <p:sp>
        <p:nvSpPr>
          <p:cNvPr id="11" name="Leader"/>
          <p:cNvSpPr/>
          <p:nvPr/>
        </p:nvSpPr>
        <p:spPr>
          <a:xfrm flipH="1">
            <a:off x="6355080" y="3291840"/>
            <a:ext cx="1325880" cy="347472"/>
          </a:xfrm>
          <a:prstGeom prst="line">
            <a:avLst/>
          </a:prstGeom>
          <a:noFill/>
          <a:ln w="12700">
            <a:solidFill>
              <a:srgbClr val="595959"/>
            </a:solidFill>
            <a:prstDash val="solid"/>
            <a:tailEnd type="oval"/>
          </a:ln>
        </p:spPr>
      </p:sp>
      <p:sp>
        <p:nvSpPr>
          <p:cNvPr id="12" name="Text 9"/>
          <p:cNvSpPr txBox="1"/>
          <p:nvPr/>
        </p:nvSpPr>
        <p:spPr>
          <a:xfrm>
            <a:off x="7772400" y="393192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Relative adrenal insufficiency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Hydrocortisone if shock is refractory</a:t>
            </a:r>
            <a:endParaRPr lang="en-US" sz="1800" dirty="0"/>
          </a:p>
        </p:txBody>
      </p:sp>
      <p:sp>
        <p:nvSpPr>
          <p:cNvPr id="13" name="Leader"/>
          <p:cNvSpPr/>
          <p:nvPr/>
        </p:nvSpPr>
        <p:spPr>
          <a:xfrm flipH="1" flipV="1">
            <a:off x="6446520" y="4050792"/>
            <a:ext cx="1234440" cy="292608"/>
          </a:xfrm>
          <a:prstGeom prst="line">
            <a:avLst/>
          </a:prstGeom>
          <a:noFill/>
          <a:ln w="12700">
            <a:solidFill>
              <a:srgbClr val="595959"/>
            </a:solidFill>
            <a:prstDash val="solid"/>
            <a:tailEnd type="oval"/>
          </a:ln>
        </p:spPr>
      </p:sp>
      <p:sp>
        <p:nvSpPr>
          <p:cNvPr id="14" name="Text 11"/>
          <p:cNvSpPr txBox="1"/>
          <p:nvPr/>
        </p:nvSpPr>
        <p:spPr>
          <a:xfrm>
            <a:off x="7772400" y="49834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Splanchnic vasodilation</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Norepinephrine, MAP 65, adjust to perfusion</a:t>
            </a:r>
            <a:endParaRPr lang="en-US" sz="1800" dirty="0"/>
          </a:p>
        </p:txBody>
      </p:sp>
      <p:sp>
        <p:nvSpPr>
          <p:cNvPr id="15" name="Leader"/>
          <p:cNvSpPr/>
          <p:nvPr/>
        </p:nvSpPr>
        <p:spPr>
          <a:xfrm flipH="1" flipV="1">
            <a:off x="6263640" y="5029200"/>
            <a:ext cx="1417320" cy="365760"/>
          </a:xfrm>
          <a:prstGeom prst="line">
            <a:avLst/>
          </a:prstGeom>
          <a:noFill/>
          <a:ln w="12700">
            <a:solidFill>
              <a:srgbClr val="595959"/>
            </a:solidFill>
            <a:prstDash val="solid"/>
            <a:tailEnd type="oval"/>
          </a:ln>
        </p:spPr>
      </p:sp>
      <p:sp>
        <p:nvSpPr>
          <p:cNvPr id="16" name="Text 13"/>
          <p:cNvSpPr txBox="1"/>
          <p:nvPr/>
        </p:nvSpPr>
        <p:spPr>
          <a:xfrm>
            <a:off x="411480" y="5989320"/>
            <a:ext cx="4937760" cy="411480"/>
          </a:xfrm>
          <a:prstGeom prst="rect">
            <a:avLst/>
          </a:prstGeom>
          <a:noFill/>
          <a:ln/>
        </p:spPr>
        <p:txBody>
          <a:bodyPr wrap="square" lIns="0" tIns="0" rIns="0" bIns="0" rtlCol="0" anchor="ctr"/>
          <a:lstStyle/>
          <a:p>
            <a:pPr algn="l"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Usually more than one of these</a:t>
            </a:r>
            <a:endParaRPr lang="en-US" sz="2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Splanchnic vasodilation in cirrhosis</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49/85</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2"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 or chronic liver disease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1.5 + HE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Ascites, bleeding, HE, jaundice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Decompensation +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sepsis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Bleeding, infection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Infection, shock,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ammonia, early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Treat the trigger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Source, shock, kidney vs lung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Urgent listing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Refer by MELD or complication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Narrow window; reassess daily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1298448"/>
                <a:gridCol w="6931152"/>
              </a:tblGrid>
              <a:tr h="404165">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371600"/>
                <a:gridCol w="7324344"/>
                <a:gridCol w="2212848"/>
              </a:tblGrid>
              <a:tr h="404165">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271016"/>
                <a:gridCol w="9272016"/>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creatinine &lt; 1.5, no HE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 creatinine 1.5-1.9 or HE I-II</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 creatinine 1.5-1.9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52/85</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53/85</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54/85</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pic>
        <p:nvPicPr>
          <p:cNvPr id="5" name="Image 0" descr="Watercolor of a vial of powder and a syringe">    </p:cNvPr>
          <p:cNvPicPr>
            <a:picLocks noChangeAspect="1"/>
          </p:cNvPicPr>
          <p:nvPr/>
        </p:nvPicPr>
        <p:blipFill>
          <a:blip r:embed="rId1"/>
          <a:stretch>
            <a:fillRect/>
          </a:stretch>
        </p:blipFill>
        <p:spPr>
          <a:xfrm>
            <a:off x="3757508" y="2514600"/>
            <a:ext cx="4676679"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55/85</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9"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623560"/>
                <a:gridCol w="51023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67741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to 2 days off diuretics + albumin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response to 24 h of volume, if needed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other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56/85</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0"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1"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 0.9 → 3.0, urine 10 mL/h</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 L on arrival; too early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C00000"/>
                          </a:solidFill>
                          <a:latin typeface="Calibri" pitchFamily="34" charset="0"/>
                          <a:ea typeface="Calibri" pitchFamily="34" charset="-122"/>
                          <a:cs typeface="Calibri" pitchFamily="34" charset="-120"/>
                        </a:rPr>
                        <a:t>Septic shock on norepinephrine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26280" y="1280160"/>
            <a:ext cx="3017520" cy="4056822"/>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58/85</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4816" y="1143000"/>
            <a:ext cx="688206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59/85</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pic>
        <p:nvPicPr>
          <p:cNvPr id="5" name="Image 0" descr="Watercolor of a blood tube standing in a cup of ice">    </p:cNvPr>
          <p:cNvPicPr>
            <a:picLocks noChangeAspect="1"/>
          </p:cNvPicPr>
          <p:nvPr/>
        </p:nvPicPr>
        <p:blipFill>
          <a:blip r:embed="rId1"/>
          <a:stretch>
            <a:fillRect/>
          </a:stretch>
        </p:blipFill>
        <p:spPr>
          <a:xfrm>
            <a:off x="4697073" y="3063240"/>
            <a:ext cx="2797549" cy="32918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6"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7"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62/85</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pic>
        <p:nvPicPr>
          <p:cNvPr id="4" name="Image 0" descr="Watercolor of a vial, a bottle of albumin and a dialysis catheter on a tray">    </p:cNvPr>
          <p:cNvPicPr>
            <a:picLocks noChangeAspect="1"/>
          </p:cNvPicPr>
          <p:nvPr/>
        </p:nvPicPr>
        <p:blipFill>
          <a:blip r:embed="rId1"/>
          <a:stretch>
            <a:fillRect/>
          </a:stretch>
        </p:blipFill>
        <p:spPr>
          <a:xfrm>
            <a:off x="2956736" y="2148840"/>
            <a:ext cx="6278224"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64/85</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66/85</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7"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1719072"/>
                <a:gridCol w="882396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777 inpatients: albumin to ≥ 30 g/L vs standard care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Infection, kidney dysfunction or death: 29.7% vs 30.2%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The catch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More serious adverse events, including pulmonary edema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68/85</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128016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22402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pic>
        <p:nvPicPr>
          <p:cNvPr id="5" name="Image 0" descr="Watercolor of a cup of tablets, an ampule and a syringe">    </p:cNvPr>
          <p:cNvPicPr>
            <a:picLocks noChangeAspect="1"/>
          </p:cNvPicPr>
          <p:nvPr/>
        </p:nvPicPr>
        <p:blipFill>
          <a:blip r:embed="rId1"/>
          <a:stretch>
            <a:fillRect/>
          </a:stretch>
        </p:blipFill>
        <p:spPr>
          <a:xfrm>
            <a:off x="4371919" y="2926080"/>
            <a:ext cx="3447858" cy="342900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Blood pressure rose more with terlipressin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3-month survival 59% vs 43%; too small to tell</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Not a substitute for IV pressors in the ICU</a:t>
            </a:r>
            <a:endParaRPr lang="en-US" sz="1700" dirty="0"/>
          </a:p>
          <a:p>
            <a:pPr marL="228600" indent="-228600">
              <a:spcBef>
                <a:spcPts val="800"/>
              </a:spcBef>
              <a:buSzPct val="100000"/>
              <a:buChar char="–"/>
            </a:pPr>
            <a:r>
              <a:rPr lang="en-US" sz="17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1"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71/85</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pic>
        <p:nvPicPr>
          <p:cNvPr id="4" name="Image 0" descr="Watercolor of an ICU bed surrounded by a ventilator, infusion pumps and a CRRT machine">    </p:cNvPr>
          <p:cNvPicPr>
            <a:picLocks noChangeAspect="1"/>
          </p:cNvPicPr>
          <p:nvPr/>
        </p:nvPicPr>
        <p:blipFill>
          <a:blip r:embed="rId1"/>
          <a:stretch>
            <a:fillRect/>
          </a:stretch>
        </p:blipFill>
        <p:spPr>
          <a:xfrm>
            <a:off x="3739860" y="2148840"/>
            <a:ext cx="4711976"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5"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422392"/>
                <a:gridCol w="5120640"/>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A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B (ACLF)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2971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days from jaundice to HE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Encephalopathy grade, pupils, sedation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Airway and ventilator settings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Ammonia, sodium, CRRT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INR, lactate, pH, glucose trends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Pressors, infection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Social support, intent of ingestion</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of cirrhosis, recent alcohol use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Precipitant and source control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Organ failures today and yesterday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 dose, oxygen, 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MELD, CLIF-C scores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Frailty, comorbidities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Prior transplant evaluation, support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73/85</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6"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7"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With HE grade and trend: brain risk,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Doesn't diagnose HE; don't trend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proven benefit; distends the bowel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 for overt HE ± rifaximin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HE III-IV: often 145-155, match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Often low: ≤ 8 mmol/L per 24 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routine prophylaxis; low threshold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 fast; prophylaxis with GI bleed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Tracks severity,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Same; judge the procedure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75/85</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457200" y="1325880"/>
            <a:ext cx="6309360"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Why did a falling ALT make you more worried?</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When is CRRT right before the creatinine is high?</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Why isn't lactulose for ACLF evidence for ALF?</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What would make you change yesterday's plan?</a:t>
            </a:r>
            <a:endParaRPr lang="en-US" sz="2000" dirty="0"/>
          </a:p>
        </p:txBody>
      </p:sp>
      <p:pic>
        <p:nvPicPr>
          <p:cNvPr id="4" name="Image 0" descr="Watercolor of two empty ICU beds side by side">    </p:cNvPr>
          <p:cNvPicPr>
            <a:picLocks noChangeAspect="1"/>
          </p:cNvPicPr>
          <p:nvPr/>
        </p:nvPicPr>
        <p:blipFill>
          <a:blip r:embed="rId1"/>
          <a:stretch>
            <a:fillRect/>
          </a:stretch>
        </p:blipFill>
        <p:spPr>
          <a:xfrm>
            <a:off x="6903720" y="1463040"/>
            <a:ext cx="4983480" cy="3397827"/>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76/85</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457200" y="1325880"/>
            <a:ext cx="7040880"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ALF: </a:t>
            </a:r>
            <a:r>
              <a:rPr lang="en-US" sz="2000" b="1" dirty="0">
                <a:solidFill>
                  <a:srgbClr val="000000"/>
                </a:solidFill>
                <a:latin typeface="Georgia" pitchFamily="34" charset="0"/>
                <a:ea typeface="Georgia" pitchFamily="34" charset="-122"/>
                <a:cs typeface="Georgia" pitchFamily="34" charset="-120"/>
              </a:rPr>
              <a:t>protect the brain</a:t>
            </a:r>
            <a:r>
              <a:rPr lang="en-US" sz="20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count the organs, find the trigger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000" dirty="0"/>
          </a:p>
        </p:txBody>
      </p:sp>
      <p:pic>
        <p:nvPicPr>
          <p:cNvPr id="4" name="Image 0" descr="Watercolor of a pocket notebook, a pen and a penlight">    </p:cNvPr>
          <p:cNvPicPr>
            <a:picLocks noChangeAspect="1"/>
          </p:cNvPicPr>
          <p:nvPr/>
        </p:nvPicPr>
        <p:blipFill>
          <a:blip r:embed="rId1"/>
          <a:stretch>
            <a:fillRect/>
          </a:stretch>
        </p:blipFill>
        <p:spPr>
          <a:xfrm>
            <a:off x="7726680" y="1280160"/>
            <a:ext cx="4160520" cy="3747118"/>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77/85</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78/85</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22"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987552"/>
                <a:gridCol w="9006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Grade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see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Somnolent but rousable, grossly disoriented, bizarre behavior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79/85</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23"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458968"/>
                <a:gridCol w="4535424"/>
              </a:tblGrid>
              <a:tr h="427939">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Not 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802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Arterial pH &lt; 7.30 after fluids</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all three within 24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Creatinine &gt; 3.4 mg/dL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Grade III-IV encephalopathy</a:t>
                      </a:r>
                      <a:endParaRPr lang="en-US" sz="18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any three of:</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Age &lt; 10 or &gt; 40</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Drug reaction or unknown cause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Jaundice to encephalopathy &gt; 7 days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3.5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Bilirubin &gt; 17.5 mg/dL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80/85</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4"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478024"/>
                <a:gridCol w="1426464"/>
                <a:gridCol w="4288536"/>
                <a:gridCol w="2898648"/>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 (arterial, μmol/L)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they found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The 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Clemmesen 1999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44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Herniated: mean 230 vs 118; all above 146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Small, one center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Bhatia 2006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80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124 on admission predicted death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Endpoint was death, not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Bernal 2007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165, HE III-IV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&gt; 100: severe HE. </a:t>
                      </a:r>
                      <a:r>
                        <a:rPr lang="en-US" sz="1800" b="1" dirty="0">
                          <a:solidFill>
                            <a:srgbClr val="000000"/>
                          </a:solidFill>
                          <a:latin typeface="Calibri" pitchFamily="34" charset="0"/>
                          <a:ea typeface="Calibri" pitchFamily="34" charset="-122"/>
                          <a:cs typeface="Calibri" pitchFamily="34" charset="-120"/>
                        </a:rPr>
                        <a:t>&gt; 200: ICH in 55%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missed most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Kumar 2012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295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122 for 3 days: survival 23% vs 72%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Trend beat a single value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81/85</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453896"/>
                <a:gridCol w="3017520"/>
                <a:gridCol w="2889504"/>
                <a:gridCol w="373075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EASL-CLIF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NACSELD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APASL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Decompensated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Cirrhosis, inpatient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CLD ±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Defined by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Organ failures (CLIF-C)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 2 extrahepatic failures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Liver insult: jaundice + INR ≥ 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Picks 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Broader, earlier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Sicker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 primary liver insult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82/85</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83/85</a:t>
            </a:r>
            <a:endParaRPr lang="en-US" sz="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84/85</a:t>
            </a:r>
            <a:endParaRPr lang="en-US" sz="9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85/85</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127</Slides>
  <Notes>127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127</vt:i4>
      </vt:variant>
    </vt:vector>
  </HeadingPairs>
  <TitlesOfParts>
    <vt:vector size="1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2026-10-27T02:08:20Z</dcterms:created>
  <dcterms:modified xsi:type="dcterms:W3CDTF">2026-10-27T02:08:20Z</dcterms:modified>
</cp:coreProperties>
</file>