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1.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32.xml" ContentType="application/vnd.openxmlformats-officedocument.presentationml.slideMaster+xml"/>
  <Override PartName="/ppt/slides/slide32.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charts/chart8.xml" ContentType="application/vnd.openxmlformats-officedocument.drawingml.chart+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charts/chart9.xml" ContentType="application/vnd.openxmlformats-officedocument.drawingml.chart+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charts/chart10.xml" ContentType="application/vnd.openxmlformats-officedocument.drawingml.chart+xml"/>
  <Override PartName="/ppt/slideMasters/slideMaster60.xml" ContentType="application/vnd.openxmlformats-officedocument.presentationml.slideMaster+xml"/>
  <Override PartName="/ppt/slides/slide60.xml" ContentType="application/vnd.openxmlformats-officedocument.presentationml.slide+xml"/>
  <Override PartName="/ppt/charts/chart11.xml" ContentType="application/vnd.openxmlformats-officedocument.drawingml.chart+xml"/>
  <Override PartName="/ppt/charts/chart12.xml" ContentType="application/vnd.openxmlformats-officedocument.drawingml.chart+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charts/chart13.xml" ContentType="application/vnd.openxmlformats-officedocument.drawingml.chart+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charts/chart14.xml" ContentType="application/vnd.openxmlformats-officedocument.drawingml.chart+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charts/chart15.xml" ContentType="application/vnd.openxmlformats-officedocument.drawingml.chart+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slideMasters/slideMaster122.xml" ContentType="application/vnd.openxmlformats-officedocument.presentationml.slideMaster+xml"/>
  <Override PartName="/ppt/slides/slide122.xml" ContentType="application/vnd.openxmlformats-officedocument.presentationml.slide+xml"/>
  <Override PartName="/ppt/slideMasters/slideMaster123.xml" ContentType="application/vnd.openxmlformats-officedocument.presentationml.slideMaster+xml"/>
  <Override PartName="/ppt/slides/slide123.xml" ContentType="application/vnd.openxmlformats-officedocument.presentationml.slide+xml"/>
  <Override PartName="/ppt/slideMasters/slideMaster124.xml" ContentType="application/vnd.openxmlformats-officedocument.presentationml.slideMaster+xml"/>
  <Override PartName="/ppt/slides/slide124.xml" ContentType="application/vnd.openxmlformats-officedocument.presentationml.slide+xml"/>
  <Override PartName="/ppt/slideMasters/slideMaster125.xml" ContentType="application/vnd.openxmlformats-officedocument.presentationml.slideMaster+xml"/>
  <Override PartName="/ppt/slides/slide125.xml" ContentType="application/vnd.openxmlformats-officedocument.presentationml.slide+xml"/>
  <Override PartName="/ppt/slideMasters/slideMaster126.xml" ContentType="application/vnd.openxmlformats-officedocument.presentationml.slideMaster+xml"/>
  <Override PartName="/ppt/slides/slide126.xml" ContentType="application/vnd.openxmlformats-officedocument.presentationml.slide+xml"/>
  <Override PartName="/ppt/slideMasters/slideMaster127.xml" ContentType="application/vnd.openxmlformats-officedocument.presentationml.slideMaster+xml"/>
  <Override PartName="/ppt/slides/slide1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Lst>
  <p:notesMasterIdLst>
    <p:notesMasterId r:id="rId1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1b6d213-525c-e903-04b3-5b1668cc023c}">
          <p14:sldIdLst>
            <p14:sldId id="256"/>
            <p14:sldId id="257"/>
          </p14:sldIdLst>
        </p14:section>
        <p14:section name="Patient A" id="{a3ccc22c-4023-430e-20c9-d759dee17618}">
          <p14:sldIdLst>
            <p14:sldId id="258"/>
            <p14:sldId id="259"/>
            <p14:sldId id="260"/>
            <p14:sldId id="261"/>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 id="292"/>
            <p14:sldId id="293"/>
            <p14:sldId id="294"/>
            <p14:sldId id="295"/>
            <p14:sldId id="296"/>
            <p14:sldId id="297"/>
            <p14:sldId id="298"/>
            <p14:sldId id="299"/>
            <p14:sldId id="300"/>
            <p14:sldId id="301"/>
            <p14:sldId id="302"/>
            <p14:sldId id="303"/>
            <p14:sldId id="304"/>
            <p14:sldId id="305"/>
            <p14:sldId id="306"/>
            <p14:sldId id="307"/>
            <p14:sldId id="308"/>
            <p14:sldId id="309"/>
            <p14:sldId id="310"/>
            <p14:sldId id="311"/>
            <p14:sldId id="312"/>
            <p14:sldId id="313"/>
            <p14:sldId id="314"/>
            <p14:sldId id="315"/>
            <p14:sldId id="316"/>
            <p14:sldId id="317"/>
            <p14:sldId id="318"/>
            <p14:sldId id="319"/>
            <p14:sldId id="320"/>
            <p14:sldId id="321"/>
            <p14:sldId id="322"/>
            <p14:sldId id="323"/>
          </p14:sldIdLst>
        </p14:section>
        <p14:section name="Patient B" id="{ef37fddb-2b73-a3a7-84ca-faf57aab538e}">
          <p14:sldIdLst>
            <p14:sldId id="324"/>
            <p14:sldId id="325"/>
            <p14:sldId id="326"/>
            <p14:sldId id="327"/>
            <p14:sldId id="328"/>
            <p14:sldId id="329"/>
            <p14:sldId id="330"/>
            <p14:sldId id="331"/>
            <p14:sldId id="332"/>
            <p14:sldId id="333"/>
            <p14:sldId id="334"/>
            <p14:sldId id="335"/>
            <p14:sldId id="336"/>
            <p14:sldId id="337"/>
            <p14:sldId id="338"/>
            <p14:sldId id="339"/>
            <p14:sldId id="340"/>
            <p14:sldId id="341"/>
            <p14:sldId id="342"/>
            <p14:sldId id="343"/>
            <p14:sldId id="344"/>
            <p14:sldId id="345"/>
            <p14:sldId id="346"/>
            <p14:sldId id="347"/>
            <p14:sldId id="348"/>
            <p14:sldId id="349"/>
            <p14:sldId id="350"/>
            <p14:sldId id="351"/>
            <p14:sldId id="352"/>
            <p14:sldId id="353"/>
            <p14:sldId id="354"/>
            <p14:sldId id="355"/>
            <p14:sldId id="356"/>
            <p14:sldId id="357"/>
            <p14:sldId id="358"/>
            <p14:sldId id="359"/>
            <p14:sldId id="360"/>
            <p14:sldId id="361"/>
            <p14:sldId id="362"/>
            <p14:sldId id="363"/>
            <p14:sldId id="364"/>
            <p14:sldId id="365"/>
            <p14:sldId id="366"/>
            <p14:sldId id="367"/>
            <p14:sldId id="368"/>
            <p14:sldId id="369"/>
            <p14:sldId id="370"/>
            <p14:sldId id="371"/>
          </p14:sldIdLst>
        </p14:section>
        <p14:section name="Closing" id="{fcd6dedf-0bf0-06b0-b139-11db0ffc39c1}">
          <p14:sldIdLst>
            <p14:sldId id="372"/>
            <p14:sldId id="373"/>
            <p14:sldId id="374"/>
            <p14:sldId id="375"/>
          </p14:sldIdLst>
        </p14:section>
        <p14:section name="Appendix" id="{fc35d606-d87d-8fab-07ce-fd6d11b5d215}">
          <p14:sldIdLst>
            <p14:sldId id="376"/>
            <p14:sldId id="377"/>
            <p14:sldId id="378"/>
            <p14:sldId id="379"/>
            <p14:sldId id="380"/>
            <p14:sldId id="381"/>
            <p14:sldId id="38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notesMaster" Target="notesMasters/notesMaster1.xml"/><Relationship Id="rId130" Type="http://schemas.openxmlformats.org/officeDocument/2006/relationships/presProps" Target="presProps.xml"/><Relationship Id="rId131" Type="http://schemas.openxmlformats.org/officeDocument/2006/relationships/viewProps" Target="viewProps.xml"/><Relationship Id="rId132" Type="http://schemas.openxmlformats.org/officeDocument/2006/relationships/theme" Target="theme/theme1.xml"/><Relationship Id="rId13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Original line (200 at 4 h)</c:v>
                </c:pt>
              </c:strCache>
            </c:strRef>
          </c:tx>
          <c:spPr>
            <a:solidFill>
              <a:srgbClr val="7F7F7F"/>
            </a:solidFill>
            <a:ln w="31750" cap="flat">
              <a:solidFill>
                <a:srgbClr val="7F7F7F"/>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7F7F7F"/>
              </a:solidFill>
              <a:ln w="9525" cap="flat">
                <a:solidFill>
                  <a:srgbClr val="7F7F7F"/>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Sheet1!$B$2:$B$7</c:f>
              <c:numCache>
                <c:formatCode>General</c:formatCode>
                <c:ptCount val="6"/>
                <c:pt idx="0">
                  <c:v>200</c:v>
                </c:pt>
                <c:pt idx="1">
                  <c:v>100</c:v>
                </c:pt>
                <c:pt idx="2">
                  <c:v>50</c:v>
                </c:pt>
                <c:pt idx="3">
                  <c:v>25</c:v>
                </c:pt>
                <c:pt idx="4">
                  <c:v>12.5</c:v>
                </c:pt>
                <c:pt idx="5">
                  <c:v>6.25</c:v>
                </c:pt>
              </c:numCache>
            </c:numRef>
          </c:val>
          <c:smooth val="0"/>
        </c:ser>
        <c:ser>
          <c:idx val="1"/>
          <c:order val="1"/>
          <c:tx>
            <c:strRef>
              <c:f>Sheet1!$C$1</c:f>
              <c:strCache>
                <c:ptCount val="1"/>
                <c:pt idx="0">
                  <c:v>US treatment line (150 at 4 h)</c:v>
                </c:pt>
              </c:strCache>
            </c:strRef>
          </c:tx>
          <c:spPr>
            <a:solidFill>
              <a:srgbClr val="000000"/>
            </a:solidFill>
            <a:ln w="31750" cap="flat">
              <a:solidFill>
                <a:srgbClr val="000000"/>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00000"/>
              </a:solidFill>
              <a:ln w="9525" cap="flat">
                <a:solidFill>
                  <a:srgbClr val="000000"/>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Sheet1!$C$2:$C$7</c:f>
              <c:numCache>
                <c:formatCode>General</c:formatCode>
                <c:ptCount val="6"/>
                <c:pt idx="0">
                  <c:v>150</c:v>
                </c:pt>
                <c:pt idx="1">
                  <c:v>75</c:v>
                </c:pt>
                <c:pt idx="2">
                  <c:v>37.5</c:v>
                </c:pt>
                <c:pt idx="3">
                  <c:v>18.75</c:v>
                </c:pt>
                <c:pt idx="4">
                  <c:v>9.38</c:v>
                </c:pt>
                <c:pt idx="5">
                  <c:v>4.69</c:v>
                </c:pt>
              </c:numCache>
            </c:numRef>
          </c:val>
          <c:smooth val="0"/>
        </c:ser>
        <c:ser>
          <c:idx val="2"/>
          <c:order val="2"/>
          <c:tx>
            <c:strRef>
              <c:f>Sheet1!$D$1</c:f>
              <c:strCache>
                <c:ptCount val="1"/>
                <c:pt idx="0">
                  <c:v>Her level, 12 μg/mL</c:v>
                </c:pt>
              </c:strCache>
            </c:strRef>
          </c:tx>
          <c:spPr>
            <a:solidFill>
              <a:srgbClr val="C00000"/>
            </a:solidFill>
            <a:ln w="31750" cap="flat">
              <a:solidFill>
                <a:srgbClr val="C00000"/>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00000"/>
              </a:solidFill>
              <a:ln w="9525" cap="flat">
                <a:solidFill>
                  <a:srgbClr val="C00000"/>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Sheet1!$D$2:$D$7</c:f>
              <c:numCache>
                <c:formatCode>General</c:formatCode>
                <c:ptCount val="6"/>
                <c:pt idx="0">
                  <c:v>12</c:v>
                </c:pt>
                <c:pt idx="1">
                  <c:v>12</c:v>
                </c:pt>
                <c:pt idx="2">
                  <c:v>12</c:v>
                </c:pt>
                <c:pt idx="3">
                  <c:v>12</c:v>
                </c:pt>
                <c:pt idx="4">
                  <c:v>12</c:v>
                </c:pt>
                <c:pt idx="5">
                  <c:v>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300" b="0" i="0" u="none" strike="noStrike">
                    <a:solidFill>
                      <a:srgbClr val="000000"/>
                    </a:solidFill>
                    <a:latin typeface="Calibri"/>
                  </a:defRPr>
                </a:pPr>
                <a:r>
                  <a:rPr sz="1300" b="0" i="0" u="none" strike="noStrike">
                    <a:solidFill>
                      <a:srgbClr val="000000"/>
                    </a:solidFill>
                    <a:latin typeface="Calibri"/>
                  </a:rPr>
                  <a:t>Hours after a single ingestion</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logBase val="10"/>
          <c:orientation val="minMax"/>
          <c:max val="1000"/>
          <c:min val="1"/>
        </c:scaling>
        <c:delete val="0"/>
        <c:axPos val="l"/>
        <c:majorGridlines>
          <c:spPr>
            <a:ln w="6350" cap="flat">
              <a:solidFill>
                <a:srgbClr val="D9D9D9"/>
              </a:solidFill>
              <a:prstDash val="solid"/>
              <a:round/>
            </a:ln>
          </c:spPr>
        </c:majorGridlines>
        <c:title>
          <c:tx>
            <c:rich>
              <a:bodyPr/>
              <a:lstStyle/>
              <a:p>
                <a:pPr>
                  <a:defRPr sz="1300" b="0" i="0" u="none" strike="noStrike">
                    <a:solidFill>
                      <a:srgbClr val="000000"/>
                    </a:solidFill>
                    <a:latin typeface="Calibri"/>
                  </a:defRPr>
                </a:pPr>
                <a:r>
                  <a:rPr sz="1300" b="0" i="0" u="none" strike="noStrike">
                    <a:solidFill>
                      <a:srgbClr val="000000"/>
                    </a:solidFill>
                    <a:latin typeface="Calibri"/>
                  </a:rPr>
                  <a:t>Acetaminophen (μg/mL), log scale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Transplant-free survival at 3 weeks</a:t>
            </a:r>
          </a:p>
        </c:rich>
      </c:tx>
      <c:layout/>
      <c:overlay val="0"/>
    </c:title>
    <c:autoTitleDeleted val="0"/>
    <c:plotArea>
      <c:layout/>
      <c:barChart>
        <c:barDir val="col"/>
        <c:grouping val="clustered"/>
        <c:varyColors val="0"/>
        <c:ser>
          <c:idx val="0"/>
          <c:order val="0"/>
          <c:tx>
            <c:strRef>
              <c:f>Sheet1!$B$1</c:f>
              <c:strCache>
                <c:ptCount val="1"/>
                <c:pt idx="0">
                  <c:v>NAC</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Coma grade I-II</c:v>
                  </c:pt>
                  <c:pt idx="1">
                    <c:v>Coma grade III-IV</c:v>
                  </c:pt>
                  <c:pt idx="2">
                    <c:v>All patients</c:v>
                  </c:pt>
                </c:lvl>
              </c:multiLvlStrCache>
            </c:multiLvlStrRef>
          </c:cat>
          <c:val>
            <c:numRef>
              <c:f>Sheet1!$B$2:$B$4</c:f>
              <c:numCache>
                <c:formatCode>General</c:formatCode>
                <c:ptCount val="3"/>
                <c:pt idx="0">
                  <c:v>52</c:v>
                </c:pt>
                <c:pt idx="1">
                  <c:v>9</c:v>
                </c:pt>
                <c:pt idx="2">
                  <c:v>40</c:v>
                </c:pt>
              </c:numCache>
            </c:numRef>
          </c:val>
        </c:ser>
        <c:ser>
          <c:idx val="1"/>
          <c:order val="1"/>
          <c:tx>
            <c:strRef>
              <c:f>Sheet1!$C$1</c:f>
              <c:strCache>
                <c:ptCount val="1"/>
                <c:pt idx="0">
                  <c:v>Placebo</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Coma grade I-II</c:v>
                  </c:pt>
                  <c:pt idx="1">
                    <c:v>Coma grade III-IV</c:v>
                  </c:pt>
                  <c:pt idx="2">
                    <c:v>All patients</c:v>
                  </c:pt>
                </c:lvl>
              </c:multiLvlStrCache>
            </c:multiLvlStrRef>
          </c:cat>
          <c:val>
            <c:numRef>
              <c:f>Sheet1!$C$2:$C$4</c:f>
              <c:numCache>
                <c:formatCode>General</c:formatCode>
                <c:ptCount val="3"/>
                <c:pt idx="0">
                  <c:v>30</c:v>
                </c:pt>
                <c:pt idx="1">
                  <c:v>22</c:v>
                </c:pt>
                <c:pt idx="2">
                  <c:v>27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7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Overall survival at 3 weeks</a:t>
            </a:r>
          </a:p>
        </c:rich>
      </c:tx>
      <c:layout/>
      <c:overlay val="0"/>
    </c:title>
    <c:autoTitleDeleted val="0"/>
    <c:plotArea>
      <c:layout/>
      <c:barChart>
        <c:barDir val="col"/>
        <c:grouping val="clustered"/>
        <c:varyColors val="0"/>
        <c:ser>
          <c:idx val="0"/>
          <c:order val="0"/>
          <c:tx>
            <c:strRef>
              <c:f>Sheet1!$B$1</c:f>
              <c:strCache>
                <c:ptCount val="1"/>
                <c:pt idx="0">
                  <c:v>NAC</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Sheet1!$A$2:$A$2</c:f>
              <c:multiLvlStrCache>
                <c:ptCount val="1"/>
                <c:lvl>
                  <c:pt idx="0">
                    <c:v>All patients</c:v>
                  </c:pt>
                </c:lvl>
              </c:multiLvlStrCache>
            </c:multiLvlStrRef>
          </c:cat>
          <c:val>
            <c:numRef>
              <c:f>Sheet1!$B$2:$B$2</c:f>
              <c:numCache>
                <c:formatCode>General</c:formatCode>
                <c:ptCount val="1"/>
                <c:pt idx="0">
                  <c:v>70</c:v>
                </c:pt>
              </c:numCache>
            </c:numRef>
          </c:val>
        </c:ser>
        <c:ser>
          <c:idx val="1"/>
          <c:order val="1"/>
          <c:tx>
            <c:strRef>
              <c:f>Sheet1!$C$1</c:f>
              <c:strCache>
                <c:ptCount val="1"/>
                <c:pt idx="0">
                  <c:v>Placebo</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Sheet1!$A$2:$A$2</c:f>
              <c:multiLvlStrCache>
                <c:ptCount val="1"/>
                <c:lvl>
                  <c:pt idx="0">
                    <c:v>All patients</c:v>
                  </c:pt>
                </c:lvl>
              </c:multiLvlStrCache>
            </c:multiLvlStrRef>
          </c:cat>
          <c:val>
            <c:numRef>
              <c:f>Sheet1!$C$2:$C$2</c:f>
              <c:numCache>
                <c:formatCode>General</c:formatCode>
                <c:ptCount val="1"/>
                <c:pt idx="0">
                  <c:v>66</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7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Clemmesen 1999: ammonia, μmol/L</a:t>
            </a:r>
          </a:p>
        </c:rich>
      </c:tx>
      <c:layout/>
      <c:overlay val="0"/>
    </c:title>
    <c:autoTitleDeleted val="0"/>
    <c:plotArea>
      <c:layout>
        <c:manualLayout>
          <c:layoutTarget val="inner"/>
          <c:xMode val="edge"/>
          <c:yMode val="edge"/>
          <c:x val="0.14"/>
          <c:y val="0.14"/>
          <c:w val="0.82"/>
          <c:h val="0.72"/>
        </c:manualLayout>
      </c:layout>
      <c:barChart>
        <c:barDir val="col"/>
        <c:grouping val="clustered"/>
        <c:varyColors val="0"/>
        <c:ser>
          <c:idx val="0"/>
          <c:order val="0"/>
          <c:tx>
            <c:strRef>
              <c:f>Sheet1!$B$1</c:f>
              <c:strCache>
                <c:ptCount val="1"/>
                <c:pt idx="0">
                  <c:v>Mean arterial ammonia</c:v>
                </c:pt>
              </c:strCache>
            </c:strRef>
          </c:tx>
          <c:spPr>
            <a:solidFill>
              <a:srgbClr val="C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C00000"/>
              </a:solidFill>
              <a:effectLst/>
            </c:spPr>
          </c:dPt>
          <c:dPt>
            <c:idx val="1"/>
            <c:invertIfNegative val="0"/>
            <c:bubble3D val="0"/>
            <c:spPr>
              <a:solidFill>
                <a:srgbClr val="A6A6A6"/>
              </a:solidFill>
              <a:effectLst/>
            </c:spPr>
          </c:dPt>
          <c:cat>
            <c:multiLvlStrRef>
              <c:f>Sheet1!$A$2:$A$3</c:f>
              <c:multiLvlStrCache>
                <c:ptCount val="2"/>
                <c:lvl>
                  <c:pt idx="0">
                    <c:v>Herniated (n = 14)</c:v>
                  </c:pt>
                  <c:pt idx="1">
                    <c:v>No herniation (n = 30)</c:v>
                  </c:pt>
                </c:lvl>
              </c:multiLvlStrCache>
            </c:multiLvlStrRef>
          </c:cat>
          <c:val>
            <c:numRef>
              <c:f>Sheet1!$B$2:$B$3</c:f>
              <c:numCache>
                <c:formatCode>General</c:formatCode>
                <c:ptCount val="2"/>
                <c:pt idx="0">
                  <c:v>230</c:v>
                </c:pt>
                <c:pt idx="1">
                  <c:v>118</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9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25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Kumar 2012: 295 patients</a:t>
            </a:r>
          </a:p>
        </c:rich>
      </c:tx>
      <c:layout/>
      <c:overlay val="0"/>
    </c:title>
    <c:autoTitleDeleted val="0"/>
    <c:plotArea>
      <c:layout/>
      <c:barChart>
        <c:barDir val="col"/>
        <c:grouping val="clustered"/>
        <c:varyColors val="0"/>
        <c:ser>
          <c:idx val="0"/>
          <c:order val="0"/>
          <c:tx>
            <c:strRef>
              <c:f>Sheet1!$B$1</c:f>
              <c:strCache>
                <c:ptCount val="1"/>
                <c:pt idx="0">
                  <c:v>Ammonia ≥ 122 for 3 days</c:v>
                </c:pt>
              </c:strCache>
            </c:strRef>
          </c:tx>
          <c:spPr>
            <a:solidFill>
              <a:srgbClr val="C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Sheet1!$B$2:$B$3</c:f>
              <c:numCache>
                <c:formatCode>General</c:formatCode>
                <c:ptCount val="2"/>
                <c:pt idx="0">
                  <c:v>23</c:v>
                </c:pt>
                <c:pt idx="1">
                  <c:v>71</c:v>
                </c:pt>
              </c:numCache>
            </c:numRef>
          </c:val>
        </c:ser>
        <c:ser>
          <c:idx val="1"/>
          <c:order val="1"/>
          <c:tx>
            <c:strRef>
              <c:f>Sheet1!$C$1</c:f>
              <c:strCache>
                <c:ptCount val="1"/>
                <c:pt idx="0">
                  <c:v>Ammonia falling</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Sheet1!$C$2:$C$3</c:f>
              <c:numCache>
                <c:formatCode>General</c:formatCode>
                <c:ptCount val="2"/>
                <c:pt idx="0">
                  <c:v>72</c:v>
                </c:pt>
                <c:pt idx="1">
                  <c:v>37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Clemmesen 1999: ammonia, μmol/L</a:t>
            </a:r>
          </a:p>
        </c:rich>
      </c:tx>
      <c:layout/>
      <c:overlay val="0"/>
    </c:title>
    <c:autoTitleDeleted val="0"/>
    <c:plotArea>
      <c:layout>
        <c:manualLayout>
          <c:layoutTarget val="inner"/>
          <c:xMode val="edge"/>
          <c:yMode val="edge"/>
          <c:x val="0.14"/>
          <c:y val="0.14"/>
          <c:w val="0.82"/>
          <c:h val="0.72"/>
        </c:manualLayout>
      </c:layout>
      <c:barChart>
        <c:barDir val="col"/>
        <c:grouping val="clustered"/>
        <c:varyColors val="0"/>
        <c:ser>
          <c:idx val="0"/>
          <c:order val="0"/>
          <c:tx>
            <c:strRef>
              <c:f>Sheet1!$B$1</c:f>
              <c:strCache>
                <c:ptCount val="1"/>
                <c:pt idx="0">
                  <c:v>Mean arterial ammonia</c:v>
                </c:pt>
              </c:strCache>
            </c:strRef>
          </c:tx>
          <c:spPr>
            <a:solidFill>
              <a:srgbClr val="C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C00000"/>
              </a:solidFill>
              <a:effectLst/>
            </c:spPr>
          </c:dPt>
          <c:dPt>
            <c:idx val="1"/>
            <c:invertIfNegative val="0"/>
            <c:bubble3D val="0"/>
            <c:spPr>
              <a:solidFill>
                <a:srgbClr val="A6A6A6"/>
              </a:solidFill>
              <a:effectLst/>
            </c:spPr>
          </c:dPt>
          <c:cat>
            <c:multiLvlStrRef>
              <c:f>Sheet1!$A$2:$A$3</c:f>
              <c:multiLvlStrCache>
                <c:ptCount val="2"/>
                <c:lvl>
                  <c:pt idx="0">
                    <c:v>Herniated (n = 14)</c:v>
                  </c:pt>
                  <c:pt idx="1">
                    <c:v>No herniation (n = 30)</c:v>
                  </c:pt>
                </c:lvl>
              </c:multiLvlStrCache>
            </c:multiLvlStrRef>
          </c:cat>
          <c:val>
            <c:numRef>
              <c:f>Sheet1!$B$2:$B$3</c:f>
              <c:numCache>
                <c:formatCode>General</c:formatCode>
                <c:ptCount val="2"/>
                <c:pt idx="0">
                  <c:v>230</c:v>
                </c:pt>
                <c:pt idx="1">
                  <c:v>118</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9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25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Kumar 2012: 295 patients</a:t>
            </a:r>
          </a:p>
        </c:rich>
      </c:tx>
      <c:layout/>
      <c:overlay val="0"/>
    </c:title>
    <c:autoTitleDeleted val="0"/>
    <c:plotArea>
      <c:layout/>
      <c:barChart>
        <c:barDir val="col"/>
        <c:grouping val="clustered"/>
        <c:varyColors val="0"/>
        <c:ser>
          <c:idx val="0"/>
          <c:order val="0"/>
          <c:tx>
            <c:strRef>
              <c:f>Sheet1!$B$1</c:f>
              <c:strCache>
                <c:ptCount val="1"/>
                <c:pt idx="0">
                  <c:v>Ammonia ≥ 122 for 3 days</c:v>
                </c:pt>
              </c:strCache>
            </c:strRef>
          </c:tx>
          <c:spPr>
            <a:solidFill>
              <a:srgbClr val="C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Sheet1!$B$2:$B$3</c:f>
              <c:numCache>
                <c:formatCode>General</c:formatCode>
                <c:ptCount val="2"/>
                <c:pt idx="0">
                  <c:v>23</c:v>
                </c:pt>
                <c:pt idx="1">
                  <c:v>71</c:v>
                </c:pt>
              </c:numCache>
            </c:numRef>
          </c:val>
        </c:ser>
        <c:ser>
          <c:idx val="1"/>
          <c:order val="1"/>
          <c:tx>
            <c:strRef>
              <c:f>Sheet1!$C$1</c:f>
              <c:strCache>
                <c:ptCount val="1"/>
                <c:pt idx="0">
                  <c:v>Ammonia falling</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Sheet1!$C$2:$C$3</c:f>
              <c:numCache>
                <c:formatCode>General</c:formatCode>
                <c:ptCount val="2"/>
                <c:pt idx="0">
                  <c:v>72</c:v>
                </c:pt>
                <c:pt idx="1">
                  <c:v>37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TEG in 51 patients, mean INR 3.4</a:t>
            </a:r>
          </a:p>
        </c:rich>
      </c:tx>
      <c:layout/>
      <c:overlay val="0"/>
    </c:title>
    <c:autoTitleDeleted val="0"/>
    <c:plotArea>
      <c:layout/>
      <c:barChart>
        <c:barDir val="col"/>
        <c:grouping val="clustered"/>
        <c:varyColors val="0"/>
        <c:ser>
          <c:idx val="0"/>
          <c:order val="0"/>
          <c:tx>
            <c:strRef>
              <c:f>Sheet1!$B$1</c:f>
              <c:strCache>
                <c:ptCount val="1"/>
                <c:pt idx="0">
                  <c:v>Patients</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Sheet1!$A$2:$A$5</c:f>
              <c:multiLvlStrCache>
                <c:ptCount val="4"/>
                <c:lvl>
                  <c:pt idx="0">
                    <c:v>All 5 normal</c:v>
                  </c:pt>
                  <c:pt idx="1">
                    <c:v>1-2 low</c:v>
                  </c:pt>
                  <c:pt idx="2">
                    <c:v>3-4 low</c:v>
                  </c:pt>
                  <c:pt idx="3">
                    <c:v>Hypercoagulable</c:v>
                  </c:pt>
                </c:lvl>
              </c:multiLvlStrCache>
            </c:multiLvlStrRef>
          </c:cat>
          <c:val>
            <c:numRef>
              <c:f>Sheet1!$B$2:$B$5</c:f>
              <c:numCache>
                <c:formatCode>General</c:formatCode>
                <c:ptCount val="4"/>
                <c:pt idx="0">
                  <c:v>63</c:v>
                </c:pt>
                <c:pt idx="1">
                  <c:v>25</c:v>
                </c:pt>
                <c:pt idx="2">
                  <c:v>12</c:v>
                </c:pt>
                <c:pt idx="3">
                  <c:v>8</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7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Ammonia clearance, mL/min (12 patients)</a:t>
            </a:r>
          </a:p>
        </c:rich>
      </c:tx>
      <c:layout/>
      <c:overlay val="0"/>
    </c:title>
    <c:autoTitleDeleted val="0"/>
    <c:plotArea>
      <c:layout/>
      <c:barChart>
        <c:barDir val="col"/>
        <c:grouping val="clustered"/>
        <c:varyColors val="0"/>
        <c:ser>
          <c:idx val="0"/>
          <c:order val="0"/>
          <c:tx>
            <c:strRef>
              <c:f>Sheet1!$B$1</c:f>
              <c:strCache>
                <c:ptCount val="1"/>
                <c:pt idx="0">
                  <c:v>Ammonia clearance</c:v>
                </c:pt>
              </c:strCache>
            </c:strRef>
          </c:tx>
          <c:spPr>
            <a:solidFill>
              <a:srgbClr val="0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000000"/>
              </a:solidFill>
              <a:effectLst/>
            </c:spPr>
          </c:dPt>
          <c:dPt>
            <c:idx val="1"/>
            <c:invertIfNegative val="0"/>
            <c:bubble3D val="0"/>
            <c:spPr>
              <a:solidFill>
                <a:srgbClr val="7F7F7F"/>
              </a:solidFill>
              <a:effectLst/>
            </c:spPr>
          </c:dPt>
          <c:dPt>
            <c:idx val="2"/>
            <c:invertIfNegative val="0"/>
            <c:bubble3D val="0"/>
            <c:spPr>
              <a:solidFill>
                <a:srgbClr val="7F7F7F"/>
              </a:solidFill>
              <a:effectLst/>
            </c:spPr>
          </c:dPt>
          <c:cat>
            <c:multiLvlStrRef>
              <c:f>Sheet1!$A$2:$A$4</c:f>
              <c:multiLvlStrCache>
                <c:ptCount val="3"/>
                <c:lvl>
                  <c:pt idx="0">
                    <c:v>CVVH</c:v>
                  </c:pt>
                  <c:pt idx="1">
                    <c:v>CVVHD</c:v>
                  </c:pt>
                  <c:pt idx="2">
                    <c:v>CVVHDF</c:v>
                  </c:pt>
                </c:lvl>
              </c:multiLvlStrCache>
            </c:multiLvlStrRef>
          </c:cat>
          <c:val>
            <c:numRef>
              <c:f>Sheet1!$B$2:$B$4</c:f>
              <c:numCache>
                <c:formatCode>General</c:formatCode>
                <c:ptCount val="3"/>
                <c:pt idx="0">
                  <c:v>27</c:v>
                </c:pt>
                <c:pt idx="1">
                  <c:v>21</c:v>
                </c:pt>
                <c:pt idx="2">
                  <c:v>20</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AST and ALT (U/L)</a:t>
            </a:r>
          </a:p>
        </c:rich>
      </c:tx>
      <c:layout/>
      <c:overlay val="0"/>
    </c:title>
    <c:autoTitleDeleted val="0"/>
    <c:plotArea>
      <c:layout/>
      <c:lineChart>
        <c:varyColors val="0"/>
        <c:ser>
          <c:idx val="0"/>
          <c:order val="0"/>
          <c:tx>
            <c:strRef>
              <c:f>Sheet1!$B$1</c:f>
              <c:strCache>
                <c:ptCount val="1"/>
                <c:pt idx="0">
                  <c:v>AST</c:v>
                </c:pt>
              </c:strCache>
            </c:strRef>
          </c:tx>
          <c:spPr>
            <a:solidFill>
              <a:srgbClr val="000000"/>
            </a:solidFill>
            <a:ln w="31750" cap="flat">
              <a:solidFill>
                <a:srgbClr val="000000"/>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000000"/>
              </a:solidFill>
              <a:ln w="9525" cap="flat">
                <a:solidFill>
                  <a:srgbClr val="0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6820</c:v>
                </c:pt>
                <c:pt idx="1">
                  <c:v>4310</c:v>
                </c:pt>
                <c:pt idx="2">
                  <c:v>2140</c:v>
                </c:pt>
                <c:pt idx="3">
                  <c:v>1190</c:v>
                </c:pt>
              </c:numCache>
            </c:numRef>
          </c:val>
          <c:smooth val="0"/>
        </c:ser>
        <c:ser>
          <c:idx val="1"/>
          <c:order val="1"/>
          <c:tx>
            <c:strRef>
              <c:f>Sheet1!$C$1</c:f>
              <c:strCache>
                <c:ptCount val="1"/>
                <c:pt idx="0">
                  <c:v>ALT</c:v>
                </c:pt>
              </c:strCache>
            </c:strRef>
          </c:tx>
          <c:spPr>
            <a:solidFill>
              <a:srgbClr val="7F7F7F"/>
            </a:solidFill>
            <a:ln w="31750" cap="flat">
              <a:solidFill>
                <a:srgbClr val="7F7F7F"/>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5940</c:v>
                </c:pt>
                <c:pt idx="1">
                  <c:v>5020</c:v>
                </c:pt>
                <c:pt idx="2">
                  <c:v>3260</c:v>
                </c:pt>
                <c:pt idx="3">
                  <c:v>2210</c:v>
                </c:pt>
              </c:numCache>
            </c:numRef>
          </c:val>
          <c:smooth val="0"/>
        </c:ser>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AST and ALT (U/L)</a:t>
            </a:r>
          </a:p>
        </c:rich>
      </c:tx>
      <c:layout/>
      <c:overlay val="0"/>
    </c:title>
    <c:autoTitleDeleted val="0"/>
    <c:plotArea>
      <c:layout/>
      <c:lineChart>
        <c:varyColors val="0"/>
        <c:ser>
          <c:idx val="0"/>
          <c:order val="0"/>
          <c:tx>
            <c:strRef>
              <c:f>Sheet1!$B$1</c:f>
              <c:strCache>
                <c:ptCount val="1"/>
                <c:pt idx="0">
                  <c:v>AST</c:v>
                </c:pt>
              </c:strCache>
            </c:strRef>
          </c:tx>
          <c:spPr>
            <a:solidFill>
              <a:srgbClr val="000000"/>
            </a:solidFill>
            <a:ln w="31750" cap="flat">
              <a:solidFill>
                <a:srgbClr val="000000"/>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000000"/>
              </a:solidFill>
              <a:ln w="9525" cap="flat">
                <a:solidFill>
                  <a:srgbClr val="0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6820</c:v>
                </c:pt>
                <c:pt idx="1">
                  <c:v>4310</c:v>
                </c:pt>
                <c:pt idx="2">
                  <c:v>2140</c:v>
                </c:pt>
                <c:pt idx="3">
                  <c:v>1190</c:v>
                </c:pt>
              </c:numCache>
            </c:numRef>
          </c:val>
          <c:smooth val="0"/>
        </c:ser>
        <c:ser>
          <c:idx val="1"/>
          <c:order val="1"/>
          <c:tx>
            <c:strRef>
              <c:f>Sheet1!$C$1</c:f>
              <c:strCache>
                <c:ptCount val="1"/>
                <c:pt idx="0">
                  <c:v>ALT</c:v>
                </c:pt>
              </c:strCache>
            </c:strRef>
          </c:tx>
          <c:spPr>
            <a:solidFill>
              <a:srgbClr val="7F7F7F"/>
            </a:solidFill>
            <a:ln w="31750" cap="flat">
              <a:solidFill>
                <a:srgbClr val="7F7F7F"/>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5940</c:v>
                </c:pt>
                <c:pt idx="1">
                  <c:v>5020</c:v>
                </c:pt>
                <c:pt idx="2">
                  <c:v>3260</c:v>
                </c:pt>
                <c:pt idx="3">
                  <c:v>2210</c:v>
                </c:pt>
              </c:numCache>
            </c:numRef>
          </c:val>
          <c:smooth val="0"/>
        </c:ser>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INR and lactate</a:t>
            </a:r>
          </a:p>
        </c:rich>
      </c:tx>
      <c:layout/>
      <c:overlay val="0"/>
    </c:title>
    <c:autoTitleDeleted val="0"/>
    <c:plotArea>
      <c:layout/>
      <c:lineChart>
        <c:varyColors val="0"/>
        <c:ser>
          <c:idx val="0"/>
          <c:order val="0"/>
          <c:tx>
            <c:strRef>
              <c:f>Sheet1!$B$1</c:f>
              <c:strCache>
                <c:ptCount val="1"/>
                <c:pt idx="0">
                  <c:v>INR</c:v>
                </c:pt>
              </c:strCache>
            </c:strRef>
          </c:tx>
          <c:spPr>
            <a:solidFill>
              <a:srgbClr val="C00000"/>
            </a:solidFill>
            <a:ln w="31750" cap="flat">
              <a:solidFill>
                <a:srgbClr val="C00000"/>
              </a:solidFill>
              <a:prstDash val="solid"/>
              <a:round/>
            </a:ln>
            <a:effectLst/>
          </c:spPr>
          <c:invertIfNegative val="0"/>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c:symbol val="circle"/>
            <c:size val="8"/>
            <c:spPr>
              <a:solidFill>
                <a:srgbClr val="C00000"/>
              </a:solidFill>
              <a:ln w="9525" cap="flat">
                <a:solidFill>
                  <a:srgbClr val="C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3.2</c:v>
                </c:pt>
                <c:pt idx="1">
                  <c:v>4.1</c:v>
                </c:pt>
                <c:pt idx="2">
                  <c:v>4.9</c:v>
                </c:pt>
                <c:pt idx="3">
                  <c:v>5.6</c:v>
                </c:pt>
              </c:numCache>
            </c:numRef>
          </c:val>
          <c:smooth val="0"/>
        </c:ser>
        <c:ser>
          <c:idx val="1"/>
          <c:order val="1"/>
          <c:tx>
            <c:strRef>
              <c:f>Sheet1!$C$1</c:f>
              <c:strCache>
                <c:ptCount val="1"/>
                <c:pt idx="0">
                  <c:v>Lactate (mmol/L)</c:v>
                </c:pt>
              </c:strCache>
            </c:strRef>
          </c:tx>
          <c:spPr>
            <a:solidFill>
              <a:srgbClr val="7F7F7F"/>
            </a:solidFill>
            <a:ln w="31750" cap="flat">
              <a:solidFill>
                <a:srgbClr val="7F7F7F"/>
              </a:solidFill>
              <a:prstDash val="solid"/>
              <a:round/>
            </a:ln>
            <a:effectLst/>
          </c:spPr>
          <c:invertIfNegative val="0"/>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2.1</c:v>
                </c:pt>
                <c:pt idx="1">
                  <c:v>4.6</c:v>
                </c:pt>
                <c:pt idx="2">
                  <c:v>5.2</c:v>
                </c:pt>
                <c:pt idx="3">
                  <c:v>5.8</c:v>
                </c:pt>
              </c:numCache>
            </c:numRef>
          </c:val>
          <c:smooth val="0"/>
        </c:ser>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28-day mortality</c:v>
                </c:pt>
              </c:strCache>
            </c:strRef>
          </c:tx>
          <c:spPr>
            <a:solidFill>
              <a:srgbClr val="7F7F7F"/>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7F7F7F"/>
              </a:solidFill>
              <a:effectLst/>
            </c:spPr>
          </c:dPt>
          <c:dPt>
            <c:idx val="1"/>
            <c:invertIfNegative val="0"/>
            <c:bubble3D val="0"/>
            <c:spPr>
              <a:solidFill>
                <a:srgbClr val="7F7F7F"/>
              </a:solidFill>
              <a:effectLst/>
            </c:spPr>
          </c:dPt>
          <c:dPt>
            <c:idx val="2"/>
            <c:invertIfNegative val="0"/>
            <c:bubble3D val="0"/>
            <c:spPr>
              <a:solidFill>
                <a:srgbClr val="7F7F7F"/>
              </a:solidFill>
              <a:effectLst/>
            </c:spPr>
          </c:dPt>
          <c:dPt>
            <c:idx val="3"/>
            <c:invertIfNegative val="0"/>
            <c:bubble3D val="0"/>
            <c:spPr>
              <a:solidFill>
                <a:srgbClr val="C00000"/>
              </a:solidFill>
              <a:effectLst/>
            </c:spPr>
          </c:dPt>
          <c:cat>
            <c:multiLvlStrRef>
              <c:f>Sheet1!$A$2:$A$5</c:f>
              <c:multiLvlStrCache>
                <c:ptCount val="4"/>
                <c:lvl>
                  <c:pt idx="0">
                    <c:v>No ACLF</c:v>
                  </c:pt>
                  <c:pt idx="1">
                    <c:v>ACLF 1</c:v>
                  </c:pt>
                  <c:pt idx="2">
                    <c:v>ACLF 2</c:v>
                  </c:pt>
                  <c:pt idx="3">
                    <c:v>ACLF 3</c:v>
                  </c:pt>
                </c:lvl>
              </c:multiLvlStrCache>
            </c:multiLvlStrRef>
          </c:cat>
          <c:val>
            <c:numRef>
              <c:f>Sheet1!$B$2:$B$5</c:f>
              <c:numCache>
                <c:formatCode>General</c:formatCode>
                <c:ptCount val="4"/>
                <c:pt idx="0">
                  <c:v>4.7</c:v>
                </c:pt>
                <c:pt idx="1">
                  <c:v>22.1</c:v>
                </c:pt>
                <c:pt idx="2">
                  <c:v>32</c:v>
                </c:pt>
                <c:pt idx="3">
                  <c:v>76.7</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7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Terlipressin + albumin</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Verified HRS reversal</c:v>
                  </c:pt>
                  <c:pt idx="1">
                    <c:v>Respiratory death by day 90</c:v>
                  </c:pt>
                </c:lvl>
              </c:multiLvlStrCache>
            </c:multiLvlStrRef>
          </c:cat>
          <c:val>
            <c:numRef>
              <c:f>Sheet1!$B$2:$B$3</c:f>
              <c:numCache>
                <c:formatCode>General</c:formatCode>
                <c:ptCount val="2"/>
                <c:pt idx="0">
                  <c:v>32</c:v>
                </c:pt>
                <c:pt idx="1">
                  <c:v>11</c:v>
                </c:pt>
              </c:numCache>
            </c:numRef>
          </c:val>
        </c:ser>
        <c:ser>
          <c:idx val="1"/>
          <c:order val="1"/>
          <c:tx>
            <c:strRef>
              <c:f>Sheet1!$C$1</c:f>
              <c:strCache>
                <c:ptCount val="1"/>
                <c:pt idx="0">
                  <c:v>Placebo + albumin</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Verified HRS reversal</c:v>
                  </c:pt>
                  <c:pt idx="1">
                    <c:v>Respiratory death by day 90</c:v>
                  </c:pt>
                </c:lvl>
              </c:multiLvlStrCache>
            </c:multiLvlStrRef>
          </c:cat>
          <c:val>
            <c:numRef>
              <c:f>Sheet1!$C$2:$C$3</c:f>
              <c:numCache>
                <c:formatCode>General</c:formatCode>
                <c:ptCount val="2"/>
                <c:pt idx="0">
                  <c:v>17</c:v>
                </c:pt>
                <c:pt idx="1">
                  <c:v>2</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Terlipressin + albumin (n = 27)</c:v>
                </c:pt>
              </c:strCache>
            </c:strRef>
          </c:tx>
          <c:spPr>
            <a:solidFill>
              <a:srgbClr val="000000"/>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Complete response</c:v>
                  </c:pt>
                  <c:pt idx="1">
                    <c:v>Complete or partial response</c:v>
                  </c:pt>
                </c:lvl>
              </c:multiLvlStrCache>
            </c:multiLvlStrRef>
          </c:cat>
          <c:val>
            <c:numRef>
              <c:f>Sheet1!$B$2:$B$3</c:f>
              <c:numCache>
                <c:formatCode>General</c:formatCode>
                <c:ptCount val="2"/>
                <c:pt idx="0">
                  <c:v>55.5</c:v>
                </c:pt>
                <c:pt idx="1">
                  <c:v>70.4</c:v>
                </c:pt>
              </c:numCache>
            </c:numRef>
          </c:val>
        </c:ser>
        <c:ser>
          <c:idx val="1"/>
          <c:order val="1"/>
          <c:tx>
            <c:strRef>
              <c:f>Sheet1!$C$1</c:f>
              <c:strCache>
                <c:ptCount val="1"/>
                <c:pt idx="0">
                  <c:v>Midodrine + octreotide + albumin (n = 21)</c:v>
                </c:pt>
              </c:strCache>
            </c:strRef>
          </c:tx>
          <c:spPr>
            <a:solidFill>
              <a:srgbClr val="A6A6A6"/>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Complete response</c:v>
                  </c:pt>
                  <c:pt idx="1">
                    <c:v>Complete or partial response</c:v>
                  </c:pt>
                </c:lvl>
              </c:multiLvlStrCache>
            </c:multiLvlStrRef>
          </c:cat>
          <c:val>
            <c:numRef>
              <c:f>Sheet1!$C$2:$C$3</c:f>
              <c:numCache>
                <c:formatCode>General</c:formatCode>
                <c:ptCount val="2"/>
                <c:pt idx="0">
                  <c:v>4.8</c:v>
                </c:pt>
                <c:pt idx="1">
                  <c:v>28.6</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_rels/notesSlide1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3.xml"/>
		</Relationships>
</file>

<file path=ppt/notesSlides/_rels/notesSlide1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4.xml"/>
		</Relationships>
</file>

<file path=ppt/notesSlides/_rels/notesSlide1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5.xml"/>
		</Relationships>
</file>

<file path=ppt/notesSlides/_rels/notesSlide1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6.xml"/>
		</Relationships>
</file>

<file path=ppt/notesSlides/_rels/notesSlide1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Pulmonary and critical care fellows. About 60 minutes with questions as we go. Two patients in the unit at the same time. Everything in the cases is made up for teaching; none of it is a real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We'll get to each of these through two patients who are in the unit at the same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both up front so the contrast is there from the start. We'll start with bed 4 and come back to bed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commit. Most people will say yes because the numbers are huge. The aminotransferases tell you hepatocytes are dying. They don't tell you whether the liver is failing.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same distinction as in the acute liver injury lecture: the size of the enzyme rise is not the severity of the illness.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Liver failure is a clinical diagnosis: coagulopathy plus encephalopathy in someone without cirrhosis. Ask for the INR and examine the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Coagulopathy, encephalopathy, short course, no cirrhosis. Note the glucose: hypoglycemia is part of the picture, and it is also a reason the mental status can look worse than it is. Fix the glucose and re-examine.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Coagulopathy, encephalopathy, short course, no cirrhosis. Note the glucose: hypoglycemia is part of the picture, and it is also a reason the mental status can look worse than it is. Fix the glucose and re-examine.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time course is not trivia. The faster it comes on, the more you worry about the brain, and paradoxically the better the chance of spontaneous recovery. The slow ones have less cerebral edema but do worse without a transplant. Patient A is hyperacute.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errors in opposite directions. Calling everything with a high INR liver failure, and blaming every change in mental status on the liver.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list organs. Most will get brain and kidney. Fewer think of the adrenals, the marrow or the immune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these patients are ICU patients. Hypoglycemia, lactic acidosis, vasodilatory shock, relative adrenal insufficiency, AKI, lung injury and a high risk of infection. The liver is one organ on this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Wait for answers. Usually people list tests in order. That's the trap.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classic mistake is a serial workup: wait for the hepatitis panel, then the autoimmune markers, then act. Support and workup run in parallel. Who else to call, and when, comes later in the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Clues: acetaminophen gives the highest aminotransferases with a low bilirubin early. HSV is often anicteric with fever and leukopenia, and a rash is absent in about half. HBV reactivation follows chemotherapy, rituximab or steroids. Wilson: young, Coombs-negative hemolysis, ALP disproportionately low (ALP to bilirubin ratio under 4), AST to ALT over 2.2. Ischemic hepatitis peaks early with a very high LDH and falls fast once the circulation is fixed. The point of the workup in the ICU is the column on the right. Some of these you start empirically before the test comes back: NAC, acyclovir. Negative autoimmune serologies do not exclude acute AIH. Wilson disease presenting as ALF basically means transplant.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Clues: acetaminophen gives the highest aminotransferases with a low bilirubin early. HSV is often anicteric with fever and leukopenia, and a rash is absent in about half. HBV reactivation follows chemotherapy, rituximab or steroids. Wilson: young, Coombs-negative hemolysis, ALP disproportionately low (ALP to bilirubin ratio under 4), AST to ALT over 2.2. Ischemic hepatitis peaks early with a very high LDH and falls fast once the circulation is fixed. The point of the workup in the ICU is the column on the right. Some of these you start empirically before the test comes back: NAC, acyclovir. Negative autoimmune serologies do not exclude acute AIH. Wilson disease presenting as ALF basically means transplant.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Combination products are where the hidden acetaminophen is. Ask about every over-the-counter product by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undetectable or low level late in the course does not exclude acetaminophen toxicity [PMID: 36001996]. NAC is safe enough that the threshold to start it is low. Dosing per your pharmacy protocol.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them what it is first: a semi-log plot, the line halves every 4 hours (a half-life of about 4 hours), and the US treatment line sits 25% below the original 200 line for a safety margin. Then try to put her on it. Her 12 crosses the treatment line at roughly 18 to 19 hours. Before that she looks fine, after that she needs NAC. The point to leave them with: the nomogram is a tool for deciding who can safely go without NAC after a single timed ingestion. It is not the trigger for starting NAC in someone who is already sick. Call poison control or toxicology early. Opioids, including the codeine in her Tylenol with codeine, can slow absorption, so a single early level can mislead after an acute ingestion. With repeated supratherapeutic dosing over 3 days there is no single ingestion time, so it can't clear her, and she gets NAC.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ALFSG trial: 173 adults with non-acetaminophen ALF, NAC or placebo for 72 hours, 24 US centers. Read their conclusion, then the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Overall survival at 3 weeks was not different. The transplant-free survival benefit was in coma grade I-II, which is a subgroup. That doesn't support NAC in advanced non-acetaminophen ALF or in ACLF. ACG 2023 suggests NAC in non-acetaminophen ALF; this trial is why the early-coma patients are the ones most likely to benefit. And don't carry the grade III-IV result over to Patient A: in acetaminophen ALF, NAC continues when she gets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Hour 12. Hepatology has seen her and the transplant evaluation is under way. Let them pick. Kidney? Lactate? The answer for a hyperacute patient with this ammonia is the brain.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decisions we own as intensivists. Before answering, why is the brain the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Astrocytes in chronic liver disease have time to adapt to ammonia. In hyperacute ALF they don't, and they swell.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ammonia is actionable in ALF. The brain has no time to adapt, unlike in cirrhosis where astrocytes compensate over months. Every element of the bundle that follows maps to a box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Alzheimer type II astrocytes are a sign of chronic hyperammonemia: cirrhosis, Wilson disease, urea cycle defects. They show adaptation. In hyperacute ALF the astrocytes don't get the time, which is why the young acetaminophen patient herniates at an ammonia a cirrhotic would tolerate. Point at the big pale nucleus in the middle, then the small dark normal nuclei.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in Copenhagen, ammonia was drawn at the onset of grade III encephalopathy. The 14 patients who herniated had about twice the arterial ammonia of those who didn't, and all of them were above 146. Right: in Delhi, ammonia that stayed at or above 122 for three days went with a third of the survival and twice the cerebral edema of ammonia that came down. These are associations, not proof that lowering the number saves the patient, but they are why we trend it. In Bernal's King's cohort, more than 200 meant intracranial hypertension in 55%, yet most patients who developed ICH were below 200. Practical point: whatever you send, put it on ice and get it run quickly. A delayed sample reads falsely high. In cirrhosis,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in Copenhagen, ammonia was drawn at the onset of grade III encephalopathy. The 14 patients who herniated had about twice the arterial ammonia of those who didn't, and all of them were above 146. Right: in Delhi, ammonia that stayed at or above 122 for three days went with a third of the survival and twice the cerebral edema of ammonia that came down. These are associations, not proof that lowering the number saves the patient, but they are why we trend it. In Bernal's King's cohort, more than 200 meant intracranial hypertension in 55%, yet most patients who developed ICH were below 200. Practical point: whatever you send, put it on ice and get it run quickly. A delayed sample reads falsely high. In cirrhosis,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ALF Study Group data were a retrospective comparison presented only as an abstract: a small increase in survival time with lactulose, no difference in encephalopathy grade or overall outcome. The 2011 AASLD position paper allowed lactulose in early encephalopathy, orally or rectally, but not to the point of diarrhea, and warned about bowel distension during transplant. Neither the 2023 ACG guideline nor EASL 2017 recommends it. What actually lowers her ammonia comes in a few slides; don't give it away here. In ACLF it's the opposite: lactulose is first-line for overt 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 intubate her now. Most fellows want to wait. In ALF the progression from grade II to grade IV can be fast, and an emergency intubation in a coagulopathic, hypotensive patient with a swollen brain is the worst version of this procedure.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goals are airway protection, controlled ventilation, and no swings in blood pressure or CO2. Peri-intubation hypotension drops cerebral perfusion pressure; coughing raises ICP. Plan it like a neuro intubation.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PCCM-specific tradeoff. ARDS teaching says accept hypercapnia. Neuro teaching says don't.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Low tidal volume still applies. What changes is the CO2 target. Prophylactic hyperventilation is out; brief hyperventilation as a bridge in impending herniation is a different 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 this on the board if you don't have the slide. It's the reason the ARDS habit of tolerating a high CO2 doesn't carry over to a patient with grade III-IV encephalopathy and a high ammonia.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Sodium targets differ between sources: the 2022 update uses 145 to 155 for prevention, the 2024 practical review a lower range. Agree on one with transplant hepatology and write it in the orders. Hypertonic saline is a conditional SCCM recommendation for patients at risk of intracranial hypertension. The cooling trial randomized intubated high-risk ALF patients to 34 vs 36 °C for 72 hours; no difference in intracranial hypertension or survival. Avoid fever, don't induce hypothermia.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new pupil asymmetry or a sudden change in the exam is enough to act. Treat first, then image if a bleed or another structural lesion is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them. Nephrology will often say the creatinine doesn't meet criteria. That's the wrong frame for ALF.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Ammonia around 150 to 200 is a high-risk context in the literature, not a universal threshold. Look at the trajectory and the neuro exam. Coordinate the CRRT fluid with the sodium plan or the dialysis will pull her sodium back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Hour 12, CRRT is starting. Very common request from the procedure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INR is a great marker of liver function and a poor marker of bleeding risk in ALF. Spontaneous bleeding is uncommon. Ask transplant hepatology before giving plasma: they need the native INR.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to the question: in most patients, normal. 51 patients with acute liver injury (INR at least 1.5) or ALF (the same plus encephalopathy), mean INR 3.4, range 1.5 to 9.6. 32 of 51 (63%) had all five TEG parameters normal; 8 had one abnormal in the hypocoagulable direction, 5 had two, 4 had three, 2 had four. 4 patients (8%) had parameters in the hypercoagulable range. Lysis at 30 minutes was normal in all 51. The INR measures only the procoagulant factors the liver makes; the liver also makes the anticoagulants, which fall just as far, and the endothelium pours out factor VIII and von Willebrand factor. The TEG sees the whole balance. That's why spontaneous bleeding is uncommon and why plasma before a line is not needed. Caveat: TEG is not validated to predict procedural bleeding, and a low platelet count or low fibrinogen still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sides go down together. The INR only tests the left pan, so it makes the patient look much more anticoagulated than she is. Viscoelastic tests look at clot formation in whole blood and in ALF are often close to normal despite a high INR, though they miss the endothelium and the protein C system too. The balance is fragile: infection, kidney failure and procedures tip it, and thrombosis, including line-related clots, is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universal dose or ammonia target to stop at; use your center's protocol. The common failure is not the decision to start, it's a circuit that keeps clotting so the delivered clearance is a fraction of what was ordered, and a sodium plan that nobody owns. Citrate can build up in liver failure, so follow the total to ionized calcium ratio.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Someone in the room has heard it from nephrology.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room enjoy it, then the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will hear this from nephrology. The physiology says otherwise: ammonia is a small, unbound, water-soluble molecule, and it moves across a high-flux filter with convection as well as diffusion. In Fisher's study of 12 patients with liver failure the three modalities gave similar ammonia clearance at the same effluent rate (no significant difference), and in the same patients urea clearance was about 50 mL/min and creatinine 42, so ammonia clears less well than urea but clearly clears. Why the doubt? The liver and the muscle keep making it, so the level falls slowly; a clotting circuit with a lot of downtime delivers much less than what was ordered; and at low effluent doses the effect is small. In Warrillow's cohort the fall tracked how long patients were on CRRT more than the hourly dose. Ask for a high effluent rate and an anticoagulation plan that keeps the filter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 ALF Study Group registry, 1,186 patients. Panel b of their Figure 1. The CRRT patients started higher, which is why they got CRRT. Observational, so it shows ammonia comes down on CRRT, not that CRRT saved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 ALF Study Group registry, 1,186 patients. Panel b of their Figure 1. The CRRT patients started higher, which is why they got CRRT. Observational, so it shows ammonia comes down on CRRT, not that CRRT saved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2026 trial is interesting but don't oversell it. The early mortality signal is real in the abstract; 28-day survival by intention to treat was comparable, and the per-protocol analysis is biased by crossovers. Read the full methods before quoting more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2026 trial is interesting but don't oversell it. The early mortality signal is real in the abstract; 28-day survival by intention to treat was comparable, and the per-protocol analysis is biased by crossovers. Read the full methods before quoting more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only the enzymes. Most of the room will say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Falling AST and ALT don't prove recovery. A rising INR, rising lactate and worse encephalopathy mean she is getting worse despite lower enzymes. One explanation is that there is little liver left to release them; shock and other causes also push the lactate up. Read the whole trajectory, not one line [PMID: 36001996]. Point out the day 2 arterial pH of 7.26 after fluids. It comes back on the King's College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vote.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King's College criteria are specific but not very sensitive. If you wait for them, the evaluation starts too late. Patient A now meets acetaminophen criteria by pH, but the call happened on admission. Transplant referral, listing and allocation are separate decisions; the transplant team handles the last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Their Figure 1: hospital survival, high-volume plasma exchange (HPV) vs standard medical treatment (SMT), log-rank p = 0.0058.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High-volume plasma exchange removes cytokines and DAMPs and replaces coagulation factors. Note the INR after plasma exchange is no longer the patient's INR.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High-volume plasma exchange removes cytokines and DAMPs and replaces coagulation factors. Note the INR after plasma exchange is no longer the patient's INR.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she is while she waits. What would close the window: fixed dilated pupils, uncontrolled sepsis, rising support despite everything. If she becomes hypotensive: norepinephrine first, vasopressin next, hydrocortisone if refractory, and keep the MAP high enough for cerebral perfusion. Status 1A is the OPTN category for ALF in the ICU; check current policy before quoting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patient, in the unit at the same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While bed 4 is going on, the nurse from bed 7 calls: his pressure is 82/46. Same day, same unit, a sick liver again. Let them guess before the next slide whether this is the same disease.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Made-up patient. Same day, bed 7. After 2 L of fluid he is on norepinephrine 0.15 mcg/kg/min.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as bed 4: treat first, label later. We'll count organs once the antibiotics are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 tipped him over before showing the answer. Then the procedural question: people hesitate to tap a coagulopathic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Diagnostic paracentesis is low risk and should not wait for correction of the INR or platelets. Infection is the most common precipitant of ACLF in Western cohorts.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SBP, cover for prior antibiotic exposure and local resistance. Albumin is a reasonable resuscitation fluid in cirrhosis, but every bag goes somewhere. Keep that in mind for the next few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SBP, cover for prior antibiotic exposure and local resistance. Albumin is a reasonable resuscitation fluid in cirrhosis, but every bag goes somewhere. Keep that in mind for the next few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Ascites and a tense belly change IVC size and collapse, so use it with the lungs, the heart and the trend, not alone. Edema in a cirrhotic doesn't mean the vessels are full.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Portal hypertension, nitric oxide, splanchnic vasodilation, a low effective arterial volume, then RAAS, sympathetic tone and vasopressin. That's his baseline MAP, his sodium of 127 and his kidney, before the infection even started.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A is in the first column, patient B in the last. The words sound alike; the ICU problems are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A is in the first column, patient B in the last. The words sound alike; the ICU problems are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the room count with you. Liver failure here means a bilirubin of 12, which surprises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Kidney and circulation. Respiratory is borderline: PaO2 74 on a Venturi mask at 0.35 is a P/F of 211. That's why he's on a Venturi mask here: nasal cannula doesn't give you a reliable FiO2, so if the grade depends on the lungs, get a gas on a known FiO2. Watch that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Grade 1 is the confusing one: kidney failure alone counts, but a single other organ failure counts only with some kidney dysfunction, or mild encephalopathy for the non-brain organs. Brain failure alone needs the creatinine of 1.5 to 1.9. A patient with grade III HE and a normal creatinine is 'no ACLF' by this system, and can still be very sick. Use the CLIF-C calculator rather than memorizing it. The grade at days 3 to 7 says more than the grade at admission.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B is grade 2 on day 1. That is a group number from a 2013 cohort, not his number. The jump to grade 3 is the one to remember. The grade at days 3 to 7 says more than the grade at admission, which comes back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ALF had its 'why does the brain swell'. This is the ACLF version. The precipitant sets off systemic inflammation in a patient who is already vasodilated, and the organs fail from a mix of low perfusion, inflammation and mitochondrial dysfunction. The patient is both inflamed and immunosuppressed, which is why second infections are common.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reflex in many units: oliguric cirrhotic, give albumin for 48 hours, then terlipressin.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left column is what most of us were taught. The 48-hour albumin challenge is gone, and there is no fluid challenge at all for a patient who is already wet.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room fill it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AKI here means creatinine up 0.3 mg/dL or more within 48 hours, or 50% or more within 7 days, and/or urine output 0.5 mL/kg/h or less for 6 hours or more. The mandatory 48-hour albumin challenge is gone, and a patient who is already wet doesn't need a fluid challenge to satisfy a clock. HRS physiology and tubular injury can coexist. Assessment is faster and individualized. But that cuts both ways: you also need to look for the other causes, and right now sepsis is the obvious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coexist and change over the admission. A diagnosis of HRS made on day 1 should be re-examined on day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HRS-AKI sits in the bottom row: dysfunction, with or without damage. ATN and HRS can coexist. Damage markers such as urine NGAL help where available; a urine sediment helps everywhere.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reflex is to give more lactulose and recheck the ammonia. Let them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cirrhosis, HE is a clinical diagnosis. The ammonia level doesn't grade it, and chasing it doesn't help. Every worsening needs the same search for a precipitant as the admission did. Lactulose is right for overt HE, but too much gives you dehydration, hypernatremia and a worse kidney. Don't make every first episode an automatic two-drug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hinge of the second case. The kidney is worse, and the reflex is to treat the kidney.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Kidney, circulation and now lungs: ACLF grade 3. Fluid and albumin are a likely part of this, with B-lines and a full IVC. But think about pneumonia, ARDS and the heart too before you decide it's all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Bilateral airspace disease on the film and many B-lines on ultrasound: water in the lungs. It could still be pneumonia or ARDS, so look at the whole picture before you call it all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any terlipressin dose: baseline SpO2, lung exam, volume status, and whether he is ACLF grade 3. Norepinephrine is an ICU alternative for HRS when terlipressin is contraindicated or unavailable. RRT for volume overload or acidosis follows the usual ICU indications. RRT for HRS alone is a bridge to transplant; in a patient who is not a candidate, it is a goals-of-care conversation first, and a time-limited trial is one honest option.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Terlipressin raises kidney perfusion pressure but shunts splanchnic blood centrally, raises afterload and lowers cardiac output, and can constrict the pulmonary vessels. Add large doses of albumin and you get pulmonary edema. Norepinephrine raises cardiac output and causes less splanchnic shunting. Midodrine with octreotide gives only modest splanchnic constriction.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CONFIRM: 300 patients with HRS type 1, terlipressin plus albumin vs placebo plus albumin, randomized 2:1. Their own conclusion already has the catch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respiratory harm clustered in patients with volume overload and ACLF grade 3, which is how the label language came about. The label's own reanalysis gives slightly different reversal numbers (29% vs 16%); either way the direction is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ATTIRE: 777 hospitalized patients with decompensated cirrhosis and albumin under 30 g/L, in 35 UK hospitals.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ATTIRE doesn't invalidate albumin for its accepted uses. It does tell you that giving albumin to fix a number causes harm without benefit. Patient B got the right albumin for SBP and still got wet.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Midodrine and octreotide were the US default for years because terlipressin wasn't available. In the randomized comparison with terlipressin, 1 of 21 analyzed patients had a complete response. It wasn't powered for mortality. Most of them are on the floor at the time, so the practical message for the ICU is simple: once he needs an ICU bed, norepinephrine with albumin is the alternative to terlipressin, not midodrine and octreotide. About half of the midodrine non-responders were rescued with terlipressin, and most of those then responded.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 3: CRRT started for fluid overload and oliguria, while the transplant evaluation was under way. Ask the room whether he is better or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Grading is a snapshot; the trend is what you act on. Kidney failure on RRT still counts as an organ failure. Bring palliative care in alongside, not instead of, full support. Document what the time-limited trial is and when you'll reassess.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 to the question both families will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Referral, candidacy, listing and allocation are four different decisions. The ICU team owns the referral and the information. Status 1A and other allocation rules: check current OPTN policy before quoting them. Artru's comparison is not randomized: the transplanted patients were selected, so the gap overstates what transplant adds for an unselected ACLF 3 patient. It still shows that ACLF 3 alone is not a reason to say no. The curve shows 83.6% for all 73 transplanted patients; the abstract's 83.9% vs 7.9% is the matched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on this list should delay the first call. A good call makes the transplant team's decision faster. Trends, not single values. Referral, candidacy, listing and allocation are separate decisions; the first one is 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Probably the most useful slide to photograph. The sodium row is where people get hurt: an induced-hypernatremia target transferred into a chronically hyponatremic cirrhotic causes osmotic demyelination.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Probably the most useful slide to photograph. The sodium row is where people get hurt: an induced-hypernatremia target transferred into a chronically hyponatremic cirrhotic causes osmotic demyelination.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made it, which is not the usual story. Bed 7 could just as easily have stayed ACLF 3 on day 5, and then the conversation is the one on the transplant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Don't put the answers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ALF, grade III-IV is the intubation and ICP-risk threshold.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Specific but not sensitive. Use them to understand prognosis, not to decide when to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four used arterial ammonia, measured in micromoles per liter. The pattern is consistent: higher and more persistent ammonia, more cerebral edema and death. But no single cutoff works on its own. In Bernal's King's cohort, more than 200 meant intracranial hypertension in 55%, yet most patients who developed ICH were below 200. So use it as a risk marker together with the grade of encephalopathy, the time course and the trend. Patient A went 182 then 214. That's the trajectory you act on with CRRT. Practical point: whatever you send, arterial or venous, put it on ice and get it run quickly. A delayed sample reads falsely high. In cirrhosis, by contrast,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worth memorizing all three. Worth knowing that a paper's 'ACLF' may not be your patient's ACLF. The talk uses EASL-CLIF.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study that broke the six-month rule. The selection was strict, and later US data (ACCELERATE-AH) showed similar results in selected patients. Patient B's trigger was SBP, not alcohol-associated hepatitis; this is here for the alcohol question that comes up with every cirrhotic in the ICU. The alcohol history is a question for the transplant team, not a decision the ICU makes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lstStyle>
            <a:lvl1pPr algn="ctr" indent="0" marL="0">
              <a:buNone/>
              <a:defRPr lang="en-US" sz="30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3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377440"/>
            <a:ext cx="10728655" cy="1280160"/>
          </a:xfrm>
          <a:prstGeom prst="rect">
            <a:avLst/>
          </a:prstGeom>
          <a:noFill/>
          <a:ln/>
        </p:spPr>
        <p:txBody>
          <a:bodyPr wrap="square" rtlCol="0"/>
          <a:lstStyle>
            <a:lvl1pPr algn="ctr" indent="0" marL="0">
              <a:buNone/>
              <a:defRPr lang="en-US" sz="44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4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4.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2.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4.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2" Type="http://schemas.openxmlformats.org/officeDocument/2006/relationships/chart" Target="/ppt/charts/chart4.xml"/><Relationship Id="rId3" Type="http://schemas.openxmlformats.org/officeDocument/2006/relationships/chart" Target="/ppt/charts/chart5.xml"/><Relationship Id="rId1" Type="http://schemas.openxmlformats.org/officeDocument/2006/relationships/image" Target="../media/image-31-1.png"/><Relationship Id="rId4" Type="http://schemas.openxmlformats.org/officeDocument/2006/relationships/slideLayout" Target="../slideLayouts/slideLayout2.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2" Type="http://schemas.openxmlformats.org/officeDocument/2006/relationships/chart" Target="/ppt/charts/chart6.xml"/><Relationship Id="rId3" Type="http://schemas.openxmlformats.org/officeDocument/2006/relationships/chart" Target="/ppt/charts/chart7.xml"/><Relationship Id="rId1" Type="http://schemas.openxmlformats.org/officeDocument/2006/relationships/image" Target="../media/image-32-1.png"/><Relationship Id="rId4" Type="http://schemas.openxmlformats.org/officeDocument/2006/relationships/slideLayout" Target="../slideLayouts/slideLayout2.xml"/><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4.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chart" Target="/ppt/charts/chart12.xml"/><Relationship Id="rId3" Type="http://schemas.openxmlformats.org/officeDocument/2006/relationships/slideLayout" Target="../slideLayouts/slideLayout2.xml"/><Relationship Id="rId4"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image" Target="../media/image-64-2.png"/><Relationship Id="rId3" Type="http://schemas.openxmlformats.org/officeDocument/2006/relationships/slideLayout" Target="../slideLayouts/slideLayout2.xml"/><Relationship Id="rId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jpg"/><Relationship Id="rId2" Type="http://schemas.openxmlformats.org/officeDocument/2006/relationships/slideLayout" Target="../slideLayouts/slideLayout4.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jpg"/><Relationship Id="rId2" Type="http://schemas.openxmlformats.org/officeDocument/2006/relationships/slideLayout" Target="../slideLayouts/slideLayout4.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slideLayout" Target="../slideLayouts/slideLayout2.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png"/><Relationship Id="rId2" Type="http://schemas.openxmlformats.org/officeDocument/2006/relationships/slideLayout" Target="../slideLayouts/slideLayout2.xml"/><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png"/><Relationship Id="rId2" Type="http://schemas.openxmlformats.org/officeDocument/2006/relationships/slideLayout" Target="../slideLayouts/slideLayout2.xml"/><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png"/><Relationship Id="rId2" Type="http://schemas.openxmlformats.org/officeDocument/2006/relationships/slideLayout" Target="../slideLayouts/slideLayout2.xml"/><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2.xml"/><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image" Target="../media/image-91-1.png"/><Relationship Id="rId2" Type="http://schemas.openxmlformats.org/officeDocument/2006/relationships/slideLayout" Target="../slideLayouts/slideLayout2.xml"/><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image" Target="../media/image-92-1.png"/><Relationship Id="rId2" Type="http://schemas.openxmlformats.org/officeDocument/2006/relationships/slideLayout" Target="../slideLayouts/slideLayout2.xml"/><Relationship Id="rId3"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image" Target="../media/image-97-1.png"/><Relationship Id="rId2" Type="http://schemas.openxmlformats.org/officeDocument/2006/relationships/image" Target="../media/image-97-2.png"/><Relationship Id="rId3" Type="http://schemas.openxmlformats.org/officeDocument/2006/relationships/slideLayout" Target="../slideLayouts/slideLayout2.xml"/><Relationship Id="rId4"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image" Target="../media/image-100-1.png"/><Relationship Id="rId2" Type="http://schemas.openxmlformats.org/officeDocument/2006/relationships/slideLayout" Target="../slideLayouts/slideLayout2.xml"/><Relationship Id="rId3"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image" Target="../media/image-101-1.png"/><Relationship Id="rId2" Type="http://schemas.openxmlformats.org/officeDocument/2006/relationships/slideLayout" Target="../slideLayouts/slideLayout2.xml"/><Relationship Id="rId3"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image" Target="../media/image-102-1.png"/><Relationship Id="rId2" Type="http://schemas.openxmlformats.org/officeDocument/2006/relationships/image" Target="../media/image-102-2.png"/><Relationship Id="rId3" Type="http://schemas.openxmlformats.org/officeDocument/2006/relationships/slideLayout" Target="../slideLayouts/slideLayout2.xml"/><Relationship Id="rId4"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2.xml"/><Relationship Id="rId3"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image" Target="../media/image-104-1.png"/><Relationship Id="rId2" Type="http://schemas.openxmlformats.org/officeDocument/2006/relationships/slideLayout" Target="../slideLayouts/slideLayout2.xml"/><Relationship Id="rId3"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image" Target="../media/image-105-1.png"/><Relationship Id="rId2" Type="http://schemas.openxmlformats.org/officeDocument/2006/relationships/image" Target="../media/image-105-2.png"/><Relationship Id="rId3" Type="http://schemas.openxmlformats.org/officeDocument/2006/relationships/slideLayout" Target="../slideLayouts/slideLayout2.xml"/><Relationship Id="rId4"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2.xml"/><Relationship Id="rId3"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image" Target="../media/image-111-1.jpg"/><Relationship Id="rId2" Type="http://schemas.openxmlformats.org/officeDocument/2006/relationships/slideLayout" Target="../slideLayouts/slideLayout4.xml"/><Relationship Id="rId3"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image" Target="../media/image-113-1.png"/><Relationship Id="rId2" Type="http://schemas.openxmlformats.org/officeDocument/2006/relationships/image" Target="../media/image-113-2.png"/><Relationship Id="rId3" Type="http://schemas.openxmlformats.org/officeDocument/2006/relationships/slideLayout" Target="../slideLayouts/slideLayout2.xml"/><Relationship Id="rId4"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image" Target="../media/image-120-1.jpg"/><Relationship Id="rId2" Type="http://schemas.openxmlformats.org/officeDocument/2006/relationships/slideLayout" Target="../slideLayouts/slideLayout4.xml"/><Relationship Id="rId3"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image" Target="../media/image-125-1.png"/><Relationship Id="rId2" Type="http://schemas.openxmlformats.org/officeDocument/2006/relationships/slideLayout" Target="../slideLayouts/slideLayout2.xml"/><Relationship Id="rId3"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Watercolor illustration of a liver in dim ICU light,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6492240" y="1600200"/>
            <a:ext cx="5287975" cy="1325880"/>
          </a:xfrm>
          <a:prstGeom prst="rect">
            <a:avLst/>
          </a:prstGeom>
          <a:noFill/>
          <a:ln/>
        </p:spPr>
        <p:txBody>
          <a:bodyPr wrap="square" lIns="0" tIns="0" rIns="0" bIns="0" rtlCol="0" anchor="ctr"/>
          <a:lstStyle/>
          <a:p>
            <a:pPr algn="ctr" indent="0" marL="0">
              <a:buNone/>
            </a:pPr>
            <a:r>
              <a:rPr lang="en-US" sz="3800" b="1" dirty="0">
                <a:solidFill>
                  <a:srgbClr val="000000"/>
                </a:solidFill>
                <a:latin typeface="Georgia" pitchFamily="34" charset="0"/>
                <a:ea typeface="Georgia" pitchFamily="34" charset="-122"/>
                <a:cs typeface="Georgia" pitchFamily="34" charset="-120"/>
              </a:rPr>
              <a:t>Acute Liver Failure</a:t>
            </a:r>
            <a:endParaRPr lang="en-US" sz="3800" dirty="0"/>
          </a:p>
          <a:p>
            <a:pPr algn="ctr" indent="0" marL="0">
              <a:buNone/>
            </a:pPr>
            <a:r>
              <a:rPr lang="en-US" sz="3400" b="1" dirty="0">
                <a:solidFill>
                  <a:srgbClr val="000000"/>
                </a:solidFill>
                <a:latin typeface="Georgia" pitchFamily="34" charset="0"/>
                <a:ea typeface="Georgia" pitchFamily="34" charset="-122"/>
                <a:cs typeface="Georgia" pitchFamily="34" charset="-120"/>
              </a:rPr>
              <a:t>and ACLF in the ICU</a:t>
            </a:r>
            <a:endParaRPr lang="en-US" sz="3800" dirty="0"/>
          </a:p>
        </p:txBody>
      </p:sp>
      <p:sp>
        <p:nvSpPr>
          <p:cNvPr id="4" name="Shape 1"/>
          <p:cNvSpPr/>
          <p:nvPr/>
        </p:nvSpPr>
        <p:spPr>
          <a:xfrm>
            <a:off x="7589520" y="3291840"/>
            <a:ext cx="3093415" cy="0"/>
          </a:xfrm>
          <a:prstGeom prst="line">
            <a:avLst/>
          </a:prstGeom>
          <a:noFill/>
          <a:ln w="12700">
            <a:solidFill>
              <a:srgbClr val="A6A6A6"/>
            </a:solidFill>
            <a:prstDash val="solid"/>
          </a:ln>
        </p:spPr>
      </p:sp>
      <p:sp>
        <p:nvSpPr>
          <p:cNvPr id="5" name="Text 2"/>
          <p:cNvSpPr txBox="1"/>
          <p:nvPr/>
        </p:nvSpPr>
        <p:spPr>
          <a:xfrm>
            <a:off x="6492240" y="3657600"/>
            <a:ext cx="5287975" cy="1463040"/>
          </a:xfrm>
          <a:prstGeom prst="rect">
            <a:avLst/>
          </a:prstGeom>
          <a:noFill/>
          <a:ln/>
        </p:spPr>
        <p:txBody>
          <a:bodyPr wrap="square" lIns="0" tIns="0" rIns="0" bIns="0" rtlCol="0" anchor="t"/>
          <a:lstStyle/>
          <a:p>
            <a:pPr algn="ctr" indent="0" marL="0">
              <a:spcAft>
                <a:spcPts val="400"/>
              </a:spcAft>
              <a:buNone/>
            </a:pPr>
            <a:r>
              <a:rPr lang="en-US" sz="2000" b="1" dirty="0">
                <a:solidFill>
                  <a:srgbClr val="000000"/>
                </a:solidFill>
                <a:latin typeface="Georgia" pitchFamily="34" charset="0"/>
                <a:ea typeface="Georgia" pitchFamily="34" charset="-122"/>
                <a:cs typeface="Georgia" pitchFamily="34" charset="-120"/>
              </a:rPr>
              <a:t>Mohammad Almeqdadi, MD</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Transplant Hepatologist and Gastroenterologist</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Assistant Professor of Medicine and Surgery</a:t>
            </a:r>
            <a:endParaRPr lang="en-US" sz="2000" dirty="0"/>
          </a:p>
          <a:p>
            <a:pPr algn="ctr" indent="0" marL="0">
              <a:spcAft>
                <a:spcPts val="400"/>
              </a:spcAft>
              <a:buNone/>
            </a:pPr>
            <a:r>
              <a:rPr lang="en-US" sz="1600" dirty="0">
                <a:solidFill>
                  <a:srgbClr val="595959"/>
                </a:solidFill>
                <a:latin typeface="Georgia" pitchFamily="34" charset="0"/>
                <a:ea typeface="Georgia" pitchFamily="34" charset="-122"/>
                <a:cs typeface="Georgia" pitchFamily="34" charset="-120"/>
              </a:rPr>
              <a:t>X: @mfalmeqdadi</a:t>
            </a:r>
            <a:endParaRPr lang="en-US" sz="2000" dirty="0"/>
          </a:p>
        </p:txBody>
      </p:sp>
      <p:pic>
        <p:nvPicPr>
          <p:cNvPr id="6" name="Image 1" descr="Tufts University School of Medicine">    </p:cNvPr>
          <p:cNvPicPr>
            <a:picLocks noChangeAspect="1"/>
          </p:cNvPicPr>
          <p:nvPr/>
        </p:nvPicPr>
        <p:blipFill>
          <a:blip r:embed="rId2"/>
          <a:stretch>
            <a:fillRect/>
          </a:stretch>
        </p:blipFill>
        <p:spPr>
          <a:xfrm>
            <a:off x="6629400" y="5349240"/>
            <a:ext cx="3465576" cy="704088"/>
          </a:xfrm>
          <a:prstGeom prst="rect">
            <a:avLst/>
          </a:prstGeom>
        </p:spPr>
      </p:pic>
      <p:pic>
        <p:nvPicPr>
          <p:cNvPr id="7" name="Image 2" descr="QR code linking to the slides PDF">    </p:cNvPr>
          <p:cNvPicPr>
            <a:picLocks noChangeAspect="1"/>
          </p:cNvPicPr>
          <p:nvPr/>
        </p:nvPicPr>
        <p:blipFill>
          <a:blip r:embed="rId3"/>
          <a:stretch>
            <a:fillRect/>
          </a:stretch>
        </p:blipFill>
        <p:spPr>
          <a:xfrm>
            <a:off x="10637215" y="4846320"/>
            <a:ext cx="1188720" cy="1188720"/>
          </a:xfrm>
          <a:prstGeom prst="rect">
            <a:avLst/>
          </a:prstGeom>
        </p:spPr>
      </p:pic>
      <p:sp>
        <p:nvSpPr>
          <p:cNvPr id="8" name="Text 3"/>
          <p:cNvSpPr txBox="1"/>
          <p:nvPr/>
        </p:nvSpPr>
        <p:spPr>
          <a:xfrm>
            <a:off x="10518343" y="6080760"/>
            <a:ext cx="1417320" cy="274320"/>
          </a:xfrm>
          <a:prstGeom prst="rect">
            <a:avLst/>
          </a:prstGeom>
          <a:noFill/>
          <a:ln/>
        </p:spPr>
        <p:txBody>
          <a:bodyPr wrap="square" lIns="0" tIns="0" rIns="0" bIns="0" rtlCol="0" anchor="ctr"/>
          <a:lstStyle/>
          <a:p>
            <a:pPr algn="ctr" indent="0" marL="0">
              <a:buNone/>
            </a:pPr>
            <a:r>
              <a:rPr lang="en-US" sz="1100" dirty="0">
                <a:solidFill>
                  <a:srgbClr val="595959"/>
                </a:solidFill>
                <a:latin typeface="Georgia" pitchFamily="34" charset="0"/>
                <a:ea typeface="Georgia" pitchFamily="34" charset="-122"/>
                <a:cs typeface="Georgia" pitchFamily="34" charset="-120"/>
              </a:rPr>
              <a:t>Slides (PDF)</a:t>
            </a:r>
            <a:endParaRPr lang="en-US" sz="1100" dirty="0"/>
          </a:p>
        </p:txBody>
      </p:sp>
      <p:sp>
        <p:nvSpPr>
          <p:cNvPr id="9" name="Text 4"/>
          <p:cNvSpPr txBox="1"/>
          <p:nvPr/>
        </p:nvSpPr>
        <p:spPr>
          <a:xfrm>
            <a:off x="365760" y="6400800"/>
            <a:ext cx="4572000" cy="274320"/>
          </a:xfrm>
          <a:prstGeom prst="rect">
            <a:avLst/>
          </a:prstGeom>
          <a:noFill/>
          <a:ln/>
        </p:spPr>
        <p:txBody>
          <a:bodyPr wrap="square" lIns="0" tIns="0" rIns="0" bIns="0" rtlCol="0" anchor="ctr"/>
          <a:lstStyle/>
          <a:p>
            <a:pPr indent="0" marL="0">
              <a:buNone/>
            </a:pPr>
            <a:r>
              <a:rPr lang="en-US" sz="1100" i="1" dirty="0">
                <a:solidFill>
                  <a:srgbClr val="7F7F7F"/>
                </a:solidFill>
                <a:latin typeface="Georgia" pitchFamily="34" charset="0"/>
                <a:ea typeface="Georgia" pitchFamily="34" charset="-122"/>
                <a:cs typeface="Georgia" pitchFamily="34" charset="-120"/>
              </a:rPr>
              <a:t>Illustrations generated with Google Gemini</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Objectives</a:t>
            </a:r>
            <a:endParaRPr lang="en-US" sz="3000" dirty="0"/>
          </a:p>
        </p:txBody>
      </p:sp>
      <p:sp>
        <p:nvSpPr>
          <p:cNvPr id="3" name="Body"/>
          <p:cNvSpPr txBox="1"/>
          <p:nvPr/>
        </p:nvSpPr>
        <p:spPr>
          <a:xfrm>
            <a:off x="1463040" y="1234440"/>
            <a:ext cx="9265615" cy="457200"/>
          </a:xfrm>
          <a:prstGeom prst="rect">
            <a:avLst/>
          </a:prstGeom>
          <a:noFill/>
          <a:ln/>
        </p:spPr>
        <p:txBody>
          <a:bodyPr wrap="square" lIns="50800" tIns="50800" rIns="50800" bIns="50800" rtlCol="0" anchor="t"/>
          <a:lstStyle/>
          <a:p>
            <a:pPr indent="0" marL="0">
              <a:spcBef>
                <a:spcPts val="800"/>
              </a:spcBef>
              <a:buNone/>
            </a:pPr>
            <a:r>
              <a:rPr lang="en-US" sz="2200" i="1" dirty="0">
                <a:solidFill>
                  <a:srgbClr val="000000"/>
                </a:solidFill>
                <a:latin typeface="Georgia" pitchFamily="34" charset="0"/>
                <a:ea typeface="Georgia" pitchFamily="34" charset="-122"/>
                <a:cs typeface="Georgia" pitchFamily="34" charset="-120"/>
              </a:rPr>
              <a:t>By the end of this talk you should be able to:</a:t>
            </a:r>
            <a:endParaRPr lang="en-US" sz="2200" dirty="0"/>
          </a:p>
        </p:txBody>
      </p:sp>
      <p:sp>
        <p:nvSpPr>
          <p:cNvPr id="4" name="Body"/>
          <p:cNvSpPr txBox="1"/>
          <p:nvPr/>
        </p:nvSpPr>
        <p:spPr>
          <a:xfrm>
            <a:off x="1463040" y="1874520"/>
            <a:ext cx="9265615" cy="4389120"/>
          </a:xfrm>
          <a:prstGeom prst="rect">
            <a:avLst/>
          </a:prstGeom>
          <a:noFill/>
          <a:ln/>
        </p:spPr>
        <p:txBody>
          <a:bodyPr wrap="square" lIns="50800" tIns="50800" rIns="50800" bIns="50800" rtlCol="0" anchor="t"/>
          <a:lstStyle/>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Tell acute liver failure apart from severe acute liver injury and from ACLF</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Plan the first hour of care in ALF</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Manage the brain and the ammonia in ALF</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Recognize and grade ACLF, and find the trigger</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Work through AKI in cirrhosis</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Know when to call transplant hepatology</a:t>
            </a:r>
            <a:endParaRPr lang="en-US" sz="22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2/85</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Two patients, same ICU</a:t>
            </a:r>
            <a:endParaRPr lang="en-US" sz="3000" dirty="0"/>
          </a:p>
        </p:txBody>
      </p:sp>
      <p:graphicFrame>
        <p:nvGraphicFramePr>
          <p:cNvPr id="4" name="Table"/>
          <p:cNvGraphicFramePr>
            <a:graphicFrameLocks noGrp="1"/>
          </p:cNvGraphicFramePr>
          <p:nvPr>
            <p:extLst>
              <p:ext uri="{D42A27DB-BD31-4B8C-83A1-F6EECF244321}">
                <p14:modId xmlns:p14="http://schemas.microsoft.com/office/powerpoint/2010/main" val="1579011935"/>
              </p:ext>
            </p:extLst>
          </p:nvPr>
        </p:nvGraphicFramePr>
        <p:xfrm>
          <a:off x="2011680" y="1828800"/>
          <a:ext cx="8138160" cy="914400"/>
        </p:xfrm>
        <a:graphic>
          <a:graphicData uri="http://schemas.openxmlformats.org/drawingml/2006/table">
            <a:tbl>
              <a:tblPr/>
              <a:tblGrid>
                <a:gridCol w="3767328"/>
                <a:gridCol w="4370832"/>
              </a:tblGrid>
              <a:tr h="475488">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Bed 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Bed 7</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7548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28-year-old woman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56-year-old 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No known liver disease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Alcohol-related cirrhosis with ascites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Nausea and vomiting for 4 days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Fever, confusion, low blood pressure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4663440"/>
            <a:ext cx="10545775" cy="731520"/>
          </a:xfrm>
          <a:prstGeom prst="rect">
            <a:avLst/>
          </a:prstGeom>
          <a:noFill/>
          <a:ln/>
        </p:spPr>
        <p:txBody>
          <a:bodyPr wrap="square" lIns="50800" tIns="50800" rIns="50800" bIns="50800" rtlCol="0" anchor="t"/>
          <a:lstStyle/>
          <a:p>
            <a:pPr algn="ctr" indent="0" marL="0">
              <a:spcBef>
                <a:spcPts val="800"/>
              </a:spcBef>
              <a:buNone/>
            </a:pPr>
            <a:r>
              <a:rPr lang="en-US" sz="2200" i="1" dirty="0">
                <a:solidFill>
                  <a:srgbClr val="000000"/>
                </a:solidFill>
                <a:latin typeface="Georgia" pitchFamily="34" charset="0"/>
                <a:ea typeface="Georgia" pitchFamily="34" charset="-122"/>
                <a:cs typeface="Georgia" pitchFamily="34" charset="-120"/>
              </a:rPr>
              <a:t>Both have a sick liver. Do they have the same disease?</a:t>
            </a:r>
            <a:endParaRPr lang="en-US" sz="22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3/85</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Watercolor of an empty ICU bed with an IV pole and monito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Bed 4</a:t>
            </a:r>
            <a:endParaRPr lang="en-US" sz="4800" dirty="0"/>
          </a:p>
        </p:txBody>
      </p:sp>
      <p:sp>
        <p:nvSpPr>
          <p:cNvPr id="4" name="Text 1"/>
          <p:cNvSpPr txBox="1"/>
          <p:nvPr/>
        </p:nvSpPr>
        <p:spPr>
          <a:xfrm>
            <a:off x="548640" y="3429000"/>
            <a:ext cx="5212080" cy="548640"/>
          </a:xfrm>
          <a:prstGeom prst="rect">
            <a:avLst/>
          </a:prstGeom>
          <a:noFill/>
          <a:ln/>
        </p:spPr>
        <p:txBody>
          <a:bodyPr wrap="square" lIns="0" tIns="0" rIns="0" bIns="0" rtlCol="0" anchor="ctr"/>
          <a:lstStyle/>
          <a:p>
            <a:pPr algn="ctr" indent="0" marL="0">
              <a:buNone/>
            </a:pPr>
            <a:r>
              <a:rPr lang="en-US" sz="2400" dirty="0">
                <a:solidFill>
                  <a:srgbClr val="595959"/>
                </a:solidFill>
                <a:latin typeface="Georgia" pitchFamily="34" charset="0"/>
                <a:ea typeface="Georgia" pitchFamily="34" charset="-122"/>
                <a:cs typeface="Georgia" pitchFamily="34" charset="-120"/>
              </a:rPr>
              <a:t>28F, 4 days of nausea</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4/85</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6"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121408"/>
                <a:gridCol w="2084832"/>
              </a:tblGrid>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ALP</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42062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Is this acute liver failure?</a:t>
            </a:r>
            <a:endParaRPr lang="en-US" sz="24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5/85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7"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121408"/>
                <a:gridCol w="2084832"/>
              </a:tblGrid>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ALP</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39319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Is this acute liver failure?</a:t>
            </a:r>
            <a:endParaRPr lang="en-US" sz="2400" dirty="0"/>
          </a:p>
        </p:txBody>
      </p:sp>
      <p:sp>
        <p:nvSpPr>
          <p:cNvPr id="6" name="Question"/>
          <p:cNvSpPr txBox="1"/>
          <p:nvPr/>
        </p:nvSpPr>
        <p:spPr>
          <a:xfrm>
            <a:off x="822960" y="45720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We don't know yet. What's missing?</a:t>
            </a:r>
            <a:endParaRPr lang="en-US" sz="24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5/85</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121408"/>
                <a:gridCol w="2084832"/>
              </a:tblGrid>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ALP</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374904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What's missing?</a:t>
            </a:r>
            <a:endParaRPr lang="en-US" sz="2200" dirty="0"/>
          </a:p>
        </p:txBody>
      </p:sp>
      <p:sp>
        <p:nvSpPr>
          <p:cNvPr id="6" name="Body"/>
          <p:cNvSpPr txBox="1"/>
          <p:nvPr/>
        </p:nvSpPr>
        <p:spPr>
          <a:xfrm>
            <a:off x="2194560" y="4297680"/>
            <a:ext cx="7863840" cy="1920240"/>
          </a:xfrm>
          <a:prstGeom prst="rect">
            <a:avLst/>
          </a:prstGeom>
          <a:noFill/>
          <a:ln/>
        </p:spPr>
        <p:txBody>
          <a:bodyPr wrap="square" lIns="50800" tIns="50800" rIns="50800" bIns="50800" rtlCol="0" anchor="t"/>
          <a:lstStyle/>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INR</a:t>
            </a:r>
            <a:r>
              <a:rPr lang="en-US" sz="1900" dirty="0">
                <a:solidFill>
                  <a:srgbClr val="000000"/>
                </a:solidFill>
                <a:latin typeface="Georgia" pitchFamily="34" charset="0"/>
                <a:ea typeface="Georgia" pitchFamily="34" charset="-122"/>
                <a:cs typeface="Georgia" pitchFamily="34" charset="-120"/>
              </a:rPr>
              <a:t> (synthetic function, not enzymes)</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Mental status</a:t>
            </a:r>
            <a:r>
              <a:rPr lang="en-US" sz="1900" dirty="0">
                <a:solidFill>
                  <a:srgbClr val="000000"/>
                </a:solidFill>
                <a:latin typeface="Georgia" pitchFamily="34" charset="0"/>
                <a:ea typeface="Georgia" pitchFamily="34" charset="-122"/>
                <a:cs typeface="Georgia" pitchFamily="34" charset="-120"/>
              </a:rPr>
              <a:t> (any encephalopathy?)</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Time course</a:t>
            </a:r>
            <a:r>
              <a:rPr lang="en-US" sz="1900" dirty="0">
                <a:solidFill>
                  <a:srgbClr val="000000"/>
                </a:solidFill>
                <a:latin typeface="Georgia" pitchFamily="34" charset="0"/>
                <a:ea typeface="Georgia" pitchFamily="34" charset="-122"/>
                <a:cs typeface="Georgia" pitchFamily="34" charset="-120"/>
              </a:rPr>
              <a:t> (how long since the first symptom?)</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Is there chronic liver disease underneath?</a:t>
            </a:r>
            <a:endParaRPr lang="en-US" sz="19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5/85</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9"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1947672"/>
                <a:gridCol w="2258568"/>
              </a:tblGrid>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C00000"/>
                          </a:solidFill>
                          <a:latin typeface="Calibri" pitchFamily="34" charset="0"/>
                          <a:ea typeface="Calibri" pitchFamily="34" charset="-122"/>
                          <a:cs typeface="Calibri" pitchFamily="34" charset="-120"/>
                        </a:rPr>
                        <a:t>3.2</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Glucose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C00000"/>
                          </a:solidFill>
                          <a:latin typeface="Calibri" pitchFamily="34" charset="0"/>
                          <a:ea typeface="Calibri" pitchFamily="34" charset="-122"/>
                          <a:cs typeface="Calibri" pitchFamily="34" charset="-120"/>
                        </a:rPr>
                        <a:t>54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731520" y="1371600"/>
            <a:ext cx="6217920" cy="27432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Disoriented to time, asterixis. Still there after the glucose is fixed</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Symptoms started 4 days ago</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Ultrasound: smooth liver, no ascites, patent vessels, normal spleen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history or imaging suggesting cirrhosis</a:t>
            </a:r>
            <a:endParaRPr lang="en-US" sz="2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6/85</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1947672"/>
                <a:gridCol w="2258568"/>
              </a:tblGrid>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C00000"/>
                          </a:solidFill>
                          <a:latin typeface="Calibri" pitchFamily="34" charset="0"/>
                          <a:ea typeface="Calibri" pitchFamily="34" charset="-122"/>
                          <a:cs typeface="Calibri" pitchFamily="34" charset="-120"/>
                        </a:rPr>
                        <a:t>3.2</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Glucose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C00000"/>
                          </a:solidFill>
                          <a:latin typeface="Calibri" pitchFamily="34" charset="0"/>
                          <a:ea typeface="Calibri" pitchFamily="34" charset="-122"/>
                          <a:cs typeface="Calibri" pitchFamily="34" charset="-120"/>
                        </a:rPr>
                        <a:t>54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731520" y="1371600"/>
            <a:ext cx="6217920" cy="27432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Disoriented to time, asterixis. Still there after the glucose is fixed</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Symptoms started 4 days ago</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Ultrasound: smooth liver, no ascites, patent vessels, normal spleen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history or imaging suggesting cirrhosis</a:t>
            </a:r>
            <a:endParaRPr lang="en-US" sz="2000" dirty="0"/>
          </a:p>
        </p:txBody>
      </p:sp>
      <p:sp>
        <p:nvSpPr>
          <p:cNvPr id="5" name="Question"/>
          <p:cNvSpPr txBox="1"/>
          <p:nvPr/>
        </p:nvSpPr>
        <p:spPr>
          <a:xfrm>
            <a:off x="822960" y="448056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highlight>
                  <a:srgbClr val="FFFF00"/>
                </a:highlight>
                <a:latin typeface="Georgia" pitchFamily="34" charset="0"/>
                <a:ea typeface="Georgia" pitchFamily="34" charset="-122"/>
                <a:cs typeface="Georgia" pitchFamily="34" charset="-120"/>
              </a:rPr>
              <a:t>This is acute liver failure</a:t>
            </a:r>
            <a:endParaRPr lang="en-US" sz="28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6/85</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Acute liver failure</a:t>
            </a:r>
            <a:endParaRPr lang="en-US" sz="3000" dirty="0"/>
          </a:p>
        </p:txBody>
      </p:sp>
      <p:sp>
        <p:nvSpPr>
          <p:cNvPr id="3" name="Body"/>
          <p:cNvSpPr txBox="1"/>
          <p:nvPr/>
        </p:nvSpPr>
        <p:spPr>
          <a:xfrm>
            <a:off x="731520" y="1188720"/>
            <a:ext cx="10728655" cy="237744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INR ≥ 1.5</a:t>
            </a:r>
            <a:r>
              <a:rPr lang="en-US" sz="2000" dirty="0">
                <a:solidFill>
                  <a:srgbClr val="000000"/>
                </a:solidFill>
                <a:latin typeface="Georgia" pitchFamily="34" charset="0"/>
                <a:ea typeface="Georgia" pitchFamily="34" charset="-122"/>
                <a:cs typeface="Georgia" pitchFamily="34" charset="-120"/>
              </a:rPr>
              <a:t> and </a:t>
            </a:r>
            <a:r>
              <a:rPr lang="en-US" sz="2000" b="1" dirty="0">
                <a:solidFill>
                  <a:srgbClr val="000000"/>
                </a:solidFill>
                <a:latin typeface="Georgia" pitchFamily="34" charset="0"/>
                <a:ea typeface="Georgia" pitchFamily="34" charset="-122"/>
                <a:cs typeface="Georgia" pitchFamily="34" charset="-120"/>
              </a:rPr>
              <a:t>any degree of encephalopathy</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Illness of less than 26 weeks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pre-existing cirrhosis</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AASLD and ACG: chronic liver disease without cirrhosis still allows ALF. EASL: no prior liver disease at all</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Wilson disease, autoimmune hepatitis and vertically acquired HBV can still count if recognized within 26 weeks</a:t>
            </a:r>
            <a:endParaRPr lang="en-US" sz="2000" dirty="0"/>
          </a:p>
        </p:txBody>
      </p:sp>
      <p:graphicFrame>
        <p:nvGraphicFramePr>
          <p:cNvPr id="11" name="Table"/>
          <p:cNvGraphicFramePr>
            <a:graphicFrameLocks noGrp="1"/>
          </p:cNvGraphicFramePr>
          <p:nvPr>
            <p:extLst>
              <p:ext uri="{D42A27DB-BD31-4B8C-83A1-F6EECF244321}">
                <p14:modId xmlns:p14="http://schemas.microsoft.com/office/powerpoint/2010/main" val="1579011935"/>
              </p:ext>
            </p:extLst>
          </p:nvPr>
        </p:nvGraphicFramePr>
        <p:xfrm>
          <a:off x="731520" y="3794760"/>
          <a:ext cx="10728655" cy="914400"/>
        </p:xfrm>
        <a:graphic>
          <a:graphicData uri="http://schemas.openxmlformats.org/drawingml/2006/table">
            <a:tbl>
              <a:tblPr/>
              <a:tblGrid>
                <a:gridCol w="2743200"/>
                <a:gridCol w="3447288"/>
                <a:gridCol w="2057400"/>
                <a:gridCol w="2478024"/>
              </a:tblGrid>
              <a:tr h="38039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Jaundice to 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Hyperacute (&lt; 1 week)</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Acute (1 to 4 weeks)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Subacute (4 to 12 weeks)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Typical causes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Acetaminophen, HAV, HEV, ischemia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HBV</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DILI, AIH, unknown cause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Cerebral edema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Common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Less common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Uncommon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Spontaneous recovery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More likely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Intermediate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Less likely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guideline 2017 [PMID: 28417882]; ACG ALF 2023 [PMID: 37377263]; Management of ALF: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7/85</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patient, but wide awake</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Same labs and INR 2.4, but fully oriented with no asterixis</a:t>
            </a:r>
            <a:endParaRPr lang="en-US" sz="2000" dirty="0"/>
          </a:p>
        </p:txBody>
      </p:sp>
      <p:sp>
        <p:nvSpPr>
          <p:cNvPr id="4" name="Question"/>
          <p:cNvSpPr txBox="1"/>
          <p:nvPr/>
        </p:nvSpPr>
        <p:spPr>
          <a:xfrm>
            <a:off x="822960" y="310896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What do you call this, and what do you do now?</a:t>
            </a:r>
            <a:endParaRPr lang="en-US" sz="28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8/85</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patient, but wide awake</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Same labs and INR 2.4, but fully oriented with no asterixis</a:t>
            </a:r>
            <a:endParaRPr lang="en-US" sz="2000" dirty="0"/>
          </a:p>
        </p:txBody>
      </p:sp>
      <p:sp>
        <p:nvSpPr>
          <p:cNvPr id="4" name="Body"/>
          <p:cNvSpPr txBox="1"/>
          <p:nvPr/>
        </p:nvSpPr>
        <p:spPr>
          <a:xfrm>
            <a:off x="822960" y="1783080"/>
            <a:ext cx="10545775" cy="4480560"/>
          </a:xfrm>
          <a:prstGeom prst="rect">
            <a:avLst/>
          </a:prstGeom>
          <a:noFill/>
          <a:ln/>
        </p:spPr>
        <p:txBody>
          <a:bodyPr wrap="square" lIns="50800" tIns="50800" rIns="50800" bIns="50800" rtlCol="0" anchor="t"/>
          <a:lstStyle/>
          <a:p>
            <a:pPr marL="228600" indent="-228600">
              <a:spcBef>
                <a:spcPts val="800"/>
              </a:spcBef>
              <a:buSzPct val="100000"/>
              <a:buChar char="–"/>
            </a:pPr>
            <a:r>
              <a:rPr lang="en-US" sz="2100" b="1" dirty="0">
                <a:solidFill>
                  <a:srgbClr val="000000"/>
                </a:solidFill>
                <a:latin typeface="Georgia" pitchFamily="34" charset="0"/>
                <a:ea typeface="Georgia" pitchFamily="34" charset="-122"/>
                <a:cs typeface="Georgia" pitchFamily="34" charset="-120"/>
              </a:rPr>
              <a:t>Severe acute liver injury</a:t>
            </a:r>
            <a:r>
              <a:rPr lang="en-US" sz="2100" dirty="0">
                <a:solidFill>
                  <a:srgbClr val="000000"/>
                </a:solidFill>
                <a:latin typeface="Georgia" pitchFamily="34" charset="0"/>
                <a:ea typeface="Georgia" pitchFamily="34" charset="-122"/>
                <a:cs typeface="Georgia" pitchFamily="34" charset="-120"/>
              </a:rPr>
              <a:t>, not ALF yet</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No encephalopathy, so it doesn't meet the definition</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But it can become ALF within hours</a:t>
            </a:r>
            <a:endParaRPr lang="en-US" sz="2100" dirty="0"/>
          </a:p>
          <a:p>
            <a:pPr lvl="1" marL="457200" indent="-228600">
              <a:spcBef>
                <a:spcPts val="200"/>
              </a:spcBef>
              <a:buSzPct val="100000"/>
              <a:buChar char="–"/>
            </a:pPr>
            <a:r>
              <a:rPr lang="en-US" sz="1900" dirty="0">
                <a:solidFill>
                  <a:srgbClr val="000000"/>
                </a:solidFill>
                <a:latin typeface="Georgia" pitchFamily="34" charset="0"/>
                <a:ea typeface="Georgia" pitchFamily="34" charset="-122"/>
                <a:cs typeface="Georgia" pitchFamily="34" charset="-120"/>
              </a:rPr>
              <a:t>Check glucose often and examine the patient every few hours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And the opposite trap:</a:t>
            </a:r>
            <a:endParaRPr lang="en-US" sz="2100" dirty="0"/>
          </a:p>
          <a:p>
            <a:pPr lvl="1" marL="457200" indent="-228600">
              <a:spcBef>
                <a:spcPts val="200"/>
              </a:spcBef>
              <a:buSzPct val="100000"/>
              <a:buChar char="–"/>
            </a:pPr>
            <a:r>
              <a:rPr lang="en-US" sz="1900" dirty="0">
                <a:solidFill>
                  <a:srgbClr val="000000"/>
                </a:solidFill>
                <a:latin typeface="Georgia" pitchFamily="34" charset="0"/>
                <a:ea typeface="Georgia" pitchFamily="34" charset="-122"/>
                <a:cs typeface="Georgia" pitchFamily="34" charset="-120"/>
              </a:rPr>
              <a:t>Hypoglycemia, sedatives, sepsis, alcohol withdrawal and seizures can all look like encephalopathy</a:t>
            </a:r>
            <a:endParaRPr lang="en-US" sz="21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8/85</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other organs fail in ALF?</a:t>
            </a:r>
            <a:endParaRPr lang="en-US" sz="30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9/85</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Watercolor anatomical figure showing the brain, lungs, heart, liver, pancreas, adrenals, kidneys, spleen and bone marrow">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411480" y="320040"/>
            <a:ext cx="4206240" cy="1097280"/>
          </a:xfrm>
          <a:prstGeom prst="rect">
            <a:avLst/>
          </a:prstGeom>
          <a:noFill/>
          <a:ln/>
        </p:spPr>
        <p:txBody>
          <a:bodyPr wrap="square" lIns="0" tIns="0" rIns="0" bIns="0" rtlCol="0" anchor="t"/>
          <a:lstStyle/>
          <a:p>
            <a:pPr indent="0" marL="0">
              <a:buNone/>
            </a:pPr>
            <a:r>
              <a:rPr lang="en-US" sz="3000" dirty="0">
                <a:solidFill>
                  <a:srgbClr val="000000"/>
                </a:solidFill>
                <a:latin typeface="Georgia" pitchFamily="34" charset="0"/>
                <a:ea typeface="Georgia" pitchFamily="34" charset="-122"/>
                <a:cs typeface="Georgia" pitchFamily="34" charset="-120"/>
              </a:rPr>
              <a:t>Which other organs fail in ALF?</a:t>
            </a:r>
            <a:endParaRPr lang="en-US" sz="3000" dirty="0"/>
          </a:p>
        </p:txBody>
      </p:sp>
      <p:sp>
        <p:nvSpPr>
          <p:cNvPr id="4" name="Text 1"/>
          <p:cNvSpPr txBox="1"/>
          <p:nvPr/>
        </p:nvSpPr>
        <p:spPr>
          <a:xfrm>
            <a:off x="8092440" y="594360"/>
            <a:ext cx="3657600" cy="64008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Brain</a:t>
            </a:r>
            <a:endParaRPr lang="en-US" sz="1800" dirty="0"/>
          </a:p>
          <a:p>
            <a:pPr algn="l" indent="0" marL="0">
              <a:buNone/>
            </a:pPr>
            <a:r>
              <a:rPr lang="en-US" sz="1600" dirty="0">
                <a:solidFill>
                  <a:srgbClr val="404040"/>
                </a:solidFill>
                <a:latin typeface="Georgia" pitchFamily="34" charset="0"/>
                <a:ea typeface="Georgia" pitchFamily="34" charset="-122"/>
                <a:cs typeface="Georgia" pitchFamily="34" charset="-120"/>
              </a:rPr>
              <a:t>encephalopathy, cerebral edema</a:t>
            </a:r>
            <a:endParaRPr lang="en-US" sz="1800" dirty="0"/>
          </a:p>
        </p:txBody>
      </p:sp>
      <p:sp>
        <p:nvSpPr>
          <p:cNvPr id="5" name="Leader"/>
          <p:cNvSpPr/>
          <p:nvPr/>
        </p:nvSpPr>
        <p:spPr>
          <a:xfrm flipH="1">
            <a:off x="5989320" y="914400"/>
            <a:ext cx="2011680" cy="914"/>
          </a:xfrm>
          <a:prstGeom prst="line">
            <a:avLst/>
          </a:prstGeom>
          <a:noFill/>
          <a:ln w="12700">
            <a:solidFill>
              <a:srgbClr val="595959"/>
            </a:solidFill>
            <a:prstDash val="solid"/>
            <a:tailEnd type="oval"/>
          </a:ln>
        </p:spPr>
      </p:sp>
      <p:sp>
        <p:nvSpPr>
          <p:cNvPr id="6" name="Text 3"/>
          <p:cNvSpPr txBox="1"/>
          <p:nvPr/>
        </p:nvSpPr>
        <p:spPr>
          <a:xfrm>
            <a:off x="457200" y="2423160"/>
            <a:ext cx="3657600" cy="640080"/>
          </a:xfrm>
          <a:prstGeom prst="rect">
            <a:avLst/>
          </a:prstGeom>
          <a:noFill/>
          <a:ln/>
        </p:spPr>
        <p:txBody>
          <a:bodyPr wrap="square" lIns="0" tIns="0" rIns="0" bIns="0" rtlCol="0" anchor="ctr"/>
          <a:lstStyle/>
          <a:p>
            <a:pPr algn="r" indent="0" marL="0">
              <a:buNone/>
            </a:pPr>
            <a:r>
              <a:rPr lang="en-US" sz="1800" b="1" dirty="0">
                <a:solidFill>
                  <a:srgbClr val="000000"/>
                </a:solidFill>
                <a:latin typeface="Georgia" pitchFamily="34" charset="0"/>
                <a:ea typeface="Georgia" pitchFamily="34" charset="-122"/>
                <a:cs typeface="Georgia" pitchFamily="34" charset="-120"/>
              </a:rPr>
              <a:t>Lungs</a:t>
            </a:r>
            <a:endParaRPr lang="en-US" sz="1800" dirty="0"/>
          </a:p>
          <a:p>
            <a:pPr algn="r" indent="0" marL="0">
              <a:buNone/>
            </a:pPr>
            <a:r>
              <a:rPr lang="en-US" sz="1600" dirty="0">
                <a:solidFill>
                  <a:srgbClr val="404040"/>
                </a:solidFill>
                <a:latin typeface="Georgia" pitchFamily="34" charset="0"/>
                <a:ea typeface="Georgia" pitchFamily="34" charset="-122"/>
                <a:cs typeface="Georgia" pitchFamily="34" charset="-120"/>
              </a:rPr>
              <a:t>ARDS</a:t>
            </a:r>
            <a:endParaRPr lang="en-US" sz="1800" dirty="0"/>
          </a:p>
        </p:txBody>
      </p:sp>
      <p:sp>
        <p:nvSpPr>
          <p:cNvPr id="7" name="Leader"/>
          <p:cNvSpPr/>
          <p:nvPr/>
        </p:nvSpPr>
        <p:spPr>
          <a:xfrm>
            <a:off x="4206240" y="2743200"/>
            <a:ext cx="1271016" cy="128016"/>
          </a:xfrm>
          <a:prstGeom prst="line">
            <a:avLst/>
          </a:prstGeom>
          <a:noFill/>
          <a:ln w="12700">
            <a:solidFill>
              <a:srgbClr val="595959"/>
            </a:solidFill>
            <a:prstDash val="solid"/>
            <a:tailEnd type="oval"/>
          </a:ln>
        </p:spPr>
      </p:sp>
      <p:sp>
        <p:nvSpPr>
          <p:cNvPr id="8" name="Text 5"/>
          <p:cNvSpPr txBox="1"/>
          <p:nvPr/>
        </p:nvSpPr>
        <p:spPr>
          <a:xfrm>
            <a:off x="8092440" y="2331720"/>
            <a:ext cx="3657600" cy="64008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Heart and vessels</a:t>
            </a:r>
            <a:endParaRPr lang="en-US" sz="1800" dirty="0"/>
          </a:p>
          <a:p>
            <a:pPr algn="l" indent="0" marL="0">
              <a:buNone/>
            </a:pPr>
            <a:r>
              <a:rPr lang="en-US" sz="1600" dirty="0">
                <a:solidFill>
                  <a:srgbClr val="404040"/>
                </a:solidFill>
                <a:latin typeface="Georgia" pitchFamily="34" charset="0"/>
                <a:ea typeface="Georgia" pitchFamily="34" charset="-122"/>
                <a:cs typeface="Georgia" pitchFamily="34" charset="-120"/>
              </a:rPr>
              <a:t>vasodilatory shock</a:t>
            </a:r>
            <a:endParaRPr lang="en-US" sz="1800" dirty="0"/>
          </a:p>
        </p:txBody>
      </p:sp>
      <p:sp>
        <p:nvSpPr>
          <p:cNvPr id="9" name="Leader"/>
          <p:cNvSpPr/>
          <p:nvPr/>
        </p:nvSpPr>
        <p:spPr>
          <a:xfrm flipH="1">
            <a:off x="6172200" y="2651760"/>
            <a:ext cx="1828800" cy="365760"/>
          </a:xfrm>
          <a:prstGeom prst="line">
            <a:avLst/>
          </a:prstGeom>
          <a:noFill/>
          <a:ln w="12700">
            <a:solidFill>
              <a:srgbClr val="595959"/>
            </a:solidFill>
            <a:prstDash val="solid"/>
            <a:tailEnd type="oval"/>
          </a:ln>
        </p:spPr>
      </p:sp>
      <p:sp>
        <p:nvSpPr>
          <p:cNvPr id="10" name="Text 7"/>
          <p:cNvSpPr txBox="1"/>
          <p:nvPr/>
        </p:nvSpPr>
        <p:spPr>
          <a:xfrm>
            <a:off x="457200" y="3429000"/>
            <a:ext cx="3657600" cy="640080"/>
          </a:xfrm>
          <a:prstGeom prst="rect">
            <a:avLst/>
          </a:prstGeom>
          <a:noFill/>
          <a:ln/>
        </p:spPr>
        <p:txBody>
          <a:bodyPr wrap="square" lIns="0" tIns="0" rIns="0" bIns="0" rtlCol="0" anchor="ctr"/>
          <a:lstStyle/>
          <a:p>
            <a:pPr algn="r" indent="0" marL="0">
              <a:buNone/>
            </a:pPr>
            <a:r>
              <a:rPr lang="en-US" sz="1800" b="1" dirty="0">
                <a:solidFill>
                  <a:srgbClr val="000000"/>
                </a:solidFill>
                <a:latin typeface="Georgia" pitchFamily="34" charset="0"/>
                <a:ea typeface="Georgia" pitchFamily="34" charset="-122"/>
                <a:cs typeface="Georgia" pitchFamily="34" charset="-120"/>
              </a:rPr>
              <a:t>Liver</a:t>
            </a:r>
            <a:endParaRPr lang="en-US" sz="1800" dirty="0"/>
          </a:p>
          <a:p>
            <a:pPr algn="r" indent="0" marL="0">
              <a:buNone/>
            </a:pPr>
            <a:r>
              <a:rPr lang="en-US" sz="1600" dirty="0">
                <a:solidFill>
                  <a:srgbClr val="404040"/>
                </a:solidFill>
                <a:latin typeface="Georgia" pitchFamily="34" charset="0"/>
                <a:ea typeface="Georgia" pitchFamily="34" charset="-122"/>
                <a:cs typeface="Georgia" pitchFamily="34" charset="-120"/>
              </a:rPr>
              <a:t>hypoglycemia, lactate, INR</a:t>
            </a:r>
            <a:endParaRPr lang="en-US" sz="1800" dirty="0"/>
          </a:p>
        </p:txBody>
      </p:sp>
      <p:sp>
        <p:nvSpPr>
          <p:cNvPr id="11" name="Leader"/>
          <p:cNvSpPr/>
          <p:nvPr/>
        </p:nvSpPr>
        <p:spPr>
          <a:xfrm>
            <a:off x="4206240" y="3749040"/>
            <a:ext cx="1371600" cy="137160"/>
          </a:xfrm>
          <a:prstGeom prst="line">
            <a:avLst/>
          </a:prstGeom>
          <a:noFill/>
          <a:ln w="12700">
            <a:solidFill>
              <a:srgbClr val="595959"/>
            </a:solidFill>
            <a:prstDash val="solid"/>
            <a:tailEnd type="oval"/>
          </a:ln>
        </p:spPr>
      </p:sp>
      <p:sp>
        <p:nvSpPr>
          <p:cNvPr id="12" name="Text 9"/>
          <p:cNvSpPr txBox="1"/>
          <p:nvPr/>
        </p:nvSpPr>
        <p:spPr>
          <a:xfrm>
            <a:off x="8092440" y="3200400"/>
            <a:ext cx="3657600" cy="64008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Spleen and immune system</a:t>
            </a:r>
            <a:endParaRPr lang="en-US" sz="1800" dirty="0"/>
          </a:p>
          <a:p>
            <a:pPr algn="l" indent="0" marL="0">
              <a:buNone/>
            </a:pPr>
            <a:r>
              <a:rPr lang="en-US" sz="1600" dirty="0">
                <a:solidFill>
                  <a:srgbClr val="404040"/>
                </a:solidFill>
                <a:latin typeface="Georgia" pitchFamily="34" charset="0"/>
                <a:ea typeface="Georgia" pitchFamily="34" charset="-122"/>
                <a:cs typeface="Georgia" pitchFamily="34" charset="-120"/>
              </a:rPr>
              <a:t>infection</a:t>
            </a:r>
            <a:endParaRPr lang="en-US" sz="1800" dirty="0"/>
          </a:p>
        </p:txBody>
      </p:sp>
      <p:sp>
        <p:nvSpPr>
          <p:cNvPr id="13" name="Leader"/>
          <p:cNvSpPr/>
          <p:nvPr/>
        </p:nvSpPr>
        <p:spPr>
          <a:xfrm flipH="1">
            <a:off x="6711696" y="3520440"/>
            <a:ext cx="1289304" cy="292608"/>
          </a:xfrm>
          <a:prstGeom prst="line">
            <a:avLst/>
          </a:prstGeom>
          <a:noFill/>
          <a:ln w="12700">
            <a:solidFill>
              <a:srgbClr val="595959"/>
            </a:solidFill>
            <a:prstDash val="solid"/>
            <a:tailEnd type="oval"/>
          </a:ln>
        </p:spPr>
      </p:sp>
      <p:sp>
        <p:nvSpPr>
          <p:cNvPr id="14" name="Text 11"/>
          <p:cNvSpPr txBox="1"/>
          <p:nvPr/>
        </p:nvSpPr>
        <p:spPr>
          <a:xfrm>
            <a:off x="8092440" y="4069080"/>
            <a:ext cx="3657600" cy="64008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Adrenals</a:t>
            </a:r>
            <a:endParaRPr lang="en-US" sz="1800" dirty="0"/>
          </a:p>
          <a:p>
            <a:pPr algn="l" indent="0" marL="0">
              <a:buNone/>
            </a:pPr>
            <a:r>
              <a:rPr lang="en-US" sz="1600" dirty="0">
                <a:solidFill>
                  <a:srgbClr val="404040"/>
                </a:solidFill>
                <a:latin typeface="Georgia" pitchFamily="34" charset="0"/>
                <a:ea typeface="Georgia" pitchFamily="34" charset="-122"/>
                <a:cs typeface="Georgia" pitchFamily="34" charset="-120"/>
              </a:rPr>
              <a:t>relative insufficiency</a:t>
            </a:r>
            <a:endParaRPr lang="en-US" sz="1800" dirty="0"/>
          </a:p>
        </p:txBody>
      </p:sp>
      <p:sp>
        <p:nvSpPr>
          <p:cNvPr id="15" name="Leader"/>
          <p:cNvSpPr/>
          <p:nvPr/>
        </p:nvSpPr>
        <p:spPr>
          <a:xfrm flipH="1" flipV="1">
            <a:off x="6464808" y="4224528"/>
            <a:ext cx="1536192" cy="164592"/>
          </a:xfrm>
          <a:prstGeom prst="line">
            <a:avLst/>
          </a:prstGeom>
          <a:noFill/>
          <a:ln w="12700">
            <a:solidFill>
              <a:srgbClr val="595959"/>
            </a:solidFill>
            <a:prstDash val="solid"/>
            <a:tailEnd type="oval"/>
          </a:ln>
        </p:spPr>
      </p:sp>
      <p:sp>
        <p:nvSpPr>
          <p:cNvPr id="16" name="Text 13"/>
          <p:cNvSpPr txBox="1"/>
          <p:nvPr/>
        </p:nvSpPr>
        <p:spPr>
          <a:xfrm>
            <a:off x="457200" y="4297680"/>
            <a:ext cx="3657600" cy="640080"/>
          </a:xfrm>
          <a:prstGeom prst="rect">
            <a:avLst/>
          </a:prstGeom>
          <a:noFill/>
          <a:ln/>
        </p:spPr>
        <p:txBody>
          <a:bodyPr wrap="square" lIns="0" tIns="0" rIns="0" bIns="0" rtlCol="0" anchor="ctr"/>
          <a:lstStyle/>
          <a:p>
            <a:pPr algn="r" indent="0" marL="0">
              <a:buNone/>
            </a:pPr>
            <a:r>
              <a:rPr lang="en-US" sz="1800" b="1" dirty="0">
                <a:solidFill>
                  <a:srgbClr val="000000"/>
                </a:solidFill>
                <a:latin typeface="Georgia" pitchFamily="34" charset="0"/>
                <a:ea typeface="Georgia" pitchFamily="34" charset="-122"/>
                <a:cs typeface="Georgia" pitchFamily="34" charset="-120"/>
              </a:rPr>
              <a:t>Kidneys</a:t>
            </a:r>
            <a:endParaRPr lang="en-US" sz="1800" dirty="0"/>
          </a:p>
          <a:p>
            <a:pPr algn="r" indent="0" marL="0">
              <a:buNone/>
            </a:pPr>
            <a:r>
              <a:rPr lang="en-US" sz="1600" dirty="0">
                <a:solidFill>
                  <a:srgbClr val="404040"/>
                </a:solidFill>
                <a:latin typeface="Georgia" pitchFamily="34" charset="0"/>
                <a:ea typeface="Georgia" pitchFamily="34" charset="-122"/>
                <a:cs typeface="Georgia" pitchFamily="34" charset="-120"/>
              </a:rPr>
              <a:t>AKI</a:t>
            </a:r>
            <a:endParaRPr lang="en-US" sz="1800" dirty="0"/>
          </a:p>
        </p:txBody>
      </p:sp>
      <p:sp>
        <p:nvSpPr>
          <p:cNvPr id="17" name="Leader"/>
          <p:cNvSpPr/>
          <p:nvPr/>
        </p:nvSpPr>
        <p:spPr>
          <a:xfrm flipV="1">
            <a:off x="4206240" y="4544568"/>
            <a:ext cx="1426464" cy="73152"/>
          </a:xfrm>
          <a:prstGeom prst="line">
            <a:avLst/>
          </a:prstGeom>
          <a:noFill/>
          <a:ln w="12700">
            <a:solidFill>
              <a:srgbClr val="595959"/>
            </a:solidFill>
            <a:prstDash val="solid"/>
            <a:tailEnd type="oval"/>
          </a:ln>
        </p:spPr>
      </p:sp>
      <p:sp>
        <p:nvSpPr>
          <p:cNvPr id="18" name="Text 15"/>
          <p:cNvSpPr txBox="1"/>
          <p:nvPr/>
        </p:nvSpPr>
        <p:spPr>
          <a:xfrm>
            <a:off x="8092440" y="4937760"/>
            <a:ext cx="3657600" cy="64008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Pancreas</a:t>
            </a:r>
            <a:endParaRPr lang="en-US" sz="1800" dirty="0"/>
          </a:p>
          <a:p>
            <a:pPr algn="l" indent="0" marL="0">
              <a:buNone/>
            </a:pPr>
            <a:r>
              <a:rPr lang="en-US" sz="1600" dirty="0">
                <a:solidFill>
                  <a:srgbClr val="404040"/>
                </a:solidFill>
                <a:latin typeface="Georgia" pitchFamily="34" charset="0"/>
                <a:ea typeface="Georgia" pitchFamily="34" charset="-122"/>
                <a:cs typeface="Georgia" pitchFamily="34" charset="-120"/>
              </a:rPr>
              <a:t>pancreatitis</a:t>
            </a:r>
            <a:endParaRPr lang="en-US" sz="1800" dirty="0"/>
          </a:p>
        </p:txBody>
      </p:sp>
      <p:sp>
        <p:nvSpPr>
          <p:cNvPr id="19" name="Leader"/>
          <p:cNvSpPr/>
          <p:nvPr/>
        </p:nvSpPr>
        <p:spPr>
          <a:xfrm flipH="1" flipV="1">
            <a:off x="6172200" y="4224528"/>
            <a:ext cx="1828800" cy="1033272"/>
          </a:xfrm>
          <a:prstGeom prst="line">
            <a:avLst/>
          </a:prstGeom>
          <a:noFill/>
          <a:ln w="12700">
            <a:solidFill>
              <a:srgbClr val="595959"/>
            </a:solidFill>
            <a:prstDash val="solid"/>
            <a:tailEnd type="oval"/>
          </a:ln>
        </p:spPr>
      </p:sp>
      <p:sp>
        <p:nvSpPr>
          <p:cNvPr id="20" name="Text 17"/>
          <p:cNvSpPr txBox="1"/>
          <p:nvPr/>
        </p:nvSpPr>
        <p:spPr>
          <a:xfrm>
            <a:off x="457200" y="5349240"/>
            <a:ext cx="3657600" cy="640080"/>
          </a:xfrm>
          <a:prstGeom prst="rect">
            <a:avLst/>
          </a:prstGeom>
          <a:noFill/>
          <a:ln/>
        </p:spPr>
        <p:txBody>
          <a:bodyPr wrap="square" lIns="0" tIns="0" rIns="0" bIns="0" rtlCol="0" anchor="ctr"/>
          <a:lstStyle/>
          <a:p>
            <a:pPr algn="r" indent="0" marL="0">
              <a:buNone/>
            </a:pPr>
            <a:r>
              <a:rPr lang="en-US" sz="1800" b="1" dirty="0">
                <a:solidFill>
                  <a:srgbClr val="000000"/>
                </a:solidFill>
                <a:latin typeface="Georgia" pitchFamily="34" charset="0"/>
                <a:ea typeface="Georgia" pitchFamily="34" charset="-122"/>
                <a:cs typeface="Georgia" pitchFamily="34" charset="-120"/>
              </a:rPr>
              <a:t>Bone marrow</a:t>
            </a:r>
            <a:endParaRPr lang="en-US" sz="1800" dirty="0"/>
          </a:p>
          <a:p>
            <a:pPr algn="r" indent="0" marL="0">
              <a:buNone/>
            </a:pPr>
            <a:r>
              <a:rPr lang="en-US" sz="1600" dirty="0">
                <a:solidFill>
                  <a:srgbClr val="404040"/>
                </a:solidFill>
                <a:latin typeface="Georgia" pitchFamily="34" charset="0"/>
                <a:ea typeface="Georgia" pitchFamily="34" charset="-122"/>
                <a:cs typeface="Georgia" pitchFamily="34" charset="-120"/>
              </a:rPr>
              <a:t>suppression</a:t>
            </a:r>
            <a:endParaRPr lang="en-US" sz="1800" dirty="0"/>
          </a:p>
        </p:txBody>
      </p:sp>
      <p:sp>
        <p:nvSpPr>
          <p:cNvPr id="21" name="Leader"/>
          <p:cNvSpPr/>
          <p:nvPr/>
        </p:nvSpPr>
        <p:spPr>
          <a:xfrm>
            <a:off x="4206240" y="5669280"/>
            <a:ext cx="1124712" cy="365760"/>
          </a:xfrm>
          <a:prstGeom prst="line">
            <a:avLst/>
          </a:prstGeom>
          <a:noFill/>
          <a:ln w="12700">
            <a:solidFill>
              <a:srgbClr val="595959"/>
            </a:solidFill>
            <a:prstDash val="solid"/>
            <a:tailEnd type="oval"/>
          </a:ln>
        </p:spPr>
      </p:sp>
      <p:sp>
        <p:nvSpPr>
          <p:cNvPr id="22" name="Source"/>
          <p:cNvSpPr txBox="1"/>
          <p:nvPr/>
        </p:nvSpPr>
        <p:spPr>
          <a:xfrm>
            <a:off x="411480" y="6217920"/>
            <a:ext cx="3931920" cy="45720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Figure content after Bernal W, Wendon J.</a:t>
            </a:r>
            <a:endParaRPr lang="en-US" sz="1000" dirty="0"/>
          </a:p>
          <a:p>
            <a:pPr indent="0" marL="0">
              <a:buNone/>
            </a:pPr>
            <a:r>
              <a:rPr lang="en-US" sz="1000" i="1" dirty="0">
                <a:solidFill>
                  <a:srgbClr val="595959"/>
                </a:solidFill>
                <a:latin typeface="Georgia" pitchFamily="34" charset="0"/>
                <a:ea typeface="Georgia" pitchFamily="34" charset="-122"/>
                <a:cs typeface="Georgia" pitchFamily="34" charset="-120"/>
              </a:rPr>
              <a:t>N Engl J Med 2013;369:2525-34</a:t>
            </a:r>
            <a:endParaRPr lang="en-US" sz="1000" dirty="0"/>
          </a:p>
        </p:txBody>
      </p:sp>
      <p:sp>
        <p:nvSpPr>
          <p:cNvPr id="2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9/85</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Question"/>
          <p:cNvSpPr txBox="1"/>
          <p:nvPr/>
        </p:nvSpPr>
        <p:spPr>
          <a:xfrm>
            <a:off x="822960" y="2926080"/>
            <a:ext cx="10545775" cy="914400"/>
          </a:xfrm>
          <a:prstGeom prst="rect">
            <a:avLst/>
          </a:prstGeom>
          <a:noFill/>
          <a:ln/>
        </p:spPr>
        <p:txBody>
          <a:bodyPr wrap="square" lIns="0" tIns="0" rIns="0" bIns="0" rtlCol="0" anchor="ctr"/>
          <a:lstStyle/>
          <a:p>
            <a:pPr algn="ctr" indent="0" marL="0">
              <a:buNone/>
            </a:pPr>
            <a:r>
              <a:rPr lang="en-US" sz="3600" b="1" dirty="0">
                <a:solidFill>
                  <a:srgbClr val="000000"/>
                </a:solidFill>
                <a:latin typeface="Georgia" pitchFamily="34" charset="0"/>
                <a:ea typeface="Georgia" pitchFamily="34" charset="-122"/>
                <a:cs typeface="Georgia" pitchFamily="34" charset="-120"/>
              </a:rPr>
              <a:t>What's your next step?</a:t>
            </a:r>
            <a:endParaRPr lang="en-US" sz="36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10/85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Two things at the same time</a:t>
            </a:r>
            <a:endParaRPr lang="en-US" sz="3000" dirty="0"/>
          </a:p>
        </p:txBody>
      </p:sp>
      <p:graphicFrame>
        <p:nvGraphicFramePr>
          <p:cNvPr id="17" name="Table"/>
          <p:cNvGraphicFramePr>
            <a:graphicFrameLocks noGrp="1"/>
          </p:cNvGraphicFramePr>
          <p:nvPr>
            <p:extLst>
              <p:ext uri="{D42A27DB-BD31-4B8C-83A1-F6EECF244321}">
                <p14:modId xmlns:p14="http://schemas.microsoft.com/office/powerpoint/2010/main" val="1579011935"/>
              </p:ext>
            </p:extLst>
          </p:nvPr>
        </p:nvGraphicFramePr>
        <p:xfrm>
          <a:off x="1463040" y="1463040"/>
          <a:ext cx="9265615" cy="914400"/>
        </p:xfrm>
        <a:graphic>
          <a:graphicData uri="http://schemas.openxmlformats.org/drawingml/2006/table">
            <a:tbl>
              <a:tblPr/>
              <a:tblGrid>
                <a:gridCol w="3858768"/>
                <a:gridCol w="5404104"/>
              </a:tblGrid>
              <a:tr h="475488">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Keep her alive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Find the cause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367536">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ICU bed</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Glucose every 1 to 2 hours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Volume, perfusion, lactate</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Neuro checks</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Acetaminophen level</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Viral, autoimmune, Wilson, toxicology</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Doppler ultrasound</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Pregnancy test</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4805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Both start in the first hour</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11/85</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cause changes treatment right away?</a:t>
            </a:r>
            <a:endParaRPr lang="en-US" sz="3000" dirty="0"/>
          </a:p>
        </p:txBody>
      </p:sp>
      <p:graphicFrame>
        <p:nvGraphicFramePr>
          <p:cNvPr id="18" name="Table"/>
          <p:cNvGraphicFramePr>
            <a:graphicFrameLocks noGrp="1"/>
          </p:cNvGraphicFramePr>
          <p:nvPr>
            <p:extLst>
              <p:ext uri="{D42A27DB-BD31-4B8C-83A1-F6EECF244321}">
                <p14:modId xmlns:p14="http://schemas.microsoft.com/office/powerpoint/2010/main" val="1579011935"/>
              </p:ext>
            </p:extLst>
          </p:nvPr>
        </p:nvGraphicFramePr>
        <p:xfrm>
          <a:off x="457200" y="1188720"/>
          <a:ext cx="11277295" cy="914400"/>
        </p:xfrm>
        <a:graphic>
          <a:graphicData uri="http://schemas.openxmlformats.org/drawingml/2006/table">
            <a:tbl>
              <a:tblPr/>
              <a:tblGrid>
                <a:gridCol w="2148840"/>
                <a:gridCol w="4105656"/>
                <a:gridCol w="2660904"/>
                <a:gridCol w="2359152"/>
              </a:tblGrid>
              <a:tr h="38039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If you suspect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Clues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Send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Don't wait to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Acetaminophen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AST/ALT in the thousands, OTC use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Level, combination products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Herpes simplex</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Fever, very high AST/ALT, little jaundice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HSV PCR (blood)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Hepatitis B</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Endemic area, chemo or immunosuppression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HBsAg, anti-HBc IgM, DNA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Autoimmune hepatitis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Woman, other autoimmune disease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ANA, ASMA, IgG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Wilson disease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Under 40, Coombs-negative hemolysis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Ceruloplasmin, urine copper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AFLP, HELLP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Third trimester, high BP, low platelets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hCG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Budd-Chiari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Pain, ascites, big liver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Doppler or CT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Ischemic hepatitis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Shock or arrest, very high LDH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Echo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Amanita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Wild mushrooms, diarrhea 6-24 h later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Poison control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 EASL AIH 2025 [PMID: 40348684]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12/85</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cause changes treatment right away?</a:t>
            </a:r>
            <a:endParaRPr lang="en-US" sz="3000" dirty="0"/>
          </a:p>
        </p:txBody>
      </p:sp>
      <p:graphicFrame>
        <p:nvGraphicFramePr>
          <p:cNvPr id="19" name="Table"/>
          <p:cNvGraphicFramePr>
            <a:graphicFrameLocks noGrp="1"/>
          </p:cNvGraphicFramePr>
          <p:nvPr>
            <p:extLst>
              <p:ext uri="{D42A27DB-BD31-4B8C-83A1-F6EECF244321}">
                <p14:modId xmlns:p14="http://schemas.microsoft.com/office/powerpoint/2010/main" val="1579011935"/>
              </p:ext>
            </p:extLst>
          </p:nvPr>
        </p:nvGraphicFramePr>
        <p:xfrm>
          <a:off x="457200" y="1188720"/>
          <a:ext cx="11277295" cy="914400"/>
        </p:xfrm>
        <a:graphic>
          <a:graphicData uri="http://schemas.openxmlformats.org/drawingml/2006/table">
            <a:tbl>
              <a:tblPr/>
              <a:tblGrid>
                <a:gridCol w="2148840"/>
                <a:gridCol w="4105656"/>
                <a:gridCol w="2660904"/>
                <a:gridCol w="2359152"/>
              </a:tblGrid>
              <a:tr h="38039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If you suspect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Clues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Send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Don't wait to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Acetaminophen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AST/ALT in the thousands, OTC use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Level, combination products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Start NAC</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Herpes simplex</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Fever, very high AST/ALT, little jaundice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HSV PCR (blood)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Start IV acyclovir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Hepatitis B</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Endemic area, chemo or immunosuppression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HBsAg, anti-HBc IgM, DNA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Entecavir or tenofovir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Autoimmune hepatitis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Woman, other autoimmune disease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ANA, ASMA, IgG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Steroids with hepatology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Wilson disease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Under 40, Coombs-negative hemolysis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Ceruloplasmin, urine copper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Urgent transplant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AFLP, HELLP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Third trimester, high BP, low platelets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hCG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Obstetrics: delivery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Budd-Chiari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Pain, ascites, big liver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Doppler or CT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Anticoagulate; TIPS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Ischemic hepatitis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Shock or arrest, very high LDH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Echo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Fix the circulation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Amanita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Wild mushrooms, diarrhea 6-24 h later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Poison control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NAC, silibinin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 EASL AIH 2025 [PMID: 40348684]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12/85</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640080" y="1280160"/>
            <a:ext cx="7040880" cy="17373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Roommate: "She was taking a lot of the Tylenol with codeine, plus cold medicine, for 3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Acetaminophen level: </a:t>
            </a:r>
            <a:r>
              <a:rPr lang="en-US" sz="2000" b="1" dirty="0">
                <a:solidFill>
                  <a:srgbClr val="000000"/>
                </a:solidFill>
                <a:latin typeface="Georgia" pitchFamily="34" charset="0"/>
                <a:ea typeface="Georgia" pitchFamily="34" charset="-122"/>
                <a:cs typeface="Georgia" pitchFamily="34" charset="-120"/>
              </a:rPr>
              <a:t>12 μg/mL</a:t>
            </a:r>
            <a:r>
              <a:rPr lang="en-US" sz="2000" dirty="0">
                <a:solidFill>
                  <a:srgbClr val="000000"/>
                </a:solidFill>
                <a:latin typeface="Georgia" pitchFamily="34" charset="0"/>
                <a:ea typeface="Georgia" pitchFamily="34" charset="-122"/>
                <a:cs typeface="Georgia" pitchFamily="34" charset="-120"/>
              </a:rPr>
              <a:t>, time of last dose unknown</a:t>
            </a:r>
            <a:endParaRPr lang="en-US" sz="2000" dirty="0"/>
          </a:p>
        </p:txBody>
      </p:sp>
      <p:pic>
        <p:nvPicPr>
          <p:cNvPr id="4" name="Image 0" descr="Cold and flu box listing acetaminophen">    </p:cNvPr>
          <p:cNvPicPr>
            <a:picLocks noChangeAspect="1"/>
          </p:cNvPicPr>
          <p:nvPr/>
        </p:nvPicPr>
        <p:blipFill>
          <a:blip r:embed="rId1"/>
          <a:stretch>
            <a:fillRect/>
          </a:stretch>
        </p:blipFill>
        <p:spPr>
          <a:xfrm>
            <a:off x="8042366" y="1188720"/>
            <a:ext cx="3483429" cy="1828800"/>
          </a:xfrm>
          <a:prstGeom prst="rect">
            <a:avLst/>
          </a:prstGeom>
        </p:spPr>
      </p:pic>
      <p:sp>
        <p:nvSpPr>
          <p:cNvPr id="5" name="Question"/>
          <p:cNvSpPr txBox="1"/>
          <p:nvPr/>
        </p:nvSpPr>
        <p:spPr>
          <a:xfrm>
            <a:off x="822960" y="31089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Can you use the nomogram?</a:t>
            </a:r>
            <a:endParaRPr lang="en-US" sz="24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13/85</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640080" y="1280160"/>
            <a:ext cx="7040880" cy="17373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Roommate: "She was taking a lot of the Tylenol with codeine, plus cold medicine, for 3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Acetaminophen level: </a:t>
            </a:r>
            <a:r>
              <a:rPr lang="en-US" sz="2000" b="1" dirty="0">
                <a:solidFill>
                  <a:srgbClr val="000000"/>
                </a:solidFill>
                <a:latin typeface="Georgia" pitchFamily="34" charset="0"/>
                <a:ea typeface="Georgia" pitchFamily="34" charset="-122"/>
                <a:cs typeface="Georgia" pitchFamily="34" charset="-120"/>
              </a:rPr>
              <a:t>12 μg/mL</a:t>
            </a:r>
            <a:r>
              <a:rPr lang="en-US" sz="2000" dirty="0">
                <a:solidFill>
                  <a:srgbClr val="000000"/>
                </a:solidFill>
                <a:latin typeface="Georgia" pitchFamily="34" charset="0"/>
                <a:ea typeface="Georgia" pitchFamily="34" charset="-122"/>
                <a:cs typeface="Georgia" pitchFamily="34" charset="-120"/>
              </a:rPr>
              <a:t>, time of last dose unknown</a:t>
            </a:r>
            <a:endParaRPr lang="en-US" sz="2000" dirty="0"/>
          </a:p>
        </p:txBody>
      </p:sp>
      <p:pic>
        <p:nvPicPr>
          <p:cNvPr id="4" name="Image 0" descr="Cold and flu box listing acetaminophen">    </p:cNvPr>
          <p:cNvPicPr>
            <a:picLocks noChangeAspect="1"/>
          </p:cNvPicPr>
          <p:nvPr/>
        </p:nvPicPr>
        <p:blipFill>
          <a:blip r:embed="rId1"/>
          <a:stretch>
            <a:fillRect/>
          </a:stretch>
        </p:blipFill>
        <p:spPr>
          <a:xfrm>
            <a:off x="8042366" y="1188720"/>
            <a:ext cx="3483429" cy="1828800"/>
          </a:xfrm>
          <a:prstGeom prst="rect">
            <a:avLst/>
          </a:prstGeom>
        </p:spPr>
      </p:pic>
      <p:sp>
        <p:nvSpPr>
          <p:cNvPr id="5" name="Question"/>
          <p:cNvSpPr txBox="1"/>
          <p:nvPr/>
        </p:nvSpPr>
        <p:spPr>
          <a:xfrm>
            <a:off x="822960" y="31089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Can you use the nomogram?</a:t>
            </a:r>
            <a:endParaRPr lang="en-US" sz="2400" dirty="0"/>
          </a:p>
        </p:txBody>
      </p:sp>
      <p:sp>
        <p:nvSpPr>
          <p:cNvPr id="6" name="Body"/>
          <p:cNvSpPr txBox="1"/>
          <p:nvPr/>
        </p:nvSpPr>
        <p:spPr>
          <a:xfrm>
            <a:off x="822960" y="3749040"/>
            <a:ext cx="10545775" cy="2377440"/>
          </a:xfrm>
          <a:prstGeom prst="rect">
            <a:avLst/>
          </a:prstGeom>
          <a:noFill/>
          <a:ln/>
        </p:spPr>
        <p:txBody>
          <a:bodyPr wrap="square" lIns="50800" tIns="50800" rIns="50800" bIns="50800" rtlCol="0" anchor="t"/>
          <a:lstStyle/>
          <a:p>
            <a:pPr marL="228600" indent="-228600">
              <a:spcBef>
                <a:spcPts val="800"/>
              </a:spcBef>
              <a:buSzPct val="100000"/>
              <a:buChar char="–"/>
            </a:pPr>
            <a:r>
              <a:rPr lang="en-US" sz="2100" b="1" dirty="0">
                <a:solidFill>
                  <a:srgbClr val="000000"/>
                </a:solidFill>
                <a:latin typeface="Georgia" pitchFamily="34" charset="0"/>
                <a:ea typeface="Georgia" pitchFamily="34" charset="-122"/>
                <a:cs typeface="Georgia" pitchFamily="34" charset="-120"/>
              </a:rPr>
              <a:t>No.</a:t>
            </a:r>
            <a:r>
              <a:rPr lang="en-US" sz="2100" dirty="0">
                <a:solidFill>
                  <a:srgbClr val="000000"/>
                </a:solidFill>
                <a:latin typeface="Georgia" pitchFamily="34" charset="0"/>
                <a:ea typeface="Georgia" pitchFamily="34" charset="-122"/>
                <a:cs typeface="Georgia" pitchFamily="34" charset="-120"/>
              </a:rPr>
              <a:t> Rumack-Matthew is for a single acute ingestion with a known time</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Repeated supratherapeutic use and late presentation: the level can be low or undetectable</a:t>
            </a:r>
            <a:endParaRPr lang="en-US" sz="2100" dirty="0"/>
          </a:p>
          <a:p>
            <a:pPr marL="228600" indent="-228600">
              <a:spcBef>
                <a:spcPts val="800"/>
              </a:spcBef>
              <a:buSzPct val="100000"/>
              <a:buChar char="–"/>
            </a:pPr>
            <a:r>
              <a:rPr lang="en-US" sz="2100" b="1" dirty="0">
                <a:solidFill>
                  <a:srgbClr val="000000"/>
                </a:solidFill>
                <a:highlight>
                  <a:srgbClr val="FFFF00"/>
                </a:highlight>
                <a:latin typeface="Georgia" pitchFamily="34" charset="0"/>
                <a:ea typeface="Georgia" pitchFamily="34" charset="-122"/>
                <a:cs typeface="Georgia" pitchFamily="34" charset="-120"/>
              </a:rPr>
              <a:t>Start NAC now</a:t>
            </a:r>
            <a:endParaRPr lang="en-US" sz="21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13/85</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Rumack-Matthew nomogram</a:t>
            </a:r>
            <a:endParaRPr lang="en-US" sz="3000" dirty="0"/>
          </a:p>
        </p:txBody>
      </p:sp>
      <p:graphicFrame>
        <p:nvGraphicFramePr>
          <p:cNvPr id="3" name="Chart 0" descr=""/>
          <p:cNvGraphicFramePr/>
          <p:nvPr/>
        </p:nvGraphicFramePr>
        <p:xfrm>
          <a:off x="548640" y="1188720"/>
          <a:ext cx="6766560" cy="493776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280160"/>
            <a:ext cx="4206240"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1800" b="1" dirty="0">
                <a:solidFill>
                  <a:srgbClr val="000000"/>
                </a:solidFill>
                <a:highlight>
                  <a:srgbClr val="FFFF00"/>
                </a:highlight>
                <a:latin typeface="Georgia" pitchFamily="34" charset="0"/>
                <a:ea typeface="Georgia" pitchFamily="34" charset="-122"/>
                <a:cs typeface="Georgia" pitchFamily="34" charset="-120"/>
              </a:rPr>
              <a:t>One acute ingestion at a known time: it tells you when NOT to give NAC</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Late, repeated or unknown-time ingestion: a low level doesn't rule out liver injury</a:t>
            </a:r>
            <a:endParaRPr lang="en-US" sz="1800" dirty="0"/>
          </a:p>
          <a:p>
            <a:pPr indent="0" marL="0">
              <a:spcBef>
                <a:spcPts val="1600"/>
              </a:spcBef>
              <a:buNone/>
            </a:pPr>
            <a:r>
              <a:rPr lang="en-US" sz="1800" b="1" dirty="0">
                <a:solidFill>
                  <a:srgbClr val="000000"/>
                </a:solidFill>
                <a:latin typeface="Georgia" pitchFamily="34" charset="0"/>
                <a:ea typeface="Georgia" pitchFamily="34" charset="-122"/>
                <a:cs typeface="Georgia" pitchFamily="34" charset="-120"/>
              </a:rPr>
              <a:t>If she had taken it all at once</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8 hours: 12 is below the line, no NAC</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20 hours: above the line, NAC</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But it was 3 days of repeated doses. </a:t>
            </a:r>
            <a:r>
              <a:rPr lang="en-US" sz="1800" b="1" dirty="0">
                <a:solidFill>
                  <a:srgbClr val="000000"/>
                </a:solidFill>
                <a:latin typeface="Georgia" pitchFamily="34" charset="0"/>
                <a:ea typeface="Georgia" pitchFamily="34" charset="-122"/>
                <a:cs typeface="Georgia" pitchFamily="34" charset="-120"/>
              </a:rPr>
              <a:t>There is no time zero</a:t>
            </a:r>
            <a:r>
              <a:rPr lang="en-US" sz="1800" dirty="0">
                <a:solidFill>
                  <a:srgbClr val="000000"/>
                </a:solidFill>
                <a:latin typeface="Georgia" pitchFamily="34" charset="0"/>
                <a:ea typeface="Georgia" pitchFamily="34" charset="-122"/>
                <a:cs typeface="Georgia" pitchFamily="34" charset="-120"/>
              </a:rPr>
              <a:t>. Give NAC</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Rumack BH, Matthew H. Pediatrics 1975; US/Canada acetaminophen consensus 2023 [PMID: 37552484]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14/85</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pic>
        <p:nvPicPr>
          <p:cNvPr id="3" name="Image 0" descr="Lee 2009 NAC trial: title">    </p:cNvPr>
          <p:cNvPicPr>
            <a:picLocks noChangeAspect="1"/>
          </p:cNvPicPr>
          <p:nvPr/>
        </p:nvPicPr>
        <p:blipFill>
          <a:blip r:embed="rId1"/>
          <a:stretch>
            <a:fillRect/>
          </a:stretch>
        </p:blipFill>
        <p:spPr>
          <a:xfrm>
            <a:off x="1280160" y="1097280"/>
            <a:ext cx="9631375" cy="1579112"/>
          </a:xfrm>
          <a:prstGeom prst="rect">
            <a:avLst/>
          </a:prstGeom>
        </p:spPr>
      </p:pic>
      <p:sp>
        <p:nvSpPr>
          <p:cNvPr id="4" name="Question"/>
          <p:cNvSpPr txBox="1"/>
          <p:nvPr/>
        </p:nvSpPr>
        <p:spPr>
          <a:xfrm>
            <a:off x="822960" y="3225032"/>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2009;137:856-64 [PMID: 19524577]</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15/85</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pic>
        <p:nvPicPr>
          <p:cNvPr id="3" name="Image 0" descr="Lee 2009 NAC trial: title">    </p:cNvPr>
          <p:cNvPicPr>
            <a:picLocks noChangeAspect="1"/>
          </p:cNvPicPr>
          <p:nvPr/>
        </p:nvPicPr>
        <p:blipFill>
          <a:blip r:embed="rId1"/>
          <a:stretch>
            <a:fillRect/>
          </a:stretch>
        </p:blipFill>
        <p:spPr>
          <a:xfrm>
            <a:off x="2372490" y="1097280"/>
            <a:ext cx="7446716" cy="2743200"/>
          </a:xfrm>
          <a:prstGeom prst="rect">
            <a:avLst/>
          </a:prstGeom>
        </p:spPr>
      </p:pic>
      <p:pic>
        <p:nvPicPr>
          <p:cNvPr id="4" name="Image 1" descr="Lee 2009 NAC trial">    </p:cNvPr>
          <p:cNvPicPr>
            <a:picLocks noChangeAspect="1"/>
          </p:cNvPicPr>
          <p:nvPr/>
        </p:nvPicPr>
        <p:blipFill>
          <a:blip r:embed="rId2"/>
          <a:stretch>
            <a:fillRect/>
          </a:stretch>
        </p:blipFill>
        <p:spPr>
          <a:xfrm>
            <a:off x="1280160" y="4069080"/>
            <a:ext cx="9631375" cy="1170908"/>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2009;137:856-64 [PMID: 19524577]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15/85</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sp>
        <p:nvSpPr>
          <p:cNvPr id="3" name="Body"/>
          <p:cNvSpPr txBox="1"/>
          <p:nvPr/>
        </p:nvSpPr>
        <p:spPr>
          <a:xfrm>
            <a:off x="822960" y="114300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Adult non-acetaminophen ALF, randomized, NAC vs placebo, 173 patients</a:t>
            </a:r>
            <a:endParaRPr lang="en-US" sz="1900" dirty="0"/>
          </a:p>
        </p:txBody>
      </p:sp>
      <p:graphicFrame>
        <p:nvGraphicFramePr>
          <p:cNvPr id="4" name="Chart 0" descr=""/>
          <p:cNvGraphicFramePr/>
          <p:nvPr/>
        </p:nvGraphicFramePr>
        <p:xfrm>
          <a:off x="640080" y="1645920"/>
          <a:ext cx="7223760" cy="374904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8138160" y="1645920"/>
          <a:ext cx="3383280" cy="3310128"/>
        </p:xfrm>
        <a:graphic xmlns:a="http://schemas.openxmlformats.org/drawingml/2006/main">
          <a:graphicData uri="http://schemas.openxmlformats.org/drawingml/2006/chart">
            <c:chart xmlns:c="http://schemas.openxmlformats.org/drawingml/2006/chart" r:id="rId2"/>
          </a:graphicData>
        </a:graphic>
      </p:graphicFrame>
      <p:sp>
        <p:nvSpPr>
          <p:cNvPr id="6" name="Body"/>
          <p:cNvSpPr txBox="1"/>
          <p:nvPr/>
        </p:nvSpPr>
        <p:spPr>
          <a:xfrm>
            <a:off x="822960" y="5532120"/>
            <a:ext cx="10545775" cy="640080"/>
          </a:xfrm>
          <a:prstGeom prst="rect">
            <a:avLst/>
          </a:prstGeom>
          <a:noFill/>
          <a:ln/>
        </p:spPr>
        <p:txBody>
          <a:bodyPr wrap="square" lIns="50800" tIns="50800" rIns="50800" bIns="50800" rtlCol="0" anchor="t"/>
          <a:lstStyle/>
          <a:p>
            <a:pPr algn="ctr" indent="0" marL="0">
              <a:spcBef>
                <a:spcPts val="800"/>
              </a:spcBef>
              <a:buNone/>
            </a:pPr>
            <a:r>
              <a:rPr lang="en-US" sz="1900" b="1" dirty="0">
                <a:solidFill>
                  <a:srgbClr val="000000"/>
                </a:solidFill>
                <a:latin typeface="Georgia" pitchFamily="34" charset="0"/>
                <a:ea typeface="Georgia" pitchFamily="34" charset="-122"/>
                <a:cs typeface="Georgia" pitchFamily="34" charset="-120"/>
              </a:rPr>
              <a:t>Reasonable in early non-acetaminophen ALF. Don't extrapolate to advanced coma, children or ACLF</a:t>
            </a:r>
            <a:endParaRPr lang="en-US" sz="19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 [PMID: 19524577]</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16/85</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26" name="Table"/>
          <p:cNvGraphicFramePr>
            <a:graphicFrameLocks noGrp="1"/>
          </p:cNvGraphicFramePr>
          <p:nvPr>
            <p:extLst>
              <p:ext uri="{D42A27DB-BD31-4B8C-83A1-F6EECF244321}">
                <p14:modId xmlns:p14="http://schemas.microsoft.com/office/powerpoint/2010/main" val="1579011935"/>
              </p:ext>
            </p:extLst>
          </p:nvPr>
        </p:nvGraphicFramePr>
        <p:xfrm>
          <a:off x="1371600" y="1280160"/>
          <a:ext cx="9448495" cy="914400"/>
        </p:xfrm>
        <a:graphic>
          <a:graphicData uri="http://schemas.openxmlformats.org/drawingml/2006/table">
            <a:tbl>
              <a:tblPr/>
              <a:tblGrid>
                <a:gridCol w="2496312"/>
                <a:gridCol w="2724912"/>
                <a:gridCol w="4224528"/>
              </a:tblGrid>
              <a:tr h="404165">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Hour 12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Mental status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Disoriented, asterixis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Responds only to voice (grade III)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Ammonia (arterial)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Not sent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182 μmol/L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OK</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15 mL/h for 4 hours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Lactate (after 3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2.1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4.6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1.0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Sodium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133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Glucose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54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Needs D10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3035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worries you most?</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17/85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27" name="Table"/>
          <p:cNvGraphicFramePr>
            <a:graphicFrameLocks noGrp="1"/>
          </p:cNvGraphicFramePr>
          <p:nvPr>
            <p:extLst>
              <p:ext uri="{D42A27DB-BD31-4B8C-83A1-F6EECF244321}">
                <p14:modId xmlns:p14="http://schemas.microsoft.com/office/powerpoint/2010/main" val="1579011935"/>
              </p:ext>
            </p:extLst>
          </p:nvPr>
        </p:nvGraphicFramePr>
        <p:xfrm>
          <a:off x="1371600" y="1280160"/>
          <a:ext cx="9448495" cy="914400"/>
        </p:xfrm>
        <a:graphic>
          <a:graphicData uri="http://schemas.openxmlformats.org/drawingml/2006/table">
            <a:tbl>
              <a:tblPr/>
              <a:tblGrid>
                <a:gridCol w="2496312"/>
                <a:gridCol w="2724912"/>
                <a:gridCol w="4224528"/>
              </a:tblGrid>
              <a:tr h="404165">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Hour 12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Mental status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Disoriented, asterixis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Responds only to voice (grade III)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Ammonia (arterial)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Not sent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182 μmol/L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OK</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15 mL/h for 4 hours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Lactate (after 3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2.1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4.6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1.0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Sodium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133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Glucose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54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Needs D10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highlight>
                  <a:srgbClr val="FFFF00"/>
                </a:highlight>
                <a:latin typeface="Georgia" pitchFamily="34" charset="0"/>
                <a:ea typeface="Georgia" pitchFamily="34" charset="-122"/>
                <a:cs typeface="Georgia" pitchFamily="34" charset="-120"/>
              </a:rPr>
              <a:t>Her brain</a:t>
            </a:r>
            <a:endParaRPr lang="en-US" sz="2600" dirty="0"/>
          </a:p>
        </p:txBody>
      </p:sp>
      <p:sp>
        <p:nvSpPr>
          <p:cNvPr id="5"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When do you intubate?  Do you wait for the creatinine before dialysis?</a:t>
            </a:r>
            <a:endParaRPr lang="en-US" sz="2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17/85</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Image 0" descr="Watercolor of a brain in coronal section">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Ammonia and the brain</a:t>
            </a:r>
            <a:endParaRPr lang="en-US" sz="48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18/85</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does the brain swell?</a:t>
            </a:r>
            <a:endParaRPr lang="en-US" sz="3000" dirty="0"/>
          </a:p>
        </p:txBody>
      </p:sp>
      <p:sp>
        <p:nvSpPr>
          <p:cNvPr id="3" name="Box"/>
          <p:cNvSpPr/>
          <p:nvPr/>
        </p:nvSpPr>
        <p:spPr>
          <a:xfrm>
            <a:off x="731520" y="1371600"/>
            <a:ext cx="2743200" cy="777240"/>
          </a:xfrm>
          <a:prstGeom prst="rect">
            <a:avLst/>
          </a:prstGeom>
          <a:solidFill>
            <a:srgbClr val="FFFFFF"/>
          </a:solidFill>
          <a:ln w="12700">
            <a:solidFill>
              <a:srgbClr val="000000"/>
            </a:solidFill>
            <a:prstDash val="solid"/>
          </a:ln>
        </p:spPr>
      </p:sp>
      <p:sp>
        <p:nvSpPr>
          <p:cNvPr id="4" name="Text 2"/>
          <p:cNvSpPr txBox="1"/>
          <p:nvPr/>
        </p:nvSpPr>
        <p:spPr>
          <a:xfrm>
            <a:off x="731520" y="1371600"/>
            <a:ext cx="27432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Liver can't clear ammonia</a:t>
            </a:r>
            <a:endParaRPr lang="en-US" sz="1600" dirty="0"/>
          </a:p>
        </p:txBody>
      </p:sp>
      <p:sp>
        <p:nvSpPr>
          <p:cNvPr id="5" name="Box"/>
          <p:cNvSpPr/>
          <p:nvPr/>
        </p:nvSpPr>
        <p:spPr>
          <a:xfrm>
            <a:off x="4023360" y="1371600"/>
            <a:ext cx="2743200" cy="777240"/>
          </a:xfrm>
          <a:prstGeom prst="rect">
            <a:avLst/>
          </a:prstGeom>
          <a:solidFill>
            <a:srgbClr val="FFFFFF"/>
          </a:solidFill>
          <a:ln w="12700">
            <a:solidFill>
              <a:srgbClr val="000000"/>
            </a:solidFill>
            <a:prstDash val="solid"/>
          </a:ln>
        </p:spPr>
      </p:sp>
      <p:sp>
        <p:nvSpPr>
          <p:cNvPr id="6" name="Text 4"/>
          <p:cNvSpPr txBox="1"/>
          <p:nvPr/>
        </p:nvSpPr>
        <p:spPr>
          <a:xfrm>
            <a:off x="4023360" y="1371600"/>
            <a:ext cx="27432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Astrocytes take up ammonia</a:t>
            </a:r>
            <a:endParaRPr lang="en-US" sz="1600" dirty="0"/>
          </a:p>
        </p:txBody>
      </p:sp>
      <p:sp>
        <p:nvSpPr>
          <p:cNvPr id="7" name="Box"/>
          <p:cNvSpPr/>
          <p:nvPr/>
        </p:nvSpPr>
        <p:spPr>
          <a:xfrm>
            <a:off x="7315200" y="1371600"/>
            <a:ext cx="3657600" cy="777240"/>
          </a:xfrm>
          <a:prstGeom prst="rect">
            <a:avLst/>
          </a:prstGeom>
          <a:solidFill>
            <a:srgbClr val="FFFFFF"/>
          </a:solidFill>
          <a:ln w="12700">
            <a:solidFill>
              <a:srgbClr val="000000"/>
            </a:solidFill>
            <a:prstDash val="solid"/>
          </a:ln>
        </p:spPr>
      </p:sp>
      <p:sp>
        <p:nvSpPr>
          <p:cNvPr id="8" name="Text 6"/>
          <p:cNvSpPr txBox="1"/>
          <p:nvPr/>
        </p:nvSpPr>
        <p:spPr>
          <a:xfrm>
            <a:off x="7315200" y="1371600"/>
            <a:ext cx="36576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Ammonia + glutamate → glutamine</a:t>
            </a:r>
            <a:endParaRPr lang="en-US" sz="1600" dirty="0"/>
          </a:p>
        </p:txBody>
      </p:sp>
      <p:sp>
        <p:nvSpPr>
          <p:cNvPr id="9" name="Arrow"/>
          <p:cNvSpPr/>
          <p:nvPr/>
        </p:nvSpPr>
        <p:spPr>
          <a:xfrm>
            <a:off x="3474720" y="1760220"/>
            <a:ext cx="548640" cy="914"/>
          </a:xfrm>
          <a:prstGeom prst="line">
            <a:avLst/>
          </a:prstGeom>
          <a:noFill/>
          <a:ln w="19050">
            <a:solidFill>
              <a:srgbClr val="000000"/>
            </a:solidFill>
            <a:prstDash val="solid"/>
            <a:tailEnd type="triangle"/>
          </a:ln>
        </p:spPr>
      </p:sp>
      <p:sp>
        <p:nvSpPr>
          <p:cNvPr id="10" name="Arrow"/>
          <p:cNvSpPr/>
          <p:nvPr/>
        </p:nvSpPr>
        <p:spPr>
          <a:xfrm>
            <a:off x="6766560" y="1760220"/>
            <a:ext cx="548640" cy="914"/>
          </a:xfrm>
          <a:prstGeom prst="line">
            <a:avLst/>
          </a:prstGeom>
          <a:noFill/>
          <a:ln w="19050">
            <a:solidFill>
              <a:srgbClr val="000000"/>
            </a:solidFill>
            <a:prstDash val="solid"/>
            <a:tailEnd type="triangle"/>
          </a:ln>
        </p:spPr>
      </p:sp>
      <p:sp>
        <p:nvSpPr>
          <p:cNvPr id="11" name="Box"/>
          <p:cNvSpPr/>
          <p:nvPr/>
        </p:nvSpPr>
        <p:spPr>
          <a:xfrm>
            <a:off x="7315200" y="2743200"/>
            <a:ext cx="3657600" cy="777240"/>
          </a:xfrm>
          <a:prstGeom prst="rect">
            <a:avLst/>
          </a:prstGeom>
          <a:solidFill>
            <a:srgbClr val="FFFFFF"/>
          </a:solidFill>
          <a:ln w="12700">
            <a:solidFill>
              <a:srgbClr val="000000"/>
            </a:solidFill>
            <a:prstDash val="solid"/>
          </a:ln>
        </p:spPr>
      </p:sp>
      <p:sp>
        <p:nvSpPr>
          <p:cNvPr id="12" name="Text 10"/>
          <p:cNvSpPr txBox="1"/>
          <p:nvPr/>
        </p:nvSpPr>
        <p:spPr>
          <a:xfrm>
            <a:off x="7315200" y="2743200"/>
            <a:ext cx="36576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Glutamine pulls in water, mitochondria fail</a:t>
            </a:r>
            <a:endParaRPr lang="en-US" sz="1600" dirty="0"/>
          </a:p>
        </p:txBody>
      </p:sp>
      <p:sp>
        <p:nvSpPr>
          <p:cNvPr id="13" name="Arrow"/>
          <p:cNvSpPr/>
          <p:nvPr/>
        </p:nvSpPr>
        <p:spPr>
          <a:xfrm>
            <a:off x="9144000" y="2148840"/>
            <a:ext cx="914" cy="594360"/>
          </a:xfrm>
          <a:prstGeom prst="line">
            <a:avLst/>
          </a:prstGeom>
          <a:noFill/>
          <a:ln w="19050">
            <a:solidFill>
              <a:srgbClr val="000000"/>
            </a:solidFill>
            <a:prstDash val="solid"/>
            <a:tailEnd type="triangle"/>
          </a:ln>
        </p:spPr>
      </p:sp>
      <p:sp>
        <p:nvSpPr>
          <p:cNvPr id="14" name="Box"/>
          <p:cNvSpPr/>
          <p:nvPr/>
        </p:nvSpPr>
        <p:spPr>
          <a:xfrm>
            <a:off x="4023360" y="2743200"/>
            <a:ext cx="2743200" cy="777240"/>
          </a:xfrm>
          <a:prstGeom prst="rect">
            <a:avLst/>
          </a:prstGeom>
          <a:solidFill>
            <a:srgbClr val="FFFFFF"/>
          </a:solidFill>
          <a:ln w="12700">
            <a:solidFill>
              <a:srgbClr val="000000"/>
            </a:solidFill>
            <a:prstDash val="solid"/>
          </a:ln>
        </p:spPr>
      </p:sp>
      <p:sp>
        <p:nvSpPr>
          <p:cNvPr id="15" name="Text 13"/>
          <p:cNvSpPr txBox="1"/>
          <p:nvPr/>
        </p:nvSpPr>
        <p:spPr>
          <a:xfrm>
            <a:off x="4023360" y="2743200"/>
            <a:ext cx="2743200" cy="777240"/>
          </a:xfrm>
          <a:prstGeom prst="rect">
            <a:avLst/>
          </a:prstGeom>
          <a:noFill/>
          <a:ln/>
        </p:spPr>
        <p:txBody>
          <a:bodyPr wrap="square" lIns="50800" tIns="50800" rIns="50800" bIns="50800" rtlCol="0" anchor="ctr"/>
          <a:lstStyle/>
          <a:p>
            <a:pPr algn="ctr" indent="0" marL="0">
              <a:buNone/>
            </a:pPr>
            <a:r>
              <a:rPr lang="en-US" sz="1600" b="1" dirty="0">
                <a:solidFill>
                  <a:srgbClr val="000000"/>
                </a:solidFill>
                <a:latin typeface="Georgia" pitchFamily="34" charset="0"/>
                <a:ea typeface="Georgia" pitchFamily="34" charset="-122"/>
                <a:cs typeface="Georgia" pitchFamily="34" charset="-120"/>
              </a:rPr>
              <a:t>Astrocyte swelling, cerebral edema</a:t>
            </a:r>
            <a:endParaRPr lang="en-US" sz="1600" dirty="0"/>
          </a:p>
        </p:txBody>
      </p:sp>
      <p:sp>
        <p:nvSpPr>
          <p:cNvPr id="16" name="Arrow"/>
          <p:cNvSpPr/>
          <p:nvPr/>
        </p:nvSpPr>
        <p:spPr>
          <a:xfrm flipH="1">
            <a:off x="6766560" y="3131820"/>
            <a:ext cx="548640" cy="914"/>
          </a:xfrm>
          <a:prstGeom prst="line">
            <a:avLst/>
          </a:prstGeom>
          <a:noFill/>
          <a:ln w="19050">
            <a:solidFill>
              <a:srgbClr val="000000"/>
            </a:solidFill>
            <a:prstDash val="solid"/>
            <a:tailEnd type="triangle"/>
          </a:ln>
        </p:spPr>
      </p:sp>
      <p:sp>
        <p:nvSpPr>
          <p:cNvPr id="17" name="Box"/>
          <p:cNvSpPr/>
          <p:nvPr/>
        </p:nvSpPr>
        <p:spPr>
          <a:xfrm>
            <a:off x="731520" y="2743200"/>
            <a:ext cx="2743200" cy="777240"/>
          </a:xfrm>
          <a:prstGeom prst="rect">
            <a:avLst/>
          </a:prstGeom>
          <a:solidFill>
            <a:srgbClr val="FFFFFF"/>
          </a:solidFill>
          <a:ln w="12700">
            <a:solidFill>
              <a:srgbClr val="C00000"/>
            </a:solidFill>
            <a:prstDash val="solid"/>
          </a:ln>
        </p:spPr>
      </p:sp>
      <p:sp>
        <p:nvSpPr>
          <p:cNvPr id="18" name="Text 16"/>
          <p:cNvSpPr txBox="1"/>
          <p:nvPr/>
        </p:nvSpPr>
        <p:spPr>
          <a:xfrm>
            <a:off x="731520" y="2743200"/>
            <a:ext cx="2743200" cy="777240"/>
          </a:xfrm>
          <a:prstGeom prst="rect">
            <a:avLst/>
          </a:prstGeom>
          <a:noFill/>
          <a:ln/>
        </p:spPr>
        <p:txBody>
          <a:bodyPr wrap="square" lIns="50800" tIns="50800" rIns="50800" bIns="50800" rtlCol="0" anchor="ctr"/>
          <a:lstStyle/>
          <a:p>
            <a:pPr algn="ctr" indent="0" marL="0">
              <a:buNone/>
            </a:pPr>
            <a:r>
              <a:rPr lang="en-US" sz="1600" b="1" dirty="0">
                <a:solidFill>
                  <a:srgbClr val="C00000"/>
                </a:solidFill>
                <a:latin typeface="Georgia" pitchFamily="34" charset="0"/>
                <a:ea typeface="Georgia" pitchFamily="34" charset="-122"/>
                <a:cs typeface="Georgia" pitchFamily="34" charset="-120"/>
              </a:rPr>
              <a:t>Intracranial hypertension, herniation</a:t>
            </a:r>
            <a:endParaRPr lang="en-US" sz="1600" dirty="0"/>
          </a:p>
        </p:txBody>
      </p:sp>
      <p:sp>
        <p:nvSpPr>
          <p:cNvPr id="19" name="Arrow"/>
          <p:cNvSpPr/>
          <p:nvPr/>
        </p:nvSpPr>
        <p:spPr>
          <a:xfrm flipH="1">
            <a:off x="3474720" y="3131820"/>
            <a:ext cx="548640" cy="914"/>
          </a:xfrm>
          <a:prstGeom prst="line">
            <a:avLst/>
          </a:prstGeom>
          <a:noFill/>
          <a:ln w="19050">
            <a:solidFill>
              <a:srgbClr val="000000"/>
            </a:solidFill>
            <a:prstDash val="solid"/>
            <a:tailEnd type="triangle"/>
          </a:ln>
        </p:spPr>
      </p:sp>
      <p:sp>
        <p:nvSpPr>
          <p:cNvPr id="20" name="Body"/>
          <p:cNvSpPr txBox="1"/>
          <p:nvPr/>
        </p:nvSpPr>
        <p:spPr>
          <a:xfrm>
            <a:off x="822960" y="4023360"/>
            <a:ext cx="10545775" cy="2194560"/>
          </a:xfrm>
          <a:prstGeom prst="rect">
            <a:avLst/>
          </a:prstGeom>
          <a:noFill/>
          <a:ln/>
        </p:spPr>
        <p:txBody>
          <a:bodyPr wrap="square" lIns="50800" tIns="50800" rIns="50800" bIns="50800" rtlCol="0" anchor="t"/>
          <a:lstStyle/>
          <a:p>
            <a:pPr marL="228600" indent="-228600">
              <a:spcBef>
                <a:spcPts val="800"/>
              </a:spcBef>
              <a:buSzPct val="100000"/>
              <a:buChar char="–"/>
            </a:pPr>
            <a:r>
              <a:rPr lang="en-US" sz="1900" b="1" dirty="0">
                <a:solidFill>
                  <a:srgbClr val="000000"/>
                </a:solidFill>
                <a:latin typeface="Georgia" pitchFamily="34" charset="0"/>
                <a:ea typeface="Georgia" pitchFamily="34" charset="-122"/>
                <a:cs typeface="Georgia" pitchFamily="34" charset="-120"/>
              </a:rPr>
              <a:t>Makes it worse: </a:t>
            </a:r>
            <a:r>
              <a:rPr lang="en-US" sz="1900" dirty="0">
                <a:solidFill>
                  <a:srgbClr val="000000"/>
                </a:solidFill>
                <a:latin typeface="Georgia" pitchFamily="34" charset="0"/>
                <a:ea typeface="Georgia" pitchFamily="34" charset="-122"/>
                <a:cs typeface="Georgia" pitchFamily="34" charset="-120"/>
              </a:rPr>
              <a:t>inflammation and infection, loss of autoregulation, fever, low sodium</a:t>
            </a:r>
            <a:endParaRPr lang="en-US" sz="1900" dirty="0"/>
          </a:p>
          <a:p>
            <a:pPr marL="228600" indent="-228600">
              <a:spcBef>
                <a:spcPts val="800"/>
              </a:spcBef>
              <a:buSzPct val="100000"/>
              <a:buChar char="–"/>
            </a:pPr>
            <a:r>
              <a:rPr lang="en-US" sz="1900" b="1" dirty="0">
                <a:solidFill>
                  <a:srgbClr val="000000"/>
                </a:solidFill>
                <a:latin typeface="Georgia" pitchFamily="34" charset="0"/>
                <a:ea typeface="Georgia" pitchFamily="34" charset="-122"/>
                <a:cs typeface="Georgia" pitchFamily="34" charset="-120"/>
              </a:rPr>
              <a:t>Highest risk: </a:t>
            </a:r>
            <a:r>
              <a:rPr lang="en-US" sz="1900" dirty="0">
                <a:solidFill>
                  <a:srgbClr val="000000"/>
                </a:solidFill>
                <a:latin typeface="Georgia" pitchFamily="34" charset="0"/>
                <a:ea typeface="Georgia" pitchFamily="34" charset="-122"/>
                <a:cs typeface="Georgia" pitchFamily="34" charset="-120"/>
              </a:rPr>
              <a:t>hyperacute course, young, grade III-IV encephalopathy, ammonia persistently above 150 to 200 μmol/L, AKI, vasopressors</a:t>
            </a:r>
            <a:endParaRPr lang="en-US" sz="1900" dirty="0"/>
          </a:p>
        </p:txBody>
      </p:sp>
      <p:sp>
        <p:nvSpPr>
          <p:cNvPr id="21"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a:t>
            </a:r>
            <a:endParaRPr lang="en-US" sz="1000" dirty="0"/>
          </a:p>
        </p:txBody>
      </p:sp>
      <p:sp>
        <p:nvSpPr>
          <p:cNvPr id="23"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19/85</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ammonia, different brain</a:t>
            </a:r>
            <a:endParaRPr lang="en-US" sz="3000" dirty="0"/>
          </a:p>
        </p:txBody>
      </p:sp>
      <p:sp>
        <p:nvSpPr>
          <p:cNvPr id="3" name="Question"/>
          <p:cNvSpPr txBox="1"/>
          <p:nvPr/>
        </p:nvSpPr>
        <p:spPr>
          <a:xfrm>
            <a:off x="822960" y="2743200"/>
            <a:ext cx="10545775" cy="109728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Why do patients with cirrhosis rarely get cerebral edema, even with a high ammonia?</a:t>
            </a:r>
            <a:endParaRPr lang="en-US" sz="26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20/85</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ammonia, different brain</a:t>
            </a:r>
            <a:endParaRPr lang="en-US" sz="3000" dirty="0"/>
          </a:p>
        </p:txBody>
      </p:sp>
      <p:pic>
        <p:nvPicPr>
          <p:cNvPr id="3" name="Image 0" descr="Brain histology with an Alzheimer type II astrocyte and normal glial nuclei">    </p:cNvPr>
          <p:cNvPicPr>
            <a:picLocks noChangeAspect="1"/>
          </p:cNvPicPr>
          <p:nvPr/>
        </p:nvPicPr>
        <p:blipFill>
          <a:blip r:embed="rId1"/>
          <a:stretch>
            <a:fillRect/>
          </a:stretch>
        </p:blipFill>
        <p:spPr>
          <a:xfrm>
            <a:off x="548640" y="1188720"/>
            <a:ext cx="4937760" cy="3685032"/>
          </a:xfrm>
          <a:prstGeom prst="rect">
            <a:avLst/>
          </a:prstGeom>
        </p:spPr>
      </p:pic>
      <p:sp>
        <p:nvSpPr>
          <p:cNvPr id="4" name="Text 1"/>
          <p:cNvSpPr txBox="1"/>
          <p:nvPr/>
        </p:nvSpPr>
        <p:spPr>
          <a:xfrm>
            <a:off x="548640" y="4983480"/>
            <a:ext cx="3017520" cy="548640"/>
          </a:xfrm>
          <a:prstGeom prst="rect">
            <a:avLst/>
          </a:prstGeom>
          <a:noFill/>
          <a:ln/>
        </p:spPr>
        <p:txBody>
          <a:bodyPr wrap="square" lIns="0" tIns="0" rIns="0" bIns="0" rtlCol="0" anchor="t"/>
          <a:lstStyle/>
          <a:p>
            <a:pPr indent="0" marL="0">
              <a:buNone/>
            </a:pPr>
            <a:r>
              <a:rPr lang="en-US" sz="1300" b="1" dirty="0">
                <a:solidFill>
                  <a:srgbClr val="000000"/>
                </a:solidFill>
                <a:latin typeface="Georgia" pitchFamily="34" charset="0"/>
                <a:ea typeface="Georgia" pitchFamily="34" charset="-122"/>
                <a:cs typeface="Georgia" pitchFamily="34" charset="-120"/>
              </a:rPr>
              <a:t>Alzheimer type II astrocyte: </a:t>
            </a:r>
            <a:r>
              <a:rPr lang="en-US" sz="1300" dirty="0">
                <a:solidFill>
                  <a:srgbClr val="000000"/>
                </a:solidFill>
                <a:latin typeface="Georgia" pitchFamily="34" charset="0"/>
                <a:ea typeface="Georgia" pitchFamily="34" charset="-122"/>
                <a:cs typeface="Georgia" pitchFamily="34" charset="-120"/>
              </a:rPr>
              <a:t>big, pale nucleus</a:t>
            </a:r>
            <a:endParaRPr lang="en-US" sz="1300" dirty="0"/>
          </a:p>
        </p:txBody>
      </p:sp>
      <p:sp>
        <p:nvSpPr>
          <p:cNvPr id="5" name="Pointer"/>
          <p:cNvSpPr/>
          <p:nvPr/>
        </p:nvSpPr>
        <p:spPr>
          <a:xfrm flipV="1">
            <a:off x="1097280" y="3399739"/>
            <a:ext cx="1574597" cy="1556309"/>
          </a:xfrm>
          <a:prstGeom prst="line">
            <a:avLst/>
          </a:prstGeom>
          <a:noFill/>
          <a:ln w="25400">
            <a:solidFill>
              <a:srgbClr val="000000"/>
            </a:solidFill>
            <a:prstDash val="solid"/>
            <a:tailEnd type="triangle"/>
          </a:ln>
        </p:spPr>
      </p:sp>
      <p:sp>
        <p:nvSpPr>
          <p:cNvPr id="6" name="Text 3"/>
          <p:cNvSpPr txBox="1"/>
          <p:nvPr/>
        </p:nvSpPr>
        <p:spPr>
          <a:xfrm>
            <a:off x="3749040" y="4983480"/>
            <a:ext cx="2377440" cy="548640"/>
          </a:xfrm>
          <a:prstGeom prst="rect">
            <a:avLst/>
          </a:prstGeom>
          <a:noFill/>
          <a:ln/>
        </p:spPr>
        <p:txBody>
          <a:bodyPr wrap="square" lIns="0" tIns="0" rIns="0" bIns="0" rtlCol="0" anchor="t"/>
          <a:lstStyle/>
          <a:p>
            <a:pPr indent="0" marL="0">
              <a:buNone/>
            </a:pPr>
            <a:r>
              <a:rPr lang="en-US" sz="1300" b="1" dirty="0">
                <a:solidFill>
                  <a:srgbClr val="000000"/>
                </a:solidFill>
                <a:latin typeface="Georgia" pitchFamily="34" charset="0"/>
                <a:ea typeface="Georgia" pitchFamily="34" charset="-122"/>
                <a:cs typeface="Georgia" pitchFamily="34" charset="-120"/>
              </a:rPr>
              <a:t>Normal glial nucleus: </a:t>
            </a:r>
            <a:r>
              <a:rPr lang="en-US" sz="1300" dirty="0">
                <a:solidFill>
                  <a:srgbClr val="000000"/>
                </a:solidFill>
                <a:latin typeface="Georgia" pitchFamily="34" charset="0"/>
                <a:ea typeface="Georgia" pitchFamily="34" charset="-122"/>
                <a:cs typeface="Georgia" pitchFamily="34" charset="-120"/>
              </a:rPr>
              <a:t>small and dark</a:t>
            </a:r>
            <a:endParaRPr lang="en-US" sz="1300" dirty="0"/>
          </a:p>
        </p:txBody>
      </p:sp>
      <p:sp>
        <p:nvSpPr>
          <p:cNvPr id="7" name="Pointer"/>
          <p:cNvSpPr/>
          <p:nvPr/>
        </p:nvSpPr>
        <p:spPr>
          <a:xfrm flipV="1">
            <a:off x="4297680" y="3141787"/>
            <a:ext cx="102413" cy="1814261"/>
          </a:xfrm>
          <a:prstGeom prst="line">
            <a:avLst/>
          </a:prstGeom>
          <a:noFill/>
          <a:ln w="25400">
            <a:solidFill>
              <a:srgbClr val="000000"/>
            </a:solidFill>
            <a:prstDash val="solid"/>
            <a:tailEnd type="triangle"/>
          </a:ln>
        </p:spPr>
      </p:sp>
      <p:sp>
        <p:nvSpPr>
          <p:cNvPr id="8" name="Body"/>
          <p:cNvSpPr txBox="1"/>
          <p:nvPr/>
        </p:nvSpPr>
        <p:spPr>
          <a:xfrm>
            <a:off x="6035040" y="1234440"/>
            <a:ext cx="5608015" cy="4206240"/>
          </a:xfrm>
          <a:prstGeom prst="rect">
            <a:avLst/>
          </a:prstGeom>
          <a:noFill/>
          <a:ln/>
        </p:spPr>
        <p:txBody>
          <a:bodyPr wrap="square" lIns="50800" tIns="50800" rIns="50800" bIns="50800" rtlCol="0" anchor="t"/>
          <a:lstStyle/>
          <a:p>
            <a:pPr marL="228600" indent="-228600">
              <a:spcBef>
                <a:spcPts val="1000"/>
              </a:spcBef>
              <a:buSzPct val="100000"/>
              <a:buChar char="–"/>
            </a:pPr>
            <a:r>
              <a:rPr lang="en-US" sz="1800" dirty="0">
                <a:solidFill>
                  <a:srgbClr val="000000"/>
                </a:solidFill>
                <a:latin typeface="Georgia" pitchFamily="34" charset="0"/>
                <a:ea typeface="Georgia" pitchFamily="34" charset="-122"/>
                <a:cs typeface="Georgia" pitchFamily="34" charset="-120"/>
              </a:rPr>
              <a:t>Astrocytes clear ammonia by turning it and glutamate into glutamine</a:t>
            </a:r>
            <a:endParaRPr lang="en-US" sz="1800" dirty="0"/>
          </a:p>
          <a:p>
            <a:pPr marL="228600" indent="-228600">
              <a:spcBef>
                <a:spcPts val="1000"/>
              </a:spcBef>
              <a:buSzPct val="100000"/>
              <a:buChar char="–"/>
            </a:pPr>
            <a:r>
              <a:rPr lang="en-US" sz="1800" dirty="0">
                <a:solidFill>
                  <a:srgbClr val="000000"/>
                </a:solidFill>
                <a:latin typeface="Georgia" pitchFamily="34" charset="0"/>
                <a:ea typeface="Georgia" pitchFamily="34" charset="-122"/>
                <a:cs typeface="Georgia" pitchFamily="34" charset="-120"/>
              </a:rPr>
              <a:t>Glutamine pulls water into the cell</a:t>
            </a:r>
            <a:endParaRPr lang="en-US" sz="1800" dirty="0"/>
          </a:p>
          <a:p>
            <a:pPr marL="228600" indent="-228600">
              <a:spcBef>
                <a:spcPts val="1000"/>
              </a:spcBef>
              <a:buSzPct val="100000"/>
              <a:buChar char="–"/>
            </a:pPr>
            <a:r>
              <a:rPr lang="en-US" sz="1800" b="1" dirty="0">
                <a:solidFill>
                  <a:srgbClr val="000000"/>
                </a:solidFill>
                <a:latin typeface="Georgia" pitchFamily="34" charset="0"/>
                <a:ea typeface="Georgia" pitchFamily="34" charset="-122"/>
                <a:cs typeface="Georgia" pitchFamily="34" charset="-120"/>
              </a:rPr>
              <a:t>Cirrhosis: </a:t>
            </a:r>
            <a:r>
              <a:rPr lang="en-US" sz="1800" dirty="0">
                <a:solidFill>
                  <a:srgbClr val="000000"/>
                </a:solidFill>
                <a:latin typeface="Georgia" pitchFamily="34" charset="0"/>
                <a:ea typeface="Georgia" pitchFamily="34" charset="-122"/>
                <a:cs typeface="Georgia" pitchFamily="34" charset="-120"/>
              </a:rPr>
              <a:t>over months the astrocyte pushes out other solutes (myo-inositol, taurine) to make room. It swells only a little. This is the cell you see under the microscope</a:t>
            </a:r>
            <a:endParaRPr lang="en-US" sz="1800" dirty="0"/>
          </a:p>
          <a:p>
            <a:pPr marL="228600" indent="-228600">
              <a:spcBef>
                <a:spcPts val="1000"/>
              </a:spcBef>
              <a:buSzPct val="100000"/>
              <a:buChar char="–"/>
            </a:pPr>
            <a:r>
              <a:rPr lang="en-US" sz="1800" b="1" dirty="0">
                <a:solidFill>
                  <a:srgbClr val="000000"/>
                </a:solidFill>
                <a:latin typeface="Georgia" pitchFamily="34" charset="0"/>
                <a:ea typeface="Georgia" pitchFamily="34" charset="-122"/>
                <a:cs typeface="Georgia" pitchFamily="34" charset="-120"/>
              </a:rPr>
              <a:t>ALF: </a:t>
            </a:r>
            <a:r>
              <a:rPr lang="en-US" sz="1800" dirty="0">
                <a:solidFill>
                  <a:srgbClr val="000000"/>
                </a:solidFill>
                <a:latin typeface="Georgia" pitchFamily="34" charset="0"/>
                <a:ea typeface="Georgia" pitchFamily="34" charset="-122"/>
                <a:cs typeface="Georgia" pitchFamily="34" charset="-120"/>
              </a:rPr>
              <a:t>the ammonia comes in days. No time to adapt, so the astrocytes swell and the brain swells with them</a:t>
            </a:r>
            <a:endParaRPr lang="en-US" sz="1800" dirty="0"/>
          </a:p>
        </p:txBody>
      </p:sp>
      <p:sp>
        <p:nvSpPr>
          <p:cNvPr id="9" name="Question"/>
          <p:cNvSpPr txBox="1"/>
          <p:nvPr/>
        </p:nvSpPr>
        <p:spPr>
          <a:xfrm>
            <a:off x="822960" y="571500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Cerebral edema is common in hyperacute ALF and rare in cirrhosis</a:t>
            </a:r>
            <a:endParaRPr lang="en-US" sz="2000" dirty="0"/>
          </a:p>
        </p:txBody>
      </p:sp>
      <p:sp>
        <p:nvSpPr>
          <p:cNvPr id="11"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20/85</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Ammonia: how high is too high?</a:t>
            </a:r>
            <a:endParaRPr lang="en-US" sz="3000" dirty="0"/>
          </a:p>
        </p:txBody>
      </p:sp>
      <p:pic>
        <p:nvPicPr>
          <p:cNvPr id="3" name="Image 0" descr="Bottle of household ammonia">    </p:cNvPr>
          <p:cNvPicPr>
            <a:picLocks noChangeAspect="1"/>
          </p:cNvPicPr>
          <p:nvPr/>
        </p:nvPicPr>
        <p:blipFill>
          <a:blip r:embed="rId1"/>
          <a:stretch>
            <a:fillRect/>
          </a:stretch>
        </p:blipFill>
        <p:spPr>
          <a:xfrm>
            <a:off x="320040" y="109728"/>
            <a:ext cx="457200" cy="1005840"/>
          </a:xfrm>
          <a:prstGeom prst="rect">
            <a:avLst/>
          </a:prstGeom>
        </p:spPr>
      </p:pic>
      <p:graphicFrame>
        <p:nvGraphicFramePr>
          <p:cNvPr id="4" name="Chart 0" descr=""/>
          <p:cNvGraphicFramePr/>
          <p:nvPr/>
        </p:nvGraphicFramePr>
        <p:xfrm>
          <a:off x="548640" y="1188720"/>
          <a:ext cx="5120640" cy="3749040"/>
        </p:xfrm>
        <a:graphic xmlns:a="http://schemas.openxmlformats.org/drawingml/2006/main">
          <a:graphicData uri="http://schemas.openxmlformats.org/drawingml/2006/chart">
            <c:chart xmlns:c="http://schemas.openxmlformats.org/drawingml/2006/chart" r:id="rId2"/>
          </a:graphicData>
        </a:graphic>
      </p:graphicFrame>
      <p:graphicFrame>
        <p:nvGraphicFramePr>
          <p:cNvPr id="5" name="Chart 1" descr=""/>
          <p:cNvGraphicFramePr/>
          <p:nvPr/>
        </p:nvGraphicFramePr>
        <p:xfrm>
          <a:off x="6217920" y="1188720"/>
          <a:ext cx="5486400" cy="3749040"/>
        </p:xfrm>
        <a:graphic xmlns:a="http://schemas.openxmlformats.org/drawingml/2006/main">
          <a:graphicData uri="http://schemas.openxmlformats.org/drawingml/2006/chart">
            <c:chart xmlns:c="http://schemas.openxmlformats.org/drawingml/2006/chart" r:id="rId3"/>
          </a:graphicData>
        </a:graphic>
      </p:graphicFrame>
      <p:sp>
        <p:nvSpPr>
          <p:cNvPr id="6"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So what number worries you?</a:t>
            </a:r>
            <a:endParaRPr lang="en-US" sz="24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JO et al. Hepatology 1999 [PMID: 10051463]; Kumar R et al. Clin Gastroenterol Hepatol 2012 [PMID: 22521861]; more studies in the appendix</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21/85</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Ammonia: how high is too high?</a:t>
            </a:r>
            <a:endParaRPr lang="en-US" sz="3000" dirty="0"/>
          </a:p>
        </p:txBody>
      </p:sp>
      <p:pic>
        <p:nvPicPr>
          <p:cNvPr id="3" name="Image 0" descr="Bottle of household ammonia">    </p:cNvPr>
          <p:cNvPicPr>
            <a:picLocks noChangeAspect="1"/>
          </p:cNvPicPr>
          <p:nvPr/>
        </p:nvPicPr>
        <p:blipFill>
          <a:blip r:embed="rId1"/>
          <a:stretch>
            <a:fillRect/>
          </a:stretch>
        </p:blipFill>
        <p:spPr>
          <a:xfrm>
            <a:off x="320040" y="109728"/>
            <a:ext cx="457200" cy="1005840"/>
          </a:xfrm>
          <a:prstGeom prst="rect">
            <a:avLst/>
          </a:prstGeom>
        </p:spPr>
      </p:pic>
      <p:graphicFrame>
        <p:nvGraphicFramePr>
          <p:cNvPr id="4" name="Chart 0" descr=""/>
          <p:cNvGraphicFramePr/>
          <p:nvPr/>
        </p:nvGraphicFramePr>
        <p:xfrm>
          <a:off x="548640" y="1188720"/>
          <a:ext cx="5120640" cy="3749040"/>
        </p:xfrm>
        <a:graphic xmlns:a="http://schemas.openxmlformats.org/drawingml/2006/main">
          <a:graphicData uri="http://schemas.openxmlformats.org/drawingml/2006/chart">
            <c:chart xmlns:c="http://schemas.openxmlformats.org/drawingml/2006/chart" r:id="rId2"/>
          </a:graphicData>
        </a:graphic>
      </p:graphicFrame>
      <p:sp>
        <p:nvSpPr>
          <p:cNvPr id="5" name="Line146"/>
          <p:cNvSpPr/>
          <p:nvPr/>
        </p:nvSpPr>
        <p:spPr>
          <a:xfrm>
            <a:off x="1265530" y="2836498"/>
            <a:ext cx="4198925" cy="0"/>
          </a:xfrm>
          <a:prstGeom prst="line">
            <a:avLst/>
          </a:prstGeom>
          <a:noFill/>
          <a:ln w="19050">
            <a:solidFill>
              <a:srgbClr val="000000"/>
            </a:solidFill>
            <a:prstDash val="dash"/>
          </a:ln>
        </p:spPr>
      </p:sp>
      <p:sp>
        <p:nvSpPr>
          <p:cNvPr id="6" name="Text 2"/>
          <p:cNvSpPr txBox="1"/>
          <p:nvPr/>
        </p:nvSpPr>
        <p:spPr>
          <a:xfrm>
            <a:off x="4915814" y="2507314"/>
            <a:ext cx="548640" cy="292608"/>
          </a:xfrm>
          <a:prstGeom prst="rect">
            <a:avLst/>
          </a:prstGeom>
          <a:noFill/>
          <a:ln/>
        </p:spPr>
        <p:txBody>
          <a:bodyPr wrap="square" lIns="0" tIns="0" rIns="0" bIns="0" rtlCol="0" anchor="ctr"/>
          <a:lstStyle/>
          <a:p>
            <a:pPr algn="r" indent="0" marL="0">
              <a:buNone/>
            </a:pPr>
            <a:r>
              <a:rPr lang="en-US" sz="1400" b="1" dirty="0">
                <a:solidFill>
                  <a:srgbClr val="000000"/>
                </a:solidFill>
                <a:latin typeface="Calibri" pitchFamily="34" charset="0"/>
                <a:ea typeface="Calibri" pitchFamily="34" charset="-122"/>
                <a:cs typeface="Calibri" pitchFamily="34" charset="-120"/>
              </a:rPr>
              <a:t>146</a:t>
            </a:r>
            <a:endParaRPr lang="en-US" sz="1400" dirty="0"/>
          </a:p>
        </p:txBody>
      </p:sp>
      <p:graphicFrame>
        <p:nvGraphicFramePr>
          <p:cNvPr id="7" name="Chart 1" descr=""/>
          <p:cNvGraphicFramePr/>
          <p:nvPr/>
        </p:nvGraphicFramePr>
        <p:xfrm>
          <a:off x="6217920" y="1188720"/>
          <a:ext cx="5486400" cy="3749040"/>
        </p:xfrm>
        <a:graphic xmlns:a="http://schemas.openxmlformats.org/drawingml/2006/main">
          <a:graphicData uri="http://schemas.openxmlformats.org/drawingml/2006/chart">
            <c:chart xmlns:c="http://schemas.openxmlformats.org/drawingml/2006/chart" r:id="rId3"/>
          </a:graphicData>
        </a:graphic>
      </p:graphicFrame>
      <p:sp>
        <p:nvSpPr>
          <p:cNvPr id="8"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Above 150 to 200 and not falling: worry about the brain</a:t>
            </a:r>
            <a:endParaRPr lang="en-US" sz="2200" dirty="0"/>
          </a:p>
        </p:txBody>
      </p:sp>
      <p:sp>
        <p:nvSpPr>
          <p:cNvPr id="9"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No single level rules ICH in or out. Read it with the HE grade and the trend</a:t>
            </a:r>
            <a:endParaRPr lang="en-US" sz="1800" dirty="0"/>
          </a:p>
        </p:txBody>
      </p:sp>
      <p:sp>
        <p:nvSpPr>
          <p:cNvPr id="10"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JO et al. Hepatology 1999 [PMID: 10051463]; Kumar R et al. Clin Gastroenterol Hepatol 2012 [PMID: 22521861]; more studies in the appendix</a:t>
            </a:r>
            <a:endParaRPr lang="en-US" sz="1000" dirty="0"/>
          </a:p>
        </p:txBody>
      </p:sp>
      <p:sp>
        <p:nvSpPr>
          <p:cNvPr id="12"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21/85</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Lactulose for her?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Hour 12: ammonia 182 μmol/L, grade III. In a cirrhotic we'd already be giving it</a:t>
            </a:r>
            <a:endParaRPr lang="en-US" sz="1900" dirty="0"/>
          </a:p>
        </p:txBody>
      </p:sp>
      <p:sp>
        <p:nvSpPr>
          <p:cNvPr id="4"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3400" b="1" dirty="0">
                <a:solidFill>
                  <a:srgbClr val="000000"/>
                </a:solidFill>
                <a:latin typeface="Georgia" pitchFamily="34" charset="0"/>
                <a:ea typeface="Georgia" pitchFamily="34" charset="-122"/>
                <a:cs typeface="Georgia" pitchFamily="34" charset="-120"/>
              </a:rPr>
              <a:t>Yes or no?</a:t>
            </a:r>
            <a:endParaRPr lang="en-US" sz="34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22/85</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Lactulose for her?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Hour 12: ammonia 182 μmol/L, grade III. In a cirrhotic we'd already be giving it</a:t>
            </a:r>
            <a:endParaRPr lang="en-US" sz="1900" dirty="0"/>
          </a:p>
        </p:txBody>
      </p:sp>
      <p:graphicFrame>
        <p:nvGraphicFramePr>
          <p:cNvPr id="35" name="Table"/>
          <p:cNvGraphicFramePr>
            <a:graphicFrameLocks noGrp="1"/>
          </p:cNvGraphicFramePr>
          <p:nvPr>
            <p:extLst>
              <p:ext uri="{D42A27DB-BD31-4B8C-83A1-F6EECF244321}">
                <p14:modId xmlns:p14="http://schemas.microsoft.com/office/powerpoint/2010/main" val="1579011935"/>
              </p:ext>
            </p:extLst>
          </p:nvPr>
        </p:nvGraphicFramePr>
        <p:xfrm>
          <a:off x="731520" y="1828800"/>
          <a:ext cx="10728655" cy="914400"/>
        </p:xfrm>
        <a:graphic>
          <a:graphicData uri="http://schemas.openxmlformats.org/drawingml/2006/table">
            <a:tbl>
              <a:tblPr/>
              <a:tblGrid>
                <a:gridCol w="4709160"/>
                <a:gridCol w="6016752"/>
              </a:tblGrid>
              <a:tr h="475488">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Why people give it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Why not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7548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Ammonia drives brain swelling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No proven benefit in ALF (ALFSG)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It's what we do in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Distended bowel gets in the way at transplant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Cheap; AASLD 2011 allowed it early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Diarrhea: free water loss, sodium swings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Liquid by mouth or tube: aspiration risk</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5321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Not for her</a:t>
            </a:r>
            <a:endParaRPr lang="en-US" sz="22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position paper 2011, rec. 26; Alba L, Hay JE, Lee WM et al. J Hepatol 2002;36(Suppl 1):33 (abstract); ACG ALF 2023 [PMID: 37377263]</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22/85</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intubate?</a:t>
            </a:r>
            <a:endParaRPr lang="en-US" sz="3000" dirty="0"/>
          </a:p>
        </p:txBody>
      </p:sp>
      <p:sp>
        <p:nvSpPr>
          <p:cNvPr id="3" name="Body"/>
          <p:cNvSpPr txBox="1"/>
          <p:nvPr/>
        </p:nvSpPr>
        <p:spPr>
          <a:xfrm>
            <a:off x="1828800" y="1554480"/>
            <a:ext cx="8534095" cy="1828800"/>
          </a:xfrm>
          <a:prstGeom prst="rect">
            <a:avLst/>
          </a:prstGeom>
          <a:noFill/>
          <a:ln/>
        </p:spPr>
        <p:txBody>
          <a:bodyPr wrap="square" lIns="50800" tIns="50800" rIns="50800" bIns="50800" rtlCol="0" anchor="t"/>
          <a:lstStyle/>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Responds to voice, drifts off, intermittently agitated</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Handling secretions for now</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SpO2 96% on 2 L</a:t>
            </a:r>
            <a:endParaRPr lang="en-US" sz="2200" dirty="0"/>
          </a:p>
        </p:txBody>
      </p:sp>
      <p:sp>
        <p:nvSpPr>
          <p:cNvPr id="4" name="Question"/>
          <p:cNvSpPr txBox="1"/>
          <p:nvPr/>
        </p:nvSpPr>
        <p:spPr>
          <a:xfrm>
            <a:off x="822960" y="39319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Intubate now, or wait until she can't protect her airway?</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23/85</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intubate?</a:t>
            </a:r>
            <a:endParaRPr lang="en-US" sz="3000" dirty="0"/>
          </a:p>
        </p:txBody>
      </p:sp>
      <p:sp>
        <p:nvSpPr>
          <p:cNvPr id="3" name="Question"/>
          <p:cNvSpPr txBox="1"/>
          <p:nvPr/>
        </p:nvSpPr>
        <p:spPr>
          <a:xfrm>
            <a:off x="822960" y="12801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Grade III-IV encephalopathy in ALF: intubate</a:t>
            </a:r>
            <a:endParaRPr lang="en-US" sz="2400" dirty="0"/>
          </a:p>
        </p:txBody>
      </p:sp>
      <p:graphicFrame>
        <p:nvGraphicFramePr>
          <p:cNvPr id="37" name="Table"/>
          <p:cNvGraphicFramePr>
            <a:graphicFrameLocks noGrp="1"/>
          </p:cNvGraphicFramePr>
          <p:nvPr>
            <p:extLst>
              <p:ext uri="{D42A27DB-BD31-4B8C-83A1-F6EECF244321}">
                <p14:modId xmlns:p14="http://schemas.microsoft.com/office/powerpoint/2010/main" val="1579011935"/>
              </p:ext>
            </p:extLst>
          </p:nvPr>
        </p:nvGraphicFramePr>
        <p:xfrm>
          <a:off x="731520" y="2103120"/>
          <a:ext cx="10728655" cy="914400"/>
        </p:xfrm>
        <a:graphic>
          <a:graphicData uri="http://schemas.openxmlformats.org/drawingml/2006/table">
            <a:tbl>
              <a:tblPr/>
              <a:tblGrid>
                <a:gridCol w="3319272"/>
                <a:gridCol w="3218688"/>
                <a:gridCol w="4187952"/>
              </a:tblGrid>
              <a:tr h="451714">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Before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During</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After</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30556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Preoxygenate</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Norepinephrine ready</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Check glucose</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Head of bed 30°, neck neutral</a:t>
                      </a:r>
                      <a:endParaRPr lang="en-US" sz="19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Avoid hypotension (CPP)</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No coughing or bucking (ICP)</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Most experienced operator</a:t>
                      </a:r>
                      <a:endParaRPr lang="en-US" sz="19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Propofol: short-acting, may lower ICP</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Avoid long-acting benzodiazepines</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Check pupils: sedation hides the exam</a:t>
                      </a:r>
                      <a:endParaRPr lang="en-US" sz="19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Practical update 2024 [PMID: 39170946]; ACG ALF 2023 [PMID: 37377263]; SCCM 2020 [PMID: 32058387]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23/85</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we use permissive hypercapnia?</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After intubation: bilateral infiltrates, P/F 150 on PEEP 10</a:t>
            </a:r>
            <a:endParaRPr lang="en-US" sz="2000" dirty="0"/>
          </a:p>
        </p:txBody>
      </p:sp>
      <p:sp>
        <p:nvSpPr>
          <p:cNvPr id="4" name="Question"/>
          <p:cNvSpPr txBox="1"/>
          <p:nvPr/>
        </p:nvSpPr>
        <p:spPr>
          <a:xfrm>
            <a:off x="822960" y="301752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Lung protection or brain protection?</a:t>
            </a:r>
            <a:endParaRPr lang="en-US" sz="28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24/85</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we use permissive hypercapnia?</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After intubation: bilateral infiltrates, P/F 150 on PEEP 10</a:t>
            </a:r>
            <a:endParaRPr lang="en-US" sz="2000" dirty="0"/>
          </a:p>
        </p:txBody>
      </p:sp>
      <p:graphicFrame>
        <p:nvGraphicFramePr>
          <p:cNvPr id="39" name="Table"/>
          <p:cNvGraphicFramePr>
            <a:graphicFrameLocks noGrp="1"/>
          </p:cNvGraphicFramePr>
          <p:nvPr>
            <p:extLst>
              <p:ext uri="{D42A27DB-BD31-4B8C-83A1-F6EECF244321}">
                <p14:modId xmlns:p14="http://schemas.microsoft.com/office/powerpoint/2010/main" val="1579011935"/>
              </p:ext>
            </p:extLst>
          </p:nvPr>
        </p:nvGraphicFramePr>
        <p:xfrm>
          <a:off x="640080" y="1828800"/>
          <a:ext cx="10911535" cy="914400"/>
        </p:xfrm>
        <a:graphic>
          <a:graphicData uri="http://schemas.openxmlformats.org/drawingml/2006/table">
            <a:tbl>
              <a:tblPr/>
              <a:tblGrid>
                <a:gridCol w="1984248"/>
                <a:gridCol w="2231136"/>
                <a:gridCol w="3236976"/>
                <a:gridCol w="3456432"/>
              </a:tblGrid>
              <a:tr h="451714">
                <a:tc>
                  <a:txBody>
                    <a:bodyPr/>
                    <a:lstStyle/>
                    <a:p>
                      <a:pPr algn="l"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The lung wants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The brain wants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What we do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1714">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Tidal volume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6 mL/kg PBW</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Watch the CO2</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6 mL/kg, raise the rate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1714">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CO2</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Tolerate a high CO2</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High CO2 raises ICP</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Keep the CO2 normal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1714">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Hyperventilation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No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Lowers ICP briefly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Short rescue for herniation only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1714">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PEEP</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Recruit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High PEEP: less venous return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Set for O2 and BP; PEEP is fine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2020 [PMID: 32058387]; practical update 2024 [PMID: 39170946]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24/85</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CO2 and cerebral blood flow</a:t>
            </a:r>
            <a:endParaRPr lang="en-US" sz="3000" dirty="0"/>
          </a:p>
        </p:txBody>
      </p:sp>
      <p:sp>
        <p:nvSpPr>
          <p:cNvPr id="3" name="Target"/>
          <p:cNvSpPr/>
          <p:nvPr/>
        </p:nvSpPr>
        <p:spPr>
          <a:xfrm>
            <a:off x="3483864" y="1463040"/>
            <a:ext cx="603504" cy="4023360"/>
          </a:xfrm>
          <a:prstGeom prst="rect">
            <a:avLst/>
          </a:prstGeom>
          <a:solidFill>
            <a:srgbClr val="EDEDED"/>
          </a:solidFill>
          <a:ln/>
        </p:spPr>
      </p:sp>
      <p:sp>
        <p:nvSpPr>
          <p:cNvPr id="4" name="Text 2"/>
          <p:cNvSpPr txBox="1"/>
          <p:nvPr/>
        </p:nvSpPr>
        <p:spPr>
          <a:xfrm>
            <a:off x="3061411" y="1115568"/>
            <a:ext cx="1448410" cy="310896"/>
          </a:xfrm>
          <a:prstGeom prst="rect">
            <a:avLst/>
          </a:prstGeom>
          <a:noFill/>
          <a:ln/>
        </p:spPr>
        <p:txBody>
          <a:bodyPr wrap="square" lIns="0" tIns="0" rIns="0" bIns="0" rtlCol="0" anchor="ctr"/>
          <a:lstStyle/>
          <a:p>
            <a:pPr algn="ctr" indent="0" marL="0">
              <a:buNone/>
            </a:pPr>
            <a:r>
              <a:rPr lang="en-US" sz="1400" b="1" dirty="0">
                <a:solidFill>
                  <a:srgbClr val="000000"/>
                </a:solidFill>
                <a:latin typeface="Georgia" pitchFamily="34" charset="0"/>
                <a:ea typeface="Georgia" pitchFamily="34" charset="-122"/>
                <a:cs typeface="Georgia" pitchFamily="34" charset="-120"/>
              </a:rPr>
              <a:t>Aim here</a:t>
            </a:r>
            <a:endParaRPr lang="en-US" sz="1400" dirty="0"/>
          </a:p>
        </p:txBody>
      </p:sp>
      <p:sp>
        <p:nvSpPr>
          <p:cNvPr id="5" name="XAxis"/>
          <p:cNvSpPr/>
          <p:nvPr/>
        </p:nvSpPr>
        <p:spPr>
          <a:xfrm>
            <a:off x="1371600" y="5486400"/>
            <a:ext cx="6217920" cy="0"/>
          </a:xfrm>
          <a:prstGeom prst="line">
            <a:avLst/>
          </a:prstGeom>
          <a:noFill/>
          <a:ln w="15875">
            <a:solidFill>
              <a:srgbClr val="000000"/>
            </a:solidFill>
            <a:prstDash val="solid"/>
          </a:ln>
        </p:spPr>
      </p:sp>
      <p:sp>
        <p:nvSpPr>
          <p:cNvPr id="6" name="YAxis"/>
          <p:cNvSpPr/>
          <p:nvPr/>
        </p:nvSpPr>
        <p:spPr>
          <a:xfrm>
            <a:off x="1371600" y="1371600"/>
            <a:ext cx="0" cy="4114800"/>
          </a:xfrm>
          <a:prstGeom prst="line">
            <a:avLst/>
          </a:prstGeom>
          <a:noFill/>
          <a:ln w="15875">
            <a:solidFill>
              <a:srgbClr val="000000"/>
            </a:solidFill>
            <a:prstDash val="solid"/>
          </a:ln>
        </p:spPr>
      </p:sp>
      <p:sp>
        <p:nvSpPr>
          <p:cNvPr id="7" name="Shape 5"/>
          <p:cNvSpPr/>
          <p:nvPr/>
        </p:nvSpPr>
        <p:spPr>
          <a:xfrm>
            <a:off x="2578608" y="5486400"/>
            <a:ext cx="0" cy="73152"/>
          </a:xfrm>
          <a:prstGeom prst="line">
            <a:avLst/>
          </a:prstGeom>
          <a:noFill/>
          <a:ln w="12700">
            <a:solidFill>
              <a:srgbClr val="000000"/>
            </a:solidFill>
            <a:prstDash val="solid"/>
          </a:ln>
        </p:spPr>
      </p:sp>
      <p:sp>
        <p:nvSpPr>
          <p:cNvPr id="8" name="Text 6"/>
          <p:cNvSpPr txBox="1"/>
          <p:nvPr/>
        </p:nvSpPr>
        <p:spPr>
          <a:xfrm>
            <a:off x="2304288"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20</a:t>
            </a:r>
            <a:endParaRPr lang="en-US" sz="1400" dirty="0"/>
          </a:p>
        </p:txBody>
      </p:sp>
      <p:sp>
        <p:nvSpPr>
          <p:cNvPr id="9" name="Shape 7"/>
          <p:cNvSpPr/>
          <p:nvPr/>
        </p:nvSpPr>
        <p:spPr>
          <a:xfrm>
            <a:off x="3785616" y="5486400"/>
            <a:ext cx="0" cy="73152"/>
          </a:xfrm>
          <a:prstGeom prst="line">
            <a:avLst/>
          </a:prstGeom>
          <a:noFill/>
          <a:ln w="12700">
            <a:solidFill>
              <a:srgbClr val="000000"/>
            </a:solidFill>
            <a:prstDash val="solid"/>
          </a:ln>
        </p:spPr>
      </p:sp>
      <p:sp>
        <p:nvSpPr>
          <p:cNvPr id="10" name="Text 8"/>
          <p:cNvSpPr txBox="1"/>
          <p:nvPr/>
        </p:nvSpPr>
        <p:spPr>
          <a:xfrm>
            <a:off x="3511296"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40</a:t>
            </a:r>
            <a:endParaRPr lang="en-US" sz="1400" dirty="0"/>
          </a:p>
        </p:txBody>
      </p:sp>
      <p:sp>
        <p:nvSpPr>
          <p:cNvPr id="11" name="Shape 9"/>
          <p:cNvSpPr/>
          <p:nvPr/>
        </p:nvSpPr>
        <p:spPr>
          <a:xfrm>
            <a:off x="4992624" y="5486400"/>
            <a:ext cx="0" cy="73152"/>
          </a:xfrm>
          <a:prstGeom prst="line">
            <a:avLst/>
          </a:prstGeom>
          <a:noFill/>
          <a:ln w="12700">
            <a:solidFill>
              <a:srgbClr val="000000"/>
            </a:solidFill>
            <a:prstDash val="solid"/>
          </a:ln>
        </p:spPr>
      </p:sp>
      <p:sp>
        <p:nvSpPr>
          <p:cNvPr id="12" name="Text 10"/>
          <p:cNvSpPr txBox="1"/>
          <p:nvPr/>
        </p:nvSpPr>
        <p:spPr>
          <a:xfrm>
            <a:off x="4718304"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60</a:t>
            </a:r>
            <a:endParaRPr lang="en-US" sz="1400" dirty="0"/>
          </a:p>
        </p:txBody>
      </p:sp>
      <p:sp>
        <p:nvSpPr>
          <p:cNvPr id="13" name="Shape 11"/>
          <p:cNvSpPr/>
          <p:nvPr/>
        </p:nvSpPr>
        <p:spPr>
          <a:xfrm>
            <a:off x="6199632" y="5486400"/>
            <a:ext cx="0" cy="73152"/>
          </a:xfrm>
          <a:prstGeom prst="line">
            <a:avLst/>
          </a:prstGeom>
          <a:noFill/>
          <a:ln w="12700">
            <a:solidFill>
              <a:srgbClr val="000000"/>
            </a:solidFill>
            <a:prstDash val="solid"/>
          </a:ln>
        </p:spPr>
      </p:sp>
      <p:sp>
        <p:nvSpPr>
          <p:cNvPr id="14" name="Text 12"/>
          <p:cNvSpPr txBox="1"/>
          <p:nvPr/>
        </p:nvSpPr>
        <p:spPr>
          <a:xfrm>
            <a:off x="5925312"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80</a:t>
            </a:r>
            <a:endParaRPr lang="en-US" sz="1400" dirty="0"/>
          </a:p>
        </p:txBody>
      </p:sp>
      <p:sp>
        <p:nvSpPr>
          <p:cNvPr id="15" name="Shape 13"/>
          <p:cNvSpPr/>
          <p:nvPr/>
        </p:nvSpPr>
        <p:spPr>
          <a:xfrm>
            <a:off x="7406640" y="5486400"/>
            <a:ext cx="0" cy="73152"/>
          </a:xfrm>
          <a:prstGeom prst="line">
            <a:avLst/>
          </a:prstGeom>
          <a:noFill/>
          <a:ln w="12700">
            <a:solidFill>
              <a:srgbClr val="000000"/>
            </a:solidFill>
            <a:prstDash val="solid"/>
          </a:ln>
        </p:spPr>
      </p:sp>
      <p:sp>
        <p:nvSpPr>
          <p:cNvPr id="16" name="Text 14"/>
          <p:cNvSpPr txBox="1"/>
          <p:nvPr/>
        </p:nvSpPr>
        <p:spPr>
          <a:xfrm>
            <a:off x="7132320"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100</a:t>
            </a:r>
            <a:endParaRPr lang="en-US" sz="1400" dirty="0"/>
          </a:p>
        </p:txBody>
      </p:sp>
      <p:sp>
        <p:nvSpPr>
          <p:cNvPr id="17" name="Text 15"/>
          <p:cNvSpPr txBox="1"/>
          <p:nvPr/>
        </p:nvSpPr>
        <p:spPr>
          <a:xfrm>
            <a:off x="1371600" y="5870448"/>
            <a:ext cx="6035040" cy="320040"/>
          </a:xfrm>
          <a:prstGeom prst="rect">
            <a:avLst/>
          </a:prstGeom>
          <a:noFill/>
          <a:ln/>
        </p:spPr>
        <p:txBody>
          <a:bodyPr wrap="square" lIns="0" tIns="0" rIns="0" bIns="0" rtlCol="0" anchor="ctr"/>
          <a:lstStyle/>
          <a:p>
            <a:pPr algn="ctr" indent="0" marL="0">
              <a:buNone/>
            </a:pPr>
            <a:r>
              <a:rPr lang="en-US" sz="1500" dirty="0">
                <a:solidFill>
                  <a:srgbClr val="000000"/>
                </a:solidFill>
                <a:latin typeface="Calibri" pitchFamily="34" charset="0"/>
                <a:ea typeface="Calibri" pitchFamily="34" charset="-122"/>
                <a:cs typeface="Calibri" pitchFamily="34" charset="-120"/>
              </a:rPr>
              <a:t>PaCO2 (mmHg)</a:t>
            </a:r>
            <a:endParaRPr lang="en-US" sz="1500" dirty="0"/>
          </a:p>
        </p:txBody>
      </p:sp>
      <p:sp>
        <p:nvSpPr>
          <p:cNvPr id="18" name="Text 16"/>
          <p:cNvSpPr txBox="1"/>
          <p:nvPr/>
        </p:nvSpPr>
        <p:spPr>
          <a:xfrm rot="16200000">
            <a:off x="-502920" y="3310128"/>
            <a:ext cx="3108960" cy="329184"/>
          </a:xfrm>
          <a:prstGeom prst="rect">
            <a:avLst/>
          </a:prstGeom>
          <a:noFill/>
          <a:ln/>
        </p:spPr>
        <p:txBody>
          <a:bodyPr wrap="square" lIns="0" tIns="0" rIns="0" bIns="0" rtlCol="0" anchor="ctr"/>
          <a:lstStyle/>
          <a:p>
            <a:pPr algn="ctr" indent="0" marL="0">
              <a:buNone/>
            </a:pPr>
            <a:r>
              <a:rPr lang="en-US" sz="1500" dirty="0">
                <a:solidFill>
                  <a:srgbClr val="000000"/>
                </a:solidFill>
                <a:latin typeface="Calibri" pitchFamily="34" charset="0"/>
                <a:ea typeface="Calibri" pitchFamily="34" charset="-122"/>
                <a:cs typeface="Calibri" pitchFamily="34" charset="-120"/>
              </a:rPr>
              <a:t>Cerebral blood flow</a:t>
            </a:r>
            <a:endParaRPr lang="en-US" sz="1500" dirty="0"/>
          </a:p>
        </p:txBody>
      </p:sp>
      <p:sp>
        <p:nvSpPr>
          <p:cNvPr id="19" name="CBFcurve"/>
          <p:cNvSpPr/>
          <p:nvPr/>
        </p:nvSpPr>
        <p:spPr>
          <a:xfrm>
            <a:off x="1371600" y="1965960"/>
            <a:ext cx="6035040" cy="2880360"/>
          </a:xfrm>
          <a:custGeom>
            <a:avLst/>
            <a:gdLst/>
            <a:ahLst/>
            <a:cxnLst/>
            <a:rect l="l" t="t" r="r" b="b"/>
            <a:pathLst>
              <a:path w="6035040" h="2880360">
                <a:moveTo>
                  <a:pt x="301752" y="2788920"/>
                </a:moveTo>
                <a:lnTo>
                  <a:pt x="905256" y="2743200"/>
                </a:lnTo>
                <a:cubicBezTo>
                  <a:pt x="1810512" y="2743200"/>
                  <a:pt x="4224528" y="45720"/>
                  <a:pt x="5129784" y="45720"/>
                </a:cubicBezTo>
                <a:lnTo>
                  <a:pt x="5853989" y="0"/>
                </a:lnTo>
              </a:path>
            </a:pathLst>
          </a:custGeom>
          <a:noFill/>
          <a:ln w="38100">
            <a:solidFill>
              <a:srgbClr val="000000"/>
            </a:solidFill>
            <a:prstDash val="solid"/>
          </a:ln>
        </p:spPr>
      </p:sp>
      <p:sp>
        <p:nvSpPr>
          <p:cNvPr id="20" name="Text 18"/>
          <p:cNvSpPr txBox="1"/>
          <p:nvPr/>
        </p:nvSpPr>
        <p:spPr>
          <a:xfrm>
            <a:off x="1431950" y="2926080"/>
            <a:ext cx="1828800" cy="1188720"/>
          </a:xfrm>
          <a:prstGeom prst="rect">
            <a:avLst/>
          </a:prstGeom>
          <a:noFill/>
          <a:ln/>
        </p:spPr>
        <p:txBody>
          <a:bodyPr wrap="square" lIns="0" tIns="0" rIns="0" bIns="0" rtlCol="0" anchor="b"/>
          <a:lstStyle/>
          <a:p>
            <a:pPr indent="0" marL="0">
              <a:buNone/>
            </a:pPr>
            <a:r>
              <a:rPr lang="en-US" sz="1400" dirty="0">
                <a:solidFill>
                  <a:srgbClr val="000000"/>
                </a:solidFill>
                <a:latin typeface="Georgia" pitchFamily="34" charset="0"/>
                <a:ea typeface="Georgia" pitchFamily="34" charset="-122"/>
                <a:cs typeface="Georgia" pitchFamily="34" charset="-120"/>
              </a:rPr>
              <a:t>Hyperventilation: less flow, lower ICP for a short time; too much can cause ischemia</a:t>
            </a:r>
            <a:endParaRPr lang="en-US" sz="1400" dirty="0"/>
          </a:p>
        </p:txBody>
      </p:sp>
      <p:sp>
        <p:nvSpPr>
          <p:cNvPr id="21" name="Text 19"/>
          <p:cNvSpPr txBox="1"/>
          <p:nvPr/>
        </p:nvSpPr>
        <p:spPr>
          <a:xfrm>
            <a:off x="5234026" y="3566160"/>
            <a:ext cx="2103120" cy="1188720"/>
          </a:xfrm>
          <a:prstGeom prst="rect">
            <a:avLst/>
          </a:prstGeom>
          <a:noFill/>
          <a:ln/>
        </p:spPr>
        <p:txBody>
          <a:bodyPr wrap="square" lIns="0" tIns="0" rIns="0" bIns="0" rtlCol="0" anchor="t"/>
          <a:lstStyle/>
          <a:p>
            <a:pPr indent="0" marL="0">
              <a:buNone/>
            </a:pPr>
            <a:r>
              <a:rPr lang="en-US" sz="1400" dirty="0">
                <a:solidFill>
                  <a:srgbClr val="C00000"/>
                </a:solidFill>
                <a:latin typeface="Georgia" pitchFamily="34" charset="0"/>
                <a:ea typeface="Georgia" pitchFamily="34" charset="-122"/>
                <a:cs typeface="Georgia" pitchFamily="34" charset="-120"/>
              </a:rPr>
              <a:t>Permissive hypercapnia: more flow, more blood volume, higher ICP</a:t>
            </a:r>
            <a:endParaRPr lang="en-US" sz="1400" dirty="0"/>
          </a:p>
        </p:txBody>
      </p:sp>
      <p:sp>
        <p:nvSpPr>
          <p:cNvPr id="22" name="Body"/>
          <p:cNvSpPr txBox="1"/>
          <p:nvPr/>
        </p:nvSpPr>
        <p:spPr>
          <a:xfrm>
            <a:off x="7955280" y="1463040"/>
            <a:ext cx="3840480" cy="4206240"/>
          </a:xfrm>
          <a:prstGeom prst="rect">
            <a:avLst/>
          </a:prstGeom>
          <a:noFill/>
          <a:ln/>
        </p:spPr>
        <p:txBody>
          <a:bodyPr wrap="square" lIns="50800" tIns="50800" rIns="50800" bIns="50800" rtlCol="0" anchor="t"/>
          <a:lstStyle/>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Between about 20 and 80 mmHg, cerebral blood flow rises with PaCO2</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In a swollen brain, more blood volume means a higher ICP</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Keep PaCO2 normal. Hyperventilate only as a short bridge for herniation</a:t>
            </a:r>
            <a:endParaRPr lang="en-US" sz="1900" dirty="0"/>
          </a:p>
        </p:txBody>
      </p:sp>
      <p:sp>
        <p:nvSpPr>
          <p:cNvPr id="23"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Schematic, not to scale. Standard cerebral physiology</a:t>
            </a:r>
            <a:endParaRPr lang="en-US" sz="1000" dirty="0"/>
          </a:p>
        </p:txBody>
      </p:sp>
      <p:sp>
        <p:nvSpPr>
          <p:cNvPr id="2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25/85</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Protecting the brain: every patient with grade III-IV</a:t>
            </a:r>
            <a:endParaRPr lang="en-US" sz="3000" dirty="0"/>
          </a:p>
        </p:txBody>
      </p:sp>
      <p:sp>
        <p:nvSpPr>
          <p:cNvPr id="3" name="Body"/>
          <p:cNvSpPr txBox="1"/>
          <p:nvPr/>
        </p:nvSpPr>
        <p:spPr>
          <a:xfrm>
            <a:off x="822960" y="1325880"/>
            <a:ext cx="7223760" cy="4937760"/>
          </a:xfrm>
          <a:prstGeom prst="rect">
            <a:avLst/>
          </a:prstGeom>
          <a:noFill/>
          <a:ln/>
        </p:spPr>
        <p:txBody>
          <a:bodyPr wrap="square" lIns="50800" tIns="50800" rIns="50800" bIns="50800" rtlCol="0" anchor="t"/>
          <a:lstStyle/>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Head of bed 30°, neck neutral</a:t>
            </a:r>
            <a:endParaRPr lang="en-US" sz="2100" dirty="0"/>
          </a:p>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Treat fever, avoid hypoglycemia</a:t>
            </a:r>
            <a:endParaRPr lang="en-US" sz="2100" dirty="0"/>
          </a:p>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Sodium </a:t>
            </a:r>
            <a:r>
              <a:rPr lang="en-US" sz="2100" b="1" dirty="0">
                <a:solidFill>
                  <a:srgbClr val="000000"/>
                </a:solidFill>
                <a:latin typeface="Georgia" pitchFamily="34" charset="0"/>
                <a:ea typeface="Georgia" pitchFamily="34" charset="-122"/>
                <a:cs typeface="Georgia" pitchFamily="34" charset="-120"/>
              </a:rPr>
              <a:t>145 to 155 mmol/L</a:t>
            </a:r>
            <a:r>
              <a:rPr lang="en-US" sz="2100" dirty="0">
                <a:solidFill>
                  <a:srgbClr val="000000"/>
                </a:solidFill>
                <a:latin typeface="Georgia" pitchFamily="34" charset="0"/>
                <a:ea typeface="Georgia" pitchFamily="34" charset="-122"/>
                <a:cs typeface="Georgia" pitchFamily="34" charset="-120"/>
              </a:rPr>
              <a:t> with hypertonic saline (use your center's protocol)</a:t>
            </a:r>
            <a:endParaRPr lang="en-US" sz="2100" dirty="0"/>
          </a:p>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Avoid fluid overload</a:t>
            </a:r>
            <a:endParaRPr lang="en-US" sz="2100" dirty="0"/>
          </a:p>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Treat seizures, EEG if in doubt. No routine prophylaxis</a:t>
            </a:r>
            <a:endParaRPr lang="en-US" sz="2100" dirty="0"/>
          </a:p>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No cooling: 34 °C did not prevent intracranial hypertension in an RCT</a:t>
            </a:r>
            <a:endParaRPr lang="en-US" sz="2100" dirty="0"/>
          </a:p>
        </p:txBody>
      </p:sp>
      <p:pic>
        <p:nvPicPr>
          <p:cNvPr id="4" name="Image 0" descr="Watercolor of an empty ICU bed with the head raised about 30 degrees">    </p:cNvPr>
          <p:cNvPicPr>
            <a:picLocks noChangeAspect="1"/>
          </p:cNvPicPr>
          <p:nvPr/>
        </p:nvPicPr>
        <p:blipFill>
          <a:blip r:embed="rId1"/>
          <a:stretch>
            <a:fillRect/>
          </a:stretch>
        </p:blipFill>
        <p:spPr>
          <a:xfrm>
            <a:off x="8001000" y="1371600"/>
            <a:ext cx="3840480" cy="3840480"/>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2023 [PMID: 37052436]; update 2022 [PMID: 36001996]; Bernal W et al. J Hepatol 2016;65:273-9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26/85</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 surge: new hypertension, bradycardia or a pupil</a:t>
            </a:r>
            <a:endParaRPr lang="en-US" sz="3000" dirty="0"/>
          </a:p>
        </p:txBody>
      </p:sp>
      <p:sp>
        <p:nvSpPr>
          <p:cNvPr id="3" name="Body"/>
          <p:cNvSpPr txBox="1"/>
          <p:nvPr/>
        </p:nvSpPr>
        <p:spPr>
          <a:xfrm>
            <a:off x="640080" y="1280160"/>
            <a:ext cx="6400800" cy="4937760"/>
          </a:xfrm>
          <a:prstGeom prst="rect">
            <a:avLst/>
          </a:prstGeom>
          <a:noFill/>
          <a:ln/>
        </p:spPr>
        <p:txBody>
          <a:bodyPr wrap="square" lIns="50800" tIns="50800" rIns="50800" bIns="50800" rtlCol="0" anchor="t"/>
          <a:lstStyle/>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Hyperosmolar bolus (hypertonic saline or mannitol)</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Brief hyperventilation as a bridge</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Call the transplant team now</a:t>
            </a:r>
            <a:endParaRPr lang="en-US" sz="1900" dirty="0"/>
          </a:p>
          <a:p>
            <a:pPr indent="0" marL="0">
              <a:spcBef>
                <a:spcPts val="1800"/>
              </a:spcBef>
              <a:buNone/>
            </a:pPr>
            <a:r>
              <a:rPr lang="en-US" sz="1900" b="1" dirty="0">
                <a:solidFill>
                  <a:srgbClr val="000000"/>
                </a:solidFill>
                <a:latin typeface="Georgia" pitchFamily="34" charset="0"/>
                <a:ea typeface="Georgia" pitchFamily="34" charset="-122"/>
                <a:cs typeface="Georgia" pitchFamily="34" charset="-120"/>
              </a:rPr>
              <a:t>Things to know</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Hypertension and bradycardia come late. Don't wait for them</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A normal head CT does not exclude raised ICP</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ICP monitors are not routine; SCCM suggests against (very low certainty)</a:t>
            </a:r>
            <a:endParaRPr lang="en-US" sz="1900" dirty="0"/>
          </a:p>
        </p:txBody>
      </p:sp>
      <p:pic>
        <p:nvPicPr>
          <p:cNvPr id="4" name="Image 0" descr="Head CT: normal and with effaced sulci">    </p:cNvPr>
          <p:cNvPicPr>
            <a:picLocks noChangeAspect="1"/>
          </p:cNvPicPr>
          <p:nvPr/>
        </p:nvPicPr>
        <p:blipFill>
          <a:blip r:embed="rId1"/>
          <a:stretch>
            <a:fillRect/>
          </a:stretch>
        </p:blipFill>
        <p:spPr>
          <a:xfrm>
            <a:off x="7223760" y="1828800"/>
            <a:ext cx="4480560" cy="2856702"/>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2023 [PMID: 37052436]; practical update 2024 [PMID: 39170946]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27/85</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creatinine is only 1.3</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Ammonia 182 → 214 μmol/L, grade III, urine output 15 mL/h</a:t>
            </a:r>
            <a:endParaRPr lang="en-US" sz="2000" dirty="0"/>
          </a:p>
        </p:txBody>
      </p:sp>
      <p:sp>
        <p:nvSpPr>
          <p:cNvPr id="4" name="Question"/>
          <p:cNvSpPr txBox="1"/>
          <p:nvPr/>
        </p:nvSpPr>
        <p:spPr>
          <a:xfrm>
            <a:off x="822960" y="301752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Do you wait for a conventional dialysis indication?</a:t>
            </a:r>
            <a:endParaRPr lang="en-US" sz="28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28/85</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creatinine is only 1.3</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Ammonia 182 → 214 μmol/L, grade III, urine output 15 mL/h</a:t>
            </a:r>
            <a:endParaRPr lang="en-US" sz="2000" dirty="0"/>
          </a:p>
        </p:txBody>
      </p:sp>
      <p:sp>
        <p:nvSpPr>
          <p:cNvPr id="4" name="Question"/>
          <p:cNvSpPr txBox="1"/>
          <p:nvPr/>
        </p:nvSpPr>
        <p:spPr>
          <a:xfrm>
            <a:off x="822960" y="18288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 In ALF, start CRRT for the ammonia</a:t>
            </a:r>
            <a:endParaRPr lang="en-US" sz="2400" dirty="0"/>
          </a:p>
        </p:txBody>
      </p:sp>
      <p:sp>
        <p:nvSpPr>
          <p:cNvPr id="5" name="Body"/>
          <p:cNvSpPr txBox="1"/>
          <p:nvPr/>
        </p:nvSpPr>
        <p:spPr>
          <a:xfrm>
            <a:off x="822960" y="2560320"/>
            <a:ext cx="7315200" cy="36576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ACG 2023: suggests early CRRT for hyperammonemia with grade II or higher encephalopathy, even without a renal indication (conditional, very low certainty)</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Continuous, not intermittent: fewer swings in blood pressure and brain water</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Call nephrology now</a:t>
            </a:r>
            <a:endParaRPr lang="en-US" sz="2000" dirty="0"/>
          </a:p>
        </p:txBody>
      </p:sp>
      <p:pic>
        <p:nvPicPr>
          <p:cNvPr id="6" name="Image 0" descr="Watercolor of a CRRT machine with filter and circuit">    </p:cNvPr>
          <p:cNvPicPr>
            <a:picLocks noChangeAspect="1"/>
          </p:cNvPicPr>
          <p:nvPr/>
        </p:nvPicPr>
        <p:blipFill>
          <a:blip r:embed="rId1"/>
          <a:stretch>
            <a:fillRect/>
          </a:stretch>
        </p:blipFill>
        <p:spPr>
          <a:xfrm>
            <a:off x="8275320" y="2423160"/>
            <a:ext cx="3520440" cy="3520440"/>
          </a:xfrm>
          <a:prstGeom prst="rect">
            <a:avLst/>
          </a:prstGeom>
        </p:spPr>
      </p:pic>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guideline 2023 [PMID: 37377263]; update 2022 [PMID: 36001996]</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28/85</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correct this INR?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Hour 12: INR 4.1, platelets 88,000. She needs a dialysis catheter</a:t>
            </a:r>
            <a:endParaRPr lang="en-US" sz="2000" dirty="0"/>
          </a:p>
        </p:txBody>
      </p:sp>
      <p:sp>
        <p:nvSpPr>
          <p:cNvPr id="4" name="Question"/>
          <p:cNvSpPr txBox="1"/>
          <p:nvPr/>
        </p:nvSpPr>
        <p:spPr>
          <a:xfrm>
            <a:off x="822960" y="301752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2 units of FFP first?</a:t>
            </a:r>
            <a:endParaRPr lang="en-US" sz="3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29/85</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correct this INR?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Hour 12: INR 4.1, platelets 88,000. She needs a dialysis catheter</a:t>
            </a:r>
            <a:endParaRPr lang="en-US" sz="2000" dirty="0"/>
          </a:p>
        </p:txBody>
      </p:sp>
      <p:sp>
        <p:nvSpPr>
          <p:cNvPr id="4" name="Body"/>
          <p:cNvSpPr txBox="1"/>
          <p:nvPr/>
        </p:nvSpPr>
        <p:spPr>
          <a:xfrm>
            <a:off x="822960" y="1783080"/>
            <a:ext cx="10545775" cy="4480560"/>
          </a:xfrm>
          <a:prstGeom prst="rect">
            <a:avLst/>
          </a:prstGeom>
          <a:noFill/>
          <a:ln/>
        </p:spPr>
        <p:txBody>
          <a:bodyPr wrap="square" lIns="50800" tIns="50800" rIns="50800" bIns="50800" rtlCol="0" anchor="t"/>
          <a:lstStyle/>
          <a:p>
            <a:pPr marL="228600" indent="-228600">
              <a:spcBef>
                <a:spcPts val="800"/>
              </a:spcBef>
              <a:buSzPct val="100000"/>
              <a:buChar char="–"/>
            </a:pPr>
            <a:r>
              <a:rPr lang="en-US" sz="1900" b="1" dirty="0">
                <a:solidFill>
                  <a:srgbClr val="000000"/>
                </a:solidFill>
                <a:highlight>
                  <a:srgbClr val="FFFF00"/>
                </a:highlight>
                <a:latin typeface="Georgia" pitchFamily="34" charset="0"/>
                <a:ea typeface="Georgia" pitchFamily="34" charset="-122"/>
                <a:cs typeface="Georgia" pitchFamily="34" charset="-120"/>
              </a:rPr>
              <a:t>No plasma just to fix the number</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The INR measures only part of clotting, and in ALF it doesn't predict who bleeds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Plasma adds volume (lungs, brain) and erases the INR trend that prognosis and listing rely on</a:t>
            </a:r>
            <a:endParaRPr lang="en-US" sz="1900" dirty="0"/>
          </a:p>
          <a:p>
            <a:pPr indent="0" marL="0">
              <a:spcBef>
                <a:spcPts val="1400"/>
              </a:spcBef>
              <a:buNone/>
            </a:pPr>
            <a:r>
              <a:rPr lang="en-US" sz="1900" b="1" dirty="0">
                <a:solidFill>
                  <a:srgbClr val="000000"/>
                </a:solidFill>
                <a:latin typeface="Georgia" pitchFamily="34" charset="0"/>
                <a:ea typeface="Georgia" pitchFamily="34" charset="-122"/>
                <a:cs typeface="Georgia" pitchFamily="34" charset="-120"/>
              </a:rPr>
              <a:t>What to do instead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Ultrasound-guided line, experienced operator, compressible site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Vitamin K once; check fibrinogen and platelets; viscoelastic testing if available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Treat bleeding. Plan high-risk procedures (like an ICP monitor) separately</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SCCM 2020 [PMID: 32058387]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29/85</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Is her blood thin?</a:t>
            </a:r>
            <a:endParaRPr lang="en-US" sz="3000" dirty="0"/>
          </a:p>
        </p:txBody>
      </p:sp>
      <p:pic>
        <p:nvPicPr>
          <p:cNvPr id="3" name="Image 0" descr="TEG tracing with R, K, alpha-angle, maximum amplitude and lysis at 30 minutes labeled">    </p:cNvPr>
          <p:cNvPicPr>
            <a:picLocks noChangeAspect="1"/>
          </p:cNvPicPr>
          <p:nvPr/>
        </p:nvPicPr>
        <p:blipFill>
          <a:blip r:embed="rId1"/>
          <a:stretch>
            <a:fillRect/>
          </a:stretch>
        </p:blipFill>
        <p:spPr>
          <a:xfrm>
            <a:off x="640080" y="1371600"/>
            <a:ext cx="5120640" cy="3593592"/>
          </a:xfrm>
          <a:prstGeom prst="rect">
            <a:avLst/>
          </a:prstGeom>
        </p:spPr>
      </p:pic>
      <p:sp>
        <p:nvSpPr>
          <p:cNvPr id="4" name="Body"/>
          <p:cNvSpPr txBox="1"/>
          <p:nvPr/>
        </p:nvSpPr>
        <p:spPr>
          <a:xfrm>
            <a:off x="6126480" y="1463040"/>
            <a:ext cx="5669280" cy="3474720"/>
          </a:xfrm>
          <a:prstGeom prst="rect">
            <a:avLst/>
          </a:prstGeom>
          <a:noFill/>
          <a:ln/>
        </p:spPr>
        <p:txBody>
          <a:bodyPr wrap="square" lIns="50800" tIns="50800" rIns="50800" bIns="50800" rtlCol="0" anchor="t"/>
          <a:lstStyle/>
          <a:p>
            <a:pPr indent="0" marL="0">
              <a:spcBef>
                <a:spcPts val="1000"/>
              </a:spcBef>
              <a:buNone/>
            </a:pPr>
            <a:r>
              <a:rPr lang="en-US" sz="1900" b="1" dirty="0">
                <a:solidFill>
                  <a:srgbClr val="000000"/>
                </a:solidFill>
                <a:latin typeface="Georgia" pitchFamily="34" charset="0"/>
                <a:ea typeface="Georgia" pitchFamily="34" charset="-122"/>
                <a:cs typeface="Georgia" pitchFamily="34" charset="-120"/>
              </a:rPr>
              <a:t>What a TEG measures in whole blood</a:t>
            </a:r>
            <a:endParaRPr lang="en-US" sz="1900" dirty="0"/>
          </a:p>
          <a:p>
            <a:pPr marL="228600" indent="-228600">
              <a:spcBef>
                <a:spcPts val="1000"/>
              </a:spcBef>
              <a:buSzPct val="100000"/>
              <a:buChar char="–"/>
            </a:pPr>
            <a:r>
              <a:rPr lang="en-US" sz="1900" b="1" dirty="0">
                <a:solidFill>
                  <a:srgbClr val="000000"/>
                </a:solidFill>
                <a:latin typeface="Georgia" pitchFamily="34" charset="0"/>
                <a:ea typeface="Georgia" pitchFamily="34" charset="-122"/>
                <a:cs typeface="Georgia" pitchFamily="34" charset="-120"/>
              </a:rPr>
              <a:t>R: </a:t>
            </a:r>
            <a:r>
              <a:rPr lang="en-US" sz="1900" dirty="0">
                <a:solidFill>
                  <a:srgbClr val="000000"/>
                </a:solidFill>
                <a:latin typeface="Georgia" pitchFamily="34" charset="0"/>
                <a:ea typeface="Georgia" pitchFamily="34" charset="-122"/>
                <a:cs typeface="Georgia" pitchFamily="34" charset="-120"/>
              </a:rPr>
              <a:t>time until the clot starts (clotting factors)</a:t>
            </a:r>
            <a:endParaRPr lang="en-US" sz="1900" dirty="0"/>
          </a:p>
          <a:p>
            <a:pPr marL="228600" indent="-228600">
              <a:spcBef>
                <a:spcPts val="1000"/>
              </a:spcBef>
              <a:buSzPct val="100000"/>
              <a:buChar char="–"/>
            </a:pPr>
            <a:r>
              <a:rPr lang="en-US" sz="1900" b="1" dirty="0">
                <a:solidFill>
                  <a:srgbClr val="000000"/>
                </a:solidFill>
                <a:latin typeface="Georgia" pitchFamily="34" charset="0"/>
                <a:ea typeface="Georgia" pitchFamily="34" charset="-122"/>
                <a:cs typeface="Georgia" pitchFamily="34" charset="-120"/>
              </a:rPr>
              <a:t>K and α-angle: </a:t>
            </a:r>
            <a:r>
              <a:rPr lang="en-US" sz="1900" dirty="0">
                <a:solidFill>
                  <a:srgbClr val="000000"/>
                </a:solidFill>
                <a:latin typeface="Georgia" pitchFamily="34" charset="0"/>
                <a:ea typeface="Georgia" pitchFamily="34" charset="-122"/>
                <a:cs typeface="Georgia" pitchFamily="34" charset="-120"/>
              </a:rPr>
              <a:t>how fast the clot builds (fibrinogen)</a:t>
            </a:r>
            <a:endParaRPr lang="en-US" sz="1900" dirty="0"/>
          </a:p>
          <a:p>
            <a:pPr marL="228600" indent="-228600">
              <a:spcBef>
                <a:spcPts val="1000"/>
              </a:spcBef>
              <a:buSzPct val="100000"/>
              <a:buChar char="–"/>
            </a:pPr>
            <a:r>
              <a:rPr lang="en-US" sz="1900" b="1" dirty="0">
                <a:solidFill>
                  <a:srgbClr val="000000"/>
                </a:solidFill>
                <a:latin typeface="Georgia" pitchFamily="34" charset="0"/>
                <a:ea typeface="Georgia" pitchFamily="34" charset="-122"/>
                <a:cs typeface="Georgia" pitchFamily="34" charset="-120"/>
              </a:rPr>
              <a:t>MA: </a:t>
            </a:r>
            <a:r>
              <a:rPr lang="en-US" sz="1900" dirty="0">
                <a:solidFill>
                  <a:srgbClr val="000000"/>
                </a:solidFill>
                <a:latin typeface="Georgia" pitchFamily="34" charset="0"/>
                <a:ea typeface="Georgia" pitchFamily="34" charset="-122"/>
                <a:cs typeface="Georgia" pitchFamily="34" charset="-120"/>
              </a:rPr>
              <a:t>how strong the clot gets (platelets, fibrinogen)</a:t>
            </a:r>
            <a:endParaRPr lang="en-US" sz="1900" dirty="0"/>
          </a:p>
          <a:p>
            <a:pPr marL="228600" indent="-228600">
              <a:spcBef>
                <a:spcPts val="1000"/>
              </a:spcBef>
              <a:buSzPct val="100000"/>
              <a:buChar char="–"/>
            </a:pPr>
            <a:r>
              <a:rPr lang="en-US" sz="1900" b="1" dirty="0">
                <a:solidFill>
                  <a:srgbClr val="000000"/>
                </a:solidFill>
                <a:latin typeface="Georgia" pitchFamily="34" charset="0"/>
                <a:ea typeface="Georgia" pitchFamily="34" charset="-122"/>
                <a:cs typeface="Georgia" pitchFamily="34" charset="-120"/>
              </a:rPr>
              <a:t>Ly30: </a:t>
            </a:r>
            <a:r>
              <a:rPr lang="en-US" sz="1900" dirty="0">
                <a:solidFill>
                  <a:srgbClr val="000000"/>
                </a:solidFill>
                <a:latin typeface="Georgia" pitchFamily="34" charset="0"/>
                <a:ea typeface="Georgia" pitchFamily="34" charset="-122"/>
                <a:cs typeface="Georgia" pitchFamily="34" charset="-120"/>
              </a:rPr>
              <a:t>how much of the clot breaks down in 30 minutes</a:t>
            </a:r>
            <a:endParaRPr lang="en-US" sz="1900" dirty="0"/>
          </a:p>
        </p:txBody>
      </p:sp>
      <p:sp>
        <p:nvSpPr>
          <p:cNvPr id="5" name="Question"/>
          <p:cNvSpPr txBox="1"/>
          <p:nvPr/>
        </p:nvSpPr>
        <p:spPr>
          <a:xfrm>
            <a:off x="822960" y="539496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Her INR is 4.1. What will her TEG show?</a:t>
            </a:r>
            <a:endParaRPr lang="en-US" sz="2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30/85</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Is her blood thin?</a:t>
            </a:r>
            <a:endParaRPr lang="en-US" sz="3000" dirty="0"/>
          </a:p>
        </p:txBody>
      </p:sp>
      <p:graphicFrame>
        <p:nvGraphicFramePr>
          <p:cNvPr id="3" name="Chart 0" descr=""/>
          <p:cNvGraphicFramePr/>
          <p:nvPr/>
        </p:nvGraphicFramePr>
        <p:xfrm>
          <a:off x="457200" y="1188720"/>
          <a:ext cx="5760720" cy="411480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6492240" y="1280160"/>
            <a:ext cx="5303520" cy="4114800"/>
          </a:xfrm>
          <a:prstGeom prst="rect">
            <a:avLst/>
          </a:prstGeom>
          <a:noFill/>
          <a:ln/>
        </p:spPr>
        <p:txBody>
          <a:bodyPr wrap="square" lIns="50800" tIns="50800" rIns="50800" bIns="50800" rtlCol="0" anchor="t"/>
          <a:lstStyle/>
          <a:p>
            <a:pPr indent="0" marL="0">
              <a:spcBef>
                <a:spcPts val="800"/>
              </a:spcBef>
              <a:buNone/>
            </a:pPr>
            <a:r>
              <a:rPr lang="en-US" sz="1700" b="1" dirty="0">
                <a:solidFill>
                  <a:srgbClr val="000000"/>
                </a:solidFill>
                <a:latin typeface="Georgia" pitchFamily="34" charset="0"/>
                <a:ea typeface="Georgia" pitchFamily="34" charset="-122"/>
                <a:cs typeface="Georgia" pitchFamily="34" charset="-120"/>
              </a:rPr>
              <a:t>Stravitz 2012: acute liver injury or ALF, TEG on admission</a:t>
            </a:r>
            <a:endParaRPr lang="en-US" sz="1700" dirty="0"/>
          </a:p>
          <a:p>
            <a:pPr marL="228600" indent="-228600">
              <a:spcBef>
                <a:spcPts val="800"/>
              </a:spcBef>
              <a:buSzPct val="100000"/>
              <a:buChar char="–"/>
            </a:pPr>
            <a:r>
              <a:rPr lang="en-US" sz="1700" dirty="0">
                <a:solidFill>
                  <a:srgbClr val="000000"/>
                </a:solidFill>
                <a:latin typeface="Georgia" pitchFamily="34" charset="0"/>
                <a:ea typeface="Georgia" pitchFamily="34" charset="-122"/>
                <a:cs typeface="Georgia" pitchFamily="34" charset="-120"/>
              </a:rPr>
              <a:t>Most had a completely normal TEG, even with INRs up to 9.6</a:t>
            </a:r>
            <a:endParaRPr lang="en-US" sz="1700" dirty="0"/>
          </a:p>
          <a:p>
            <a:pPr marL="228600" indent="-228600">
              <a:spcBef>
                <a:spcPts val="800"/>
              </a:spcBef>
              <a:buSzPct val="100000"/>
              <a:buChar char="–"/>
            </a:pPr>
            <a:r>
              <a:rPr lang="en-US" sz="1700" dirty="0">
                <a:solidFill>
                  <a:srgbClr val="000000"/>
                </a:solidFill>
                <a:latin typeface="Georgia" pitchFamily="34" charset="0"/>
                <a:ea typeface="Georgia" pitchFamily="34" charset="-122"/>
                <a:cs typeface="Georgia" pitchFamily="34" charset="-120"/>
              </a:rPr>
              <a:t>A weak clot (low MA) only when platelets were below about 126,000</a:t>
            </a:r>
            <a:endParaRPr lang="en-US" sz="1700" dirty="0"/>
          </a:p>
          <a:p>
            <a:pPr marL="228600" indent="-228600">
              <a:spcBef>
                <a:spcPts val="800"/>
              </a:spcBef>
              <a:buSzPct val="100000"/>
              <a:buChar char="–"/>
            </a:pPr>
            <a:r>
              <a:rPr lang="en-US" sz="1700" dirty="0">
                <a:solidFill>
                  <a:srgbClr val="000000"/>
                </a:solidFill>
                <a:latin typeface="Georgia" pitchFamily="34" charset="0"/>
                <a:ea typeface="Georgia" pitchFamily="34" charset="-122"/>
                <a:cs typeface="Georgia" pitchFamily="34" charset="-120"/>
              </a:rPr>
              <a:t>Patients with encephalopathy had stronger clots than those without</a:t>
            </a:r>
            <a:endParaRPr lang="en-US" sz="1700" dirty="0"/>
          </a:p>
          <a:p>
            <a:pPr marL="228600" indent="-228600">
              <a:spcBef>
                <a:spcPts val="800"/>
              </a:spcBef>
              <a:buSzPct val="100000"/>
              <a:buChar char="–"/>
            </a:pPr>
            <a:r>
              <a:rPr lang="en-US" sz="1700" dirty="0">
                <a:solidFill>
                  <a:srgbClr val="000000"/>
                </a:solidFill>
                <a:latin typeface="Georgia" pitchFamily="34" charset="0"/>
                <a:ea typeface="Georgia" pitchFamily="34" charset="-122"/>
                <a:cs typeface="Georgia" pitchFamily="34" charset="-120"/>
              </a:rPr>
              <a:t>Factors V and VII were low, but protein C, protein S and antithrombin fell too, and factor VIII was about 4 times normal</a:t>
            </a:r>
            <a:endParaRPr lang="en-US" sz="1700" dirty="0"/>
          </a:p>
        </p:txBody>
      </p:sp>
      <p:sp>
        <p:nvSpPr>
          <p:cNvPr id="5" name="Question"/>
          <p:cNvSpPr txBox="1"/>
          <p:nvPr/>
        </p:nvSpPr>
        <p:spPr>
          <a:xfrm>
            <a:off x="822960" y="55321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A high INR doesn't mean she will bleed</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Stravitz RT et al. J Hepatol 2012;56:129-36 [PMID: 21703173]</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30/85</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Rebalanced hemostasis</a:t>
            </a:r>
            <a:endParaRPr lang="en-US" sz="3000" dirty="0"/>
          </a:p>
        </p:txBody>
      </p:sp>
      <p:sp>
        <p:nvSpPr>
          <p:cNvPr id="3" name="Fulcrum"/>
          <p:cNvSpPr/>
          <p:nvPr/>
        </p:nvSpPr>
        <p:spPr>
          <a:xfrm>
            <a:off x="5592928" y="4041648"/>
            <a:ext cx="1005840" cy="914400"/>
          </a:xfrm>
          <a:prstGeom prst="triangle">
            <a:avLst/>
          </a:prstGeom>
          <a:solidFill>
            <a:srgbClr val="000000"/>
          </a:solidFill>
          <a:ln w="12700">
            <a:solidFill>
              <a:srgbClr val="000000"/>
            </a:solidFill>
            <a:prstDash val="solid"/>
          </a:ln>
        </p:spPr>
      </p:sp>
      <p:sp>
        <p:nvSpPr>
          <p:cNvPr id="4" name="Beam"/>
          <p:cNvSpPr/>
          <p:nvPr/>
        </p:nvSpPr>
        <p:spPr>
          <a:xfrm>
            <a:off x="1280160" y="3931920"/>
            <a:ext cx="9631375" cy="109728"/>
          </a:xfrm>
          <a:prstGeom prst="rect">
            <a:avLst/>
          </a:prstGeom>
          <a:solidFill>
            <a:srgbClr val="000000"/>
          </a:solidFill>
          <a:ln w="12700">
            <a:solidFill>
              <a:srgbClr val="000000"/>
            </a:solidFill>
            <a:prstDash val="solid"/>
          </a:ln>
        </p:spPr>
      </p:sp>
      <p:sp>
        <p:nvSpPr>
          <p:cNvPr id="5" name="Pan"/>
          <p:cNvSpPr/>
          <p:nvPr/>
        </p:nvSpPr>
        <p:spPr>
          <a:xfrm>
            <a:off x="1463040" y="1417320"/>
            <a:ext cx="4480560" cy="2423160"/>
          </a:xfrm>
          <a:prstGeom prst="rect">
            <a:avLst/>
          </a:prstGeom>
          <a:solidFill>
            <a:srgbClr val="FFFFFF"/>
          </a:solidFill>
          <a:ln w="15875">
            <a:solidFill>
              <a:srgbClr val="000000"/>
            </a:solidFill>
            <a:prstDash val="solid"/>
          </a:ln>
        </p:spPr>
      </p:sp>
      <p:sp>
        <p:nvSpPr>
          <p:cNvPr id="6" name="Text 4"/>
          <p:cNvSpPr txBox="1"/>
          <p:nvPr/>
        </p:nvSpPr>
        <p:spPr>
          <a:xfrm>
            <a:off x="1463040" y="1417320"/>
            <a:ext cx="4480560" cy="2423160"/>
          </a:xfrm>
          <a:prstGeom prst="rect">
            <a:avLst/>
          </a:prstGeom>
          <a:noFill/>
          <a:ln/>
        </p:spPr>
        <p:txBody>
          <a:bodyPr wrap="square" lIns="76200" tIns="76200" rIns="76200" bIns="7620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Favors bleeding</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factors II, V, VII, IX, X</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fibrinogen when severe</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platelets</a:t>
            </a:r>
            <a:endParaRPr lang="en-US" sz="2000" dirty="0"/>
          </a:p>
        </p:txBody>
      </p:sp>
      <p:sp>
        <p:nvSpPr>
          <p:cNvPr id="7" name="Pan"/>
          <p:cNvSpPr/>
          <p:nvPr/>
        </p:nvSpPr>
        <p:spPr>
          <a:xfrm>
            <a:off x="6248095" y="1417320"/>
            <a:ext cx="4480560" cy="2423160"/>
          </a:xfrm>
          <a:prstGeom prst="rect">
            <a:avLst/>
          </a:prstGeom>
          <a:solidFill>
            <a:srgbClr val="FFFFFF"/>
          </a:solidFill>
          <a:ln w="15875">
            <a:solidFill>
              <a:srgbClr val="000000"/>
            </a:solidFill>
            <a:prstDash val="solid"/>
          </a:ln>
        </p:spPr>
      </p:sp>
      <p:sp>
        <p:nvSpPr>
          <p:cNvPr id="8" name="Text 6"/>
          <p:cNvSpPr txBox="1"/>
          <p:nvPr/>
        </p:nvSpPr>
        <p:spPr>
          <a:xfrm>
            <a:off x="6248095" y="1417320"/>
            <a:ext cx="4480560" cy="2423160"/>
          </a:xfrm>
          <a:prstGeom prst="rect">
            <a:avLst/>
          </a:prstGeom>
          <a:noFill/>
          <a:ln/>
        </p:spPr>
        <p:txBody>
          <a:bodyPr wrap="square" lIns="76200" tIns="76200" rIns="76200" bIns="7620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Favors clotting</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protein C and protein S</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antithrombin</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High factor VIII and von Willebrand factor</a:t>
            </a:r>
            <a:endParaRPr lang="en-US" sz="2000" dirty="0"/>
          </a:p>
        </p:txBody>
      </p:sp>
      <p:sp>
        <p:nvSpPr>
          <p:cNvPr id="9" name="Text 7"/>
          <p:cNvSpPr txBox="1"/>
          <p:nvPr/>
        </p:nvSpPr>
        <p:spPr>
          <a:xfrm>
            <a:off x="1463040" y="4206240"/>
            <a:ext cx="4480560" cy="411480"/>
          </a:xfrm>
          <a:prstGeom prst="rect">
            <a:avLst/>
          </a:prstGeom>
          <a:noFill/>
          <a:ln/>
        </p:spPr>
        <p:txBody>
          <a:bodyPr wrap="square" lIns="0" tIns="0" rIns="0" bIns="0" rtlCol="0" anchor="ctr"/>
          <a:lstStyle/>
          <a:p>
            <a:pPr algn="ctr" indent="0" marL="0">
              <a:buNone/>
            </a:pPr>
            <a:r>
              <a:rPr lang="en-US" sz="1800" b="1" dirty="0">
                <a:solidFill>
                  <a:srgbClr val="C00000"/>
                </a:solidFill>
                <a:latin typeface="Georgia" pitchFamily="34" charset="0"/>
                <a:ea typeface="Georgia" pitchFamily="34" charset="-122"/>
                <a:cs typeface="Georgia" pitchFamily="34" charset="-120"/>
              </a:rPr>
              <a:t>The INR sees part of this side</a:t>
            </a:r>
            <a:endParaRPr lang="en-US" sz="1800" dirty="0"/>
          </a:p>
        </p:txBody>
      </p:sp>
      <p:sp>
        <p:nvSpPr>
          <p:cNvPr id="10" name="Text 8"/>
          <p:cNvSpPr txBox="1"/>
          <p:nvPr/>
        </p:nvSpPr>
        <p:spPr>
          <a:xfrm>
            <a:off x="6248095" y="4206240"/>
            <a:ext cx="4480560" cy="411480"/>
          </a:xfrm>
          <a:prstGeom prst="rect">
            <a:avLst/>
          </a:prstGeom>
          <a:noFill/>
          <a:ln/>
        </p:spPr>
        <p:txBody>
          <a:bodyPr wrap="square" lIns="0" tIns="0" rIns="0" bIns="0" rtlCol="0" anchor="ctr"/>
          <a:lstStyle/>
          <a:p>
            <a:pPr algn="ctr" indent="0" marL="0">
              <a:buNone/>
            </a:pPr>
            <a:r>
              <a:rPr lang="en-US" sz="1800" b="1" dirty="0">
                <a:solidFill>
                  <a:srgbClr val="C00000"/>
                </a:solidFill>
                <a:latin typeface="Georgia" pitchFamily="34" charset="0"/>
                <a:ea typeface="Georgia" pitchFamily="34" charset="-122"/>
                <a:cs typeface="Georgia" pitchFamily="34" charset="-120"/>
              </a:rPr>
              <a:t>The INR doesn't see this side</a:t>
            </a:r>
            <a:endParaRPr lang="en-US" sz="1800" dirty="0"/>
          </a:p>
        </p:txBody>
      </p:sp>
      <p:sp>
        <p:nvSpPr>
          <p:cNvPr id="11" name="Body"/>
          <p:cNvSpPr txBox="1"/>
          <p:nvPr/>
        </p:nvSpPr>
        <p:spPr>
          <a:xfrm>
            <a:off x="822960" y="5349240"/>
            <a:ext cx="10545775" cy="64008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Balanced in most patients, but easily tipped either way: both bleeding and thrombosis happen</a:t>
            </a:r>
            <a:endParaRPr lang="en-US" sz="1900" dirty="0"/>
          </a:p>
        </p:txBody>
      </p:sp>
      <p:sp>
        <p:nvSpPr>
          <p:cNvPr id="12"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Concept from Lisman T, Porte RJ. Blood 2010</a:t>
            </a:r>
            <a:endParaRPr lang="en-US" sz="1000" dirty="0"/>
          </a:p>
        </p:txBody>
      </p:sp>
      <p:sp>
        <p:nvSpPr>
          <p:cNvPr id="1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31/85</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Calling nephrology</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3200" b="1" dirty="0">
                <a:solidFill>
                  <a:srgbClr val="000000"/>
                </a:solidFill>
                <a:latin typeface="Georgia" pitchFamily="34" charset="0"/>
                <a:ea typeface="Georgia" pitchFamily="34" charset="-122"/>
                <a:cs typeface="Georgia" pitchFamily="34" charset="-120"/>
              </a:rPr>
              <a:t>What do you ask them for?</a:t>
            </a:r>
            <a:endParaRPr lang="en-US" sz="32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32/85</a:t>
            </a:r>
            <a:endParaRPr lang="en-US" sz="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Calling nephrology</a:t>
            </a:r>
            <a:endParaRPr lang="en-US" sz="3000" dirty="0"/>
          </a:p>
        </p:txBody>
      </p:sp>
      <p:sp>
        <p:nvSpPr>
          <p:cNvPr id="3" name="Body"/>
          <p:cNvSpPr txBox="1"/>
          <p:nvPr/>
        </p:nvSpPr>
        <p:spPr>
          <a:xfrm>
            <a:off x="640080" y="1463040"/>
            <a:ext cx="7315200" cy="4389120"/>
          </a:xfrm>
          <a:prstGeom prst="rect">
            <a:avLst/>
          </a:prstGeom>
          <a:noFill/>
          <a:ln/>
        </p:spPr>
        <p:txBody>
          <a:bodyPr wrap="square" lIns="50800" tIns="50800" rIns="50800" bIns="50800" rtlCol="0" anchor="t"/>
          <a:lstStyle/>
          <a:p>
            <a:pPr marL="228600" indent="-228600">
              <a:spcBef>
                <a:spcPts val="1600"/>
              </a:spcBef>
              <a:buSzPct val="100000"/>
              <a:buChar char="–"/>
            </a:pPr>
            <a:r>
              <a:rPr lang="en-US" sz="2200" dirty="0">
                <a:solidFill>
                  <a:srgbClr val="000000"/>
                </a:solidFill>
                <a:latin typeface="Georgia" pitchFamily="34" charset="0"/>
                <a:ea typeface="Georgia" pitchFamily="34" charset="-122"/>
                <a:cs typeface="Georgia" pitchFamily="34" charset="-120"/>
              </a:rPr>
              <a:t>It's for the ammonia and the brain, not the creatinine</a:t>
            </a:r>
            <a:endParaRPr lang="en-US" sz="2200" dirty="0"/>
          </a:p>
          <a:p>
            <a:pPr marL="228600" indent="-228600">
              <a:spcBef>
                <a:spcPts val="1600"/>
              </a:spcBef>
              <a:buSzPct val="100000"/>
              <a:buChar char="–"/>
            </a:pPr>
            <a:r>
              <a:rPr lang="en-US" sz="2200" dirty="0">
                <a:solidFill>
                  <a:srgbClr val="000000"/>
                </a:solidFill>
                <a:latin typeface="Georgia" pitchFamily="34" charset="0"/>
                <a:ea typeface="Georgia" pitchFamily="34" charset="-122"/>
                <a:cs typeface="Georgia" pitchFamily="34" charset="-120"/>
              </a:rPr>
              <a:t>Start now and keep it running. A clotted filter means the ammonia climbs back</a:t>
            </a:r>
            <a:endParaRPr lang="en-US" sz="2200" dirty="0"/>
          </a:p>
          <a:p>
            <a:pPr marL="228600" indent="-228600">
              <a:spcBef>
                <a:spcPts val="1600"/>
              </a:spcBef>
              <a:buSzPct val="100000"/>
              <a:buChar char="–"/>
            </a:pPr>
            <a:r>
              <a:rPr lang="en-US" sz="2200" dirty="0">
                <a:solidFill>
                  <a:srgbClr val="000000"/>
                </a:solidFill>
                <a:latin typeface="Georgia" pitchFamily="34" charset="0"/>
                <a:ea typeface="Georgia" pitchFamily="34" charset="-122"/>
                <a:cs typeface="Georgia" pitchFamily="34" charset="-120"/>
              </a:rPr>
              <a:t>One sodium plan: the CRRT fluid and the hypertonic saline together</a:t>
            </a:r>
            <a:endParaRPr lang="en-US" sz="2200" dirty="0"/>
          </a:p>
          <a:p>
            <a:pPr marL="228600" indent="-228600">
              <a:spcBef>
                <a:spcPts val="1600"/>
              </a:spcBef>
              <a:buSzPct val="100000"/>
              <a:buChar char="–"/>
            </a:pPr>
            <a:r>
              <a:rPr lang="en-US" sz="2200" dirty="0">
                <a:solidFill>
                  <a:srgbClr val="000000"/>
                </a:solidFill>
                <a:latin typeface="Georgia" pitchFamily="34" charset="0"/>
                <a:ea typeface="Georgia" pitchFamily="34" charset="-122"/>
                <a:cs typeface="Georgia" pitchFamily="34" charset="-120"/>
              </a:rPr>
              <a:t>Watch phosphate and potassium, and calcium if they use citrate</a:t>
            </a:r>
            <a:endParaRPr lang="en-US" sz="2200" dirty="0"/>
          </a:p>
        </p:txBody>
      </p:sp>
      <p:pic>
        <p:nvPicPr>
          <p:cNvPr id="4" name="Image 0" descr="Watercolor of a CRRT machine with filter and circuit">    </p:cNvPr>
          <p:cNvPicPr>
            <a:picLocks noChangeAspect="1"/>
          </p:cNvPicPr>
          <p:nvPr/>
        </p:nvPicPr>
        <p:blipFill>
          <a:blip r:embed="rId1"/>
          <a:stretch>
            <a:fillRect/>
          </a:stretch>
        </p:blipFill>
        <p:spPr>
          <a:xfrm>
            <a:off x="8275320" y="1828800"/>
            <a:ext cx="3520440" cy="3520440"/>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2023 [PMID: 37377263];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32/85</a:t>
            </a:r>
            <a:endParaRPr lang="en-US" sz="9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txBox="1"/>
          <p:nvPr/>
        </p:nvSpPr>
        <p:spPr>
          <a:xfrm>
            <a:off x="731520" y="2377440"/>
            <a:ext cx="10728655" cy="1280160"/>
          </a:xfrm>
          <a:prstGeom prst="rect">
            <a:avLst/>
          </a:prstGeom>
          <a:noFill/>
          <a:ln/>
        </p:spPr>
        <p:txBody>
          <a:bodyPr wrap="square" lIns="0" tIns="0" rIns="0" bIns="0" rtlCol="0" anchor="ctr"/>
          <a:lstStyle/>
          <a:p>
            <a:pPr algn="ctr" indent="0" marL="0">
              <a:buNone/>
            </a:pPr>
            <a:r>
              <a:rPr lang="en-US" sz="4400" i="1" dirty="0">
                <a:solidFill>
                  <a:srgbClr val="000000"/>
                </a:solidFill>
                <a:latin typeface="Georgia" pitchFamily="34" charset="0"/>
                <a:ea typeface="Georgia" pitchFamily="34" charset="-122"/>
                <a:cs typeface="Georgia" pitchFamily="34" charset="-120"/>
              </a:rPr>
              <a:t>I know what you're thinking...</a:t>
            </a:r>
            <a:endParaRPr lang="en-US" sz="44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33/85</a:t>
            </a:r>
            <a:endParaRPr lang="en-US" sz="9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"CVVH doesn't clear ammonia"</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3200" b="1" dirty="0">
                <a:solidFill>
                  <a:srgbClr val="000000"/>
                </a:solidFill>
                <a:latin typeface="Georgia" pitchFamily="34" charset="0"/>
                <a:ea typeface="Georgia" pitchFamily="34" charset="-122"/>
                <a:cs typeface="Georgia" pitchFamily="34" charset="-120"/>
              </a:rPr>
              <a:t>True or false?</a:t>
            </a:r>
            <a:endParaRPr lang="en-US" sz="32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34/85</a:t>
            </a:r>
            <a:endParaRPr lang="en-US" sz="9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Image 0" descr="Dwight Schrute: False.">    </p:cNvPr>
          <p:cNvPicPr>
            <a:picLocks noChangeAspect="1"/>
          </p:cNvPicPr>
          <p:nvPr/>
        </p:nvPicPr>
        <p:blipFill>
          <a:blip r:embed="rId1"/>
          <a:stretch>
            <a:fillRect/>
          </a:stretch>
        </p:blipFill>
        <p:spPr>
          <a:xfrm>
            <a:off x="1565914" y="411480"/>
            <a:ext cx="9059866" cy="6035040"/>
          </a:xfrm>
          <a:prstGeom prst="rect">
            <a:avLst/>
          </a:prstGeom>
        </p:spPr>
      </p:pic>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34/85</a:t>
            </a:r>
            <a:endParaRPr lang="en-US" sz="9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"CVVH doesn't clear ammonia"</a:t>
            </a:r>
            <a:endParaRPr lang="en-US" sz="3000" dirty="0"/>
          </a:p>
        </p:txBody>
      </p:sp>
      <p:sp>
        <p:nvSpPr>
          <p:cNvPr id="3" name="Body"/>
          <p:cNvSpPr txBox="1"/>
          <p:nvPr/>
        </p:nvSpPr>
        <p:spPr>
          <a:xfrm>
            <a:off x="640080" y="1280160"/>
            <a:ext cx="6035040" cy="3931920"/>
          </a:xfrm>
          <a:prstGeom prst="rect">
            <a:avLst/>
          </a:prstGeom>
          <a:noFill/>
          <a:ln/>
        </p:spPr>
        <p:txBody>
          <a:bodyPr wrap="square" lIns="50800" tIns="50800" rIns="50800" bIns="50800" rtlCol="0" anchor="t"/>
          <a:lstStyle/>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Ammonia is tiny (17 Da), water soluble and not protein bound</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It crosses the filter with the water (convection, CVVH) or down its gradient (diffusion, CVVHD)</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So what matters is effluent flow and hours on a working circuit, not the letters</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More effluent, more clearance: </a:t>
            </a:r>
            <a:r>
              <a:rPr lang="en-US" sz="1900" b="1" dirty="0">
                <a:solidFill>
                  <a:srgbClr val="000000"/>
                </a:solidFill>
                <a:latin typeface="Georgia" pitchFamily="34" charset="0"/>
                <a:ea typeface="Georgia" pitchFamily="34" charset="-122"/>
                <a:cs typeface="Georgia" pitchFamily="34" charset="-120"/>
              </a:rPr>
              <a:t>90 vs 35 mL/kg/h</a:t>
            </a:r>
            <a:r>
              <a:rPr lang="en-US" sz="1900" dirty="0">
                <a:solidFill>
                  <a:srgbClr val="000000"/>
                </a:solidFill>
                <a:latin typeface="Georgia" pitchFamily="34" charset="0"/>
                <a:ea typeface="Georgia" pitchFamily="34" charset="-122"/>
                <a:cs typeface="Georgia" pitchFamily="34" charset="-120"/>
              </a:rPr>
              <a:t> (Slack 2014)</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54 ALF patients on CRRT: median ammonia </a:t>
            </a:r>
            <a:r>
              <a:rPr lang="en-US" sz="1900" b="1" dirty="0">
                <a:solidFill>
                  <a:srgbClr val="000000"/>
                </a:solidFill>
                <a:latin typeface="Georgia" pitchFamily="34" charset="0"/>
                <a:ea typeface="Georgia" pitchFamily="34" charset="-122"/>
                <a:cs typeface="Georgia" pitchFamily="34" charset="-120"/>
              </a:rPr>
              <a:t>151 → 52 μmol/L</a:t>
            </a:r>
            <a:r>
              <a:rPr lang="en-US" sz="1900" dirty="0">
                <a:solidFill>
                  <a:srgbClr val="000000"/>
                </a:solidFill>
                <a:latin typeface="Georgia" pitchFamily="34" charset="0"/>
                <a:ea typeface="Georgia" pitchFamily="34" charset="-122"/>
                <a:cs typeface="Georgia" pitchFamily="34" charset="-120"/>
              </a:rPr>
              <a:t> by day 5 (Warrillow 2020)</a:t>
            </a:r>
            <a:endParaRPr lang="en-US" sz="1900" dirty="0"/>
          </a:p>
        </p:txBody>
      </p:sp>
      <p:graphicFrame>
        <p:nvGraphicFramePr>
          <p:cNvPr id="4" name="Chart 0" descr=""/>
          <p:cNvGraphicFramePr/>
          <p:nvPr/>
        </p:nvGraphicFramePr>
        <p:xfrm>
          <a:off x="6858000" y="1234440"/>
          <a:ext cx="4846320" cy="3931920"/>
        </p:xfrm>
        <a:graphic xmlns:a="http://schemas.openxmlformats.org/drawingml/2006/main">
          <a:graphicData uri="http://schemas.openxmlformats.org/drawingml/2006/chart">
            <c:chart xmlns:c="http://schemas.openxmlformats.org/drawingml/2006/chart" r:id="rId1"/>
          </a:graphicData>
        </a:graphic>
      </p:graphicFrame>
      <p:sp>
        <p:nvSpPr>
          <p:cNvPr id="5" name="Question"/>
          <p:cNvSpPr txBox="1"/>
          <p:nvPr/>
        </p:nvSpPr>
        <p:spPr>
          <a:xfrm>
            <a:off x="822960" y="5394960"/>
            <a:ext cx="10545775" cy="548640"/>
          </a:xfrm>
          <a:prstGeom prst="rect">
            <a:avLst/>
          </a:prstGeom>
          <a:noFill/>
          <a:ln/>
        </p:spPr>
        <p:txBody>
          <a:bodyPr wrap="square" lIns="0" tIns="0" rIns="0" bIns="0" rtlCol="0" anchor="ctr"/>
          <a:lstStyle/>
          <a:p>
            <a:pPr algn="ctr" indent="0" marL="0">
              <a:buNone/>
            </a:pPr>
            <a:r>
              <a:rPr lang="en-US" sz="2100" b="1" dirty="0">
                <a:solidFill>
                  <a:srgbClr val="000000"/>
                </a:solidFill>
                <a:highlight>
                  <a:srgbClr val="FFFF00"/>
                </a:highlight>
                <a:latin typeface="Georgia" pitchFamily="34" charset="0"/>
                <a:ea typeface="Georgia" pitchFamily="34" charset="-122"/>
                <a:cs typeface="Georgia" pitchFamily="34" charset="-120"/>
              </a:rPr>
              <a:t>It does. About half the clearance of urea, so dose and filter life matter</a:t>
            </a:r>
            <a:endParaRPr lang="en-US" sz="21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Fisher C et al. Blood Purif 2022 [PMID: 35042216]; Warrillow SJ et al. Crit Care Med 2020 [PMID: 31939790]; Slack AJ et al. Liver Int 2014</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34/85</a:t>
            </a:r>
            <a:endParaRPr lang="en-US" sz="9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pic>
        <p:nvPicPr>
          <p:cNvPr id="3" name="Image 0" descr="Ammonia on days 1 to 3 with CRRT, intermittent RRT or no RRT">    </p:cNvPr>
          <p:cNvPicPr>
            <a:picLocks noChangeAspect="1"/>
          </p:cNvPicPr>
          <p:nvPr/>
        </p:nvPicPr>
        <p:blipFill>
          <a:blip r:embed="rId1"/>
          <a:stretch>
            <a:fillRect/>
          </a:stretch>
        </p:blipFill>
        <p:spPr>
          <a:xfrm>
            <a:off x="2694261" y="1188720"/>
            <a:ext cx="6803174" cy="429768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2018;67:711-20 [PMID: 28859230]</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35/85</a:t>
            </a:r>
            <a:endParaRPr lang="en-US" sz="9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pic>
        <p:nvPicPr>
          <p:cNvPr id="3" name="Image 0" descr="Ammonia on days 1 to 3 with CRRT, intermittent RRT or no RRT">    </p:cNvPr>
          <p:cNvPicPr>
            <a:picLocks noChangeAspect="1"/>
          </p:cNvPicPr>
          <p:nvPr/>
        </p:nvPicPr>
        <p:blipFill>
          <a:blip r:embed="rId1"/>
          <a:stretch>
            <a:fillRect/>
          </a:stretch>
        </p:blipFill>
        <p:spPr>
          <a:xfrm>
            <a:off x="2694261" y="1188720"/>
            <a:ext cx="6803174" cy="4297680"/>
          </a:xfrm>
          <a:prstGeom prst="rect">
            <a:avLst/>
          </a:prstGeom>
        </p:spPr>
      </p:pic>
      <p:sp>
        <p:nvSpPr>
          <p:cNvPr id="4"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1700" i="1" dirty="0">
                <a:solidFill>
                  <a:srgbClr val="000000"/>
                </a:solidFill>
                <a:latin typeface="Georgia" pitchFamily="34" charset="0"/>
                <a:ea typeface="Georgia" pitchFamily="34" charset="-122"/>
                <a:cs typeface="Georgia" pitchFamily="34" charset="-120"/>
              </a:rPr>
              <a:t>Ammonia fell from about 140 to under 90 μmol/L over 3 days on CRRT. Little change with intermittent RRT or no RRT</a:t>
            </a:r>
            <a:endParaRPr lang="en-US" sz="17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2018;67:711-20 [PMID: 28859230]</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35/85</a:t>
            </a:r>
            <a:endParaRPr lang="en-US" sz="9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graphicFrame>
        <p:nvGraphicFramePr>
          <p:cNvPr id="58" name="Table"/>
          <p:cNvGraphicFramePr>
            <a:graphicFrameLocks noGrp="1"/>
          </p:cNvGraphicFramePr>
          <p:nvPr>
            <p:extLst>
              <p:ext uri="{D42A27DB-BD31-4B8C-83A1-F6EECF244321}">
                <p14:modId xmlns:p14="http://schemas.microsoft.com/office/powerpoint/2010/main" val="1579011935"/>
              </p:ext>
            </p:extLst>
          </p:nvPr>
        </p:nvGraphicFramePr>
        <p:xfrm>
          <a:off x="640080" y="1371600"/>
          <a:ext cx="10911535" cy="914400"/>
        </p:xfrm>
        <a:graphic>
          <a:graphicData uri="http://schemas.openxmlformats.org/drawingml/2006/table">
            <a:tbl>
              <a:tblPr/>
              <a:tblGrid>
                <a:gridCol w="1627632"/>
                <a:gridCol w="3913632"/>
                <a:gridCol w="5367528"/>
              </a:tblGrid>
              <a:tr h="499262">
                <a:tc>
                  <a:txBody>
                    <a:bodyPr/>
                    <a:lstStyle/>
                    <a:p>
                      <a:pPr algn="l"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US ALF Study Group (2018)</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Pilot RCT (2026)</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Design</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Registry, observational</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Open label, ALF with cerebral edema</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Comparison</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CRRT vs no CRRT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CRRT within 12 h vs delayed</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Finding</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Catch</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 [PMID: 28859230]; Aliment Pharmacol Ther 2026 [PMID: 42332991]</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36/85</a:t>
            </a:r>
            <a:endParaRPr lang="en-US" sz="9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graphicFrame>
        <p:nvGraphicFramePr>
          <p:cNvPr id="59" name="Table"/>
          <p:cNvGraphicFramePr>
            <a:graphicFrameLocks noGrp="1"/>
          </p:cNvGraphicFramePr>
          <p:nvPr>
            <p:extLst>
              <p:ext uri="{D42A27DB-BD31-4B8C-83A1-F6EECF244321}">
                <p14:modId xmlns:p14="http://schemas.microsoft.com/office/powerpoint/2010/main" val="1579011935"/>
              </p:ext>
            </p:extLst>
          </p:nvPr>
        </p:nvGraphicFramePr>
        <p:xfrm>
          <a:off x="640080" y="1371600"/>
          <a:ext cx="10911535" cy="914400"/>
        </p:xfrm>
        <a:graphic>
          <a:graphicData uri="http://schemas.openxmlformats.org/drawingml/2006/table">
            <a:tbl>
              <a:tblPr/>
              <a:tblGrid>
                <a:gridCol w="1627632"/>
                <a:gridCol w="3913632"/>
                <a:gridCol w="5367528"/>
              </a:tblGrid>
              <a:tr h="499262">
                <a:tc>
                  <a:txBody>
                    <a:bodyPr/>
                    <a:lstStyle/>
                    <a:p>
                      <a:pPr algn="l"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US ALF Study Group (2018)</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Pilot RCT (2026)</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Design</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Registry, observational</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Open label, ALF with cerebral edema</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Comparison</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CRRT vs no CRRT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CRRT within 12 h vs delayed</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Finding</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Lower ammonia, better survival</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Same 28-day survival; fewer deaths by day 7</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Catch</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Association; selection bias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Small, one center, protocol violations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 [PMID: 28859230]; Aliment Pharmacol Ther 2026 [PMID: 42332991]</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36/85</a:t>
            </a:r>
            <a:endParaRPr lang="en-US" sz="9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3: the enzymes are falling</a:t>
            </a:r>
            <a:endParaRPr lang="en-US" sz="3000" dirty="0"/>
          </a:p>
        </p:txBody>
      </p:sp>
      <p:graphicFrame>
        <p:nvGraphicFramePr>
          <p:cNvPr id="3" name="Chart 0" descr=""/>
          <p:cNvGraphicFramePr/>
          <p:nvPr/>
        </p:nvGraphicFramePr>
        <p:xfrm>
          <a:off x="548640" y="1234440"/>
          <a:ext cx="5486400" cy="3931920"/>
        </p:xfrm>
        <a:graphic xmlns:a="http://schemas.openxmlformats.org/drawingml/2006/main">
          <a:graphicData uri="http://schemas.openxmlformats.org/drawingml/2006/chart">
            <c:chart xmlns:c="http://schemas.openxmlformats.org/drawingml/2006/chart" r:id="rId1"/>
          </a:graphicData>
        </a:graphic>
      </p:graphicFrame>
      <p:sp>
        <p:nvSpPr>
          <p:cNvPr id="4" name="Question"/>
          <p:cNvSpPr txBox="1"/>
          <p:nvPr/>
        </p:nvSpPr>
        <p:spPr>
          <a:xfrm>
            <a:off x="6583680" y="2743200"/>
            <a:ext cx="4937760" cy="91440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Is she getting better?</a:t>
            </a:r>
            <a:endParaRPr lang="en-US" sz="3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37/85</a:t>
            </a:r>
            <a:endParaRPr lang="en-US" sz="9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3: the enzymes are falling</a:t>
            </a:r>
            <a:endParaRPr lang="en-US" sz="3000" dirty="0"/>
          </a:p>
        </p:txBody>
      </p:sp>
      <p:graphicFrame>
        <p:nvGraphicFramePr>
          <p:cNvPr id="3" name="Chart 0" descr=""/>
          <p:cNvGraphicFramePr/>
          <p:nvPr/>
        </p:nvGraphicFramePr>
        <p:xfrm>
          <a:off x="548640" y="1234440"/>
          <a:ext cx="5486400" cy="393192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 1" descr=""/>
          <p:cNvGraphicFramePr/>
          <p:nvPr/>
        </p:nvGraphicFramePr>
        <p:xfrm>
          <a:off x="6217920" y="1234440"/>
          <a:ext cx="5486400" cy="3931920"/>
        </p:xfrm>
        <a:graphic xmlns:a="http://schemas.openxmlformats.org/drawingml/2006/main">
          <a:graphicData uri="http://schemas.openxmlformats.org/drawingml/2006/chart">
            <c:chart xmlns:c="http://schemas.openxmlformats.org/drawingml/2006/chart" r:id="rId2"/>
          </a:graphicData>
        </a:graphic>
      </p:graphicFrame>
      <p:sp>
        <p:nvSpPr>
          <p:cNvPr id="5" name="Body"/>
          <p:cNvSpPr txBox="1"/>
          <p:nvPr/>
        </p:nvSpPr>
        <p:spPr>
          <a:xfrm>
            <a:off x="6217920" y="5138928"/>
            <a:ext cx="5486400" cy="411480"/>
          </a:xfrm>
          <a:prstGeom prst="rect">
            <a:avLst/>
          </a:prstGeom>
          <a:noFill/>
          <a:ln/>
        </p:spPr>
        <p:txBody>
          <a:bodyPr wrap="square" lIns="50800" tIns="50800" rIns="50800" bIns="50800" rtlCol="0" anchor="t"/>
          <a:lstStyle/>
          <a:p>
            <a:pPr algn="ctr" indent="0" marL="0">
              <a:spcBef>
                <a:spcPts val="800"/>
              </a:spcBef>
              <a:buNone/>
            </a:pPr>
            <a:r>
              <a:rPr lang="en-US" sz="1700" i="1" dirty="0">
                <a:solidFill>
                  <a:srgbClr val="000000"/>
                </a:solidFill>
                <a:latin typeface="Georgia" pitchFamily="34" charset="0"/>
                <a:ea typeface="Georgia" pitchFamily="34" charset="-122"/>
                <a:cs typeface="Georgia" pitchFamily="34" charset="-120"/>
              </a:rPr>
              <a:t>Day 2 arterial pH 7.26 after fluids</a:t>
            </a:r>
            <a:endParaRPr lang="en-US" sz="1700" dirty="0"/>
          </a:p>
        </p:txBody>
      </p:sp>
      <p:sp>
        <p:nvSpPr>
          <p:cNvPr id="6" name="Question"/>
          <p:cNvSpPr txBox="1"/>
          <p:nvPr/>
        </p:nvSpPr>
        <p:spPr>
          <a:xfrm>
            <a:off x="822960" y="56235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 The INR, the lactate and her brain are all worse</a:t>
            </a:r>
            <a:endParaRPr lang="en-US" sz="24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37/85</a:t>
            </a:r>
            <a:endParaRPr lang="en-US" sz="9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call transplant hepatology?</a:t>
            </a:r>
            <a:endParaRPr lang="en-US" sz="3000" dirty="0"/>
          </a:p>
        </p:txBody>
      </p:sp>
      <p:sp>
        <p:nvSpPr>
          <p:cNvPr id="3" name="Question"/>
          <p:cNvSpPr txBox="1"/>
          <p:nvPr/>
        </p:nvSpPr>
        <p:spPr>
          <a:xfrm>
            <a:off x="822960" y="237744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When she meets King's College criteria?</a:t>
            </a:r>
            <a:endParaRPr lang="en-US" sz="2800" dirty="0"/>
          </a:p>
        </p:txBody>
      </p:sp>
      <p:sp>
        <p:nvSpPr>
          <p:cNvPr id="4" name="Question"/>
          <p:cNvSpPr txBox="1"/>
          <p:nvPr/>
        </p:nvSpPr>
        <p:spPr>
          <a:xfrm>
            <a:off x="822960" y="310896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When MELD is high enough?</a:t>
            </a:r>
            <a:endParaRPr lang="en-US" sz="2800" dirty="0"/>
          </a:p>
        </p:txBody>
      </p:sp>
      <p:pic>
        <p:nvPicPr>
          <p:cNvPr id="5" name="Image 0" descr="Watercolor of a desk phone with the handset off the hook">    </p:cNvPr>
          <p:cNvPicPr>
            <a:picLocks noChangeAspect="1"/>
          </p:cNvPicPr>
          <p:nvPr/>
        </p:nvPicPr>
        <p:blipFill>
          <a:blip r:embed="rId1"/>
          <a:stretch>
            <a:fillRect/>
          </a:stretch>
        </p:blipFill>
        <p:spPr>
          <a:xfrm>
            <a:off x="4769968" y="3840480"/>
            <a:ext cx="2651760" cy="265176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38/85</a:t>
            </a:r>
            <a:endParaRPr lang="en-US" sz="9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call transplant hepatology?</a:t>
            </a:r>
            <a:endParaRPr lang="en-US" sz="3000" dirty="0"/>
          </a:p>
        </p:txBody>
      </p:sp>
      <p:sp>
        <p:nvSpPr>
          <p:cNvPr id="3" name="Question"/>
          <p:cNvSpPr txBox="1"/>
          <p:nvPr/>
        </p:nvSpPr>
        <p:spPr>
          <a:xfrm>
            <a:off x="822960" y="14630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You should have called on admission, when you first suspected ALF</a:t>
            </a:r>
            <a:endParaRPr lang="en-US" sz="2400" dirty="0"/>
          </a:p>
        </p:txBody>
      </p:sp>
      <p:sp>
        <p:nvSpPr>
          <p:cNvPr id="4" name="Body"/>
          <p:cNvSpPr txBox="1"/>
          <p:nvPr/>
        </p:nvSpPr>
        <p:spPr>
          <a:xfrm>
            <a:off x="822960" y="2377440"/>
            <a:ext cx="7680960" cy="3108960"/>
          </a:xfrm>
          <a:prstGeom prst="rect">
            <a:avLst/>
          </a:prstGeom>
          <a:noFill/>
          <a:ln/>
        </p:spPr>
        <p:txBody>
          <a:bodyPr wrap="square" lIns="50800" tIns="50800" rIns="50800" bIns="50800" rtlCol="0" anchor="t"/>
          <a:lstStyle/>
          <a:p>
            <a:pPr marL="228600" indent="-228600">
              <a:spcBef>
                <a:spcPts val="1400"/>
              </a:spcBef>
              <a:buSzPct val="100000"/>
              <a:buChar char="–"/>
            </a:pPr>
            <a:r>
              <a:rPr lang="en-US" sz="2100" dirty="0">
                <a:solidFill>
                  <a:srgbClr val="000000"/>
                </a:solidFill>
                <a:latin typeface="Georgia" pitchFamily="34" charset="0"/>
                <a:ea typeface="Georgia" pitchFamily="34" charset="-122"/>
                <a:cs typeface="Georgia" pitchFamily="34" charset="-120"/>
              </a:rPr>
              <a:t>King's College criteria predict death without transplant. They are specific, not sensitive</a:t>
            </a:r>
            <a:endParaRPr lang="en-US" sz="2100" dirty="0"/>
          </a:p>
          <a:p>
            <a:pPr marL="228600" indent="-228600">
              <a:spcBef>
                <a:spcPts val="1400"/>
              </a:spcBef>
              <a:buSzPct val="100000"/>
              <a:buChar char="–"/>
            </a:pPr>
            <a:r>
              <a:rPr lang="en-US" sz="2100" dirty="0">
                <a:solidFill>
                  <a:srgbClr val="000000"/>
                </a:solidFill>
                <a:latin typeface="Georgia" pitchFamily="34" charset="0"/>
                <a:ea typeface="Georgia" pitchFamily="34" charset="-122"/>
                <a:cs typeface="Georgia" pitchFamily="34" charset="-120"/>
              </a:rPr>
              <a:t>They are not a referral threshold. If you wait for them, the evaluation starts too late</a:t>
            </a:r>
            <a:endParaRPr lang="en-US" sz="2100" dirty="0"/>
          </a:p>
          <a:p>
            <a:pPr marL="228600" indent="-228600">
              <a:spcBef>
                <a:spcPts val="1400"/>
              </a:spcBef>
              <a:buSzPct val="100000"/>
              <a:buChar char="–"/>
            </a:pPr>
            <a:r>
              <a:rPr lang="en-US" sz="2100" dirty="0">
                <a:solidFill>
                  <a:srgbClr val="000000"/>
                </a:solidFill>
                <a:latin typeface="Georgia" pitchFamily="34" charset="0"/>
                <a:ea typeface="Georgia" pitchFamily="34" charset="-122"/>
                <a:cs typeface="Georgia" pitchFamily="34" charset="-120"/>
              </a:rPr>
              <a:t>Patient A: arterial pH </a:t>
            </a:r>
            <a:r>
              <a:rPr lang="en-US" sz="2100" b="1" dirty="0">
                <a:solidFill>
                  <a:srgbClr val="C00000"/>
                </a:solidFill>
                <a:latin typeface="Georgia" pitchFamily="34" charset="0"/>
                <a:ea typeface="Georgia" pitchFamily="34" charset="-122"/>
                <a:cs typeface="Georgia" pitchFamily="34" charset="-120"/>
              </a:rPr>
              <a:t>7.26</a:t>
            </a:r>
            <a:r>
              <a:rPr lang="en-US" sz="2100" dirty="0">
                <a:solidFill>
                  <a:srgbClr val="000000"/>
                </a:solidFill>
                <a:latin typeface="Georgia" pitchFamily="34" charset="0"/>
                <a:ea typeface="Georgia" pitchFamily="34" charset="-122"/>
                <a:cs typeface="Georgia" pitchFamily="34" charset="-120"/>
              </a:rPr>
              <a:t> on day 2 after fluids. She now meets the acetaminophen criteria</a:t>
            </a:r>
            <a:endParaRPr lang="en-US" sz="2100" dirty="0"/>
          </a:p>
        </p:txBody>
      </p:sp>
      <p:pic>
        <p:nvPicPr>
          <p:cNvPr id="5" name="Image 0" descr="Watercolor of a desk phone with the handset off the hook">    </p:cNvPr>
          <p:cNvPicPr>
            <a:picLocks noChangeAspect="1"/>
          </p:cNvPicPr>
          <p:nvPr/>
        </p:nvPicPr>
        <p:blipFill>
          <a:blip r:embed="rId1"/>
          <a:stretch>
            <a:fillRect/>
          </a:stretch>
        </p:blipFill>
        <p:spPr>
          <a:xfrm>
            <a:off x="8595360" y="2377440"/>
            <a:ext cx="3200400" cy="3200400"/>
          </a:xfrm>
          <a:prstGeom prst="rect">
            <a:avLst/>
          </a:prstGeom>
        </p:spPr>
      </p:pic>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O'Grady 1989 criteria, as summarized in EASL 2017 [PMID: 28417882]; full criteria in the appendix</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38/85</a:t>
            </a:r>
            <a:endParaRPr lang="en-US" sz="9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pic>
        <p:nvPicPr>
          <p:cNvPr id="3" name="Image 0" descr="Larsen 2016 plasma exchange trial: title">    </p:cNvPr>
          <p:cNvPicPr>
            <a:picLocks noChangeAspect="1"/>
          </p:cNvPicPr>
          <p:nvPr/>
        </p:nvPicPr>
        <p:blipFill>
          <a:blip r:embed="rId1"/>
          <a:stretch>
            <a:fillRect/>
          </a:stretch>
        </p:blipFill>
        <p:spPr>
          <a:xfrm>
            <a:off x="3045800" y="1097280"/>
            <a:ext cx="6100096" cy="2194560"/>
          </a:xfrm>
          <a:prstGeom prst="rect">
            <a:avLst/>
          </a:prstGeom>
        </p:spPr>
      </p:pic>
      <p:sp>
        <p:nvSpPr>
          <p:cNvPr id="4" name="Question"/>
          <p:cNvSpPr txBox="1"/>
          <p:nvPr/>
        </p:nvSpPr>
        <p:spPr>
          <a:xfrm>
            <a:off x="822960" y="38404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2016;64:69-78 [PMID: 26325537]</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39/85</a:t>
            </a:r>
            <a:endParaRPr lang="en-US" sz="9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pic>
        <p:nvPicPr>
          <p:cNvPr id="3" name="Image 0" descr="Larsen 2016 plasma exchange trial: title">    </p:cNvPr>
          <p:cNvPicPr>
            <a:picLocks noChangeAspect="1"/>
          </p:cNvPicPr>
          <p:nvPr/>
        </p:nvPicPr>
        <p:blipFill>
          <a:blip r:embed="rId1"/>
          <a:stretch>
            <a:fillRect/>
          </a:stretch>
        </p:blipFill>
        <p:spPr>
          <a:xfrm>
            <a:off x="3045800" y="1097280"/>
            <a:ext cx="6100096" cy="2194560"/>
          </a:xfrm>
          <a:prstGeom prst="rect">
            <a:avLst/>
          </a:prstGeom>
        </p:spPr>
      </p:pic>
      <p:pic>
        <p:nvPicPr>
          <p:cNvPr id="4" name="Image 1" descr="Larsen 2016 plasma exchange trial">    </p:cNvPr>
          <p:cNvPicPr>
            <a:picLocks noChangeAspect="1"/>
          </p:cNvPicPr>
          <p:nvPr/>
        </p:nvPicPr>
        <p:blipFill>
          <a:blip r:embed="rId2"/>
          <a:stretch>
            <a:fillRect/>
          </a:stretch>
        </p:blipFill>
        <p:spPr>
          <a:xfrm>
            <a:off x="3474393" y="3520440"/>
            <a:ext cx="5242908" cy="2651760"/>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2016;64:69-78 [PMID: 26325537]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39/85</a:t>
            </a:r>
            <a:endParaRPr lang="en-US" sz="9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graphicFrame>
        <p:nvGraphicFramePr>
          <p:cNvPr id="66" name="Table"/>
          <p:cNvGraphicFramePr>
            <a:graphicFrameLocks noGrp="1"/>
          </p:cNvGraphicFramePr>
          <p:nvPr>
            <p:extLst>
              <p:ext uri="{D42A27DB-BD31-4B8C-83A1-F6EECF244321}">
                <p14:modId xmlns:p14="http://schemas.microsoft.com/office/powerpoint/2010/main" val="1579011935"/>
              </p:ext>
            </p:extLst>
          </p:nvPr>
        </p:nvGraphicFramePr>
        <p:xfrm>
          <a:off x="822960" y="1463040"/>
          <a:ext cx="10545775" cy="914400"/>
        </p:xfrm>
        <a:graphic>
          <a:graphicData uri="http://schemas.openxmlformats.org/drawingml/2006/table">
            <a:tbl>
              <a:tblPr/>
              <a:tblGrid>
                <a:gridCol w="1536192"/>
                <a:gridCol w="9006840"/>
              </a:tblGrid>
              <a:tr h="640080">
                <a:tc>
                  <a:txBody>
                    <a:bodyPr/>
                    <a:lstStyle/>
                    <a:p>
                      <a:pPr algn="l" indent="0" marL="0">
                        <a:buNone/>
                      </a:pPr>
                      <a:r>
                        <a:rPr lang="en-US" sz="2200" b="1" dirty="0">
                          <a:solidFill>
                            <a:srgbClr val="000000"/>
                          </a:solidFill>
                          <a:latin typeface="Calibri" pitchFamily="34" charset="0"/>
                          <a:ea typeface="Calibri" pitchFamily="34" charset="-122"/>
                          <a:cs typeface="Calibri" pitchFamily="34" charset="-120"/>
                        </a:rPr>
                        <a:t>Study</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RCT, 182 ALF: high-volume plasma exchange × 3 days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2200" b="1" dirty="0">
                          <a:solidFill>
                            <a:srgbClr val="000000"/>
                          </a:solidFill>
                          <a:latin typeface="Calibri" pitchFamily="34" charset="0"/>
                          <a:ea typeface="Calibri" pitchFamily="34" charset="-122"/>
                          <a:cs typeface="Calibri" pitchFamily="34" charset="-120"/>
                        </a:rPr>
                        <a:t>Finding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Hospital survival 58.7% vs 47.8% (HR 0.56)</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2200" b="1" dirty="0">
                          <a:solidFill>
                            <a:srgbClr val="000000"/>
                          </a:solidFill>
                          <a:latin typeface="Calibri" pitchFamily="34" charset="0"/>
                          <a:ea typeface="Calibri" pitchFamily="34" charset="-122"/>
                          <a:cs typeface="Calibri" pitchFamily="34" charset="-120"/>
                        </a:rPr>
                        <a:t>Limits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2200" b="1" dirty="0">
                          <a:solidFill>
                            <a:srgbClr val="000000"/>
                          </a:solidFill>
                          <a:latin typeface="Calibri" pitchFamily="34" charset="0"/>
                          <a:ea typeface="Calibri" pitchFamily="34" charset="-122"/>
                          <a:cs typeface="Calibri" pitchFamily="34" charset="-120"/>
                        </a:rPr>
                        <a:t>So</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 [PMID: 26325537]</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40/85</a:t>
            </a:r>
            <a:endParaRPr lang="en-US" sz="9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graphicFrame>
        <p:nvGraphicFramePr>
          <p:cNvPr id="67" name="Table"/>
          <p:cNvGraphicFramePr>
            <a:graphicFrameLocks noGrp="1"/>
          </p:cNvGraphicFramePr>
          <p:nvPr>
            <p:extLst>
              <p:ext uri="{D42A27DB-BD31-4B8C-83A1-F6EECF244321}">
                <p14:modId xmlns:p14="http://schemas.microsoft.com/office/powerpoint/2010/main" val="1579011935"/>
              </p:ext>
            </p:extLst>
          </p:nvPr>
        </p:nvGraphicFramePr>
        <p:xfrm>
          <a:off x="822960" y="1463040"/>
          <a:ext cx="10545775" cy="914400"/>
        </p:xfrm>
        <a:graphic>
          <a:graphicData uri="http://schemas.openxmlformats.org/drawingml/2006/table">
            <a:tbl>
              <a:tblPr/>
              <a:tblGrid>
                <a:gridCol w="1536192"/>
                <a:gridCol w="9006840"/>
              </a:tblGrid>
              <a:tr h="640080">
                <a:tc>
                  <a:txBody>
                    <a:bodyPr/>
                    <a:lstStyle/>
                    <a:p>
                      <a:pPr algn="l" indent="0" marL="0">
                        <a:buNone/>
                      </a:pPr>
                      <a:r>
                        <a:rPr lang="en-US" sz="2200" b="1" dirty="0">
                          <a:solidFill>
                            <a:srgbClr val="000000"/>
                          </a:solidFill>
                          <a:latin typeface="Calibri" pitchFamily="34" charset="0"/>
                          <a:ea typeface="Calibri" pitchFamily="34" charset="-122"/>
                          <a:cs typeface="Calibri" pitchFamily="34" charset="-120"/>
                        </a:rPr>
                        <a:t>Study</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RCT, 182 ALF: high-volume plasma exchange × 3 days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2200" b="1" dirty="0">
                          <a:solidFill>
                            <a:srgbClr val="000000"/>
                          </a:solidFill>
                          <a:latin typeface="Calibri" pitchFamily="34" charset="0"/>
                          <a:ea typeface="Calibri" pitchFamily="34" charset="-122"/>
                          <a:cs typeface="Calibri" pitchFamily="34" charset="-120"/>
                        </a:rPr>
                        <a:t>Finding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Hospital survival 58.7% vs 47.8% (HR 0.56)</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2200" b="1" dirty="0">
                          <a:solidFill>
                            <a:srgbClr val="000000"/>
                          </a:solidFill>
                          <a:latin typeface="Calibri" pitchFamily="34" charset="0"/>
                          <a:ea typeface="Calibri" pitchFamily="34" charset="-122"/>
                          <a:cs typeface="Calibri" pitchFamily="34" charset="-120"/>
                        </a:rPr>
                        <a:t>Limits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Not blinded; nothing on ACLF</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2200" b="1" dirty="0">
                          <a:solidFill>
                            <a:srgbClr val="000000"/>
                          </a:solidFill>
                          <a:latin typeface="Calibri" pitchFamily="34" charset="0"/>
                          <a:ea typeface="Calibri" pitchFamily="34" charset="-122"/>
                          <a:cs typeface="Calibri" pitchFamily="34" charset="-120"/>
                        </a:rPr>
                        <a:t>So</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 bridge; don't delay listing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 [PMID: 26325537]</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40/85</a:t>
            </a:r>
            <a:endParaRPr lang="en-US" sz="9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Let's recap: bed 4, day 3</a:t>
            </a:r>
            <a:endParaRPr lang="en-US" sz="3000" dirty="0"/>
          </a:p>
        </p:txBody>
      </p:sp>
      <p:graphicFrame>
        <p:nvGraphicFramePr>
          <p:cNvPr id="68"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911535" cy="914400"/>
        </p:xfrm>
        <a:graphic>
          <a:graphicData uri="http://schemas.openxmlformats.org/drawingml/2006/table">
            <a:tbl>
              <a:tblPr/>
              <a:tblGrid>
                <a:gridCol w="3282696"/>
                <a:gridCol w="4654296"/>
                <a:gridCol w="2971800"/>
              </a:tblGrid>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Problem</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What she's 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What we watch</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Acetaminophen ALF, pH 7.26</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NAC; listed 1A on day 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Time to an offer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HE III-IV, ammonia 182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Intubated, CO2 normal, Na 145-155, CRRT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Pupils, ammonia, Na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Lactate 5.8 and rising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Volume, MAP, look for infection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Lactate, MAP, pressors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INR 5.6, not bleeding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No plasma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Bleeding, INR trend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Infection risk</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Surveillance cultures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Low bar for antimicrobials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41/85</a:t>
            </a:r>
            <a:endParaRPr lang="en-US" sz="9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Image 0" descr="Watercolor of a coiled stethoscope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731520" y="1737360"/>
            <a:ext cx="10728655" cy="1280160"/>
          </a:xfrm>
          <a:prstGeom prst="rect">
            <a:avLst/>
          </a:prstGeom>
          <a:noFill/>
          <a:ln/>
        </p:spPr>
        <p:txBody>
          <a:bodyPr wrap="square" lIns="0" tIns="0" rIns="0" bIns="0" rtlCol="0" anchor="ctr"/>
          <a:lstStyle/>
          <a:p>
            <a:pPr algn="ctr" indent="0" marL="0">
              <a:buNone/>
            </a:pPr>
            <a:r>
              <a:rPr lang="en-US" sz="4800" dirty="0">
                <a:solidFill>
                  <a:srgbClr val="000000"/>
                </a:solidFill>
                <a:latin typeface="Georgia" pitchFamily="34" charset="0"/>
                <a:ea typeface="Georgia" pitchFamily="34" charset="-122"/>
                <a:cs typeface="Georgia" pitchFamily="34" charset="-120"/>
              </a:rPr>
              <a:t>Any questions so far?</a:t>
            </a:r>
            <a:endParaRPr lang="en-US" sz="48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42/85</a:t>
            </a:r>
            <a:endParaRPr lang="en-US" sz="9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Image 0" descr="Watercolor of a shrunken nodular cirrhotic liv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Bed 7</a:t>
            </a:r>
            <a:endParaRPr lang="en-US" sz="4800" dirty="0"/>
          </a:p>
        </p:txBody>
      </p:sp>
      <p:sp>
        <p:nvSpPr>
          <p:cNvPr id="4" name="Text 1"/>
          <p:cNvSpPr txBox="1"/>
          <p:nvPr/>
        </p:nvSpPr>
        <p:spPr>
          <a:xfrm>
            <a:off x="548640" y="3429000"/>
            <a:ext cx="5212080" cy="548640"/>
          </a:xfrm>
          <a:prstGeom prst="rect">
            <a:avLst/>
          </a:prstGeom>
          <a:noFill/>
          <a:ln/>
        </p:spPr>
        <p:txBody>
          <a:bodyPr wrap="square" lIns="0" tIns="0" rIns="0" bIns="0" rtlCol="0" anchor="ctr"/>
          <a:lstStyle/>
          <a:p>
            <a:pPr algn="ctr" indent="0" marL="0">
              <a:buNone/>
            </a:pPr>
            <a:r>
              <a:rPr lang="en-US" sz="2400" dirty="0">
                <a:solidFill>
                  <a:srgbClr val="595959"/>
                </a:solidFill>
                <a:latin typeface="Georgia" pitchFamily="34" charset="0"/>
                <a:ea typeface="Georgia" pitchFamily="34" charset="-122"/>
                <a:cs typeface="Georgia" pitchFamily="34" charset="-120"/>
              </a:rPr>
              <a:t>56M, cirrhosis and fever</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43/85</a:t>
            </a:r>
            <a:endParaRPr lang="en-US" sz="9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Back to day 1: bed 7</a:t>
            </a:r>
            <a:endParaRPr lang="en-US" sz="3000" dirty="0"/>
          </a:p>
        </p:txBody>
      </p:sp>
      <p:graphicFrame>
        <p:nvGraphicFramePr>
          <p:cNvPr id="71" name="Table"/>
          <p:cNvGraphicFramePr>
            <a:graphicFrameLocks noGrp="1"/>
          </p:cNvGraphicFramePr>
          <p:nvPr>
            <p:extLst>
              <p:ext uri="{D42A27DB-BD31-4B8C-83A1-F6EECF244321}">
                <p14:modId xmlns:p14="http://schemas.microsoft.com/office/powerpoint/2010/main" val="1579011935"/>
              </p:ext>
            </p:extLst>
          </p:nvPr>
        </p:nvGraphicFramePr>
        <p:xfrm>
          <a:off x="2011680" y="1828800"/>
          <a:ext cx="8138160" cy="914400"/>
        </p:xfrm>
        <a:graphic>
          <a:graphicData uri="http://schemas.openxmlformats.org/drawingml/2006/table">
            <a:tbl>
              <a:tblPr/>
              <a:tblGrid>
                <a:gridCol w="2953512"/>
                <a:gridCol w="5184648"/>
              </a:tblGrid>
              <a:tr h="475488">
                <a:tc>
                  <a:txBody>
                    <a:bodyPr/>
                    <a:lstStyle/>
                    <a:p>
                      <a:pPr algn="ctr" indent="0" marL="0">
                        <a:buNone/>
                      </a:pPr>
                      <a:r>
                        <a:rPr lang="en-US" sz="2000" b="1" dirty="0">
                          <a:solidFill>
                            <a:srgbClr val="8C8C8C"/>
                          </a:solidFill>
                          <a:latin typeface="Calibri" pitchFamily="34" charset="0"/>
                          <a:ea typeface="Calibri" pitchFamily="34" charset="-122"/>
                          <a:cs typeface="Calibri" pitchFamily="34" charset="-120"/>
                        </a:rPr>
                        <a:t>Bed 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highlight>
                            <a:srgbClr val="FFFF00"/>
                          </a:highlight>
                          <a:latin typeface="Calibri" pitchFamily="34" charset="0"/>
                          <a:ea typeface="Calibri" pitchFamily="34" charset="-122"/>
                          <a:cs typeface="Calibri" pitchFamily="34" charset="-120"/>
                        </a:rPr>
                        <a:t>Bed 7</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75488">
                <a:tc>
                  <a:txBody>
                    <a:bodyPr/>
                    <a:lstStyle/>
                    <a:p>
                      <a:pPr algn="ctr" indent="0" marL="0">
                        <a:buNone/>
                      </a:pPr>
                      <a:r>
                        <a:rPr lang="en-US" sz="2000" dirty="0">
                          <a:solidFill>
                            <a:srgbClr val="8C8C8C"/>
                          </a:solidFill>
                          <a:latin typeface="Calibri" pitchFamily="34" charset="0"/>
                          <a:ea typeface="Calibri" pitchFamily="34" charset="-122"/>
                          <a:cs typeface="Calibri" pitchFamily="34" charset="-120"/>
                        </a:rPr>
                        <a:t>28-year-old woman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56-year-old 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000" dirty="0">
                          <a:solidFill>
                            <a:srgbClr val="8C8C8C"/>
                          </a:solidFill>
                          <a:latin typeface="Calibri" pitchFamily="34" charset="0"/>
                          <a:ea typeface="Calibri" pitchFamily="34" charset="-122"/>
                          <a:cs typeface="Calibri" pitchFamily="34" charset="-120"/>
                        </a:rPr>
                        <a:t>Acetaminophen ALF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Alcohol-related cirrhosis with ascites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000" dirty="0">
                          <a:solidFill>
                            <a:srgbClr val="8C8C8C"/>
                          </a:solidFill>
                          <a:latin typeface="Calibri" pitchFamily="34" charset="0"/>
                          <a:ea typeface="Calibri" pitchFamily="34" charset="-122"/>
                          <a:cs typeface="Calibri" pitchFamily="34" charset="-120"/>
                        </a:rPr>
                        <a:t>Intubated, on CRRT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Fever, confusion, low blood pressure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75488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Is this liver failure too?</a:t>
            </a:r>
            <a:endParaRPr lang="en-US" sz="2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44/85</a:t>
            </a:r>
            <a:endParaRPr lang="en-US" sz="9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56M, cirrhosis and fever</a:t>
            </a:r>
            <a:endParaRPr lang="en-US" sz="3000" dirty="0"/>
          </a:p>
        </p:txBody>
      </p:sp>
      <p:sp>
        <p:nvSpPr>
          <p:cNvPr id="3" name="Body"/>
          <p:cNvSpPr txBox="1"/>
          <p:nvPr/>
        </p:nvSpPr>
        <p:spPr>
          <a:xfrm>
            <a:off x="640080" y="1371600"/>
            <a:ext cx="5852160" cy="3383280"/>
          </a:xfrm>
          <a:prstGeom prst="rect">
            <a:avLst/>
          </a:prstGeom>
          <a:noFill/>
          <a:ln/>
        </p:spPr>
        <p:txBody>
          <a:bodyPr wrap="square" lIns="50800" tIns="50800" rIns="50800" bIns="50800" rtlCol="0" anchor="t"/>
          <a:lstStyle/>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Alcohol-related cirrhosis, ascites on diuretics; last drink 3 weeks ago</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Temp 38.4 °C, HR 112, BP 82/46</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RR 26, SpO2 92% on a 35% Venturi mask; PaO2 74</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Confused, asterixis (grade II)</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Urine output 15 mL/h</a:t>
            </a:r>
            <a:endParaRPr lang="en-US" sz="1900" dirty="0"/>
          </a:p>
        </p:txBody>
      </p:sp>
      <p:graphicFrame>
        <p:nvGraphicFramePr>
          <p:cNvPr id="72" name="Table"/>
          <p:cNvGraphicFramePr>
            <a:graphicFrameLocks noGrp="1"/>
          </p:cNvGraphicFramePr>
          <p:nvPr>
            <p:extLst>
              <p:ext uri="{D42A27DB-BD31-4B8C-83A1-F6EECF244321}">
                <p14:modId xmlns:p14="http://schemas.microsoft.com/office/powerpoint/2010/main" val="1579011935"/>
              </p:ext>
            </p:extLst>
          </p:nvPr>
        </p:nvGraphicFramePr>
        <p:xfrm>
          <a:off x="6766560" y="1371600"/>
          <a:ext cx="4846320" cy="914400"/>
        </p:xfrm>
        <a:graphic>
          <a:graphicData uri="http://schemas.openxmlformats.org/drawingml/2006/table">
            <a:tbl>
              <a:tblPr/>
              <a:tblGrid>
                <a:gridCol w="2450592"/>
                <a:gridCol w="1097280"/>
                <a:gridCol w="1298448"/>
              </a:tblGrid>
              <a:tr h="365760">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Now</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Baseline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5.8</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0.9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Sodium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127</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133</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WBC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16,200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Platelets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62,000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Lactate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3.9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What's your next step?</a:t>
            </a:r>
            <a:endParaRPr lang="en-US" sz="24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45/85</a:t>
            </a:r>
            <a:endParaRPr lang="en-US" sz="9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56M, cirrhosis and fever</a:t>
            </a:r>
            <a:endParaRPr lang="en-US" sz="3000" dirty="0"/>
          </a:p>
        </p:txBody>
      </p:sp>
      <p:sp>
        <p:nvSpPr>
          <p:cNvPr id="3" name="Body"/>
          <p:cNvSpPr txBox="1"/>
          <p:nvPr/>
        </p:nvSpPr>
        <p:spPr>
          <a:xfrm>
            <a:off x="640080" y="1371600"/>
            <a:ext cx="5852160" cy="3383280"/>
          </a:xfrm>
          <a:prstGeom prst="rect">
            <a:avLst/>
          </a:prstGeom>
          <a:noFill/>
          <a:ln/>
        </p:spPr>
        <p:txBody>
          <a:bodyPr wrap="square" lIns="50800" tIns="50800" rIns="50800" bIns="50800" rtlCol="0" anchor="t"/>
          <a:lstStyle/>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Alcohol-related cirrhosis, ascites on diuretics; last drink 3 weeks ago</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Temp 38.4 °C, HR 112, BP 82/46</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RR 26, SpO2 92% on a 35% Venturi mask; PaO2 74</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Confused, asterixis (grade II)</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Urine output 15 mL/h</a:t>
            </a:r>
            <a:endParaRPr lang="en-US" sz="1900" dirty="0"/>
          </a:p>
        </p:txBody>
      </p:sp>
      <p:graphicFrame>
        <p:nvGraphicFramePr>
          <p:cNvPr id="73" name="Table"/>
          <p:cNvGraphicFramePr>
            <a:graphicFrameLocks noGrp="1"/>
          </p:cNvGraphicFramePr>
          <p:nvPr>
            <p:extLst>
              <p:ext uri="{D42A27DB-BD31-4B8C-83A1-F6EECF244321}">
                <p14:modId xmlns:p14="http://schemas.microsoft.com/office/powerpoint/2010/main" val="1579011935"/>
              </p:ext>
            </p:extLst>
          </p:nvPr>
        </p:nvGraphicFramePr>
        <p:xfrm>
          <a:off x="6766560" y="1371600"/>
          <a:ext cx="4846320" cy="914400"/>
        </p:xfrm>
        <a:graphic>
          <a:graphicData uri="http://schemas.openxmlformats.org/drawingml/2006/table">
            <a:tbl>
              <a:tblPr/>
              <a:tblGrid>
                <a:gridCol w="2450592"/>
                <a:gridCol w="1097280"/>
                <a:gridCol w="1298448"/>
              </a:tblGrid>
              <a:tr h="365760">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Now</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Baseline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5.8</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0.9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Sodium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127</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133</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WBC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16,200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Platelets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62,000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Lactate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3.9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48463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What's your next step?</a:t>
            </a:r>
            <a:endParaRPr lang="en-US" sz="2200" dirty="0"/>
          </a:p>
        </p:txBody>
      </p:sp>
      <p:sp>
        <p:nvSpPr>
          <p:cNvPr id="6" name="Question"/>
          <p:cNvSpPr txBox="1"/>
          <p:nvPr/>
        </p:nvSpPr>
        <p:spPr>
          <a:xfrm>
            <a:off x="822960" y="544068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Find the source: cultures, antibiotics</a:t>
            </a:r>
            <a:endParaRPr lang="en-US" sz="22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45/85</a:t>
            </a:r>
            <a:endParaRPr lang="en-US" sz="9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tipped him over?</a:t>
            </a:r>
            <a:endParaRPr lang="en-US" sz="3000" dirty="0"/>
          </a:p>
        </p:txBody>
      </p:sp>
      <p:sp>
        <p:nvSpPr>
          <p:cNvPr id="3" name="Question"/>
          <p:cNvSpPr txBox="1"/>
          <p:nvPr/>
        </p:nvSpPr>
        <p:spPr>
          <a:xfrm>
            <a:off x="822960" y="274320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INR 2.1, platelets 62,000. Do you tap him?</a:t>
            </a:r>
            <a:endParaRPr lang="en-US" sz="30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46/85</a:t>
            </a:r>
            <a:endParaRPr lang="en-US" sz="9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tipped him over?</a:t>
            </a:r>
            <a:endParaRPr lang="en-US" sz="3000" dirty="0"/>
          </a:p>
        </p:txBody>
      </p:sp>
      <p:sp>
        <p:nvSpPr>
          <p:cNvPr id="3" name="Body"/>
          <p:cNvSpPr txBox="1"/>
          <p:nvPr/>
        </p:nvSpPr>
        <p:spPr>
          <a:xfrm>
            <a:off x="822960" y="1325880"/>
            <a:ext cx="7589520"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Yes, now. </a:t>
            </a:r>
            <a:r>
              <a:rPr lang="en-US" sz="2000" b="1" dirty="0">
                <a:solidFill>
                  <a:srgbClr val="000000"/>
                </a:solidFill>
                <a:highlight>
                  <a:srgbClr val="FFFF00"/>
                </a:highlight>
                <a:latin typeface="Georgia" pitchFamily="34" charset="0"/>
                <a:ea typeface="Georgia" pitchFamily="34" charset="-122"/>
                <a:cs typeface="Georgia" pitchFamily="34" charset="-120"/>
              </a:rPr>
              <a:t>No plasma, no platelets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Ascitic fluid: </a:t>
            </a:r>
            <a:r>
              <a:rPr lang="en-US" sz="2000" b="1" dirty="0">
                <a:solidFill>
                  <a:srgbClr val="C00000"/>
                </a:solidFill>
                <a:latin typeface="Georgia" pitchFamily="34" charset="0"/>
                <a:ea typeface="Georgia" pitchFamily="34" charset="-122"/>
                <a:cs typeface="Georgia" pitchFamily="34" charset="-120"/>
              </a:rPr>
              <a:t>PMN 1,240/mm³</a:t>
            </a:r>
            <a:r>
              <a:rPr lang="en-US" sz="2000" dirty="0">
                <a:solidFill>
                  <a:srgbClr val="000000"/>
                </a:solidFill>
                <a:latin typeface="Georgia" pitchFamily="34" charset="0"/>
                <a:ea typeface="Georgia" pitchFamily="34" charset="-122"/>
                <a:cs typeface="Georgia" pitchFamily="34" charset="-120"/>
              </a:rPr>
              <a:t>. Spontaneous bacterial peritonitis</a:t>
            </a:r>
            <a:endParaRPr lang="en-US" sz="2000" dirty="0"/>
          </a:p>
          <a:p>
            <a:pPr indent="0" marL="0">
              <a:spcBef>
                <a:spcPts val="1800"/>
              </a:spcBef>
              <a:buNone/>
            </a:pPr>
            <a:r>
              <a:rPr lang="en-US" sz="2000" b="1" dirty="0">
                <a:solidFill>
                  <a:srgbClr val="000000"/>
                </a:solidFill>
                <a:latin typeface="Georgia" pitchFamily="34" charset="0"/>
                <a:ea typeface="Georgia" pitchFamily="34" charset="-122"/>
                <a:cs typeface="Georgia" pitchFamily="34" charset="-120"/>
              </a:rPr>
              <a:t>Common triggers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Infection: SBP, pneumonia, urine, lines, C. difficile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Alcohol-associated hepatitis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GI bleeding</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Drugs: NSAIDs, sedatives, too much diuretic</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HBV flare, ischemia</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trigger is found in some patients. Repeat the search if he gets worse</a:t>
            </a:r>
            <a:endParaRPr lang="en-US" sz="2000" dirty="0"/>
          </a:p>
        </p:txBody>
      </p:sp>
      <p:pic>
        <p:nvPicPr>
          <p:cNvPr id="4" name="Image 0" descr="Watercolor of a paracentesis set with tubes of ascitic fluid and a culture bottle">    </p:cNvPr>
          <p:cNvPicPr>
            <a:picLocks noChangeAspect="1"/>
          </p:cNvPicPr>
          <p:nvPr/>
        </p:nvPicPr>
        <p:blipFill>
          <a:blip r:embed="rId1"/>
          <a:stretch>
            <a:fillRect/>
          </a:stretch>
        </p:blipFill>
        <p:spPr>
          <a:xfrm>
            <a:off x="8458200" y="1554480"/>
            <a:ext cx="3429000" cy="3429000"/>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ACLF 2023 [PMID: 37364789]; SCCM 2023 [PMID: 37052436]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46/85</a:t>
            </a:r>
            <a:endParaRPr lang="en-US" sz="9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is he hypotensive?</a:t>
            </a:r>
            <a:endParaRPr lang="en-US" sz="3000" dirty="0"/>
          </a:p>
        </p:txBody>
      </p:sp>
      <p:graphicFrame>
        <p:nvGraphicFramePr>
          <p:cNvPr id="76" name="Table"/>
          <p:cNvGraphicFramePr>
            <a:graphicFrameLocks noGrp="1"/>
          </p:cNvGraphicFramePr>
          <p:nvPr>
            <p:extLst>
              <p:ext uri="{D42A27DB-BD31-4B8C-83A1-F6EECF244321}">
                <p14:modId xmlns:p14="http://schemas.microsoft.com/office/powerpoint/2010/main" val="1579011935"/>
              </p:ext>
            </p:extLst>
          </p:nvPr>
        </p:nvGraphicFramePr>
        <p:xfrm>
          <a:off x="731520" y="1280160"/>
          <a:ext cx="10728655" cy="914400"/>
        </p:xfrm>
        <a:graphic>
          <a:graphicData uri="http://schemas.openxmlformats.org/drawingml/2006/table">
            <a:tbl>
              <a:tblPr/>
              <a:tblGrid>
                <a:gridCol w="4325112"/>
                <a:gridCol w="6400800"/>
              </a:tblGrid>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Mechanism</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What you do</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Surviving Sepsis 2026 [PMID: 41869847]; SCCM 2020 [PMID: 32058387]; EASL ACLF 2023 [PMID: 37364789]</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47/85</a:t>
            </a:r>
            <a:endParaRPr lang="en-US" sz="9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is he hypotensive?</a:t>
            </a:r>
            <a:endParaRPr lang="en-US" sz="3000" dirty="0"/>
          </a:p>
        </p:txBody>
      </p:sp>
      <p:graphicFrame>
        <p:nvGraphicFramePr>
          <p:cNvPr id="77" name="Table"/>
          <p:cNvGraphicFramePr>
            <a:graphicFrameLocks noGrp="1"/>
          </p:cNvGraphicFramePr>
          <p:nvPr>
            <p:extLst>
              <p:ext uri="{D42A27DB-BD31-4B8C-83A1-F6EECF244321}">
                <p14:modId xmlns:p14="http://schemas.microsoft.com/office/powerpoint/2010/main" val="1579011935"/>
              </p:ext>
            </p:extLst>
          </p:nvPr>
        </p:nvGraphicFramePr>
        <p:xfrm>
          <a:off x="731520" y="1280160"/>
          <a:ext cx="10728655" cy="914400"/>
        </p:xfrm>
        <a:graphic>
          <a:graphicData uri="http://schemas.openxmlformats.org/drawingml/2006/table">
            <a:tbl>
              <a:tblPr/>
              <a:tblGrid>
                <a:gridCol w="4325112"/>
                <a:gridCol w="6400800"/>
              </a:tblGrid>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Mechanism</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What you do</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Sepsis (SBP)</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Cultures, antibiotics within 1 h, source control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Splanchnic vasodilation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Norepinephrine, MAP 65, adjust to perfusion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Too little volume, or too much</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Ultrasound and dynamic measures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Hidden bleeding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Hemoglobin, rectal exam, think varices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Relative adrenal insufficiency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Hydrocortisone if shock is refractory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Cirrhotic cardiomyopathy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Echo</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62356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Usually more than one of these</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Surviving Sepsis 2026 [PMID: 41869847]; SCCM 2020 [PMID: 32058387]; EASL ACLF 2023 [PMID: 37364789]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47/85</a:t>
            </a:r>
            <a:endParaRPr lang="en-US" sz="9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little volume, or too much?</a:t>
            </a:r>
            <a:endParaRPr lang="en-US" sz="3000" dirty="0"/>
          </a:p>
        </p:txBody>
      </p:sp>
      <p:pic>
        <p:nvPicPr>
          <p:cNvPr id="3" name="Image 0" descr="IVC on ultrasound, two patients">    </p:cNvPr>
          <p:cNvPicPr>
            <a:picLocks noChangeAspect="1"/>
          </p:cNvPicPr>
          <p:nvPr/>
        </p:nvPicPr>
        <p:blipFill>
          <a:blip r:embed="rId1"/>
          <a:stretch>
            <a:fillRect/>
          </a:stretch>
        </p:blipFill>
        <p:spPr>
          <a:xfrm>
            <a:off x="731520" y="1280160"/>
            <a:ext cx="10728655" cy="3847302"/>
          </a:xfrm>
          <a:prstGeom prst="rect">
            <a:avLst/>
          </a:prstGeom>
        </p:spPr>
      </p:pic>
      <p:sp>
        <p:nvSpPr>
          <p:cNvPr id="4" name="Question"/>
          <p:cNvSpPr txBox="1"/>
          <p:nvPr/>
        </p:nvSpPr>
        <p:spPr>
          <a:xfrm>
            <a:off x="822960" y="54864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Which one would you give more fluid?</a:t>
            </a:r>
            <a:endParaRPr lang="en-US" sz="24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48/85</a:t>
            </a:r>
            <a:endParaRPr lang="en-US" sz="9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little volume, or too much?</a:t>
            </a:r>
            <a:endParaRPr lang="en-US" sz="3000" dirty="0"/>
          </a:p>
        </p:txBody>
      </p:sp>
      <p:pic>
        <p:nvPicPr>
          <p:cNvPr id="3" name="Image 0" descr="IVC on ultrasound, two patients">    </p:cNvPr>
          <p:cNvPicPr>
            <a:picLocks noChangeAspect="1"/>
          </p:cNvPicPr>
          <p:nvPr/>
        </p:nvPicPr>
        <p:blipFill>
          <a:blip r:embed="rId1"/>
          <a:stretch>
            <a:fillRect/>
          </a:stretch>
        </p:blipFill>
        <p:spPr>
          <a:xfrm>
            <a:off x="731520" y="1280160"/>
            <a:ext cx="10728655" cy="3847302"/>
          </a:xfrm>
          <a:prstGeom prst="rect">
            <a:avLst/>
          </a:prstGeom>
        </p:spPr>
      </p:pic>
      <p:sp>
        <p:nvSpPr>
          <p:cNvPr id="4" name="Body"/>
          <p:cNvSpPr txBox="1"/>
          <p:nvPr/>
        </p:nvSpPr>
        <p:spPr>
          <a:xfrm>
            <a:off x="822960" y="5349240"/>
            <a:ext cx="10545775" cy="41148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Left: a full, plethoric IVC. Right: an IVC that collapses</a:t>
            </a:r>
            <a:endParaRPr lang="en-US" sz="1800" dirty="0"/>
          </a:p>
        </p:txBody>
      </p:sp>
      <p:sp>
        <p:nvSpPr>
          <p:cNvPr id="5" name="Question"/>
          <p:cNvSpPr txBox="1"/>
          <p:nvPr/>
        </p:nvSpPr>
        <p:spPr>
          <a:xfrm>
            <a:off x="822960" y="57607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Look before you give the next liter</a:t>
            </a:r>
            <a:endParaRPr lang="en-US" sz="22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48/85</a:t>
            </a:r>
            <a:endParaRPr lang="en-US" sz="9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Splanchnic vasodilation in cirrhosis</a:t>
            </a:r>
            <a:endParaRPr lang="en-US" sz="3000" dirty="0"/>
          </a:p>
        </p:txBody>
      </p:sp>
      <p:pic>
        <p:nvPicPr>
          <p:cNvPr id="3" name="Image 0" descr="Splanchnic vasodilation in cirrhosis">    </p:cNvPr>
          <p:cNvPicPr>
            <a:picLocks noChangeAspect="1"/>
          </p:cNvPicPr>
          <p:nvPr/>
        </p:nvPicPr>
        <p:blipFill>
          <a:blip r:embed="rId1"/>
          <a:stretch>
            <a:fillRect/>
          </a:stretch>
        </p:blipFill>
        <p:spPr>
          <a:xfrm>
            <a:off x="2026768" y="1188720"/>
            <a:ext cx="8138160" cy="489204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Rondon-Berrios H, Velez JCQ. Clin Liver Dis 2022</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49/85</a:t>
            </a:r>
            <a:endParaRPr lang="en-US" sz="9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decompensation or ACLF?</a:t>
            </a:r>
            <a:endParaRPr lang="en-US" sz="3000" dirty="0"/>
          </a:p>
        </p:txBody>
      </p:sp>
      <p:graphicFrame>
        <p:nvGraphicFramePr>
          <p:cNvPr id="81"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1444752"/>
                <a:gridCol w="2962656"/>
                <a:gridCol w="3282696"/>
                <a:gridCol w="3401568"/>
              </a:tblGrid>
              <a:tr h="54864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Acute liver failure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Acute decompensation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ACLF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Liver before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Defined by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Usually kills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ICU focus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Transplant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2017 [PMID: 28417882]; EASL ACLF 2023 [PMID: 37364789]</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50/85</a:t>
            </a:r>
            <a:endParaRPr lang="en-US" sz="9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decompensation or ACLF?</a:t>
            </a:r>
            <a:endParaRPr lang="en-US" sz="3000" dirty="0"/>
          </a:p>
        </p:txBody>
      </p:sp>
      <p:graphicFrame>
        <p:nvGraphicFramePr>
          <p:cNvPr id="82"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1444752"/>
                <a:gridCol w="2962656"/>
                <a:gridCol w="3282696"/>
                <a:gridCol w="3401568"/>
              </a:tblGrid>
              <a:tr h="54864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Acute liver failure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Acute decompensation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ACLF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Liver before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No cirrhosis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Cirrhosis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Cirrhosis or chronic liver disease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Defined by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INR ≥ 1.5 + HE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Ascites, bleeding, HE, jaundice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Decompensation + organ failure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Usually kills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Brain, sepsis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Bleeding, infection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Infection, shock, organ failure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ICU focus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Brain, ammonia, early CRRT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Treat the trigger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Source, shock, kidney vs lung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Transplant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Urgent listing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Refer by MELD or complication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Narrow window; reassess daily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2017 [PMID: 28417882]; EASL ACLF 2023 [PMID: 37364789]</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50/85</a:t>
            </a:r>
            <a:endParaRPr lang="en-US" sz="9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Count the failing organs</a:t>
            </a:r>
            <a:endParaRPr lang="en-US" sz="3000" dirty="0"/>
          </a:p>
        </p:txBody>
      </p:sp>
      <p:graphicFrame>
        <p:nvGraphicFramePr>
          <p:cNvPr id="83"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8229600" cy="914400"/>
        </p:xfrm>
        <a:graphic>
          <a:graphicData uri="http://schemas.openxmlformats.org/drawingml/2006/table">
            <a:tbl>
              <a:tblPr/>
              <a:tblGrid>
                <a:gridCol w="1298448"/>
                <a:gridCol w="6931152"/>
              </a:tblGrid>
              <a:tr h="404165">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Organ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Failure (EASL-CLIF)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Liver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Bilirubin ≥ 12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Kidney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Creatinine ≥ 2.0 mg/dL or on RRT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Brain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Encephalopathy grade III-IV</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Coagulation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INR ≥ 2.5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Circulation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Vasopressors (or terlipressin)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Lungs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PaO2/FiO2 ≤ 200, SpO2/FiO2 ≤ 214, or ventilated (not for encephalopathy)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CLIF-C organ failure score, EASL ACLF 2023 [PMID: 37364789]; CANONIC [PMID: 23474284]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51/85</a:t>
            </a:r>
            <a:endParaRPr lang="en-US" sz="9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Count the failing organs</a:t>
            </a:r>
            <a:endParaRPr lang="en-US" sz="3000" dirty="0"/>
          </a:p>
        </p:txBody>
      </p:sp>
      <p:graphicFrame>
        <p:nvGraphicFramePr>
          <p:cNvPr id="84"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911535" cy="914400"/>
        </p:xfrm>
        <a:graphic>
          <a:graphicData uri="http://schemas.openxmlformats.org/drawingml/2006/table">
            <a:tbl>
              <a:tblPr/>
              <a:tblGrid>
                <a:gridCol w="1371600"/>
                <a:gridCol w="7324344"/>
                <a:gridCol w="2212848"/>
              </a:tblGrid>
              <a:tr h="404165">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Organ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Failure (EASL-CLIF)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Patient B</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Liver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Bilirubin ≥ 12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5.8: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Kidney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Creatinine ≥ 2.0 mg/dL or on RRT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000000"/>
                          </a:solidFill>
                          <a:highlight>
                            <a:srgbClr val="FFFF00"/>
                          </a:highlight>
                          <a:latin typeface="Calibri" pitchFamily="34" charset="0"/>
                          <a:ea typeface="Calibri" pitchFamily="34" charset="-122"/>
                          <a:cs typeface="Calibri" pitchFamily="34" charset="-120"/>
                        </a:rPr>
                        <a:t>2.6: yes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Brain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Encephalopathy grade III-IV</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Grade II: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Coagulation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INR ≥ 2.5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2.1: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Circulation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Vasopressors (or terlipressin)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000000"/>
                          </a:solidFill>
                          <a:highlight>
                            <a:srgbClr val="FFFF00"/>
                          </a:highlight>
                          <a:latin typeface="Calibri" pitchFamily="34" charset="0"/>
                          <a:ea typeface="Calibri" pitchFamily="34" charset="-122"/>
                          <a:cs typeface="Calibri" pitchFamily="34" charset="-120"/>
                        </a:rPr>
                        <a:t>Norepinephrine: yes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Lungs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PaO2/FiO2 ≤ 200, SpO2/FiO2 ≤ 214, or ventilated (not for encephalopathy)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PaO2/FiO2 211: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48640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highlight>
                  <a:srgbClr val="FFFF00"/>
                </a:highlight>
                <a:latin typeface="Georgia" pitchFamily="34" charset="0"/>
                <a:ea typeface="Georgia" pitchFamily="34" charset="-122"/>
                <a:cs typeface="Georgia" pitchFamily="34" charset="-120"/>
              </a:rPr>
              <a:t>Two organ failures: ACLF grade 2</a:t>
            </a:r>
            <a:endParaRPr lang="en-US" sz="2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CLIF-C organ failure score, EASL ACLF 2023 [PMID: 37364789]; CANONIC [PMID: 23474284]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51/85</a:t>
            </a:r>
            <a:endParaRPr lang="en-US" sz="9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ACLF grades</a:t>
            </a:r>
            <a:endParaRPr lang="en-US" sz="3000" dirty="0"/>
          </a:p>
        </p:txBody>
      </p:sp>
      <p:graphicFrame>
        <p:nvGraphicFramePr>
          <p:cNvPr id="85" name="Table"/>
          <p:cNvGraphicFramePr>
            <a:graphicFrameLocks noGrp="1"/>
          </p:cNvGraphicFramePr>
          <p:nvPr>
            <p:extLst>
              <p:ext uri="{D42A27DB-BD31-4B8C-83A1-F6EECF244321}">
                <p14:modId xmlns:p14="http://schemas.microsoft.com/office/powerpoint/2010/main" val="1579011935"/>
              </p:ext>
            </p:extLst>
          </p:nvPr>
        </p:nvGraphicFramePr>
        <p:xfrm>
          <a:off x="822960" y="1325880"/>
          <a:ext cx="10545775" cy="914400"/>
        </p:xfrm>
        <a:graphic>
          <a:graphicData uri="http://schemas.openxmlformats.org/drawingml/2006/table">
            <a:tbl>
              <a:tblPr/>
              <a:tblGrid>
                <a:gridCol w="1271016"/>
                <a:gridCol w="9272016"/>
              </a:tblGrid>
              <a:tr h="427939">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Grade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What it takes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964692">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No ACLF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No organ failure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or one liver, clotting, circulation or lung failure, creatinine &lt; 1.5, no HE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or brain failure alone, creatinine &lt; 1.5</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64692">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1</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Kidney failure alone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or one liver, clotting, circulation or lung failure + creatinine 1.5-1.9 or HE I-II</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or brain failure alone + creatinine 1.5-1.9</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2</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Two organ failures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3</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Three or more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548640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A patient with "no ACLF" can still be very sick. Use the CLIF-C calculator</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Moreau R et al. Gastroenterology 2013 [PMID: 23474284]; EASL ACLF 2023 [PMID: 37364789]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52/85</a:t>
            </a:r>
            <a:endParaRPr lang="en-US" sz="9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28-day mortality by ACLF grade</a:t>
            </a:r>
            <a:endParaRPr lang="en-US" sz="3000" dirty="0"/>
          </a:p>
        </p:txBody>
      </p:sp>
      <p:graphicFrame>
        <p:nvGraphicFramePr>
          <p:cNvPr id="3" name="Chart 0" descr=""/>
          <p:cNvGraphicFramePr/>
          <p:nvPr/>
        </p:nvGraphicFramePr>
        <p:xfrm>
          <a:off x="1828800" y="1280160"/>
          <a:ext cx="8503920" cy="402336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822960" y="544068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CANONIC, 1,343 patients, 2013</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Moreau R et al. Gastroenterology 2013 [PMID: 23474284]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53/85</a:t>
            </a:r>
            <a:endParaRPr lang="en-US" sz="9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do the organs fail?</a:t>
            </a:r>
            <a:endParaRPr lang="en-US" sz="3000" dirty="0"/>
          </a:p>
        </p:txBody>
      </p:sp>
      <p:sp>
        <p:nvSpPr>
          <p:cNvPr id="3" name="Box"/>
          <p:cNvSpPr/>
          <p:nvPr/>
        </p:nvSpPr>
        <p:spPr>
          <a:xfrm>
            <a:off x="548640" y="1463040"/>
            <a:ext cx="3017520" cy="868680"/>
          </a:xfrm>
          <a:prstGeom prst="rect">
            <a:avLst/>
          </a:prstGeom>
          <a:solidFill>
            <a:srgbClr val="FFFFFF"/>
          </a:solidFill>
          <a:ln w="12700">
            <a:solidFill>
              <a:srgbClr val="000000"/>
            </a:solidFill>
            <a:prstDash val="solid"/>
          </a:ln>
        </p:spPr>
      </p:sp>
      <p:sp>
        <p:nvSpPr>
          <p:cNvPr id="4" name="Text 2"/>
          <p:cNvSpPr txBox="1"/>
          <p:nvPr/>
        </p:nvSpPr>
        <p:spPr>
          <a:xfrm>
            <a:off x="548640" y="146304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Trigger: SBP</a:t>
            </a:r>
            <a:endParaRPr lang="en-US" sz="1600" dirty="0"/>
          </a:p>
        </p:txBody>
      </p:sp>
      <p:sp>
        <p:nvSpPr>
          <p:cNvPr id="5" name="Box"/>
          <p:cNvSpPr/>
          <p:nvPr/>
        </p:nvSpPr>
        <p:spPr>
          <a:xfrm>
            <a:off x="4526280" y="1463040"/>
            <a:ext cx="3017520" cy="868680"/>
          </a:xfrm>
          <a:prstGeom prst="rect">
            <a:avLst/>
          </a:prstGeom>
          <a:solidFill>
            <a:srgbClr val="FFFFFF"/>
          </a:solidFill>
          <a:ln w="12700">
            <a:solidFill>
              <a:srgbClr val="000000"/>
            </a:solidFill>
            <a:prstDash val="solid"/>
          </a:ln>
        </p:spPr>
      </p:sp>
      <p:sp>
        <p:nvSpPr>
          <p:cNvPr id="6" name="Text 4"/>
          <p:cNvSpPr txBox="1"/>
          <p:nvPr/>
        </p:nvSpPr>
        <p:spPr>
          <a:xfrm>
            <a:off x="4526280" y="146304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Bacterial products and damaged-cell signals (PAMPs, DAMPs)</a:t>
            </a:r>
            <a:endParaRPr lang="en-US" sz="1600" dirty="0"/>
          </a:p>
        </p:txBody>
      </p:sp>
      <p:sp>
        <p:nvSpPr>
          <p:cNvPr id="7" name="Box"/>
          <p:cNvSpPr/>
          <p:nvPr/>
        </p:nvSpPr>
        <p:spPr>
          <a:xfrm>
            <a:off x="8503920" y="1463040"/>
            <a:ext cx="3017520" cy="868680"/>
          </a:xfrm>
          <a:prstGeom prst="rect">
            <a:avLst/>
          </a:prstGeom>
          <a:solidFill>
            <a:srgbClr val="FFFFFF"/>
          </a:solidFill>
          <a:ln w="12700">
            <a:solidFill>
              <a:srgbClr val="000000"/>
            </a:solidFill>
            <a:prstDash val="solid"/>
          </a:ln>
        </p:spPr>
      </p:sp>
      <p:sp>
        <p:nvSpPr>
          <p:cNvPr id="8" name="Text 6"/>
          <p:cNvSpPr txBox="1"/>
          <p:nvPr/>
        </p:nvSpPr>
        <p:spPr>
          <a:xfrm>
            <a:off x="8503920" y="1463040"/>
            <a:ext cx="3017520" cy="868680"/>
          </a:xfrm>
          <a:prstGeom prst="rect">
            <a:avLst/>
          </a:prstGeom>
          <a:noFill/>
          <a:ln/>
        </p:spPr>
        <p:txBody>
          <a:bodyPr wrap="square" lIns="50800" tIns="50800" rIns="50800" bIns="50800" rtlCol="0" anchor="ctr"/>
          <a:lstStyle/>
          <a:p>
            <a:pPr algn="ctr" indent="0" marL="0">
              <a:buNone/>
            </a:pPr>
            <a:r>
              <a:rPr lang="en-US" sz="1600" b="1" dirty="0">
                <a:solidFill>
                  <a:srgbClr val="000000"/>
                </a:solidFill>
                <a:latin typeface="Georgia" pitchFamily="34" charset="0"/>
                <a:ea typeface="Georgia" pitchFamily="34" charset="-122"/>
                <a:cs typeface="Georgia" pitchFamily="34" charset="-120"/>
              </a:rPr>
              <a:t>Systemic inflammation, cytokine storm</a:t>
            </a:r>
            <a:endParaRPr lang="en-US" sz="1600" dirty="0"/>
          </a:p>
        </p:txBody>
      </p:sp>
      <p:sp>
        <p:nvSpPr>
          <p:cNvPr id="9" name="Arrow"/>
          <p:cNvSpPr/>
          <p:nvPr/>
        </p:nvSpPr>
        <p:spPr>
          <a:xfrm>
            <a:off x="3566160" y="1897380"/>
            <a:ext cx="960120" cy="914"/>
          </a:xfrm>
          <a:prstGeom prst="line">
            <a:avLst/>
          </a:prstGeom>
          <a:noFill/>
          <a:ln w="19050">
            <a:solidFill>
              <a:srgbClr val="000000"/>
            </a:solidFill>
            <a:prstDash val="solid"/>
            <a:tailEnd type="triangle"/>
          </a:ln>
        </p:spPr>
      </p:sp>
      <p:sp>
        <p:nvSpPr>
          <p:cNvPr id="10" name="Arrow"/>
          <p:cNvSpPr/>
          <p:nvPr/>
        </p:nvSpPr>
        <p:spPr>
          <a:xfrm>
            <a:off x="7543800" y="1897380"/>
            <a:ext cx="960120" cy="914"/>
          </a:xfrm>
          <a:prstGeom prst="line">
            <a:avLst/>
          </a:prstGeom>
          <a:noFill/>
          <a:ln w="19050">
            <a:solidFill>
              <a:srgbClr val="000000"/>
            </a:solidFill>
            <a:prstDash val="solid"/>
            <a:tailEnd type="triangle"/>
          </a:ln>
        </p:spPr>
      </p:sp>
      <p:sp>
        <p:nvSpPr>
          <p:cNvPr id="11" name="Box"/>
          <p:cNvSpPr/>
          <p:nvPr/>
        </p:nvSpPr>
        <p:spPr>
          <a:xfrm>
            <a:off x="8503920" y="3108960"/>
            <a:ext cx="3017520" cy="868680"/>
          </a:xfrm>
          <a:prstGeom prst="rect">
            <a:avLst/>
          </a:prstGeom>
          <a:solidFill>
            <a:srgbClr val="FFFFFF"/>
          </a:solidFill>
          <a:ln w="12700">
            <a:solidFill>
              <a:srgbClr val="000000"/>
            </a:solidFill>
            <a:prstDash val="solid"/>
          </a:ln>
        </p:spPr>
      </p:sp>
      <p:sp>
        <p:nvSpPr>
          <p:cNvPr id="12" name="Text 10"/>
          <p:cNvSpPr txBox="1"/>
          <p:nvPr/>
        </p:nvSpPr>
        <p:spPr>
          <a:xfrm>
            <a:off x="8503920" y="310896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Worse vasodilation on top of portal hypertension</a:t>
            </a:r>
            <a:endParaRPr lang="en-US" sz="1600" dirty="0"/>
          </a:p>
        </p:txBody>
      </p:sp>
      <p:sp>
        <p:nvSpPr>
          <p:cNvPr id="13" name="Box"/>
          <p:cNvSpPr/>
          <p:nvPr/>
        </p:nvSpPr>
        <p:spPr>
          <a:xfrm>
            <a:off x="4526280" y="3108960"/>
            <a:ext cx="3017520" cy="868680"/>
          </a:xfrm>
          <a:prstGeom prst="rect">
            <a:avLst/>
          </a:prstGeom>
          <a:solidFill>
            <a:srgbClr val="FFFFFF"/>
          </a:solidFill>
          <a:ln w="12700">
            <a:solidFill>
              <a:srgbClr val="000000"/>
            </a:solidFill>
            <a:prstDash val="solid"/>
          </a:ln>
        </p:spPr>
      </p:sp>
      <p:sp>
        <p:nvSpPr>
          <p:cNvPr id="14" name="Text 12"/>
          <p:cNvSpPr txBox="1"/>
          <p:nvPr/>
        </p:nvSpPr>
        <p:spPr>
          <a:xfrm>
            <a:off x="4526280" y="310896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Immune paralysis, mitochondrial failure</a:t>
            </a:r>
            <a:endParaRPr lang="en-US" sz="1600" dirty="0"/>
          </a:p>
        </p:txBody>
      </p:sp>
      <p:sp>
        <p:nvSpPr>
          <p:cNvPr id="15" name="Box"/>
          <p:cNvSpPr/>
          <p:nvPr/>
        </p:nvSpPr>
        <p:spPr>
          <a:xfrm>
            <a:off x="548640" y="3108960"/>
            <a:ext cx="3017520" cy="868680"/>
          </a:xfrm>
          <a:prstGeom prst="rect">
            <a:avLst/>
          </a:prstGeom>
          <a:solidFill>
            <a:srgbClr val="FFFFFF"/>
          </a:solidFill>
          <a:ln w="12700">
            <a:solidFill>
              <a:srgbClr val="C00000"/>
            </a:solidFill>
            <a:prstDash val="solid"/>
          </a:ln>
        </p:spPr>
      </p:sp>
      <p:sp>
        <p:nvSpPr>
          <p:cNvPr id="16" name="Text 14"/>
          <p:cNvSpPr txBox="1"/>
          <p:nvPr/>
        </p:nvSpPr>
        <p:spPr>
          <a:xfrm>
            <a:off x="548640" y="3108960"/>
            <a:ext cx="3017520" cy="868680"/>
          </a:xfrm>
          <a:prstGeom prst="rect">
            <a:avLst/>
          </a:prstGeom>
          <a:noFill/>
          <a:ln/>
        </p:spPr>
        <p:txBody>
          <a:bodyPr wrap="square" lIns="50800" tIns="50800" rIns="50800" bIns="50800" rtlCol="0" anchor="ctr"/>
          <a:lstStyle/>
          <a:p>
            <a:pPr algn="ctr" indent="0" marL="0">
              <a:buNone/>
            </a:pPr>
            <a:r>
              <a:rPr lang="en-US" sz="1600" b="1" dirty="0">
                <a:solidFill>
                  <a:srgbClr val="C00000"/>
                </a:solidFill>
                <a:latin typeface="Georgia" pitchFamily="34" charset="0"/>
                <a:ea typeface="Georgia" pitchFamily="34" charset="-122"/>
                <a:cs typeface="Georgia" pitchFamily="34" charset="-120"/>
              </a:rPr>
              <a:t>Organ failure</a:t>
            </a:r>
            <a:endParaRPr lang="en-US" sz="1600" dirty="0"/>
          </a:p>
        </p:txBody>
      </p:sp>
      <p:sp>
        <p:nvSpPr>
          <p:cNvPr id="17" name="Arrow"/>
          <p:cNvSpPr/>
          <p:nvPr/>
        </p:nvSpPr>
        <p:spPr>
          <a:xfrm>
            <a:off x="10012680" y="2331720"/>
            <a:ext cx="914" cy="777240"/>
          </a:xfrm>
          <a:prstGeom prst="line">
            <a:avLst/>
          </a:prstGeom>
          <a:noFill/>
          <a:ln w="19050">
            <a:solidFill>
              <a:srgbClr val="000000"/>
            </a:solidFill>
            <a:prstDash val="solid"/>
            <a:tailEnd type="triangle"/>
          </a:ln>
        </p:spPr>
      </p:sp>
      <p:sp>
        <p:nvSpPr>
          <p:cNvPr id="18" name="Arrow"/>
          <p:cNvSpPr/>
          <p:nvPr/>
        </p:nvSpPr>
        <p:spPr>
          <a:xfrm flipH="1">
            <a:off x="7543800" y="3543300"/>
            <a:ext cx="960120" cy="914"/>
          </a:xfrm>
          <a:prstGeom prst="line">
            <a:avLst/>
          </a:prstGeom>
          <a:noFill/>
          <a:ln w="19050">
            <a:solidFill>
              <a:srgbClr val="000000"/>
            </a:solidFill>
            <a:prstDash val="solid"/>
            <a:tailEnd type="triangle"/>
          </a:ln>
        </p:spPr>
      </p:sp>
      <p:sp>
        <p:nvSpPr>
          <p:cNvPr id="19" name="Arrow"/>
          <p:cNvSpPr/>
          <p:nvPr/>
        </p:nvSpPr>
        <p:spPr>
          <a:xfrm flipH="1">
            <a:off x="3566160" y="3543300"/>
            <a:ext cx="960120" cy="914"/>
          </a:xfrm>
          <a:prstGeom prst="line">
            <a:avLst/>
          </a:prstGeom>
          <a:noFill/>
          <a:ln w="19050">
            <a:solidFill>
              <a:srgbClr val="000000"/>
            </a:solidFill>
            <a:prstDash val="solid"/>
            <a:tailEnd type="triangle"/>
          </a:ln>
        </p:spPr>
      </p:sp>
      <p:sp>
        <p:nvSpPr>
          <p:cNvPr id="20" name="Body"/>
          <p:cNvSpPr txBox="1"/>
          <p:nvPr/>
        </p:nvSpPr>
        <p:spPr>
          <a:xfrm>
            <a:off x="822960" y="4389120"/>
            <a:ext cx="10545775" cy="1645920"/>
          </a:xfrm>
          <a:prstGeom prst="rect">
            <a:avLst/>
          </a:prstGeom>
          <a:noFill/>
          <a:ln/>
        </p:spPr>
        <p:txBody>
          <a:bodyPr wrap="square" lIns="50800" tIns="50800" rIns="50800" bIns="50800" rtlCol="0" anchor="t"/>
          <a:lstStyle/>
          <a:p>
            <a:pPr marL="228600" indent="-228600">
              <a:spcBef>
                <a:spcPts val="1000"/>
              </a:spcBef>
              <a:buSzPct val="100000"/>
              <a:buChar char="–"/>
            </a:pPr>
            <a:r>
              <a:rPr lang="en-US" sz="2000" dirty="0">
                <a:solidFill>
                  <a:srgbClr val="000000"/>
                </a:solidFill>
                <a:latin typeface="Georgia" pitchFamily="34" charset="0"/>
                <a:ea typeface="Georgia" pitchFamily="34" charset="-122"/>
                <a:cs typeface="Georgia" pitchFamily="34" charset="-120"/>
              </a:rPr>
              <a:t>Bed 7 so far: </a:t>
            </a:r>
            <a:r>
              <a:rPr lang="en-US" sz="2000" b="1" dirty="0">
                <a:solidFill>
                  <a:srgbClr val="C00000"/>
                </a:solidFill>
                <a:latin typeface="Georgia" pitchFamily="34" charset="0"/>
                <a:ea typeface="Georgia" pitchFamily="34" charset="-122"/>
                <a:cs typeface="Georgia" pitchFamily="34" charset="-120"/>
              </a:rPr>
              <a:t>kidney</a:t>
            </a:r>
            <a:r>
              <a:rPr lang="en-US" sz="2000" dirty="0">
                <a:solidFill>
                  <a:srgbClr val="000000"/>
                </a:solidFill>
                <a:latin typeface="Georgia" pitchFamily="34" charset="0"/>
                <a:ea typeface="Georgia" pitchFamily="34" charset="-122"/>
                <a:cs typeface="Georgia" pitchFamily="34" charset="-120"/>
              </a:rPr>
              <a:t> and </a:t>
            </a:r>
            <a:r>
              <a:rPr lang="en-US" sz="2000" b="1" dirty="0">
                <a:solidFill>
                  <a:srgbClr val="C00000"/>
                </a:solidFill>
                <a:latin typeface="Georgia" pitchFamily="34" charset="0"/>
                <a:ea typeface="Georgia" pitchFamily="34" charset="-122"/>
                <a:cs typeface="Georgia" pitchFamily="34" charset="-120"/>
              </a:rPr>
              <a:t>circulation</a:t>
            </a:r>
            <a:endParaRPr lang="en-US" sz="2000" dirty="0"/>
          </a:p>
          <a:p>
            <a:pPr marL="228600" indent="-228600">
              <a:spcBef>
                <a:spcPts val="1000"/>
              </a:spcBef>
              <a:buSzPct val="100000"/>
              <a:buChar char="–"/>
            </a:pPr>
            <a:r>
              <a:rPr lang="en-US" sz="2000" dirty="0">
                <a:solidFill>
                  <a:srgbClr val="000000"/>
                </a:solidFill>
                <a:latin typeface="Georgia" pitchFamily="34" charset="0"/>
                <a:ea typeface="Georgia" pitchFamily="34" charset="-122"/>
                <a:cs typeface="Georgia" pitchFamily="34" charset="-120"/>
              </a:rPr>
              <a:t>Treat the trigger early and support the organs; there is no drug for the inflammation itself</a:t>
            </a:r>
            <a:endParaRPr lang="en-US" sz="2000" dirty="0"/>
          </a:p>
        </p:txBody>
      </p:sp>
      <p:sp>
        <p:nvSpPr>
          <p:cNvPr id="21"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Concept from Arroyo V, Moreau R, Jalan R. N Engl J Med 2020</a:t>
            </a:r>
            <a:endParaRPr lang="en-US" sz="1000" dirty="0"/>
          </a:p>
        </p:txBody>
      </p:sp>
      <p:sp>
        <p:nvSpPr>
          <p:cNvPr id="23"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54/85</a:t>
            </a:r>
            <a:endParaRPr lang="en-US" sz="90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12 hours later: creatinine 3.0, urine 10 mL/h, still on norepinephrine</a:t>
            </a:r>
            <a:endParaRPr lang="en-US" sz="1900" dirty="0"/>
          </a:p>
        </p:txBody>
      </p:sp>
      <p:sp>
        <p:nvSpPr>
          <p:cNvPr id="4" name="Question"/>
          <p:cNvSpPr txBox="1"/>
          <p:nvPr/>
        </p:nvSpPr>
        <p:spPr>
          <a:xfrm>
            <a:off x="822960" y="301752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HRS? Start terlipressin?</a:t>
            </a:r>
            <a:endParaRPr lang="en-US" sz="3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55/85</a:t>
            </a:r>
            <a:endParaRPr lang="en-US" sz="90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HRS-AKI: what changed in 2024</a:t>
            </a:r>
            <a:endParaRPr lang="en-US" sz="3000" dirty="0"/>
          </a:p>
        </p:txBody>
      </p:sp>
      <p:graphicFrame>
        <p:nvGraphicFramePr>
          <p:cNvPr id="89"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5623560"/>
                <a:gridCol w="5102352"/>
              </a:tblGrid>
              <a:tr h="475488">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What many of us learned (ICA 2015)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Now (ADQI-ICA 2024)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677416">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No response to 2 days off diuretics + albumin</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shock</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nephrotoxins, no structural kidney disease</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Cirrhosis with ascites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AKI by creatinine or urine output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response to 24 h of volume, if needed</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albumin challenge if euvolemic or wet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other main cause</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8463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Faster to call. But you still have to look for the other causes</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Angeli P et al. J Hepatol 2015 (ICA); ADQI-ICA consensus, J Hepatol 2024 [PMID: 38527522]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56/85</a:t>
            </a:r>
            <a:endParaRPr lang="en-US" sz="90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12 hours later: creatinine 3.0, urine 10 mL/h, still on norepinephrine</a:t>
            </a:r>
            <a:endParaRPr lang="en-US" sz="1900" dirty="0"/>
          </a:p>
        </p:txBody>
      </p:sp>
      <p:graphicFrame>
        <p:nvGraphicFramePr>
          <p:cNvPr id="90" name="Table"/>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5897880"/>
                <a:gridCol w="4178808"/>
                <a:gridCol w="832104"/>
              </a:tblGrid>
              <a:tr h="50292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HRS-AKI (ADQI-ICA 2024)</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Bed 7, day 1</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Cirrhosis with ascites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AKI by creatinine or urine output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 response to 24 h of volume, if needed</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 other main cause (shock, toxins, structural)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Go down the list for him. Which boxes does he tick?</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J Hepatol 2024 [PMID: 38527522]</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57/85</a:t>
            </a:r>
            <a:endParaRPr lang="en-US" sz="90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12 hours later: creatinine 3.0, urine 10 mL/h, still on norepinephrine</a:t>
            </a:r>
            <a:endParaRPr lang="en-US" sz="1900" dirty="0"/>
          </a:p>
        </p:txBody>
      </p:sp>
      <p:graphicFrame>
        <p:nvGraphicFramePr>
          <p:cNvPr id="91" name="Table"/>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5897880"/>
                <a:gridCol w="4178808"/>
                <a:gridCol w="832104"/>
              </a:tblGrid>
              <a:tr h="50292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HRS-AKI (ADQI-ICA 2024)</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Bed 7, day 1</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Cirrhosis with ascites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Yes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AKI by creatinine or urine output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Cr 0.9 → 3.0, urine 10 mL/h</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 response to 24 h of volume, if needed</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2 L on arrival; too early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 other main cause (shock, toxins, structural)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b="1" dirty="0">
                          <a:solidFill>
                            <a:srgbClr val="C00000"/>
                          </a:solidFill>
                          <a:latin typeface="Calibri" pitchFamily="34" charset="0"/>
                          <a:ea typeface="Calibri" pitchFamily="34" charset="-122"/>
                          <a:cs typeface="Calibri" pitchFamily="34" charset="-120"/>
                        </a:rPr>
                        <a:t>Septic shock on norepinephrine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Not HRS yet. Treat the shock first</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J Hepatol 2024 [PMID: 38527522]</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57/85</a:t>
            </a:r>
            <a:endParaRPr lang="en-US" sz="90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Kidney failure in cirrhosis is usually a mixture</a:t>
            </a:r>
            <a:endParaRPr lang="en-US" sz="3000" dirty="0"/>
          </a:p>
        </p:txBody>
      </p:sp>
      <p:sp>
        <p:nvSpPr>
          <p:cNvPr id="3" name="Body"/>
          <p:cNvSpPr txBox="1"/>
          <p:nvPr/>
        </p:nvSpPr>
        <p:spPr>
          <a:xfrm>
            <a:off x="548640" y="1280160"/>
            <a:ext cx="4023360" cy="457200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Possible contributors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Low effective volume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Tubular injury: sepsis, contrast, drugs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HRS physiology</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Tense ascites (abdominal compartment)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Congestion</a:t>
            </a:r>
            <a:endParaRPr lang="en-US" sz="1900" dirty="0"/>
          </a:p>
        </p:txBody>
      </p:sp>
      <p:pic>
        <p:nvPicPr>
          <p:cNvPr id="4" name="Image 0" descr="Watercolor of a kidney with its hilar vessels and ureter">    </p:cNvPr>
          <p:cNvPicPr>
            <a:picLocks noChangeAspect="1"/>
          </p:cNvPicPr>
          <p:nvPr/>
        </p:nvPicPr>
        <p:blipFill>
          <a:blip r:embed="rId1"/>
          <a:stretch>
            <a:fillRect/>
          </a:stretch>
        </p:blipFill>
        <p:spPr>
          <a:xfrm>
            <a:off x="4572000" y="1600200"/>
            <a:ext cx="3017520" cy="3017520"/>
          </a:xfrm>
          <a:prstGeom prst="rect">
            <a:avLst/>
          </a:prstGeom>
        </p:spPr>
      </p:pic>
      <p:sp>
        <p:nvSpPr>
          <p:cNvPr id="5" name="Body"/>
          <p:cNvSpPr txBox="1"/>
          <p:nvPr/>
        </p:nvSpPr>
        <p:spPr>
          <a:xfrm>
            <a:off x="7589520" y="1280160"/>
            <a:ext cx="4114800" cy="457200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Look</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Urinalysis and sediment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Drug list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Ultrasound: kidneys, bladder, IVC, heart, lungs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Bladder pressure if the belly is tight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 low urine sodium is </a:t>
            </a:r>
            <a:r>
              <a:rPr lang="en-US" sz="1900" b="1" dirty="0">
                <a:solidFill>
                  <a:srgbClr val="000000"/>
                </a:solidFill>
                <a:latin typeface="Georgia" pitchFamily="34" charset="0"/>
                <a:ea typeface="Georgia" pitchFamily="34" charset="-122"/>
                <a:cs typeface="Georgia" pitchFamily="34" charset="-120"/>
              </a:rPr>
              <a:t>not</a:t>
            </a:r>
            <a:r>
              <a:rPr lang="en-US" sz="1900" dirty="0">
                <a:solidFill>
                  <a:srgbClr val="000000"/>
                </a:solidFill>
                <a:latin typeface="Georgia" pitchFamily="34" charset="0"/>
                <a:ea typeface="Georgia" pitchFamily="34" charset="-122"/>
                <a:cs typeface="Georgia" pitchFamily="34" charset="-120"/>
              </a:rPr>
              <a:t> proof of HRS</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2024 [PMID: 38527522]</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58/85</a:t>
            </a:r>
            <a:endParaRPr lang="en-US" sz="90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Function and damage: four kinds of AKI</a:t>
            </a:r>
            <a:endParaRPr lang="en-US" sz="3000" dirty="0"/>
          </a:p>
        </p:txBody>
      </p:sp>
      <p:pic>
        <p:nvPicPr>
          <p:cNvPr id="3" name="Image 0" descr="ADQI framework of AKI phenotypes by function and damage markers">    </p:cNvPr>
          <p:cNvPicPr>
            <a:picLocks noChangeAspect="1"/>
          </p:cNvPicPr>
          <p:nvPr/>
        </p:nvPicPr>
        <p:blipFill>
          <a:blip r:embed="rId1"/>
          <a:stretch>
            <a:fillRect/>
          </a:stretch>
        </p:blipFill>
        <p:spPr>
          <a:xfrm>
            <a:off x="2654816" y="1143000"/>
            <a:ext cx="6882063" cy="502920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Nadim MK et al. J Hepatol 2024;81:163-83 [PMID: 38527522], Fig. 4 (CC BY 2.0, adapted from ADQI)</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59/85</a:t>
            </a:r>
            <a:endParaRPr lang="en-US" sz="90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1: more confused</a:t>
            </a:r>
            <a:endParaRPr lang="en-US" sz="3000" dirty="0"/>
          </a:p>
        </p:txBody>
      </p:sp>
      <p:sp>
        <p:nvSpPr>
          <p:cNvPr id="3" name="Body"/>
          <p:cNvSpPr txBox="1"/>
          <p:nvPr/>
        </p:nvSpPr>
        <p:spPr>
          <a:xfrm>
            <a:off x="822960" y="1280160"/>
            <a:ext cx="10545775" cy="1097280"/>
          </a:xfrm>
          <a:prstGeom prst="rect">
            <a:avLst/>
          </a:prstGeom>
          <a:noFill/>
          <a:ln/>
        </p:spPr>
        <p:txBody>
          <a:bodyPr wrap="square" lIns="50800" tIns="50800" rIns="50800" bIns="50800" rtlCol="0" anchor="t"/>
          <a:lstStyle/>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More disoriented, pulling at his lines, asterixis. Awake, follows commands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The nurse sent an ammonia: </a:t>
            </a:r>
            <a:r>
              <a:rPr lang="en-US" sz="2100" b="1" dirty="0">
                <a:solidFill>
                  <a:srgbClr val="000000"/>
                </a:solidFill>
                <a:latin typeface="Georgia" pitchFamily="34" charset="0"/>
                <a:ea typeface="Georgia" pitchFamily="34" charset="-122"/>
                <a:cs typeface="Georgia" pitchFamily="34" charset="-120"/>
              </a:rPr>
              <a:t>88 μmol/L</a:t>
            </a:r>
            <a:endParaRPr lang="en-US" sz="2100" dirty="0"/>
          </a:p>
        </p:txBody>
      </p:sp>
      <p:sp>
        <p:nvSpPr>
          <p:cNvPr id="4" name="Question"/>
          <p:cNvSpPr txBox="1"/>
          <p:nvPr/>
        </p:nvSpPr>
        <p:spPr>
          <a:xfrm>
            <a:off x="822960" y="329184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More lactulose? Repeat the ammonia in 6 hours?</a:t>
            </a:r>
            <a:endParaRPr lang="en-US" sz="2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60/85</a:t>
            </a:r>
            <a:endParaRPr lang="en-US" sz="90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1: more confused</a:t>
            </a:r>
            <a:endParaRPr lang="en-US" sz="3000" dirty="0"/>
          </a:p>
        </p:txBody>
      </p:sp>
      <p:sp>
        <p:nvSpPr>
          <p:cNvPr id="3" name="Body"/>
          <p:cNvSpPr txBox="1"/>
          <p:nvPr/>
        </p:nvSpPr>
        <p:spPr>
          <a:xfrm>
            <a:off x="822960" y="1280160"/>
            <a:ext cx="10545775" cy="1097280"/>
          </a:xfrm>
          <a:prstGeom prst="rect">
            <a:avLst/>
          </a:prstGeom>
          <a:noFill/>
          <a:ln/>
        </p:spPr>
        <p:txBody>
          <a:bodyPr wrap="square" lIns="50800" tIns="50800" rIns="50800" bIns="50800" rtlCol="0" anchor="t"/>
          <a:lstStyle/>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More disoriented, pulling at his lines, asterixis. Awake, follows commands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The nurse sent an ammonia: </a:t>
            </a:r>
            <a:r>
              <a:rPr lang="en-US" sz="2100" b="1" dirty="0">
                <a:solidFill>
                  <a:srgbClr val="000000"/>
                </a:solidFill>
                <a:latin typeface="Georgia" pitchFamily="34" charset="0"/>
                <a:ea typeface="Georgia" pitchFamily="34" charset="-122"/>
                <a:cs typeface="Georgia" pitchFamily="34" charset="-120"/>
              </a:rPr>
              <a:t>88 μmol/L</a:t>
            </a:r>
            <a:endParaRPr lang="en-US" sz="2100" dirty="0"/>
          </a:p>
        </p:txBody>
      </p:sp>
      <p:sp>
        <p:nvSpPr>
          <p:cNvPr id="4" name="Question"/>
          <p:cNvSpPr txBox="1"/>
          <p:nvPr/>
        </p:nvSpPr>
        <p:spPr>
          <a:xfrm>
            <a:off x="822960" y="251460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Look for the reason first. The ammonia doesn't tell you</a:t>
            </a:r>
            <a:endParaRPr lang="en-US" sz="2200" dirty="0"/>
          </a:p>
        </p:txBody>
      </p:sp>
      <p:sp>
        <p:nvSpPr>
          <p:cNvPr id="5" name="Body"/>
          <p:cNvSpPr txBox="1"/>
          <p:nvPr/>
        </p:nvSpPr>
        <p:spPr>
          <a:xfrm>
            <a:off x="822960" y="3108960"/>
            <a:ext cx="10545775" cy="3154680"/>
          </a:xfrm>
          <a:prstGeom prst="rect">
            <a:avLst/>
          </a:prstGeom>
          <a:noFill/>
          <a:ln/>
        </p:spPr>
        <p:txBody>
          <a:bodyPr wrap="square" lIns="50800" tIns="50800" rIns="50800" bIns="50800" rtlCol="0" anchor="t"/>
          <a:lstStyle/>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Glucose, sodium, oxygen and CO2</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Is the infection controlled? Cultures, source, antibiotic coverage</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Bleeding, sedatives and opioids, withdrawal, seizures, a new focal deficit (CT head)</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Lactulose for overt HE: 2 to 3 soft stools a day. By tube if he can't swallow safely; watch for dehydration and high sodium</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Rifaximin is an add-on, mainly to prevent the next episode</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Grade III-IV and a poor airway: intubate</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No repeat ammonia</a:t>
            </a:r>
            <a:endParaRPr lang="en-US" sz="18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HE guideline 2022 [PMID: 35724930]; SCCM 2023 [PMID: 37052436]</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60/85</a:t>
            </a:r>
            <a:endParaRPr lang="en-US" sz="90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worse kidney, worse lungs</a:t>
            </a:r>
            <a:endParaRPr lang="en-US" sz="3000" dirty="0"/>
          </a:p>
        </p:txBody>
      </p:sp>
      <p:graphicFrame>
        <p:nvGraphicFramePr>
          <p:cNvPr id="96" name="Table"/>
          <p:cNvGraphicFramePr>
            <a:graphicFrameLocks noGrp="1"/>
          </p:cNvGraphicFramePr>
          <p:nvPr>
            <p:extLst>
              <p:ext uri="{D42A27DB-BD31-4B8C-83A1-F6EECF244321}">
                <p14:modId xmlns:p14="http://schemas.microsoft.com/office/powerpoint/2010/main" val="1579011935"/>
              </p:ext>
            </p:extLst>
          </p:nvPr>
        </p:nvGraphicFramePr>
        <p:xfrm>
          <a:off x="1097280" y="1280160"/>
          <a:ext cx="9997135" cy="914400"/>
        </p:xfrm>
        <a:graphic>
          <a:graphicData uri="http://schemas.openxmlformats.org/drawingml/2006/table">
            <a:tbl>
              <a:tblPr/>
              <a:tblGrid>
                <a:gridCol w="2926080"/>
                <a:gridCol w="2340864"/>
                <a:gridCol w="4727448"/>
              </a:tblGrid>
              <a:tr h="404165">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Day 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Albumin received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110 g (SBP dose, 1.5 g/kg at 73 kg) + 2 L crystalloid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Breathing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SpO2 92%, Venturi 35%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SpO2 86% on Venturi 50%, RR 32, crackles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Diffuse B-lines, IVC full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2.6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3.1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15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10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(mcg/kg/min)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0.15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0.22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93776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More albumin? Terlipressin? Something else?</a:t>
            </a:r>
            <a:endParaRPr lang="en-US" sz="2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61/85</a:t>
            </a:r>
            <a:endParaRPr lang="en-US" sz="90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worse kidney, worse lungs</a:t>
            </a:r>
            <a:endParaRPr lang="en-US" sz="3000" dirty="0"/>
          </a:p>
        </p:txBody>
      </p:sp>
      <p:graphicFrame>
        <p:nvGraphicFramePr>
          <p:cNvPr id="97" name="Table"/>
          <p:cNvGraphicFramePr>
            <a:graphicFrameLocks noGrp="1"/>
          </p:cNvGraphicFramePr>
          <p:nvPr>
            <p:extLst>
              <p:ext uri="{D42A27DB-BD31-4B8C-83A1-F6EECF244321}">
                <p14:modId xmlns:p14="http://schemas.microsoft.com/office/powerpoint/2010/main" val="1579011935"/>
              </p:ext>
            </p:extLst>
          </p:nvPr>
        </p:nvGraphicFramePr>
        <p:xfrm>
          <a:off x="1097280" y="1280160"/>
          <a:ext cx="9997135" cy="914400"/>
        </p:xfrm>
        <a:graphic>
          <a:graphicData uri="http://schemas.openxmlformats.org/drawingml/2006/table">
            <a:tbl>
              <a:tblPr/>
              <a:tblGrid>
                <a:gridCol w="2926080"/>
                <a:gridCol w="2340864"/>
                <a:gridCol w="4727448"/>
              </a:tblGrid>
              <a:tr h="404165">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Day 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Albumin received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110 g (SBP dose, 1.5 g/kg at 73 kg) + 2 L crystalloid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Breathing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SpO2 92%, Venturi 35%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SpO2 86% on Venturi 50%, RR 32, crackles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Diffuse B-lines, IVC full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2.6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3.1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15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10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(mcg/kg/min)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0.15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0.22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7548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First, what are the lungs telling you?</a:t>
            </a:r>
            <a:endParaRPr lang="en-US" sz="2400" dirty="0"/>
          </a:p>
        </p:txBody>
      </p:sp>
      <p:sp>
        <p:nvSpPr>
          <p:cNvPr id="5" name="Question"/>
          <p:cNvSpPr txBox="1"/>
          <p:nvPr/>
        </p:nvSpPr>
        <p:spPr>
          <a:xfrm>
            <a:off x="822960" y="539496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Now on high-flow, FiO2 0.6, SpO2 90%: SpO2/FiO2 150. That's a third organ failure</a:t>
            </a:r>
            <a:endParaRPr lang="en-US" sz="2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61/85</a:t>
            </a:r>
            <a:endParaRPr lang="en-US" sz="90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what do his lungs look like?</a:t>
            </a:r>
            <a:endParaRPr lang="en-US" sz="3000" dirty="0"/>
          </a:p>
        </p:txBody>
      </p:sp>
      <p:pic>
        <p:nvPicPr>
          <p:cNvPr id="3" name="Image 0" descr="Chest X-ray with bilateral pulmonary edema">    </p:cNvPr>
          <p:cNvPicPr>
            <a:picLocks noChangeAspect="1"/>
          </p:cNvPicPr>
          <p:nvPr/>
        </p:nvPicPr>
        <p:blipFill>
          <a:blip r:embed="rId1"/>
          <a:stretch>
            <a:fillRect/>
          </a:stretch>
        </p:blipFill>
        <p:spPr>
          <a:xfrm>
            <a:off x="548640" y="1188720"/>
            <a:ext cx="5120640" cy="4813402"/>
          </a:xfrm>
          <a:prstGeom prst="rect">
            <a:avLst/>
          </a:prstGeom>
        </p:spPr>
      </p:pic>
      <p:pic>
        <p:nvPicPr>
          <p:cNvPr id="4" name="Image 1" descr="Lung ultrasound with B-lines">    </p:cNvPr>
          <p:cNvPicPr>
            <a:picLocks noChangeAspect="1"/>
          </p:cNvPicPr>
          <p:nvPr/>
        </p:nvPicPr>
        <p:blipFill>
          <a:blip r:embed="rId2"/>
          <a:stretch>
            <a:fillRect/>
          </a:stretch>
        </p:blipFill>
        <p:spPr>
          <a:xfrm>
            <a:off x="5943600" y="1188720"/>
            <a:ext cx="5669280" cy="4720964"/>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Images for teaching, not this patient</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62/85</a:t>
            </a:r>
            <a:endParaRPr lang="en-US" sz="90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would you do for his kidney today?</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Terlipressin, more albumin, or dialysis?</a:t>
            </a:r>
            <a:endParaRPr lang="en-US" sz="28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63/85</a:t>
            </a:r>
            <a:endParaRPr lang="en-US" sz="90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would you do for his kidney today?</a:t>
            </a:r>
            <a:endParaRPr lang="en-US" sz="3000" dirty="0"/>
          </a:p>
        </p:txBody>
      </p:sp>
      <p:sp>
        <p:nvSpPr>
          <p:cNvPr id="3" name="Body"/>
          <p:cNvSpPr txBox="1"/>
          <p:nvPr/>
        </p:nvSpPr>
        <p:spPr>
          <a:xfrm>
            <a:off x="822960" y="1280160"/>
            <a:ext cx="10545775" cy="420624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Terlipressin: not for him today</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Label: don't start if SpO2 &lt; 90% or breathing is getting worse</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Label: avoid in ACLF grade 3 and in volume overload</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Stop the albumin while he is wet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He is already on a vasoconstrictor. Norepinephrine, titrated to perfusion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RRT if he stays overloaded. For HRS, RRT is a bridge to transplant: if he isn't a candidate, talk about goals before you start</a:t>
            </a:r>
            <a:endParaRPr lang="en-US" sz="2000" dirty="0"/>
          </a:p>
        </p:txBody>
      </p:sp>
      <p:sp>
        <p:nvSpPr>
          <p:cNvPr id="4" name="Question"/>
          <p:cNvSpPr txBox="1"/>
          <p:nvPr/>
        </p:nvSpPr>
        <p:spPr>
          <a:xfrm>
            <a:off x="822960" y="553212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Check oxygen and volume before any kidney treatment</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TERLIVAZ prescribing information, revised 6/2026; ADQI-ICA 2024 [PMID: 38527522]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63/85</a:t>
            </a:r>
            <a:endParaRPr lang="en-US" sz="90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each HRS drug does to the heart and lungs</a:t>
            </a:r>
            <a:endParaRPr lang="en-US" sz="3000" dirty="0"/>
          </a:p>
        </p:txBody>
      </p:sp>
      <p:pic>
        <p:nvPicPr>
          <p:cNvPr id="3" name="Image 0" descr="Effects of HRS-AKI treatments on vascular beds, heart, kidney and lungs">    </p:cNvPr>
          <p:cNvPicPr>
            <a:picLocks noChangeAspect="1"/>
          </p:cNvPicPr>
          <p:nvPr/>
        </p:nvPicPr>
        <p:blipFill>
          <a:blip r:embed="rId1"/>
          <a:stretch>
            <a:fillRect/>
          </a:stretch>
        </p:blipFill>
        <p:spPr>
          <a:xfrm>
            <a:off x="2023621" y="1143000"/>
            <a:ext cx="8144453" cy="502920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Nadim MK et al. J Hepatol 2024;81:163-83 [PMID: 38527522], Fig. 5 (CC BY 2.0, adapted from ADQI)</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64/85</a:t>
            </a:r>
            <a:endParaRPr lang="en-US" sz="90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HRS reversal mean survival?</a:t>
            </a:r>
            <a:endParaRPr lang="en-US" sz="3000" dirty="0"/>
          </a:p>
        </p:txBody>
      </p:sp>
      <p:pic>
        <p:nvPicPr>
          <p:cNvPr id="3" name="Image 0" descr="CONFIRM trial: title">    </p:cNvPr>
          <p:cNvPicPr>
            <a:picLocks noChangeAspect="1"/>
          </p:cNvPicPr>
          <p:nvPr/>
        </p:nvPicPr>
        <p:blipFill>
          <a:blip r:embed="rId1"/>
          <a:stretch>
            <a:fillRect/>
          </a:stretch>
        </p:blipFill>
        <p:spPr>
          <a:xfrm>
            <a:off x="3233049" y="1097280"/>
            <a:ext cx="5725597" cy="2743200"/>
          </a:xfrm>
          <a:prstGeom prst="rect">
            <a:avLst/>
          </a:prstGeom>
        </p:spPr>
      </p:pic>
      <p:sp>
        <p:nvSpPr>
          <p:cNvPr id="4" name="Question"/>
          <p:cNvSpPr txBox="1"/>
          <p:nvPr/>
        </p:nvSpPr>
        <p:spPr>
          <a:xfrm>
            <a:off x="822960" y="43891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Wong F et al. N Engl J Med 2021;384:818-28 [PMID: 33657294]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65/85</a:t>
            </a:r>
            <a:endParaRPr lang="en-US" sz="90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HRS reversal mean survival?</a:t>
            </a:r>
            <a:endParaRPr lang="en-US" sz="3000" dirty="0"/>
          </a:p>
        </p:txBody>
      </p:sp>
      <p:pic>
        <p:nvPicPr>
          <p:cNvPr id="3" name="Image 0" descr="CONFIRM trial: title">    </p:cNvPr>
          <p:cNvPicPr>
            <a:picLocks noChangeAspect="1"/>
          </p:cNvPicPr>
          <p:nvPr/>
        </p:nvPicPr>
        <p:blipFill>
          <a:blip r:embed="rId1"/>
          <a:stretch>
            <a:fillRect/>
          </a:stretch>
        </p:blipFill>
        <p:spPr>
          <a:xfrm>
            <a:off x="3233049" y="1097280"/>
            <a:ext cx="5725597" cy="2743200"/>
          </a:xfrm>
          <a:prstGeom prst="rect">
            <a:avLst/>
          </a:prstGeom>
        </p:spPr>
      </p:pic>
      <p:pic>
        <p:nvPicPr>
          <p:cNvPr id="4" name="Image 1" descr="CONFIRM trial">    </p:cNvPr>
          <p:cNvPicPr>
            <a:picLocks noChangeAspect="1"/>
          </p:cNvPicPr>
          <p:nvPr/>
        </p:nvPicPr>
        <p:blipFill>
          <a:blip r:embed="rId2"/>
          <a:stretch>
            <a:fillRect/>
          </a:stretch>
        </p:blipFill>
        <p:spPr>
          <a:xfrm>
            <a:off x="1280160" y="4069080"/>
            <a:ext cx="9631375" cy="1657943"/>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Wong F et al. N Engl J Med 2021;384:818-28 [PMID: 33657294]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65/85</a:t>
            </a:r>
            <a:endParaRPr lang="en-US" sz="90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HRS reversal mean survival?</a:t>
            </a:r>
            <a:endParaRPr lang="en-US" sz="3000" dirty="0"/>
          </a:p>
        </p:txBody>
      </p:sp>
      <p:graphicFrame>
        <p:nvGraphicFramePr>
          <p:cNvPr id="3" name="Chart 0" descr=""/>
          <p:cNvGraphicFramePr/>
          <p:nvPr/>
        </p:nvGraphicFramePr>
        <p:xfrm>
          <a:off x="548640" y="1280160"/>
          <a:ext cx="6766560" cy="484632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463040"/>
            <a:ext cx="4114800" cy="4572000"/>
          </a:xfrm>
          <a:prstGeom prst="rect">
            <a:avLst/>
          </a:prstGeom>
          <a:noFill/>
          <a:ln/>
        </p:spPr>
        <p:txBody>
          <a:bodyPr wrap="square" lIns="50800" tIns="50800" rIns="50800" bIns="50800" rtlCol="0" anchor="t"/>
          <a:lstStyle/>
          <a:p>
            <a:pPr indent="0" marL="0">
              <a:spcBef>
                <a:spcPts val="1200"/>
              </a:spcBef>
              <a:buNone/>
            </a:pPr>
            <a:r>
              <a:rPr lang="en-US" sz="2000" b="1" dirty="0">
                <a:solidFill>
                  <a:srgbClr val="000000"/>
                </a:solidFill>
                <a:latin typeface="Georgia" pitchFamily="34" charset="0"/>
                <a:ea typeface="Georgia" pitchFamily="34" charset="-122"/>
                <a:cs typeface="Georgia" pitchFamily="34" charset="-120"/>
              </a:rPr>
              <a:t>CONFIRM: type 1 HRS, 300 patients</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More kidneys recovered</a:t>
            </a:r>
            <a:endParaRPr lang="en-US" sz="2000" dirty="0"/>
          </a:p>
          <a:p>
            <a:pPr marL="228600" indent="-228600">
              <a:spcBef>
                <a:spcPts val="1200"/>
              </a:spcBef>
              <a:buSzPct val="100000"/>
              <a:buChar char="–"/>
            </a:pPr>
            <a:r>
              <a:rPr lang="en-US" sz="2000" b="1" dirty="0">
                <a:solidFill>
                  <a:srgbClr val="C00000"/>
                </a:solidFill>
                <a:latin typeface="Georgia" pitchFamily="34" charset="0"/>
                <a:ea typeface="Georgia" pitchFamily="34" charset="-122"/>
                <a:cs typeface="Georgia" pitchFamily="34" charset="-120"/>
              </a:rPr>
              <a:t>More patients died of respiratory failure</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All-cause 90-day mortality was not different</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Respiratory failure as an adverse event: about 14% vs 5% (label)</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Wong F et al. NEJM 2021 [PMID: 33657294]; TERLIVAZ prescribing information, revised 6/2026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66/85</a:t>
            </a:r>
            <a:endParaRPr lang="en-US" sz="90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treat the albumin number?</a:t>
            </a:r>
            <a:endParaRPr lang="en-US" sz="3000" dirty="0"/>
          </a:p>
        </p:txBody>
      </p:sp>
      <p:pic>
        <p:nvPicPr>
          <p:cNvPr id="3" name="Image 0" descr="ATTIRE trial: title">    </p:cNvPr>
          <p:cNvPicPr>
            <a:picLocks noChangeAspect="1"/>
          </p:cNvPicPr>
          <p:nvPr/>
        </p:nvPicPr>
        <p:blipFill>
          <a:blip r:embed="rId1"/>
          <a:stretch>
            <a:fillRect/>
          </a:stretch>
        </p:blipFill>
        <p:spPr>
          <a:xfrm>
            <a:off x="3413639" y="1097280"/>
            <a:ext cx="5364417" cy="2743200"/>
          </a:xfrm>
          <a:prstGeom prst="rect">
            <a:avLst/>
          </a:prstGeom>
        </p:spPr>
      </p:pic>
      <p:sp>
        <p:nvSpPr>
          <p:cNvPr id="4" name="Question"/>
          <p:cNvSpPr txBox="1"/>
          <p:nvPr/>
        </p:nvSpPr>
        <p:spPr>
          <a:xfrm>
            <a:off x="822960" y="43891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China L et al. N Engl J Med 2021;384:808-17 [PMID: 33657293]</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67/85</a:t>
            </a:r>
            <a:endParaRPr lang="en-US" sz="90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treat the albumin number?</a:t>
            </a:r>
            <a:endParaRPr lang="en-US" sz="3000" dirty="0"/>
          </a:p>
        </p:txBody>
      </p:sp>
      <p:pic>
        <p:nvPicPr>
          <p:cNvPr id="3" name="Image 0" descr="ATTIRE trial: title">    </p:cNvPr>
          <p:cNvPicPr>
            <a:picLocks noChangeAspect="1"/>
          </p:cNvPicPr>
          <p:nvPr/>
        </p:nvPicPr>
        <p:blipFill>
          <a:blip r:embed="rId1"/>
          <a:stretch>
            <a:fillRect/>
          </a:stretch>
        </p:blipFill>
        <p:spPr>
          <a:xfrm>
            <a:off x="3413639" y="1097280"/>
            <a:ext cx="5364417" cy="2743200"/>
          </a:xfrm>
          <a:prstGeom prst="rect">
            <a:avLst/>
          </a:prstGeom>
        </p:spPr>
      </p:pic>
      <p:pic>
        <p:nvPicPr>
          <p:cNvPr id="4" name="Image 1" descr="ATTIRE trial">    </p:cNvPr>
          <p:cNvPicPr>
            <a:picLocks noChangeAspect="1"/>
          </p:cNvPicPr>
          <p:nvPr/>
        </p:nvPicPr>
        <p:blipFill>
          <a:blip r:embed="rId2"/>
          <a:stretch>
            <a:fillRect/>
          </a:stretch>
        </p:blipFill>
        <p:spPr>
          <a:xfrm>
            <a:off x="1280160" y="4069080"/>
            <a:ext cx="9631375" cy="1404786"/>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China L et al. N Engl J Med 2021;384:808-17 [PMID: 33657293]</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67/85</a:t>
            </a:r>
            <a:endParaRPr lang="en-US" sz="90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treat the albumin number?</a:t>
            </a:r>
            <a:endParaRPr lang="en-US" sz="3000" dirty="0"/>
          </a:p>
        </p:txBody>
      </p:sp>
      <p:graphicFrame>
        <p:nvGraphicFramePr>
          <p:cNvPr id="107" name="Table"/>
          <p:cNvGraphicFramePr>
            <a:graphicFrameLocks noGrp="1"/>
          </p:cNvGraphicFramePr>
          <p:nvPr>
            <p:extLst>
              <p:ext uri="{D42A27DB-BD31-4B8C-83A1-F6EECF244321}">
                <p14:modId xmlns:p14="http://schemas.microsoft.com/office/powerpoint/2010/main" val="1579011935"/>
              </p:ext>
            </p:extLst>
          </p:nvPr>
        </p:nvGraphicFramePr>
        <p:xfrm>
          <a:off x="822960" y="1280160"/>
          <a:ext cx="10545775" cy="914400"/>
        </p:xfrm>
        <a:graphic>
          <a:graphicData uri="http://schemas.openxmlformats.org/drawingml/2006/table">
            <a:tbl>
              <a:tblPr/>
              <a:tblGrid>
                <a:gridCol w="1719072"/>
                <a:gridCol w="8823960"/>
              </a:tblGrid>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Study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777 inpatients: albumin to ≥ 30 g/L vs standard care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Finding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Infection, kidney dysfunction or death: 29.7% vs 30.2%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The catch</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More serious adverse events, including pulmonary edema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3977640"/>
            <a:ext cx="10545775" cy="219456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When albumin is indicated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SBP: 1.5 g/kg on day 1, 1 g/kg on day 3</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Paracentesis over 5 L: 6 to 8 g per liter removed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HRS-AKI: with a vasoconstrictor, dosed to volume status</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China L et al. NEJM 2021 [PMID: 33657293]; ADQI-ICA 2024 [PMID: 38527522]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68/85</a:t>
            </a:r>
            <a:endParaRPr lang="en-US" sz="900"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Midodrine and octreotide for HRS-AKI?</a:t>
            </a:r>
            <a:endParaRPr lang="en-US" sz="3000" dirty="0"/>
          </a:p>
        </p:txBody>
      </p:sp>
      <p:sp>
        <p:nvSpPr>
          <p:cNvPr id="3" name="Body"/>
          <p:cNvSpPr txBox="1"/>
          <p:nvPr/>
        </p:nvSpPr>
        <p:spPr>
          <a:xfrm>
            <a:off x="822960" y="2011680"/>
            <a:ext cx="10545775" cy="822960"/>
          </a:xfrm>
          <a:prstGeom prst="rect">
            <a:avLst/>
          </a:prstGeom>
          <a:noFill/>
          <a:ln/>
        </p:spPr>
        <p:txBody>
          <a:bodyPr wrap="square" lIns="50800" tIns="50800" rIns="50800" bIns="50800" rtlCol="0" anchor="t"/>
          <a:lstStyle/>
          <a:p>
            <a:pPr algn="ctr" indent="0" marL="0">
              <a:spcBef>
                <a:spcPts val="800"/>
              </a:spcBef>
              <a:buNone/>
            </a:pPr>
            <a:r>
              <a:rPr lang="en-US" sz="2200" dirty="0">
                <a:solidFill>
                  <a:srgbClr val="000000"/>
                </a:solidFill>
                <a:latin typeface="Georgia" pitchFamily="34" charset="0"/>
                <a:ea typeface="Georgia" pitchFamily="34" charset="-122"/>
                <a:cs typeface="Georgia" pitchFamily="34" charset="-120"/>
              </a:rPr>
              <a:t>Head to head: terlipressin vs midodrine plus octreotide, both with albumin, type 1 HRS</a:t>
            </a:r>
            <a:endParaRPr lang="en-US" sz="2200" dirty="0"/>
          </a:p>
        </p:txBody>
      </p:sp>
      <p:sp>
        <p:nvSpPr>
          <p:cNvPr id="4" name="Question"/>
          <p:cNvSpPr txBox="1"/>
          <p:nvPr/>
        </p:nvSpPr>
        <p:spPr>
          <a:xfrm>
            <a:off x="822960" y="329184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How different can two vasoconstrictors be?</a:t>
            </a:r>
            <a:endParaRPr lang="en-US" sz="28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69/85</a:t>
            </a:r>
            <a:endParaRPr lang="en-US" sz="90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Midodrine and octreotide for HRS-AKI?</a:t>
            </a:r>
            <a:endParaRPr lang="en-US" sz="3000" dirty="0"/>
          </a:p>
        </p:txBody>
      </p:sp>
      <p:graphicFrame>
        <p:nvGraphicFramePr>
          <p:cNvPr id="3" name="Chart 0" descr=""/>
          <p:cNvGraphicFramePr/>
          <p:nvPr/>
        </p:nvGraphicFramePr>
        <p:xfrm>
          <a:off x="548640" y="1280160"/>
          <a:ext cx="6766560" cy="484632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371600"/>
            <a:ext cx="4206240" cy="4754880"/>
          </a:xfrm>
          <a:prstGeom prst="rect">
            <a:avLst/>
          </a:prstGeom>
          <a:noFill/>
          <a:ln/>
        </p:spPr>
        <p:txBody>
          <a:bodyPr wrap="square" lIns="50800" tIns="50800" rIns="50800" bIns="50800" rtlCol="0" anchor="t"/>
          <a:lstStyle/>
          <a:p>
            <a:pPr indent="0" marL="0">
              <a:spcBef>
                <a:spcPts val="800"/>
              </a:spcBef>
              <a:buNone/>
            </a:pPr>
            <a:r>
              <a:rPr lang="en-US" sz="1700" b="1" dirty="0">
                <a:solidFill>
                  <a:srgbClr val="000000"/>
                </a:solidFill>
                <a:latin typeface="Georgia" pitchFamily="34" charset="0"/>
                <a:ea typeface="Georgia" pitchFamily="34" charset="-122"/>
                <a:cs typeface="Georgia" pitchFamily="34" charset="-120"/>
              </a:rPr>
              <a:t>Randomized, 8 Italian centers, type 1 HRS. 49 randomized (27 vs 22), 48 analyzed</a:t>
            </a:r>
            <a:endParaRPr lang="en-US" sz="1700" dirty="0"/>
          </a:p>
          <a:p>
            <a:pPr marL="228600" indent="-228600">
              <a:spcBef>
                <a:spcPts val="800"/>
              </a:spcBef>
              <a:buSzPct val="100000"/>
              <a:buChar char="–"/>
            </a:pPr>
            <a:r>
              <a:rPr lang="en-US" sz="1700" dirty="0">
                <a:solidFill>
                  <a:srgbClr val="000000"/>
                </a:solidFill>
                <a:latin typeface="Georgia" pitchFamily="34" charset="0"/>
                <a:ea typeface="Georgia" pitchFamily="34" charset="-122"/>
                <a:cs typeface="Georgia" pitchFamily="34" charset="-120"/>
              </a:rPr>
              <a:t>Stopped early at the interim analysis because the difference was already clear</a:t>
            </a:r>
            <a:endParaRPr lang="en-US" sz="1700" dirty="0"/>
          </a:p>
          <a:p>
            <a:pPr marL="228600" indent="-228600">
              <a:spcBef>
                <a:spcPts val="800"/>
              </a:spcBef>
              <a:buSzPct val="100000"/>
              <a:buChar char="–"/>
            </a:pPr>
            <a:r>
              <a:rPr lang="en-US" sz="1700" dirty="0">
                <a:solidFill>
                  <a:srgbClr val="000000"/>
                </a:solidFill>
                <a:latin typeface="Georgia" pitchFamily="34" charset="0"/>
                <a:ea typeface="Georgia" pitchFamily="34" charset="-122"/>
                <a:cs typeface="Georgia" pitchFamily="34" charset="-120"/>
              </a:rPr>
              <a:t>Blood pressure rose more with terlipressin</a:t>
            </a:r>
            <a:endParaRPr lang="en-US" sz="1700" dirty="0"/>
          </a:p>
          <a:p>
            <a:pPr marL="228600" indent="-228600">
              <a:spcBef>
                <a:spcPts val="800"/>
              </a:spcBef>
              <a:buSzPct val="100000"/>
              <a:buChar char="–"/>
            </a:pPr>
            <a:r>
              <a:rPr lang="en-US" sz="1700" dirty="0">
                <a:solidFill>
                  <a:srgbClr val="000000"/>
                </a:solidFill>
                <a:latin typeface="Georgia" pitchFamily="34" charset="0"/>
                <a:ea typeface="Georgia" pitchFamily="34" charset="-122"/>
                <a:cs typeface="Georgia" pitchFamily="34" charset="-120"/>
              </a:rPr>
              <a:t>3-month survival 59% vs 43%; too small to tell</a:t>
            </a:r>
            <a:endParaRPr lang="en-US" sz="1700" dirty="0"/>
          </a:p>
          <a:p>
            <a:pPr marL="228600" indent="-228600">
              <a:spcBef>
                <a:spcPts val="800"/>
              </a:spcBef>
              <a:buSzPct val="100000"/>
              <a:buChar char="–"/>
            </a:pPr>
            <a:r>
              <a:rPr lang="en-US" sz="1700" dirty="0">
                <a:solidFill>
                  <a:srgbClr val="000000"/>
                </a:solidFill>
                <a:latin typeface="Georgia" pitchFamily="34" charset="0"/>
                <a:ea typeface="Georgia" pitchFamily="34" charset="-122"/>
                <a:cs typeface="Georgia" pitchFamily="34" charset="-120"/>
              </a:rPr>
              <a:t>Not a substitute for IV pressors in the ICU</a:t>
            </a:r>
            <a:endParaRPr lang="en-US" sz="1700" dirty="0"/>
          </a:p>
          <a:p>
            <a:pPr marL="228600" indent="-228600">
              <a:spcBef>
                <a:spcPts val="800"/>
              </a:spcBef>
              <a:buSzPct val="100000"/>
              <a:buChar char="–"/>
            </a:pPr>
            <a:r>
              <a:rPr lang="en-US" sz="1700" b="1" dirty="0">
                <a:solidFill>
                  <a:srgbClr val="000000"/>
                </a:solidFill>
                <a:highlight>
                  <a:srgbClr val="FFFF00"/>
                </a:highlight>
                <a:latin typeface="Georgia" pitchFamily="34" charset="0"/>
                <a:ea typeface="Georgia" pitchFamily="34" charset="-122"/>
                <a:cs typeface="Georgia" pitchFamily="34" charset="-120"/>
              </a:rPr>
              <a:t>Use it only if terlipressin and norepinephrine are not options</a:t>
            </a:r>
            <a:endParaRPr lang="en-US" sz="17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Cavallin M et al. Hepatology 2015;62:567-74 [PMID: 25644760]; ADQI-ICA 2024 [PMID: 38527522]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69/85</a:t>
            </a:r>
            <a:endParaRPr lang="en-US" sz="90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changed since yesterday?</a:t>
            </a:r>
            <a:endParaRPr lang="en-US" sz="3000" dirty="0"/>
          </a:p>
        </p:txBody>
      </p:sp>
      <p:graphicFrame>
        <p:nvGraphicFramePr>
          <p:cNvPr id="110"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911535" cy="914400"/>
        </p:xfrm>
        <a:graphic>
          <a:graphicData uri="http://schemas.openxmlformats.org/drawingml/2006/table">
            <a:tbl>
              <a:tblPr/>
              <a:tblGrid>
                <a:gridCol w="3602736"/>
                <a:gridCol w="2249424"/>
                <a:gridCol w="1901952"/>
                <a:gridCol w="1901952"/>
                <a:gridCol w="1252728"/>
              </a:tblGrid>
              <a:tr h="38039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Norepinephrine (mcg/kg/min)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Off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Oxygen, SpO2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Venturi 0.35, 92%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0.6, 90%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0.4, 95%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 L, 97%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Lung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(P/F 211)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C00000"/>
                          </a:solidFill>
                          <a:latin typeface="Calibri" pitchFamily="34" charset="0"/>
                          <a:ea typeface="Calibri" pitchFamily="34" charset="-122"/>
                          <a:cs typeface="Calibri" pitchFamily="34" charset="-120"/>
                        </a:rPr>
                        <a:t>Yes (S/F 150)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(S/F 238)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Kidney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3.1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CRRT for fluid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On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Bilirubin / INR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5.8 / 2.1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6.4 / 2.3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6.1 / 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5.2 / 2.0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ACLF grade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C0000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663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Better or worse? What do you tell his family?</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 CLIF-C ACLF score [PMID: 24950482]; EASL ACLF 2023 [PMID: 37364789]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70/85</a:t>
            </a:r>
            <a:endParaRPr lang="en-US" sz="900"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changed since yesterday?</a:t>
            </a:r>
            <a:endParaRPr lang="en-US" sz="3000" dirty="0"/>
          </a:p>
        </p:txBody>
      </p:sp>
      <p:graphicFrame>
        <p:nvGraphicFramePr>
          <p:cNvPr id="111"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911535" cy="914400"/>
        </p:xfrm>
        <a:graphic>
          <a:graphicData uri="http://schemas.openxmlformats.org/drawingml/2006/table">
            <a:tbl>
              <a:tblPr/>
              <a:tblGrid>
                <a:gridCol w="3602736"/>
                <a:gridCol w="2249424"/>
                <a:gridCol w="1901952"/>
                <a:gridCol w="1901952"/>
                <a:gridCol w="1252728"/>
              </a:tblGrid>
              <a:tr h="38039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Norepinephrine (mcg/kg/min)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Off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Oxygen, SpO2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Venturi 0.35, 92%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0.6, 90%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0.4, 95%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 L, 97%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Lung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(P/F 211)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C00000"/>
                          </a:solidFill>
                          <a:latin typeface="Calibri" pitchFamily="34" charset="0"/>
                          <a:ea typeface="Calibri" pitchFamily="34" charset="-122"/>
                          <a:cs typeface="Calibri" pitchFamily="34" charset="-120"/>
                        </a:rPr>
                        <a:t>Yes (S/F 150)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(S/F 238)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Kidney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3.1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CRRT for fluid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On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Bilirubin / INR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5.8 / 2.1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6.4 / 2.3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6.1 / 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5.2 / 2.0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ACLF grade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C0000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000000"/>
                          </a:solidFill>
                          <a:highlight>
                            <a:srgbClr val="FFFF00"/>
                          </a:highlight>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4572000"/>
            <a:ext cx="10545775" cy="1737360"/>
          </a:xfrm>
          <a:prstGeom prst="rect">
            <a:avLst/>
          </a:prstGeom>
          <a:noFill/>
          <a:ln/>
        </p:spPr>
        <p:txBody>
          <a:bodyPr wrap="square" lIns="50800" tIns="50800" rIns="50800" bIns="50800" rtlCol="0" anchor="t"/>
          <a:lstStyle/>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The grade at days 3 to 7 predicts outcome better than the grade at admission</a:t>
            </a:r>
            <a:endParaRPr lang="en-US" sz="1600" dirty="0"/>
          </a:p>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Persistent ACLF 3 at days 3 to 7, especially with four or more organ failures, has a very high mortality without transplant</a:t>
            </a:r>
            <a:endParaRPr lang="en-US" sz="1600" dirty="0"/>
          </a:p>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If he is not a transplant candidate, discuss goals of care with the family and involve palliative care</a:t>
            </a:r>
            <a:endParaRPr lang="en-US" sz="1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 CLIF-C ACLF score [PMID: 24950482]; EASL ACLF 2023 [PMID: 37364789]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70/85</a:t>
            </a:r>
            <a:endParaRPr lang="en-US" sz="900"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Image 0" descr="Watercolor of a donor liver in an organ bag on ice in a transport cool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Who gets a liver?</a:t>
            </a:r>
            <a:endParaRPr lang="en-US" sz="4800" dirty="0"/>
          </a:p>
        </p:txBody>
      </p:sp>
      <p:sp>
        <p:nvSpPr>
          <p:cNvPr id="4" name="Text 1"/>
          <p:cNvSpPr txBox="1"/>
          <p:nvPr/>
        </p:nvSpPr>
        <p:spPr>
          <a:xfrm>
            <a:off x="548640" y="3429000"/>
            <a:ext cx="5212080" cy="548640"/>
          </a:xfrm>
          <a:prstGeom prst="rect">
            <a:avLst/>
          </a:prstGeom>
          <a:noFill/>
          <a:ln/>
        </p:spPr>
        <p:txBody>
          <a:bodyPr wrap="square" lIns="0" tIns="0" rIns="0" bIns="0" rtlCol="0" anchor="ctr"/>
          <a:lstStyle/>
          <a:p>
            <a:pPr algn="ctr" indent="0" marL="0">
              <a:buNone/>
            </a:pPr>
            <a:r>
              <a:rPr lang="en-US" sz="2400" dirty="0">
                <a:solidFill>
                  <a:srgbClr val="595959"/>
                </a:solidFill>
                <a:latin typeface="Georgia" pitchFamily="34" charset="0"/>
                <a:ea typeface="Georgia" pitchFamily="34" charset="-122"/>
                <a:cs typeface="Georgia" pitchFamily="34" charset="-120"/>
              </a:rPr>
              <a:t>Transplant in ACLF</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71/85</a:t>
            </a:r>
            <a:endParaRPr lang="en-US" sz="900"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sick for a transplant, or sick enough to need one?</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Ventilator, pressors, CRRT, ACLF 3. Is he too sick?</a:t>
            </a:r>
            <a:endParaRPr lang="en-US" sz="28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72/85</a:t>
            </a:r>
            <a:endParaRPr lang="en-US" sz="900"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sick for a transplant, or sick enough to need one?</a:t>
            </a:r>
            <a:endParaRPr lang="en-US" sz="3000" dirty="0"/>
          </a:p>
        </p:txBody>
      </p:sp>
      <p:sp>
        <p:nvSpPr>
          <p:cNvPr id="3" name="Body"/>
          <p:cNvSpPr txBox="1"/>
          <p:nvPr/>
        </p:nvSpPr>
        <p:spPr>
          <a:xfrm>
            <a:off x="548640" y="1280160"/>
            <a:ext cx="6309360"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A ventilator, pressors or dialysis do not by themselves exclude transplant</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Selected patients with ACLF grade 3 do well after transplant. The window is short</a:t>
            </a:r>
            <a:endParaRPr lang="en-US" sz="1800" dirty="0"/>
          </a:p>
          <a:p>
            <a:pPr indent="0" marL="0">
              <a:spcBef>
                <a:spcPts val="1600"/>
              </a:spcBef>
              <a:buNone/>
            </a:pPr>
            <a:r>
              <a:rPr lang="en-US" sz="1800" b="1" dirty="0">
                <a:solidFill>
                  <a:srgbClr val="000000"/>
                </a:solidFill>
                <a:latin typeface="Georgia" pitchFamily="34" charset="0"/>
                <a:ea typeface="Georgia" pitchFamily="34" charset="-122"/>
                <a:cs typeface="Georgia" pitchFamily="34" charset="-120"/>
              </a:rPr>
              <a:t>What can close the window</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Uncontrolled infection</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Rising vasopressor needs, severe respiratory failure</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Irreversible brain injury</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Frailty and comorbidity</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Alcohol: centers now evaluate individually rather than by a fixed abstinence rule</a:t>
            </a:r>
            <a:endParaRPr lang="en-US" sz="1800" dirty="0"/>
          </a:p>
        </p:txBody>
      </p:sp>
      <p:pic>
        <p:nvPicPr>
          <p:cNvPr id="4" name="Image 0" descr="Artru 2017: title">    </p:cNvPr>
          <p:cNvPicPr>
            <a:picLocks noChangeAspect="1"/>
          </p:cNvPicPr>
          <p:nvPr/>
        </p:nvPicPr>
        <p:blipFill>
          <a:blip r:embed="rId1"/>
          <a:stretch>
            <a:fillRect/>
          </a:stretch>
        </p:blipFill>
        <p:spPr>
          <a:xfrm>
            <a:off x="7040880" y="1188720"/>
            <a:ext cx="4663440" cy="1236732"/>
          </a:xfrm>
          <a:prstGeom prst="rect">
            <a:avLst/>
          </a:prstGeom>
        </p:spPr>
      </p:pic>
      <p:pic>
        <p:nvPicPr>
          <p:cNvPr id="5" name="Image 1" descr="One-year survival, transplanted ACLF 3 vs non-transplanted controls">    </p:cNvPr>
          <p:cNvPicPr>
            <a:picLocks noChangeAspect="1"/>
          </p:cNvPicPr>
          <p:nvPr/>
        </p:nvPicPr>
        <p:blipFill>
          <a:blip r:embed="rId2"/>
          <a:stretch>
            <a:fillRect/>
          </a:stretch>
        </p:blipFill>
        <p:spPr>
          <a:xfrm>
            <a:off x="7102213" y="2562612"/>
            <a:ext cx="4540774" cy="3198108"/>
          </a:xfrm>
          <a:prstGeom prst="rect">
            <a:avLst/>
          </a:prstGeom>
        </p:spPr>
      </p:pic>
      <p:sp>
        <p:nvSpPr>
          <p:cNvPr id="6" name="Body"/>
          <p:cNvSpPr txBox="1"/>
          <p:nvPr/>
        </p:nvSpPr>
        <p:spPr>
          <a:xfrm>
            <a:off x="7040880" y="5806440"/>
            <a:ext cx="4663440" cy="411480"/>
          </a:xfrm>
          <a:prstGeom prst="rect">
            <a:avLst/>
          </a:prstGeom>
          <a:noFill/>
          <a:ln/>
        </p:spPr>
        <p:txBody>
          <a:bodyPr wrap="square" lIns="50800" tIns="50800" rIns="50800" bIns="50800" rtlCol="0" anchor="t"/>
          <a:lstStyle/>
          <a:p>
            <a:pPr algn="ctr" indent="0" marL="0">
              <a:spcBef>
                <a:spcPts val="800"/>
              </a:spcBef>
              <a:buNone/>
            </a:pPr>
            <a:r>
              <a:rPr lang="en-US" sz="1600" i="1" dirty="0">
                <a:solidFill>
                  <a:srgbClr val="000000"/>
                </a:solidFill>
                <a:latin typeface="Georgia" pitchFamily="34" charset="0"/>
                <a:ea typeface="Georgia" pitchFamily="34" charset="-122"/>
                <a:cs typeface="Georgia" pitchFamily="34" charset="-120"/>
              </a:rPr>
              <a:t>Selected patients, not randomized</a:t>
            </a:r>
            <a:endParaRPr lang="en-US" sz="16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Artru F et al. J Hepatol 2017 [PMID: 28645736]; Lancet Gastroenterol Hepatol 2024 [PMID: 38309288]; AASLD/AST 2026 [PMID: 41405234]</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72/85</a:t>
            </a:r>
            <a:endParaRPr lang="en-US" sz="900"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Calling transplant hepatology</a:t>
            </a:r>
            <a:endParaRPr lang="en-US" sz="3000" dirty="0"/>
          </a:p>
        </p:txBody>
      </p:sp>
      <p:graphicFrame>
        <p:nvGraphicFramePr>
          <p:cNvPr id="115" name="Table"/>
          <p:cNvGraphicFramePr>
            <a:graphicFrameLocks noGrp="1"/>
          </p:cNvGraphicFramePr>
          <p:nvPr>
            <p:extLst>
              <p:ext uri="{D42A27DB-BD31-4B8C-83A1-F6EECF244321}">
                <p14:modId xmlns:p14="http://schemas.microsoft.com/office/powerpoint/2010/main" val="1579011935"/>
              </p:ext>
            </p:extLst>
          </p:nvPr>
        </p:nvGraphicFramePr>
        <p:xfrm>
          <a:off x="822960" y="1965960"/>
          <a:ext cx="10545775" cy="914400"/>
        </p:xfrm>
        <a:graphic>
          <a:graphicData uri="http://schemas.openxmlformats.org/drawingml/2006/table">
            <a:tbl>
              <a:tblPr/>
              <a:tblGrid>
                <a:gridCol w="5422392"/>
                <a:gridCol w="5120640"/>
              </a:tblGrid>
              <a:tr h="475488">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Patient A (ALF)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Patient B (ACLF)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297176">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Cause, days from jaundice to HE</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Encephalopathy grade, pupils, sedation</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Airway and ventilator settings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Ammonia, sodium, CRRT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INR, lactate, pH, glucose trends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Pressors, infection</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Social support, intent of ingestion</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Cause of cirrhosis, recent alcohol use</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Precipitant and source control</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Organ failures today and yesterday</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Pressor dose, oxygen, RRT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MELD, CLIF-C scores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Frailty, comorbidities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Prior transplant evaluation, support</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132588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Call first. Gather this while you wait for the call back</a:t>
            </a:r>
            <a:endParaRPr lang="en-US" sz="22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73/85</a:t>
            </a:r>
            <a:endParaRPr lang="en-US" sz="900"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and ACLF: what changes at the bedside</a:t>
            </a:r>
            <a:endParaRPr lang="en-US" sz="3000" dirty="0"/>
          </a:p>
        </p:txBody>
      </p:sp>
      <p:sp>
        <p:nvSpPr>
          <p:cNvPr id="3" name="Body"/>
          <p:cNvSpPr txBox="1"/>
          <p:nvPr/>
        </p:nvSpPr>
        <p:spPr>
          <a:xfrm>
            <a:off x="822960" y="1051560"/>
            <a:ext cx="10545775" cy="41148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Both have a sick liver. Do they have the same disease?</a:t>
            </a:r>
            <a:endParaRPr lang="en-US" sz="1800" dirty="0"/>
          </a:p>
        </p:txBody>
      </p:sp>
      <p:graphicFrame>
        <p:nvGraphicFramePr>
          <p:cNvPr id="116" name="Table"/>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1527048"/>
                <a:gridCol w="5102352"/>
                <a:gridCol w="4462272"/>
              </a:tblGrid>
              <a:tr h="59436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Acute liver failure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ACLF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Ammonia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Lactulose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Sodium</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Antibiotics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INR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2023 [PMID: 37377263]; SCCM 2023 [PMID: 37052436];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74/85</a:t>
            </a:r>
            <a:endParaRPr lang="en-US" sz="900"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and ACLF: what changes at the bedside</a:t>
            </a:r>
            <a:endParaRPr lang="en-US" sz="3000" dirty="0"/>
          </a:p>
        </p:txBody>
      </p:sp>
      <p:sp>
        <p:nvSpPr>
          <p:cNvPr id="3" name="Body"/>
          <p:cNvSpPr txBox="1"/>
          <p:nvPr/>
        </p:nvSpPr>
        <p:spPr>
          <a:xfrm>
            <a:off x="822960" y="1051560"/>
            <a:ext cx="10545775" cy="41148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Both have a sick liver. Do they have the same disease?</a:t>
            </a:r>
            <a:endParaRPr lang="en-US" sz="1800" dirty="0"/>
          </a:p>
        </p:txBody>
      </p:sp>
      <p:graphicFrame>
        <p:nvGraphicFramePr>
          <p:cNvPr id="117" name="Table"/>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1527048"/>
                <a:gridCol w="5102352"/>
                <a:gridCol w="4462272"/>
              </a:tblGrid>
              <a:tr h="59436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Acute liver failure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ACLF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Ammonia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With HE grade and trend: brain risk, CRRT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Doesn't diagnose HE; don't trend it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Lactulose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No proven benefit; distends the bowel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 for overt HE ± rifaximin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Sodium</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HE III-IV: often 145-155, match CRRT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Often low: ≤ 8 mmol/L per 24 h</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Antibiotics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No routine prophylaxis; low threshold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Treat fast; prophylaxis with GI bleed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INR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Tracks severity, not bleeding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Same; judge the procedure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2023 [PMID: 37377263]; SCCM 2023 [PMID: 37052436];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74/85</a:t>
            </a:r>
            <a:endParaRPr lang="en-US" sz="900"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happened to them</a:t>
            </a:r>
            <a:endParaRPr lang="en-US" sz="3000" dirty="0"/>
          </a:p>
        </p:txBody>
      </p:sp>
      <p:sp>
        <p:nvSpPr>
          <p:cNvPr id="3" name="Text 1"/>
          <p:cNvSpPr txBox="1"/>
          <p:nvPr/>
        </p:nvSpPr>
        <p:spPr>
          <a:xfrm>
            <a:off x="548640" y="1417320"/>
            <a:ext cx="5486400" cy="411480"/>
          </a:xfrm>
          <a:prstGeom prst="rect">
            <a:avLst/>
          </a:prstGeom>
          <a:noFill/>
          <a:ln/>
        </p:spPr>
        <p:txBody>
          <a:bodyPr wrap="square" lIns="0" tIns="0" rIns="0" bIns="0" rtlCol="0" anchor="ctr"/>
          <a:lstStyle/>
          <a:p>
            <a:pPr indent="0" marL="0">
              <a:buNone/>
            </a:pPr>
            <a:r>
              <a:rPr lang="en-US" sz="2000" b="1" dirty="0">
                <a:solidFill>
                  <a:srgbClr val="000000"/>
                </a:solidFill>
                <a:latin typeface="Georgia" pitchFamily="34" charset="0"/>
                <a:ea typeface="Georgia" pitchFamily="34" charset="-122"/>
                <a:cs typeface="Georgia" pitchFamily="34" charset="-120"/>
              </a:rPr>
              <a:t>Bed 4</a:t>
            </a:r>
            <a:endParaRPr lang="en-US" sz="2000" dirty="0"/>
          </a:p>
        </p:txBody>
      </p:sp>
      <p:sp>
        <p:nvSpPr>
          <p:cNvPr id="4" name="Shape 2"/>
          <p:cNvSpPr/>
          <p:nvPr/>
        </p:nvSpPr>
        <p:spPr>
          <a:xfrm>
            <a:off x="1371600" y="2103120"/>
            <a:ext cx="9448495" cy="0"/>
          </a:xfrm>
          <a:prstGeom prst="line">
            <a:avLst/>
          </a:prstGeom>
          <a:noFill/>
          <a:ln w="25400">
            <a:solidFill>
              <a:srgbClr val="000000"/>
            </a:solidFill>
            <a:prstDash val="solid"/>
          </a:ln>
        </p:spPr>
      </p:sp>
      <p:sp>
        <p:nvSpPr>
          <p:cNvPr id="5" name="Shape 3"/>
          <p:cNvSpPr/>
          <p:nvPr/>
        </p:nvSpPr>
        <p:spPr>
          <a:xfrm>
            <a:off x="1289304" y="2020824"/>
            <a:ext cx="164592" cy="164592"/>
          </a:xfrm>
          <a:prstGeom prst="ellipse">
            <a:avLst/>
          </a:prstGeom>
          <a:solidFill>
            <a:srgbClr val="000000"/>
          </a:solidFill>
          <a:ln w="12700">
            <a:solidFill>
              <a:srgbClr val="000000"/>
            </a:solidFill>
            <a:prstDash val="solid"/>
          </a:ln>
        </p:spPr>
      </p:sp>
      <p:sp>
        <p:nvSpPr>
          <p:cNvPr id="6" name="Text 4"/>
          <p:cNvSpPr txBox="1"/>
          <p:nvPr/>
        </p:nvSpPr>
        <p:spPr>
          <a:xfrm>
            <a:off x="320040"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0</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Admitted, NAC</a:t>
            </a:r>
            <a:endParaRPr lang="en-US" sz="1400" dirty="0"/>
          </a:p>
        </p:txBody>
      </p:sp>
      <p:sp>
        <p:nvSpPr>
          <p:cNvPr id="7" name="Shape 5"/>
          <p:cNvSpPr/>
          <p:nvPr/>
        </p:nvSpPr>
        <p:spPr>
          <a:xfrm>
            <a:off x="3367973" y="2020824"/>
            <a:ext cx="164592" cy="164592"/>
          </a:xfrm>
          <a:prstGeom prst="ellipse">
            <a:avLst/>
          </a:prstGeom>
          <a:solidFill>
            <a:srgbClr val="000000"/>
          </a:solidFill>
          <a:ln w="12700">
            <a:solidFill>
              <a:srgbClr val="000000"/>
            </a:solidFill>
            <a:prstDash val="solid"/>
          </a:ln>
        </p:spPr>
      </p:sp>
      <p:sp>
        <p:nvSpPr>
          <p:cNvPr id="8" name="Text 6"/>
          <p:cNvSpPr txBox="1"/>
          <p:nvPr/>
        </p:nvSpPr>
        <p:spPr>
          <a:xfrm>
            <a:off x="2398709"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Intubated, CRRT</a:t>
            </a:r>
            <a:endParaRPr lang="en-US" sz="1400" dirty="0"/>
          </a:p>
        </p:txBody>
      </p:sp>
      <p:sp>
        <p:nvSpPr>
          <p:cNvPr id="9" name="Shape 7"/>
          <p:cNvSpPr/>
          <p:nvPr/>
        </p:nvSpPr>
        <p:spPr>
          <a:xfrm>
            <a:off x="5446642" y="2020824"/>
            <a:ext cx="164592" cy="164592"/>
          </a:xfrm>
          <a:prstGeom prst="ellipse">
            <a:avLst/>
          </a:prstGeom>
          <a:solidFill>
            <a:srgbClr val="000000"/>
          </a:solidFill>
          <a:ln w="12700">
            <a:solidFill>
              <a:srgbClr val="000000"/>
            </a:solidFill>
            <a:prstDash val="solid"/>
          </a:ln>
        </p:spPr>
      </p:sp>
      <p:sp>
        <p:nvSpPr>
          <p:cNvPr id="10" name="Text 8"/>
          <p:cNvSpPr txBox="1"/>
          <p:nvPr/>
        </p:nvSpPr>
        <p:spPr>
          <a:xfrm>
            <a:off x="4477378"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2</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Listed 1A</a:t>
            </a:r>
            <a:endParaRPr lang="en-US" sz="1400" dirty="0"/>
          </a:p>
        </p:txBody>
      </p:sp>
      <p:sp>
        <p:nvSpPr>
          <p:cNvPr id="11" name="Shape 9"/>
          <p:cNvSpPr/>
          <p:nvPr/>
        </p:nvSpPr>
        <p:spPr>
          <a:xfrm>
            <a:off x="7525311" y="2020824"/>
            <a:ext cx="164592" cy="164592"/>
          </a:xfrm>
          <a:prstGeom prst="ellipse">
            <a:avLst/>
          </a:prstGeom>
          <a:solidFill>
            <a:srgbClr val="000000"/>
          </a:solidFill>
          <a:ln w="12700">
            <a:solidFill>
              <a:srgbClr val="000000"/>
            </a:solidFill>
            <a:prstDash val="solid"/>
          </a:ln>
        </p:spPr>
      </p:sp>
      <p:sp>
        <p:nvSpPr>
          <p:cNvPr id="12" name="Text 10"/>
          <p:cNvSpPr txBox="1"/>
          <p:nvPr/>
        </p:nvSpPr>
        <p:spPr>
          <a:xfrm>
            <a:off x="6556047"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4</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Transplanted</a:t>
            </a:r>
            <a:endParaRPr lang="en-US" sz="1400" dirty="0"/>
          </a:p>
        </p:txBody>
      </p:sp>
      <p:sp>
        <p:nvSpPr>
          <p:cNvPr id="13" name="Shape 11"/>
          <p:cNvSpPr/>
          <p:nvPr/>
        </p:nvSpPr>
        <p:spPr>
          <a:xfrm>
            <a:off x="10737799" y="2020824"/>
            <a:ext cx="164592" cy="164592"/>
          </a:xfrm>
          <a:prstGeom prst="ellipse">
            <a:avLst/>
          </a:prstGeom>
          <a:solidFill>
            <a:srgbClr val="000000"/>
          </a:solidFill>
          <a:ln w="12700">
            <a:solidFill>
              <a:srgbClr val="000000"/>
            </a:solidFill>
            <a:prstDash val="solid"/>
          </a:ln>
        </p:spPr>
      </p:sp>
      <p:sp>
        <p:nvSpPr>
          <p:cNvPr id="14" name="Text 12"/>
          <p:cNvSpPr txBox="1"/>
          <p:nvPr/>
        </p:nvSpPr>
        <p:spPr>
          <a:xfrm>
            <a:off x="9768535"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19</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Home</a:t>
            </a:r>
            <a:endParaRPr lang="en-US" sz="1400" dirty="0"/>
          </a:p>
        </p:txBody>
      </p:sp>
      <p:sp>
        <p:nvSpPr>
          <p:cNvPr id="15" name="Text 13"/>
          <p:cNvSpPr txBox="1"/>
          <p:nvPr/>
        </p:nvSpPr>
        <p:spPr>
          <a:xfrm>
            <a:off x="548640" y="3749040"/>
            <a:ext cx="5486400" cy="411480"/>
          </a:xfrm>
          <a:prstGeom prst="rect">
            <a:avLst/>
          </a:prstGeom>
          <a:noFill/>
          <a:ln/>
        </p:spPr>
        <p:txBody>
          <a:bodyPr wrap="square" lIns="0" tIns="0" rIns="0" bIns="0" rtlCol="0" anchor="ctr"/>
          <a:lstStyle/>
          <a:p>
            <a:pPr indent="0" marL="0">
              <a:buNone/>
            </a:pPr>
            <a:r>
              <a:rPr lang="en-US" sz="2000" b="1" dirty="0">
                <a:solidFill>
                  <a:srgbClr val="000000"/>
                </a:solidFill>
                <a:latin typeface="Georgia" pitchFamily="34" charset="0"/>
                <a:ea typeface="Georgia" pitchFamily="34" charset="-122"/>
                <a:cs typeface="Georgia" pitchFamily="34" charset="-120"/>
              </a:rPr>
              <a:t>Bed 7</a:t>
            </a:r>
            <a:endParaRPr lang="en-US" sz="2000" dirty="0"/>
          </a:p>
        </p:txBody>
      </p:sp>
      <p:sp>
        <p:nvSpPr>
          <p:cNvPr id="16" name="Shape 14"/>
          <p:cNvSpPr/>
          <p:nvPr/>
        </p:nvSpPr>
        <p:spPr>
          <a:xfrm>
            <a:off x="1371600" y="4434840"/>
            <a:ext cx="9448495" cy="0"/>
          </a:xfrm>
          <a:prstGeom prst="line">
            <a:avLst/>
          </a:prstGeom>
          <a:noFill/>
          <a:ln w="25400">
            <a:solidFill>
              <a:srgbClr val="000000"/>
            </a:solidFill>
            <a:prstDash val="solid"/>
          </a:ln>
        </p:spPr>
      </p:sp>
      <p:sp>
        <p:nvSpPr>
          <p:cNvPr id="17" name="Shape 15"/>
          <p:cNvSpPr/>
          <p:nvPr/>
        </p:nvSpPr>
        <p:spPr>
          <a:xfrm>
            <a:off x="1289304" y="4352544"/>
            <a:ext cx="164592" cy="164592"/>
          </a:xfrm>
          <a:prstGeom prst="ellipse">
            <a:avLst/>
          </a:prstGeom>
          <a:solidFill>
            <a:srgbClr val="000000"/>
          </a:solidFill>
          <a:ln w="12700">
            <a:solidFill>
              <a:srgbClr val="000000"/>
            </a:solidFill>
            <a:prstDash val="solid"/>
          </a:ln>
        </p:spPr>
      </p:sp>
      <p:sp>
        <p:nvSpPr>
          <p:cNvPr id="18" name="Text 16"/>
          <p:cNvSpPr txBox="1"/>
          <p:nvPr/>
        </p:nvSpPr>
        <p:spPr>
          <a:xfrm>
            <a:off x="320040"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SBP, ACLF 2</a:t>
            </a:r>
            <a:endParaRPr lang="en-US" sz="1400" dirty="0"/>
          </a:p>
        </p:txBody>
      </p:sp>
      <p:sp>
        <p:nvSpPr>
          <p:cNvPr id="19" name="Shape 17"/>
          <p:cNvSpPr/>
          <p:nvPr/>
        </p:nvSpPr>
        <p:spPr>
          <a:xfrm>
            <a:off x="3179003" y="4352544"/>
            <a:ext cx="164592" cy="164592"/>
          </a:xfrm>
          <a:prstGeom prst="ellipse">
            <a:avLst/>
          </a:prstGeom>
          <a:solidFill>
            <a:srgbClr val="000000"/>
          </a:solidFill>
          <a:ln w="12700">
            <a:solidFill>
              <a:srgbClr val="000000"/>
            </a:solidFill>
            <a:prstDash val="solid"/>
          </a:ln>
        </p:spPr>
      </p:sp>
      <p:sp>
        <p:nvSpPr>
          <p:cNvPr id="20" name="Text 18"/>
          <p:cNvSpPr txBox="1"/>
          <p:nvPr/>
        </p:nvSpPr>
        <p:spPr>
          <a:xfrm>
            <a:off x="2209739"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2</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ACLF 3</a:t>
            </a:r>
            <a:endParaRPr lang="en-US" sz="1400" dirty="0"/>
          </a:p>
        </p:txBody>
      </p:sp>
      <p:sp>
        <p:nvSpPr>
          <p:cNvPr id="21" name="Shape 19"/>
          <p:cNvSpPr/>
          <p:nvPr/>
        </p:nvSpPr>
        <p:spPr>
          <a:xfrm>
            <a:off x="5257672" y="4352544"/>
            <a:ext cx="164592" cy="164592"/>
          </a:xfrm>
          <a:prstGeom prst="ellipse">
            <a:avLst/>
          </a:prstGeom>
          <a:solidFill>
            <a:srgbClr val="000000"/>
          </a:solidFill>
          <a:ln w="12700">
            <a:solidFill>
              <a:srgbClr val="000000"/>
            </a:solidFill>
            <a:prstDash val="solid"/>
          </a:ln>
        </p:spPr>
      </p:sp>
      <p:sp>
        <p:nvSpPr>
          <p:cNvPr id="22" name="Text 20"/>
          <p:cNvSpPr txBox="1"/>
          <p:nvPr/>
        </p:nvSpPr>
        <p:spPr>
          <a:xfrm>
            <a:off x="4288408"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5</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Off pressors, ACLF 1</a:t>
            </a:r>
            <a:endParaRPr lang="en-US" sz="1400" dirty="0"/>
          </a:p>
        </p:txBody>
      </p:sp>
      <p:sp>
        <p:nvSpPr>
          <p:cNvPr id="23" name="Shape 21"/>
          <p:cNvSpPr/>
          <p:nvPr/>
        </p:nvSpPr>
        <p:spPr>
          <a:xfrm>
            <a:off x="7525311" y="4352544"/>
            <a:ext cx="164592" cy="164592"/>
          </a:xfrm>
          <a:prstGeom prst="ellipse">
            <a:avLst/>
          </a:prstGeom>
          <a:solidFill>
            <a:srgbClr val="000000"/>
          </a:solidFill>
          <a:ln w="12700">
            <a:solidFill>
              <a:srgbClr val="000000"/>
            </a:solidFill>
            <a:prstDash val="solid"/>
          </a:ln>
        </p:spPr>
      </p:sp>
      <p:sp>
        <p:nvSpPr>
          <p:cNvPr id="24" name="Text 22"/>
          <p:cNvSpPr txBox="1"/>
          <p:nvPr/>
        </p:nvSpPr>
        <p:spPr>
          <a:xfrm>
            <a:off x="6556047"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12</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Off CRRT</a:t>
            </a:r>
            <a:endParaRPr lang="en-US" sz="1400" dirty="0"/>
          </a:p>
        </p:txBody>
      </p:sp>
      <p:sp>
        <p:nvSpPr>
          <p:cNvPr id="25" name="Shape 23"/>
          <p:cNvSpPr/>
          <p:nvPr/>
        </p:nvSpPr>
        <p:spPr>
          <a:xfrm>
            <a:off x="10737799" y="4352544"/>
            <a:ext cx="164592" cy="164592"/>
          </a:xfrm>
          <a:prstGeom prst="ellipse">
            <a:avLst/>
          </a:prstGeom>
          <a:solidFill>
            <a:srgbClr val="000000"/>
          </a:solidFill>
          <a:ln w="12700">
            <a:solidFill>
              <a:srgbClr val="000000"/>
            </a:solidFill>
            <a:prstDash val="solid"/>
          </a:ln>
        </p:spPr>
      </p:sp>
      <p:sp>
        <p:nvSpPr>
          <p:cNvPr id="26" name="Text 24"/>
          <p:cNvSpPr txBox="1"/>
          <p:nvPr/>
        </p:nvSpPr>
        <p:spPr>
          <a:xfrm>
            <a:off x="9768535"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21</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Home, transplant clinic</a:t>
            </a:r>
            <a:endParaRPr lang="en-US" sz="1400" dirty="0"/>
          </a:p>
        </p:txBody>
      </p:sp>
      <p:sp>
        <p:nvSpPr>
          <p:cNvPr id="2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outcomes for teaching</a:t>
            </a:r>
            <a:endParaRPr lang="en-US" sz="1000" dirty="0"/>
          </a:p>
        </p:txBody>
      </p:sp>
      <p:sp>
        <p:nvSpPr>
          <p:cNvPr id="2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75/85</a:t>
            </a:r>
            <a:endParaRPr lang="en-US" sz="900"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Back to our patients</a:t>
            </a:r>
            <a:endParaRPr lang="en-US" sz="3000" dirty="0"/>
          </a:p>
        </p:txBody>
      </p:sp>
      <p:sp>
        <p:nvSpPr>
          <p:cNvPr id="3" name="Body"/>
          <p:cNvSpPr txBox="1"/>
          <p:nvPr/>
        </p:nvSpPr>
        <p:spPr>
          <a:xfrm>
            <a:off x="1280160" y="1325880"/>
            <a:ext cx="9631375" cy="4937760"/>
          </a:xfrm>
          <a:prstGeom prst="rect">
            <a:avLst/>
          </a:prstGeom>
          <a:noFill/>
          <a:ln/>
        </p:spPr>
        <p:txBody>
          <a:bodyPr wrap="square" lIns="50800" tIns="50800" rIns="50800" bIns="50800" rtlCol="0" anchor="t"/>
          <a:lstStyle/>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Which one needed transplant hepatology before the tests came back?</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Why did a falling ALT make you more worried?</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When is CRRT right before the creatinine is high?</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Why isn't lactulose for ACLF evidence for ALF?</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Why were albumin and terlipressin the wrong next step for bed 7?</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What would make you change yesterday's plan?</a:t>
            </a:r>
            <a:endParaRPr lang="en-US" sz="22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76/85</a:t>
            </a:r>
            <a:endParaRPr lang="en-US" sz="900"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Some tricks of the trade</a:t>
            </a:r>
            <a:endParaRPr lang="en-US" sz="3000" dirty="0"/>
          </a:p>
        </p:txBody>
      </p:sp>
      <p:sp>
        <p:nvSpPr>
          <p:cNvPr id="3" name="Body"/>
          <p:cNvSpPr txBox="1"/>
          <p:nvPr/>
        </p:nvSpPr>
        <p:spPr>
          <a:xfrm>
            <a:off x="822960" y="1325880"/>
            <a:ext cx="10545775" cy="4937760"/>
          </a:xfrm>
          <a:prstGeom prst="rect">
            <a:avLst/>
          </a:prstGeom>
          <a:noFill/>
          <a:ln/>
        </p:spPr>
        <p:txBody>
          <a:bodyPr wrap="square" lIns="50800" tIns="50800" rIns="50800" bIns="50800" rtlCol="0" anchor="t"/>
          <a:lstStyle/>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High AST and ALT alone are not liver failure. Get an INR and examine the patient</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Stabilize, treat the cause and call transplant hepatology in the same hour</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ALF: </a:t>
            </a:r>
            <a:r>
              <a:rPr lang="en-US" sz="2200" b="1" dirty="0">
                <a:solidFill>
                  <a:srgbClr val="000000"/>
                </a:solidFill>
                <a:latin typeface="Georgia" pitchFamily="34" charset="0"/>
                <a:ea typeface="Georgia" pitchFamily="34" charset="-122"/>
                <a:cs typeface="Georgia" pitchFamily="34" charset="-120"/>
              </a:rPr>
              <a:t>protect the brain</a:t>
            </a:r>
            <a:r>
              <a:rPr lang="en-US" sz="2200" dirty="0">
                <a:solidFill>
                  <a:srgbClr val="000000"/>
                </a:solidFill>
                <a:latin typeface="Georgia" pitchFamily="34" charset="0"/>
                <a:ea typeface="Georgia" pitchFamily="34" charset="-122"/>
                <a:cs typeface="Georgia" pitchFamily="34" charset="-120"/>
              </a:rPr>
              <a:t>. Intubate at grade III, keep the CO2 normal, follow your center's sodium plan, and start CRRT for rising ammonia</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ACLF: count the organs, find the trigger</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ACLF: check oxygenation and volume status before albumin or terlipressin</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Reassess organ failures daily. The trend matters more than the admission score</a:t>
            </a:r>
            <a:endParaRPr lang="en-US" sz="22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77/85</a:t>
            </a:r>
            <a:endParaRPr lang="en-US" sz="900"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Image 0" descr="Watercolor of a healthy liver in warm light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6492240" y="2560320"/>
            <a:ext cx="5212080" cy="1280160"/>
          </a:xfrm>
          <a:prstGeom prst="rect">
            <a:avLst/>
          </a:prstGeom>
          <a:noFill/>
          <a:ln/>
        </p:spPr>
        <p:txBody>
          <a:bodyPr wrap="square" lIns="0" tIns="0" rIns="0" bIns="0" rtlCol="0" anchor="ctr"/>
          <a:lstStyle/>
          <a:p>
            <a:pPr algn="ctr" indent="0" marL="0">
              <a:buNone/>
            </a:pPr>
            <a:r>
              <a:rPr lang="en-US" sz="5400" dirty="0">
                <a:solidFill>
                  <a:srgbClr val="000000"/>
                </a:solidFill>
                <a:latin typeface="Georgia" pitchFamily="34" charset="0"/>
                <a:ea typeface="Georgia" pitchFamily="34" charset="-122"/>
                <a:cs typeface="Georgia" pitchFamily="34" charset="-120"/>
              </a:rPr>
              <a:t>Questions?</a:t>
            </a:r>
            <a:endParaRPr lang="en-US" sz="54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78/85</a:t>
            </a:r>
            <a:endParaRPr lang="en-US" sz="900"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West Haven grades</a:t>
            </a:r>
            <a:endParaRPr lang="en-US" sz="3000" dirty="0"/>
          </a:p>
        </p:txBody>
      </p:sp>
      <p:graphicFrame>
        <p:nvGraphicFramePr>
          <p:cNvPr id="122" name="Table"/>
          <p:cNvGraphicFramePr>
            <a:graphicFrameLocks noGrp="1"/>
          </p:cNvGraphicFramePr>
          <p:nvPr>
            <p:extLst>
              <p:ext uri="{D42A27DB-BD31-4B8C-83A1-F6EECF244321}">
                <p14:modId xmlns:p14="http://schemas.microsoft.com/office/powerpoint/2010/main" val="1579011935"/>
              </p:ext>
            </p:extLst>
          </p:nvPr>
        </p:nvGraphicFramePr>
        <p:xfrm>
          <a:off x="1097280" y="1463040"/>
          <a:ext cx="9997135" cy="914400"/>
        </p:xfrm>
        <a:graphic>
          <a:graphicData uri="http://schemas.openxmlformats.org/drawingml/2006/table">
            <a:tbl>
              <a:tblPr/>
              <a:tblGrid>
                <a:gridCol w="987552"/>
                <a:gridCol w="9006840"/>
              </a:tblGrid>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Grade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What you see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Short attention, mild confusion, reversed sleep, subtle personality change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II</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Lethargy, disorientation to time, obvious personality change, asterixis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III</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Somnolent but rousable, grossly disoriented, bizarre behavior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IV</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Coma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79/85</a:t>
            </a:r>
            <a:endParaRPr lang="en-US" sz="900"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King's College criteria</a:t>
            </a:r>
            <a:endParaRPr lang="en-US" sz="3000" dirty="0"/>
          </a:p>
        </p:txBody>
      </p:sp>
      <p:graphicFrame>
        <p:nvGraphicFramePr>
          <p:cNvPr id="123" name="Table"/>
          <p:cNvGraphicFramePr>
            <a:graphicFrameLocks noGrp="1"/>
          </p:cNvGraphicFramePr>
          <p:nvPr>
            <p:extLst>
              <p:ext uri="{D42A27DB-BD31-4B8C-83A1-F6EECF244321}">
                <p14:modId xmlns:p14="http://schemas.microsoft.com/office/powerpoint/2010/main" val="1579011935"/>
              </p:ext>
            </p:extLst>
          </p:nvPr>
        </p:nvGraphicFramePr>
        <p:xfrm>
          <a:off x="1097280" y="1371600"/>
          <a:ext cx="9997135" cy="914400"/>
        </p:xfrm>
        <a:graphic>
          <a:graphicData uri="http://schemas.openxmlformats.org/drawingml/2006/table">
            <a:tbl>
              <a:tblPr/>
              <a:tblGrid>
                <a:gridCol w="5458968"/>
                <a:gridCol w="4535424"/>
              </a:tblGrid>
              <a:tr h="427939">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Acetaminophen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Not acetaminophen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08026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Arterial pH &lt; 7.30 after fluids</a:t>
                      </a:r>
                      <a:endParaRPr lang="en-US" sz="1800" dirty="0">
                        <a:latin typeface="Calibri" charset="0"/>
                        <a:ea typeface="Calibri" charset="0"/>
                        <a:cs typeface="Calibri" charset="0"/>
                      </a:endParaRPr>
                    </a:p>
                    <a:p>
                      <a:pPr algn="l" indent="0" marL="0">
                        <a:buNone/>
                      </a:pPr>
                      <a:r>
                        <a:rPr lang="en-US" sz="1800" i="1" dirty="0">
                          <a:solidFill>
                            <a:srgbClr val="000000"/>
                          </a:solidFill>
                          <a:latin typeface="Calibri" pitchFamily="34" charset="0"/>
                          <a:ea typeface="Calibri" pitchFamily="34" charset="-122"/>
                          <a:cs typeface="Calibri" pitchFamily="34" charset="-120"/>
                        </a:rPr>
                        <a:t>or all three within 24 hours: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INR &gt; 6.5</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Creatinine &gt; 3.4 mg/dL</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Grade III-IV encephalopathy</a:t>
                      </a:r>
                      <a:endParaRPr lang="en-US" sz="1800" dirty="0">
                        <a:latin typeface="Calibri" charset="0"/>
                        <a:ea typeface="Calibri" charset="0"/>
                        <a:cs typeface="Calibri" charset="0"/>
                      </a:endParaRPr>
                    </a:p>
                    <a:p>
                      <a:pPr algn="l" indent="0" marL="0">
                        <a:buNone/>
                      </a:pPr>
                      <a:r>
                        <a:rPr lang="en-US" sz="1400" i="1" dirty="0">
                          <a:solidFill>
                            <a:srgbClr val="000000"/>
                          </a:solidFill>
                          <a:latin typeface="Calibri" pitchFamily="34" charset="0"/>
                          <a:ea typeface="Calibri" pitchFamily="34" charset="-122"/>
                          <a:cs typeface="Calibri" pitchFamily="34" charset="-120"/>
                        </a:rPr>
                        <a:t>(Modified: lactate &gt; 3.5 at 4 h or &gt; 3.0 at 12 h after fluids)</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INR &gt; 6.5</a:t>
                      </a:r>
                      <a:endParaRPr lang="en-US" sz="1800" dirty="0">
                        <a:latin typeface="Calibri" charset="0"/>
                        <a:ea typeface="Calibri" charset="0"/>
                        <a:cs typeface="Calibri" charset="0"/>
                      </a:endParaRPr>
                    </a:p>
                    <a:p>
                      <a:pPr algn="l" indent="0" marL="0">
                        <a:buNone/>
                      </a:pPr>
                      <a:r>
                        <a:rPr lang="en-US" sz="1800" i="1" dirty="0">
                          <a:solidFill>
                            <a:srgbClr val="000000"/>
                          </a:solidFill>
                          <a:latin typeface="Calibri" pitchFamily="34" charset="0"/>
                          <a:ea typeface="Calibri" pitchFamily="34" charset="-122"/>
                          <a:cs typeface="Calibri" pitchFamily="34" charset="-120"/>
                        </a:rPr>
                        <a:t>or any three of:</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Age &lt; 10 or &gt; 40</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Drug reaction or unknown cause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Jaundice to encephalopathy &gt; 7 days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INR &gt; 3.5</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Bilirubin &gt; 17.5 mg/dL</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4343400"/>
            <a:ext cx="10545775" cy="548640"/>
          </a:xfrm>
          <a:prstGeom prst="rect">
            <a:avLst/>
          </a:prstGeom>
          <a:noFill/>
          <a:ln/>
        </p:spPr>
        <p:txBody>
          <a:bodyPr wrap="square" lIns="50800" tIns="50800" rIns="50800" bIns="50800" rtlCol="0" anchor="t"/>
          <a:lstStyle/>
          <a:p>
            <a:pPr algn="ctr" indent="0" marL="0">
              <a:spcBef>
                <a:spcPts val="800"/>
              </a:spcBef>
              <a:buNone/>
            </a:pPr>
            <a:r>
              <a:rPr lang="en-US" sz="1700" i="1" dirty="0">
                <a:solidFill>
                  <a:srgbClr val="000000"/>
                </a:solidFill>
                <a:latin typeface="Georgia" pitchFamily="34" charset="0"/>
                <a:ea typeface="Georgia" pitchFamily="34" charset="-122"/>
                <a:cs typeface="Georgia" pitchFamily="34" charset="-120"/>
              </a:rPr>
              <a:t>Original O'Grady criteria; the lactate line is the later modification</a:t>
            </a:r>
            <a:endParaRPr lang="en-US" sz="17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O'Grady 1989 criteria, as summarized in EASL 2017 [PMID: 28417882] and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80/85</a:t>
            </a:r>
            <a:endParaRPr lang="en-US" sz="900"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arterial ammonia studies in ALF</a:t>
            </a:r>
            <a:endParaRPr lang="en-US" sz="3000" dirty="0"/>
          </a:p>
        </p:txBody>
      </p:sp>
      <p:graphicFrame>
        <p:nvGraphicFramePr>
          <p:cNvPr id="124" name="Table"/>
          <p:cNvGraphicFramePr>
            <a:graphicFrameLocks noGrp="1"/>
          </p:cNvGraphicFramePr>
          <p:nvPr>
            <p:extLst>
              <p:ext uri="{D42A27DB-BD31-4B8C-83A1-F6EECF244321}">
                <p14:modId xmlns:p14="http://schemas.microsoft.com/office/powerpoint/2010/main" val="1579011935"/>
              </p:ext>
            </p:extLst>
          </p:nvPr>
        </p:nvGraphicFramePr>
        <p:xfrm>
          <a:off x="548640" y="1234440"/>
          <a:ext cx="11094415" cy="914400"/>
        </p:xfrm>
        <a:graphic>
          <a:graphicData uri="http://schemas.openxmlformats.org/drawingml/2006/table">
            <a:tbl>
              <a:tblPr/>
              <a:tblGrid>
                <a:gridCol w="2478024"/>
                <a:gridCol w="1426464"/>
                <a:gridCol w="4288536"/>
                <a:gridCol w="2898648"/>
              </a:tblGrid>
              <a:tr h="427939">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Study (arterial, μmol/L)</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Patients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What they found</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The catch</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Clemmesen 1999</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44 ALF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Herniated: mean 230 vs 118; all above 146</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Small, one center</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Bhatia 2006</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80 ALF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 124 on admission predicted death</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Endpoint was death, not ICH</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Bernal 2007</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165, HE III-IV</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&gt; 100: severe HE. </a:t>
                      </a:r>
                      <a:r>
                        <a:rPr lang="en-US" sz="1800" b="1" dirty="0">
                          <a:solidFill>
                            <a:srgbClr val="000000"/>
                          </a:solidFill>
                          <a:latin typeface="Calibri" pitchFamily="34" charset="0"/>
                          <a:ea typeface="Calibri" pitchFamily="34" charset="-122"/>
                          <a:cs typeface="Calibri" pitchFamily="34" charset="-120"/>
                        </a:rPr>
                        <a:t>&gt; 200: ICH in 55%</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200 missed most ICH</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Kumar 2012</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295 ALF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 122 for 3 days: survival 23% vs 72%</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Trend beat a single value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Above 150 to 200 and not falling: worry about the brain</a:t>
            </a:r>
            <a:endParaRPr lang="en-US" sz="2200" dirty="0"/>
          </a:p>
        </p:txBody>
      </p:sp>
      <p:sp>
        <p:nvSpPr>
          <p:cNvPr id="5"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ICH can occur below 200. Interpret the level with the HE grade and the trend</a:t>
            </a:r>
            <a:endParaRPr lang="en-US" sz="18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1999 [PMID: 10051463]; Bhatia 2006 [PMID: 16024550]; Bernal 2007 [PMID: 17685471]; Kumar 2012 [PMID: 22521861]</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81/85</a:t>
            </a:r>
            <a:endParaRPr lang="en-US" sz="900"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which ACLF?</a:t>
            </a:r>
            <a:endParaRPr lang="en-US" sz="3000" dirty="0"/>
          </a:p>
        </p:txBody>
      </p:sp>
      <p:graphicFrame>
        <p:nvGraphicFramePr>
          <p:cNvPr id="125"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1453896"/>
                <a:gridCol w="3017520"/>
                <a:gridCol w="2889504"/>
                <a:gridCol w="3730752"/>
              </a:tblGrid>
              <a:tr h="59436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EASL-CLIF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NACSELD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APASL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Who</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Decompensated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Cirrhosis, inpatient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CLD ±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Defined by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Organ failures (CLIF-C)</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 2 extrahepatic failures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Liver insult: jaundice + INR ≥ 1.5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Picks up</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Broader, earlier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Sicker patients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 primary liver insult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They find different patients. Say which one you're using</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Kyoto consensus 2025 [PMID: 39961976]; ACG ACLF 2022 [PMID: 35006099]; AASLD 2024 [PMID: 37939273]</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82/85</a:t>
            </a:r>
            <a:endParaRPr lang="en-US" sz="900"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early transplant for alcohol-associated hepatitis</a:t>
            </a:r>
            <a:endParaRPr lang="en-US" sz="3000" dirty="0"/>
          </a:p>
        </p:txBody>
      </p:sp>
      <p:pic>
        <p:nvPicPr>
          <p:cNvPr id="3" name="Image 0" descr="Survival with early transplant vs matched controls">    </p:cNvPr>
          <p:cNvPicPr>
            <a:picLocks noChangeAspect="1"/>
          </p:cNvPicPr>
          <p:nvPr/>
        </p:nvPicPr>
        <p:blipFill>
          <a:blip r:embed="rId1"/>
          <a:stretch>
            <a:fillRect/>
          </a:stretch>
        </p:blipFill>
        <p:spPr>
          <a:xfrm>
            <a:off x="457200" y="1280160"/>
            <a:ext cx="6766560" cy="4800600"/>
          </a:xfrm>
          <a:prstGeom prst="rect">
            <a:avLst/>
          </a:prstGeom>
        </p:spPr>
      </p:pic>
      <p:sp>
        <p:nvSpPr>
          <p:cNvPr id="4" name="Body"/>
          <p:cNvSpPr txBox="1"/>
          <p:nvPr/>
        </p:nvSpPr>
        <p:spPr>
          <a:xfrm>
            <a:off x="7498080" y="1463040"/>
            <a:ext cx="4297680" cy="4572000"/>
          </a:xfrm>
          <a:prstGeom prst="rect">
            <a:avLst/>
          </a:prstGeom>
          <a:noFill/>
          <a:ln/>
        </p:spPr>
        <p:txBody>
          <a:bodyPr wrap="square" lIns="50800" tIns="50800" rIns="50800" bIns="50800" rtlCol="0" anchor="t"/>
          <a:lstStyle/>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26 patients with a first episode of severe alcohol-associated hepatitis, not responding to steroids</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Highly selected: first liver-related event, close family support, no severe other illness, agreed to abstinence</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6-month survival </a:t>
            </a:r>
            <a:r>
              <a:rPr lang="en-US" sz="1900" b="1" dirty="0">
                <a:solidFill>
                  <a:srgbClr val="000000"/>
                </a:solidFill>
                <a:latin typeface="Georgia" pitchFamily="34" charset="0"/>
                <a:ea typeface="Georgia" pitchFamily="34" charset="-122"/>
                <a:cs typeface="Georgia" pitchFamily="34" charset="-120"/>
              </a:rPr>
              <a:t>77% vs 23%</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Recent drinking alone is not a reason to skip the call</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Mathurin P et al. N Engl J Med 2011 [PMID: 22070476]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83/85</a:t>
            </a:r>
            <a:endParaRPr lang="en-US" sz="900"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(1)</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SCCM ALF/ACLF ICU guidelines, part 1. Crit Care Med 2020 [PMID: 32058387]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SCCM ALF/ACLF ICU guidelines, part 2. Crit Care Med 2023 [PMID: 37052436]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acute liver failure guideline. J Hepatol 2017 [PMID: 28417882]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ACG acute liver failure guideline. Am J Gastroenterol 2023 [PMID: 37377263]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Management of acute liver failure: update 2022. Semin Liver Dis [PMID: 36001996]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Acute liver failure: a practical update. JHEP Rep 2024 [PMID: 39170946]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ACLF guideline. J Hepatol 2023 [PMID: 37364789]</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AASLD ACLF and critically ill cirrhosis guidance. Hepatology 2024 [PMID: 37939273], errata [PMID: 38551831], [PMID: 42467893]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ACG ACLF guideline. Am J Gastroenterol 2022 [PMID: 35006099]</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ADQI-ICA consensus on AKI in cirrhosis. J Hepatol 2024 [PMID: 38527522]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Surviving Sepsis Campaign 2026. Crit Care Med [PMID: 41869847]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autoimmune hepatitis guideline. J Hepatol 2025 [PMID: 40348684]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hepatic encephalopathy guideline. J Hepatol 2022 [PMID: 35724930]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US/Canada acetaminophen poisoning consensus. JAMA Netw Open 2023 [PMID: 37552484]</a:t>
            </a:r>
            <a:endParaRPr lang="en-US" sz="15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84/85</a:t>
            </a:r>
            <a:endParaRPr lang="en-US" sz="900"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(2)</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Moreau R et al. CANONIC. Gastroenterology 2013 [PMID: 23474284]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Jalan R et al. CLIF-C ACLF score. J Hepatol 2014 [PMID: 24950482]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Lee WM et al. NAC in non-acetaminophen ALF. Gastroenterology 2009 [PMID: 19524577]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Clemmesen JO et al. Cerebral herniation and arterial ammonia. Hepatology 1999 [PMID: 10051463]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Bernal W et al. Arterial ammonia, HE and intracranial hypertension. Hepatology 2007 [PMID: 17685471]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Bhatia V et al. Arterial ammonia in ALF. Gut 2006 [PMID: 16024550]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Kumar R et al. Persistent hyperammonemia in ALF. Clin Gastroenterol Hepatol 2012 [PMID: 22521861]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Cardoso FS et al. CRRT and ammonia in ALF. Hepatology 2018 [PMID: 28859230]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Pre-emptive CRRT in ALF with cerebral edema. Aliment Pharmacol Ther 2026 [PMID: 42332991]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Larsen FS et al. High-volume plasma exchange. J Hepatol 2016 [PMID: 26325537]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Cavallin M et al. Terlipressin vs midodrine and octreotide. Hepatology 2015 [PMID: 25644760]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Wong F et al. CONFIRM. NEJM 2021 [PMID: 33657294]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Artru F et al. Transplant in ACLF grade 3. J Hepatol 2017 [PMID: 28645736]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Mathurin P et al. Early transplant for alcoholic hepatitis. NEJM 2011 [PMID: 22070476]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China L et al. ATTIRE. NEJM 2021 [PMID: 33657293]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Liver transplantation for ACLF. Lancet Gastroenterol Hepatol 2024 [PMID: 38309288]</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AASLD/AST candidate evaluation guideline. Hepatology 2026 [PMID: 41405234]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Kyoto consensus on ACLF. Hepatol Int 2025 [PMID: 39961976]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TERLIVAZ (terlipressin) prescribing information, revised 6/2026</a:t>
            </a:r>
            <a:endParaRPr lang="en-US" sz="15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85/85</a:t>
            </a:r>
            <a:endParaRPr lang="en-US" sz="900" dirty="0"/>
          </a:p>
        </p:txBody>
      </p:sp>
    </p:spTree>
  </p:cSld>
  <p:clrMapOvr>
    <a:masterClrMapping/>
  </p:clrMapOvr>
</p:sld>
</file>

<file path=ppt/theme/theme1.xml><?xml version="1.0" encoding="utf-8"?>
<a:theme xmlns:a="http://schemas.openxmlformats.org/drawingml/2006/main" name="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eorg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127</Slides>
  <Notes>127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127</vt:i4>
      </vt:variant>
    </vt:vector>
  </HeadingPairs>
  <TitlesOfParts>
    <vt:vector size="1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Acute Liver Failure and ACLF in the ICU</dc:title>
  <dc:subject>PptxGenJS Presentation</dc:subject>
  <dc:creator>Mohammad Almeqdadi, MD</dc:creator>
  <cp:lastModifiedBy>Mohammad Almeqdadi, MD</cp:lastModifiedBy>
  <cp:revision>1</cp:revision>
  <dcterms:created xsi:type="dcterms:W3CDTF">2026-10-27T01:07:20Z</dcterms:created>
  <dcterms:modified xsi:type="dcterms:W3CDTF">2026-10-27T01:07:20Z</dcterms:modified>
</cp:coreProperties>
</file>