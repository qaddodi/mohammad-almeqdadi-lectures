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7.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10.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charts/chart11.xml" ContentType="application/vnd.openxmlformats-officedocument.drawingml.chart+xml"/>
  <Override PartName="/ppt/slideMasters/slideMaster63.xml" ContentType="application/vnd.openxmlformats-officedocument.presentationml.slideMaster+xml"/>
  <Override PartName="/ppt/slides/slide63.xml" ContentType="application/vnd.openxmlformats-officedocument.presentationml.slide+xml"/>
  <Override PartName="/ppt/charts/chart12.xml" ContentType="application/vnd.openxmlformats-officedocument.drawingml.chart+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charts/chart13.xml" ContentType="application/vnd.openxmlformats-officedocument.drawingml.chart+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33725a8-f303-98a6-badb-d38ef4b87ff0}">
          <p14:sldIdLst>
            <p14:sldId id="256"/>
            <p14:sldId id="257"/>
          </p14:sldIdLst>
        </p14:section>
        <p14:section name="Patient A: acute liver failure" id="{9f30ed3c-6e1f-d88e-fc70-23d97a28fa40}">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Patient B: ACLF" id="{04d618dc-0330-f9cd-f7f2-d35912156459}">
          <p14:sldIdLst>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Closing" id="{70ca0e0b-58f4-3afc-eeba-a935fa9f2744}">
          <p14:sldIdLst>
            <p14:sldId id="325"/>
            <p14:sldId id="326"/>
            <p14:sldId id="327"/>
          </p14:sldIdLst>
        </p14:section>
        <p14:section name="Appendix" id="{75e9e74b-6d9c-803e-97f3-b42ca81f20da}">
          <p14:sldIdLst>
            <p14:sldId id="328"/>
            <p14:sldId id="329"/>
            <p14:sldId id="330"/>
            <p14:sldId id="331"/>
            <p14:sldId id="332"/>
            <p14:sldId id="333"/>
            <p14:sldId id="33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ACLF 3: 1-year survival</a:t>
            </a:r>
          </a:p>
        </c:rich>
      </c:tx>
      <c:layout/>
      <c:overlay val="0"/>
    </c:title>
    <c:autoTitleDeleted val="0"/>
    <c:plotArea>
      <c:layout/>
      <c:barChart>
        <c:barDir val="col"/>
        <c:grouping val="clustered"/>
        <c:varyColors val="0"/>
        <c:ser>
          <c:idx val="0"/>
          <c:order val="0"/>
          <c:tx>
            <c:strRef>
              <c:f>Sheet1!$B$1</c:f>
              <c:strCache>
                <c:ptCount val="1"/>
                <c:pt idx="0">
                  <c:v>1-year survival</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A6A6A6"/>
              </a:solidFill>
              <a:effectLst/>
            </c:spPr>
          </c:dPt>
          <c:cat>
            <c:multiLvlStrRef>
              <c:f>Sheet1!$A$2:$A$3</c:f>
              <c:multiLvlStrCache>
                <c:ptCount val="2"/>
                <c:lvl>
                  <c:pt idx="0">
                    <c:v>Transplanted (n = 73)</c:v>
                  </c:pt>
                  <c:pt idx="1">
                    <c:v>Not transplanted</c:v>
                  </c:pt>
                </c:lvl>
              </c:multiLvlStrCache>
            </c:multiLvlStrRef>
          </c:cat>
          <c:val>
            <c:numRef>
              <c:f>Sheet1!$B$2:$B$3</c:f>
              <c:numCache>
                <c:formatCode>General</c:formatCode>
                <c:ptCount val="2"/>
                <c:pt idx="0">
                  <c:v>83.9</c:v>
                </c:pt>
                <c:pt idx="1">
                  <c:v>7.9</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going to tell you what happened to her. The point is what you reassess, and how often. Now,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night,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decompensation alone is not ACLF. ACLF means organ failure, and the definition you use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in ACLF should follow usual indications plus trajectory and transplant potential; avoid the rule 'dialysis only if listed'. A time-limited trial is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tell you how he does after day 5. The reassessment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2-1.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911535" cy="914400"/>
        </p:xfrm>
        <a:graphic>
          <a:graphicData uri="http://schemas.openxmlformats.org/drawingml/2006/table">
            <a:tbl>
              <a:tblPr/>
              <a:tblGrid>
                <a:gridCol w="2651760"/>
                <a:gridCol w="4206240"/>
                <a:gridCol w="4050792"/>
              </a:tblGrid>
              <a:tr h="512064">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If you suspect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Send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Don't wait for the result to</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Level, ingestion history, combination products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NAC</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Herpes simplex</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HSV PCR (blood)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IV acyclovir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Hepatitis B</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HBsAg, anti-HBc IgM, HBV DNA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entecavir or tenofovir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Autoimmune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ANA, ASMA, IgG (can be negative)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Discuss steroids with hepatology, list in parallel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Wilson disease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Ceruloplasmin, urine copper, hemolysis, low 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Prepare for urgent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Pregnancy (AFLP, HELLP)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hCG</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Call obstetrics, plan delivery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Budd-Chiari</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Doppler ultrasound or 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Anticoagulation, discuss TIPS or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Ischemic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Echo, history of shock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Fix the circulation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what we actually do</a:t>
            </a:r>
            <a:endParaRPr lang="en-US" sz="3000" dirty="0"/>
          </a:p>
        </p:txBody>
      </p:sp>
      <p:sp>
        <p:nvSpPr>
          <p:cNvPr id="3" name="Body"/>
          <p:cNvSpPr txBox="1"/>
          <p:nvPr/>
        </p:nvSpPr>
        <p:spPr>
          <a:xfrm>
            <a:off x="640080" y="1280160"/>
            <a:ext cx="56692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Every patient with grade III-IV encephalopathy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Head of bed 30°, neck neutral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fever, avoid hypoglycemia</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Sodium </a:t>
            </a:r>
            <a:r>
              <a:rPr lang="en-US" sz="1900" b="1" dirty="0">
                <a:solidFill>
                  <a:srgbClr val="000000"/>
                </a:solidFill>
                <a:latin typeface="Georgia" pitchFamily="34" charset="0"/>
                <a:ea typeface="Georgia" pitchFamily="34" charset="-122"/>
                <a:cs typeface="Georgia" pitchFamily="34" charset="-120"/>
              </a:rPr>
              <a:t>145 to 155 mmol/L</a:t>
            </a:r>
            <a:r>
              <a:rPr lang="en-US" sz="1900" dirty="0">
                <a:solidFill>
                  <a:srgbClr val="000000"/>
                </a:solidFill>
                <a:latin typeface="Georgia" pitchFamily="34" charset="0"/>
                <a:ea typeface="Georgia" pitchFamily="34" charset="-122"/>
                <a:cs typeface="Georgia" pitchFamily="34" charset="-120"/>
              </a:rPr>
              <a:t> with hypertonic saline (use your center's protocol)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Avoid fluid overload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seizures, EEG if in doubt. No routine prophylaxis</a:t>
            </a:r>
            <a:endParaRPr lang="en-US" sz="1900" dirty="0"/>
          </a:p>
        </p:txBody>
      </p:sp>
      <p:sp>
        <p:nvSpPr>
          <p:cNvPr id="4" name="Body"/>
          <p:cNvSpPr txBox="1"/>
          <p:nvPr/>
        </p:nvSpPr>
        <p:spPr>
          <a:xfrm>
            <a:off x="6400800" y="1280160"/>
            <a:ext cx="52120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Surge: new hypertension, bradycardia, pupils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Worth a bigger trial, not a rule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You already called. When you first suspected ALF</a:t>
            </a:r>
            <a:endParaRPr lang="en-US" sz="2600" dirty="0"/>
          </a:p>
        </p:txBody>
      </p:sp>
      <p:sp>
        <p:nvSpPr>
          <p:cNvPr id="4" name="Body"/>
          <p:cNvSpPr txBox="1"/>
          <p:nvPr/>
        </p:nvSpPr>
        <p:spPr>
          <a:xfrm>
            <a:off x="822960" y="2377440"/>
            <a:ext cx="10545775"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Patient A: what decides the next 24 hours?</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Is she listed, and how urgently?</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Pupils and the neuro exam, ammonia on CRRT, sodium on target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Vasopressor dose and lactate trend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New infection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Anything that would close the transplant window: fixed dilated pupils, uncontrolled sepsis, rising support despite everything</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the first night: bed 7</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just decompensated cirrhosis?</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Is this just decompensated cirrhosis?</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What would make it ACLF? Count the failing organs</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ACLF" is a label, not a promise.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 These numbers describe groups, not your patient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5358384"/>
                <a:gridCol w="536752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many of us learned (ICA 2015)</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Now (ADQI-ICA 2024)</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shock</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nephrotoxins, no structural kidney disease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Cirrhosis with ascites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AKI by creatinine and/or urine output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albumin challenge if he is already euvolemic or wet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strong alternative explanation as the main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Septic shock on norepinephrine is a strong alternative. Treat the shock first</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confused, pulling at his lines. Rouses to voice, asterixis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the morning?</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confused, pulling at his lines. Rouses to voice, asterixis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Still overloaded and not making urine despite this: RRT to take fluid off</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started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started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640080" y="1280160"/>
            <a:ext cx="67665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graphicFrame>
        <p:nvGraphicFramePr>
          <p:cNvPr id="4" name="Chart 0" descr=""/>
          <p:cNvGraphicFramePr/>
          <p:nvPr/>
        </p:nvGraphicFramePr>
        <p:xfrm>
          <a:off x="7589520" y="1371600"/>
          <a:ext cx="4206240" cy="4480560"/>
        </p:xfrm>
        <a:graphic xmlns:a="http://schemas.openxmlformats.org/drawingml/2006/main">
          <a:graphicData uri="http://schemas.openxmlformats.org/drawingml/2006/chart">
            <c:chart xmlns:c="http://schemas.openxmlformats.org/drawingml/2006/chart" r:id="rId1"/>
          </a:graphicData>
        </a:graphic>
      </p:graphicFrame>
      <p:sp>
        <p:nvSpPr>
          <p:cNvPr id="5" name="Body"/>
          <p:cNvSpPr txBox="1"/>
          <p:nvPr/>
        </p:nvSpPr>
        <p:spPr>
          <a:xfrm>
            <a:off x="7589520" y="5806440"/>
            <a:ext cx="42062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 home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Big enzymes don't make it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2026-10-26T20:19:24Z</dcterms:created>
  <dcterms:modified xsi:type="dcterms:W3CDTF">2026-10-26T20:19:24Z</dcterms:modified>
</cp:coreProperties>
</file>