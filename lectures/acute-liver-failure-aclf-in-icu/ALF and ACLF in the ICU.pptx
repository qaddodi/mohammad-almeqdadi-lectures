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59d1a3-5353-8571-7a27-e56fe7d80805}">
          <p14:sldIdLst>
            <p14:sldId id="256"/>
            <p14:sldId id="257"/>
          </p14:sldIdLst>
        </p14:section>
        <p14:section name="Patient A: acute liver failure" id="{37d79e77-a719-daab-e328-1f21dda62bbf}">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Patient B: ACLF" id="{cb0fcd25-2060-f923-a8fc-be24c14a95b3}">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Lst>
        </p14:section>
        <p14:section name="Closing" id="{f6277b85-2006-c4b3-ed24-902e7bdeff52}">
          <p14:sldIdLst>
            <p14:sldId id="315"/>
            <p14:sldId id="316"/>
            <p14:sldId id="317"/>
          </p14:sldIdLst>
        </p14:section>
        <p14:section name="Appendix" id="{fe35752e-d418-6499-3780-6c1e168eede1}">
          <p14:sldIdLst>
            <p14:sldId id="318"/>
            <p14:sldId id="319"/>
            <p14:sldId id="32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With repeated supratherapeutic dosing over 3 days there is no single ingestion time, so the nomogram can't answer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Transplant-free survival is a softer endpoint than overall survival, and part of the effect is that fewer patients needed transplant. Still, it is cheap and safe, so most centers give it in early non-acetaminophen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10.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with a rising INR, rising lactate and worsening encephalopathy means there are fewer hepatocytes left to release enzymes. Read the whole trajectory, not one line [PMID: 36001996]. Arterial pH on day 2 after fluids: 7.26. Keep that number;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going to tell you what happened to her. The point is what you reassess, and how often. Now,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Acute decompensation alone is not ACLF. ACLF means organ failure, and the definition you use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92% on 4 L is roughly an SpO2/FiO2 of 255 if you estimate FiO2 at about 0.36.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non-kidney organ failure counts only with some kidney dysfunction or mild encephalopathy.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We use EASL-CLIF for the rest of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mandatory 48-hour albumin challenge is gone.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Respiratory failure here partly came from what we gave 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in ACLF should follow usual indications plus trajectory and transplant potential; avoid the rule 'dialysis only if listed'. A time-limited trial is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don't tell you how he does after day 5. The reassessment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call makes the transplant team's decision faster. Trends, not single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alphaModFix amt="65000"/>
          </a:blip>
          <a:stretch>
            <a:fillRect/>
          </a:stretch>
        </p:blipFill>
        <p:spPr>
          <a:xfrm>
            <a:off x="1243584" y="36576"/>
            <a:ext cx="9692640" cy="6702552"/>
          </a:xfrm>
          <a:prstGeom prst="rect">
            <a:avLst/>
          </a:prstGeom>
        </p:spPr>
      </p:pic>
      <p:sp>
        <p:nvSpPr>
          <p:cNvPr id="3" name="Text 0"/>
          <p:cNvSpPr txBox="1"/>
          <p:nvPr/>
        </p:nvSpPr>
        <p:spPr>
          <a:xfrm>
            <a:off x="731520" y="1828800"/>
            <a:ext cx="10728655" cy="914400"/>
          </a:xfrm>
          <a:prstGeom prst="rect">
            <a:avLst/>
          </a:prstGeom>
          <a:noFill/>
          <a:ln/>
        </p:spPr>
        <p:txBody>
          <a:bodyPr wrap="square" lIns="0" tIns="0" rIns="0" bIns="0" rtlCol="0" anchor="ctr"/>
          <a:lstStyle/>
          <a:p>
            <a:pPr algn="ctr" indent="0" marL="0">
              <a:buNone/>
            </a:pPr>
            <a:r>
              <a:rPr lang="en-US" sz="5000" b="1" dirty="0">
                <a:solidFill>
                  <a:srgbClr val="000000"/>
                </a:solidFill>
                <a:latin typeface="Georgia" pitchFamily="34" charset="0"/>
                <a:ea typeface="Georgia" pitchFamily="34" charset="-122"/>
                <a:cs typeface="Georgia" pitchFamily="34" charset="-120"/>
              </a:rPr>
              <a:t>Acute Liver Failure and ACLF</a:t>
            </a:r>
            <a:endParaRPr lang="en-US" sz="5000" dirty="0"/>
          </a:p>
        </p:txBody>
      </p:sp>
      <p:sp>
        <p:nvSpPr>
          <p:cNvPr id="4" name="Text 1"/>
          <p:cNvSpPr txBox="1"/>
          <p:nvPr/>
        </p:nvSpPr>
        <p:spPr>
          <a:xfrm>
            <a:off x="731520" y="2697480"/>
            <a:ext cx="10728655" cy="64008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in the ICU</a:t>
            </a:r>
            <a:endParaRPr lang="en-US" sz="3600" dirty="0"/>
          </a:p>
        </p:txBody>
      </p:sp>
      <p:sp>
        <p:nvSpPr>
          <p:cNvPr id="5" name="Text 2"/>
          <p:cNvSpPr txBox="1"/>
          <p:nvPr/>
        </p:nvSpPr>
        <p:spPr>
          <a:xfrm>
            <a:off x="731520" y="3337560"/>
            <a:ext cx="10728655" cy="457200"/>
          </a:xfrm>
          <a:prstGeom prst="rect">
            <a:avLst/>
          </a:prstGeom>
          <a:noFill/>
          <a:ln/>
        </p:spPr>
        <p:txBody>
          <a:bodyPr wrap="square" lIns="0" tIns="0" rIns="0" bIns="0" rtlCol="0" anchor="ctr"/>
          <a:lstStyle/>
          <a:p>
            <a:pPr algn="ctr" indent="0" marL="0">
              <a:buNone/>
            </a:pPr>
            <a:r>
              <a:rPr lang="en-US" sz="2000" i="1" dirty="0">
                <a:solidFill>
                  <a:srgbClr val="000000"/>
                </a:solidFill>
                <a:latin typeface="Georgia" pitchFamily="34" charset="0"/>
                <a:ea typeface="Georgia" pitchFamily="34" charset="-122"/>
                <a:cs typeface="Georgia" pitchFamily="34" charset="-120"/>
              </a:rPr>
              <a:t>A guide for the night shift</a:t>
            </a:r>
            <a:endParaRPr lang="en-US" sz="2000" dirty="0"/>
          </a:p>
        </p:txBody>
      </p:sp>
      <p:sp>
        <p:nvSpPr>
          <p:cNvPr id="6" name="Text 3"/>
          <p:cNvSpPr txBox="1"/>
          <p:nvPr/>
        </p:nvSpPr>
        <p:spPr>
          <a:xfrm>
            <a:off x="2286000" y="4160520"/>
            <a:ext cx="7619695" cy="1005840"/>
          </a:xfrm>
          <a:prstGeom prst="rect">
            <a:avLst/>
          </a:prstGeom>
          <a:noFill/>
          <a:ln/>
        </p:spPr>
        <p:txBody>
          <a:bodyPr wrap="square" lIns="0" tIns="0" rIns="0" bIns="0" rtlCol="0" anchor="ctr"/>
          <a:lstStyle/>
          <a:p>
            <a:pPr algn="ctr" indent="0" marL="0">
              <a:buNone/>
            </a:pPr>
            <a:r>
              <a:rPr lang="en-US" sz="1800" b="1" dirty="0">
                <a:solidFill>
                  <a:srgbClr val="000000"/>
                </a:solidFill>
                <a:latin typeface="Georgia" pitchFamily="34" charset="0"/>
                <a:ea typeface="Georgia" pitchFamily="34" charset="-122"/>
                <a:cs typeface="Georgia" pitchFamily="34" charset="-120"/>
              </a:rPr>
              <a:t>Mohammad Almeqdadi, MD</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Transplant Hepatologist and Gastroenterologist</a:t>
            </a:r>
            <a:endParaRPr lang="en-US" sz="1800" dirty="0"/>
          </a:p>
          <a:p>
            <a:pPr algn="ctr" indent="0" marL="0">
              <a:buNone/>
            </a:pPr>
            <a:r>
              <a:rPr lang="en-US" sz="1500" i="1" dirty="0">
                <a:solidFill>
                  <a:srgbClr val="000000"/>
                </a:solidFill>
                <a:latin typeface="Georgia" pitchFamily="34" charset="0"/>
                <a:ea typeface="Georgia" pitchFamily="34" charset="-122"/>
                <a:cs typeface="Georgia" pitchFamily="34" charset="-120"/>
              </a:rPr>
              <a:t>Assistant Professor of Medicine and Surgery</a:t>
            </a:r>
            <a:endParaRPr lang="en-US" sz="1800" dirty="0"/>
          </a:p>
        </p:txBody>
      </p:sp>
      <p:pic>
        <p:nvPicPr>
          <p:cNvPr id="7" name="Image 1" descr="Tufts University School of Medicine">    </p:cNvPr>
          <p:cNvPicPr>
            <a:picLocks noChangeAspect="1"/>
          </p:cNvPicPr>
          <p:nvPr/>
        </p:nvPicPr>
        <p:blipFill>
          <a:blip r:embed="rId2"/>
          <a:stretch>
            <a:fillRect/>
          </a:stretch>
        </p:blipFill>
        <p:spPr>
          <a:xfrm>
            <a:off x="4361688" y="566928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5"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280160"/>
            <a:ext cx="10728655" cy="210312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INR ≥ 1.5</a:t>
            </a:r>
            <a:r>
              <a:rPr lang="en-US" sz="2100" dirty="0">
                <a:solidFill>
                  <a:srgbClr val="000000"/>
                </a:solidFill>
                <a:latin typeface="Georgia" pitchFamily="34" charset="0"/>
                <a:ea typeface="Georgia" pitchFamily="34" charset="-122"/>
                <a:cs typeface="Georgia" pitchFamily="34" charset="-120"/>
              </a:rPr>
              <a:t> and </a:t>
            </a:r>
            <a:r>
              <a:rPr lang="en-US" sz="2100" b="1" dirty="0">
                <a:solidFill>
                  <a:srgbClr val="000000"/>
                </a:solidFill>
                <a:latin typeface="Georgia" pitchFamily="34" charset="0"/>
                <a:ea typeface="Georgia" pitchFamily="34" charset="-122"/>
                <a:cs typeface="Georgia" pitchFamily="34" charset="-120"/>
              </a:rPr>
              <a:t>any degree of encephalopathy</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Illness of less than 26 weeks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pre-existing cirrhosis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1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 y="365760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one after the other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911535" cy="914400"/>
        </p:xfrm>
        <a:graphic>
          <a:graphicData uri="http://schemas.openxmlformats.org/drawingml/2006/table">
            <a:tbl>
              <a:tblPr/>
              <a:tblGrid>
                <a:gridCol w="2651760"/>
                <a:gridCol w="4206240"/>
                <a:gridCol w="4050792"/>
              </a:tblGrid>
              <a:tr h="512064">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If you suspect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Send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Don't wait for the result to</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Level, ingestion history, combination products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NAC</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Herpes simplex</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HSV PCR (blood)</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IV acyclovir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Hepatitis B</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HBsAg, anti-HBc IgM, HBV DNA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Start entecavir or tenofovir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Autoimmune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ANA, ASMA, IgG (can be negative)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Discuss steroids with hepatology, list in parallel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Wilson disease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Ceruloplasmin, urine copper, hemolysis, low 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Prepare for urgent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Pregnancy (AFLP, HELLP)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hCG</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Call obstetrics, plan delivery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Budd-Chiari</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Doppler ultrasound or CT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Anticoagulation, discuss TIPS or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Ischemic hepatitis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Echo, history of shock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Fix the circulation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11480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One acute ingestion, known time, plotted from 4 to 24 hours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Above the treatment line: NAC</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Now plot her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8 hours, 12 is well below the line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At 20 hours, it is above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Three days of repeated doses: </a:t>
            </a:r>
            <a:r>
              <a:rPr lang="en-US" sz="1900" b="1" dirty="0">
                <a:solidFill>
                  <a:srgbClr val="000000"/>
                </a:solidFill>
                <a:latin typeface="Georgia" pitchFamily="34" charset="0"/>
                <a:ea typeface="Georgia" pitchFamily="34" charset="-122"/>
                <a:cs typeface="Georgia" pitchFamily="34" charset="-120"/>
              </a:rPr>
              <a:t>there is no time zero</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 treatment line 150 μg/mL at 4 hours</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sp>
        <p:nvSpPr>
          <p:cNvPr id="3" name="Body"/>
          <p:cNvSpPr txBox="1"/>
          <p:nvPr/>
        </p:nvSpPr>
        <p:spPr>
          <a:xfrm>
            <a:off x="822960" y="1371600"/>
            <a:ext cx="10545775" cy="14630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Acetaminophen level: </a:t>
            </a:r>
            <a:r>
              <a:rPr lang="en-US" sz="2100" b="1" dirty="0">
                <a:solidFill>
                  <a:srgbClr val="000000"/>
                </a:solidFill>
                <a:latin typeface="Georgia" pitchFamily="34" charset="0"/>
                <a:ea typeface="Georgia" pitchFamily="34" charset="-122"/>
                <a:cs typeface="Georgia" pitchFamily="34" charset="-120"/>
              </a:rPr>
              <a:t>12 μg/mL</a:t>
            </a:r>
            <a:r>
              <a:rPr lang="en-US" sz="2100" dirty="0">
                <a:solidFill>
                  <a:srgbClr val="000000"/>
                </a:solidFill>
                <a:latin typeface="Georgia" pitchFamily="34" charset="0"/>
                <a:ea typeface="Georgia" pitchFamily="34" charset="-122"/>
                <a:cs typeface="Georgia" pitchFamily="34" charset="-120"/>
              </a:rPr>
              <a:t>, time of last dose unknown</a:t>
            </a:r>
            <a:endParaRPr lang="en-US" sz="21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5"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Adult non-acetaminophen ALF, randomized, NAC vs placebo, 173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Transplant-free survival 40% vs 27%; the benefit was in early encephalopathy (grade I-II): 52% vs 30%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Overall survival was not different (70% vs 66%). No benefit in grade III-IV 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Reasonable in early non-acetaminophen ALF. Don't extrapolate to advanced coma, children or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28-year-old woman with 4 days of nausea</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normal ammonia doesn't clear her, and one high value isn't a diagnosis</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Hepatology 1999;29:648-53; Bhatia Gut 2006; Bernal Hepatology 2007 [PMID: 17685471]; Kumar Clin Gastroenterol Hepatol 2012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Day 1: bilateral infiltrates, P/F 150 on PEEP 10</a:t>
            </a:r>
            <a:endParaRPr lang="en-US" sz="2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conflict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then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Individualize.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what we actually do</a:t>
            </a:r>
            <a:endParaRPr lang="en-US" sz="3000" dirty="0"/>
          </a:p>
        </p:txBody>
      </p:sp>
      <p:sp>
        <p:nvSpPr>
          <p:cNvPr id="3" name="Body"/>
          <p:cNvSpPr txBox="1"/>
          <p:nvPr/>
        </p:nvSpPr>
        <p:spPr>
          <a:xfrm>
            <a:off x="640080" y="1280160"/>
            <a:ext cx="56692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Every patient with grade III-IV encephalopathy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Head of bed 30°, neck neutral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fever, avoid hypoglycemia</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Sodium </a:t>
            </a:r>
            <a:r>
              <a:rPr lang="en-US" sz="1900" b="1" dirty="0">
                <a:solidFill>
                  <a:srgbClr val="000000"/>
                </a:solidFill>
                <a:latin typeface="Georgia" pitchFamily="34" charset="0"/>
                <a:ea typeface="Georgia" pitchFamily="34" charset="-122"/>
                <a:cs typeface="Georgia" pitchFamily="34" charset="-120"/>
              </a:rPr>
              <a:t>145 to 155 mmol/L</a:t>
            </a:r>
            <a:r>
              <a:rPr lang="en-US" sz="1900" dirty="0">
                <a:solidFill>
                  <a:srgbClr val="000000"/>
                </a:solidFill>
                <a:latin typeface="Georgia" pitchFamily="34" charset="0"/>
                <a:ea typeface="Georgia" pitchFamily="34" charset="-122"/>
                <a:cs typeface="Georgia" pitchFamily="34" charset="-120"/>
              </a:rPr>
              <a:t> with hypertonic saline (use your center's protocol)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Avoid fluid overload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seizures, EEG if in doubt. No routine prophylaxis</a:t>
            </a:r>
            <a:endParaRPr lang="en-US" sz="1900" dirty="0"/>
          </a:p>
        </p:txBody>
      </p:sp>
      <p:sp>
        <p:nvSpPr>
          <p:cNvPr id="4" name="Body"/>
          <p:cNvSpPr txBox="1"/>
          <p:nvPr/>
        </p:nvSpPr>
        <p:spPr>
          <a:xfrm>
            <a:off x="6400800" y="1280160"/>
            <a:ext cx="5212080" cy="49377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Surge: new hypertension, bradycardia, pupils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you dialyze the ammonia, not the creatinine</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High clearance lowers ammonia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Set replacement fluid sodium to match your sodium target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Fewer deaths in the first 7 days (2.2% vs 17.8%); 28-day survival similar by intention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single setting, many protocol violations (55.6% vs 13.3%)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the enzymes are falling</a:t>
            </a:r>
            <a:endParaRPr lang="en-US" sz="3000" dirty="0"/>
          </a:p>
        </p:txBody>
      </p:sp>
      <p:graphicFrame>
        <p:nvGraphicFramePr>
          <p:cNvPr id="3" name="Chart 0" descr=""/>
          <p:cNvGraphicFramePr/>
          <p:nvPr/>
        </p:nvGraphicFramePr>
        <p:xfrm>
          <a:off x="548640" y="123444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4206240"/>
        </p:xfrm>
        <a:graphic xmlns:a="http://schemas.openxmlformats.org/drawingml/2006/main">
          <a:graphicData uri="http://schemas.openxmlformats.org/drawingml/2006/chart">
            <c:chart xmlns:c="http://schemas.openxmlformats.org/drawingml/2006/chart" r:id="rId2"/>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She is running out of liver</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INR 5.6, platelets 88.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2344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already called. When you first suspected ALF</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1097280" y="187452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Body"/>
          <p:cNvSpPr txBox="1"/>
          <p:nvPr/>
        </p:nvSpPr>
        <p:spPr>
          <a:xfrm>
            <a:off x="822960" y="4800600"/>
            <a:ext cx="10545775" cy="73152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These predict death without transplant. They are not a referral threshold. Patient A: pH 7.26 on day 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Patient A: what decides the next 24 hours?</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Is she listed, and how urgently?</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Pupils and the neuro exam, ammonia on CRRT, sodium on target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Vasopressor dose and lactate trend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New infection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Anything that would close the transplant window: fixed dilated pupils, uncontrolled sepsis, rising support despite everything</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just decompensated cirrhosis?</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56-year-old man with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4 L</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Is this just decompensated cirrhosis?</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What would make it ACLF? Count the failing organs</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ICU, different disease</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Usually not this admission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Routine evaluation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SpO2/FiO2 about 255: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6309360"/>
                <a:gridCol w="286207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it takes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28-day mortality (CANONIC)</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organ failure, or one non-kidney failure with creatinine &lt; 1.5 and no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15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 failure alone; or one other organ failure plus creatinine 1.5 to 1.9 and/or grade I-II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Two organ failures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About 32%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Three or more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More than 75%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2120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Population numbers from a 2013 cohort. They describe groups, not your patient</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ACLF?</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Look for the trigger, every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Sometimes nothing is found. Keep looking</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5358384"/>
                <a:gridCol w="536752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many of us learned (ICA 2015)</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Now (ADQI-ICA 2024)</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shock</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nephrotoxins, no structural kidney disease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Cirrhosis with ascites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AKI by creatinine and/or urine output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response after at least 24 hours of volume resuscitation, when needed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 strong alternative explanation as the main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Septic shock on norepinephrine is a strong alternative. Treat the shock first</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on 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6 L,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If he can't make urine, RRT to take the fluid off</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(FDA, 2022; check the current label);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CONFIRM: terlipressin + albumin vs placebo + albumin, type 1 HRS, 300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Verified HRS reversal 32% vs 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Death from respiratory disorders by day 90: 11% vs 2%. Respiratory failure about 14% vs 5% (label)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survival benefit. Kidney response is not the same endpoint as living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difference in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Albumin has indications, not a target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044952"/>
                <a:gridCol w="1965960"/>
                <a:gridCol w="1965960"/>
                <a:gridCol w="1965960"/>
                <a:gridCol w="1965960"/>
              </a:tblGrid>
              <a:tr h="50292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4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HFNC, FiO2 0.4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 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CRRT started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On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 2.1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6.4 / 2.3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6.1 / 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5.2 / 2.0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ACLF grade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3</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937760"/>
            <a:ext cx="10545775" cy="1371600"/>
          </a:xfrm>
          <a:prstGeom prst="rect">
            <a:avLst/>
          </a:prstGeom>
          <a:noFill/>
          <a:ln/>
        </p:spPr>
        <p:txBody>
          <a:bodyPr wrap="square" lIns="50800" tIns="50800" rIns="50800" bIns="50800" rtlCol="0" anchor="t"/>
          <a:lstStyle/>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Persistent ACLF 3, especially four or more failures, carries a very high mortality without transplant. Time to talk with the family and the transplant team. No score writes the withdrawal order</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822960" y="128016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2000" dirty="0"/>
          </a:p>
          <a:p>
            <a:pPr indent="0" marL="0">
              <a:spcBef>
                <a:spcPts val="1600"/>
              </a:spcBef>
              <a:buNone/>
            </a:pPr>
            <a:r>
              <a:rPr lang="en-US" sz="2000" b="1" dirty="0">
                <a:solidFill>
                  <a:srgbClr val="000000"/>
                </a:solidFill>
                <a:latin typeface="Georgia" pitchFamily="34" charset="0"/>
                <a:ea typeface="Georgia" pitchFamily="34" charset="-122"/>
                <a:cs typeface="Georgia" pitchFamily="34" charset="-120"/>
              </a:rPr>
              <a:t>What closes the window</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Uncontrolled infection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Rising vasopressor needs, severe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Irreversible brain injury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Frailty and comorbidity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Lancet Gastroenterol Hepatol 2024 [PMID: 38309288]; AASLD/AST candidate evaluation 2026 [PMID: 41405234];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hepatology: have this ready</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822960" y="1371600"/>
          <a:ext cx="10545775" cy="914400"/>
        </p:xfrm>
        <a:graphic>
          <a:graphicData uri="http://schemas.openxmlformats.org/drawingml/2006/table">
            <a:tbl>
              <a:tblPr/>
              <a:tblGrid>
                <a:gridCol w="5266944"/>
                <a:gridCol w="5276088"/>
              </a:tblGrid>
              <a:tr h="4572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A (ALF)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Patient B (ACLF)</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926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Encephalopathy grade, pupils, sedation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Airway and ventilator settings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Ammonia, sodium, CRRT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INR, lactate, pH, glucose trends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Pressors, infection</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Social support, intent of ingestion</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Cause of cirrhosis, recent alcohol use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Precipitant and source control</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Organ failures today and yesterday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Pressor dose, oxygen, RRT</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MELD, CLIF-C scores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Frailty, comorbidities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Prior transplant evaluation, support</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different rules</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4626864"/>
                <a:gridCol w="4636008"/>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Ammonia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Predicts cerebral edema. Act on it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Doesn't diagnose HE. Don't trend it to dose 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Lactulose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established; bowel distension can complicate surgery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 for overt HE (plus rifaximin), avoid dehydration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Keep it high, 145 to 155 (center protocol)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Often chronically low: correct slowly, no more than 8 mmol/L a day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Antibiotics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routine prophylaxis; low threshold to treat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Treat infection; prophylaxis with GI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Prognosis, not bleeding risk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Same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Take home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Big enzymes don't make it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and the sodium up, and dialyze the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Treat the kidney with one eye on the lungs</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Look again tomorrow</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1999;29:648-53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2006;55:98-104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2012;10:925-31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FDA 2022. Check the current label</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2026-10-26T16:01:19Z</dcterms:created>
  <dcterms:modified xsi:type="dcterms:W3CDTF">2026-10-26T16:01:19Z</dcterms:modified>
</cp:coreProperties>
</file>