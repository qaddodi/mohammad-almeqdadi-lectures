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charts/chart2.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Lst>
  <p:notesMasterIdLst>
    <p:notesMasterId r:id="rId6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95a42f1e-a421-083e-128e-05d19e2be03b}">
          <p14:sldIdLst>
            <p14:sldId id="256"/>
            <p14:sldId id="257"/>
          </p14:sldIdLst>
        </p14:section>
        <p14:section name="Patient A: acute liver failure" id="{76ededd3-984e-8940-515f-eb1bd51cb3c0}">
          <p14:sldIdLst>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Lst>
        </p14:section>
        <p14:section name="Patient B: ACLF" id="{545ea45e-9da0-cb03-4e75-61f4cc1cbd8d}">
          <p14:sldIdLst>
            <p14:sldId id="292"/>
            <p14:sldId id="293"/>
            <p14:sldId id="294"/>
            <p14:sldId id="295"/>
            <p14:sldId id="296"/>
            <p14:sldId id="297"/>
            <p14:sldId id="298"/>
            <p14:sldId id="299"/>
            <p14:sldId id="300"/>
            <p14:sldId id="301"/>
            <p14:sldId id="302"/>
            <p14:sldId id="303"/>
            <p14:sldId id="304"/>
            <p14:sldId id="305"/>
            <p14:sldId id="306"/>
            <p14:sldId id="307"/>
            <p14:sldId id="308"/>
            <p14:sldId id="309"/>
            <p14:sldId id="310"/>
            <p14:sldId id="311"/>
            <p14:sldId id="312"/>
            <p14:sldId id="313"/>
            <p14:sldId id="314"/>
          </p14:sldIdLst>
        </p14:section>
        <p14:section name="Closing" id="{90c19350-9f7e-6815-9ddc-5b4752d17b34}">
          <p14:sldIdLst>
            <p14:sldId id="315"/>
            <p14:sldId id="316"/>
            <p14:sldId id="317"/>
          </p14:sldIdLst>
        </p14:section>
        <p14:section name="Appendix" id="{c8883b5b-0c45-ee96-30e0-c74129201662}">
          <p14:sldIdLst>
            <p14:sldId id="318"/>
            <p14:sldId id="319"/>
            <p14:sldId id="32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notesMaster" Target="notesMasters/notesMaster1.xml"/><Relationship Id="rId68" Type="http://schemas.openxmlformats.org/officeDocument/2006/relationships/presProps" Target="presProps.xml"/><Relationship Id="rId69" Type="http://schemas.openxmlformats.org/officeDocument/2006/relationships/viewProps" Target="viewProps.xml"/><Relationship Id="rId70" Type="http://schemas.openxmlformats.org/officeDocument/2006/relationships/theme" Target="theme/theme1.xml"/><Relationship Id="rId7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Original line (200 at 4 h)</c:v>
                </c:pt>
              </c:strCache>
            </c:strRef>
          </c:tx>
          <c:spPr>
            <a:solidFill>
              <a:srgbClr val="7F7F7F"/>
            </a:solidFill>
            <a:ln w="31750" cap="flat">
              <a:solidFill>
                <a:srgbClr val="7F7F7F"/>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7F7F7F"/>
              </a:solidFill>
              <a:ln w="9525" cap="flat">
                <a:solidFill>
                  <a:srgbClr val="7F7F7F"/>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Sheet1!$B$2:$B$7</c:f>
              <c:numCache>
                <c:formatCode>General</c:formatCode>
                <c:ptCount val="6"/>
                <c:pt idx="0">
                  <c:v>200</c:v>
                </c:pt>
                <c:pt idx="1">
                  <c:v>100</c:v>
                </c:pt>
                <c:pt idx="2">
                  <c:v>50</c:v>
                </c:pt>
                <c:pt idx="3">
                  <c:v>25</c:v>
                </c:pt>
                <c:pt idx="4">
                  <c:v>12.5</c:v>
                </c:pt>
                <c:pt idx="5">
                  <c:v>6.25</c:v>
                </c:pt>
              </c:numCache>
            </c:numRef>
          </c:val>
          <c:smooth val="0"/>
        </c:ser>
        <c:ser>
          <c:idx val="1"/>
          <c:order val="1"/>
          <c:tx>
            <c:strRef>
              <c:f>Sheet1!$C$1</c:f>
              <c:strCache>
                <c:ptCount val="1"/>
                <c:pt idx="0">
                  <c:v>US treatment line (150 at 4 h)</c:v>
                </c:pt>
              </c:strCache>
            </c:strRef>
          </c:tx>
          <c:spPr>
            <a:solidFill>
              <a:srgbClr val="000000"/>
            </a:solidFill>
            <a:ln w="31750" cap="flat">
              <a:solidFill>
                <a:srgbClr val="000000"/>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00000"/>
              </a:solidFill>
              <a:ln w="9525" cap="flat">
                <a:solidFill>
                  <a:srgbClr val="000000"/>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Sheet1!$C$2:$C$7</c:f>
              <c:numCache>
                <c:formatCode>General</c:formatCode>
                <c:ptCount val="6"/>
                <c:pt idx="0">
                  <c:v>150</c:v>
                </c:pt>
                <c:pt idx="1">
                  <c:v>75</c:v>
                </c:pt>
                <c:pt idx="2">
                  <c:v>37.5</c:v>
                </c:pt>
                <c:pt idx="3">
                  <c:v>18.75</c:v>
                </c:pt>
                <c:pt idx="4">
                  <c:v>9.38</c:v>
                </c:pt>
                <c:pt idx="5">
                  <c:v>4.69</c:v>
                </c:pt>
              </c:numCache>
            </c:numRef>
          </c:val>
          <c:smooth val="0"/>
        </c:ser>
        <c:ser>
          <c:idx val="2"/>
          <c:order val="2"/>
          <c:tx>
            <c:strRef>
              <c:f>Sheet1!$D$1</c:f>
              <c:strCache>
                <c:ptCount val="1"/>
                <c:pt idx="0">
                  <c:v>Her level, 12 μg/mL</c:v>
                </c:pt>
              </c:strCache>
            </c:strRef>
          </c:tx>
          <c:spPr>
            <a:solidFill>
              <a:srgbClr val="C00000"/>
            </a:solidFill>
            <a:ln w="31750" cap="flat">
              <a:solidFill>
                <a:srgbClr val="C00000"/>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00000"/>
              </a:solidFill>
              <a:ln w="9525" cap="flat">
                <a:solidFill>
                  <a:srgbClr val="C00000"/>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Sheet1!$D$2:$D$7</c:f>
              <c:numCache>
                <c:formatCode>General</c:formatCode>
                <c:ptCount val="6"/>
                <c:pt idx="0">
                  <c:v>12</c:v>
                </c:pt>
                <c:pt idx="1">
                  <c:v>12</c:v>
                </c:pt>
                <c:pt idx="2">
                  <c:v>12</c:v>
                </c:pt>
                <c:pt idx="3">
                  <c:v>12</c:v>
                </c:pt>
                <c:pt idx="4">
                  <c:v>12</c:v>
                </c:pt>
                <c:pt idx="5">
                  <c:v>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300" b="0" i="0" u="none" strike="noStrike">
                    <a:solidFill>
                      <a:srgbClr val="000000"/>
                    </a:solidFill>
                    <a:latin typeface="Calibri"/>
                  </a:defRPr>
                </a:pPr>
                <a:r>
                  <a:rPr sz="1300" b="0" i="0" u="none" strike="noStrike">
                    <a:solidFill>
                      <a:srgbClr val="000000"/>
                    </a:solidFill>
                    <a:latin typeface="Calibri"/>
                  </a:rPr>
                  <a:t>Hours after a single ingestion</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logBase val="10"/>
          <c:orientation val="minMax"/>
          <c:max val="1000"/>
          <c:min val="1"/>
        </c:scaling>
        <c:delete val="0"/>
        <c:axPos val="l"/>
        <c:majorGridlines>
          <c:spPr>
            <a:ln w="6350" cap="flat">
              <a:solidFill>
                <a:srgbClr val="D9D9D9"/>
              </a:solidFill>
              <a:prstDash val="solid"/>
              <a:round/>
            </a:ln>
          </c:spPr>
        </c:majorGridlines>
        <c:title>
          <c:tx>
            <c:rich>
              <a:bodyPr/>
              <a:lstStyle/>
              <a:p>
                <a:pPr>
                  <a:defRPr sz="1300" b="0" i="0" u="none" strike="noStrike">
                    <a:solidFill>
                      <a:srgbClr val="000000"/>
                    </a:solidFill>
                    <a:latin typeface="Calibri"/>
                  </a:defRPr>
                </a:pPr>
                <a:r>
                  <a:rPr sz="1300" b="0" i="0" u="none" strike="noStrike">
                    <a:solidFill>
                      <a:srgbClr val="000000"/>
                    </a:solidFill>
                    <a:latin typeface="Calibri"/>
                  </a:rPr>
                  <a:t>Acetaminophen (μg/mL), log scale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AST and ALT (U/L)</a:t>
            </a:r>
          </a:p>
        </c:rich>
      </c:tx>
      <c:layout/>
      <c:overlay val="0"/>
    </c:title>
    <c:autoTitleDeleted val="0"/>
    <c:plotArea>
      <c:layout/>
      <c:lineChart>
        <c:varyColors val="0"/>
        <c:ser>
          <c:idx val="0"/>
          <c:order val="0"/>
          <c:tx>
            <c:strRef>
              <c:f>Sheet1!$B$1</c:f>
              <c:strCache>
                <c:ptCount val="1"/>
                <c:pt idx="0">
                  <c:v>AST</c:v>
                </c:pt>
              </c:strCache>
            </c:strRef>
          </c:tx>
          <c:spPr>
            <a:solidFill>
              <a:srgbClr val="000000"/>
            </a:solidFill>
            <a:ln w="31750" cap="flat">
              <a:solidFill>
                <a:srgbClr val="000000"/>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000000"/>
              </a:solidFill>
              <a:ln w="9525" cap="flat">
                <a:solidFill>
                  <a:srgbClr val="0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6820</c:v>
                </c:pt>
                <c:pt idx="1">
                  <c:v>4310</c:v>
                </c:pt>
                <c:pt idx="2">
                  <c:v>2140</c:v>
                </c:pt>
                <c:pt idx="3">
                  <c:v>1190</c:v>
                </c:pt>
              </c:numCache>
            </c:numRef>
          </c:val>
          <c:smooth val="0"/>
        </c:ser>
        <c:ser>
          <c:idx val="1"/>
          <c:order val="1"/>
          <c:tx>
            <c:strRef>
              <c:f>Sheet1!$C$1</c:f>
              <c:strCache>
                <c:ptCount val="1"/>
                <c:pt idx="0">
                  <c:v>ALT</c:v>
                </c:pt>
              </c:strCache>
            </c:strRef>
          </c:tx>
          <c:spPr>
            <a:solidFill>
              <a:srgbClr val="7F7F7F"/>
            </a:solidFill>
            <a:ln w="31750" cap="flat">
              <a:solidFill>
                <a:srgbClr val="7F7F7F"/>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5940</c:v>
                </c:pt>
                <c:pt idx="1">
                  <c:v>5020</c:v>
                </c:pt>
                <c:pt idx="2">
                  <c:v>3260</c:v>
                </c:pt>
                <c:pt idx="3">
                  <c:v>2210</c:v>
                </c:pt>
              </c:numCache>
            </c:numRef>
          </c:val>
          <c:smooth val="0"/>
        </c:ser>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AST and ALT (U/L)</a:t>
            </a:r>
          </a:p>
        </c:rich>
      </c:tx>
      <c:layout/>
      <c:overlay val="0"/>
    </c:title>
    <c:autoTitleDeleted val="0"/>
    <c:plotArea>
      <c:layout/>
      <c:lineChart>
        <c:varyColors val="0"/>
        <c:ser>
          <c:idx val="0"/>
          <c:order val="0"/>
          <c:tx>
            <c:strRef>
              <c:f>Sheet1!$B$1</c:f>
              <c:strCache>
                <c:ptCount val="1"/>
                <c:pt idx="0">
                  <c:v>AST</c:v>
                </c:pt>
              </c:strCache>
            </c:strRef>
          </c:tx>
          <c:spPr>
            <a:solidFill>
              <a:srgbClr val="000000"/>
            </a:solidFill>
            <a:ln w="31750" cap="flat">
              <a:solidFill>
                <a:srgbClr val="000000"/>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000000"/>
              </a:solidFill>
              <a:ln w="9525" cap="flat">
                <a:solidFill>
                  <a:srgbClr val="0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6820</c:v>
                </c:pt>
                <c:pt idx="1">
                  <c:v>4310</c:v>
                </c:pt>
                <c:pt idx="2">
                  <c:v>2140</c:v>
                </c:pt>
                <c:pt idx="3">
                  <c:v>1190</c:v>
                </c:pt>
              </c:numCache>
            </c:numRef>
          </c:val>
          <c:smooth val="0"/>
        </c:ser>
        <c:ser>
          <c:idx val="1"/>
          <c:order val="1"/>
          <c:tx>
            <c:strRef>
              <c:f>Sheet1!$C$1</c:f>
              <c:strCache>
                <c:ptCount val="1"/>
                <c:pt idx="0">
                  <c:v>ALT</c:v>
                </c:pt>
              </c:strCache>
            </c:strRef>
          </c:tx>
          <c:spPr>
            <a:solidFill>
              <a:srgbClr val="7F7F7F"/>
            </a:solidFill>
            <a:ln w="31750" cap="flat">
              <a:solidFill>
                <a:srgbClr val="7F7F7F"/>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5940</c:v>
                </c:pt>
                <c:pt idx="1">
                  <c:v>5020</c:v>
                </c:pt>
                <c:pt idx="2">
                  <c:v>3260</c:v>
                </c:pt>
                <c:pt idx="3">
                  <c:v>2210</c:v>
                </c:pt>
              </c:numCache>
            </c:numRef>
          </c:val>
          <c:smooth val="0"/>
        </c:ser>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INR and lactate</a:t>
            </a:r>
          </a:p>
        </c:rich>
      </c:tx>
      <c:layout/>
      <c:overlay val="0"/>
    </c:title>
    <c:autoTitleDeleted val="0"/>
    <c:plotArea>
      <c:layout/>
      <c:lineChart>
        <c:varyColors val="0"/>
        <c:ser>
          <c:idx val="0"/>
          <c:order val="0"/>
          <c:tx>
            <c:strRef>
              <c:f>Sheet1!$B$1</c:f>
              <c:strCache>
                <c:ptCount val="1"/>
                <c:pt idx="0">
                  <c:v>INR</c:v>
                </c:pt>
              </c:strCache>
            </c:strRef>
          </c:tx>
          <c:spPr>
            <a:solidFill>
              <a:srgbClr val="C00000"/>
            </a:solidFill>
            <a:ln w="31750" cap="flat">
              <a:solidFill>
                <a:srgbClr val="C00000"/>
              </a:solidFill>
              <a:prstDash val="solid"/>
              <a:round/>
            </a:ln>
            <a:effectLst/>
          </c:spPr>
          <c:invertIfNegative val="0"/>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c:symbol val="circle"/>
            <c:size val="8"/>
            <c:spPr>
              <a:solidFill>
                <a:srgbClr val="C00000"/>
              </a:solidFill>
              <a:ln w="9525" cap="flat">
                <a:solidFill>
                  <a:srgbClr val="C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3.2</c:v>
                </c:pt>
                <c:pt idx="1">
                  <c:v>4.1</c:v>
                </c:pt>
                <c:pt idx="2">
                  <c:v>4.9</c:v>
                </c:pt>
                <c:pt idx="3">
                  <c:v>5.6</c:v>
                </c:pt>
              </c:numCache>
            </c:numRef>
          </c:val>
          <c:smooth val="0"/>
        </c:ser>
        <c:ser>
          <c:idx val="1"/>
          <c:order val="1"/>
          <c:tx>
            <c:strRef>
              <c:f>Sheet1!$C$1</c:f>
              <c:strCache>
                <c:ptCount val="1"/>
                <c:pt idx="0">
                  <c:v>Lactate (mmol/L)</c:v>
                </c:pt>
              </c:strCache>
            </c:strRef>
          </c:tx>
          <c:spPr>
            <a:solidFill>
              <a:srgbClr val="7F7F7F"/>
            </a:solidFill>
            <a:ln w="31750" cap="flat">
              <a:solidFill>
                <a:srgbClr val="7F7F7F"/>
              </a:solidFill>
              <a:prstDash val="solid"/>
              <a:round/>
            </a:ln>
            <a:effectLst/>
          </c:spPr>
          <c:invertIfNegative val="0"/>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2.1</c:v>
                </c:pt>
                <c:pt idx="1">
                  <c:v>4.6</c:v>
                </c:pt>
                <c:pt idx="2">
                  <c:v>5.2</c:v>
                </c:pt>
                <c:pt idx="3">
                  <c:v>5.8</c:v>
                </c:pt>
              </c:numCache>
            </c:numRef>
          </c:val>
          <c:smooth val="0"/>
        </c:ser>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Pulmonary and critical care fellows. About 60 minutes with questions as we go. Two patients, one night. Everything in the cases is made up for teaching; none of it is a real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the talk as the questions they actually get paged about. We'll answer them through two patients who are in the unit on the same night.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both up front so the contrast is there from the start. We'll start with bed 4 and come back to bed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commit. Most people will say yes because the numbers are huge. The aminotransferases tell you hepatocytes are dying. They don't tell you whether the liver is failing.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same distinction as in the acute liver injury lecture: the size of the enzyme rise is not the severity of the illness.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Liver failure is a clinical diagnosis: coagulopathy plus encephalopathy in someone without cirrhosis. Ask for the INR and examine the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Coagulopathy, encephalopathy, short course, no cirrhosis. Note the glucose: hypoglycemia is part of the picture, and it is also a reason the mental status can look worse than it is. Fix the glucose and re-examine.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time course is not trivia. The faster it comes on, the more you worry about the brain, and paradoxically the better the chance of spontaneous recovery. The slow ones have less cerebral edema but do worse without a transplant. Patient A is hyperacute.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errors in opposite directions. Calling everything with a high INR liver failure, and blaming every change in mental status on the liver.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Wait for answers. Usually people list tests in order. That's the trap.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classic mistake is a serial workup: wait for the hepatitis panel, then the autoimmune markers, then call hepatology. By then she is intubated and the evaluation has lost a day. Here the transplant evaluation runs in parallel from the first night, and the psychosocial part is much easier while she can still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the workup in the ICU is the column on the right. Some of these you start empirically before the test comes back: NAC, acyclovir. Negative autoimmune serologies do not exclude acute AIH. Wilson disease presenting as ALF basically means transplant.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Combination products are where the hidden acetaminophen is. Ask about every over-the-counter product by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them what it is first: a semi-log plot, the line halves every 4 hours (a half-life of about 4 hours), and the US treatment line sits 25% below the original 200 line for a safety margin. Then try to put her on it. Her 12 crosses the treatment line at roughly 18 to 19 hours. Before that she looks fine, after that she needs NAC. With repeated supratherapeutic dosing over 3 days there is no single ingestion time, so the nomogram can't answer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undetectable or low level late in the course does not exclude acetaminophen toxicity [PMID: 36001996]. NAC is safe enough that the threshold to start it is low. Dosing per your pharmacy protocol.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Transplant-free survival is a softer endpoint than overall survival, and part of the effect is that fewer patients needed transplant. Still, it is cheap and safe, so most centers give it in early non-acetaminophen 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Hour 10. Hepatology has seen her and the transplant evaluation is under way. Let them pick. Kidney? Lactate? The answer for a hyperacute patient with this ammonia is the brain.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decisions we own as intensivists. Before answering, why is the brain the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ammonia is actionable in ALF. The brain has no time to adapt, unlike in cirrhosis where astrocytes compensate over months. Every element of the bundle that follows maps to a box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used arterial ammonia, measured in micromoles per liter. The pattern is consistent: higher and more persistent ammonia, more cerebral edema and death. But no single cutoff works on its own. In Bernal's King's cohort, more than 200 meant intracranial hypertension in 55%, yet most patients who developed ICH were below 200. So use it as a risk marker together with the grade of encephalopathy, the time course and the trend. Patient A went 182 then 214. That's the trajectory you act on with CRRT. Practical point: whatever you send, arterial or venous, put it on ice and get it run quickly. A delayed sample reads falsely high. In cirrhosis, by contrast,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 intubate her now. Most fellows want to wait. In ALF the progression from grade II to grade IV can be fast, and an emergency intubation in a coagulopathic, hypotensive patient with a swollen brain is the worst version of this procedure.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goals are airway protection, controlled ventilation, and no swings in blood pressure or CO2. Peri-intubation hypotension drops cerebral perfusion pressure; coughing raises ICP. Plan it like a neuro intubation.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PCCM-specific tradeoff. ARDS teaching says accept hypercapnia. Neuro teaching says don't.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 tidal volume still applies. What changes is the CO2 target. Prophylactic hyperventilation is out; brief hyperventilation as a bridge in impending herniation is a different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Sodium targets differ between sources: the 2022 update uses 145 to 155 for prevention, the 2024 practical review a lower range. Agree on one with transplant hepatology and write it in the orders. Hypertonic saline is a conditional SCCM recommendation for patients at risk of intracranial hypertension.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them. Nephrology will often say the creatinine doesn't meet criteria. That's the wrong frame for 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Ammonia around 150 to 200 is a high-risk context in the literature, not a universal threshold. Look at the trajectory and the neuro exam. Coordinate the CRRT fluid with the sodium plan or the dialysis will pull her sodium back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2026 trial is interesting but don't oversell it. The early mortality signal is real in the abstract; 28-day survival by intention to treat was comparable, and the per-protocol analysis is biased by crossovers. Read the full methods before quoting more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only the enzymes. Most of the room will say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Falling AST and ALT with a rising INR, rising lactate and worsening encephalopathy means there are fewer hepatocytes left to release enzymes. Read the whole trajectory, not one line [PMID: 36001996]. Arterial pH on day 2 after fluids: 7.26. Keep that number; it comes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Very common request from the procedure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INR is a great marker of liver function and a poor marker of bleeding risk in ALF. Spontaneous bleeding is uncommon. Ask transplant hepatology before giving plasma: they need the native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King's College criteria are specific but not very sensitive. If you wait for them, the evaluation starts too late. Patient A now meets acetaminophen criteria by pH, but the call happened on admission. Transplant referral, listing and allocation are separate decisions; the transplant team handles the last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High-volume plasma exchange removes cytokines and DAMPs and replaces coagulation factors. Note the INR after plasma exchange is no longer the patient's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not going to tell you what happened to her. The point is what you reassess, and how often. Now, bed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Made-up patient. Same night, bed 7. After 2 L of fluid he is on norepinephrine 0.15 mcg/kg/min.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Acute decompensation alone is not ACLF. ACLF means organ failure, and the definition you use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A is in the first column, patient B in the last. The words sound alike; the ICU problems are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the room count with you. Liver failure here means a bilirubin of 12, which surprises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Kidney and circulation. Respiratory is borderline: 92% on 4 L is roughly an SpO2/FiO2 of 255 if you estimate FiO2 at about 0.36. Watch that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Grade 1 is the confusing one: kidney failure alone counts, but a single non-kidney organ failure counts only with some kidney dysfunction or mild encephalopathy. Use the CLIF-C calculator rather than memorizing it. The grade at days 3 to 7 says more than the grade at admission.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worth memorizing all three. Worth knowing that a paper's 'ACLF' may not be your patient's ACLF. We use EASL-CLIF for the rest of this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tipped him over before showing the answer. Then the procedural question: people hesitate to tap a coagulopathic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Diagnostic paracentesis is low risk and should not wait for correction of the INR or platelets. Infection is the most common precipitant of ACLF in Western cohorts.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Albumin is a reasonable resuscitation fluid in cirrhosis, but every bag goes somewhere. Keep that in mind for the next few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reflex in many units: oliguric cirrhotic, give albumin for 48 hours, then terlipressin.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mandatory 48-hour albumin challenge is gone. Assessment is faster and individualized. But that cuts both ways: you also need to look for the other causes, and right now sepsis is the obvious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coexist and change over the admission. A diagnosis of HRS made on day 1 should be re-examined on day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hinge of the second case. The kidney is worse, and the reflex is to treat the kidney.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Kidney, circulation and now lungs: ACLF grade 3. Respiratory failure here partly came from what we gave him.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any terlipressin dose: baseline SpO2, lung exam, volume status, and whether he is ACLF grade 3. Norepinephrine is an ICU alternative for HRS when terlipressin is contraindicated or unavailable. RRT in ACLF should follow usual indications plus trajectory and transplant potential; avoid the rule 'dialysis only if listed'. A time-limited trial is reasonable.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respiratory harm clustered in patients with volume overload and ACLF grade 3, which is how the label language came about. The label's own reanalysis gives slightly different reversal numbers (29% vs 16%); either way the direction is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ATTIRE doesn't invalidate albumin for its accepted uses. It does tell you that giving albumin to fix a number causes harm without benefit. Patient B got the right albumin for SBP and still got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don't tell you how he does after day 5. The reassessment is the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Grading is a snapshot; the trend is what you act on. Kidney failure on RRT still counts as an organ failure. Bring palliative care in alongside, not instead of, full support. Document what the time-limited trial is and when you'll reassess.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Referral, candidacy, listing and allocation are four different decisions. The ICU team owns the referral and the information. Status 1A and other allocation rules: check current OPTN policy before quoting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good call makes the transplant team's decision faster. Trends, not single values.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Probably the most useful slide to photograph. The sodium row is where people get hurt: an induced-hypernatremia target transferred into a chronically hyponatremic cirrhotic causes osmotic demyelination.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Don't put the answers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ALF, grade III-IV is the intubation and ICP-risk threshold.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lstStyle>
            <a:lvl1pPr algn="ctr" indent="0" marL="0">
              <a:buNone/>
              <a:defRPr lang="en-US" sz="30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3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377440"/>
            <a:ext cx="10728655" cy="1280160"/>
          </a:xfrm>
          <a:prstGeom prst="rect">
            <a:avLst/>
          </a:prstGeom>
          <a:noFill/>
          <a:ln/>
        </p:spPr>
        <p:txBody>
          <a:bodyPr wrap="square" rtlCol="0"/>
          <a:lstStyle>
            <a:lvl1pPr algn="ctr" indent="0" marL="0">
              <a:buNone/>
              <a:defRPr lang="en-US" sz="44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4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4.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2.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Liver illustration">    </p:cNvPr>
          <p:cNvPicPr>
            <a:picLocks noChangeAspect="1"/>
          </p:cNvPicPr>
          <p:nvPr/>
        </p:nvPicPr>
        <p:blipFill>
          <a:blip r:embed="rId1">
            <a:alphaModFix amt="65000"/>
          </a:blip>
          <a:stretch>
            <a:fillRect/>
          </a:stretch>
        </p:blipFill>
        <p:spPr>
          <a:xfrm>
            <a:off x="1243584" y="36576"/>
            <a:ext cx="9692640" cy="6702552"/>
          </a:xfrm>
          <a:prstGeom prst="rect">
            <a:avLst/>
          </a:prstGeom>
        </p:spPr>
      </p:pic>
      <p:sp>
        <p:nvSpPr>
          <p:cNvPr id="3" name="Text 0"/>
          <p:cNvSpPr txBox="1"/>
          <p:nvPr/>
        </p:nvSpPr>
        <p:spPr>
          <a:xfrm>
            <a:off x="731520" y="1828800"/>
            <a:ext cx="10728655" cy="914400"/>
          </a:xfrm>
          <a:prstGeom prst="rect">
            <a:avLst/>
          </a:prstGeom>
          <a:noFill/>
          <a:ln/>
        </p:spPr>
        <p:txBody>
          <a:bodyPr wrap="square" lIns="0" tIns="0" rIns="0" bIns="0" rtlCol="0" anchor="ctr"/>
          <a:lstStyle/>
          <a:p>
            <a:pPr algn="ctr" indent="0" marL="0">
              <a:buNone/>
            </a:pPr>
            <a:r>
              <a:rPr lang="en-US" sz="5000" b="1" dirty="0">
                <a:solidFill>
                  <a:srgbClr val="000000"/>
                </a:solidFill>
                <a:latin typeface="Georgia" pitchFamily="34" charset="0"/>
                <a:ea typeface="Georgia" pitchFamily="34" charset="-122"/>
                <a:cs typeface="Georgia" pitchFamily="34" charset="-120"/>
              </a:rPr>
              <a:t>Acute Liver Failure and ACLF</a:t>
            </a:r>
            <a:endParaRPr lang="en-US" sz="5000" dirty="0"/>
          </a:p>
        </p:txBody>
      </p:sp>
      <p:sp>
        <p:nvSpPr>
          <p:cNvPr id="4" name="Text 1"/>
          <p:cNvSpPr txBox="1"/>
          <p:nvPr/>
        </p:nvSpPr>
        <p:spPr>
          <a:xfrm>
            <a:off x="731520" y="2697480"/>
            <a:ext cx="10728655" cy="640080"/>
          </a:xfrm>
          <a:prstGeom prst="rect">
            <a:avLst/>
          </a:prstGeom>
          <a:noFill/>
          <a:ln/>
        </p:spPr>
        <p:txBody>
          <a:bodyPr wrap="square" lIns="0" tIns="0" rIns="0" bIns="0" rtlCol="0" anchor="ctr"/>
          <a:lstStyle/>
          <a:p>
            <a:pPr algn="ctr" indent="0" marL="0">
              <a:buNone/>
            </a:pPr>
            <a:r>
              <a:rPr lang="en-US" sz="3600" b="1" dirty="0">
                <a:solidFill>
                  <a:srgbClr val="000000"/>
                </a:solidFill>
                <a:latin typeface="Georgia" pitchFamily="34" charset="0"/>
                <a:ea typeface="Georgia" pitchFamily="34" charset="-122"/>
                <a:cs typeface="Georgia" pitchFamily="34" charset="-120"/>
              </a:rPr>
              <a:t>in the ICU</a:t>
            </a:r>
            <a:endParaRPr lang="en-US" sz="3600" dirty="0"/>
          </a:p>
        </p:txBody>
      </p:sp>
      <p:sp>
        <p:nvSpPr>
          <p:cNvPr id="5" name="Text 2"/>
          <p:cNvSpPr txBox="1"/>
          <p:nvPr/>
        </p:nvSpPr>
        <p:spPr>
          <a:xfrm>
            <a:off x="731520" y="3337560"/>
            <a:ext cx="10728655" cy="457200"/>
          </a:xfrm>
          <a:prstGeom prst="rect">
            <a:avLst/>
          </a:prstGeom>
          <a:noFill/>
          <a:ln/>
        </p:spPr>
        <p:txBody>
          <a:bodyPr wrap="square" lIns="0" tIns="0" rIns="0" bIns="0" rtlCol="0" anchor="ctr"/>
          <a:lstStyle/>
          <a:p>
            <a:pPr algn="ctr" indent="0" marL="0">
              <a:buNone/>
            </a:pPr>
            <a:r>
              <a:rPr lang="en-US" sz="2000" i="1" dirty="0">
                <a:solidFill>
                  <a:srgbClr val="000000"/>
                </a:solidFill>
                <a:latin typeface="Georgia" pitchFamily="34" charset="0"/>
                <a:ea typeface="Georgia" pitchFamily="34" charset="-122"/>
                <a:cs typeface="Georgia" pitchFamily="34" charset="-120"/>
              </a:rPr>
              <a:t>A guide for the night shift</a:t>
            </a:r>
            <a:endParaRPr lang="en-US" sz="2000" dirty="0"/>
          </a:p>
        </p:txBody>
      </p:sp>
      <p:sp>
        <p:nvSpPr>
          <p:cNvPr id="6" name="Text 3"/>
          <p:cNvSpPr txBox="1"/>
          <p:nvPr/>
        </p:nvSpPr>
        <p:spPr>
          <a:xfrm>
            <a:off x="2286000" y="4160520"/>
            <a:ext cx="7619695" cy="1005840"/>
          </a:xfrm>
          <a:prstGeom prst="rect">
            <a:avLst/>
          </a:prstGeom>
          <a:noFill/>
          <a:ln/>
        </p:spPr>
        <p:txBody>
          <a:bodyPr wrap="square" lIns="0" tIns="0" rIns="0" bIns="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Mohammad Almeqdadi, MD</a:t>
            </a:r>
            <a:endParaRPr lang="en-US" sz="1800" dirty="0"/>
          </a:p>
          <a:p>
            <a:pPr algn="ctr" indent="0" marL="0">
              <a:buNone/>
            </a:pPr>
            <a:r>
              <a:rPr lang="en-US" sz="1500" i="1" dirty="0">
                <a:solidFill>
                  <a:srgbClr val="000000"/>
                </a:solidFill>
                <a:latin typeface="Georgia" pitchFamily="34" charset="0"/>
                <a:ea typeface="Georgia" pitchFamily="34" charset="-122"/>
                <a:cs typeface="Georgia" pitchFamily="34" charset="-120"/>
              </a:rPr>
              <a:t>Transplant Hepatologist and Gastroenterologist</a:t>
            </a:r>
            <a:endParaRPr lang="en-US" sz="1800" dirty="0"/>
          </a:p>
          <a:p>
            <a:pPr algn="ctr" indent="0" marL="0">
              <a:buNone/>
            </a:pPr>
            <a:r>
              <a:rPr lang="en-US" sz="1500" i="1" dirty="0">
                <a:solidFill>
                  <a:srgbClr val="000000"/>
                </a:solidFill>
                <a:latin typeface="Georgia" pitchFamily="34" charset="0"/>
                <a:ea typeface="Georgia" pitchFamily="34" charset="-122"/>
                <a:cs typeface="Georgia" pitchFamily="34" charset="-120"/>
              </a:rPr>
              <a:t>Assistant Professor of Medicine and Surgery</a:t>
            </a:r>
            <a:endParaRPr lang="en-US" sz="1800" dirty="0"/>
          </a:p>
        </p:txBody>
      </p:sp>
      <p:pic>
        <p:nvPicPr>
          <p:cNvPr id="7" name="Image 1" descr="Tufts University School of Medicine">    </p:cNvPr>
          <p:cNvPicPr>
            <a:picLocks noChangeAspect="1"/>
          </p:cNvPicPr>
          <p:nvPr/>
        </p:nvPicPr>
        <p:blipFill>
          <a:blip r:embed="rId2"/>
          <a:stretch>
            <a:fillRect/>
          </a:stretch>
        </p:blipFill>
        <p:spPr>
          <a:xfrm>
            <a:off x="4361688" y="5669280"/>
            <a:ext cx="3465576" cy="70408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Tonight's questions</a:t>
            </a:r>
            <a:endParaRPr lang="en-US" sz="3000" dirty="0"/>
          </a:p>
        </p:txBody>
      </p:sp>
      <p:sp>
        <p:nvSpPr>
          <p:cNvPr id="3" name="Body"/>
          <p:cNvSpPr txBox="1"/>
          <p:nvPr/>
        </p:nvSpPr>
        <p:spPr>
          <a:xfrm>
            <a:off x="1463040" y="1325880"/>
            <a:ext cx="9265615"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Is this liver failure?</a:t>
            </a:r>
            <a:endParaRPr lang="en-US" sz="2400" dirty="0"/>
          </a:p>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What do I do in the first hour?</a:t>
            </a:r>
            <a:endParaRPr lang="en-US" sz="2400" dirty="0"/>
          </a:p>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When do I intubate, and how do I protect the brain?</a:t>
            </a:r>
            <a:endParaRPr lang="en-US" sz="2400" dirty="0"/>
          </a:p>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Do I wait for the creatinine before dialysis?</a:t>
            </a:r>
            <a:endParaRPr lang="en-US" sz="2400" dirty="0"/>
          </a:p>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Is this ACLF, and does the label change anything?</a:t>
            </a:r>
            <a:endParaRPr lang="en-US" sz="2400" dirty="0"/>
          </a:p>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Does he have HRS? Will fixing the kidney hurt the lungs?</a:t>
            </a:r>
            <a:endParaRPr lang="en-US" sz="2400" dirty="0"/>
          </a:p>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When do I call transplant hepatology?</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Two patients, same night</a:t>
            </a:r>
            <a:endParaRPr lang="en-US" sz="3000" dirty="0"/>
          </a:p>
        </p:txBody>
      </p:sp>
      <p:graphicFrame>
        <p:nvGraphicFramePr>
          <p:cNvPr id="4" name="Table"/>
          <p:cNvGraphicFramePr>
            <a:graphicFrameLocks noGrp="1"/>
          </p:cNvGraphicFramePr>
          <p:nvPr>
            <p:extLst>
              <p:ext uri="{D42A27DB-BD31-4B8C-83A1-F6EECF244321}">
                <p14:modId xmlns:p14="http://schemas.microsoft.com/office/powerpoint/2010/main" val="1579011935"/>
              </p:ext>
            </p:extLst>
          </p:nvPr>
        </p:nvGraphicFramePr>
        <p:xfrm>
          <a:off x="2011680" y="1828800"/>
          <a:ext cx="8138160" cy="914400"/>
        </p:xfrm>
        <a:graphic>
          <a:graphicData uri="http://schemas.openxmlformats.org/drawingml/2006/table">
            <a:tbl>
              <a:tblPr/>
              <a:tblGrid>
                <a:gridCol w="4069080"/>
                <a:gridCol w="4069080"/>
              </a:tblGrid>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Bed 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Bed 7</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28-year-old woman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56-year-old 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No known liver disease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Alcohol-related cirrhosis with ascites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Nausea and vomiting for 4 days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Fever, confusion, low blood pressure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663440"/>
            <a:ext cx="10545775" cy="731520"/>
          </a:xfrm>
          <a:prstGeom prst="rect">
            <a:avLst/>
          </a:prstGeom>
          <a:noFill/>
          <a:ln/>
        </p:spPr>
        <p:txBody>
          <a:bodyPr wrap="square" lIns="50800" tIns="50800" rIns="50800" bIns="50800" rtlCol="0" anchor="t"/>
          <a:lstStyle/>
          <a:p>
            <a:pPr algn="ctr" indent="0" marL="0">
              <a:spcBef>
                <a:spcPts val="800"/>
              </a:spcBef>
              <a:buNone/>
            </a:pPr>
            <a:r>
              <a:rPr lang="en-US" sz="2200" i="1" dirty="0">
                <a:solidFill>
                  <a:srgbClr val="000000"/>
                </a:solidFill>
                <a:latin typeface="Georgia" pitchFamily="34" charset="0"/>
                <a:ea typeface="Georgia" pitchFamily="34" charset="-122"/>
                <a:cs typeface="Georgia" pitchFamily="34" charset="-120"/>
              </a:rPr>
              <a:t>Both have a sick liver. Do they have the same disease?</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28-year-old woman with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5"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Alkaline phosphatase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2062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acute liver failure?</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28-year-old woman with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6"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Alkaline phosphatase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39319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acute liver failure?</a:t>
            </a:r>
            <a:endParaRPr lang="en-US" sz="2400" dirty="0"/>
          </a:p>
        </p:txBody>
      </p:sp>
      <p:sp>
        <p:nvSpPr>
          <p:cNvPr id="6" name="Question"/>
          <p:cNvSpPr txBox="1"/>
          <p:nvPr/>
        </p:nvSpPr>
        <p:spPr>
          <a:xfrm>
            <a:off x="822960" y="45720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We don't know yet. What's missing?</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28-year-old woman with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7"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Alkaline phosphatase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37490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What's missing?</a:t>
            </a:r>
            <a:endParaRPr lang="en-US" sz="2200" dirty="0"/>
          </a:p>
        </p:txBody>
      </p:sp>
      <p:sp>
        <p:nvSpPr>
          <p:cNvPr id="6" name="Body"/>
          <p:cNvSpPr txBox="1"/>
          <p:nvPr/>
        </p:nvSpPr>
        <p:spPr>
          <a:xfrm>
            <a:off x="2194560" y="4297680"/>
            <a:ext cx="7863840" cy="1920240"/>
          </a:xfrm>
          <a:prstGeom prst="rect">
            <a:avLst/>
          </a:prstGeom>
          <a:noFill/>
          <a:ln/>
        </p:spPr>
        <p:txBody>
          <a:bodyPr wrap="square" lIns="50800" tIns="50800" rIns="50800" bIns="50800" rtlCol="0" anchor="t"/>
          <a:lstStyle/>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INR</a:t>
            </a:r>
            <a:r>
              <a:rPr lang="en-US" sz="1900" dirty="0">
                <a:solidFill>
                  <a:srgbClr val="000000"/>
                </a:solidFill>
                <a:latin typeface="Georgia" pitchFamily="34" charset="0"/>
                <a:ea typeface="Georgia" pitchFamily="34" charset="-122"/>
                <a:cs typeface="Georgia" pitchFamily="34" charset="-120"/>
              </a:rPr>
              <a:t> (synthetic function, not enzymes)</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Mental status</a:t>
            </a:r>
            <a:r>
              <a:rPr lang="en-US" sz="1900" dirty="0">
                <a:solidFill>
                  <a:srgbClr val="000000"/>
                </a:solidFill>
                <a:latin typeface="Georgia" pitchFamily="34" charset="0"/>
                <a:ea typeface="Georgia" pitchFamily="34" charset="-122"/>
                <a:cs typeface="Georgia" pitchFamily="34" charset="-120"/>
              </a:rPr>
              <a:t> (any encephalopathy?)</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Time course</a:t>
            </a:r>
            <a:r>
              <a:rPr lang="en-US" sz="1900" dirty="0">
                <a:solidFill>
                  <a:srgbClr val="000000"/>
                </a:solidFill>
                <a:latin typeface="Georgia" pitchFamily="34" charset="0"/>
                <a:ea typeface="Georgia" pitchFamily="34" charset="-122"/>
                <a:cs typeface="Georgia" pitchFamily="34" charset="-120"/>
              </a:rPr>
              <a:t> (how long since the first symptom?)</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Is there chronic liver disease underneath?</a:t>
            </a:r>
            <a:endParaRPr lang="en-US" sz="19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28-year-old woman with 4 days of nausea</a:t>
            </a:r>
            <a:endParaRPr lang="en-US" sz="30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C00000"/>
                          </a:solidFill>
                          <a:latin typeface="Calibri" pitchFamily="34" charset="0"/>
                          <a:ea typeface="Calibri" pitchFamily="34" charset="-122"/>
                          <a:cs typeface="Calibri" pitchFamily="34" charset="-120"/>
                        </a:rPr>
                        <a:t>3.2</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Glucose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C00000"/>
                          </a:solidFill>
                          <a:latin typeface="Calibri" pitchFamily="34" charset="0"/>
                          <a:ea typeface="Calibri" pitchFamily="34" charset="-122"/>
                          <a:cs typeface="Calibri" pitchFamily="34" charset="-120"/>
                        </a:rPr>
                        <a:t>54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731520" y="1371600"/>
            <a:ext cx="6217920" cy="27432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Disoriented to time, asterixis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Symptoms started 4 days ago</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Ultrasound: smooth liver, no ascites, patent vessels, normal spleen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history or imaging suggesting cirrhosis</a:t>
            </a:r>
            <a:endParaRPr lang="en-US" sz="2000" dirty="0"/>
          </a:p>
        </p:txBody>
      </p:sp>
      <p:sp>
        <p:nvSpPr>
          <p:cNvPr id="5" name="Question"/>
          <p:cNvSpPr txBox="1"/>
          <p:nvPr/>
        </p:nvSpPr>
        <p:spPr>
          <a:xfrm>
            <a:off x="822960" y="448056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highlight>
                  <a:srgbClr val="FFFF00"/>
                </a:highlight>
                <a:latin typeface="Georgia" pitchFamily="34" charset="0"/>
                <a:ea typeface="Georgia" pitchFamily="34" charset="-122"/>
                <a:cs typeface="Georgia" pitchFamily="34" charset="-120"/>
              </a:rPr>
              <a:t>This is acute liver failure</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Acute liver failure</a:t>
            </a:r>
            <a:endParaRPr lang="en-US" sz="3000" dirty="0"/>
          </a:p>
        </p:txBody>
      </p:sp>
      <p:sp>
        <p:nvSpPr>
          <p:cNvPr id="3" name="Body"/>
          <p:cNvSpPr txBox="1"/>
          <p:nvPr/>
        </p:nvSpPr>
        <p:spPr>
          <a:xfrm>
            <a:off x="731520" y="1280160"/>
            <a:ext cx="10728655" cy="2103120"/>
          </a:xfrm>
          <a:prstGeom prst="rect">
            <a:avLst/>
          </a:prstGeom>
          <a:noFill/>
          <a:ln/>
        </p:spPr>
        <p:txBody>
          <a:bodyPr wrap="square" lIns="50800" tIns="50800" rIns="50800" bIns="50800" rtlCol="0" anchor="t"/>
          <a:lstStyle/>
          <a:p>
            <a:pPr marL="228600" indent="-228600">
              <a:spcBef>
                <a:spcPts val="800"/>
              </a:spcBef>
              <a:buSzPct val="100000"/>
              <a:buChar char="–"/>
            </a:pPr>
            <a:r>
              <a:rPr lang="en-US" sz="2100" b="1" dirty="0">
                <a:solidFill>
                  <a:srgbClr val="000000"/>
                </a:solidFill>
                <a:latin typeface="Georgia" pitchFamily="34" charset="0"/>
                <a:ea typeface="Georgia" pitchFamily="34" charset="-122"/>
                <a:cs typeface="Georgia" pitchFamily="34" charset="-120"/>
              </a:rPr>
              <a:t>INR ≥ 1.5</a:t>
            </a:r>
            <a:r>
              <a:rPr lang="en-US" sz="2100" dirty="0">
                <a:solidFill>
                  <a:srgbClr val="000000"/>
                </a:solidFill>
                <a:latin typeface="Georgia" pitchFamily="34" charset="0"/>
                <a:ea typeface="Georgia" pitchFamily="34" charset="-122"/>
                <a:cs typeface="Georgia" pitchFamily="34" charset="-120"/>
              </a:rPr>
              <a:t> and </a:t>
            </a:r>
            <a:r>
              <a:rPr lang="en-US" sz="2100" b="1" dirty="0">
                <a:solidFill>
                  <a:srgbClr val="000000"/>
                </a:solidFill>
                <a:latin typeface="Georgia" pitchFamily="34" charset="0"/>
                <a:ea typeface="Georgia" pitchFamily="34" charset="-122"/>
                <a:cs typeface="Georgia" pitchFamily="34" charset="-120"/>
              </a:rPr>
              <a:t>any degree of encephalopathy</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Illness of less than 26 weeks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No pre-existing cirrhosis</a:t>
            </a:r>
            <a:endParaRPr lang="en-US" sz="2100" dirty="0"/>
          </a:p>
          <a:p>
            <a:pPr lvl="1" marL="457200" indent="-228600">
              <a:spcBef>
                <a:spcPts val="200"/>
              </a:spcBef>
              <a:buSzPct val="100000"/>
              <a:buChar char="–"/>
            </a:pPr>
            <a:r>
              <a:rPr lang="en-US" sz="1900" dirty="0">
                <a:solidFill>
                  <a:srgbClr val="000000"/>
                </a:solidFill>
                <a:latin typeface="Georgia" pitchFamily="34" charset="0"/>
                <a:ea typeface="Georgia" pitchFamily="34" charset="-122"/>
                <a:cs typeface="Georgia" pitchFamily="34" charset="-120"/>
              </a:rPr>
              <a:t>Wilson disease, autoimmune hepatitis and vertically acquired HBV can still count if recognized within 26 weeks</a:t>
            </a:r>
            <a:endParaRPr lang="en-US" sz="2100" dirty="0"/>
          </a:p>
        </p:txBody>
      </p:sp>
      <p:graphicFrame>
        <p:nvGraphicFramePr>
          <p:cNvPr id="9" name="Table"/>
          <p:cNvGraphicFramePr>
            <a:graphicFrameLocks noGrp="1"/>
          </p:cNvGraphicFramePr>
          <p:nvPr>
            <p:extLst>
              <p:ext uri="{D42A27DB-BD31-4B8C-83A1-F6EECF244321}">
                <p14:modId xmlns:p14="http://schemas.microsoft.com/office/powerpoint/2010/main" val="1579011935"/>
              </p:ext>
            </p:extLst>
          </p:nvPr>
        </p:nvGraphicFramePr>
        <p:xfrm>
          <a:off x="731520" y="3657600"/>
          <a:ext cx="10728655" cy="914400"/>
        </p:xfrm>
        <a:graphic>
          <a:graphicData uri="http://schemas.openxmlformats.org/drawingml/2006/table">
            <a:tbl>
              <a:tblPr/>
              <a:tblGrid>
                <a:gridCol w="2743200"/>
                <a:gridCol w="2651760"/>
                <a:gridCol w="2651760"/>
                <a:gridCol w="2679192"/>
              </a:tblGrid>
              <a:tr h="50292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Jaundice to encephalopathy</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Hyperacute (&lt; 1 week)</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Acute (1 to 4 weeks)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Subacute (4 to 12 weeks)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Typical causes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Acetaminophen, HAV, HEV, ischemia</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HBV</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Idiosyncratic drug injury, AIH, indeterminate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Cerebral edema</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Common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Less common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Uncommon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Recovery without transplant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More likely</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Intermediate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Less likely</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guideline 2017 [PMID: 28417882]; Management of ALF: update 2022 [PMID: 36001996]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INR 2.4, wide awake. Acute liver failure?</a:t>
            </a:r>
            <a:endParaRPr lang="en-US" sz="3000" dirty="0"/>
          </a:p>
        </p:txBody>
      </p:sp>
      <p:sp>
        <p:nvSpPr>
          <p:cNvPr id="3" name="Body"/>
          <p:cNvSpPr txBox="1"/>
          <p:nvPr/>
        </p:nvSpPr>
        <p:spPr>
          <a:xfrm>
            <a:off x="822960" y="1325880"/>
            <a:ext cx="10545775"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2200" b="1" dirty="0">
                <a:solidFill>
                  <a:srgbClr val="000000"/>
                </a:solidFill>
                <a:latin typeface="Georgia" pitchFamily="34" charset="0"/>
                <a:ea typeface="Georgia" pitchFamily="34" charset="-122"/>
                <a:cs typeface="Georgia" pitchFamily="34" charset="-120"/>
              </a:rPr>
              <a:t>No. </a:t>
            </a:r>
            <a:r>
              <a:rPr lang="en-US" sz="2200" dirty="0">
                <a:solidFill>
                  <a:srgbClr val="000000"/>
                </a:solidFill>
                <a:latin typeface="Georgia" pitchFamily="34" charset="0"/>
                <a:ea typeface="Georgia" pitchFamily="34" charset="-122"/>
                <a:cs typeface="Georgia" pitchFamily="34" charset="-120"/>
              </a:rPr>
              <a:t>This is severe acute liver injury</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No encephalopathy means not yet ALF</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But it can become ALF within hours</a:t>
            </a:r>
            <a:endParaRPr lang="en-US" sz="2200" dirty="0"/>
          </a:p>
          <a:p>
            <a:pPr lvl="1" marL="457200" indent="-228600">
              <a:spcBef>
                <a:spcPts val="200"/>
              </a:spcBef>
              <a:buSzPct val="100000"/>
              <a:buChar char="–"/>
            </a:pPr>
            <a:r>
              <a:rPr lang="en-US" sz="2000" dirty="0">
                <a:solidFill>
                  <a:srgbClr val="000000"/>
                </a:solidFill>
                <a:latin typeface="Georgia" pitchFamily="34" charset="0"/>
                <a:ea typeface="Georgia" pitchFamily="34" charset="-122"/>
                <a:cs typeface="Georgia" pitchFamily="34" charset="-120"/>
              </a:rPr>
              <a:t>Check glucose often and examine the patient every few hours</a:t>
            </a:r>
            <a:endParaRPr lang="en-US" sz="2200" dirty="0"/>
          </a:p>
          <a:p>
            <a:pPr lvl="1" marL="457200" indent="-228600">
              <a:spcBef>
                <a:spcPts val="200"/>
              </a:spcBef>
              <a:buSzPct val="100000"/>
              <a:buChar char="–"/>
            </a:pPr>
            <a:r>
              <a:rPr lang="en-US" sz="2000" dirty="0">
                <a:solidFill>
                  <a:srgbClr val="000000"/>
                </a:solidFill>
                <a:latin typeface="Georgia" pitchFamily="34" charset="0"/>
                <a:ea typeface="Georgia" pitchFamily="34" charset="-122"/>
                <a:cs typeface="Georgia" pitchFamily="34" charset="-120"/>
              </a:rPr>
              <a:t>Call transplant hepatology early anyway</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And the opposite trap:</a:t>
            </a:r>
            <a:endParaRPr lang="en-US" sz="2200" dirty="0"/>
          </a:p>
          <a:p>
            <a:pPr lvl="1" marL="457200" indent="-228600">
              <a:spcBef>
                <a:spcPts val="200"/>
              </a:spcBef>
              <a:buSzPct val="100000"/>
              <a:buChar char="–"/>
            </a:pPr>
            <a:r>
              <a:rPr lang="en-US" sz="2000" dirty="0">
                <a:solidFill>
                  <a:srgbClr val="000000"/>
                </a:solidFill>
                <a:latin typeface="Georgia" pitchFamily="34" charset="0"/>
                <a:ea typeface="Georgia" pitchFamily="34" charset="-122"/>
                <a:cs typeface="Georgia" pitchFamily="34" charset="-120"/>
              </a:rPr>
              <a:t>Hypoglycemia, sedatives, sepsis, alcohol withdrawal and seizures can all look like encephalopathy</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28-year-old woman with 4 days of nausea</a:t>
            </a:r>
            <a:endParaRPr lang="en-US" sz="3000" dirty="0"/>
          </a:p>
        </p:txBody>
      </p:sp>
      <p:sp>
        <p:nvSpPr>
          <p:cNvPr id="3" name="Question"/>
          <p:cNvSpPr txBox="1"/>
          <p:nvPr/>
        </p:nvSpPr>
        <p:spPr>
          <a:xfrm>
            <a:off x="822960" y="2926080"/>
            <a:ext cx="10545775" cy="914400"/>
          </a:xfrm>
          <a:prstGeom prst="rect">
            <a:avLst/>
          </a:prstGeom>
          <a:noFill/>
          <a:ln/>
        </p:spPr>
        <p:txBody>
          <a:bodyPr wrap="square" lIns="0" tIns="0" rIns="0" bIns="0" rtlCol="0" anchor="ctr"/>
          <a:lstStyle/>
          <a:p>
            <a:pPr algn="ctr" indent="0" marL="0">
              <a:buNone/>
            </a:pPr>
            <a:r>
              <a:rPr lang="en-US" sz="3600" b="1" dirty="0">
                <a:solidFill>
                  <a:srgbClr val="000000"/>
                </a:solidFill>
                <a:latin typeface="Georgia" pitchFamily="34" charset="0"/>
                <a:ea typeface="Georgia" pitchFamily="34" charset="-122"/>
                <a:cs typeface="Georgia" pitchFamily="34" charset="-120"/>
              </a:rPr>
              <a:t>What's your next step?</a:t>
            </a:r>
            <a:endParaRPr lang="en-US" sz="36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Three things, at the same time</a:t>
            </a:r>
            <a:endParaRPr lang="en-US" sz="3000" dirty="0"/>
          </a:p>
        </p:txBody>
      </p:sp>
      <p:graphicFrame>
        <p:nvGraphicFramePr>
          <p:cNvPr id="12" name="Table"/>
          <p:cNvGraphicFramePr>
            <a:graphicFrameLocks noGrp="1"/>
          </p:cNvGraphicFramePr>
          <p:nvPr>
            <p:extLst>
              <p:ext uri="{D42A27DB-BD31-4B8C-83A1-F6EECF244321}">
                <p14:modId xmlns:p14="http://schemas.microsoft.com/office/powerpoint/2010/main" val="1579011935"/>
              </p:ext>
            </p:extLst>
          </p:nvPr>
        </p:nvGraphicFramePr>
        <p:xfrm>
          <a:off x="731520" y="1463040"/>
          <a:ext cx="10728655" cy="914400"/>
        </p:xfrm>
        <a:graphic>
          <a:graphicData uri="http://schemas.openxmlformats.org/drawingml/2006/table">
            <a:tbl>
              <a:tblPr/>
              <a:tblGrid>
                <a:gridCol w="3566160"/>
                <a:gridCol w="3566160"/>
                <a:gridCol w="3593592"/>
              </a:tblGrid>
              <a:tr h="5029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Keep her alive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Find and treat the cause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Call transplant hepatology</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1945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ICU bed</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Glucose every 1 to 2 hours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Airway assessment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Volume, perfusion, lactate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Neuro checks</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Acetaminophen level</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Viral, autoimmune, Wilson, toxicology</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Doppler ultrasound</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Pregnancy test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Start NAC if acetaminophen is possible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Now, not after the workup</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Transplant evaluation starts tonight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Social work and psychiatry while she can still talk</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All three start in the first hour</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cause changes treatment tonight?</a:t>
            </a:r>
            <a:endParaRPr lang="en-US" sz="3000" dirty="0"/>
          </a:p>
        </p:txBody>
      </p:sp>
      <p:graphicFrame>
        <p:nvGraphicFramePr>
          <p:cNvPr id="13" name="Table"/>
          <p:cNvGraphicFramePr>
            <a:graphicFrameLocks noGrp="1"/>
          </p:cNvGraphicFramePr>
          <p:nvPr>
            <p:extLst>
              <p:ext uri="{D42A27DB-BD31-4B8C-83A1-F6EECF244321}">
                <p14:modId xmlns:p14="http://schemas.microsoft.com/office/powerpoint/2010/main" val="1579011935"/>
              </p:ext>
            </p:extLst>
          </p:nvPr>
        </p:nvGraphicFramePr>
        <p:xfrm>
          <a:off x="640080" y="1234440"/>
          <a:ext cx="10911535" cy="914400"/>
        </p:xfrm>
        <a:graphic>
          <a:graphicData uri="http://schemas.openxmlformats.org/drawingml/2006/table">
            <a:tbl>
              <a:tblPr/>
              <a:tblGrid>
                <a:gridCol w="2651760"/>
                <a:gridCol w="4206240"/>
                <a:gridCol w="4050792"/>
              </a:tblGrid>
              <a:tr h="512064">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If you suspect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Send</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Don't wait for the result to</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12064">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Acetaminophen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Level, ingestion history, combination products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Start NAC</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Herpes simplex</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HSV PCR (blood)</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Start IV acyclovir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Hepatitis B</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HBsAg, anti-HBc IgM, HBV DNA</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Start entecavir or tenofovir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Autoimmune hepatitis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ANA, ASMA, IgG (can be negative)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Discuss steroids with hepatology, list in parallel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Wilson disease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Ceruloplasmin, urine copper, hemolysis, low ALP</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Prepare for urgent transplant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Pregnancy (AFLP, HELLP)</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hCG</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Call obstetrics, plan delivery</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Budd-Chiari</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Doppler ultrasound or CT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Anticoagulation, discuss TIPS or transplant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Ischemic hepatitis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Echo, history of shock</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Fix the circulation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 EASL AIH 2025 [PMID: 40348684]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28-year-old woman with 4 days of nausea</a:t>
            </a:r>
            <a:endParaRPr lang="en-US" sz="3000" dirty="0"/>
          </a:p>
        </p:txBody>
      </p:sp>
      <p:sp>
        <p:nvSpPr>
          <p:cNvPr id="3" name="Body"/>
          <p:cNvSpPr txBox="1"/>
          <p:nvPr/>
        </p:nvSpPr>
        <p:spPr>
          <a:xfrm>
            <a:off x="822960" y="1371600"/>
            <a:ext cx="10545775" cy="1463040"/>
          </a:xfrm>
          <a:prstGeom prst="rect">
            <a:avLst/>
          </a:prstGeom>
          <a:noFill/>
          <a:ln/>
        </p:spPr>
        <p:txBody>
          <a:bodyPr wrap="square" lIns="50800" tIns="50800" rIns="50800" bIns="50800" rtlCol="0" anchor="t"/>
          <a:lstStyle/>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Roommate: "She was taking a lot of the Tylenol with codeine, plus cold medicine, for 3 days"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Acetaminophen level: </a:t>
            </a:r>
            <a:r>
              <a:rPr lang="en-US" sz="2100" b="1" dirty="0">
                <a:solidFill>
                  <a:srgbClr val="000000"/>
                </a:solidFill>
                <a:latin typeface="Georgia" pitchFamily="34" charset="0"/>
                <a:ea typeface="Georgia" pitchFamily="34" charset="-122"/>
                <a:cs typeface="Georgia" pitchFamily="34" charset="-120"/>
              </a:rPr>
              <a:t>12 μg/mL</a:t>
            </a:r>
            <a:r>
              <a:rPr lang="en-US" sz="2100" dirty="0">
                <a:solidFill>
                  <a:srgbClr val="000000"/>
                </a:solidFill>
                <a:latin typeface="Georgia" pitchFamily="34" charset="0"/>
                <a:ea typeface="Georgia" pitchFamily="34" charset="-122"/>
                <a:cs typeface="Georgia" pitchFamily="34" charset="-120"/>
              </a:rPr>
              <a:t>, time of last dose unknown</a:t>
            </a:r>
            <a:endParaRPr lang="en-US" sz="2100" dirty="0"/>
          </a:p>
        </p:txBody>
      </p:sp>
      <p:sp>
        <p:nvSpPr>
          <p:cNvPr id="4"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Can you use the nomogram?</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Rumack-Matthew nomogram</a:t>
            </a:r>
            <a:endParaRPr lang="en-US" sz="3000" dirty="0"/>
          </a:p>
        </p:txBody>
      </p:sp>
      <p:graphicFrame>
        <p:nvGraphicFramePr>
          <p:cNvPr id="3" name="Chart 0" descr=""/>
          <p:cNvGraphicFramePr/>
          <p:nvPr/>
        </p:nvGraphicFramePr>
        <p:xfrm>
          <a:off x="548640" y="1188720"/>
          <a:ext cx="6766560" cy="493776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371600"/>
            <a:ext cx="4114800" cy="4754880"/>
          </a:xfrm>
          <a:prstGeom prst="rect">
            <a:avLst/>
          </a:prstGeom>
          <a:noFill/>
          <a:ln/>
        </p:spPr>
        <p:txBody>
          <a:bodyPr wrap="square" lIns="50800" tIns="50800" rIns="50800" bIns="50800" rtlCol="0" anchor="t"/>
          <a:lstStyle/>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One acute ingestion, known time, plotted from 4 to 24 hours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Above the treatment line: NAC</a:t>
            </a:r>
            <a:endParaRPr lang="en-US" sz="1900" dirty="0"/>
          </a:p>
          <a:p>
            <a:pPr indent="0" marL="0">
              <a:spcBef>
                <a:spcPts val="1800"/>
              </a:spcBef>
              <a:buNone/>
            </a:pPr>
            <a:r>
              <a:rPr lang="en-US" sz="1900" b="1" dirty="0">
                <a:solidFill>
                  <a:srgbClr val="000000"/>
                </a:solidFill>
                <a:latin typeface="Georgia" pitchFamily="34" charset="0"/>
                <a:ea typeface="Georgia" pitchFamily="34" charset="-122"/>
                <a:cs typeface="Georgia" pitchFamily="34" charset="-120"/>
              </a:rPr>
              <a:t>Now plot her</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At 8 hours, 12 is well below the line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At 20 hours, it is above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Three days of repeated doses: </a:t>
            </a:r>
            <a:r>
              <a:rPr lang="en-US" sz="1900" b="1" dirty="0">
                <a:solidFill>
                  <a:srgbClr val="000000"/>
                </a:solidFill>
                <a:latin typeface="Georgia" pitchFamily="34" charset="0"/>
                <a:ea typeface="Georgia" pitchFamily="34" charset="-122"/>
                <a:cs typeface="Georgia" pitchFamily="34" charset="-120"/>
              </a:rPr>
              <a:t>there is no time zero</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Rumack BH, Matthew H. Pediatrics 1975; US treatment line 150 μg/mL at 4 hours</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28-year-old woman with 4 days of nausea</a:t>
            </a:r>
            <a:endParaRPr lang="en-US" sz="3000" dirty="0"/>
          </a:p>
        </p:txBody>
      </p:sp>
      <p:sp>
        <p:nvSpPr>
          <p:cNvPr id="3" name="Body"/>
          <p:cNvSpPr txBox="1"/>
          <p:nvPr/>
        </p:nvSpPr>
        <p:spPr>
          <a:xfrm>
            <a:off x="822960" y="1371600"/>
            <a:ext cx="10545775" cy="1463040"/>
          </a:xfrm>
          <a:prstGeom prst="rect">
            <a:avLst/>
          </a:prstGeom>
          <a:noFill/>
          <a:ln/>
        </p:spPr>
        <p:txBody>
          <a:bodyPr wrap="square" lIns="50800" tIns="50800" rIns="50800" bIns="50800" rtlCol="0" anchor="t"/>
          <a:lstStyle/>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Roommate: "She was taking a lot of the Tylenol with codeine, plus cold medicine, for 3 days"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Acetaminophen level: </a:t>
            </a:r>
            <a:r>
              <a:rPr lang="en-US" sz="2100" b="1" dirty="0">
                <a:solidFill>
                  <a:srgbClr val="000000"/>
                </a:solidFill>
                <a:latin typeface="Georgia" pitchFamily="34" charset="0"/>
                <a:ea typeface="Georgia" pitchFamily="34" charset="-122"/>
                <a:cs typeface="Georgia" pitchFamily="34" charset="-120"/>
              </a:rPr>
              <a:t>12 μg/mL</a:t>
            </a:r>
            <a:r>
              <a:rPr lang="en-US" sz="2100" dirty="0">
                <a:solidFill>
                  <a:srgbClr val="000000"/>
                </a:solidFill>
                <a:latin typeface="Georgia" pitchFamily="34" charset="0"/>
                <a:ea typeface="Georgia" pitchFamily="34" charset="-122"/>
                <a:cs typeface="Georgia" pitchFamily="34" charset="-120"/>
              </a:rPr>
              <a:t>, time of last dose unknown</a:t>
            </a:r>
            <a:endParaRPr lang="en-US" sz="2100" dirty="0"/>
          </a:p>
        </p:txBody>
      </p:sp>
      <p:sp>
        <p:nvSpPr>
          <p:cNvPr id="4"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Can you use the nomogram?</a:t>
            </a:r>
            <a:endParaRPr lang="en-US" sz="2400" dirty="0"/>
          </a:p>
        </p:txBody>
      </p:sp>
      <p:sp>
        <p:nvSpPr>
          <p:cNvPr id="5" name="Body"/>
          <p:cNvSpPr txBox="1"/>
          <p:nvPr/>
        </p:nvSpPr>
        <p:spPr>
          <a:xfrm>
            <a:off x="822960" y="3749040"/>
            <a:ext cx="10545775" cy="2377440"/>
          </a:xfrm>
          <a:prstGeom prst="rect">
            <a:avLst/>
          </a:prstGeom>
          <a:noFill/>
          <a:ln/>
        </p:spPr>
        <p:txBody>
          <a:bodyPr wrap="square" lIns="50800" tIns="50800" rIns="50800" bIns="50800" rtlCol="0" anchor="t"/>
          <a:lstStyle/>
          <a:p>
            <a:pPr marL="228600" indent="-228600">
              <a:spcBef>
                <a:spcPts val="800"/>
              </a:spcBef>
              <a:buSzPct val="100000"/>
              <a:buChar char="–"/>
            </a:pPr>
            <a:r>
              <a:rPr lang="en-US" sz="2100" b="1" dirty="0">
                <a:solidFill>
                  <a:srgbClr val="000000"/>
                </a:solidFill>
                <a:latin typeface="Georgia" pitchFamily="34" charset="0"/>
                <a:ea typeface="Georgia" pitchFamily="34" charset="-122"/>
                <a:cs typeface="Georgia" pitchFamily="34" charset="-120"/>
              </a:rPr>
              <a:t>No.</a:t>
            </a:r>
            <a:r>
              <a:rPr lang="en-US" sz="2100" dirty="0">
                <a:solidFill>
                  <a:srgbClr val="000000"/>
                </a:solidFill>
                <a:latin typeface="Georgia" pitchFamily="34" charset="0"/>
                <a:ea typeface="Georgia" pitchFamily="34" charset="-122"/>
                <a:cs typeface="Georgia" pitchFamily="34" charset="-120"/>
              </a:rPr>
              <a:t> Rumack-Matthew is for a single acute ingestion with a known time</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Repeated supratherapeutic use and late presentation: the level can be low or undetectable</a:t>
            </a:r>
            <a:endParaRPr lang="en-US" sz="2100" dirty="0"/>
          </a:p>
          <a:p>
            <a:pPr marL="228600" indent="-228600">
              <a:spcBef>
                <a:spcPts val="800"/>
              </a:spcBef>
              <a:buSzPct val="100000"/>
              <a:buChar char="–"/>
            </a:pPr>
            <a:r>
              <a:rPr lang="en-US" sz="2100" b="1" dirty="0">
                <a:solidFill>
                  <a:srgbClr val="000000"/>
                </a:solidFill>
                <a:highlight>
                  <a:srgbClr val="FFFF00"/>
                </a:highlight>
                <a:latin typeface="Georgia" pitchFamily="34" charset="0"/>
                <a:ea typeface="Georgia" pitchFamily="34" charset="-122"/>
                <a:cs typeface="Georgia" pitchFamily="34" charset="-120"/>
              </a:rPr>
              <a:t>Start NAC now</a:t>
            </a:r>
            <a:endParaRPr lang="en-US" sz="21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graphicFrame>
        <p:nvGraphicFramePr>
          <p:cNvPr id="17" name="Table"/>
          <p:cNvGraphicFramePr>
            <a:graphicFrameLocks noGrp="1"/>
          </p:cNvGraphicFramePr>
          <p:nvPr>
            <p:extLst>
              <p:ext uri="{D42A27DB-BD31-4B8C-83A1-F6EECF244321}">
                <p14:modId xmlns:p14="http://schemas.microsoft.com/office/powerpoint/2010/main" val="1579011935"/>
              </p:ext>
            </p:extLst>
          </p:nvPr>
        </p:nvGraphicFramePr>
        <p:xfrm>
          <a:off x="822960" y="1463040"/>
          <a:ext cx="10545775" cy="914400"/>
        </p:xfrm>
        <a:graphic>
          <a:graphicData uri="http://schemas.openxmlformats.org/drawingml/2006/table">
            <a:tbl>
              <a:tblPr/>
              <a:tblGrid>
                <a:gridCol w="2560320"/>
                <a:gridCol w="7982712"/>
              </a:tblGrid>
              <a:tr h="8229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Study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Adult non-acetaminophen ALF, randomized, NAC vs placebo, 173 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Main finding</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Transplant-free survival 40% vs 27%; the benefit was in early encephalopathy (grade I-II): 52% vs 30%</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What it doesn't show</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Overall survival was not different (70% vs 66%). No benefit in grade III-IV coma</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So</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Reasonable in early non-acetaminophen ALF. Don't extrapolate to advanced coma, children or ACLF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 [PMID: 19524577]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28-year-old woman with 4 days of nausea</a:t>
            </a:r>
            <a:endParaRPr lang="en-US" sz="3000" dirty="0"/>
          </a:p>
        </p:txBody>
      </p:sp>
      <p:graphicFrame>
        <p:nvGraphicFramePr>
          <p:cNvPr id="18" name="Table"/>
          <p:cNvGraphicFramePr>
            <a:graphicFrameLocks noGrp="1"/>
          </p:cNvGraphicFramePr>
          <p:nvPr>
            <p:extLst>
              <p:ext uri="{D42A27DB-BD31-4B8C-83A1-F6EECF244321}">
                <p14:modId xmlns:p14="http://schemas.microsoft.com/office/powerpoint/2010/main" val="1579011935"/>
              </p:ext>
            </p:extLst>
          </p:nvPr>
        </p:nvGraphicFramePr>
        <p:xfrm>
          <a:off x="1371600" y="1280160"/>
          <a:ext cx="9448495" cy="914400"/>
        </p:xfrm>
        <a:graphic>
          <a:graphicData uri="http://schemas.openxmlformats.org/drawingml/2006/table">
            <a:tbl>
              <a:tblPr/>
              <a:tblGrid>
                <a:gridCol w="2743200"/>
                <a:gridCol w="2743200"/>
                <a:gridCol w="395935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Hour 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Mental status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Disoriented, asterixis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Responds only to voice (grade III)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(arterial)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Not sent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182 μmol/L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OK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15 mL/h for 4 hours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Lactate (after 3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2.1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4.6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1.0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133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Glucose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54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Needs D10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3035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worries you most?</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28-year-old woman with 4 days of nausea</a:t>
            </a:r>
            <a:endParaRPr lang="en-US" sz="3000" dirty="0"/>
          </a:p>
        </p:txBody>
      </p:sp>
      <p:graphicFrame>
        <p:nvGraphicFramePr>
          <p:cNvPr id="19" name="Table"/>
          <p:cNvGraphicFramePr>
            <a:graphicFrameLocks noGrp="1"/>
          </p:cNvGraphicFramePr>
          <p:nvPr>
            <p:extLst>
              <p:ext uri="{D42A27DB-BD31-4B8C-83A1-F6EECF244321}">
                <p14:modId xmlns:p14="http://schemas.microsoft.com/office/powerpoint/2010/main" val="1579011935"/>
              </p:ext>
            </p:extLst>
          </p:nvPr>
        </p:nvGraphicFramePr>
        <p:xfrm>
          <a:off x="1371600" y="1280160"/>
          <a:ext cx="9448495" cy="914400"/>
        </p:xfrm>
        <a:graphic>
          <a:graphicData uri="http://schemas.openxmlformats.org/drawingml/2006/table">
            <a:tbl>
              <a:tblPr/>
              <a:tblGrid>
                <a:gridCol w="2743200"/>
                <a:gridCol w="2743200"/>
                <a:gridCol w="395935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Hour 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Mental status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Disoriented, asterixis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Responds only to voice (grade III)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(arterial)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Not sent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182 μmol/L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OK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15 mL/h for 4 hours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Lactate (after 3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2.1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4.6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1.0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133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Glucose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54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Needs D10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Her brain</a:t>
            </a:r>
            <a:endParaRPr lang="en-US" sz="2600" dirty="0"/>
          </a:p>
        </p:txBody>
      </p:sp>
      <p:sp>
        <p:nvSpPr>
          <p:cNvPr id="5"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When do you intubate?  Do you wait for the creatinine before dialysis?</a:t>
            </a:r>
            <a:endParaRPr lang="en-US" sz="2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does the brain swell?</a:t>
            </a:r>
            <a:endParaRPr lang="en-US" sz="3000" dirty="0"/>
          </a:p>
        </p:txBody>
      </p:sp>
      <p:sp>
        <p:nvSpPr>
          <p:cNvPr id="3" name="Box"/>
          <p:cNvSpPr/>
          <p:nvPr/>
        </p:nvSpPr>
        <p:spPr>
          <a:xfrm>
            <a:off x="731520" y="1371600"/>
            <a:ext cx="2743200" cy="777240"/>
          </a:xfrm>
          <a:prstGeom prst="rect">
            <a:avLst/>
          </a:prstGeom>
          <a:solidFill>
            <a:srgbClr val="FFFFFF"/>
          </a:solidFill>
          <a:ln w="12700">
            <a:solidFill>
              <a:srgbClr val="000000"/>
            </a:solidFill>
            <a:prstDash val="solid"/>
          </a:ln>
        </p:spPr>
      </p:sp>
      <p:sp>
        <p:nvSpPr>
          <p:cNvPr id="4" name="Text 2"/>
          <p:cNvSpPr txBox="1"/>
          <p:nvPr/>
        </p:nvSpPr>
        <p:spPr>
          <a:xfrm>
            <a:off x="731520" y="1371600"/>
            <a:ext cx="27432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Liver can't clear ammonia</a:t>
            </a:r>
            <a:endParaRPr lang="en-US" sz="1600" dirty="0"/>
          </a:p>
        </p:txBody>
      </p:sp>
      <p:sp>
        <p:nvSpPr>
          <p:cNvPr id="5" name="Box"/>
          <p:cNvSpPr/>
          <p:nvPr/>
        </p:nvSpPr>
        <p:spPr>
          <a:xfrm>
            <a:off x="4023360" y="1371600"/>
            <a:ext cx="2743200" cy="777240"/>
          </a:xfrm>
          <a:prstGeom prst="rect">
            <a:avLst/>
          </a:prstGeom>
          <a:solidFill>
            <a:srgbClr val="FFFFFF"/>
          </a:solidFill>
          <a:ln w="12700">
            <a:solidFill>
              <a:srgbClr val="000000"/>
            </a:solidFill>
            <a:prstDash val="solid"/>
          </a:ln>
        </p:spPr>
      </p:sp>
      <p:sp>
        <p:nvSpPr>
          <p:cNvPr id="6" name="Text 4"/>
          <p:cNvSpPr txBox="1"/>
          <p:nvPr/>
        </p:nvSpPr>
        <p:spPr>
          <a:xfrm>
            <a:off x="4023360" y="1371600"/>
            <a:ext cx="27432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Astrocytes take up ammonia</a:t>
            </a:r>
            <a:endParaRPr lang="en-US" sz="1600" dirty="0"/>
          </a:p>
        </p:txBody>
      </p:sp>
      <p:sp>
        <p:nvSpPr>
          <p:cNvPr id="7" name="Box"/>
          <p:cNvSpPr/>
          <p:nvPr/>
        </p:nvSpPr>
        <p:spPr>
          <a:xfrm>
            <a:off x="7315200" y="1371600"/>
            <a:ext cx="3657600" cy="777240"/>
          </a:xfrm>
          <a:prstGeom prst="rect">
            <a:avLst/>
          </a:prstGeom>
          <a:solidFill>
            <a:srgbClr val="FFFFFF"/>
          </a:solidFill>
          <a:ln w="12700">
            <a:solidFill>
              <a:srgbClr val="000000"/>
            </a:solidFill>
            <a:prstDash val="solid"/>
          </a:ln>
        </p:spPr>
      </p:sp>
      <p:sp>
        <p:nvSpPr>
          <p:cNvPr id="8" name="Text 6"/>
          <p:cNvSpPr txBox="1"/>
          <p:nvPr/>
        </p:nvSpPr>
        <p:spPr>
          <a:xfrm>
            <a:off x="7315200" y="1371600"/>
            <a:ext cx="36576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Ammonia + glutamate → glutamine</a:t>
            </a:r>
            <a:endParaRPr lang="en-US" sz="1600" dirty="0"/>
          </a:p>
        </p:txBody>
      </p:sp>
      <p:sp>
        <p:nvSpPr>
          <p:cNvPr id="9" name="Arrow"/>
          <p:cNvSpPr/>
          <p:nvPr/>
        </p:nvSpPr>
        <p:spPr>
          <a:xfrm>
            <a:off x="3474720" y="1760220"/>
            <a:ext cx="548640" cy="914"/>
          </a:xfrm>
          <a:prstGeom prst="line">
            <a:avLst/>
          </a:prstGeom>
          <a:noFill/>
          <a:ln w="19050">
            <a:solidFill>
              <a:srgbClr val="000000"/>
            </a:solidFill>
            <a:prstDash val="solid"/>
            <a:tailEnd type="triangle"/>
          </a:ln>
        </p:spPr>
      </p:sp>
      <p:sp>
        <p:nvSpPr>
          <p:cNvPr id="10" name="Arrow"/>
          <p:cNvSpPr/>
          <p:nvPr/>
        </p:nvSpPr>
        <p:spPr>
          <a:xfrm>
            <a:off x="6766560" y="1760220"/>
            <a:ext cx="548640" cy="914"/>
          </a:xfrm>
          <a:prstGeom prst="line">
            <a:avLst/>
          </a:prstGeom>
          <a:noFill/>
          <a:ln w="19050">
            <a:solidFill>
              <a:srgbClr val="000000"/>
            </a:solidFill>
            <a:prstDash val="solid"/>
            <a:tailEnd type="triangle"/>
          </a:ln>
        </p:spPr>
      </p:sp>
      <p:sp>
        <p:nvSpPr>
          <p:cNvPr id="11" name="Box"/>
          <p:cNvSpPr/>
          <p:nvPr/>
        </p:nvSpPr>
        <p:spPr>
          <a:xfrm>
            <a:off x="7315200" y="2743200"/>
            <a:ext cx="3657600" cy="777240"/>
          </a:xfrm>
          <a:prstGeom prst="rect">
            <a:avLst/>
          </a:prstGeom>
          <a:solidFill>
            <a:srgbClr val="FFFFFF"/>
          </a:solidFill>
          <a:ln w="12700">
            <a:solidFill>
              <a:srgbClr val="000000"/>
            </a:solidFill>
            <a:prstDash val="solid"/>
          </a:ln>
        </p:spPr>
      </p:sp>
      <p:sp>
        <p:nvSpPr>
          <p:cNvPr id="12" name="Text 10"/>
          <p:cNvSpPr txBox="1"/>
          <p:nvPr/>
        </p:nvSpPr>
        <p:spPr>
          <a:xfrm>
            <a:off x="7315200" y="2743200"/>
            <a:ext cx="36576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Glutamine pulls in water, mitochondria fail</a:t>
            </a:r>
            <a:endParaRPr lang="en-US" sz="1600" dirty="0"/>
          </a:p>
        </p:txBody>
      </p:sp>
      <p:sp>
        <p:nvSpPr>
          <p:cNvPr id="13" name="Arrow"/>
          <p:cNvSpPr/>
          <p:nvPr/>
        </p:nvSpPr>
        <p:spPr>
          <a:xfrm>
            <a:off x="9144000" y="2148840"/>
            <a:ext cx="914" cy="594360"/>
          </a:xfrm>
          <a:prstGeom prst="line">
            <a:avLst/>
          </a:prstGeom>
          <a:noFill/>
          <a:ln w="19050">
            <a:solidFill>
              <a:srgbClr val="000000"/>
            </a:solidFill>
            <a:prstDash val="solid"/>
            <a:tailEnd type="triangle"/>
          </a:ln>
        </p:spPr>
      </p:sp>
      <p:sp>
        <p:nvSpPr>
          <p:cNvPr id="14" name="Box"/>
          <p:cNvSpPr/>
          <p:nvPr/>
        </p:nvSpPr>
        <p:spPr>
          <a:xfrm>
            <a:off x="4023360" y="2743200"/>
            <a:ext cx="2743200" cy="777240"/>
          </a:xfrm>
          <a:prstGeom prst="rect">
            <a:avLst/>
          </a:prstGeom>
          <a:solidFill>
            <a:srgbClr val="FFFFFF"/>
          </a:solidFill>
          <a:ln w="12700">
            <a:solidFill>
              <a:srgbClr val="000000"/>
            </a:solidFill>
            <a:prstDash val="solid"/>
          </a:ln>
        </p:spPr>
      </p:sp>
      <p:sp>
        <p:nvSpPr>
          <p:cNvPr id="15" name="Text 13"/>
          <p:cNvSpPr txBox="1"/>
          <p:nvPr/>
        </p:nvSpPr>
        <p:spPr>
          <a:xfrm>
            <a:off x="4023360" y="2743200"/>
            <a:ext cx="2743200" cy="777240"/>
          </a:xfrm>
          <a:prstGeom prst="rect">
            <a:avLst/>
          </a:prstGeom>
          <a:noFill/>
          <a:ln/>
        </p:spPr>
        <p:txBody>
          <a:bodyPr wrap="square" lIns="50800" tIns="50800" rIns="50800" bIns="50800" rtlCol="0" anchor="ctr"/>
          <a:lstStyle/>
          <a:p>
            <a:pPr algn="ctr" indent="0" marL="0">
              <a:buNone/>
            </a:pPr>
            <a:r>
              <a:rPr lang="en-US" sz="1600" b="1" dirty="0">
                <a:solidFill>
                  <a:srgbClr val="000000"/>
                </a:solidFill>
                <a:latin typeface="Georgia" pitchFamily="34" charset="0"/>
                <a:ea typeface="Georgia" pitchFamily="34" charset="-122"/>
                <a:cs typeface="Georgia" pitchFamily="34" charset="-120"/>
              </a:rPr>
              <a:t>Astrocyte swelling, cerebral edema</a:t>
            </a:r>
            <a:endParaRPr lang="en-US" sz="1600" dirty="0"/>
          </a:p>
        </p:txBody>
      </p:sp>
      <p:sp>
        <p:nvSpPr>
          <p:cNvPr id="16" name="Arrow"/>
          <p:cNvSpPr/>
          <p:nvPr/>
        </p:nvSpPr>
        <p:spPr>
          <a:xfrm flipH="1">
            <a:off x="6766560" y="3131820"/>
            <a:ext cx="548640" cy="914"/>
          </a:xfrm>
          <a:prstGeom prst="line">
            <a:avLst/>
          </a:prstGeom>
          <a:noFill/>
          <a:ln w="19050">
            <a:solidFill>
              <a:srgbClr val="000000"/>
            </a:solidFill>
            <a:prstDash val="solid"/>
            <a:tailEnd type="triangle"/>
          </a:ln>
        </p:spPr>
      </p:sp>
      <p:sp>
        <p:nvSpPr>
          <p:cNvPr id="17" name="Box"/>
          <p:cNvSpPr/>
          <p:nvPr/>
        </p:nvSpPr>
        <p:spPr>
          <a:xfrm>
            <a:off x="731520" y="2743200"/>
            <a:ext cx="2743200" cy="777240"/>
          </a:xfrm>
          <a:prstGeom prst="rect">
            <a:avLst/>
          </a:prstGeom>
          <a:solidFill>
            <a:srgbClr val="FFFFFF"/>
          </a:solidFill>
          <a:ln w="12700">
            <a:solidFill>
              <a:srgbClr val="C00000"/>
            </a:solidFill>
            <a:prstDash val="solid"/>
          </a:ln>
        </p:spPr>
      </p:sp>
      <p:sp>
        <p:nvSpPr>
          <p:cNvPr id="18" name="Text 16"/>
          <p:cNvSpPr txBox="1"/>
          <p:nvPr/>
        </p:nvSpPr>
        <p:spPr>
          <a:xfrm>
            <a:off x="731520" y="2743200"/>
            <a:ext cx="2743200" cy="777240"/>
          </a:xfrm>
          <a:prstGeom prst="rect">
            <a:avLst/>
          </a:prstGeom>
          <a:noFill/>
          <a:ln/>
        </p:spPr>
        <p:txBody>
          <a:bodyPr wrap="square" lIns="50800" tIns="50800" rIns="50800" bIns="50800" rtlCol="0" anchor="ctr"/>
          <a:lstStyle/>
          <a:p>
            <a:pPr algn="ctr" indent="0" marL="0">
              <a:buNone/>
            </a:pPr>
            <a:r>
              <a:rPr lang="en-US" sz="1600" b="1" dirty="0">
                <a:solidFill>
                  <a:srgbClr val="C00000"/>
                </a:solidFill>
                <a:latin typeface="Georgia" pitchFamily="34" charset="0"/>
                <a:ea typeface="Georgia" pitchFamily="34" charset="-122"/>
                <a:cs typeface="Georgia" pitchFamily="34" charset="-120"/>
              </a:rPr>
              <a:t>Intracranial hypertension, herniation</a:t>
            </a:r>
            <a:endParaRPr lang="en-US" sz="1600" dirty="0"/>
          </a:p>
        </p:txBody>
      </p:sp>
      <p:sp>
        <p:nvSpPr>
          <p:cNvPr id="19" name="Arrow"/>
          <p:cNvSpPr/>
          <p:nvPr/>
        </p:nvSpPr>
        <p:spPr>
          <a:xfrm flipH="1">
            <a:off x="3474720" y="3131820"/>
            <a:ext cx="548640" cy="914"/>
          </a:xfrm>
          <a:prstGeom prst="line">
            <a:avLst/>
          </a:prstGeom>
          <a:noFill/>
          <a:ln w="19050">
            <a:solidFill>
              <a:srgbClr val="000000"/>
            </a:solidFill>
            <a:prstDash val="solid"/>
            <a:tailEnd type="triangle"/>
          </a:ln>
        </p:spPr>
      </p:sp>
      <p:sp>
        <p:nvSpPr>
          <p:cNvPr id="20" name="Body"/>
          <p:cNvSpPr txBox="1"/>
          <p:nvPr/>
        </p:nvSpPr>
        <p:spPr>
          <a:xfrm>
            <a:off x="822960" y="4023360"/>
            <a:ext cx="10545775" cy="2194560"/>
          </a:xfrm>
          <a:prstGeom prst="rect">
            <a:avLst/>
          </a:prstGeom>
          <a:noFill/>
          <a:ln/>
        </p:spPr>
        <p:txBody>
          <a:bodyPr wrap="square" lIns="50800" tIns="50800" rIns="50800" bIns="50800" rtlCol="0" anchor="t"/>
          <a:lstStyle/>
          <a:p>
            <a:pPr marL="228600" indent="-228600">
              <a:spcBef>
                <a:spcPts val="800"/>
              </a:spcBef>
              <a:buSzPct val="100000"/>
              <a:buChar char="–"/>
            </a:pPr>
            <a:r>
              <a:rPr lang="en-US" sz="1900" b="1" dirty="0">
                <a:solidFill>
                  <a:srgbClr val="000000"/>
                </a:solidFill>
                <a:latin typeface="Georgia" pitchFamily="34" charset="0"/>
                <a:ea typeface="Georgia" pitchFamily="34" charset="-122"/>
                <a:cs typeface="Georgia" pitchFamily="34" charset="-120"/>
              </a:rPr>
              <a:t>Makes it worse: </a:t>
            </a:r>
            <a:r>
              <a:rPr lang="en-US" sz="1900" dirty="0">
                <a:solidFill>
                  <a:srgbClr val="000000"/>
                </a:solidFill>
                <a:latin typeface="Georgia" pitchFamily="34" charset="0"/>
                <a:ea typeface="Georgia" pitchFamily="34" charset="-122"/>
                <a:cs typeface="Georgia" pitchFamily="34" charset="-120"/>
              </a:rPr>
              <a:t>inflammation and infection, loss of autoregulation, fever, low sodium, high CO2</a:t>
            </a:r>
            <a:endParaRPr lang="en-US" sz="1900" dirty="0"/>
          </a:p>
          <a:p>
            <a:pPr marL="228600" indent="-228600">
              <a:spcBef>
                <a:spcPts val="800"/>
              </a:spcBef>
              <a:buSzPct val="100000"/>
              <a:buChar char="–"/>
            </a:pPr>
            <a:r>
              <a:rPr lang="en-US" sz="1900" b="1" dirty="0">
                <a:solidFill>
                  <a:srgbClr val="000000"/>
                </a:solidFill>
                <a:latin typeface="Georgia" pitchFamily="34" charset="0"/>
                <a:ea typeface="Georgia" pitchFamily="34" charset="-122"/>
                <a:cs typeface="Georgia" pitchFamily="34" charset="-120"/>
              </a:rPr>
              <a:t>Highest risk: </a:t>
            </a:r>
            <a:r>
              <a:rPr lang="en-US" sz="1900" dirty="0">
                <a:solidFill>
                  <a:srgbClr val="000000"/>
                </a:solidFill>
                <a:latin typeface="Georgia" pitchFamily="34" charset="0"/>
                <a:ea typeface="Georgia" pitchFamily="34" charset="-122"/>
                <a:cs typeface="Georgia" pitchFamily="34" charset="-120"/>
              </a:rPr>
              <a:t>hyperacute course, young, grade III-IV encephalopathy, ammonia persistently above 150 to 200 μmol/L, AKI, vasopressors</a:t>
            </a:r>
            <a:endParaRPr lang="en-US" sz="1900" dirty="0"/>
          </a:p>
        </p:txBody>
      </p:sp>
      <p:sp>
        <p:nvSpPr>
          <p:cNvPr id="21"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Ammonia: how high is too high?</a:t>
            </a:r>
            <a:endParaRPr lang="en-US" sz="3000" dirty="0"/>
          </a:p>
        </p:txBody>
      </p:sp>
      <p:graphicFrame>
        <p:nvGraphicFramePr>
          <p:cNvPr id="21" name="Table"/>
          <p:cNvGraphicFramePr>
            <a:graphicFrameLocks noGrp="1"/>
          </p:cNvGraphicFramePr>
          <p:nvPr>
            <p:extLst>
              <p:ext uri="{D42A27DB-BD31-4B8C-83A1-F6EECF244321}">
                <p14:modId xmlns:p14="http://schemas.microsoft.com/office/powerpoint/2010/main" val="1579011935"/>
              </p:ext>
            </p:extLst>
          </p:nvPr>
        </p:nvGraphicFramePr>
        <p:xfrm>
          <a:off x="548640" y="1234440"/>
          <a:ext cx="11094415" cy="914400"/>
        </p:xfrm>
        <a:graphic>
          <a:graphicData uri="http://schemas.openxmlformats.org/drawingml/2006/table">
            <a:tbl>
              <a:tblPr/>
              <a:tblGrid>
                <a:gridCol w="2651760"/>
                <a:gridCol w="1828800"/>
                <a:gridCol w="4480560"/>
                <a:gridCol w="2130552"/>
              </a:tblGrid>
              <a:tr h="4572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Study (arterial ammonia)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Patients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they found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The catch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Clemmesen 1999, Copenhagen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44 ALF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14 herniated. Mean ammonia 230 vs 118 μmol/L; every herniation was above 146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Small, one center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Bhatia 2006, Delhi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80 ALF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Admission ammonia ≥ 124 predicted death (sensitivity 79%, specificity 76%)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One center; the endpoint was death, not ICH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Bernal 2007, King's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165 ALF, grade III-IV</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&gt; 100 predicted severe HE (70% accuracy). </a:t>
                      </a:r>
                      <a:r>
                        <a:rPr lang="en-US" sz="1600" b="1" dirty="0">
                          <a:solidFill>
                            <a:srgbClr val="000000"/>
                          </a:solidFill>
                          <a:latin typeface="Calibri" pitchFamily="34" charset="0"/>
                          <a:ea typeface="Calibri" pitchFamily="34" charset="-122"/>
                          <a:cs typeface="Calibri" pitchFamily="34" charset="-120"/>
                        </a:rPr>
                        <a:t>&gt; 200: ICH in 55%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200 missed most of the ICH cases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Kumar 2012, Delhi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295 ALF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 122 for 3 days: survival 23% vs 72%</a:t>
                      </a:r>
                      <a:r>
                        <a:rPr lang="en-US" sz="1600" dirty="0">
                          <a:solidFill>
                            <a:srgbClr val="000000"/>
                          </a:solidFill>
                          <a:latin typeface="Calibri" pitchFamily="34" charset="0"/>
                          <a:ea typeface="Calibri" pitchFamily="34" charset="-122"/>
                          <a:cs typeface="Calibri" pitchFamily="34" charset="-120"/>
                        </a:rPr>
                        <a:t>, cerebral edema 71% vs 37%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One center, but the trend beat a single value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Above 150 to 200 and not falling: worry about the brain</a:t>
            </a:r>
            <a:endParaRPr lang="en-US" sz="2200" dirty="0"/>
          </a:p>
        </p:txBody>
      </p:sp>
      <p:sp>
        <p:nvSpPr>
          <p:cNvPr id="5"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ICH can occur below 200. Interpret the level with the HE grade and the trend</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Hepatology 1999;29:648-53; Bhatia Gut 2006; Bernal Hepatology 2007 [PMID: 17685471]; Kumar Clin Gastroenterol Hepatol 2012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intubate?</a:t>
            </a:r>
            <a:endParaRPr lang="en-US" sz="3000" dirty="0"/>
          </a:p>
        </p:txBody>
      </p:sp>
      <p:sp>
        <p:nvSpPr>
          <p:cNvPr id="3" name="Body"/>
          <p:cNvSpPr txBox="1"/>
          <p:nvPr/>
        </p:nvSpPr>
        <p:spPr>
          <a:xfrm>
            <a:off x="1828800" y="1554480"/>
            <a:ext cx="8534095" cy="1828800"/>
          </a:xfrm>
          <a:prstGeom prst="rect">
            <a:avLst/>
          </a:prstGeom>
          <a:noFill/>
          <a:ln/>
        </p:spPr>
        <p:txBody>
          <a:bodyPr wrap="square" lIns="50800" tIns="50800" rIns="50800" bIns="50800" rtlCol="0" anchor="t"/>
          <a:lstStyle/>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Responds to voice, drifts off, intermittently agitated</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Handling secretions for now</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SpO2 96% on 2 L</a:t>
            </a:r>
            <a:endParaRPr lang="en-US" sz="2200" dirty="0"/>
          </a:p>
        </p:txBody>
      </p:sp>
      <p:sp>
        <p:nvSpPr>
          <p:cNvPr id="4" name="Question"/>
          <p:cNvSpPr txBox="1"/>
          <p:nvPr/>
        </p:nvSpPr>
        <p:spPr>
          <a:xfrm>
            <a:off x="822960" y="39319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Intubate now, or wait until she can't protect her airway?</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intubate?</a:t>
            </a:r>
            <a:endParaRPr lang="en-US" sz="3000" dirty="0"/>
          </a:p>
        </p:txBody>
      </p:sp>
      <p:sp>
        <p:nvSpPr>
          <p:cNvPr id="3" name="Question"/>
          <p:cNvSpPr txBox="1"/>
          <p:nvPr/>
        </p:nvSpPr>
        <p:spPr>
          <a:xfrm>
            <a:off x="822960" y="12801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Grade III-IV encephalopathy in ALF: intubate</a:t>
            </a:r>
            <a:endParaRPr lang="en-US" sz="2400" dirty="0"/>
          </a:p>
        </p:txBody>
      </p:sp>
      <p:graphicFrame>
        <p:nvGraphicFramePr>
          <p:cNvPr id="23" name="Table"/>
          <p:cNvGraphicFramePr>
            <a:graphicFrameLocks noGrp="1"/>
          </p:cNvGraphicFramePr>
          <p:nvPr>
            <p:extLst>
              <p:ext uri="{D42A27DB-BD31-4B8C-83A1-F6EECF244321}">
                <p14:modId xmlns:p14="http://schemas.microsoft.com/office/powerpoint/2010/main" val="1579011935"/>
              </p:ext>
            </p:extLst>
          </p:nvPr>
        </p:nvGraphicFramePr>
        <p:xfrm>
          <a:off x="731520" y="2103120"/>
          <a:ext cx="10728655" cy="914400"/>
        </p:xfrm>
        <a:graphic>
          <a:graphicData uri="http://schemas.openxmlformats.org/drawingml/2006/table">
            <a:tbl>
              <a:tblPr/>
              <a:tblGrid>
                <a:gridCol w="3291840"/>
                <a:gridCol w="3749040"/>
                <a:gridCol w="3685032"/>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Before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During</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After</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7373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Preoxygenate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Norepinephrine ready</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Check glucose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Head of bed 30°, neck neutral</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Avoid hypotension (perfusion pressure)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Avoid coughing and bucking (ICP spikes)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Most experienced operator</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Propofol: short-acting, may lower ICP</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Avoid long-acting benzodiazepines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Aim for normal CO2, check a gas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Sedation hides the neuro exam: check pupils</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Practical update 2024 [PMID: 39170946]; ACG ALF 2023 [PMID: 37377263]; SCCM 2020 [PMID: 32058387]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we use permissive hypercapnia?</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Day 1: bilateral infiltrates, P/F 150 on PEEP 10</a:t>
            </a:r>
            <a:endParaRPr lang="en-US" sz="20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Lung protection or brain protection?</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we use permissive hypercapnia?</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Day 1: bilateral infiltrates, P/F 150 on PEEP 10</a:t>
            </a:r>
            <a:endParaRPr lang="en-US" sz="2000" dirty="0"/>
          </a:p>
        </p:txBody>
      </p:sp>
      <p:graphicFrame>
        <p:nvGraphicFramePr>
          <p:cNvPr id="25" name="Table"/>
          <p:cNvGraphicFramePr>
            <a:graphicFrameLocks noGrp="1"/>
          </p:cNvGraphicFramePr>
          <p:nvPr>
            <p:extLst>
              <p:ext uri="{D42A27DB-BD31-4B8C-83A1-F6EECF244321}">
                <p14:modId xmlns:p14="http://schemas.microsoft.com/office/powerpoint/2010/main" val="1579011935"/>
              </p:ext>
            </p:extLst>
          </p:nvPr>
        </p:nvGraphicFramePr>
        <p:xfrm>
          <a:off x="640080" y="1828800"/>
          <a:ext cx="10911535" cy="914400"/>
        </p:xfrm>
        <a:graphic>
          <a:graphicData uri="http://schemas.openxmlformats.org/drawingml/2006/table">
            <a:tbl>
              <a:tblPr/>
              <a:tblGrid>
                <a:gridCol w="1920240"/>
                <a:gridCol w="2651760"/>
                <a:gridCol w="3108960"/>
                <a:gridCol w="32278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The lung wants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The brain wants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we do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858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Tidal volume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6 mL/kg predicted body weight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 conflict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Do it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CO2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Tolerate a high CO2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High CO2 dilates vessels and raises ICP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Aim for normal CO2. No permissive hypercapnia when ICP is a concern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Hyperventilation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Lowers ICP briefly, then ischemia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Only as a short rescue for herniation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PEEP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Recruit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Very high pressures can impair venous return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Individualize. PEEP is not forbidden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2020 [PMID: 32058387]; practical update 2024 [PMID: 39170946]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Protecting the brain: what we actually do</a:t>
            </a:r>
            <a:endParaRPr lang="en-US" sz="3000" dirty="0"/>
          </a:p>
        </p:txBody>
      </p:sp>
      <p:sp>
        <p:nvSpPr>
          <p:cNvPr id="3" name="Body"/>
          <p:cNvSpPr txBox="1"/>
          <p:nvPr/>
        </p:nvSpPr>
        <p:spPr>
          <a:xfrm>
            <a:off x="640080" y="1280160"/>
            <a:ext cx="5669280" cy="493776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Every patient with grade III-IV encephalopathy</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Head of bed 30°, neck neutral</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Treat fever, avoid hypoglycemia</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Sodium </a:t>
            </a:r>
            <a:r>
              <a:rPr lang="en-US" sz="1900" b="1" dirty="0">
                <a:solidFill>
                  <a:srgbClr val="000000"/>
                </a:solidFill>
                <a:latin typeface="Georgia" pitchFamily="34" charset="0"/>
                <a:ea typeface="Georgia" pitchFamily="34" charset="-122"/>
                <a:cs typeface="Georgia" pitchFamily="34" charset="-120"/>
              </a:rPr>
              <a:t>145 to 155 mmol/L</a:t>
            </a:r>
            <a:r>
              <a:rPr lang="en-US" sz="1900" dirty="0">
                <a:solidFill>
                  <a:srgbClr val="000000"/>
                </a:solidFill>
                <a:latin typeface="Georgia" pitchFamily="34" charset="0"/>
                <a:ea typeface="Georgia" pitchFamily="34" charset="-122"/>
                <a:cs typeface="Georgia" pitchFamily="34" charset="-120"/>
              </a:rPr>
              <a:t> with hypertonic saline (use your center's protocol)</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Avoid fluid overload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Treat seizures, EEG if in doubt. No routine prophylaxis</a:t>
            </a:r>
            <a:endParaRPr lang="en-US" sz="1900" dirty="0"/>
          </a:p>
        </p:txBody>
      </p:sp>
      <p:sp>
        <p:nvSpPr>
          <p:cNvPr id="4" name="Body"/>
          <p:cNvSpPr txBox="1"/>
          <p:nvPr/>
        </p:nvSpPr>
        <p:spPr>
          <a:xfrm>
            <a:off x="6400800" y="1280160"/>
            <a:ext cx="5212080" cy="493776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Surge: new hypertension, bradycardia, pupils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Hyperosmolar bolus (hypertonic saline or mannitol)</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Brief hyperventilation as a bridge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Call the transplant team now</a:t>
            </a:r>
            <a:endParaRPr lang="en-US" sz="1900" dirty="0"/>
          </a:p>
          <a:p>
            <a:pPr indent="0" marL="0">
              <a:spcBef>
                <a:spcPts val="1800"/>
              </a:spcBef>
              <a:buNone/>
            </a:pPr>
            <a:r>
              <a:rPr lang="en-US" sz="1900" b="1" dirty="0">
                <a:solidFill>
                  <a:srgbClr val="000000"/>
                </a:solidFill>
                <a:latin typeface="Georgia" pitchFamily="34" charset="0"/>
                <a:ea typeface="Georgia" pitchFamily="34" charset="-122"/>
                <a:cs typeface="Georgia" pitchFamily="34" charset="-120"/>
              </a:rPr>
              <a:t>Things to know</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 normal head CT does not exclude raised ICP</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ICP monitors are not routine; SCCM suggests against (very low certainty)</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2023 [PMID: 37052436]; update 2022 [PMID: 36001996]; practical update 2024 [PMID: 39170946]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creatinine is only 1.3</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Ammonia 182 → 214 μmol/L, grade III, urine output 15 mL/h</a:t>
            </a:r>
            <a:endParaRPr lang="en-US" sz="20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Do you wait for a conventional dialysis indication?</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creatinine is only 1.3</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Ammonia 182 → 214 μmol/L, grade III, urine output 15 mL/h</a:t>
            </a:r>
            <a:endParaRPr lang="en-US" sz="2000" dirty="0"/>
          </a:p>
        </p:txBody>
      </p:sp>
      <p:sp>
        <p:nvSpPr>
          <p:cNvPr id="4" name="Question"/>
          <p:cNvSpPr txBox="1"/>
          <p:nvPr/>
        </p:nvSpPr>
        <p:spPr>
          <a:xfrm>
            <a:off x="822960" y="18288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 In ALF, start CRRT for the ammonia</a:t>
            </a:r>
            <a:endParaRPr lang="en-US" sz="2400" dirty="0"/>
          </a:p>
        </p:txBody>
      </p:sp>
      <p:sp>
        <p:nvSpPr>
          <p:cNvPr id="5" name="Body"/>
          <p:cNvSpPr txBox="1"/>
          <p:nvPr/>
        </p:nvSpPr>
        <p:spPr>
          <a:xfrm>
            <a:off x="822960" y="2560320"/>
            <a:ext cx="10545775" cy="36576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ACG 2023: suggests early CRRT for hyperammonemia with grade II or higher encephalopathy, even without a renal indication (conditional, very low certainty)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Continuous, not intermittent: fewer swings in blood pressure and brain water</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High clearance lowers ammonia</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Set replacement fluid sodium to match your sodium target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Call nephrology tonight, not in the morning</a:t>
            </a:r>
            <a:endParaRPr lang="en-US" sz="20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guideline 2023 [PMID: 37377263]; update 2022 [PMID: 36001996]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graphicFrame>
        <p:nvGraphicFramePr>
          <p:cNvPr id="29" name="Table"/>
          <p:cNvGraphicFramePr>
            <a:graphicFrameLocks noGrp="1"/>
          </p:cNvGraphicFramePr>
          <p:nvPr>
            <p:extLst>
              <p:ext uri="{D42A27DB-BD31-4B8C-83A1-F6EECF244321}">
                <p14:modId xmlns:p14="http://schemas.microsoft.com/office/powerpoint/2010/main" val="1579011935"/>
              </p:ext>
            </p:extLst>
          </p:nvPr>
        </p:nvGraphicFramePr>
        <p:xfrm>
          <a:off x="640080" y="1371600"/>
          <a:ext cx="10911535" cy="914400"/>
        </p:xfrm>
        <a:graphic>
          <a:graphicData uri="http://schemas.openxmlformats.org/drawingml/2006/table">
            <a:tbl>
              <a:tblPr/>
              <a:tblGrid>
                <a:gridCol w="1737360"/>
                <a:gridCol w="4572000"/>
                <a:gridCol w="45994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US ALF Study Group cohort (2018)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Pilot RCT (2026)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Design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Large registry, observational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Open label, ALF with cerebral edema; both arms got plasma exchange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Comparison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vs no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within 12 hours vs CRRT only if plasma exchange failed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9728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Finding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linked to lower ammonia and better 21-day transplant-free survival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Fewer deaths in the first 7 days (2.2% vs 17.8%); 28-day survival similar by intention to treat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Catch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Association. Sicker or healthier patients may have been picked for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Small, single setting, many protocol violations (55.6% vs 13.3%)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 [PMID: 28859230]; Aliment Pharmacol Ther 2026 [PMID: 42332991]</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the enzymes are falling</a:t>
            </a:r>
            <a:endParaRPr lang="en-US" sz="3000" dirty="0"/>
          </a:p>
        </p:txBody>
      </p:sp>
      <p:graphicFrame>
        <p:nvGraphicFramePr>
          <p:cNvPr id="3" name="Chart 0" descr=""/>
          <p:cNvGraphicFramePr/>
          <p:nvPr/>
        </p:nvGraphicFramePr>
        <p:xfrm>
          <a:off x="548640" y="1234440"/>
          <a:ext cx="5486400" cy="4206240"/>
        </p:xfrm>
        <a:graphic xmlns:a="http://schemas.openxmlformats.org/drawingml/2006/main">
          <a:graphicData uri="http://schemas.openxmlformats.org/drawingml/2006/chart">
            <c:chart xmlns:c="http://schemas.openxmlformats.org/drawingml/2006/chart" r:id="rId1"/>
          </a:graphicData>
        </a:graphic>
      </p:graphicFrame>
      <p:sp>
        <p:nvSpPr>
          <p:cNvPr id="4" name="Question"/>
          <p:cNvSpPr txBox="1"/>
          <p:nvPr/>
        </p:nvSpPr>
        <p:spPr>
          <a:xfrm>
            <a:off x="6583680" y="2743200"/>
            <a:ext cx="4937760" cy="91440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Is she getting better?</a:t>
            </a:r>
            <a:endParaRPr lang="en-US" sz="3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the enzymes are falling</a:t>
            </a:r>
            <a:endParaRPr lang="en-US" sz="3000" dirty="0"/>
          </a:p>
        </p:txBody>
      </p:sp>
      <p:graphicFrame>
        <p:nvGraphicFramePr>
          <p:cNvPr id="3" name="Chart 0" descr=""/>
          <p:cNvGraphicFramePr/>
          <p:nvPr/>
        </p:nvGraphicFramePr>
        <p:xfrm>
          <a:off x="548640" y="1234440"/>
          <a:ext cx="5486400" cy="420624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6217920" y="1234440"/>
          <a:ext cx="5486400" cy="4206240"/>
        </p:xfrm>
        <a:graphic xmlns:a="http://schemas.openxmlformats.org/drawingml/2006/main">
          <a:graphicData uri="http://schemas.openxmlformats.org/drawingml/2006/chart">
            <c:chart xmlns:c="http://schemas.openxmlformats.org/drawingml/2006/chart" r:id="rId2"/>
          </a:graphicData>
        </a:graphic>
      </p:graphicFrame>
      <p:sp>
        <p:nvSpPr>
          <p:cNvPr id="5" name="Question"/>
          <p:cNvSpPr txBox="1"/>
          <p:nvPr/>
        </p:nvSpPr>
        <p:spPr>
          <a:xfrm>
            <a:off x="822960" y="55778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 Rising INR and lactate mean loss of liver mass</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correct this INR?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INR 5.6, platelets 88. She needs a dialysis catheter</a:t>
            </a:r>
            <a:endParaRPr lang="en-US" sz="20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 units of FFP first?</a:t>
            </a:r>
            <a:endParaRPr lang="en-US" sz="3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correct this INR?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INR 5.6, platelets 88. She needs a dialysis catheter</a:t>
            </a:r>
            <a:endParaRPr lang="en-US" sz="2000" dirty="0"/>
          </a:p>
        </p:txBody>
      </p:sp>
      <p:sp>
        <p:nvSpPr>
          <p:cNvPr id="4" name="Body"/>
          <p:cNvSpPr txBox="1"/>
          <p:nvPr/>
        </p:nvSpPr>
        <p:spPr>
          <a:xfrm>
            <a:off x="822960" y="1783080"/>
            <a:ext cx="10545775" cy="4480560"/>
          </a:xfrm>
          <a:prstGeom prst="rect">
            <a:avLst/>
          </a:prstGeom>
          <a:noFill/>
          <a:ln/>
        </p:spPr>
        <p:txBody>
          <a:bodyPr wrap="square" lIns="50800" tIns="50800" rIns="50800" bIns="50800" rtlCol="0" anchor="t"/>
          <a:lstStyle/>
          <a:p>
            <a:pPr marL="228600" indent="-228600">
              <a:spcBef>
                <a:spcPts val="800"/>
              </a:spcBef>
              <a:buSzPct val="100000"/>
              <a:buChar char="–"/>
            </a:pPr>
            <a:r>
              <a:rPr lang="en-US" sz="1900" b="1" dirty="0">
                <a:solidFill>
                  <a:srgbClr val="000000"/>
                </a:solidFill>
                <a:highlight>
                  <a:srgbClr val="FFFF00"/>
                </a:highlight>
                <a:latin typeface="Georgia" pitchFamily="34" charset="0"/>
                <a:ea typeface="Georgia" pitchFamily="34" charset="-122"/>
                <a:cs typeface="Georgia" pitchFamily="34" charset="-120"/>
              </a:rPr>
              <a:t>No plasma just to fix the number</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The INR sees only the procoagulant side. Protein C and S are low too, factor VIII and von Willebrand factor are high. Most patients are rebalanced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Plasma adds volume (lungs, brain) and erases the INR trend that prognosis and listing rely on</a:t>
            </a:r>
            <a:endParaRPr lang="en-US" sz="1900" dirty="0"/>
          </a:p>
          <a:p>
            <a:pPr indent="0" marL="0">
              <a:spcBef>
                <a:spcPts val="1400"/>
              </a:spcBef>
              <a:buNone/>
            </a:pPr>
            <a:r>
              <a:rPr lang="en-US" sz="1900" b="1" dirty="0">
                <a:solidFill>
                  <a:srgbClr val="000000"/>
                </a:solidFill>
                <a:latin typeface="Georgia" pitchFamily="34" charset="0"/>
                <a:ea typeface="Georgia" pitchFamily="34" charset="-122"/>
                <a:cs typeface="Georgia" pitchFamily="34" charset="-120"/>
              </a:rPr>
              <a:t>What to do instead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Ultrasound-guided line, experienced operator, compressible site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Vitamin K once; check fibrinogen and platelets; viscoelastic testing if available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Treat bleeding. Plan high-risk procedures (like an ICP monitor) separately</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SCCM 2020 [PMID: 32058387]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call transplant hepatology?</a:t>
            </a:r>
            <a:endParaRPr lang="en-US" sz="3000" dirty="0"/>
          </a:p>
        </p:txBody>
      </p:sp>
      <p:sp>
        <p:nvSpPr>
          <p:cNvPr id="3" name="Question"/>
          <p:cNvSpPr txBox="1"/>
          <p:nvPr/>
        </p:nvSpPr>
        <p:spPr>
          <a:xfrm>
            <a:off x="822960" y="237744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When she meets King's College criteria?</a:t>
            </a:r>
            <a:endParaRPr lang="en-US" sz="2800" dirty="0"/>
          </a:p>
        </p:txBody>
      </p:sp>
      <p:sp>
        <p:nvSpPr>
          <p:cNvPr id="4"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When MELD is high enough?</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call transplant hepatology?</a:t>
            </a:r>
            <a:endParaRPr lang="en-US" sz="3000" dirty="0"/>
          </a:p>
        </p:txBody>
      </p:sp>
      <p:sp>
        <p:nvSpPr>
          <p:cNvPr id="3" name="Question"/>
          <p:cNvSpPr txBox="1"/>
          <p:nvPr/>
        </p:nvSpPr>
        <p:spPr>
          <a:xfrm>
            <a:off x="822960" y="12344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You already called. When you first suspected ALF</a:t>
            </a:r>
            <a:endParaRPr lang="en-US" sz="2400" dirty="0"/>
          </a:p>
        </p:txBody>
      </p:sp>
      <p:graphicFrame>
        <p:nvGraphicFramePr>
          <p:cNvPr id="35" name="Table"/>
          <p:cNvGraphicFramePr>
            <a:graphicFrameLocks noGrp="1"/>
          </p:cNvGraphicFramePr>
          <p:nvPr>
            <p:extLst>
              <p:ext uri="{D42A27DB-BD31-4B8C-83A1-F6EECF244321}">
                <p14:modId xmlns:p14="http://schemas.microsoft.com/office/powerpoint/2010/main" val="1579011935"/>
              </p:ext>
            </p:extLst>
          </p:nvPr>
        </p:nvGraphicFramePr>
        <p:xfrm>
          <a:off x="1097280" y="1874520"/>
          <a:ext cx="9997135" cy="914400"/>
        </p:xfrm>
        <a:graphic>
          <a:graphicData uri="http://schemas.openxmlformats.org/drawingml/2006/table">
            <a:tbl>
              <a:tblPr/>
              <a:tblGrid>
                <a:gridCol w="5001768"/>
                <a:gridCol w="5001768"/>
              </a:tblGrid>
              <a:tr h="41148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Acetaminophen</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Not acetaminophen</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3774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Arterial pH &lt; 7.30 after fluids</a:t>
                      </a:r>
                      <a:endParaRPr lang="en-US" sz="1700" dirty="0">
                        <a:latin typeface="Calibri" charset="0"/>
                        <a:ea typeface="Calibri" charset="0"/>
                        <a:cs typeface="Calibri" charset="0"/>
                      </a:endParaRPr>
                    </a:p>
                    <a:p>
                      <a:pPr algn="l" indent="0" marL="0">
                        <a:buNone/>
                      </a:pPr>
                      <a:r>
                        <a:rPr lang="en-US" sz="1700" i="1" dirty="0">
                          <a:solidFill>
                            <a:srgbClr val="000000"/>
                          </a:solidFill>
                          <a:latin typeface="Calibri" pitchFamily="34" charset="0"/>
                          <a:ea typeface="Calibri" pitchFamily="34" charset="-122"/>
                          <a:cs typeface="Calibri" pitchFamily="34" charset="-120"/>
                        </a:rPr>
                        <a:t>or all three within 24 hours:</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INR &gt; 6.5</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Creatinine &gt; 3.4 mg/dL</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Grade III-IV encephalopathy</a:t>
                      </a:r>
                      <a:endParaRPr lang="en-US" sz="1700" dirty="0">
                        <a:latin typeface="Calibri" charset="0"/>
                        <a:ea typeface="Calibri" charset="0"/>
                        <a:cs typeface="Calibri" charset="0"/>
                      </a:endParaRPr>
                    </a:p>
                    <a:p>
                      <a:pPr algn="l" indent="0" marL="0">
                        <a:buNone/>
                      </a:pPr>
                      <a:r>
                        <a:rPr lang="en-US" sz="1400" i="1" dirty="0">
                          <a:solidFill>
                            <a:srgbClr val="000000"/>
                          </a:solidFill>
                          <a:latin typeface="Calibri" pitchFamily="34" charset="0"/>
                          <a:ea typeface="Calibri" pitchFamily="34" charset="-122"/>
                          <a:cs typeface="Calibri" pitchFamily="34" charset="-120"/>
                        </a:rPr>
                        <a:t>(Modified: lactate &gt; 3.5 at 4 h or &gt; 3.0 at 12 h after fluids)</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INR &gt; 6.5</a:t>
                      </a:r>
                      <a:endParaRPr lang="en-US" sz="1700" dirty="0">
                        <a:latin typeface="Calibri" charset="0"/>
                        <a:ea typeface="Calibri" charset="0"/>
                        <a:cs typeface="Calibri" charset="0"/>
                      </a:endParaRPr>
                    </a:p>
                    <a:p>
                      <a:pPr algn="l" indent="0" marL="0">
                        <a:buNone/>
                      </a:pPr>
                      <a:r>
                        <a:rPr lang="en-US" sz="1700" i="1" dirty="0">
                          <a:solidFill>
                            <a:srgbClr val="000000"/>
                          </a:solidFill>
                          <a:latin typeface="Calibri" pitchFamily="34" charset="0"/>
                          <a:ea typeface="Calibri" pitchFamily="34" charset="-122"/>
                          <a:cs typeface="Calibri" pitchFamily="34" charset="-120"/>
                        </a:rPr>
                        <a:t>or any three of:</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Age &lt; 10 or &gt; 40</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Drug reaction, or indeterminate cause</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Jaundice to encephalopathy &gt; 7 days</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INR &gt; 3.5</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Bilirubin &gt; 17.5 mg/dL</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Body"/>
          <p:cNvSpPr txBox="1"/>
          <p:nvPr/>
        </p:nvSpPr>
        <p:spPr>
          <a:xfrm>
            <a:off x="822960" y="4800600"/>
            <a:ext cx="10545775" cy="73152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These predict death without transplant. They are not a referral threshold. Patient A: pH 7.26 on day 2</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O'Grady 1989 criteria, as summarized in EASL 2017 [PMID: 28417882] and update 2022 [PMID: 36001996]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graphicFrame>
        <p:nvGraphicFramePr>
          <p:cNvPr id="36" name="Table"/>
          <p:cNvGraphicFramePr>
            <a:graphicFrameLocks noGrp="1"/>
          </p:cNvGraphicFramePr>
          <p:nvPr>
            <p:extLst>
              <p:ext uri="{D42A27DB-BD31-4B8C-83A1-F6EECF244321}">
                <p14:modId xmlns:p14="http://schemas.microsoft.com/office/powerpoint/2010/main" val="1579011935"/>
              </p:ext>
            </p:extLst>
          </p:nvPr>
        </p:nvGraphicFramePr>
        <p:xfrm>
          <a:off x="822960" y="1463040"/>
          <a:ext cx="10545775" cy="914400"/>
        </p:xfrm>
        <a:graphic>
          <a:graphicData uri="http://schemas.openxmlformats.org/drawingml/2006/table">
            <a:tbl>
              <a:tblPr/>
              <a:tblGrid>
                <a:gridCol w="2560320"/>
                <a:gridCol w="7982712"/>
              </a:tblGrid>
              <a:tr h="9144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Study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Open randomized trial, ALF, high-volume plasma exchange for 3 days vs standard care, 182 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Main finding</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Hospital survival 58.7% vs 47.8% (HR 0.56); best in patients who were not transplanted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What it doesn't show</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Not blinded; one regimen in one population. Says nothing about ACLF or about albumin dialysis devices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So</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 bridge to discuss with transplant hepatology. Not a reason to delay listing</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 [PMID: 26325537]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Patient A: what decides the next 24 hours?</a:t>
            </a:r>
            <a:endParaRPr lang="en-US" sz="3000" dirty="0"/>
          </a:p>
        </p:txBody>
      </p:sp>
      <p:sp>
        <p:nvSpPr>
          <p:cNvPr id="3" name="Body"/>
          <p:cNvSpPr txBox="1"/>
          <p:nvPr/>
        </p:nvSpPr>
        <p:spPr>
          <a:xfrm>
            <a:off x="822960" y="1325880"/>
            <a:ext cx="10545775"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Is she listed, and how urgently?</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Pupils and the neuro exam, ammonia on CRRT, sodium on target</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Vasopressor dose and lactate trend</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New infection</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Anything that would close the transplant window: fixed dilated pupils, uncontrolled sepsis, rising support despite everything</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56-year-old man with cirrhosis and fever</a:t>
            </a:r>
            <a:endParaRPr lang="en-US" sz="3000" dirty="0"/>
          </a:p>
        </p:txBody>
      </p:sp>
      <p:sp>
        <p:nvSpPr>
          <p:cNvPr id="3" name="Body"/>
          <p:cNvSpPr txBox="1"/>
          <p:nvPr/>
        </p:nvSpPr>
        <p:spPr>
          <a:xfrm>
            <a:off x="640080" y="1371600"/>
            <a:ext cx="5852160" cy="3383280"/>
          </a:xfrm>
          <a:prstGeom prst="rect">
            <a:avLst/>
          </a:prstGeom>
          <a:noFill/>
          <a:ln/>
        </p:spPr>
        <p:txBody>
          <a:bodyPr wrap="square" lIns="50800" tIns="50800" rIns="50800" bIns="50800" rtlCol="0" anchor="t"/>
          <a:lstStyle/>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Alcohol-related cirrhosis, ascites on diuretics; last drink 3 weeks ago</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Temp 38.4 °C, HR 112, BP 82/46</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RR 26, SpO2 92% on 4 L</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Confused, asterixis (grade II)</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Urine output 15 mL/h</a:t>
            </a:r>
            <a:endParaRPr lang="en-US" sz="1900" dirty="0"/>
          </a:p>
        </p:txBody>
      </p:sp>
      <p:graphicFrame>
        <p:nvGraphicFramePr>
          <p:cNvPr id="38" name="Table"/>
          <p:cNvGraphicFramePr>
            <a:graphicFrameLocks noGrp="1"/>
          </p:cNvGraphicFramePr>
          <p:nvPr>
            <p:extLst>
              <p:ext uri="{D42A27DB-BD31-4B8C-83A1-F6EECF244321}">
                <p14:modId xmlns:p14="http://schemas.microsoft.com/office/powerpoint/2010/main" val="1579011935"/>
              </p:ext>
            </p:extLst>
          </p:nvPr>
        </p:nvGraphicFramePr>
        <p:xfrm>
          <a:off x="6766560" y="1371600"/>
          <a:ext cx="4846320" cy="914400"/>
        </p:xfrm>
        <a:graphic>
          <a:graphicData uri="http://schemas.openxmlformats.org/drawingml/2006/table">
            <a:tbl>
              <a:tblPr/>
              <a:tblGrid>
                <a:gridCol w="2286000"/>
                <a:gridCol w="1280160"/>
                <a:gridCol w="1280160"/>
              </a:tblGrid>
              <a:tr h="384048">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Now</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Baseline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5.8</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0.9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Sodium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127</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133</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WBC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16,200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Platelets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62,000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Lactate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3.9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just decompensated cirrhosis?</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56-year-old man with cirrhosis and fever</a:t>
            </a:r>
            <a:endParaRPr lang="en-US" sz="3000" dirty="0"/>
          </a:p>
        </p:txBody>
      </p:sp>
      <p:sp>
        <p:nvSpPr>
          <p:cNvPr id="3" name="Body"/>
          <p:cNvSpPr txBox="1"/>
          <p:nvPr/>
        </p:nvSpPr>
        <p:spPr>
          <a:xfrm>
            <a:off x="640080" y="1371600"/>
            <a:ext cx="5852160" cy="3383280"/>
          </a:xfrm>
          <a:prstGeom prst="rect">
            <a:avLst/>
          </a:prstGeom>
          <a:noFill/>
          <a:ln/>
        </p:spPr>
        <p:txBody>
          <a:bodyPr wrap="square" lIns="50800" tIns="50800" rIns="50800" bIns="50800" rtlCol="0" anchor="t"/>
          <a:lstStyle/>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Alcohol-related cirrhosis, ascites on diuretics; last drink 3 weeks ago</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Temp 38.4 °C, HR 112, BP 82/46</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RR 26, SpO2 92% on 4 L</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Confused, asterixis (grade II)</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Urine output 15 mL/h</a:t>
            </a:r>
            <a:endParaRPr lang="en-US" sz="1900" dirty="0"/>
          </a:p>
        </p:txBody>
      </p:sp>
      <p:graphicFrame>
        <p:nvGraphicFramePr>
          <p:cNvPr id="39" name="Table"/>
          <p:cNvGraphicFramePr>
            <a:graphicFrameLocks noGrp="1"/>
          </p:cNvGraphicFramePr>
          <p:nvPr>
            <p:extLst>
              <p:ext uri="{D42A27DB-BD31-4B8C-83A1-F6EECF244321}">
                <p14:modId xmlns:p14="http://schemas.microsoft.com/office/powerpoint/2010/main" val="1579011935"/>
              </p:ext>
            </p:extLst>
          </p:nvPr>
        </p:nvGraphicFramePr>
        <p:xfrm>
          <a:off x="6766560" y="1371600"/>
          <a:ext cx="4846320" cy="914400"/>
        </p:xfrm>
        <a:graphic>
          <a:graphicData uri="http://schemas.openxmlformats.org/drawingml/2006/table">
            <a:tbl>
              <a:tblPr/>
              <a:tblGrid>
                <a:gridCol w="2286000"/>
                <a:gridCol w="1280160"/>
                <a:gridCol w="1280160"/>
              </a:tblGrid>
              <a:tr h="384048">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Now</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Baseline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5.8</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0.9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Sodium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127</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133</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WBC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16,200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Platelets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62,000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Lactate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3.9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8463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Is this just decompensated cirrhosis?</a:t>
            </a:r>
            <a:endParaRPr lang="en-US" sz="2200" dirty="0"/>
          </a:p>
        </p:txBody>
      </p:sp>
      <p:sp>
        <p:nvSpPr>
          <p:cNvPr id="6" name="Question"/>
          <p:cNvSpPr txBox="1"/>
          <p:nvPr/>
        </p:nvSpPr>
        <p:spPr>
          <a:xfrm>
            <a:off x="822960" y="54406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What would make it ACLF? Count the failing organs</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ICU, different disease</a:t>
            </a:r>
            <a:endParaRPr lang="en-US" sz="3000" dirty="0"/>
          </a:p>
        </p:txBody>
      </p:sp>
      <p:graphicFrame>
        <p:nvGraphicFramePr>
          <p:cNvPr id="40"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2011680"/>
                <a:gridCol w="2926080"/>
                <a:gridCol w="2926080"/>
                <a:gridCol w="32278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liver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decompensation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Liver before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 cirrhosis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 (or chronic liver disease, depending on definition)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defines it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INR ≥ 1.5 + 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Ascites, bleeding, encephalopathy, jaundice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Decompensation + organ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usually kills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Brain, multiorgan failure, sepsis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Usually not this admission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Infection, shock, multiorgan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ICU focus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Brain, ammonia, early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Treat the trigger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Source control, shock, kidney vs lung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Transplant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Urgent listing pathway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Routine evaluation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Narrow window; reassess daily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2017 [PMID: 28417882]; EASL ACLF 2023 [PMID: 37364789]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Count the failing organs</a:t>
            </a:r>
            <a:endParaRPr lang="en-US" sz="3000" dirty="0"/>
          </a:p>
        </p:txBody>
      </p:sp>
      <p:graphicFrame>
        <p:nvGraphicFramePr>
          <p:cNvPr id="41"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8229600" cy="914400"/>
        </p:xfrm>
        <a:graphic>
          <a:graphicData uri="http://schemas.openxmlformats.org/drawingml/2006/table">
            <a:tbl>
              <a:tblPr/>
              <a:tblGrid>
                <a:gridCol w="2103120"/>
                <a:gridCol w="6126480"/>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Organ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Failure (EASL-CLIF)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Liver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Bilirubin ≥ 12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Kidney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 2.0 mg/dL or on 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Brain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Encephalopathy grade III-IV</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Coagulation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INR ≥ 2.5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Circulation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Vasopressors (or terlipressin)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Lungs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PaO2/FiO2 ≤ 200, SpO2/FiO2 ≤ 214, or ventilated (not for encephalopathy)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CLIF-C organ failure score, EASL ACLF 2023 [PMID: 37364789]; CANONIC [PMID: 23474284]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Count the failing organs</a:t>
            </a:r>
            <a:endParaRPr lang="en-US" sz="3000" dirty="0"/>
          </a:p>
        </p:txBody>
      </p:sp>
      <p:graphicFrame>
        <p:nvGraphicFramePr>
          <p:cNvPr id="42"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1828800"/>
                <a:gridCol w="5669280"/>
                <a:gridCol w="3410712"/>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Organ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Failure (EASL-CLIF)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Patient B</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Liver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Bilirubin ≥ 12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5.8: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Kidney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 2.0 mg/dL or on 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highlight>
                            <a:srgbClr val="FFFF00"/>
                          </a:highlight>
                          <a:latin typeface="Calibri" pitchFamily="34" charset="0"/>
                          <a:ea typeface="Calibri" pitchFamily="34" charset="-122"/>
                          <a:cs typeface="Calibri" pitchFamily="34" charset="-120"/>
                        </a:rPr>
                        <a:t>2.6: yes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Brain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Encephalopathy grade III-IV</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Grade II: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Coagulation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INR ≥ 2.5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2.1: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Circulation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Vasopressors (or terlipressin)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highlight>
                            <a:srgbClr val="FFFF00"/>
                          </a:highlight>
                          <a:latin typeface="Calibri" pitchFamily="34" charset="0"/>
                          <a:ea typeface="Calibri" pitchFamily="34" charset="-122"/>
                          <a:cs typeface="Calibri" pitchFamily="34" charset="-120"/>
                        </a:rPr>
                        <a:t>Norepinephrine: yes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Lungs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PaO2/FiO2 ≤ 200, SpO2/FiO2 ≤ 214, or ventilated (not for encephalopathy)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SpO2/FiO2 about 255: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48640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Two organ failures: ACLF grade 2</a:t>
            </a:r>
            <a:endParaRPr lang="en-US" sz="2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CLIF-C organ failure score, EASL ACLF 2023 [PMID: 37364789]; CANONIC [PMID: 23474284]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ACLF grades</a:t>
            </a:r>
            <a:endParaRPr lang="en-US" sz="3000" dirty="0"/>
          </a:p>
        </p:txBody>
      </p:sp>
      <p:graphicFrame>
        <p:nvGraphicFramePr>
          <p:cNvPr id="43" name="Table"/>
          <p:cNvGraphicFramePr>
            <a:graphicFrameLocks noGrp="1"/>
          </p:cNvGraphicFramePr>
          <p:nvPr>
            <p:extLst>
              <p:ext uri="{D42A27DB-BD31-4B8C-83A1-F6EECF244321}">
                <p14:modId xmlns:p14="http://schemas.microsoft.com/office/powerpoint/2010/main" val="1579011935"/>
              </p:ext>
            </p:extLst>
          </p:nvPr>
        </p:nvGraphicFramePr>
        <p:xfrm>
          <a:off x="640080" y="1371600"/>
          <a:ext cx="10911535" cy="914400"/>
        </p:xfrm>
        <a:graphic>
          <a:graphicData uri="http://schemas.openxmlformats.org/drawingml/2006/table">
            <a:tbl>
              <a:tblPr/>
              <a:tblGrid>
                <a:gridCol w="1737360"/>
                <a:gridCol w="6309360"/>
                <a:gridCol w="2862072"/>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Grade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What it takes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28-day mortality (CANONIC)</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9144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 ACLF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 organ failure, or one non-kidney failure with creatinine &lt; 1.5 and no encephalopathy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About 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5156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ACLF 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Kidney failure alone; or one other organ failure plus creatinine 1.5 to 1.9 and/or grade I-II encephalopathy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About 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ACLF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Two organ failures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About 32%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ACLF 3</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Three or more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More than 75%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521208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Population numbers from a 2013 cohort. They describe groups, not your patient</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Moreau R et al. Gastroenterology 2013 [PMID: 23474284]; EASL ACLF 2023 [PMID: 37364789]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ACLF?</a:t>
            </a:r>
            <a:endParaRPr lang="en-US" sz="3000" dirty="0"/>
          </a:p>
        </p:txBody>
      </p:sp>
      <p:graphicFrame>
        <p:nvGraphicFramePr>
          <p:cNvPr id="44"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1645920"/>
                <a:gridCol w="3108960"/>
                <a:gridCol w="3291840"/>
                <a:gridCol w="304495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EASL-CLIF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NACSELD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APASL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Who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 with acute decompensation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 hospitalized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Chronic liver disease, with or without cirrhosis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28016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Defined by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Organ failures (CLIF-C)</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Two or more extrahepatic failures: shock, grade III-IV HE, dialysis, ventilation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Jaundice (bilirubin ≥ 5) and INR ≥ 1.5, then ascites or HE within 4 weeks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Picks up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Broader, earlier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Sicker patients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 primary liver insult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They find different patients. Say which one you're using</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Kyoto consensus 2025 [PMID: 39961976]; ACG ACLF 2022 [PMID: 35006099]; AASLD 2024 [PMID: 37939273]</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tipped him over?</a:t>
            </a:r>
            <a:endParaRPr lang="en-US" sz="3000" dirty="0"/>
          </a:p>
        </p:txBody>
      </p:sp>
      <p:sp>
        <p:nvSpPr>
          <p:cNvPr id="3" name="Question"/>
          <p:cNvSpPr txBox="1"/>
          <p:nvPr/>
        </p:nvSpPr>
        <p:spPr>
          <a:xfrm>
            <a:off x="822960" y="274320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INR 2.1, platelets 62,000. Do you tap him?</a:t>
            </a:r>
            <a:endParaRPr lang="en-US" sz="3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tipped him over?</a:t>
            </a:r>
            <a:endParaRPr lang="en-US" sz="3000" dirty="0"/>
          </a:p>
        </p:txBody>
      </p:sp>
      <p:sp>
        <p:nvSpPr>
          <p:cNvPr id="3" name="Body"/>
          <p:cNvSpPr txBox="1"/>
          <p:nvPr/>
        </p:nvSpPr>
        <p:spPr>
          <a:xfrm>
            <a:off x="822960" y="1325880"/>
            <a:ext cx="10545775"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Yes, now. </a:t>
            </a:r>
            <a:r>
              <a:rPr lang="en-US" sz="2000" b="1" dirty="0">
                <a:solidFill>
                  <a:srgbClr val="000000"/>
                </a:solidFill>
                <a:highlight>
                  <a:srgbClr val="FFFF00"/>
                </a:highlight>
                <a:latin typeface="Georgia" pitchFamily="34" charset="0"/>
                <a:ea typeface="Georgia" pitchFamily="34" charset="-122"/>
                <a:cs typeface="Georgia" pitchFamily="34" charset="-120"/>
              </a:rPr>
              <a:t>No plasma, no platelets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Ascitic fluid: </a:t>
            </a:r>
            <a:r>
              <a:rPr lang="en-US" sz="2000" b="1" dirty="0">
                <a:solidFill>
                  <a:srgbClr val="C00000"/>
                </a:solidFill>
                <a:latin typeface="Georgia" pitchFamily="34" charset="0"/>
                <a:ea typeface="Georgia" pitchFamily="34" charset="-122"/>
                <a:cs typeface="Georgia" pitchFamily="34" charset="-120"/>
              </a:rPr>
              <a:t>PMN 1,240/mm³</a:t>
            </a:r>
            <a:r>
              <a:rPr lang="en-US" sz="2000" dirty="0">
                <a:solidFill>
                  <a:srgbClr val="000000"/>
                </a:solidFill>
                <a:latin typeface="Georgia" pitchFamily="34" charset="0"/>
                <a:ea typeface="Georgia" pitchFamily="34" charset="-122"/>
                <a:cs typeface="Georgia" pitchFamily="34" charset="-120"/>
              </a:rPr>
              <a:t>. Spontaneous bacterial peritonitis</a:t>
            </a:r>
            <a:endParaRPr lang="en-US" sz="2000" dirty="0"/>
          </a:p>
          <a:p>
            <a:pPr indent="0" marL="0">
              <a:spcBef>
                <a:spcPts val="1800"/>
              </a:spcBef>
              <a:buNone/>
            </a:pPr>
            <a:r>
              <a:rPr lang="en-US" sz="2000" b="1" dirty="0">
                <a:solidFill>
                  <a:srgbClr val="000000"/>
                </a:solidFill>
                <a:latin typeface="Georgia" pitchFamily="34" charset="0"/>
                <a:ea typeface="Georgia" pitchFamily="34" charset="-122"/>
                <a:cs typeface="Georgia" pitchFamily="34" charset="-120"/>
              </a:rPr>
              <a:t>Look for the trigger, every time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Infection: SBP, pneumonia, urine, lines, C. difficile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Alcohol-associated hepatitis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GI bleeding</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Drugs: NSAIDs, sedatives, too much diuretic</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HBV flare, ischemia</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Sometimes nothing is found. Keep looking</a:t>
            </a:r>
            <a:endParaRPr lang="en-US" sz="2000" dirty="0"/>
          </a:p>
        </p:txBody>
      </p:sp>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ACLF 2023 [PMID: 37364789]; SCCM 2023 [PMID: 37052436]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is he hypotensive?</a:t>
            </a:r>
            <a:endParaRPr lang="en-US" sz="3000" dirty="0"/>
          </a:p>
        </p:txBody>
      </p:sp>
      <p:graphicFrame>
        <p:nvGraphicFramePr>
          <p:cNvPr id="47"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10728655" cy="914400"/>
        </p:xfrm>
        <a:graphic>
          <a:graphicData uri="http://schemas.openxmlformats.org/drawingml/2006/table">
            <a:tbl>
              <a:tblPr/>
              <a:tblGrid>
                <a:gridCol w="3657600"/>
                <a:gridCol w="7068312"/>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Mechanism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What you do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Sepsis (SBP)</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Cultures, antibiotics in the first hour, source control. Cover for prior exposure and local resistance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Splanchnic vasodilation of cirrhosis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Start at MAP 65 and adjust to perfusion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Too little volume, or too much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 and dynamic measures. Edema does not mean the vessels are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Hidden bleeding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Hemoglobin, rectal exam, think varices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Relative adrenal insufficiency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Hydrocortisone if shock is refractory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Cirrhotic cardiomyopathy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Echo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62356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Usually more than one of these</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Surviving Sepsis 2026 [PMID: 41869847]; SCCM 2020 [PMID: 32058387]; EASL ACLF 2023 [PMID: 37364789]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Evening: creatinine 3.0, urine 10 mL/h, still on norepinephrine</a:t>
            </a:r>
            <a:endParaRPr lang="en-US" sz="19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HRS? Start terlipressin?</a:t>
            </a:r>
            <a:endParaRPr lang="en-US" sz="3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Evening: creatinine 3.0, urine 10 mL/h, still on norepinephrine</a:t>
            </a:r>
            <a:endParaRPr lang="en-US" sz="1900" dirty="0"/>
          </a:p>
        </p:txBody>
      </p:sp>
      <p:graphicFrame>
        <p:nvGraphicFramePr>
          <p:cNvPr id="49" name="Table"/>
          <p:cNvGraphicFramePr>
            <a:graphicFrameLocks noGrp="1"/>
          </p:cNvGraphicFramePr>
          <p:nvPr>
            <p:extLst>
              <p:ext uri="{D42A27DB-BD31-4B8C-83A1-F6EECF244321}">
                <p14:modId xmlns:p14="http://schemas.microsoft.com/office/powerpoint/2010/main" val="1579011935"/>
              </p:ext>
            </p:extLst>
          </p:nvPr>
        </p:nvGraphicFramePr>
        <p:xfrm>
          <a:off x="731520" y="1828800"/>
          <a:ext cx="10728655" cy="914400"/>
        </p:xfrm>
        <a:graphic>
          <a:graphicData uri="http://schemas.openxmlformats.org/drawingml/2006/table">
            <a:tbl>
              <a:tblPr/>
              <a:tblGrid>
                <a:gridCol w="5358384"/>
                <a:gridCol w="5367528"/>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What many of us learned (ICA 2015)</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Now (ADQI-ICA 2024)</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7373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 response after 2 days of diuretic withdrawal and albumin 1 g/kg</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No shock</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No nephrotoxins, no structural kidney disease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Cirrhosis with ascites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AKI by creatinine and/or urine output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No response after at least 24 hours of volume resuscitation, when needed</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No strong alternative explanation as the main cause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846320"/>
            <a:ext cx="10545775" cy="548640"/>
          </a:xfrm>
          <a:prstGeom prst="rect">
            <a:avLst/>
          </a:prstGeom>
          <a:noFill/>
          <a:ln/>
        </p:spPr>
        <p:txBody>
          <a:bodyPr wrap="square" lIns="0" tIns="0" rIns="0" bIns="0" rtlCol="0" anchor="ctr"/>
          <a:lstStyle/>
          <a:p>
            <a:pPr algn="ctr" indent="0" marL="0">
              <a:buNone/>
            </a:pPr>
            <a:r>
              <a:rPr lang="en-US" sz="2100" b="1" dirty="0">
                <a:solidFill>
                  <a:srgbClr val="000000"/>
                </a:solidFill>
                <a:highlight>
                  <a:srgbClr val="FFFF00"/>
                </a:highlight>
                <a:latin typeface="Georgia" pitchFamily="34" charset="0"/>
                <a:ea typeface="Georgia" pitchFamily="34" charset="-122"/>
                <a:cs typeface="Georgia" pitchFamily="34" charset="-120"/>
              </a:rPr>
              <a:t>Septic shock on norepinephrine is a strong alternative. Treat the shock first</a:t>
            </a:r>
            <a:endParaRPr lang="en-US" sz="21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J Hepatol 2024 [PMID: 38527522]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Kidney failure in cirrhosis is usually a mixture</a:t>
            </a:r>
            <a:endParaRPr lang="en-US" sz="3000" dirty="0"/>
          </a:p>
        </p:txBody>
      </p:sp>
      <p:sp>
        <p:nvSpPr>
          <p:cNvPr id="3" name="Body"/>
          <p:cNvSpPr txBox="1"/>
          <p:nvPr/>
        </p:nvSpPr>
        <p:spPr>
          <a:xfrm>
            <a:off x="640080" y="1280160"/>
            <a:ext cx="5303520" cy="4572000"/>
          </a:xfrm>
          <a:prstGeom prst="rect">
            <a:avLst/>
          </a:prstGeom>
          <a:noFill/>
          <a:ln/>
        </p:spPr>
        <p:txBody>
          <a:bodyPr wrap="square" lIns="50800" tIns="50800" rIns="50800" bIns="50800" rtlCol="0" anchor="t"/>
          <a:lstStyle/>
          <a:p>
            <a:pPr indent="0" marL="0">
              <a:spcBef>
                <a:spcPts val="800"/>
              </a:spcBef>
              <a:buNone/>
            </a:pPr>
            <a:r>
              <a:rPr lang="en-US" sz="2000" b="1" dirty="0">
                <a:solidFill>
                  <a:srgbClr val="000000"/>
                </a:solidFill>
                <a:latin typeface="Georgia" pitchFamily="34" charset="0"/>
                <a:ea typeface="Georgia" pitchFamily="34" charset="-122"/>
                <a:cs typeface="Georgia" pitchFamily="34" charset="-120"/>
              </a:rPr>
              <a:t>Possible contributors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Low effective volume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Tubular injury: sepsis, contrast, drugs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HRS physiology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Tense ascites (abdominal compartment)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Congestion</a:t>
            </a:r>
            <a:endParaRPr lang="en-US" sz="2000" dirty="0"/>
          </a:p>
        </p:txBody>
      </p:sp>
      <p:sp>
        <p:nvSpPr>
          <p:cNvPr id="4" name="Body"/>
          <p:cNvSpPr txBox="1"/>
          <p:nvPr/>
        </p:nvSpPr>
        <p:spPr>
          <a:xfrm>
            <a:off x="6217920" y="1280160"/>
            <a:ext cx="5394960" cy="4572000"/>
          </a:xfrm>
          <a:prstGeom prst="rect">
            <a:avLst/>
          </a:prstGeom>
          <a:noFill/>
          <a:ln/>
        </p:spPr>
        <p:txBody>
          <a:bodyPr wrap="square" lIns="50800" tIns="50800" rIns="50800" bIns="50800" rtlCol="0" anchor="t"/>
          <a:lstStyle/>
          <a:p>
            <a:pPr indent="0" marL="0">
              <a:spcBef>
                <a:spcPts val="800"/>
              </a:spcBef>
              <a:buNone/>
            </a:pPr>
            <a:r>
              <a:rPr lang="en-US" sz="2000" b="1" dirty="0">
                <a:solidFill>
                  <a:srgbClr val="000000"/>
                </a:solidFill>
                <a:latin typeface="Georgia" pitchFamily="34" charset="0"/>
                <a:ea typeface="Georgia" pitchFamily="34" charset="-122"/>
                <a:cs typeface="Georgia" pitchFamily="34" charset="-120"/>
              </a:rPr>
              <a:t>Look</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Urinalysis and sediment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Drug list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Ultrasound: kidneys, bladder, IVC, heart, lungs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Bladder pressure if the belly is tight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 low urine sodium is </a:t>
            </a:r>
            <a:r>
              <a:rPr lang="en-US" sz="2000" b="1" dirty="0">
                <a:solidFill>
                  <a:srgbClr val="000000"/>
                </a:solidFill>
                <a:latin typeface="Georgia" pitchFamily="34" charset="0"/>
                <a:ea typeface="Georgia" pitchFamily="34" charset="-122"/>
                <a:cs typeface="Georgia" pitchFamily="34" charset="-120"/>
              </a:rPr>
              <a:t>not</a:t>
            </a:r>
            <a:r>
              <a:rPr lang="en-US" sz="2000" dirty="0">
                <a:solidFill>
                  <a:srgbClr val="000000"/>
                </a:solidFill>
                <a:latin typeface="Georgia" pitchFamily="34" charset="0"/>
                <a:ea typeface="Georgia" pitchFamily="34" charset="-122"/>
                <a:cs typeface="Georgia" pitchFamily="34" charset="-120"/>
              </a:rPr>
              <a:t> proof of HRS</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2024 [PMID: 38527522]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worse kidney, worse lungs</a:t>
            </a:r>
            <a:endParaRPr lang="en-US" sz="3000" dirty="0"/>
          </a:p>
        </p:txBody>
      </p:sp>
      <p:graphicFrame>
        <p:nvGraphicFramePr>
          <p:cNvPr id="51" name="Table"/>
          <p:cNvGraphicFramePr>
            <a:graphicFrameLocks noGrp="1"/>
          </p:cNvGraphicFramePr>
          <p:nvPr>
            <p:extLst>
              <p:ext uri="{D42A27DB-BD31-4B8C-83A1-F6EECF244321}">
                <p14:modId xmlns:p14="http://schemas.microsoft.com/office/powerpoint/2010/main" val="1579011935"/>
              </p:ext>
            </p:extLst>
          </p:nvPr>
        </p:nvGraphicFramePr>
        <p:xfrm>
          <a:off x="1097280" y="1280160"/>
          <a:ext cx="9997135" cy="914400"/>
        </p:xfrm>
        <a:graphic>
          <a:graphicData uri="http://schemas.openxmlformats.org/drawingml/2006/table">
            <a:tbl>
              <a:tblPr/>
              <a:tblGrid>
                <a:gridCol w="2651760"/>
                <a:gridCol w="2743200"/>
                <a:gridCol w="459943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Albumin received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110 g (SBP dose) + 2 L crystalloid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SpO2 92% on 4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SpO2 86% on 6 L, RR 32, crackles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Diffuse B-lines, IVC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15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93776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More albumin? Terlipressin? Something else?</a:t>
            </a:r>
            <a:endParaRPr lang="en-US" sz="26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worse kidney, worse lungs</a:t>
            </a:r>
            <a:endParaRPr lang="en-US" sz="3000" dirty="0"/>
          </a:p>
        </p:txBody>
      </p:sp>
      <p:graphicFrame>
        <p:nvGraphicFramePr>
          <p:cNvPr id="52" name="Table"/>
          <p:cNvGraphicFramePr>
            <a:graphicFrameLocks noGrp="1"/>
          </p:cNvGraphicFramePr>
          <p:nvPr>
            <p:extLst>
              <p:ext uri="{D42A27DB-BD31-4B8C-83A1-F6EECF244321}">
                <p14:modId xmlns:p14="http://schemas.microsoft.com/office/powerpoint/2010/main" val="1579011935"/>
              </p:ext>
            </p:extLst>
          </p:nvPr>
        </p:nvGraphicFramePr>
        <p:xfrm>
          <a:off x="1097280" y="1280160"/>
          <a:ext cx="9997135" cy="914400"/>
        </p:xfrm>
        <a:graphic>
          <a:graphicData uri="http://schemas.openxmlformats.org/drawingml/2006/table">
            <a:tbl>
              <a:tblPr/>
              <a:tblGrid>
                <a:gridCol w="2651760"/>
                <a:gridCol w="2743200"/>
                <a:gridCol w="459943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Albumin received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110 g (SBP dose) + 2 L crystalloid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SpO2 92% on 4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SpO2 86% on 6 L, RR 32, crackles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Diffuse B-lines, IVC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15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7548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First, what are the lungs telling you?</a:t>
            </a:r>
            <a:endParaRPr lang="en-US" sz="2400" dirty="0"/>
          </a:p>
        </p:txBody>
      </p:sp>
      <p:sp>
        <p:nvSpPr>
          <p:cNvPr id="5" name="Question"/>
          <p:cNvSpPr txBox="1"/>
          <p:nvPr/>
        </p:nvSpPr>
        <p:spPr>
          <a:xfrm>
            <a:off x="822960" y="539496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Now on high-flow, FiO2 0.6, SpO2 90%: SpO2/FiO2 150. That's a third organ failure</a:t>
            </a:r>
            <a:endParaRPr lang="en-US" sz="2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Will fixing the kidney hurt the lungs?</a:t>
            </a:r>
            <a:endParaRPr lang="en-US" sz="3000" dirty="0"/>
          </a:p>
        </p:txBody>
      </p:sp>
      <p:sp>
        <p:nvSpPr>
          <p:cNvPr id="3" name="Body"/>
          <p:cNvSpPr txBox="1"/>
          <p:nvPr/>
        </p:nvSpPr>
        <p:spPr>
          <a:xfrm>
            <a:off x="822960" y="1280160"/>
            <a:ext cx="10545775" cy="420624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Terlipressin: not for him today</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Label: contraindicated with hypoxia or worsening respiratory symptoms; don't start if SpO2 &lt; 90%</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Label: avoid in ACLF grade 3; volume overload raises the risk of respiratory failure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Stop the albumin while he is wet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He is already on a vasoconstrictor. Norepinephrine, titrated to perfusion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If he can't make urine, RRT to take the fluid off</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Midodrine and octreotide? Not in someone on IV pressors</a:t>
            </a:r>
            <a:endParaRPr lang="en-US" sz="2000" dirty="0"/>
          </a:p>
        </p:txBody>
      </p:sp>
      <p:sp>
        <p:nvSpPr>
          <p:cNvPr id="4" name="Question"/>
          <p:cNvSpPr txBox="1"/>
          <p:nvPr/>
        </p:nvSpPr>
        <p:spPr>
          <a:xfrm>
            <a:off x="822960" y="553212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Check oxygen and volume before any kidney treatment</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TERLIVAZ prescribing information (FDA, 2022; check the current label); ADQI-ICA 2024 [PMID: 38527522]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graphicFrame>
        <p:nvGraphicFramePr>
          <p:cNvPr id="54" name="Table"/>
          <p:cNvGraphicFramePr>
            <a:graphicFrameLocks noGrp="1"/>
          </p:cNvGraphicFramePr>
          <p:nvPr>
            <p:extLst>
              <p:ext uri="{D42A27DB-BD31-4B8C-83A1-F6EECF244321}">
                <p14:modId xmlns:p14="http://schemas.microsoft.com/office/powerpoint/2010/main" val="1579011935"/>
              </p:ext>
            </p:extLst>
          </p:nvPr>
        </p:nvGraphicFramePr>
        <p:xfrm>
          <a:off x="822960" y="1463040"/>
          <a:ext cx="10545775" cy="914400"/>
        </p:xfrm>
        <a:graphic>
          <a:graphicData uri="http://schemas.openxmlformats.org/drawingml/2006/table">
            <a:tbl>
              <a:tblPr/>
              <a:tblGrid>
                <a:gridCol w="2560320"/>
                <a:gridCol w="7982712"/>
              </a:tblGrid>
              <a:tr h="8229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Study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CONFIRM: terlipressin + albumin vs placebo + albumin, type 1 HRS, 300 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Main finding</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Verified HRS reversal 32% vs 17%</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The catch</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Death from respiratory disorders by day 90: 11% vs 2%. Respiratory failure about 14% vs 5% (label)</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What it doesn't show</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 survival benefit. 90-day mortality was not different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NEJM 2021 [PMID: 33657294]; TERLIVAZ prescribing information 2022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graphicFrame>
        <p:nvGraphicFramePr>
          <p:cNvPr id="55" name="Table"/>
          <p:cNvGraphicFramePr>
            <a:graphicFrameLocks noGrp="1"/>
          </p:cNvGraphicFramePr>
          <p:nvPr>
            <p:extLst>
              <p:ext uri="{D42A27DB-BD31-4B8C-83A1-F6EECF244321}">
                <p14:modId xmlns:p14="http://schemas.microsoft.com/office/powerpoint/2010/main" val="1579011935"/>
              </p:ext>
            </p:extLst>
          </p:nvPr>
        </p:nvGraphicFramePr>
        <p:xfrm>
          <a:off x="822960" y="1280160"/>
          <a:ext cx="10545775" cy="914400"/>
        </p:xfrm>
        <a:graphic>
          <a:graphicData uri="http://schemas.openxmlformats.org/drawingml/2006/table">
            <a:tbl>
              <a:tblPr/>
              <a:tblGrid>
                <a:gridCol w="2560320"/>
                <a:gridCol w="7982712"/>
              </a:tblGrid>
              <a:tr h="9144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Study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ATTIRE: daily albumin to keep serum albumin ≥ 30 g/L vs standard care, hospitalized decompensated cirrhosis, 777 patients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Main finding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 difference in infection, kidney dysfunction or death (29.7% vs 30.2%)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The catch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More serious adverse events with albumin, including fluid overload and pulmonary edema</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3977640"/>
            <a:ext cx="10545775" cy="219456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Albumin has indications, not a target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SBP: 1.5 g/kg on day 1, 1 g/kg on day 3</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Paracentesis over 5 L: 6 to 8 g per liter removed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HRS-AKI: with a vasoconstrictor, dosed to volume status</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NEJM 2021 [PMID: 33657293]; ADQI-ICA 2024 [PMID: 38527522]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changed since yesterday?</a:t>
            </a:r>
            <a:endParaRPr lang="en-US" sz="3000" dirty="0"/>
          </a:p>
        </p:txBody>
      </p:sp>
      <p:graphicFrame>
        <p:nvGraphicFramePr>
          <p:cNvPr id="56"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3044952"/>
                <a:gridCol w="1965960"/>
                <a:gridCol w="1965960"/>
                <a:gridCol w="1965960"/>
                <a:gridCol w="1965960"/>
              </a:tblGrid>
              <a:tr h="438912">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3</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38912">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Off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38912">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4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HFNC, FiO2 0.6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HFNC, FiO2 0.4</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38912">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Kidney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 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 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CRRT started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On CRRT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38912">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Encephalopathy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Grade 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Grade 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Grade 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Grade 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38912">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Bilirubin / INR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5.8 / 2.1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6.4 / 2.3</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6.1 / 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5.2 / 2.0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38912">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ACLF grade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3</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Better or worse? What do you tell his family?</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 CLIF-C ACLF score [PMID: 24950482]; EASL ACLF 2023 [PMID: 37364789]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changed since yesterday?</a:t>
            </a:r>
            <a:endParaRPr lang="en-US" sz="3000" dirty="0"/>
          </a:p>
        </p:txBody>
      </p:sp>
      <p:graphicFrame>
        <p:nvGraphicFramePr>
          <p:cNvPr id="57"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3044952"/>
                <a:gridCol w="1965960"/>
                <a:gridCol w="1965960"/>
                <a:gridCol w="1965960"/>
                <a:gridCol w="1965960"/>
              </a:tblGrid>
              <a:tr h="438912">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3</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38912">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Off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38912">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4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HFNC, FiO2 0.6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HFNC, FiO2 0.4</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38912">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Kidney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 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 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CRRT started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On CRRT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38912">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Encephalopathy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Grade 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Grade 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Grade 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Grade 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38912">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Bilirubin / INR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5.8 / 2.1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6.4 / 2.3</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6.1 / 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5.2 / 2.0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38912">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ACLF grade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3</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000000"/>
                          </a:solidFill>
                          <a:highlight>
                            <a:srgbClr val="FFFF00"/>
                          </a:highlight>
                          <a:latin typeface="Calibri" pitchFamily="34" charset="0"/>
                          <a:ea typeface="Calibri" pitchFamily="34" charset="-122"/>
                          <a:cs typeface="Calibri" pitchFamily="34" charset="-120"/>
                        </a:rPr>
                        <a:t>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434840"/>
            <a:ext cx="10545775" cy="1828800"/>
          </a:xfrm>
          <a:prstGeom prst="rect">
            <a:avLst/>
          </a:prstGeom>
          <a:noFill/>
          <a:ln/>
        </p:spPr>
        <p:txBody>
          <a:bodyPr wrap="square" lIns="50800" tIns="50800" rIns="50800" bIns="50800" rtlCol="0" anchor="t"/>
          <a:lstStyle/>
          <a:p>
            <a:pPr marL="228600" indent="-228600">
              <a:spcBef>
                <a:spcPts val="400"/>
              </a:spcBef>
              <a:buSzPct val="100000"/>
              <a:buChar char="–"/>
            </a:pPr>
            <a:r>
              <a:rPr lang="en-US" sz="1700" dirty="0">
                <a:solidFill>
                  <a:srgbClr val="000000"/>
                </a:solidFill>
                <a:latin typeface="Georgia" pitchFamily="34" charset="0"/>
                <a:ea typeface="Georgia" pitchFamily="34" charset="-122"/>
                <a:cs typeface="Georgia" pitchFamily="34" charset="-120"/>
              </a:rPr>
              <a:t>The grade at days 3 to 7 predicts outcome better than the grade at admission</a:t>
            </a:r>
            <a:endParaRPr lang="en-US" sz="1700" dirty="0"/>
          </a:p>
          <a:p>
            <a:pPr marL="228600" indent="-228600">
              <a:spcBef>
                <a:spcPts val="400"/>
              </a:spcBef>
              <a:buSzPct val="100000"/>
              <a:buChar char="–"/>
            </a:pPr>
            <a:r>
              <a:rPr lang="en-US" sz="1700" dirty="0">
                <a:solidFill>
                  <a:srgbClr val="000000"/>
                </a:solidFill>
                <a:latin typeface="Georgia" pitchFamily="34" charset="0"/>
                <a:ea typeface="Georgia" pitchFamily="34" charset="-122"/>
                <a:cs typeface="Georgia" pitchFamily="34" charset="-120"/>
              </a:rPr>
              <a:t>Persistent ACLF 3 at days 3 to 7, especially with four or more organ failures, has a very high mortality without transplant</a:t>
            </a:r>
            <a:endParaRPr lang="en-US" sz="1700" dirty="0"/>
          </a:p>
          <a:p>
            <a:pPr marL="228600" indent="-228600">
              <a:spcBef>
                <a:spcPts val="400"/>
              </a:spcBef>
              <a:buSzPct val="100000"/>
              <a:buChar char="–"/>
            </a:pPr>
            <a:r>
              <a:rPr lang="en-US" sz="1700" dirty="0">
                <a:solidFill>
                  <a:srgbClr val="000000"/>
                </a:solidFill>
                <a:latin typeface="Georgia" pitchFamily="34" charset="0"/>
                <a:ea typeface="Georgia" pitchFamily="34" charset="-122"/>
                <a:cs typeface="Georgia" pitchFamily="34" charset="-120"/>
              </a:rPr>
              <a:t>If he is not a transplant candidate, discuss goals of care with the family and involve palliative care</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 CLIF-C ACLF score [PMID: 24950482]; EASL ACLF 2023 [PMID: 37364789]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sick for a transplant, or sick enough to need one?</a:t>
            </a:r>
            <a:endParaRPr lang="en-US" sz="3000" dirty="0"/>
          </a:p>
        </p:txBody>
      </p:sp>
      <p:sp>
        <p:nvSpPr>
          <p:cNvPr id="3" name="Body"/>
          <p:cNvSpPr txBox="1"/>
          <p:nvPr/>
        </p:nvSpPr>
        <p:spPr>
          <a:xfrm>
            <a:off x="822960" y="1280160"/>
            <a:ext cx="10545775"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 ventilator, pressors or dialysis do not by themselves exclude transplant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Selected patients with ACLF grade 3 do well after transplant. The window is short</a:t>
            </a:r>
            <a:endParaRPr lang="en-US" sz="2000" dirty="0"/>
          </a:p>
          <a:p>
            <a:pPr indent="0" marL="0">
              <a:spcBef>
                <a:spcPts val="1600"/>
              </a:spcBef>
              <a:buNone/>
            </a:pPr>
            <a:r>
              <a:rPr lang="en-US" sz="2000" b="1" dirty="0">
                <a:solidFill>
                  <a:srgbClr val="000000"/>
                </a:solidFill>
                <a:latin typeface="Georgia" pitchFamily="34" charset="0"/>
                <a:ea typeface="Georgia" pitchFamily="34" charset="-122"/>
                <a:cs typeface="Georgia" pitchFamily="34" charset="-120"/>
              </a:rPr>
              <a:t>What closes the window</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Uncontrolled infection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Rising vasopressor needs, severe respiratory failure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Irreversible brain injury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Frailty and comorbidity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Alcohol: centers now evaluate individually rather than by a fixed abstinence rule</a:t>
            </a:r>
            <a:endParaRPr lang="en-US" sz="2000" dirty="0"/>
          </a:p>
        </p:txBody>
      </p:sp>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Lancet Gastroenterol Hepatol 2024 [PMID: 38309288]; AASLD/AST candidate evaluation 2026 [PMID: 41405234]; EASL ACLF 2023 [PMID: 37364789]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Calling hepatology: have this ready</a:t>
            </a:r>
            <a:endParaRPr lang="en-US" sz="3000" dirty="0"/>
          </a:p>
        </p:txBody>
      </p:sp>
      <p:graphicFrame>
        <p:nvGraphicFramePr>
          <p:cNvPr id="59" name="Table"/>
          <p:cNvGraphicFramePr>
            <a:graphicFrameLocks noGrp="1"/>
          </p:cNvGraphicFramePr>
          <p:nvPr>
            <p:extLst>
              <p:ext uri="{D42A27DB-BD31-4B8C-83A1-F6EECF244321}">
                <p14:modId xmlns:p14="http://schemas.microsoft.com/office/powerpoint/2010/main" val="1579011935"/>
              </p:ext>
            </p:extLst>
          </p:nvPr>
        </p:nvGraphicFramePr>
        <p:xfrm>
          <a:off x="822960" y="1371600"/>
          <a:ext cx="10545775" cy="914400"/>
        </p:xfrm>
        <a:graphic>
          <a:graphicData uri="http://schemas.openxmlformats.org/drawingml/2006/table">
            <a:tbl>
              <a:tblPr/>
              <a:tblGrid>
                <a:gridCol w="5266944"/>
                <a:gridCol w="5276088"/>
              </a:tblGrid>
              <a:tr h="45720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Patient A (ALF)</a:t>
                      </a:r>
                      <a:endParaRPr lang="en-US" sz="19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Patient B (ACLF)</a:t>
                      </a:r>
                      <a:endParaRPr lang="en-US" sz="19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92608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Cause and time course (days from jaundice to encephalopathy)</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Encephalopathy grade, pupils, sedation</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Airway and ventilator settings</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Ammonia, sodium, CRRT</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INR, lactate, pH, glucose trends</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Pressors, infection</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Social support, intent of ingestion</a:t>
                      </a:r>
                      <a:endParaRPr lang="en-US" sz="19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Cause of cirrhosis, recent alcohol use</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Precipitant and source control</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Organ failures today and yesterday</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Pressor dose, oxygen, RRT</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MELD, CLIF-C scores</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Frailty, comorbidities</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Prior transplant evaluation, support</a:t>
                      </a:r>
                      <a:endParaRPr lang="en-US" sz="19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patient, different rules</a:t>
            </a:r>
            <a:endParaRPr lang="en-US" sz="3000" dirty="0"/>
          </a:p>
        </p:txBody>
      </p:sp>
      <p:graphicFrame>
        <p:nvGraphicFramePr>
          <p:cNvPr id="60"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1828800"/>
                <a:gridCol w="4626864"/>
                <a:gridCol w="4636008"/>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Acute liver failure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ACLF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Ammonia</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Predicts cerebral edema. Act on it (CRRT)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Doesn't diagnose HE. Don't trend it to dose lactulose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Lactulose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Not established; bowel distension can complicate surgery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Yes for overt HE (plus rifaximin), avoid dehydration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Keep it high, 145 to 155 (center protocol)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Often chronically low: correct slowly, no more than 8 mmol/L a day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Antibiotics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 routine prophylaxis; low threshold to treat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Treat infection; prophylaxis with GI bleeding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INR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Prognosis, not bleeding risk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Same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SCCM 2023 [PMID: 37052436]; update 2022 [PMID: 36001996]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our patients</a:t>
            </a:r>
            <a:endParaRPr lang="en-US" sz="3000" dirty="0"/>
          </a:p>
        </p:txBody>
      </p:sp>
      <p:sp>
        <p:nvSpPr>
          <p:cNvPr id="3" name="Body"/>
          <p:cNvSpPr txBox="1"/>
          <p:nvPr/>
        </p:nvSpPr>
        <p:spPr>
          <a:xfrm>
            <a:off x="1280160" y="1325880"/>
            <a:ext cx="9631375"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Which one needed transplant hepatology before the tests came back?</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Why did a falling ALT make you more worried?</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When is CRRT right before the creatinine is high?</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Why isn't lactulose for ACLF evidence for ALF?</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Why were albumin and terlipressin the wrong next step for bed 7?</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What would make you change yesterday's plan?</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Take home</a:t>
            </a:r>
            <a:endParaRPr lang="en-US" sz="3000" dirty="0"/>
          </a:p>
        </p:txBody>
      </p:sp>
      <p:sp>
        <p:nvSpPr>
          <p:cNvPr id="3" name="Body"/>
          <p:cNvSpPr txBox="1"/>
          <p:nvPr/>
        </p:nvSpPr>
        <p:spPr>
          <a:xfrm>
            <a:off x="822960" y="1325880"/>
            <a:ext cx="10545775"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Big enzymes don't make it liver failure. Get an INR and examine the patient</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Stabilize, treat the cause and call transplant hepatology in the same hour</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ALF: </a:t>
            </a:r>
            <a:r>
              <a:rPr lang="en-US" sz="2200" b="1" dirty="0">
                <a:solidFill>
                  <a:srgbClr val="000000"/>
                </a:solidFill>
                <a:latin typeface="Georgia" pitchFamily="34" charset="0"/>
                <a:ea typeface="Georgia" pitchFamily="34" charset="-122"/>
                <a:cs typeface="Georgia" pitchFamily="34" charset="-120"/>
              </a:rPr>
              <a:t>protect the brain</a:t>
            </a:r>
            <a:r>
              <a:rPr lang="en-US" sz="2200" dirty="0">
                <a:solidFill>
                  <a:srgbClr val="000000"/>
                </a:solidFill>
                <a:latin typeface="Georgia" pitchFamily="34" charset="0"/>
                <a:ea typeface="Georgia" pitchFamily="34" charset="-122"/>
                <a:cs typeface="Georgia" pitchFamily="34" charset="-120"/>
              </a:rPr>
              <a:t>. Intubate at grade III, keep the CO2 normal and the sodium up, and start CRRT for rising ammonia</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ACLF: count the organs, find the trigger</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ACLF: check oxygenation and volume status before albumin or terlipressin</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Reassess organ failures daily. The trend matters more than the admission score</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txBox="1"/>
          <p:nvPr/>
        </p:nvSpPr>
        <p:spPr>
          <a:xfrm>
            <a:off x="731520" y="2560320"/>
            <a:ext cx="10728655" cy="1280160"/>
          </a:xfrm>
          <a:prstGeom prst="rect">
            <a:avLst/>
          </a:prstGeom>
          <a:noFill/>
          <a:ln/>
        </p:spPr>
        <p:txBody>
          <a:bodyPr wrap="square" lIns="0" tIns="0" rIns="0" bIns="0" rtlCol="0" anchor="ctr"/>
          <a:lstStyle/>
          <a:p>
            <a:pPr algn="ctr" indent="0" marL="0">
              <a:buNone/>
            </a:pPr>
            <a:r>
              <a:rPr lang="en-US" sz="5400" dirty="0">
                <a:solidFill>
                  <a:srgbClr val="000000"/>
                </a:solidFill>
                <a:latin typeface="Georgia" pitchFamily="34" charset="0"/>
                <a:ea typeface="Georgia" pitchFamily="34" charset="-122"/>
                <a:cs typeface="Georgia" pitchFamily="34" charset="-120"/>
              </a:rPr>
              <a:t>Questions?</a:t>
            </a:r>
            <a:endParaRPr lang="en-US" sz="54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West Haven grades</a:t>
            </a:r>
            <a:endParaRPr lang="en-US" sz="3000" dirty="0"/>
          </a:p>
        </p:txBody>
      </p:sp>
      <p:graphicFrame>
        <p:nvGraphicFramePr>
          <p:cNvPr id="64" name="Table"/>
          <p:cNvGraphicFramePr>
            <a:graphicFrameLocks noGrp="1"/>
          </p:cNvGraphicFramePr>
          <p:nvPr>
            <p:extLst>
              <p:ext uri="{D42A27DB-BD31-4B8C-83A1-F6EECF244321}">
                <p14:modId xmlns:p14="http://schemas.microsoft.com/office/powerpoint/2010/main" val="1579011935"/>
              </p:ext>
            </p:extLst>
          </p:nvPr>
        </p:nvGraphicFramePr>
        <p:xfrm>
          <a:off x="1097280" y="1463040"/>
          <a:ext cx="9997135" cy="914400"/>
        </p:xfrm>
        <a:graphic>
          <a:graphicData uri="http://schemas.openxmlformats.org/drawingml/2006/table">
            <a:tbl>
              <a:tblPr/>
              <a:tblGrid>
                <a:gridCol w="1280160"/>
                <a:gridCol w="8714232"/>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Grade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What you see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Short attention, mild confusion, reversed sleep, subtle personality change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II</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Lethargy, disorientation to time, obvious personality change, asterixis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III</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Somnolent but rousable to voice or pain, grossly disoriented, bizarre behavior</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IV</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Coma</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(1)</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SCCM ALF/ACLF ICU guidelines, part 1. Crit Care Med 2020 [PMID: 32058387]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SCCM ALF/ACLF ICU guidelines, part 2. Crit Care Med 2023 [PMID: 37052436]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acute liver failure guideline. J Hepatol 2017 [PMID: 28417882]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ACG acute liver failure guideline. Am J Gastroenterol 2023 [PMID: 37377263]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Management of acute liver failure: update 2022. Semin Liver Dis [PMID: 36001996]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Acute liver failure: a practical update. JHEP Rep 2024 [PMID: 39170946]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ACLF guideline. J Hepatol 2023 [PMID: 37364789]</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AASLD ACLF and critically ill cirrhosis guidance. Hepatology 2024 [PMID: 37939273], errata [PMID: 38551831], [PMID: 42467893]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ACG ACLF guideline. Am J Gastroenterol 2022 [PMID: 35006099]</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ADQI-ICA consensus on AKI in cirrhosis. J Hepatol 2024 [PMID: 38527522]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Surviving Sepsis Campaign 2026. Crit Care Med [PMID: 41869847]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autoimmune hepatitis guideline. J Hepatol 2025 [PMID: 40348684]</a:t>
            </a:r>
            <a:endParaRPr lang="en-US" sz="15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(2)</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Moreau R et al. CANONIC. Gastroenterology 2013 [PMID: 23474284]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Jalan R et al. CLIF-C ACLF score. J Hepatol 2014 [PMID: 24950482]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Lee WM et al. NAC in non-acetaminophen ALF. Gastroenterology 2009 [PMID: 19524577]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Clemmesen JO et al. Cerebral herniation and arterial ammonia. Hepatology 1999;29:648-53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Bernal W et al. Arterial ammonia, HE and intracranial hypertension. Hepatology 2007 [PMID: 17685471]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Bhatia V et al. Arterial ammonia in ALF. Gut 2006;55:98-104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Kumar R et al. Persistent hyperammonemia in ALF. Clin Gastroenterol Hepatol 2012;10:925-31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Cardoso FS et al. CRRT and ammonia in ALF. Hepatology 2018 [PMID: 28859230]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Pre-emptive CRRT in ALF with cerebral edema. Aliment Pharmacol Ther 2026 [PMID: 42332991]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Larsen FS et al. High-volume plasma exchange. J Hepatol 2016 [PMID: 26325537]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Wong F et al. CONFIRM. NEJM 2021 [PMID: 33657294]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China L et al. ATTIRE. NEJM 2021 [PMID: 33657293]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Liver transplantation for ACLF. Lancet Gastroenterol Hepatol 2024 [PMID: 38309288]</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AASLD/AST candidate evaluation guideline. Hepatology 2026 [PMID: 41405234]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Kyoto consensus on ACLF. Hepatol Int 2025 [PMID: 39961976]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TERLIVAZ (terlipressin) prescribing information, FDA 2022. Check the current label</a:t>
            </a:r>
            <a:endParaRPr lang="en-US" sz="15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65</a:t>
            </a:fld>
            <a:endParaRPr lang="en-US"/>
          </a:p>
        </p:txBody>
      </p:sp>
    </p:spTree>
  </p:cSld>
  <p:clrMapOvr>
    <a:masterClrMapping/>
  </p:clrMapOvr>
</p:sld>
</file>

<file path=ppt/theme/theme1.xml><?xml version="1.0" encoding="utf-8"?>
<a:theme xmlns:a="http://schemas.openxmlformats.org/drawingml/2006/main" name="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org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65</Slides>
  <Notes>65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65</vt:i4>
      </vt:variant>
    </vt:vector>
  </HeadingPairs>
  <TitlesOfParts>
    <vt:vector size="6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Acute Liver Failure and ACLF in the ICU</dc:title>
  <dc:subject>PptxGenJS Presentation</dc:subject>
  <dc:creator>Mohammad Almeqdadi, MD</dc:creator>
  <cp:lastModifiedBy>Mohammad Almeqdadi, MD</cp:lastModifiedBy>
  <cp:revision>1</cp:revision>
  <dcterms:created xsi:type="dcterms:W3CDTF">2026-10-26T16:12:48Z</dcterms:created>
  <dcterms:modified xsi:type="dcterms:W3CDTF">2026-10-26T16:12:48Z</dcterms:modified>
</cp:coreProperties>
</file>