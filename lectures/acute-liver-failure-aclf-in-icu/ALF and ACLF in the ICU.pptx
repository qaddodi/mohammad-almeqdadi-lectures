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2.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190936a-5f5c-e292-d95a-71601f27adb0}">
          <p14:sldIdLst>
            <p14:sldId id="256"/>
            <p14:sldId id="257"/>
          </p14:sldIdLst>
        </p14:section>
        <p14:section name="Patient A: acute liver failure" id="{8613362b-5d83-1eb6-5314-d24f3ffdf741}">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 name="Patient B: ACLF" id="{059cbfcc-db22-6a8d-508b-9f92b8fcdfd4}">
          <p14:sldIdLst>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Lst>
        </p14:section>
        <p14:section name="Closing" id="{594a9acb-0fd9-ed83-a6db-ad347cb04871}">
          <p14:sldIdLst>
            <p14:sldId id="315"/>
            <p14:sldId id="316"/>
            <p14:sldId id="317"/>
          </p14:sldIdLst>
        </p14:section>
        <p14:section name="Appendix" id="{bf7335c2-7d5e-5b9a-50de-19efa10d31e5}">
          <p14:sldIdLst>
            <p14:sldId id="318"/>
            <p14:sldId id="319"/>
            <p14:sldId id="32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one night.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talk as the questions they actually get paged about. We'll answer them through two patients who are in the unit on the same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call hepatology. By then she is intubated and the evaluation has lost a day. Here the transplant evaluation runs in parallel from the first night, and the psychosocial part is much easier while she can still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With repeated supratherapeutic dosing over 3 days there is no single ingestion time, so the nomogram can't answer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Transplant-free survival is a softer endpoint than overall survival, and part of the effect is that fewer patients needed transplant. Still, it is cheap and safe, so most centers give it in early non-acetaminophen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with a rising INR, rising lactate and worsening encephalopathy means there are fewer hepatocytes left to release enzymes.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not going to tell you what happened to her. The point is what you reassess, and how often. Now,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night,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Acute decompensation alone is not ACLF. ACLF means organ failure, and the definition you use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92% on 4 L is roughly an SpO2/FiO2 of 255 if you estimate FiO2 at about 0.36.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non-kidney organ failure counts only with some kidney dysfunction or mild encephalopathy.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We use EASL-CLIF for the rest of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mandatory 48-hour albumin challenge is gone.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Respiratory failure here partly came from what we gave him.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in ACLF should follow usual indications plus trajectory and transplant potential; avoid the rule 'dialysis only if listed'. A time-limited trial is reasonable.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don't tell you how he does after day 5. The reassessment is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good call makes the transplant team's decision faster. Trends, not single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2.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Liver illustration">    </p:cNvPr>
          <p:cNvPicPr>
            <a:picLocks noChangeAspect="1"/>
          </p:cNvPicPr>
          <p:nvPr/>
        </p:nvPicPr>
        <p:blipFill>
          <a:blip r:embed="rId1">
            <a:alphaModFix amt="65000"/>
          </a:blip>
          <a:stretch>
            <a:fillRect/>
          </a:stretch>
        </p:blipFill>
        <p:spPr>
          <a:xfrm>
            <a:off x="1243584" y="36576"/>
            <a:ext cx="9692640" cy="6702552"/>
          </a:xfrm>
          <a:prstGeom prst="rect">
            <a:avLst/>
          </a:prstGeom>
        </p:spPr>
      </p:pic>
      <p:sp>
        <p:nvSpPr>
          <p:cNvPr id="3" name="Text 0"/>
          <p:cNvSpPr txBox="1"/>
          <p:nvPr/>
        </p:nvSpPr>
        <p:spPr>
          <a:xfrm>
            <a:off x="731520" y="1828800"/>
            <a:ext cx="10728655" cy="914400"/>
          </a:xfrm>
          <a:prstGeom prst="rect">
            <a:avLst/>
          </a:prstGeom>
          <a:noFill/>
          <a:ln/>
        </p:spPr>
        <p:txBody>
          <a:bodyPr wrap="square" lIns="0" tIns="0" rIns="0" bIns="0" rtlCol="0" anchor="ctr"/>
          <a:lstStyle/>
          <a:p>
            <a:pPr algn="ctr" indent="0" marL="0">
              <a:buNone/>
            </a:pPr>
            <a:r>
              <a:rPr lang="en-US" sz="5000" b="1" dirty="0">
                <a:solidFill>
                  <a:srgbClr val="000000"/>
                </a:solidFill>
                <a:latin typeface="Georgia" pitchFamily="34" charset="0"/>
                <a:ea typeface="Georgia" pitchFamily="34" charset="-122"/>
                <a:cs typeface="Georgia" pitchFamily="34" charset="-120"/>
              </a:rPr>
              <a:t>Acute Liver Failure and ACLF</a:t>
            </a:r>
            <a:endParaRPr lang="en-US" sz="5000" dirty="0"/>
          </a:p>
        </p:txBody>
      </p:sp>
      <p:sp>
        <p:nvSpPr>
          <p:cNvPr id="4" name="Text 1"/>
          <p:cNvSpPr txBox="1"/>
          <p:nvPr/>
        </p:nvSpPr>
        <p:spPr>
          <a:xfrm>
            <a:off x="731520" y="2697480"/>
            <a:ext cx="10728655" cy="64008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in the ICU</a:t>
            </a:r>
            <a:endParaRPr lang="en-US" sz="3600" dirty="0"/>
          </a:p>
        </p:txBody>
      </p:sp>
      <p:sp>
        <p:nvSpPr>
          <p:cNvPr id="5" name="Text 2"/>
          <p:cNvSpPr txBox="1"/>
          <p:nvPr/>
        </p:nvSpPr>
        <p:spPr>
          <a:xfrm>
            <a:off x="731520" y="3337560"/>
            <a:ext cx="10728655" cy="457200"/>
          </a:xfrm>
          <a:prstGeom prst="rect">
            <a:avLst/>
          </a:prstGeom>
          <a:noFill/>
          <a:ln/>
        </p:spPr>
        <p:txBody>
          <a:bodyPr wrap="square" lIns="0" tIns="0" rIns="0" bIns="0" rtlCol="0" anchor="ctr"/>
          <a:lstStyle/>
          <a:p>
            <a:pPr algn="ctr" indent="0" marL="0">
              <a:buNone/>
            </a:pPr>
            <a:r>
              <a:rPr lang="en-US" sz="2000" i="1" dirty="0">
                <a:solidFill>
                  <a:srgbClr val="000000"/>
                </a:solidFill>
                <a:latin typeface="Georgia" pitchFamily="34" charset="0"/>
                <a:ea typeface="Georgia" pitchFamily="34" charset="-122"/>
                <a:cs typeface="Georgia" pitchFamily="34" charset="-120"/>
              </a:rPr>
              <a:t>A guide for the night shift</a:t>
            </a:r>
            <a:endParaRPr lang="en-US" sz="2000" dirty="0"/>
          </a:p>
        </p:txBody>
      </p:sp>
      <p:sp>
        <p:nvSpPr>
          <p:cNvPr id="6" name="Text 3"/>
          <p:cNvSpPr txBox="1"/>
          <p:nvPr/>
        </p:nvSpPr>
        <p:spPr>
          <a:xfrm>
            <a:off x="2286000" y="4160520"/>
            <a:ext cx="7619695" cy="1005840"/>
          </a:xfrm>
          <a:prstGeom prst="rect">
            <a:avLst/>
          </a:prstGeom>
          <a:noFill/>
          <a:ln/>
        </p:spPr>
        <p:txBody>
          <a:bodyPr wrap="square" lIns="0" tIns="0" rIns="0" bIns="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Mohammad Almeqdadi, MD</a:t>
            </a:r>
            <a:endParaRPr lang="en-US" sz="1800" dirty="0"/>
          </a:p>
          <a:p>
            <a:pPr algn="ctr" indent="0" marL="0">
              <a:buNone/>
            </a:pPr>
            <a:r>
              <a:rPr lang="en-US" sz="1500" i="1" dirty="0">
                <a:solidFill>
                  <a:srgbClr val="000000"/>
                </a:solidFill>
                <a:latin typeface="Georgia" pitchFamily="34" charset="0"/>
                <a:ea typeface="Georgia" pitchFamily="34" charset="-122"/>
                <a:cs typeface="Georgia" pitchFamily="34" charset="-120"/>
              </a:rPr>
              <a:t>Transplant Hepatologist and Gastroenterologist</a:t>
            </a:r>
            <a:endParaRPr lang="en-US" sz="1800" dirty="0"/>
          </a:p>
          <a:p>
            <a:pPr algn="ctr" indent="0" marL="0">
              <a:buNone/>
            </a:pPr>
            <a:r>
              <a:rPr lang="en-US" sz="1500" i="1" dirty="0">
                <a:solidFill>
                  <a:srgbClr val="000000"/>
                </a:solidFill>
                <a:latin typeface="Georgia" pitchFamily="34" charset="0"/>
                <a:ea typeface="Georgia" pitchFamily="34" charset="-122"/>
                <a:cs typeface="Georgia" pitchFamily="34" charset="-120"/>
              </a:rPr>
              <a:t>Assistant Professor of Medicine and Surgery</a:t>
            </a:r>
            <a:endParaRPr lang="en-US" sz="1800" dirty="0"/>
          </a:p>
        </p:txBody>
      </p:sp>
      <p:pic>
        <p:nvPicPr>
          <p:cNvPr id="7" name="Image 1" descr="Tufts University School of Medicine">    </p:cNvPr>
          <p:cNvPicPr>
            <a:picLocks noChangeAspect="1"/>
          </p:cNvPicPr>
          <p:nvPr/>
        </p:nvPicPr>
        <p:blipFill>
          <a:blip r:embed="rId2"/>
          <a:stretch>
            <a:fillRect/>
          </a:stretch>
        </p:blipFill>
        <p:spPr>
          <a:xfrm>
            <a:off x="4361688" y="5669280"/>
            <a:ext cx="3465576" cy="70408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Tonight's questions</a:t>
            </a:r>
            <a:endParaRPr lang="en-US" sz="3000" dirty="0"/>
          </a:p>
        </p:txBody>
      </p:sp>
      <p:sp>
        <p:nvSpPr>
          <p:cNvPr id="3" name="Body"/>
          <p:cNvSpPr txBox="1"/>
          <p:nvPr/>
        </p:nvSpPr>
        <p:spPr>
          <a:xfrm>
            <a:off x="1463040" y="1325880"/>
            <a:ext cx="926561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Is this liver failure?</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What do I do in the first hour?</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When do I intubate, and how do I protect the brain?</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Do I wait for the creatinine before dialysis?</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Is this ACLF, and does the label change anything?</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Does he have HRS? Will fixing the kidney hurt the lungs?</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When do I call transplant hepatology?</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night</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known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Nausea and vomiting for 4 days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663440"/>
            <a:ext cx="10545775" cy="73152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5"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280160"/>
            <a:ext cx="10728655" cy="210312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INR ≥ 1.5</a:t>
            </a:r>
            <a:r>
              <a:rPr lang="en-US" sz="2100" dirty="0">
                <a:solidFill>
                  <a:srgbClr val="000000"/>
                </a:solidFill>
                <a:latin typeface="Georgia" pitchFamily="34" charset="0"/>
                <a:ea typeface="Georgia" pitchFamily="34" charset="-122"/>
                <a:cs typeface="Georgia" pitchFamily="34" charset="-120"/>
              </a:rPr>
              <a:t> and </a:t>
            </a:r>
            <a:r>
              <a:rPr lang="en-US" sz="2100" b="1" dirty="0">
                <a:solidFill>
                  <a:srgbClr val="000000"/>
                </a:solidFill>
                <a:latin typeface="Georgia" pitchFamily="34" charset="0"/>
                <a:ea typeface="Georgia" pitchFamily="34" charset="-122"/>
                <a:cs typeface="Georgia" pitchFamily="34" charset="-120"/>
              </a:rPr>
              <a:t>any degree of encephalopathy</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Illness of less than 26 weeks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pre-existing cirrhosis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1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 y="3657600"/>
          <a:ext cx="10728655" cy="914400"/>
        </p:xfrm>
        <a:graphic>
          <a:graphicData uri="http://schemas.openxmlformats.org/drawingml/2006/table">
            <a:tbl>
              <a:tblPr/>
              <a:tblGrid>
                <a:gridCol w="2743200"/>
                <a:gridCol w="2651760"/>
                <a:gridCol w="2651760"/>
                <a:gridCol w="2679192"/>
              </a:tblGrid>
              <a:tr h="50292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Jaundice to encephalopathy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Hyperacute (&lt; 1 week)</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Acute (1 to 4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Subacute (4 to 12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Typical causes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Acetaminophen, HAV, HEV, ischemia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HBV</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Idiosyncratic drug injury, AIH, indeterminate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Cerebral edema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Less 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Uncommon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Recovery without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More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Intermediate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Less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Management of ALF: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2.4, wide awake. Acute liver failure?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200" b="1" dirty="0">
                <a:solidFill>
                  <a:srgbClr val="000000"/>
                </a:solidFill>
                <a:latin typeface="Georgia" pitchFamily="34" charset="0"/>
                <a:ea typeface="Georgia" pitchFamily="34" charset="-122"/>
                <a:cs typeface="Georgia" pitchFamily="34" charset="-120"/>
              </a:rPr>
              <a:t>No. </a:t>
            </a:r>
            <a:r>
              <a:rPr lang="en-US" sz="2200" dirty="0">
                <a:solidFill>
                  <a:srgbClr val="000000"/>
                </a:solidFill>
                <a:latin typeface="Georgia" pitchFamily="34" charset="0"/>
                <a:ea typeface="Georgia" pitchFamily="34" charset="-122"/>
                <a:cs typeface="Georgia" pitchFamily="34" charset="-120"/>
              </a:rPr>
              <a:t>This is severe acute liver injury</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No encephalopathy means not yet ALF</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But it can become ALF within hours</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Call transplant hepatology early anyway</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And the opposite trap:</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Three things, at the same time</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3566160"/>
                <a:gridCol w="3566160"/>
                <a:gridCol w="3593592"/>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Keep her alive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Find and treat the cause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Call transplant hepatology</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1945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ICU bed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Glucose every 1 to 2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assessment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Volume, perfusion, lactate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Neuro checks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Acetaminophen level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Viral, autoimmune, Wilson, toxicology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Doppler ultrasound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Pregnancy test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Start NAC if acetaminophen is possible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Now, not after the workup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Transplant evaluation starts tonight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work and psychiatry while she can still talk</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All three start in the first hour</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tonight?</a:t>
            </a:r>
            <a:endParaRPr lang="en-US" sz="3000" dirty="0"/>
          </a:p>
        </p:txBody>
      </p:sp>
      <p:graphicFrame>
        <p:nvGraphicFramePr>
          <p:cNvPr id="13"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911535" cy="914400"/>
        </p:xfrm>
        <a:graphic>
          <a:graphicData uri="http://schemas.openxmlformats.org/drawingml/2006/table">
            <a:tbl>
              <a:tblPr/>
              <a:tblGrid>
                <a:gridCol w="2651760"/>
                <a:gridCol w="4206240"/>
                <a:gridCol w="4050792"/>
              </a:tblGrid>
              <a:tr h="512064">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If you suspect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Send</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Don't wait for the result to</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Acetaminophen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Level, ingestion history, combination products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Start NAC</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Herpes simplex</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HSV PCR (blood)</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Start IV acyclovir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Hepatitis B</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HBsAg, anti-HBc IgM, HBV DNA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Start entecavir or tenofovir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Autoimmune hepatitis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ANA, ASMA, IgG (can be negative)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Discuss steroids with hepatology, list in parallel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Wilson disease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Ceruloplasmin, urine copper, hemolysis, low 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Prepare for urgent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Pregnancy (AFLP, HELLP)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hCG</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Call obstetrics, plan delivery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Budd-Chiari</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Doppler ultrasound or CT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Anticoagulation, discuss TIPS or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Ischemic hepatitis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Echo, history of shock</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Fix the circulation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822960" y="1371600"/>
            <a:ext cx="10545775" cy="14630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Acetaminophen level: </a:t>
            </a:r>
            <a:r>
              <a:rPr lang="en-US" sz="2100" b="1" dirty="0">
                <a:solidFill>
                  <a:srgbClr val="000000"/>
                </a:solidFill>
                <a:latin typeface="Georgia" pitchFamily="34" charset="0"/>
                <a:ea typeface="Georgia" pitchFamily="34" charset="-122"/>
                <a:cs typeface="Georgia" pitchFamily="34" charset="-120"/>
              </a:rPr>
              <a:t>12 μg/mL</a:t>
            </a:r>
            <a:r>
              <a:rPr lang="en-US" sz="2100" dirty="0">
                <a:solidFill>
                  <a:srgbClr val="000000"/>
                </a:solidFill>
                <a:latin typeface="Georgia" pitchFamily="34" charset="0"/>
                <a:ea typeface="Georgia" pitchFamily="34" charset="-122"/>
                <a:cs typeface="Georgia" pitchFamily="34" charset="-120"/>
              </a:rPr>
              <a:t>, time of last dose unknown</a:t>
            </a:r>
            <a:endParaRPr lang="en-US" sz="21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114800" cy="47548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One acute ingestion, known time, plotted from 4 to 24 hours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Above the treatment line: NAC</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Now plot her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At 8 hours, 12 is well below the line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At 20 hours, it is above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Three days of repeated doses: </a:t>
            </a:r>
            <a:r>
              <a:rPr lang="en-US" sz="1900" b="1" dirty="0">
                <a:solidFill>
                  <a:srgbClr val="000000"/>
                </a:solidFill>
                <a:latin typeface="Georgia" pitchFamily="34" charset="0"/>
                <a:ea typeface="Georgia" pitchFamily="34" charset="-122"/>
                <a:cs typeface="Georgia" pitchFamily="34" charset="-120"/>
              </a:rPr>
              <a:t>there is no time zero</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 treatment line 150 μg/mL at 4 hours</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822960" y="1371600"/>
            <a:ext cx="10545775" cy="14630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Acetaminophen level: </a:t>
            </a:r>
            <a:r>
              <a:rPr lang="en-US" sz="2100" b="1" dirty="0">
                <a:solidFill>
                  <a:srgbClr val="000000"/>
                </a:solidFill>
                <a:latin typeface="Georgia" pitchFamily="34" charset="0"/>
                <a:ea typeface="Georgia" pitchFamily="34" charset="-122"/>
                <a:cs typeface="Georgia" pitchFamily="34" charset="-120"/>
              </a:rPr>
              <a:t>12 μg/mL</a:t>
            </a:r>
            <a:r>
              <a:rPr lang="en-US" sz="2100" dirty="0">
                <a:solidFill>
                  <a:srgbClr val="000000"/>
                </a:solidFill>
                <a:latin typeface="Georgia" pitchFamily="34" charset="0"/>
                <a:ea typeface="Georgia" pitchFamily="34" charset="-122"/>
                <a:cs typeface="Georgia" pitchFamily="34" charset="-120"/>
              </a:rPr>
              <a:t>, time of last dose unknown</a:t>
            </a:r>
            <a:endParaRPr lang="en-US" sz="21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5" name="Body"/>
          <p:cNvSpPr txBox="1"/>
          <p:nvPr/>
        </p:nvSpPr>
        <p:spPr>
          <a:xfrm>
            <a:off x="822960" y="3749040"/>
            <a:ext cx="1054577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No.</a:t>
            </a:r>
            <a:r>
              <a:rPr lang="en-US" sz="21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100" dirty="0"/>
          </a:p>
          <a:p>
            <a:pPr marL="228600" indent="-228600">
              <a:spcBef>
                <a:spcPts val="800"/>
              </a:spcBef>
              <a:buSzPct val="100000"/>
              <a:buChar char="–"/>
            </a:pPr>
            <a:r>
              <a:rPr lang="en-US" sz="21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1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Adult non-acetaminophen ALF, randomized, NAC vs placebo, 173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Transplant-free survival 40% vs 27%; the benefit was in early encephalopathy (grade I-II): 52% vs 30%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Overall survival was not different (70% vs 66%). No benefit in grade III-IV coma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Reasonable in early non-acetaminophen ALF. Don't extrapolate to advanced coma, children or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 high CO2</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graphicFrame>
        <p:nvGraphicFramePr>
          <p:cNvPr id="21"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651760"/>
                <a:gridCol w="1828800"/>
                <a:gridCol w="4480560"/>
                <a:gridCol w="2130552"/>
              </a:tblGrid>
              <a:tr h="4572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Study (arterial 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they found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Clemmesen 1999, Copenhagen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44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14 herniated. Mean ammonia 230 vs 118 μmol/L; every herniation was above 146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Small, one center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Bhatia 2006,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80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Admission ammonia ≥ 124 predicted death (sensitivity 79%, specificity 76%)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the endpoint was death, not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Bernal 2007, King's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165 ALF, grade III-IV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&gt; 100 predicted severe HE (70% accuracy). </a:t>
                      </a:r>
                      <a:r>
                        <a:rPr lang="en-US" sz="1600" b="1" dirty="0">
                          <a:solidFill>
                            <a:srgbClr val="000000"/>
                          </a:solidFill>
                          <a:latin typeface="Calibri" pitchFamily="34" charset="0"/>
                          <a:ea typeface="Calibri" pitchFamily="34" charset="-122"/>
                          <a:cs typeface="Calibri" pitchFamily="34" charset="-120"/>
                        </a:rPr>
                        <a:t>&gt; 200: ICH in 55%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200 missed most of the ICH cases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Kumar 2012,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295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 122 for 3 days: survival 23% vs 72%</a:t>
                      </a:r>
                      <a:r>
                        <a:rPr lang="en-US" sz="1600" dirty="0">
                          <a:solidFill>
                            <a:srgbClr val="000000"/>
                          </a:solidFill>
                          <a:latin typeface="Calibri" pitchFamily="34" charset="0"/>
                          <a:ea typeface="Calibri" pitchFamily="34" charset="-122"/>
                          <a:cs typeface="Calibri" pitchFamily="34" charset="-120"/>
                        </a:rPr>
                        <a:t>, cerebral edema 71% vs 37%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but the trend beat a single value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Hepatology 1999;29:648-53; Bhatia Gut 2006; Bernal Hepatology 2007 [PMID: 17685471]; Kumar Clin Gastroenterol Hepatol 2012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1828800" y="1554480"/>
            <a:ext cx="8534095"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sp>
        <p:nvSpPr>
          <p:cNvPr id="4"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291840"/>
                <a:gridCol w="3749040"/>
                <a:gridCol w="36850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Before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During</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After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73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Preoxygenate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Norepinephrine ready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Check glucose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Head of bed 30°, neck neutral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Avoid hypotension (perfusion pressure)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coughing and bucking (ICP spikes)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Most experienced operator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Propofol: short-acting, may lower ICP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long-acting benzodiazepines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Aim for normal CO2, check a gas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Sedation hides the neuro exam: check pupils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Day 1: bilateral infiltrates, P/F 150 on PEEP 10</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Day 1: bilateral infiltrates, P/F 150 on PEEP 10</a:t>
            </a:r>
            <a:endParaRPr lang="en-US" sz="20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20240"/>
                <a:gridCol w="2651760"/>
                <a:gridCol w="310896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lung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brain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do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Tidal volume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6 mL/kg predicted body weight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conflict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Tolerate a high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High CO2 dilates vessels and raises ICP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Aim for normal CO2. No permissive hypercapnia when ICP is a concern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Hyperventilation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Lowers ICP briefly, then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Only as a short rescue for herniation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PEEP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Recruit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Very high pressures can impair venous return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Individualize. PEEP is not forbidden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what we actually do</a:t>
            </a:r>
            <a:endParaRPr lang="en-US" sz="3000" dirty="0"/>
          </a:p>
        </p:txBody>
      </p:sp>
      <p:sp>
        <p:nvSpPr>
          <p:cNvPr id="3" name="Body"/>
          <p:cNvSpPr txBox="1"/>
          <p:nvPr/>
        </p:nvSpPr>
        <p:spPr>
          <a:xfrm>
            <a:off x="640080" y="1280160"/>
            <a:ext cx="5669280" cy="49377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Every patient with grade III-IV encephalopathy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Head of bed 30°, neck neutral</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fever, avoid hypoglycemia</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Sodium </a:t>
            </a:r>
            <a:r>
              <a:rPr lang="en-US" sz="1900" b="1" dirty="0">
                <a:solidFill>
                  <a:srgbClr val="000000"/>
                </a:solidFill>
                <a:latin typeface="Georgia" pitchFamily="34" charset="0"/>
                <a:ea typeface="Georgia" pitchFamily="34" charset="-122"/>
                <a:cs typeface="Georgia" pitchFamily="34" charset="-120"/>
              </a:rPr>
              <a:t>145 to 155 mmol/L</a:t>
            </a:r>
            <a:r>
              <a:rPr lang="en-US" sz="1900" dirty="0">
                <a:solidFill>
                  <a:srgbClr val="000000"/>
                </a:solidFill>
                <a:latin typeface="Georgia" pitchFamily="34" charset="0"/>
                <a:ea typeface="Georgia" pitchFamily="34" charset="-122"/>
                <a:cs typeface="Georgia" pitchFamily="34" charset="-120"/>
              </a:rPr>
              <a:t> with hypertonic saline (use your center's protocol)</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Avoid fluid overload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seizures, EEG if in doubt. No routine prophylaxis</a:t>
            </a:r>
            <a:endParaRPr lang="en-US" sz="1900" dirty="0"/>
          </a:p>
        </p:txBody>
      </p:sp>
      <p:sp>
        <p:nvSpPr>
          <p:cNvPr id="4" name="Body"/>
          <p:cNvSpPr txBox="1"/>
          <p:nvPr/>
        </p:nvSpPr>
        <p:spPr>
          <a:xfrm>
            <a:off x="6400800" y="1280160"/>
            <a:ext cx="5212080" cy="49377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Surge: new hypertension, bradycardia, pupils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10545775"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High clearance lowers ammonia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Set replacement fluid sodium to match your sodium target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tonight, not in the morning</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 both arms got plasma exchange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CRRT only if plasma exchange failed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linked to lower ammonia and better 21-day transplant-free survival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Fewer deaths in the first 7 days (2.2% vs 17.8%); 28-day survival similar by intention to treat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Association. Sicker or healthier patients may have been picked for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Small, single setting, many protocol violations (55.6% vs 13.3%)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 She needs a dialysis catheter</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sees only the procoagulant side. Protein C and S are low too, factor VIII and von Willebrand factor are high. Most patients are rebalanced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Rising INR and lactate mean loss of liver mass</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2344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already called. When you first suspected ALF</a:t>
            </a:r>
            <a:endParaRPr lang="en-US" sz="24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1097280" y="1874520"/>
          <a:ext cx="9997135" cy="914400"/>
        </p:xfrm>
        <a:graphic>
          <a:graphicData uri="http://schemas.openxmlformats.org/drawingml/2006/table">
            <a:tbl>
              <a:tblPr/>
              <a:tblGrid>
                <a:gridCol w="5001768"/>
                <a:gridCol w="5001768"/>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Not 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Arterial pH &lt; 7.30 after fluids</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all three within 24 hours: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Creatinine &gt; 3.4 mg/dL</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Grade III-IV encephalopathy</a:t>
                      </a:r>
                      <a:endParaRPr lang="en-US" sz="17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any three of:</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Age &lt; 10 or &gt; 40</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Drug reaction, or indeterminate cause</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Jaundice to encephalopathy &gt; 7 days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3.5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Bilirubin &gt; 17.5 mg/dL</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Body"/>
          <p:cNvSpPr txBox="1"/>
          <p:nvPr/>
        </p:nvSpPr>
        <p:spPr>
          <a:xfrm>
            <a:off x="822960" y="4800600"/>
            <a:ext cx="10545775" cy="73152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These predict death without transplant. They are not a referral threshold. Patient A: pH 7.26 on day 2</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Not blinded; one regimen in one population. Says nothing about ACLF or about albumin dialysis devices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 bridge to discuss with transplant hepatology. Not a reason to delay listing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Patient A: what decides the next 24 hours?</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Is she listed, and how urgently?</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Pupils and the neuro exam, ammonia on CRRT, sodium on target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Vasopressor dose and lactate trend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New infection</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Anything that would close the transplant window: fixed dilated pupils, uncontrolled sepsis, rising support despite everything</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56-year-old man with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4 L</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just decompensated cirrhosis?</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56-year-old man with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4 L</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Is this just decompensated cirrhosis?</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What would make it ACLF? Count the failing organs</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40"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(or chronic liver disease, depending on definition)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 1.5 +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Ascites, bleeding, encephalopathy,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Decompensation + 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multiorgan failure, sepsis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Usually not this admission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shock, multiorgan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ammonia, early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the trigger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Source control, shock, kidney vs lung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Urgent listing pathway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Routine evaluation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Narrow window; reassess daily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41"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8229600" cy="914400"/>
        </p:xfrm>
        <a:graphic>
          <a:graphicData uri="http://schemas.openxmlformats.org/drawingml/2006/table">
            <a:tbl>
              <a:tblPr/>
              <a:tblGrid>
                <a:gridCol w="2103120"/>
                <a:gridCol w="6126480"/>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42"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28800"/>
                <a:gridCol w="5669280"/>
                <a:gridCol w="34107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Patient B</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2.6: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SpO2/FiO2 about 255: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43"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6309360"/>
                <a:gridCol w="286207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Grade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it takes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28-day mortality (CANONIC)</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organ failure, or one non-kidney failure with creatinine &lt; 1.5 and no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About 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515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ACLF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 failure alone; or one other organ failure plus creatinine 1.5 to 1.9 and/or grade I-II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About 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ACLF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Two organ failures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About 32%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ACLF 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Three or more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More than 75%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2120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Population numbers from a 2013 cohort. They describe groups, not your patient</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ACLF?</a:t>
            </a:r>
            <a:endParaRPr lang="en-US" sz="3000" dirty="0"/>
          </a:p>
        </p:txBody>
      </p:sp>
      <p:graphicFrame>
        <p:nvGraphicFramePr>
          <p:cNvPr id="44"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645920"/>
                <a:gridCol w="3108960"/>
                <a:gridCol w="3291840"/>
                <a:gridCol w="304495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EASL-CLIF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NACSELD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APASL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with 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hospitalized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Chronic liver disease, with or without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Defined by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Organ failures (CLIF-C)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Two or more extrahepatic failures: shock, grade III-IV HE, dialysis, 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Jaundice (bilirubin ≥ 5) and INR ≥ 1.5, then ascites or HE within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Picks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Broader, earlier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Sicker 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 primary liver insult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47"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Sepsis (SBP)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Cultures, antibiotics in the first hour, source control. Cover for prior exposure and local resistance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Splanchnic vasodilation of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Start at MAP 65 and adjust to perfusion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Too little volume, or too much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 and dynamic measures. Edema does not mean the vessels are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Hidden bleeding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Hemoglobin, rectal exam, think varices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Relative adrenal insufficiency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Hydrocortisone if shock is refractory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Cirrhotic cardiomyopathy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Echo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Usually more than one of these</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Evening: creatinine 3.0, urine 10 mL/h, still on norepinephrine</a:t>
            </a:r>
            <a:endParaRPr lang="en-US" sz="19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Evening: creatinine 3.0, urine 10 mL/h, still on norepinephrine</a:t>
            </a:r>
            <a:endParaRPr lang="en-US" sz="1900" dirty="0"/>
          </a:p>
        </p:txBody>
      </p:sp>
      <p:graphicFrame>
        <p:nvGraphicFramePr>
          <p:cNvPr id="49"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5358384"/>
                <a:gridCol w="5367528"/>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many of us learned (ICA 2015)</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Now (ADQI-ICA 2024)</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73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response after 2 days of diuretic withdrawal and albumin 1 g/kg</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 shock</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 nephrotoxins, no structural kidney disease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Cirrhosis with ascites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AKI by creatinine and/or urine output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 response after at least 24 hours of volume resuscitation, when needed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 strong alternative explanation as the main cause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Septic shock on norepinephrine is a strong alternative. Treat the shock first</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640080" y="1280160"/>
            <a:ext cx="5303520" cy="4572000"/>
          </a:xfrm>
          <a:prstGeom prst="rect">
            <a:avLst/>
          </a:prstGeom>
          <a:noFill/>
          <a:ln/>
        </p:spPr>
        <p:txBody>
          <a:bodyPr wrap="square" lIns="50800" tIns="50800" rIns="50800" bIns="50800" rtlCol="0" anchor="t"/>
          <a:lstStyle/>
          <a:p>
            <a:pPr indent="0" marL="0">
              <a:spcBef>
                <a:spcPts val="800"/>
              </a:spcBef>
              <a:buNone/>
            </a:pPr>
            <a:r>
              <a:rPr lang="en-US" sz="2000" b="1" dirty="0">
                <a:solidFill>
                  <a:srgbClr val="000000"/>
                </a:solidFill>
                <a:latin typeface="Georgia" pitchFamily="34" charset="0"/>
                <a:ea typeface="Georgia" pitchFamily="34" charset="-122"/>
                <a:cs typeface="Georgia" pitchFamily="34" charset="-120"/>
              </a:rPr>
              <a:t>Possible contributors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Low effective volume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Tubular injury: sepsis, contrast, drugs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HRS physiology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Tense ascites (abdominal compartment)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Congestion</a:t>
            </a:r>
            <a:endParaRPr lang="en-US" sz="2000" dirty="0"/>
          </a:p>
        </p:txBody>
      </p:sp>
      <p:sp>
        <p:nvSpPr>
          <p:cNvPr id="4" name="Body"/>
          <p:cNvSpPr txBox="1"/>
          <p:nvPr/>
        </p:nvSpPr>
        <p:spPr>
          <a:xfrm>
            <a:off x="6217920" y="1280160"/>
            <a:ext cx="5394960" cy="4572000"/>
          </a:xfrm>
          <a:prstGeom prst="rect">
            <a:avLst/>
          </a:prstGeom>
          <a:noFill/>
          <a:ln/>
        </p:spPr>
        <p:txBody>
          <a:bodyPr wrap="square" lIns="50800" tIns="50800" rIns="50800" bIns="50800" rtlCol="0" anchor="t"/>
          <a:lstStyle/>
          <a:p>
            <a:pPr indent="0" marL="0">
              <a:spcBef>
                <a:spcPts val="800"/>
              </a:spcBef>
              <a:buNone/>
            </a:pPr>
            <a:r>
              <a:rPr lang="en-US" sz="2000" b="1" dirty="0">
                <a:solidFill>
                  <a:srgbClr val="000000"/>
                </a:solidFill>
                <a:latin typeface="Georgia" pitchFamily="34" charset="0"/>
                <a:ea typeface="Georgia" pitchFamily="34" charset="-122"/>
                <a:cs typeface="Georgia" pitchFamily="34" charset="-120"/>
              </a:rPr>
              <a:t>Look</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Urinalysis and sediment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 list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kidneys, bladder, IVC, heart, lungs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Bladder pressure if the belly is tight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 low urine sodium is </a:t>
            </a:r>
            <a:r>
              <a:rPr lang="en-US" sz="2000" b="1" dirty="0">
                <a:solidFill>
                  <a:srgbClr val="000000"/>
                </a:solidFill>
                <a:latin typeface="Georgia" pitchFamily="34" charset="0"/>
                <a:ea typeface="Georgia" pitchFamily="34" charset="-122"/>
                <a:cs typeface="Georgia" pitchFamily="34" charset="-120"/>
              </a:rPr>
              <a:t>not</a:t>
            </a:r>
            <a:r>
              <a:rPr lang="en-US" sz="2000" dirty="0">
                <a:solidFill>
                  <a:srgbClr val="000000"/>
                </a:solidFill>
                <a:latin typeface="Georgia" pitchFamily="34" charset="0"/>
                <a:ea typeface="Georgia" pitchFamily="34" charset="-122"/>
                <a:cs typeface="Georgia" pitchFamily="34" charset="-120"/>
              </a:rPr>
              <a:t> proof of HRS</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51"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on 4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6 L,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52"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on 4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6 L,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Will fixing the kidney hurt the lungs?</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contraindicated with hypoxia or worsening respiratory symptoms; don't start if SpO2 &lt; 90%, stop if it falls below 90%</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volume overload raises the risk of respiratory failure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If he can't make urine, RRT to take the fluid off</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Midodrine and octreotide? Not in someone on IV pressors</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54"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CONFIRM: terlipressin + albumin vs placebo + albumin, type 1 HRS, 300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Verified HRS reversal 32% vs 17%</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The catch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Death from respiratory disorders by day 90: 11% vs 2%. Respiratory failure about 14% vs 5% (label)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 survival benefit. 90-day mortality was not different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55"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2560320"/>
                <a:gridCol w="7982712"/>
              </a:tblGrid>
              <a:tr h="9144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Study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ATTIRE: daily albumin to keep serum albumin ≥ 30 g/L vs standard care, hospitalized decompensated cirrhosis, 777 patients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Main finding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difference in infection, kidney dysfunction or death (29.7% vs 30.2%)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The catch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More serious adverse events with albumin, including fluid overload and pulmonary edema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56"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044952"/>
                <a:gridCol w="1965960"/>
                <a:gridCol w="1965960"/>
                <a:gridCol w="1965960"/>
                <a:gridCol w="1965960"/>
              </a:tblGrid>
              <a:tr h="438912">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Off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4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HFNC, FiO2 0.6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HFNC, FiO2 0.4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 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 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CRRT started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On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INR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 2.1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6.4 / 2.3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6.1 / 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5.2 / 2.0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ACLF grade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57"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044952"/>
                <a:gridCol w="1965960"/>
                <a:gridCol w="1965960"/>
                <a:gridCol w="1965960"/>
                <a:gridCol w="1965960"/>
              </a:tblGrid>
              <a:tr h="438912">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Off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4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HFNC, FiO2 0.6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HFNC, FiO2 0.4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 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 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CRRT started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On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INR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 2.1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6.4 / 2.3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6.1 / 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5.2 / 2.0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ACLF grade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434840"/>
            <a:ext cx="10545775" cy="1828800"/>
          </a:xfrm>
          <a:prstGeom prst="rect">
            <a:avLst/>
          </a:prstGeom>
          <a:noFill/>
          <a:ln/>
        </p:spPr>
        <p:txBody>
          <a:bodyPr wrap="square" lIns="50800" tIns="50800" rIns="50800" bIns="50800" rtlCol="0" anchor="t"/>
          <a:lstStyle/>
          <a:p>
            <a:pPr marL="228600" indent="-228600">
              <a:spcBef>
                <a:spcPts val="400"/>
              </a:spcBef>
              <a:buSzPct val="100000"/>
              <a:buChar char="–"/>
            </a:pPr>
            <a:r>
              <a:rPr lang="en-US" sz="17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700" dirty="0"/>
          </a:p>
          <a:p>
            <a:pPr marL="228600" indent="-228600">
              <a:spcBef>
                <a:spcPts val="400"/>
              </a:spcBef>
              <a:buSzPct val="100000"/>
              <a:buChar char="–"/>
            </a:pPr>
            <a:r>
              <a:rPr lang="en-US" sz="17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700" dirty="0"/>
          </a:p>
          <a:p>
            <a:pPr marL="228600" indent="-228600">
              <a:spcBef>
                <a:spcPts val="400"/>
              </a:spcBef>
              <a:buSzPct val="100000"/>
              <a:buChar char="–"/>
            </a:pPr>
            <a:r>
              <a:rPr lang="en-US" sz="17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822960" y="1280160"/>
            <a:ext cx="10545775"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2000" dirty="0"/>
          </a:p>
          <a:p>
            <a:pPr indent="0" marL="0">
              <a:spcBef>
                <a:spcPts val="1600"/>
              </a:spcBef>
              <a:buNone/>
            </a:pPr>
            <a:r>
              <a:rPr lang="en-US" sz="2000" b="1" dirty="0">
                <a:solidFill>
                  <a:srgbClr val="000000"/>
                </a:solidFill>
                <a:latin typeface="Georgia" pitchFamily="34" charset="0"/>
                <a:ea typeface="Georgia" pitchFamily="34" charset="-122"/>
                <a:cs typeface="Georgia" pitchFamily="34" charset="-120"/>
              </a:rPr>
              <a:t>What closes the window</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Uncontrolled infection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Rising vasopressor needs, severe respiratory failure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Irreversible brain injury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Frailty and comorbidity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2000" dirty="0"/>
          </a:p>
        </p:txBody>
      </p:sp>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Lancet Gastroenterol Hepatol 2024 [PMID: 38309288]; AASLD/AST candidate evaluation 2026 [PMID: 41405234];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hepatology: have this ready</a:t>
            </a:r>
            <a:endParaRPr lang="en-US" sz="3000" dirty="0"/>
          </a:p>
        </p:txBody>
      </p:sp>
      <p:graphicFrame>
        <p:nvGraphicFramePr>
          <p:cNvPr id="59" name="Table"/>
          <p:cNvGraphicFramePr>
            <a:graphicFrameLocks noGrp="1"/>
          </p:cNvGraphicFramePr>
          <p:nvPr>
            <p:extLst>
              <p:ext uri="{D42A27DB-BD31-4B8C-83A1-F6EECF244321}">
                <p14:modId xmlns:p14="http://schemas.microsoft.com/office/powerpoint/2010/main" val="1579011935"/>
              </p:ext>
            </p:extLst>
          </p:nvPr>
        </p:nvGraphicFramePr>
        <p:xfrm>
          <a:off x="822960" y="1371600"/>
          <a:ext cx="10545775" cy="914400"/>
        </p:xfrm>
        <a:graphic>
          <a:graphicData uri="http://schemas.openxmlformats.org/drawingml/2006/table">
            <a:tbl>
              <a:tblPr/>
              <a:tblGrid>
                <a:gridCol w="5266944"/>
                <a:gridCol w="5276088"/>
              </a:tblGrid>
              <a:tr h="45720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Patient A (ALF)</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Patient B (ACLF)</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92608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Cause and time course (days from jaundice to encephalopathy)</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Encephalopathy grade, pupils, sedation</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Airway and ventilator settings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Ammonia, sodium, CRRT</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INR, lactate, pH, glucose trends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Pressors, infection</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Social support, intent of ingestion</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Cause of cirrhosis, recent alcohol use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Precipitant and source control</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Organ failures today and yesterday</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Pressor dose, oxygen, RRT</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MELD, CLIF-C scores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Frailty, comorbidities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Prior transplant evaluation, support</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graphicFrame>
        <p:nvGraphicFramePr>
          <p:cNvPr id="60"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828800"/>
                <a:gridCol w="4626864"/>
                <a:gridCol w="4636008"/>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Ammonia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Predicts cerebral edema. Act on it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Doesn't diagnose HE. Don't trend it to dose lactulose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Lactulose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established; bowel distension can complicate surgery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Yes for overt HE (plus rifaximin), avoid dehydration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Keep it high, 145 to 155 (center protocol)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Often chronically low: correct slowly, no more than 8 mmol/L a day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Antibiotics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routine prophylaxis; low threshold to treat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Treat infection; prophylaxis with GI bleeding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INR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Prognosis, not bleeding risk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Same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sp>
        <p:nvSpPr>
          <p:cNvPr id="3" name="Body"/>
          <p:cNvSpPr txBox="1"/>
          <p:nvPr/>
        </p:nvSpPr>
        <p:spPr>
          <a:xfrm>
            <a:off x="1280160" y="1325880"/>
            <a:ext cx="96313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Which one needed transplant hepatology before the tests came back?</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did a falling ALT make you more worried?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When is CRRT right before the creatinine is high?</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isn't lactulose for ACLF evidence for ALF?</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were albumin and terlipressin the wrong next step for bed 7?</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What would make you change yesterday's plan?</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Take home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Big enzymes don't make it liver failure. Get an INR and examine the patient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ALF: </a:t>
            </a:r>
            <a:r>
              <a:rPr lang="en-US" sz="2200" b="1" dirty="0">
                <a:solidFill>
                  <a:srgbClr val="000000"/>
                </a:solidFill>
                <a:latin typeface="Georgia" pitchFamily="34" charset="0"/>
                <a:ea typeface="Georgia" pitchFamily="34" charset="-122"/>
                <a:cs typeface="Georgia" pitchFamily="34" charset="-120"/>
              </a:rPr>
              <a:t>protect the brain</a:t>
            </a:r>
            <a:r>
              <a:rPr lang="en-US" sz="2200" dirty="0">
                <a:solidFill>
                  <a:srgbClr val="000000"/>
                </a:solidFill>
                <a:latin typeface="Georgia" pitchFamily="34" charset="0"/>
                <a:ea typeface="Georgia" pitchFamily="34" charset="-122"/>
                <a:cs typeface="Georgia" pitchFamily="34" charset="-120"/>
              </a:rPr>
              <a:t>. Intubate at grade III, keep the CO2 normal and the sodium up, and start CRRT for rising ammonia</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count the organs, find the trigger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731520" y="2560320"/>
            <a:ext cx="10728655"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64"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1280160"/>
                <a:gridCol w="87142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you see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Somnolent but rousable to voice or pain, grossly disoriented, bizarre behavior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Coma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1999;29:648-53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2006;55:98-104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2012;10:925-31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65</a:t>
            </a:fld>
            <a:endParaRPr lang="en-US"/>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2026-10-26T16:27:04Z</dcterms:created>
  <dcterms:modified xsi:type="dcterms:W3CDTF">2026-10-26T16:27:04Z</dcterms:modified>
</cp:coreProperties>
</file>