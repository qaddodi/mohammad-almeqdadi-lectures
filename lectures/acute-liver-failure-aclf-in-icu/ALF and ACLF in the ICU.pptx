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8.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3.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charts/chart14.xml" ContentType="application/vnd.openxmlformats-officedocument.drawingml.chart+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notesMasterIdLst>
    <p:notesMasterId r:id="rId1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f72764-3f86-cf3a-3c27-68049b290f9d}">
          <p14:sldIdLst>
            <p14:sldId id="256"/>
            <p14:sldId id="257"/>
          </p14:sldIdLst>
        </p14:section>
        <p14:section name="Patient A" id="{94c93d86-d0f6-c623-96f4-2edeb6fa71cd}">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Lst>
        </p14:section>
        <p14:section name="Patient B" id="{69be02d3-0841-8aa7-a102-6799650aee0e}">
          <p14:sldIdLst>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Lst>
        </p14:section>
        <p14:section name="Closing" id="{6666afcd-fbdb-196d-80cd-081b719d0c5e}">
          <p14:sldIdLst>
            <p14:sldId id="362"/>
            <p14:sldId id="363"/>
            <p14:sldId id="364"/>
            <p14:sldId id="365"/>
          </p14:sldIdLst>
        </p14:section>
        <p14:section name="Appendix" id="{7223202f-4208-842e-1d02-cde06fba891e}">
          <p14:sldIdLst>
            <p14:sldId id="366"/>
            <p14:sldId id="367"/>
            <p14:sldId id="368"/>
            <p14:sldId id="369"/>
            <p14:sldId id="370"/>
            <p14:sldId id="371"/>
            <p14:sldId id="3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Where it usually goes wrong is the circuit: it keeps clotting, so the delivered clearance is a fraction of what was ordered. The other problem is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high-volume plasma exchange removes cytokines and DAMPs and replaces coagulation factors; hospital survival was better in the trial. Burke: all seven UK transplant centers, 2013 to 2021, propensity matched. Noradrenaline fell from 0.35 to 0.16 mcg/kg/min after plasma exchange, but overall survival (51.4% vs 62.6%) and transplant-free survival (42.6% vs 53.1%) were not better. Observational: plasma exchange went to older, sicker patients (acetaminophen, meeting King's College criteria, higher noradrenaline), and practice varied between centers. If you use it, use it early and as a bridge, and don't delay listing for it. The INR after plasma exchange is no longer the patient's INR, so tell transplant hepatology before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Larsen: high-volume plasma exchange removes cytokines and DAMPs and replaces coagulation factors; hospital survival was better in the trial. Burke: all seven UK transplant centers, 2013 to 2021, propensity matched. Noradrenaline fell from 0.35 to 0.16 mcg/kg/min after plasma exchange, but overall survival (51.4% vs 62.6%) and transplant-free survival (42.6% vs 53.1%) were not better. Observational: plasma exchange went to older, sicker patients (acetaminophen, meeting King's College criteria, higher noradrenaline), and practice varied between centers. If you use it, use it early and as a bridge, and don't delay listing for it. The INR after plasma exchange is no longer the patient's INR, so tell transplant hepatology before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take her off the list: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6-1.jp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2.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4.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image" Target="../media/image-90-2.png"/><Relationship Id="rId3" Type="http://schemas.openxmlformats.org/officeDocument/2006/relationships/slideLayout" Target="../slideLayouts/slideLayout2.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2.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4.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slideLayout" Target="../slideLayouts/slideLayout2.xml"/><Relationship Id="rId4"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jpg"/><Relationship Id="rId2" Type="http://schemas.openxmlformats.org/officeDocument/2006/relationships/slideLayout" Target="../slideLayouts/slideLayout2.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image" Target="../media/image-110-2.png"/><Relationship Id="rId3" Type="http://schemas.openxmlformats.org/officeDocument/2006/relationships/slideLayout" Target="../slideLayouts/slideLayout4.xm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png"/><Relationship Id="rId2" Type="http://schemas.openxmlformats.org/officeDocument/2006/relationships/slideLayout" Target="../slideLayouts/slideLayout2.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2/69</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and bed 7</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Is it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3/69</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4/69</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5/69</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5/69</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5/69</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6/69</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8/69</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9/69</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9/69</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10/69</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first hour</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097280" y="1554480"/>
          <a:ext cx="9997135" cy="914400"/>
        </p:xfrm>
        <a:graphic>
          <a:graphicData uri="http://schemas.openxmlformats.org/drawingml/2006/table">
            <a:tbl>
              <a:tblPr/>
              <a:tblGrid>
                <a:gridCol w="4151376"/>
                <a:gridCol w="5843016"/>
              </a:tblGrid>
              <a:tr h="618134">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Support</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Workup</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9392">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ICU bed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Glucose every 1 to 2 hours</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Volume, perfusion, lactate</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Neuro checks</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Acetaminophen level</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Viral, autoimmune, Wilson, toxicology</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Doppler ultrasound</a:t>
                      </a:r>
                      <a:endParaRPr lang="en-US" sz="2600" dirty="0">
                        <a:latin typeface="Calibri" charset="0"/>
                        <a:ea typeface="Calibri" charset="0"/>
                        <a:cs typeface="Calibri" charset="0"/>
                      </a:endParaRPr>
                    </a:p>
                    <a:p>
                      <a:pPr algn="l" indent="0" marL="0">
                        <a:buNone/>
                      </a:pPr>
                      <a:r>
                        <a:rPr lang="en-US" sz="2600" dirty="0">
                          <a:solidFill>
                            <a:srgbClr val="000000"/>
                          </a:solidFill>
                          <a:latin typeface="Calibri" pitchFamily="34" charset="0"/>
                          <a:ea typeface="Calibri" pitchFamily="34" charset="-122"/>
                          <a:cs typeface="Calibri" pitchFamily="34" charset="-120"/>
                        </a:rPr>
                        <a:t>Pregnancy test</a:t>
                      </a:r>
                      <a:endParaRPr lang="en-US" sz="26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Send the workup while you resuscitate</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11/69</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12/69</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DIPS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12/69</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14/69</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15/69</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15/69</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16/69</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17/69</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17/69</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18/69</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19/69</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ALF vs cirrhosis</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3361334" y="2269570"/>
            <a:ext cx="2103120" cy="530352"/>
          </a:xfrm>
          <a:prstGeom prst="rect">
            <a:avLst/>
          </a:prstGeom>
          <a:noFill/>
          <a:ln/>
        </p:spPr>
        <p:txBody>
          <a:bodyPr wrap="square" lIns="0" tIns="0" rIns="0" bIns="0" rtlCol="0" anchor="b"/>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a:p>
            <a:pPr algn="r" indent="0" marL="0">
              <a:buNone/>
            </a:pPr>
            <a:r>
              <a:rPr lang="en-US" sz="1100" dirty="0">
                <a:solidFill>
                  <a:srgbClr val="000000"/>
                </a:solidFill>
                <a:latin typeface="Calibri" pitchFamily="34" charset="0"/>
                <a:ea typeface="Calibri" pitchFamily="34" charset="-122"/>
                <a:cs typeface="Calibri" pitchFamily="34" charset="-120"/>
              </a:rPr>
              <a:t>lowest level in a herniated patient</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20/69</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21/69</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21/69</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22/69</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22/69</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23/69</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56816"/>
                <a:gridCol w="2331720"/>
                <a:gridCol w="3200400"/>
                <a:gridCol w="3419856"/>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lungs (ARDS)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For the brain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23/69</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24/69</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Rising ICP: hypertension, bradycardia, a new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26/69</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27/69</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27/69</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28/69</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28/69</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29/69</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29/69</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30/69</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31/69</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Indication: ammonia 214 and grade III encephalopathy. The creatinine doesn't matter here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31/69</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32/69</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33/69</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33/69</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What matters is the effluent dose and hours on a working circuit, more than the mode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33/69</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34/69</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34/69</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35/69</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35/69</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36/69</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36/69</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37/69</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37/69</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955280" cy="914400"/>
        </p:xfrm>
        <a:graphic>
          <a:graphicData uri="http://schemas.openxmlformats.org/drawingml/2006/table">
            <a:tbl>
              <a:tblPr/>
              <a:tblGrid>
                <a:gridCol w="1847088"/>
                <a:gridCol w="2569464"/>
                <a:gridCol w="3538728"/>
              </a:tblGrid>
              <a:tr h="64008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Larsen 2016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Burke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RCT, 182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UK, 7 centers, 378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Plasma exchange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High volume × 3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120 patients, matched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Survival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503920" y="1143000"/>
            <a:ext cx="3429000" cy="431667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 Burke L et al. J Hepatol 2025;82:615-21 [PMID: 39362282]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38/69</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plasma exchange help in ALF?</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955280" cy="914400"/>
        </p:xfrm>
        <a:graphic>
          <a:graphicData uri="http://schemas.openxmlformats.org/drawingml/2006/table">
            <a:tbl>
              <a:tblPr/>
              <a:tblGrid>
                <a:gridCol w="1847088"/>
                <a:gridCol w="2569464"/>
                <a:gridCol w="3538728"/>
              </a:tblGrid>
              <a:tr h="64008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Larsen 2016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Burke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RCT, 182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UK, 7 centers, 378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Plasma exchange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High volume × 3 days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120 patients, matched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Survival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58.7% vs 47.8% (HR 0.56)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51.4% vs 62.6% (p = 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blinded; 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Retrospective; sicker patients got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365760" y="5120640"/>
            <a:ext cx="795528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Better blood pressure, no proven survival benefit</a:t>
            </a:r>
            <a:endParaRPr lang="en-US" sz="2200" dirty="0"/>
          </a:p>
        </p:txBody>
      </p:sp>
      <p:pic>
        <p:nvPicPr>
          <p:cNvPr id="5" name="Image 0" descr="Watercolor of an apheresis machine for plasma exchange">    </p:cNvPr>
          <p:cNvPicPr>
            <a:picLocks noChangeAspect="1"/>
          </p:cNvPicPr>
          <p:nvPr/>
        </p:nvPicPr>
        <p:blipFill>
          <a:blip r:embed="rId1"/>
          <a:stretch>
            <a:fillRect/>
          </a:stretch>
        </p:blipFill>
        <p:spPr>
          <a:xfrm>
            <a:off x="8503920" y="1143000"/>
            <a:ext cx="3429000" cy="4316674"/>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 Burke L et al. J Hepatol 2025;82:615-21 [PMID: 39362282]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38/69</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Bed 4 on day 3</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39/69</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40/69</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41/69</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42/69</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43/69</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43/69</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44/69</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44/69</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45/69</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45/69</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46/69</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Check the IVC, lungs and heart before more fluid</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46/69</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47/69</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47/69</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48/69</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48/69</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49/69</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50/69</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51/69</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51/69</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51/69</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52/69</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53/69</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a precipitant. The ammonia level won't help</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53/69</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54/69</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look at his oxygen</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54/69</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55/69</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56/69</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56/69</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57/69</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57/69</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58/69</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59/69</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59/69</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99"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60/69</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61/69</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61/69</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Transplant in ACLF</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62/69</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ACLF 3 on a ventilator. Would you call?</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63/69</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 too sick for a transplant?</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if it happens early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makes transplant unlikely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63/69</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64/69</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65/69</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65/69</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66/69</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67/69</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Summary</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68/69</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pic>
        <p:nvPicPr>
          <p:cNvPr id="4" name="Image 1" descr="QR code linking to the slides PDF">    </p:cNvPr>
          <p:cNvPicPr>
            <a:picLocks noChangeAspect="1"/>
          </p:cNvPicPr>
          <p:nvPr/>
        </p:nvPicPr>
        <p:blipFill>
          <a:blip r:embed="rId2"/>
          <a:stretch>
            <a:fillRect/>
          </a:stretch>
        </p:blipFill>
        <p:spPr>
          <a:xfrm>
            <a:off x="7955280" y="2834640"/>
            <a:ext cx="2286000" cy="2286000"/>
          </a:xfrm>
          <a:prstGeom prst="rect">
            <a:avLst/>
          </a:prstGeom>
        </p:spPr>
      </p:pic>
      <p:sp>
        <p:nvSpPr>
          <p:cNvPr id="5" name="Text 1"/>
          <p:cNvSpPr txBox="1"/>
          <p:nvPr/>
        </p:nvSpPr>
        <p:spPr>
          <a:xfrm>
            <a:off x="6492240" y="5212080"/>
            <a:ext cx="521208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Georgia" pitchFamily="34" charset="0"/>
                <a:ea typeface="Georgia" pitchFamily="34" charset="-122"/>
                <a:cs typeface="Georgia" pitchFamily="34" charset="-120"/>
              </a:rPr>
              <a:t>Slides (PDF)</a:t>
            </a:r>
            <a:endParaRPr lang="en-US" sz="1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69/69</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1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in ALF.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Burke L et al. Plasma exchange in a real-world ALF cohort. J Hepatol 2025;82:615-21 [PMID: 39362282]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117</Slides>
  <Notes>117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2026-10-28T15:44:25Z</dcterms:created>
  <dcterms:modified xsi:type="dcterms:W3CDTF">2026-10-28T15:44:25Z</dcterms:modified>
</cp:coreProperties>
</file>