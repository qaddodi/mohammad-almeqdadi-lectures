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6.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charts/chart9.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0.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charts/chart11.xml" ContentType="application/vnd.openxmlformats-officedocument.drawingml.chart+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d2fe584-f1b4-3797-2b57-77282b214797}">
          <p14:sldIdLst>
            <p14:sldId id="256"/>
            <p14:sldId id="257"/>
          </p14:sldIdLst>
        </p14:section>
        <p14:section name="Patient A: acute liver failure" id="{441bd244-9fd3-814a-c8ad-49d7433926bf}">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Lst>
        </p14:section>
        <p14:section name="Patient B: ACLF" id="{2b967288-d098-1ece-fc70-1fc916aa1640}">
          <p14:sldIdLst>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Lst>
        </p14:section>
        <p14:section name="Closing" id="{7753a109-0a20-1948-ad58-f038a9d3835c}">
          <p14:sldIdLst>
            <p14:sldId id="322"/>
            <p14:sldId id="323"/>
            <p14:sldId id="324"/>
          </p14:sldIdLst>
        </p14:section>
        <p14:section name="Appendix" id="{aa100b49-1ba4-2505-f81b-884338212394}">
          <p14:sldIdLst>
            <p14:sldId id="325"/>
            <p14:sldId id="326"/>
            <p14:sldId id="32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ACLF 3: 1-year survival</a:t>
            </a:r>
          </a:p>
        </c:rich>
      </c:tx>
      <c:layout/>
      <c:overlay val="0"/>
    </c:title>
    <c:autoTitleDeleted val="0"/>
    <c:plotArea>
      <c:layout/>
      <c:barChart>
        <c:barDir val="col"/>
        <c:grouping val="clustered"/>
        <c:varyColors val="0"/>
        <c:ser>
          <c:idx val="0"/>
          <c:order val="0"/>
          <c:tx>
            <c:strRef>
              <c:f>Sheet1!$B$1</c:f>
              <c:strCache>
                <c:ptCount val="1"/>
                <c:pt idx="0">
                  <c:v>1-year survival</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A6A6A6"/>
              </a:solidFill>
              <a:effectLst/>
            </c:spPr>
          </c:dPt>
          <c:cat>
            <c:multiLvlStrRef>
              <c:f>Sheet1!$A$2:$A$3</c:f>
              <c:multiLvlStrCache>
                <c:ptCount val="2"/>
                <c:lvl>
                  <c:pt idx="0">
                    <c:v>Transplanted (n = 73)</c:v>
                  </c:pt>
                  <c:pt idx="1">
                    <c:v>Not transplanted</c:v>
                  </c:pt>
                </c:lvl>
              </c:multiLvlStrCache>
            </c:multiLvlStrRef>
          </c:cat>
          <c:val>
            <c:numRef>
              <c:f>Sheet1!$B$2:$B$3</c:f>
              <c:numCache>
                <c:formatCode>General</c:formatCode>
                <c:ptCount val="2"/>
                <c:pt idx="0">
                  <c:v>83.9</c:v>
                </c:pt>
                <c:pt idx="1">
                  <c:v>7.9</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one night.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talk as the questions they actually get paged about. We'll answer them through two patients who are in the unit on the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the first night,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With repeated supratherapeutic dosing over 3 days there is no single ingestion time, so the nomogram can't answer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Transplant-free survival is a softer endpoint than overall survival, and part of the effect is that fewer patients needed transplant. Still, it is cheap and safe, so most centers give it in early non-acetaminophen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the studies from the last slide as pictures. Left: in Copenhagen, the patients who herniated had about twice the arterial ammonia of those who didn't, and none of them were below 146. Right: in Delhi, ammonia that stayed at or above 122 for three days went with a third of the survival and twice the cerebral edema of ammonia that came down. That is why we trend it and why we start CRRT to bring it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the whole clot and in ALF are often close to normal despite a high INR.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with a rising INR, rising lactate and worsening encephalopathy means there are fewer hepatocytes left to release enzymes.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going to tell you what happened to her. The point is what you reassess, and how often. Now,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night,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decompensation alone is not ACLF. ACLF means organ failure, and the definition you use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92% on 4 L is roughly an SpO2/FiO2 of 255 if you estimate FiO2 at about 0.36.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non-kidney organ failure counts only with some kidney dysfunction or mild encephalopathy.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tonight: about one in three.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We use EASL-CLIF for the rest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mandatory 48-hour albumin challenge is gone.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Respiratory failure here partly came from what we gave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in ACLF should follow usual indications plus trajectory and transplant potential; avoid the rule 'dialysis only if listed'. A time-limited trial is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tell you how he does after day 5. The reassessment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For Patient B, it means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call makes the transplant team's decision faster. Trends, not single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iver illustration">    </p:cNvPr>
          <p:cNvPicPr>
            <a:picLocks noChangeAspect="1"/>
          </p:cNvPicPr>
          <p:nvPr/>
        </p:nvPicPr>
        <p:blipFill>
          <a:blip r:embed="rId1">
            <a:alphaModFix amt="65000"/>
          </a:blip>
          <a:stretch>
            <a:fillRect/>
          </a:stretch>
        </p:blipFill>
        <p:spPr>
          <a:xfrm>
            <a:off x="1243584" y="36576"/>
            <a:ext cx="9692640" cy="6702552"/>
          </a:xfrm>
          <a:prstGeom prst="rect">
            <a:avLst/>
          </a:prstGeom>
        </p:spPr>
      </p:pic>
      <p:sp>
        <p:nvSpPr>
          <p:cNvPr id="3" name="Text 0"/>
          <p:cNvSpPr txBox="1"/>
          <p:nvPr/>
        </p:nvSpPr>
        <p:spPr>
          <a:xfrm>
            <a:off x="731520" y="1828800"/>
            <a:ext cx="10728655" cy="914400"/>
          </a:xfrm>
          <a:prstGeom prst="rect">
            <a:avLst/>
          </a:prstGeom>
          <a:noFill/>
          <a:ln/>
        </p:spPr>
        <p:txBody>
          <a:bodyPr wrap="square" lIns="0" tIns="0" rIns="0" bIns="0" rtlCol="0" anchor="ctr"/>
          <a:lstStyle/>
          <a:p>
            <a:pPr algn="ctr" indent="0" marL="0">
              <a:buNone/>
            </a:pPr>
            <a:r>
              <a:rPr lang="en-US" sz="5000" b="1" dirty="0">
                <a:solidFill>
                  <a:srgbClr val="000000"/>
                </a:solidFill>
                <a:latin typeface="Georgia" pitchFamily="34" charset="0"/>
                <a:ea typeface="Georgia" pitchFamily="34" charset="-122"/>
                <a:cs typeface="Georgia" pitchFamily="34" charset="-120"/>
              </a:rPr>
              <a:t>Acute Liver Failure and ACLF</a:t>
            </a:r>
            <a:endParaRPr lang="en-US" sz="5000" dirty="0"/>
          </a:p>
        </p:txBody>
      </p:sp>
      <p:sp>
        <p:nvSpPr>
          <p:cNvPr id="4" name="Text 1"/>
          <p:cNvSpPr txBox="1"/>
          <p:nvPr/>
        </p:nvSpPr>
        <p:spPr>
          <a:xfrm>
            <a:off x="731520" y="2697480"/>
            <a:ext cx="10728655" cy="64008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in the ICU</a:t>
            </a:r>
            <a:endParaRPr lang="en-US" sz="3600" dirty="0"/>
          </a:p>
        </p:txBody>
      </p:sp>
      <p:sp>
        <p:nvSpPr>
          <p:cNvPr id="5" name="Text 2"/>
          <p:cNvSpPr txBox="1"/>
          <p:nvPr/>
        </p:nvSpPr>
        <p:spPr>
          <a:xfrm>
            <a:off x="731520" y="3337560"/>
            <a:ext cx="10728655" cy="457200"/>
          </a:xfrm>
          <a:prstGeom prst="rect">
            <a:avLst/>
          </a:prstGeom>
          <a:noFill/>
          <a:ln/>
        </p:spPr>
        <p:txBody>
          <a:bodyPr wrap="square" lIns="0" tIns="0" rIns="0" bIns="0" rtlCol="0" anchor="ctr"/>
          <a:lstStyle/>
          <a:p>
            <a:pPr algn="ctr" indent="0" marL="0">
              <a:buNone/>
            </a:pPr>
            <a:r>
              <a:rPr lang="en-US" sz="2000" i="1" dirty="0">
                <a:solidFill>
                  <a:srgbClr val="000000"/>
                </a:solidFill>
                <a:latin typeface="Georgia" pitchFamily="34" charset="0"/>
                <a:ea typeface="Georgia" pitchFamily="34" charset="-122"/>
                <a:cs typeface="Georgia" pitchFamily="34" charset="-120"/>
              </a:rPr>
              <a:t>A guide for the night shift</a:t>
            </a:r>
            <a:endParaRPr lang="en-US" sz="2000" dirty="0"/>
          </a:p>
        </p:txBody>
      </p:sp>
      <p:sp>
        <p:nvSpPr>
          <p:cNvPr id="6" name="Text 3"/>
          <p:cNvSpPr txBox="1"/>
          <p:nvPr/>
        </p:nvSpPr>
        <p:spPr>
          <a:xfrm>
            <a:off x="2286000" y="4160520"/>
            <a:ext cx="7619695" cy="100584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Mohammad Almeqdadi, MD</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Transplant Hepatologist and Gastroenterologist</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Assistant Professor of Medicine and Surgery</a:t>
            </a:r>
            <a:endParaRPr lang="en-US" sz="1800" dirty="0"/>
          </a:p>
        </p:txBody>
      </p:sp>
      <p:pic>
        <p:nvPicPr>
          <p:cNvPr id="7" name="Image 1" descr="Tufts University School of Medicine">    </p:cNvPr>
          <p:cNvPicPr>
            <a:picLocks noChangeAspect="1"/>
          </p:cNvPicPr>
          <p:nvPr/>
        </p:nvPicPr>
        <p:blipFill>
          <a:blip r:embed="rId2"/>
          <a:stretch>
            <a:fillRect/>
          </a:stretch>
        </p:blipFill>
        <p:spPr>
          <a:xfrm>
            <a:off x="4361688" y="5669280"/>
            <a:ext cx="3465576" cy="7040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Tonight's questions</a:t>
            </a:r>
            <a:endParaRPr lang="en-US" sz="3000" dirty="0"/>
          </a:p>
        </p:txBody>
      </p:sp>
      <p:sp>
        <p:nvSpPr>
          <p:cNvPr id="3" name="Body"/>
          <p:cNvSpPr txBox="1"/>
          <p:nvPr/>
        </p:nvSpPr>
        <p:spPr>
          <a:xfrm>
            <a:off x="1463040" y="1325880"/>
            <a:ext cx="926561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liver failure?</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What do I do in the first hour?</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intubate, and how do I protect the brain?</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 I wait for the creatinine before dialysis?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ACLF, and does the label change anything?</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Does he have HRS? Will fixing the kidney hurt the lungs?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call transplant hepatology?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night</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It's called liver failure. Which other organs fail?</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transplant hepatology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tonight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911535" cy="914400"/>
        </p:xfrm>
        <a:graphic>
          <a:graphicData uri="http://schemas.openxmlformats.org/drawingml/2006/table">
            <a:tbl>
              <a:tblPr/>
              <a:tblGrid>
                <a:gridCol w="2651760"/>
                <a:gridCol w="4206240"/>
                <a:gridCol w="4050792"/>
              </a:tblGrid>
              <a:tr h="512064">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If you suspect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Send</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Don't wait for the result to</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Level, ingestion history, combination products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NAC</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Herpes simplex</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HSV PCR (blood)</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IV acyclovir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Hepatitis B</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HBsAg, anti-HBc IgM, HBV DNA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entecavir or tenofovir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Autoimmune hepatitis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ANA, ASMA, IgG (can be negative)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Discuss steroids with hepatology, list in parallel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Wilson disease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Ceruloplasmin, urine copper, hemolysis, low 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Prepare for urgent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Pregnancy (AFLP, HELLP)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hCG</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Call obstetrics, plan delivery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Budd-Chiari</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Doppler ultrasound or CT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Anticoagulation, discuss TIPS or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Ischemic hepatitis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Echo, history of shock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Fix the circulation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114800" cy="47548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One acute ingestion, known time, plotted from 4 to 24 hours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Above the treatment line: NAC</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Now plot her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At 8 hours, 12 is well below the line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At 20 hours, it is above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Three days of repeated doses: </a:t>
            </a:r>
            <a:r>
              <a:rPr lang="en-US" sz="1900" b="1" dirty="0">
                <a:solidFill>
                  <a:srgbClr val="000000"/>
                </a:solidFill>
                <a:latin typeface="Georgia" pitchFamily="34" charset="0"/>
                <a:ea typeface="Georgia" pitchFamily="34" charset="-122"/>
                <a:cs typeface="Georgia" pitchFamily="34" charset="-120"/>
              </a:rPr>
              <a:t>there is no time zero</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 treatment line 150 μg/mL at 4 hours</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5"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6"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Hepatology 1999;29:648-53; Bhatia Gut 2006; Bernal Hepatology 2007 [PMID: 17685471]; Kumar Clin Gastroenterol Hepatol 2012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Higher and persistent ammonia, more brain swelling</a:t>
            </a:r>
            <a:endParaRPr lang="en-US" sz="3000" dirty="0"/>
          </a:p>
        </p:txBody>
      </p:sp>
      <p:graphicFrame>
        <p:nvGraphicFramePr>
          <p:cNvPr id="3" name="Chart 0" descr=""/>
          <p:cNvGraphicFramePr/>
          <p:nvPr/>
        </p:nvGraphicFramePr>
        <p:xfrm>
          <a:off x="548640" y="1280160"/>
          <a:ext cx="5120640" cy="4480560"/>
        </p:xfrm>
        <a:graphic xmlns:a="http://schemas.openxmlformats.org/drawingml/2006/main">
          <a:graphicData uri="http://schemas.openxmlformats.org/drawingml/2006/chart">
            <c:chart xmlns:c="http://schemas.openxmlformats.org/drawingml/2006/chart" r:id="rId1"/>
          </a:graphicData>
        </a:graphic>
      </p:graphicFrame>
      <p:sp>
        <p:nvSpPr>
          <p:cNvPr id="4" name="Line146"/>
          <p:cNvSpPr/>
          <p:nvPr/>
        </p:nvSpPr>
        <p:spPr>
          <a:xfrm>
            <a:off x="1265530" y="3249456"/>
            <a:ext cx="4198925" cy="0"/>
          </a:xfrm>
          <a:prstGeom prst="line">
            <a:avLst/>
          </a:prstGeom>
          <a:noFill/>
          <a:ln w="19050">
            <a:solidFill>
              <a:srgbClr val="000000"/>
            </a:solidFill>
            <a:prstDash val="dash"/>
          </a:ln>
        </p:spPr>
      </p:sp>
      <p:sp>
        <p:nvSpPr>
          <p:cNvPr id="5" name="Text 2"/>
          <p:cNvSpPr txBox="1"/>
          <p:nvPr/>
        </p:nvSpPr>
        <p:spPr>
          <a:xfrm>
            <a:off x="4915814" y="2920272"/>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sp>
        <p:nvSpPr>
          <p:cNvPr id="6" name="Body"/>
          <p:cNvSpPr txBox="1"/>
          <p:nvPr/>
        </p:nvSpPr>
        <p:spPr>
          <a:xfrm>
            <a:off x="548640" y="5760720"/>
            <a:ext cx="512064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Every herniation was above 146</a:t>
            </a:r>
            <a:endParaRPr lang="en-US" sz="1700" dirty="0"/>
          </a:p>
        </p:txBody>
      </p:sp>
      <p:graphicFrame>
        <p:nvGraphicFramePr>
          <p:cNvPr id="7" name="Chart 1" descr=""/>
          <p:cNvGraphicFramePr/>
          <p:nvPr/>
        </p:nvGraphicFramePr>
        <p:xfrm>
          <a:off x="6217920" y="1280160"/>
          <a:ext cx="5486400" cy="4480560"/>
        </p:xfrm>
        <a:graphic xmlns:a="http://schemas.openxmlformats.org/drawingml/2006/main">
          <a:graphicData uri="http://schemas.openxmlformats.org/drawingml/2006/chart">
            <c:chart xmlns:c="http://schemas.openxmlformats.org/drawingml/2006/chart" r:id="rId2"/>
          </a:graphicData>
        </a:graphic>
      </p:graphicFrame>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1999;29:648-53; Kumar R et al. Clin Gastroenterol Hepatol 2012;10:925-31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Day 1: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Day 1: bilateral infiltrates, P/F 150 on PEEP 10</a:t>
            </a:r>
            <a:endParaRPr lang="en-US" sz="2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conflict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then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Individualize.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then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what we actually do</a:t>
            </a:r>
            <a:endParaRPr lang="en-US" sz="3000" dirty="0"/>
          </a:p>
        </p:txBody>
      </p:sp>
      <p:sp>
        <p:nvSpPr>
          <p:cNvPr id="3" name="Body"/>
          <p:cNvSpPr txBox="1"/>
          <p:nvPr/>
        </p:nvSpPr>
        <p:spPr>
          <a:xfrm>
            <a:off x="640080" y="1280160"/>
            <a:ext cx="5669280" cy="49377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Every patient with grade III-IV encephalopathy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Head of bed 30°, neck neutral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fever, avoid hypoglycemia</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Sodium </a:t>
            </a:r>
            <a:r>
              <a:rPr lang="en-US" sz="1900" b="1" dirty="0">
                <a:solidFill>
                  <a:srgbClr val="000000"/>
                </a:solidFill>
                <a:latin typeface="Georgia" pitchFamily="34" charset="0"/>
                <a:ea typeface="Georgia" pitchFamily="34" charset="-122"/>
                <a:cs typeface="Georgia" pitchFamily="34" charset="-120"/>
              </a:rPr>
              <a:t>145 to 155 mmol/L</a:t>
            </a:r>
            <a:r>
              <a:rPr lang="en-US" sz="1900" dirty="0">
                <a:solidFill>
                  <a:srgbClr val="000000"/>
                </a:solidFill>
                <a:latin typeface="Georgia" pitchFamily="34" charset="0"/>
                <a:ea typeface="Georgia" pitchFamily="34" charset="-122"/>
                <a:cs typeface="Georgia" pitchFamily="34" charset="-120"/>
              </a:rPr>
              <a:t> with hypertonic saline (use your center's protocol)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Avoid fluid overload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seizures, EEG if in doubt. No routine prophylaxis</a:t>
            </a:r>
            <a:endParaRPr lang="en-US" sz="1900" dirty="0"/>
          </a:p>
        </p:txBody>
      </p:sp>
      <p:sp>
        <p:nvSpPr>
          <p:cNvPr id="4" name="Body"/>
          <p:cNvSpPr txBox="1"/>
          <p:nvPr/>
        </p:nvSpPr>
        <p:spPr>
          <a:xfrm>
            <a:off x="6400800" y="1280160"/>
            <a:ext cx="5212080" cy="49377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Surge: new hypertension, bradycardia, pupils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10545775"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High clearance lowers ammonia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Set replacement fluid sodium to match your sodium target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tonight, not in the morning</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Fewer deaths in the first 7 days (2.2% vs 17.8%); 28-day survival similar by intention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single setting, many protocol violations (55.6% vs 13.3%)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Less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Less anticoagulation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measures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Rising INR and lactate mean loss of liver mass</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2344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already called. When you first suspected ALF</a:t>
            </a:r>
            <a:endParaRPr lang="en-US" sz="24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1097280" y="187452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Body"/>
          <p:cNvSpPr txBox="1"/>
          <p:nvPr/>
        </p:nvSpPr>
        <p:spPr>
          <a:xfrm>
            <a:off x="822960" y="4800600"/>
            <a:ext cx="10545775" cy="73152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These predict death without transplant. They are not a referral threshold. Patient A: pH 7.26 on day 2</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Patient A: what decides the next 24 hours?</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Is she listed, and how urgently?</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Pupils and the neuro exam, ammonia on CRRT, sodium on target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Vasopressor dose and lactate trend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New infection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Anything that would close the transplant window: fixed dilated pupils, uncontrolled sepsis, rising support despite everything</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56-year-old man with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4 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4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just decompensated cirrhosis?</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56-year-old man with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4 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Is this just decompensated cirrhosis?</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What would make it ACLF? Count the failing organs</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Usually not this admission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Routine evaluation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SpO2/FiO2 about 255: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1828800"/>
                <a:gridCol w="8897112"/>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Grade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What it takes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ACLF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organ failure, or one non-kidney failure with creatinine &lt; 1.5 and no encephalopathy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ACLF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 failure alone; or one other organ failure plus creatinine 1.5 to 1.9 and/or grade I-II encephalopathy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ACLF 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Two organ failures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ACLF 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Three or more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 These numbers describe groups, not your patient</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ACLF?</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5358384"/>
                <a:gridCol w="536752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many of us learned (ICA 2015)</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Now (ADQI-ICA 2024)</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shock</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nephrotoxins, no structural kidney disease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Cirrhosis with ascites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AKI by creatinine and/or urine output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response after at least 24 hours of volume resuscitation, when needed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strong alternative explanation as the main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Septic shock on norepinephrine is a strong alternative. Treat the shock first</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640080" y="1280160"/>
            <a:ext cx="530352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Possible contributors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Low effective volume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Tubular injury: sepsis, contrast, drugs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HRS physiology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Tense ascites (abdominal compartment)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Congestion</a:t>
            </a:r>
            <a:endParaRPr lang="en-US" sz="2000" dirty="0"/>
          </a:p>
        </p:txBody>
      </p:sp>
      <p:sp>
        <p:nvSpPr>
          <p:cNvPr id="4" name="Body"/>
          <p:cNvSpPr txBox="1"/>
          <p:nvPr/>
        </p:nvSpPr>
        <p:spPr>
          <a:xfrm>
            <a:off x="6217920" y="1280160"/>
            <a:ext cx="539496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Look</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Urinalysis and sediment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 list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kidneys, bladder, IVC, heart, lungs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Bladder pressure if the belly is tight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low urine sodium is </a:t>
            </a:r>
            <a:r>
              <a:rPr lang="en-US" sz="2000" b="1" dirty="0">
                <a:solidFill>
                  <a:srgbClr val="000000"/>
                </a:solidFill>
                <a:latin typeface="Georgia" pitchFamily="34" charset="0"/>
                <a:ea typeface="Georgia" pitchFamily="34" charset="-122"/>
                <a:cs typeface="Georgia" pitchFamily="34" charset="-120"/>
              </a:rPr>
              <a:t>not</a:t>
            </a:r>
            <a:r>
              <a:rPr lang="en-US" sz="2000" dirty="0">
                <a:solidFill>
                  <a:srgbClr val="000000"/>
                </a:solidFill>
                <a:latin typeface="Georgia" pitchFamily="34" charset="0"/>
                <a:ea typeface="Georgia" pitchFamily="34" charset="-122"/>
                <a:cs typeface="Georgia" pitchFamily="34" charset="-120"/>
              </a:rPr>
              <a:t> proof of HRS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on 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6 L,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on 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6 L,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If he can't make urine, RRT to take the fluid off</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Label: respiratory failure about 14% vs 5%</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difference in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6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044952"/>
                <a:gridCol w="1965960"/>
                <a:gridCol w="1965960"/>
                <a:gridCol w="1965960"/>
                <a:gridCol w="1965960"/>
              </a:tblGrid>
              <a:tr h="438912">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CRRT started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On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 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6.4 / 2.3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6.1 /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5.2 / 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044952"/>
                <a:gridCol w="1965960"/>
                <a:gridCol w="1965960"/>
                <a:gridCol w="1965960"/>
                <a:gridCol w="1965960"/>
              </a:tblGrid>
              <a:tr h="438912">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CRRT started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On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 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6.4 / 2.3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6.1 /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5.2 / 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434840"/>
            <a:ext cx="10545775" cy="1828800"/>
          </a:xfrm>
          <a:prstGeom prst="rect">
            <a:avLst/>
          </a:prstGeom>
          <a:noFill/>
          <a:ln/>
        </p:spPr>
        <p:txBody>
          <a:bodyPr wrap="square" lIns="50800" tIns="50800" rIns="50800" bIns="50800" rtlCol="0" anchor="t"/>
          <a:lstStyle/>
          <a:p>
            <a:pPr marL="228600" indent="-228600">
              <a:spcBef>
                <a:spcPts val="400"/>
              </a:spcBef>
              <a:buSzPct val="100000"/>
              <a:buChar char="–"/>
            </a:pPr>
            <a:r>
              <a:rPr lang="en-US" sz="17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700" dirty="0"/>
          </a:p>
          <a:p>
            <a:pPr marL="228600" indent="-228600">
              <a:spcBef>
                <a:spcPts val="400"/>
              </a:spcBef>
              <a:buSzPct val="100000"/>
              <a:buChar char="–"/>
            </a:pPr>
            <a:r>
              <a:rPr lang="en-US" sz="17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700" dirty="0"/>
          </a:p>
          <a:p>
            <a:pPr marL="228600" indent="-228600">
              <a:spcBef>
                <a:spcPts val="400"/>
              </a:spcBef>
              <a:buSzPct val="100000"/>
              <a:buChar char="–"/>
            </a:pPr>
            <a:r>
              <a:rPr lang="en-US" sz="17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640080" y="1280160"/>
            <a:ext cx="67665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closes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graphicFrame>
        <p:nvGraphicFramePr>
          <p:cNvPr id="4" name="Chart 0" descr=""/>
          <p:cNvGraphicFramePr/>
          <p:nvPr/>
        </p:nvGraphicFramePr>
        <p:xfrm>
          <a:off x="7589520" y="1371600"/>
          <a:ext cx="4206240" cy="448056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Early transplant for severe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good family support, no prior liver disease diagnosis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2011;365:1790-800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hepatology: have this ready</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822960" y="1371600"/>
          <a:ext cx="10545775" cy="914400"/>
        </p:xfrm>
        <a:graphic>
          <a:graphicData uri="http://schemas.openxmlformats.org/drawingml/2006/table">
            <a:tbl>
              <a:tblPr/>
              <a:tblGrid>
                <a:gridCol w="5266944"/>
                <a:gridCol w="5276088"/>
              </a:tblGrid>
              <a:tr h="4572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Patient A (ALF)</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Patient B (ACLF)</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9260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Encephalopathy grade, pupils, sedation</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Airway and ventilator settings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Ammonia, sodium, CRRT</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INR, lactate, pH, glucose trends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Pressors, infection</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Social support, intent of ingestion</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Cause of cirrhosis, recent alcohol use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Precipitant and source control</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Organ failures today and yesterday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Pressor dose, oxygen, RRT</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MELD, CLIF-C scores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Frailty, comorbidities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Prior transplant evaluation, support</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828800"/>
                <a:gridCol w="4626864"/>
                <a:gridCol w="4636008"/>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Ammonia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Predicts cerebral edema. Act on it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Doesn't diagnose HE. Don't trend it to dose lactulose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Lactulose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established; bowel distension can complicate surgery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 for overt HE (plus rifaximin), avoid dehydration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Keep it high, 145 to 155 (center protocol)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Often chronically low: correct slowly, no more than 8 mmol/L a day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Antibiotics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routine prophylaxis; low threshold to treat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Treat infection; prophylaxis with GI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Prognosis, not bleeding risk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Same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 home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Big enzymes don't make it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and the sodium up,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1999;29:648-53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2006;55:98-104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2012;10:925-31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72</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2026-10-26T16:38:35Z</dcterms:created>
  <dcterms:modified xsi:type="dcterms:W3CDTF">2026-10-26T16:38:35Z</dcterms:modified>
</cp:coreProperties>
</file>