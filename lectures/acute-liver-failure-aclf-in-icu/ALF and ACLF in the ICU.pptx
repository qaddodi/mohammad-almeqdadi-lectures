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charts/chart8.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charts/chart9.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charts/chart12.xml" ContentType="application/vnd.openxmlformats-officedocument.drawingml.chart+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charts/chart13.xml" ContentType="application/vnd.openxmlformats-officedocument.drawingml.chart+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charts/chart14.xml" ContentType="application/vnd.openxmlformats-officedocument.drawingml.chart+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Lst>
  <p:notesMasterIdLst>
    <p:notesMasterId r:id="rId1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d37d4cd-1e7f-1a14-585f-931889f6c31a}">
          <p14:sldIdLst>
            <p14:sldId id="256"/>
            <p14:sldId id="257"/>
          </p14:sldIdLst>
        </p14:section>
        <p14:section name="Patient A" id="{dbdf6963-1994-af0c-66dd-22cc7d7fafc4}">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Lst>
        </p14:section>
        <p14:section name="Patient B" id="{d4896cff-1a06-6ec9-26dd-44836083dfa4}">
          <p14:sldIdLst>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Lst>
        </p14:section>
        <p14:section name="Closing" id="{77fe65ba-23bc-0f0f-2c4d-ebd6fa7f7f90}">
          <p14:sldIdLst>
            <p14:sldId id="370"/>
            <p14:sldId id="371"/>
            <p14:sldId id="372"/>
            <p14:sldId id="373"/>
          </p14:sldIdLst>
        </p14:section>
        <p14:section name="Appendix" id="{dac0f881-0965-bd32-0476-c9ae8883e598}">
          <p14:sldIdLst>
            <p14:sldId id="374"/>
            <p14:sldId id="375"/>
            <p14:sldId id="376"/>
            <p14:sldId id="377"/>
            <p14:sldId id="378"/>
            <p14:sldId id="379"/>
            <p14:sldId id="3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notesMaster" Target="notesMasters/notesMaster1.xml"/><Relationship Id="rId128" Type="http://schemas.openxmlformats.org/officeDocument/2006/relationships/presProps" Target="presProps.xml"/><Relationship Id="rId129" Type="http://schemas.openxmlformats.org/officeDocument/2006/relationships/viewProps" Target="viewProps.xml"/><Relationship Id="rId130" Type="http://schemas.openxmlformats.org/officeDocument/2006/relationships/theme" Target="theme/theme1.xml"/><Relationship Id="rId1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2.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2.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2.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slideLayout" Target="../slideLayouts/slideLayout2.xm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2.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slideLayout" Target="../slideLayouts/slideLayout2.xml"/><Relationship Id="rId4"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jpg"/><Relationship Id="rId2" Type="http://schemas.openxmlformats.org/officeDocument/2006/relationships/slideLayout" Target="../slideLayouts/slideLayout4.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image" Target="../media/image-111-2.png"/><Relationship Id="rId3" Type="http://schemas.openxmlformats.org/officeDocument/2006/relationships/slideLayout" Target="../slideLayouts/slideLayout2.xml"/><Relationship Id="rId4"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4.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slideLayout" Target="../slideLayouts/slideLayout2.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4636008"/>
                <a:gridCol w="4626864"/>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11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Ammonia and the brain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3" name="Question"/>
          <p:cNvSpPr txBox="1"/>
          <p:nvPr/>
        </p:nvSpPr>
        <p:spPr>
          <a:xfrm>
            <a:off x="822960" y="2743200"/>
            <a:ext cx="10545775" cy="109728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572000"/>
                <a:gridCol w="61539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people give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not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drives the brain swelling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 proven benefit. ALFSG matched comparison: a little longer survival time, no difference in encephalopathy or outcome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It's what we do in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Gas-distended bowel gets in the surgeon's way at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Cheap, and the AASLD position paper allows it in early grades, short of diarrhea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Diarrhea means free water loss and volume swings, which fight your sodium target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Liquid by mouth or tube: aspiration risk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25/85</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722376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8001000" y="1371600"/>
            <a:ext cx="3840480" cy="38404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26/85</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27/85</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31520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8275320" y="2423160"/>
            <a:ext cx="3520440" cy="352044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Body"/>
          <p:cNvSpPr txBox="1"/>
          <p:nvPr/>
        </p:nvSpPr>
        <p:spPr>
          <a:xfrm>
            <a:off x="822960" y="5532120"/>
            <a:ext cx="10545775" cy="45720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Normal in all five TEG measures, in a patient with ALF and an INR of 4.2</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31/85</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33/85</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delayed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delayed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769968" y="3840480"/>
            <a:ext cx="2651760" cy="265176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68096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pic>
        <p:nvPicPr>
          <p:cNvPr id="5" name="Image 0" descr="Watercolor of a desk phone with the handset off the hook">    </p:cNvPr>
          <p:cNvPicPr>
            <a:picLocks noChangeAspect="1"/>
          </p:cNvPicPr>
          <p:nvPr/>
        </p:nvPicPr>
        <p:blipFill>
          <a:blip r:embed="rId1"/>
          <a:stretch>
            <a:fillRect/>
          </a:stretch>
        </p:blipFill>
        <p:spPr>
          <a:xfrm>
            <a:off x="8595360" y="2377440"/>
            <a:ext cx="3200400" cy="320040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42/85</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43/85</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44/85</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58952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8458200" y="1554480"/>
            <a:ext cx="3429000" cy="34290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4"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Splanchnic vasodilation in cirrhosis</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49/85</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52/85</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53/85</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54/85</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56/85</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8"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on arrival.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72000" y="1600200"/>
            <a:ext cx="3017520" cy="3017520"/>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58/85</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59/85</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4"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5"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64/85</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66/85</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5"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68/85</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Blood pressure rose more with terlipressin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3-month survival 59% vs 43%; too small to tell</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Not a substitute for IV pressors in the ICU</a:t>
            </a:r>
            <a:endParaRPr lang="en-US" sz="1700" dirty="0"/>
          </a:p>
          <a:p>
            <a:pPr marL="228600" indent="-228600">
              <a:spcBef>
                <a:spcPts val="800"/>
              </a:spcBef>
              <a:buSzPct val="100000"/>
              <a:buChar char="–"/>
            </a:pPr>
            <a:r>
              <a:rPr lang="en-US" sz="17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71/85</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3"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73/85</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4"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75/85</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76/85</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77/85</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78/85</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0"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79/85</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1"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80/85</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81/85</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82/85</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83/85</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84/85</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85/85</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125</Slides>
  <Notes>125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125</vt:i4>
      </vt:variant>
    </vt:vector>
  </HeadingPairs>
  <TitlesOfParts>
    <vt:vector size="1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2026-10-27T00:00:35Z</dcterms:created>
  <dcterms:modified xsi:type="dcterms:W3CDTF">2026-10-27T00:00:35Z</dcterms:modified>
</cp:coreProperties>
</file>