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9.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0.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charts/chart13.xml" ContentType="application/vnd.openxmlformats-officedocument.drawingml.chart+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charts/chart14.xml" ContentType="application/vnd.openxmlformats-officedocument.drawingml.chart+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charts/chart15.xml" ContentType="application/vnd.openxmlformats-officedocument.drawingml.chart+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Lst>
  <p:notesMasterIdLst>
    <p:notesMasterId r:id="rId1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c3e9060-e882-bb5d-8ae8-b184c3439b5d}">
          <p14:sldIdLst>
            <p14:sldId id="256"/>
            <p14:sldId id="257"/>
          </p14:sldIdLst>
        </p14:section>
        <p14:section name="Patient A" id="{aee32f1c-2d89-51f5-f192-85b90dfbe143}">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atient B" id="{1139772c-659d-5e8c-4731-91c74ac36cf7}">
          <p14:sldIdLst>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Closing" id="{a8721671-c91d-43e3-7a80-9895a7014e03}">
          <p14:sldIdLst>
            <p14:sldId id="372"/>
            <p14:sldId id="373"/>
            <p14:sldId id="374"/>
            <p14:sldId id="375"/>
          </p14:sldIdLst>
        </p14:section>
        <p14:section name="Appendix" id="{6e960d01-08b6-a8ae-3cd6-f4fc84573bee}">
          <p14:sldIdLst>
            <p14:sldId id="376"/>
            <p14:sldId id="377"/>
            <p14:sldId id="378"/>
            <p14:sldId id="379"/>
            <p14:sldId id="380"/>
            <p14:sldId id="381"/>
            <p14:sldId id="3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notesMaster" Target="notesMasters/notesMaster1.xml"/><Relationship Id="rId130" Type="http://schemas.openxmlformats.org/officeDocument/2006/relationships/presProps" Target="presProps.xml"/><Relationship Id="rId131" Type="http://schemas.openxmlformats.org/officeDocument/2006/relationships/viewProps" Target="viewProps.xml"/><Relationship Id="rId132" Type="http://schemas.openxmlformats.org/officeDocument/2006/relationships/theme" Target="theme/theme1.xml"/><Relationship Id="rId1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Factors V and VII were low, but protein C, protein S and antithrombin fell too, and factor VIII was about 4 times normal.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causes before you show the figure. Most will say sepsis and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 Sources: Surviving Sepsis 2026 [PMID: 41869847]; SCCM 2020 [PMID: 32058387]; EASL ACLF 2023 [PMID: 37364789].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2" Type="http://schemas.openxmlformats.org/officeDocument/2006/relationships/chart" Target="/ppt/charts/chart8.xml"/><Relationship Id="rId1" Type="http://schemas.openxmlformats.org/officeDocument/2006/relationships/image" Target="../media/image-47-1.jpg"/><Relationship Id="rId3" Type="http://schemas.openxmlformats.org/officeDocument/2006/relationships/slideLayout" Target="../slideLayouts/slideLayout4.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2.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4.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g"/><Relationship Id="rId2" Type="http://schemas.openxmlformats.org/officeDocument/2006/relationships/slideLayout" Target="../slideLayouts/slideLayout4.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slideLayout" Target="../slideLayouts/slideLayout2.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2.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2.xm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slideLayout" Target="../slideLayouts/slideLayout2.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2.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4.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jpg"/><Relationship Id="rId2" Type="http://schemas.openxmlformats.org/officeDocument/2006/relationships/slideLayout" Target="../slideLayouts/slideLayout2.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2.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2.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jpg"/><Relationship Id="rId2" Type="http://schemas.openxmlformats.org/officeDocument/2006/relationships/slideLayout" Target="../slideLayouts/slideLayout2.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4.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6583680" cy="914400"/>
        </p:xfrm>
        <a:graphic>
          <a:graphicData uri="http://schemas.openxmlformats.org/drawingml/2006/table">
            <a:tbl>
              <a:tblPr/>
              <a:tblGrid>
                <a:gridCol w="3054096"/>
                <a:gridCol w="3529584"/>
              </a:tblGrid>
              <a:tr h="50292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28-year-old woman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56-year-old 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known liver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Alcohol-related cirrhosis with ascites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Nausea and vomiting for 4 days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confusion, low blood pressure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7086600" y="1188720"/>
            <a:ext cx="4754880" cy="3278679"/>
          </a:xfrm>
          <a:prstGeom prst="rect">
            <a:avLst/>
          </a:prstGeom>
        </p:spPr>
      </p:pic>
      <p:sp>
        <p:nvSpPr>
          <p:cNvPr id="5"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054741" y="2514600"/>
            <a:ext cx="408221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3858768"/>
                <a:gridCol w="5404104"/>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6753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548640" y="3703320"/>
            <a:ext cx="6858000" cy="256032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No.</a:t>
            </a:r>
            <a:r>
              <a:rPr lang="en-US" sz="20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000" dirty="0"/>
          </a:p>
          <a:p>
            <a:pPr marL="228600" indent="-228600">
              <a:spcBef>
                <a:spcPts val="800"/>
              </a:spcBef>
              <a:buSzPct val="100000"/>
              <a:buChar char="–"/>
            </a:pPr>
            <a:r>
              <a:rPr lang="en-US" sz="20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Ammonia and the brain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Watercolor of a normal human brain, side view,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669280" y="411480"/>
            <a:ext cx="6309360" cy="731520"/>
          </a:xfrm>
          <a:prstGeom prst="rect">
            <a:avLst/>
          </a:prstGeom>
          <a:noFill/>
          <a:ln/>
        </p:spPr>
        <p:txBody>
          <a:bodyPr wrap="square" lIns="0" tIns="0" rIns="0" bIns="0"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4" name="Question"/>
          <p:cNvSpPr txBox="1"/>
          <p:nvPr/>
        </p:nvSpPr>
        <p:spPr>
          <a:xfrm>
            <a:off x="6035040" y="2377440"/>
            <a:ext cx="5577840" cy="182880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275572" y="2514600"/>
            <a:ext cx="364055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640080" y="1645920"/>
            <a:ext cx="576072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6629400" y="1188720"/>
            <a:ext cx="5212080" cy="5092947"/>
          </a:xfrm>
          <a:prstGeom prst="rect">
            <a:avLst/>
          </a:prstGeom>
        </p:spPr>
      </p:pic>
      <p:sp>
        <p:nvSpPr>
          <p:cNvPr id="5" name="Question"/>
          <p:cNvSpPr txBox="1"/>
          <p:nvPr/>
        </p:nvSpPr>
        <p:spPr>
          <a:xfrm>
            <a:off x="640080" y="3931920"/>
            <a:ext cx="5760720" cy="109728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718855" y="2514600"/>
            <a:ext cx="2753985"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84248"/>
                <a:gridCol w="2231136"/>
                <a:gridCol w="3236976"/>
                <a:gridCol w="3456432"/>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lung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brain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457200" y="1325880"/>
            <a:ext cx="667512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Head of bed 30°, neck neutral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fever, avoid hypoglycemia</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Sodium </a:t>
            </a:r>
            <a:r>
              <a:rPr lang="en-US" sz="2000" b="1" dirty="0">
                <a:solidFill>
                  <a:srgbClr val="000000"/>
                </a:solidFill>
                <a:latin typeface="Georgia" pitchFamily="34" charset="0"/>
                <a:ea typeface="Georgia" pitchFamily="34" charset="-122"/>
                <a:cs typeface="Georgia" pitchFamily="34" charset="-120"/>
              </a:rPr>
              <a:t>145 to 155 mmol/L</a:t>
            </a:r>
            <a:r>
              <a:rPr lang="en-US" sz="2000" dirty="0">
                <a:solidFill>
                  <a:srgbClr val="000000"/>
                </a:solidFill>
                <a:latin typeface="Georgia" pitchFamily="34" charset="0"/>
                <a:ea typeface="Georgia" pitchFamily="34" charset="-122"/>
                <a:cs typeface="Georgia" pitchFamily="34" charset="-120"/>
              </a:rPr>
              <a:t> with hypertonic saline (use your center's protocol)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Avoid fluid overload</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seizures, EEG if in doubt. No routine prophylaxis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0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7269480" y="1280160"/>
            <a:ext cx="4617720" cy="37594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26/85</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6949440" y="1280160"/>
            <a:ext cx="4937760" cy="31482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27/85</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198216" y="2514600"/>
            <a:ext cx="3795262"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86384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9345918" y="2377440"/>
            <a:ext cx="1882165" cy="393192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019602" y="2514600"/>
            <a:ext cx="2152490"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sp>
        <p:nvSpPr>
          <p:cNvPr id="4" name="Body"/>
          <p:cNvSpPr txBox="1"/>
          <p:nvPr/>
        </p:nvSpPr>
        <p:spPr>
          <a:xfrm>
            <a:off x="7680960" y="1371600"/>
            <a:ext cx="4206240" cy="402336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graphicFrame>
        <p:nvGraphicFramePr>
          <p:cNvPr id="4" name="Chart 0" descr=""/>
          <p:cNvGraphicFramePr/>
          <p:nvPr/>
        </p:nvGraphicFramePr>
        <p:xfrm>
          <a:off x="7589520" y="1188720"/>
          <a:ext cx="4343400" cy="265176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7680960" y="3886200"/>
            <a:ext cx="4206240" cy="1691640"/>
          </a:xfrm>
          <a:prstGeom prst="rect">
            <a:avLst/>
          </a:prstGeom>
          <a:noFill/>
          <a:ln/>
        </p:spPr>
        <p:txBody>
          <a:bodyPr wrap="square" lIns="50800" tIns="50800" rIns="50800" bIns="50800" rtlCol="0" anchor="t"/>
          <a:lstStyle/>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Encephalopathy: stronger clots, not weaker</a:t>
            </a:r>
            <a:endParaRPr lang="en-US" sz="1600" dirty="0"/>
          </a:p>
        </p:txBody>
      </p:sp>
      <p:sp>
        <p:nvSpPr>
          <p:cNvPr id="6"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Balance scale: low factors II, V, VII, IX, X, low fibrinogen and low platelets favor bleeding; low protein C, S and antithrombin and high factor VIII and von Willebrand factor favor clotting">    </p:cNvPr>
          <p:cNvPicPr>
            <a:picLocks noChangeAspect="1"/>
          </p:cNvPicPr>
          <p:nvPr/>
        </p:nvPicPr>
        <p:blipFill>
          <a:blip r:embed="rId1"/>
          <a:stretch>
            <a:fillRect/>
          </a:stretch>
        </p:blipFill>
        <p:spPr>
          <a:xfrm>
            <a:off x="-45720" y="0"/>
            <a:ext cx="12280392" cy="6858000"/>
          </a:xfrm>
          <a:prstGeom prst="rect">
            <a:avLst/>
          </a:prstGeom>
        </p:spPr>
      </p:pic>
      <p:sp>
        <p:nvSpPr>
          <p:cNvPr id="3" name="Source"/>
          <p:cNvSpPr txBox="1"/>
          <p:nvPr/>
        </p:nvSpPr>
        <p:spPr>
          <a:xfrm>
            <a:off x="365760" y="6510528"/>
            <a:ext cx="3657600" cy="256032"/>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31/85</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68096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946130" y="1188720"/>
            <a:ext cx="2407420"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33/85</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20574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045971" y="2788920"/>
            <a:ext cx="4099753" cy="35204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13232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Patient A: arterial pH </a:t>
            </a:r>
            <a:r>
              <a:rPr lang="en-US" sz="2000" b="1" dirty="0">
                <a:solidFill>
                  <a:srgbClr val="C00000"/>
                </a:solidFill>
                <a:latin typeface="Georgia" pitchFamily="34" charset="0"/>
                <a:ea typeface="Georgia" pitchFamily="34" charset="-122"/>
                <a:cs typeface="Georgia" pitchFamily="34" charset="-120"/>
              </a:rPr>
              <a:t>7.26</a:t>
            </a:r>
            <a:r>
              <a:rPr lang="en-US" sz="20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000" dirty="0"/>
          </a:p>
        </p:txBody>
      </p:sp>
      <p:pic>
        <p:nvPicPr>
          <p:cNvPr id="5" name="Image 0" descr="Watercolor of a desk phone with the handset off the hook">    </p:cNvPr>
          <p:cNvPicPr>
            <a:picLocks noChangeAspect="1"/>
          </p:cNvPicPr>
          <p:nvPr/>
        </p:nvPicPr>
        <p:blipFill>
          <a:blip r:embed="rId1"/>
          <a:stretch>
            <a:fillRect/>
          </a:stretch>
        </p:blipFill>
        <p:spPr>
          <a:xfrm>
            <a:off x="7863840" y="2286000"/>
            <a:ext cx="4023360" cy="3454842"/>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457200" y="1737360"/>
          <a:ext cx="7589520" cy="914400"/>
        </p:xfrm>
        <a:graphic>
          <a:graphicData uri="http://schemas.openxmlformats.org/drawingml/2006/table">
            <a:tbl>
              <a:tblPr/>
              <a:tblGrid>
                <a:gridCol w="1133856"/>
                <a:gridCol w="6455664"/>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Study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RCT, 182 ALF: high-volume plasma exchange × 3 days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Finding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Hospital survival 58.7% vs 47.8% (HR 0.56)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Limits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183880" y="1143000"/>
            <a:ext cx="3749040" cy="47195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457200" y="1737360"/>
          <a:ext cx="7589520" cy="914400"/>
        </p:xfrm>
        <a:graphic>
          <a:graphicData uri="http://schemas.openxmlformats.org/drawingml/2006/table">
            <a:tbl>
              <a:tblPr/>
              <a:tblGrid>
                <a:gridCol w="1133856"/>
                <a:gridCol w="6455664"/>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Study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RCT, 182 ALF: high-volume plasma exchange × 3 days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Finding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Hospital survival 58.7% vs 47.8% (HR 0.56)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Limits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Not blinded; nothing on ACLF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 bridge; don't delay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183880" y="1143000"/>
            <a:ext cx="3749040" cy="47195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41/85</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42/85</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43/85</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44/85</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3241445" y="2148840"/>
            <a:ext cx="5708805" cy="42062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31520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7863840" y="1371600"/>
            <a:ext cx="4023360" cy="398627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Image 0" descr="Watercolor figure of a man with cirrhosis showing the heart, IVC, nodular liver, varices, adrenals, ascites and dilated mesenteric vessel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4" name="Text 1"/>
          <p:cNvSpPr txBox="1"/>
          <p:nvPr/>
        </p:nvSpPr>
        <p:spPr>
          <a:xfrm>
            <a:off x="274320" y="21031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Too little volume, or too much</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Ultrasound and dynamic measures</a:t>
            </a:r>
            <a:endParaRPr lang="en-US" sz="1800" dirty="0"/>
          </a:p>
        </p:txBody>
      </p:sp>
      <p:sp>
        <p:nvSpPr>
          <p:cNvPr id="5" name="Leader"/>
          <p:cNvSpPr/>
          <p:nvPr/>
        </p:nvSpPr>
        <p:spPr>
          <a:xfrm>
            <a:off x="4754880" y="2514600"/>
            <a:ext cx="1234440" cy="777240"/>
          </a:xfrm>
          <a:prstGeom prst="line">
            <a:avLst/>
          </a:prstGeom>
          <a:noFill/>
          <a:ln w="12700">
            <a:solidFill>
              <a:srgbClr val="595959"/>
            </a:solidFill>
            <a:prstDash val="solid"/>
            <a:tailEnd type="oval"/>
          </a:ln>
        </p:spPr>
      </p:sp>
      <p:sp>
        <p:nvSpPr>
          <p:cNvPr id="6" name="Text 3"/>
          <p:cNvSpPr txBox="1"/>
          <p:nvPr/>
        </p:nvSpPr>
        <p:spPr>
          <a:xfrm>
            <a:off x="274320" y="46177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Sepsis (SBP)</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Cultures, antibiotics within 1 h, source control</a:t>
            </a:r>
            <a:endParaRPr lang="en-US" sz="1800" dirty="0"/>
          </a:p>
        </p:txBody>
      </p:sp>
      <p:sp>
        <p:nvSpPr>
          <p:cNvPr id="7" name="Leader"/>
          <p:cNvSpPr/>
          <p:nvPr/>
        </p:nvSpPr>
        <p:spPr>
          <a:xfrm>
            <a:off x="4754880" y="5029200"/>
            <a:ext cx="685800" cy="685800"/>
          </a:xfrm>
          <a:prstGeom prst="line">
            <a:avLst/>
          </a:prstGeom>
          <a:noFill/>
          <a:ln w="12700">
            <a:solidFill>
              <a:srgbClr val="595959"/>
            </a:solidFill>
            <a:prstDash val="solid"/>
            <a:tailEnd type="oval"/>
          </a:ln>
        </p:spPr>
      </p:sp>
      <p:sp>
        <p:nvSpPr>
          <p:cNvPr id="8" name="Text 5"/>
          <p:cNvSpPr txBox="1"/>
          <p:nvPr/>
        </p:nvSpPr>
        <p:spPr>
          <a:xfrm>
            <a:off x="7772400" y="17830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Cirrhotic cardiomyopathy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Echo</a:t>
            </a:r>
            <a:endParaRPr lang="en-US" sz="1800" dirty="0"/>
          </a:p>
        </p:txBody>
      </p:sp>
      <p:sp>
        <p:nvSpPr>
          <p:cNvPr id="9" name="Leader"/>
          <p:cNvSpPr/>
          <p:nvPr/>
        </p:nvSpPr>
        <p:spPr>
          <a:xfrm flipH="1">
            <a:off x="6583680" y="2194560"/>
            <a:ext cx="1097280" cy="731520"/>
          </a:xfrm>
          <a:prstGeom prst="line">
            <a:avLst/>
          </a:prstGeom>
          <a:noFill/>
          <a:ln w="12700">
            <a:solidFill>
              <a:srgbClr val="595959"/>
            </a:solidFill>
            <a:prstDash val="solid"/>
            <a:tailEnd type="oval"/>
          </a:ln>
        </p:spPr>
      </p:sp>
      <p:sp>
        <p:nvSpPr>
          <p:cNvPr id="10" name="Text 7"/>
          <p:cNvSpPr txBox="1"/>
          <p:nvPr/>
        </p:nvSpPr>
        <p:spPr>
          <a:xfrm>
            <a:off x="7772400" y="288036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Hidden bleeding</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Hemoglobin, rectal exam, think varices</a:t>
            </a:r>
            <a:endParaRPr lang="en-US" sz="1800" dirty="0"/>
          </a:p>
        </p:txBody>
      </p:sp>
      <p:sp>
        <p:nvSpPr>
          <p:cNvPr id="11" name="Leader"/>
          <p:cNvSpPr/>
          <p:nvPr/>
        </p:nvSpPr>
        <p:spPr>
          <a:xfrm flipH="1">
            <a:off x="6355080" y="3291840"/>
            <a:ext cx="1325880" cy="347472"/>
          </a:xfrm>
          <a:prstGeom prst="line">
            <a:avLst/>
          </a:prstGeom>
          <a:noFill/>
          <a:ln w="12700">
            <a:solidFill>
              <a:srgbClr val="595959"/>
            </a:solidFill>
            <a:prstDash val="solid"/>
            <a:tailEnd type="oval"/>
          </a:ln>
        </p:spPr>
      </p:sp>
      <p:sp>
        <p:nvSpPr>
          <p:cNvPr id="12" name="Text 9"/>
          <p:cNvSpPr txBox="1"/>
          <p:nvPr/>
        </p:nvSpPr>
        <p:spPr>
          <a:xfrm>
            <a:off x="7772400" y="393192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Relative adrenal insufficiency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Hydrocortisone if shock is refractory</a:t>
            </a:r>
            <a:endParaRPr lang="en-US" sz="1800" dirty="0"/>
          </a:p>
        </p:txBody>
      </p:sp>
      <p:sp>
        <p:nvSpPr>
          <p:cNvPr id="13" name="Leader"/>
          <p:cNvSpPr/>
          <p:nvPr/>
        </p:nvSpPr>
        <p:spPr>
          <a:xfrm flipH="1" flipV="1">
            <a:off x="6446520" y="4050792"/>
            <a:ext cx="1234440" cy="292608"/>
          </a:xfrm>
          <a:prstGeom prst="line">
            <a:avLst/>
          </a:prstGeom>
          <a:noFill/>
          <a:ln w="12700">
            <a:solidFill>
              <a:srgbClr val="595959"/>
            </a:solidFill>
            <a:prstDash val="solid"/>
            <a:tailEnd type="oval"/>
          </a:ln>
        </p:spPr>
      </p:sp>
      <p:sp>
        <p:nvSpPr>
          <p:cNvPr id="14" name="Text 11"/>
          <p:cNvSpPr txBox="1"/>
          <p:nvPr/>
        </p:nvSpPr>
        <p:spPr>
          <a:xfrm>
            <a:off x="7772400" y="49834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Splanchnic vasodilation</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Norepinephrine, MAP 65, adjust to perfusion</a:t>
            </a:r>
            <a:endParaRPr lang="en-US" sz="1800" dirty="0"/>
          </a:p>
        </p:txBody>
      </p:sp>
      <p:sp>
        <p:nvSpPr>
          <p:cNvPr id="15" name="Leader"/>
          <p:cNvSpPr/>
          <p:nvPr/>
        </p:nvSpPr>
        <p:spPr>
          <a:xfrm flipH="1" flipV="1">
            <a:off x="6263640" y="5029200"/>
            <a:ext cx="1417320" cy="365760"/>
          </a:xfrm>
          <a:prstGeom prst="line">
            <a:avLst/>
          </a:prstGeom>
          <a:noFill/>
          <a:ln w="12700">
            <a:solidFill>
              <a:srgbClr val="595959"/>
            </a:solidFill>
            <a:prstDash val="solid"/>
            <a:tailEnd type="oval"/>
          </a:ln>
        </p:spPr>
      </p:sp>
      <p:sp>
        <p:nvSpPr>
          <p:cNvPr id="16" name="Text 13"/>
          <p:cNvSpPr txBox="1"/>
          <p:nvPr/>
        </p:nvSpPr>
        <p:spPr>
          <a:xfrm>
            <a:off x="411480" y="5989320"/>
            <a:ext cx="4937760" cy="411480"/>
          </a:xfrm>
          <a:prstGeom prst="rect">
            <a:avLst/>
          </a:prstGeom>
          <a:noFill/>
          <a:ln/>
        </p:spPr>
        <p:txBody>
          <a:bodyPr wrap="square" lIns="0" tIns="0" rIns="0" bIns="0" rtlCol="0" anchor="ctr"/>
          <a:lstStyle/>
          <a:p>
            <a:pPr algn="l"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Usually more than one of these</a:t>
            </a:r>
            <a:endParaRPr lang="en-US" sz="2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Splanchnic vasodilation in cirrhosis</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49/85</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5.8: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2.6: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Grade II: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211: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52/85</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54/85</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3763841" y="2514600"/>
            <a:ext cx="4664014"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55/85</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623560"/>
                <a:gridCol w="51023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67741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to 2 days off diuretics + albumin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response to 24 h of volume, if needed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other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56/85</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1"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26280" y="1280160"/>
            <a:ext cx="3017520" cy="3997234"/>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58/85</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59/85</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pic>
        <p:nvPicPr>
          <p:cNvPr id="5" name="Image 0" descr="Watercolor of a blood tube standing in a cup of ice">    </p:cNvPr>
          <p:cNvPicPr>
            <a:picLocks noChangeAspect="1"/>
          </p:cNvPicPr>
          <p:nvPr/>
        </p:nvPicPr>
        <p:blipFill>
          <a:blip r:embed="rId1"/>
          <a:stretch>
            <a:fillRect/>
          </a:stretch>
        </p:blipFill>
        <p:spPr>
          <a:xfrm>
            <a:off x="5207415" y="3063240"/>
            <a:ext cx="1776864"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62/85</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3139361" y="2148840"/>
            <a:ext cx="5912974"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64/85</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66/85</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68/85</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128016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22402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pic>
        <p:nvPicPr>
          <p:cNvPr id="5" name="Image 0" descr="Watercolor of a cup of tablets, an ampule and a syringe">    </p:cNvPr>
          <p:cNvPicPr>
            <a:picLocks noChangeAspect="1"/>
          </p:cNvPicPr>
          <p:nvPr/>
        </p:nvPicPr>
        <p:blipFill>
          <a:blip r:embed="rId1"/>
          <a:stretch>
            <a:fillRect/>
          </a:stretch>
        </p:blipFill>
        <p:spPr>
          <a:xfrm>
            <a:off x="4358985" y="2926080"/>
            <a:ext cx="3473726" cy="34290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Blood pressure rose more with terlipressin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3-month survival 59% vs 43%; too small to tell</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Not a substitute for IV pressors in the ICU</a:t>
            </a:r>
            <a:endParaRPr lang="en-US" sz="1700" dirty="0"/>
          </a:p>
          <a:p>
            <a:pPr marL="228600" indent="-228600">
              <a:spcBef>
                <a:spcPts val="800"/>
              </a:spcBef>
              <a:buSzPct val="100000"/>
              <a:buChar char="–"/>
            </a:pPr>
            <a:r>
              <a:rPr lang="en-US" sz="17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3728380" y="2148840"/>
            <a:ext cx="4734936"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73/85</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6"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7"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75/85</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457200" y="1325880"/>
            <a:ext cx="630936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Why did a falling ALT make you more worried?</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When is CRRT right before the creatinine is high?</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Why isn't lactulose for ACLF evidence for ALF?</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What would make you change yesterday's plan?</a:t>
            </a:r>
            <a:endParaRPr lang="en-US" sz="2000" dirty="0"/>
          </a:p>
        </p:txBody>
      </p:sp>
      <p:pic>
        <p:nvPicPr>
          <p:cNvPr id="4" name="Image 0" descr="Watercolor of two empty ICU beds side by side">    </p:cNvPr>
          <p:cNvPicPr>
            <a:picLocks noChangeAspect="1"/>
          </p:cNvPicPr>
          <p:nvPr/>
        </p:nvPicPr>
        <p:blipFill>
          <a:blip r:embed="rId1"/>
          <a:stretch>
            <a:fillRect/>
          </a:stretch>
        </p:blipFill>
        <p:spPr>
          <a:xfrm>
            <a:off x="6903720" y="1463040"/>
            <a:ext cx="4983480" cy="3436308"/>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76/85</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457200" y="1325880"/>
            <a:ext cx="704088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ALF: </a:t>
            </a:r>
            <a:r>
              <a:rPr lang="en-US" sz="2000" b="1" dirty="0">
                <a:solidFill>
                  <a:srgbClr val="000000"/>
                </a:solidFill>
                <a:latin typeface="Georgia" pitchFamily="34" charset="0"/>
                <a:ea typeface="Georgia" pitchFamily="34" charset="-122"/>
                <a:cs typeface="Georgia" pitchFamily="34" charset="-120"/>
              </a:rPr>
              <a:t>protect the brain</a:t>
            </a:r>
            <a:r>
              <a:rPr lang="en-US" sz="20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count the organs, find the trigger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000" dirty="0"/>
          </a:p>
        </p:txBody>
      </p:sp>
      <p:pic>
        <p:nvPicPr>
          <p:cNvPr id="4" name="Image 0" descr="Watercolor of a pocket notebook, a pen and a penlight">    </p:cNvPr>
          <p:cNvPicPr>
            <a:picLocks noChangeAspect="1"/>
          </p:cNvPicPr>
          <p:nvPr/>
        </p:nvPicPr>
        <p:blipFill>
          <a:blip r:embed="rId1"/>
          <a:stretch>
            <a:fillRect/>
          </a:stretch>
        </p:blipFill>
        <p:spPr>
          <a:xfrm>
            <a:off x="7726680" y="1280160"/>
            <a:ext cx="4160520" cy="3785473"/>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77/85</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78/85</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79/85</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80/85</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4"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81/85</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82/85</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83/85</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84/85</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85/85</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127</Slides>
  <Notes>127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127</vt:i4>
      </vt:variant>
    </vt:vector>
  </HeadingPairs>
  <TitlesOfParts>
    <vt:vector size="1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2026-10-27T02:15:52Z</dcterms:created>
  <dcterms:modified xsi:type="dcterms:W3CDTF">2026-10-27T02:15:52Z</dcterms:modified>
</cp:coreProperties>
</file>