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0" r:id="rId3"/>
    <p:sldId id="261" r:id="rId4"/>
    <p:sldId id="262" r:id="rId5"/>
    <p:sldId id="353" r:id="rId6"/>
    <p:sldId id="354" r:id="rId7"/>
    <p:sldId id="401" r:id="rId8"/>
    <p:sldId id="356" r:id="rId9"/>
    <p:sldId id="382" r:id="rId10"/>
    <p:sldId id="375" r:id="rId11"/>
    <p:sldId id="377" r:id="rId12"/>
    <p:sldId id="378" r:id="rId13"/>
    <p:sldId id="379" r:id="rId14"/>
    <p:sldId id="380" r:id="rId15"/>
    <p:sldId id="383" r:id="rId16"/>
    <p:sldId id="384" r:id="rId17"/>
    <p:sldId id="381" r:id="rId18"/>
    <p:sldId id="385" r:id="rId19"/>
    <p:sldId id="388" r:id="rId20"/>
    <p:sldId id="407" r:id="rId21"/>
    <p:sldId id="351" r:id="rId22"/>
    <p:sldId id="352" r:id="rId23"/>
    <p:sldId id="389" r:id="rId24"/>
    <p:sldId id="390" r:id="rId25"/>
    <p:sldId id="391" r:id="rId26"/>
    <p:sldId id="392" r:id="rId27"/>
    <p:sldId id="402" r:id="rId28"/>
    <p:sldId id="355" r:id="rId29"/>
    <p:sldId id="387" r:id="rId30"/>
    <p:sldId id="393" r:id="rId31"/>
    <p:sldId id="403" r:id="rId32"/>
    <p:sldId id="386" r:id="rId33"/>
    <p:sldId id="404" r:id="rId34"/>
    <p:sldId id="405" r:id="rId35"/>
    <p:sldId id="406" r:id="rId36"/>
    <p:sldId id="394" r:id="rId37"/>
    <p:sldId id="395" r:id="rId38"/>
    <p:sldId id="396" r:id="rId39"/>
    <p:sldId id="397" r:id="rId40"/>
    <p:sldId id="436" r:id="rId41"/>
    <p:sldId id="437" r:id="rId42"/>
    <p:sldId id="398" r:id="rId43"/>
    <p:sldId id="399" r:id="rId44"/>
    <p:sldId id="400" r:id="rId45"/>
    <p:sldId id="435" r:id="rId46"/>
    <p:sldId id="434" r:id="rId47"/>
    <p:sldId id="409" r:id="rId48"/>
    <p:sldId id="410" r:id="rId49"/>
    <p:sldId id="438" r:id="rId50"/>
    <p:sldId id="439" r:id="rId51"/>
    <p:sldId id="411" r:id="rId52"/>
    <p:sldId id="415" r:id="rId53"/>
    <p:sldId id="416" r:id="rId54"/>
    <p:sldId id="419" r:id="rId55"/>
    <p:sldId id="412" r:id="rId56"/>
    <p:sldId id="431" r:id="rId57"/>
    <p:sldId id="413" r:id="rId58"/>
    <p:sldId id="418" r:id="rId59"/>
    <p:sldId id="432" r:id="rId60"/>
    <p:sldId id="424" r:id="rId61"/>
    <p:sldId id="425" r:id="rId62"/>
    <p:sldId id="426" r:id="rId63"/>
    <p:sldId id="420" r:id="rId64"/>
    <p:sldId id="423" r:id="rId65"/>
    <p:sldId id="422" r:id="rId66"/>
    <p:sldId id="440" r:id="rId67"/>
    <p:sldId id="441" r:id="rId68"/>
    <p:sldId id="443" r:id="rId69"/>
    <p:sldId id="428" r:id="rId70"/>
    <p:sldId id="408" r:id="rId71"/>
    <p:sldId id="442" r:id="rId72"/>
    <p:sldId id="430" r:id="rId73"/>
    <p:sldId id="417" r:id="rId74"/>
    <p:sldId id="421" r:id="rId75"/>
    <p:sldId id="433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2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8FE67E-1AD9-4A88-96BE-FE479F45E4CE}" v="11" dt="2025-10-14T15:30:14.0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14"/>
  </p:normalViewPr>
  <p:slideViewPr>
    <p:cSldViewPr snapToGrid="0">
      <p:cViewPr varScale="1">
        <p:scale>
          <a:sx n="106" d="100"/>
          <a:sy n="106" d="100"/>
        </p:scale>
        <p:origin x="906" y="114"/>
      </p:cViewPr>
      <p:guideLst/>
    </p:cSldViewPr>
  </p:slideViewPr>
  <p:outlineViewPr>
    <p:cViewPr>
      <p:scale>
        <a:sx n="33" d="100"/>
        <a:sy n="33" d="100"/>
      </p:scale>
      <p:origin x="0" y="-323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0E4E9-B51B-2B8C-167A-CEE60EF4B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6213FF-198C-FBDF-2C84-1BB3B459E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C50E6-C308-E657-2881-00192E11A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BBD8A-5E4D-65B9-2BCD-A4086160E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11371-B618-700B-D39F-2E0343E8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46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8629-95B4-14CE-40A6-539D88DD9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21EBA-ED69-52CC-EC70-65BD448EE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1F1D3-DBED-76B2-A352-CCADF5C58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14785-E5E2-3FE3-D407-CD389A23E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668E1-3D51-C11A-E768-7EFE3727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4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50798-AD68-389A-5555-FA808EB98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0CEBA-49E7-F4A9-6403-3F88C54ED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14B36-693A-59F2-5244-46EAD988A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7028D-92DF-930A-8FB5-57FB8E53B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0F801-5F30-C8CA-8D33-22E5768B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5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15B4-1559-39C8-24A7-22198B7A9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BA585-611D-1417-C46C-D73ED77D5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019C4-30AF-FFAE-FD98-CF283F557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66C1B-E4B9-76AE-FD27-867BDE5F8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3F4EC-6540-DFDF-B40A-B07AC40E8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19A7C-86D2-3DDD-46EA-B7604EAD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58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CBCA3-0368-552F-D592-9378735B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498AC-9A95-B05A-1D66-7B151C9EC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46A2B-DB6D-AFB7-2155-A8656CAD8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517D8-1EF7-82D5-DFBD-922767A81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465D2-E4AC-2EEF-AF8C-D10BDFD7A6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C26C61-DEFF-066D-BDF8-660C9B8B6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567F8C-FD8F-0BCA-E98F-92E295A50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712431-AF3C-9DF6-BFFB-1EC99D59D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27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9F412-71DC-F4A8-E3B2-EFCE8C8E9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EADFF5-15B3-B486-7AF6-950289060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8F09E6-800D-32D9-3E9A-FE78AA0A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9DAB2-0B00-EA99-E58B-04D5E1A39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59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B75D01-5149-A220-7E12-D3228EE98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74D17D-2616-2C8E-3C06-D15882FA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006E0-D28E-159D-04F9-CDD346BC6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61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8F77-FD5C-29BF-D8CE-7C44337F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83B63-BD29-ADA2-20C7-B7F84B1E4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074AB-5285-0C2F-92C0-13B1CA842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BD690-699E-89CE-FBCC-6B645A724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06F1C-656B-3F83-37F4-9E142793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61F62-43DC-6D0B-2C07-5168562C4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5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E20A3-2D16-736E-647E-9D0B7950B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954B76-FDC7-D844-DEDF-03D09568A6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E48C7-3016-BFB2-F503-649F4A9E9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2A08E-C43A-13E0-2170-F8CD5ECE0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F6D5F-59C3-A99B-98FA-4D510F4A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B16FE-C357-CDD2-D87F-4F16D7A0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53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6FBD5-4075-58BE-8976-62930751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F0321-C227-FC4C-8523-A2DA6F855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28D96-A3DF-6A81-E87E-08D6FC069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7B277-BA68-5B15-A220-E8F86FFB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94625-5CFF-DB3E-7DFF-1B70FC67E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117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5AD9B1-663E-D381-7254-75892653F0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EFB01-11F5-57A2-DFC1-764FAC5FB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E4138-D159-1117-677A-5E837705D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AC9-13F6-BF49-A6EE-85B5C60A937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EC81F-6A23-58F0-E89B-52248D718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68909-EACA-22AF-E5FA-AA5DB0FA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6D6FD-6FD4-2B44-B48D-11FA0CFDC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19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BBA326-DB3A-C244-F2AD-1469F9863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CCFB7-2499-7805-D498-BA989B239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310D8-5B9C-D4FB-C95F-8F451D037A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fld id="{B3874AC9-13F6-BF49-A6EE-85B5C60A9373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9BB75-D4DD-6B5E-D7D5-6A91E55F9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AD6CA-C939-65D4-472E-BA37ADD14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fld id="{A596D6FD-6FD4-2B44-B48D-11FA0CFDC0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560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eart and Lung Anatomy, Illustration">
            <a:extLst>
              <a:ext uri="{FF2B5EF4-FFF2-40B4-BE49-F238E27FC236}">
                <a16:creationId xmlns:a16="http://schemas.microsoft.com/office/drawing/2014/main" id="{550E8C35-798E-DF22-86B9-58090CB00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 numberOfShades="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-237411"/>
            <a:ext cx="4702559" cy="532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human liver with veins and arteries&#10;&#10;Description automatically generated">
            <a:extLst>
              <a:ext uri="{FF2B5EF4-FFF2-40B4-BE49-F238E27FC236}">
                <a16:creationId xmlns:a16="http://schemas.microsoft.com/office/drawing/2014/main" id="{D2E143A9-CF70-B9A8-9D98-63BD858618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utout numberOfShades="5"/>
                    </a14:imgEffect>
                  </a14:imgLayer>
                </a14:imgProps>
              </a:ext>
            </a:extLst>
          </a:blip>
          <a:srcRect b="11119"/>
          <a:stretch/>
        </p:blipFill>
        <p:spPr>
          <a:xfrm>
            <a:off x="517503" y="527902"/>
            <a:ext cx="6306520" cy="46711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877D46-3FF3-4CA3-94D5-45FA79FE9C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effectLst>
                  <a:glow rad="165100">
                    <a:schemeClr val="bg1">
                      <a:alpha val="74000"/>
                    </a:schemeClr>
                  </a:glow>
                </a:effectLst>
              </a:rPr>
              <a:t>Liver </a:t>
            </a:r>
            <a:r>
              <a:rPr lang="en-US" sz="6600" b="1" i="1" dirty="0">
                <a:effectLst>
                  <a:glow rad="165100">
                    <a:schemeClr val="bg1">
                      <a:alpha val="74000"/>
                    </a:schemeClr>
                  </a:glow>
                </a:effectLst>
              </a:rPr>
              <a:t>and </a:t>
            </a:r>
            <a:r>
              <a:rPr lang="en-US" sz="6600" b="1" dirty="0">
                <a:effectLst>
                  <a:glow rad="165100">
                    <a:schemeClr val="bg1">
                      <a:alpha val="74000"/>
                    </a:schemeClr>
                  </a:glow>
                </a:effectLst>
              </a:rPr>
              <a:t>Lungs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F8220-2FC4-442E-80BF-7CFC5B25D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33799"/>
            <a:ext cx="9144000" cy="2725723"/>
          </a:xfrm>
        </p:spPr>
        <p:txBody>
          <a:bodyPr>
            <a:normAutofit/>
          </a:bodyPr>
          <a:lstStyle/>
          <a:p>
            <a:r>
              <a:rPr lang="en-US" i="1" dirty="0">
                <a:effectLst>
                  <a:glow rad="754659">
                    <a:schemeClr val="bg1">
                      <a:alpha val="82000"/>
                    </a:schemeClr>
                  </a:glow>
                </a:effectLst>
              </a:rPr>
              <a:t>Hepatopulmonary and </a:t>
            </a:r>
            <a:r>
              <a:rPr lang="en-US" i="1" dirty="0" err="1">
                <a:effectLst>
                  <a:glow rad="754659">
                    <a:schemeClr val="bg1">
                      <a:alpha val="82000"/>
                    </a:schemeClr>
                  </a:glow>
                </a:effectLst>
              </a:rPr>
              <a:t>Portopulmonary</a:t>
            </a:r>
            <a:r>
              <a:rPr lang="en-US" i="1" dirty="0">
                <a:effectLst>
                  <a:glow rad="754659">
                    <a:schemeClr val="bg1">
                      <a:alpha val="82000"/>
                    </a:schemeClr>
                  </a:glow>
                </a:effectLst>
              </a:rPr>
              <a:t> Syndromes</a:t>
            </a:r>
          </a:p>
          <a:p>
            <a:endParaRPr lang="en-US" b="1" dirty="0">
              <a:effectLst>
                <a:glow rad="127000">
                  <a:schemeClr val="bg1">
                    <a:alpha val="82000"/>
                  </a:schemeClr>
                </a:glow>
              </a:effectLst>
            </a:endParaRPr>
          </a:p>
          <a:p>
            <a:r>
              <a:rPr lang="en-US" b="1" dirty="0">
                <a:effectLst>
                  <a:glow rad="127000">
                    <a:schemeClr val="bg1">
                      <a:alpha val="82000"/>
                    </a:schemeClr>
                  </a:glow>
                </a:effectLst>
              </a:rPr>
              <a:t>Mohammad Almeqdadi, MD</a:t>
            </a:r>
          </a:p>
          <a:p>
            <a:r>
              <a:rPr lang="en-US" sz="1600" i="1" dirty="0">
                <a:effectLst>
                  <a:glow rad="127000">
                    <a:schemeClr val="bg1">
                      <a:alpha val="82000"/>
                    </a:schemeClr>
                  </a:glow>
                </a:effectLst>
              </a:rPr>
              <a:t>Transplant Hepatologist and Gastroenterologist</a:t>
            </a:r>
          </a:p>
          <a:p>
            <a:r>
              <a:rPr lang="en-US" sz="1600" i="1" dirty="0">
                <a:effectLst>
                  <a:glow rad="127000">
                    <a:schemeClr val="bg1">
                      <a:alpha val="82000"/>
                    </a:schemeClr>
                  </a:glow>
                </a:effectLst>
              </a:rPr>
              <a:t>Assistant Professor of Medicine and Surgery</a:t>
            </a:r>
          </a:p>
          <a:p>
            <a:endParaRPr lang="en-US" i="1" dirty="0">
              <a:effectLst>
                <a:glow rad="127000">
                  <a:schemeClr val="bg1">
                    <a:alpha val="82000"/>
                  </a:schemeClr>
                </a:glow>
              </a:effectLst>
            </a:endParaRPr>
          </a:p>
        </p:txBody>
      </p:sp>
      <p:pic>
        <p:nvPicPr>
          <p:cNvPr id="5" name="Picture 4" descr="A blue and black logo&#10;&#10;Description automatically generated">
            <a:extLst>
              <a:ext uri="{FF2B5EF4-FFF2-40B4-BE49-F238E27FC236}">
                <a16:creationId xmlns:a16="http://schemas.microsoft.com/office/drawing/2014/main" id="{C89C8B87-388A-4AFD-A5E0-7926E3614A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647" y="5983110"/>
            <a:ext cx="3464706" cy="70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89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d1niluoi1dd30v.cloudfront.net/C20170002574/B9780323596244001475/f147-001-9780323596244.jpg?Signature=dmCqHQmdV5JVkhFQVm%7EWU4WRFfopoAjl%7EypyIkVv9nFEGnL9Q7cP81-tSjBgfuQqBKUAf%7EkW4xXtlWV32gvmSXXojKXjkiLegGSV9TYWDiEBk6RitW-jY1vuBK6H%7EESLybBoCPZSRCAz9tJOfJZcJC8sxRQNvU7s7ngHPdMyq38_&amp;Expires=1635356054&amp;Key-Pair-Id=APKAICLNFGBCWWYGVIZQ">
            <a:extLst>
              <a:ext uri="{FF2B5EF4-FFF2-40B4-BE49-F238E27FC236}">
                <a16:creationId xmlns:a16="http://schemas.microsoft.com/office/drawing/2014/main" id="{400E045E-1C92-CF94-BAED-8872EAD2D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854" y="136524"/>
            <a:ext cx="5570483" cy="6699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002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86DE7-81D9-18A6-27B6-6C079A18D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783AF-429B-3C18-A324-5D3491208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54-year-old man with history of alcohol-related cirrhosis complicated by portal hypertension (ascites and variceal bleed in the past s/p banding and currently on carvedilol), who presents to your clinic with dyspnea.</a:t>
            </a:r>
          </a:p>
          <a:p>
            <a:pPr marL="514350" indent="-514350">
              <a:buAutoNum type="arabicPeriod"/>
            </a:pPr>
            <a:r>
              <a:rPr lang="en-US" i="1" dirty="0"/>
              <a:t>His shortness of breath improves when he lays down</a:t>
            </a:r>
          </a:p>
          <a:p>
            <a:pPr marL="514350" indent="-514350">
              <a:buAutoNum type="arabicPeriod"/>
            </a:pPr>
            <a:r>
              <a:rPr lang="en-US" i="1" dirty="0"/>
              <a:t>His pulse-ox decreases when he sits up</a:t>
            </a:r>
          </a:p>
          <a:p>
            <a:endParaRPr lang="en-US" dirty="0"/>
          </a:p>
          <a:p>
            <a:r>
              <a:rPr lang="en-US" b="1" dirty="0"/>
              <a:t>What do you call the above signs?</a:t>
            </a:r>
          </a:p>
          <a:p>
            <a:r>
              <a:rPr lang="en-US" b="1" dirty="0"/>
              <a:t>What’s going on?</a:t>
            </a:r>
          </a:p>
        </p:txBody>
      </p:sp>
    </p:spTree>
    <p:extLst>
      <p:ext uri="{BB962C8B-B14F-4D97-AF65-F5344CB8AC3E}">
        <p14:creationId xmlns:p14="http://schemas.microsoft.com/office/powerpoint/2010/main" val="1785446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Greece Parthenon sketch. Hand drawing of ancient Parthenon in Athens ,  #AFF, #sketch, #Parthenon, #Greece, #H… | Greece drawing, Parthenon,  Architecture drawing art">
            <a:extLst>
              <a:ext uri="{FF2B5EF4-FFF2-40B4-BE49-F238E27FC236}">
                <a16:creationId xmlns:a16="http://schemas.microsoft.com/office/drawing/2014/main" id="{5B206C18-B995-F6C8-12F5-9C7933BB1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096434" y="1143450"/>
            <a:ext cx="7095565" cy="57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E69849-7240-76E3-7D64-9C15216D7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Platypnea</a:t>
            </a:r>
            <a:r>
              <a:rPr lang="en-US" dirty="0"/>
              <a:t>-Orthodeoxia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08998-633C-9D17-76FA-482A5B64B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US" i="1" dirty="0"/>
              <a:t>Ancient Greek Language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b="1" i="1" dirty="0" err="1"/>
              <a:t>Platus</a:t>
            </a:r>
            <a:r>
              <a:rPr lang="en-US" dirty="0"/>
              <a:t>: flat</a:t>
            </a:r>
          </a:p>
          <a:p>
            <a:r>
              <a:rPr lang="en-US" b="1" i="1" dirty="0" err="1"/>
              <a:t>Orthos</a:t>
            </a:r>
            <a:r>
              <a:rPr lang="en-US" dirty="0"/>
              <a:t>: upright</a:t>
            </a:r>
          </a:p>
          <a:p>
            <a:r>
              <a:rPr lang="en-US" b="1" i="1" dirty="0" err="1"/>
              <a:t>Pnea</a:t>
            </a:r>
            <a:r>
              <a:rPr lang="en-US" dirty="0"/>
              <a:t>: breath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64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33A0E-D3C3-F64A-C698-5AE35D393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Hepatopulmonary Syndrome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DC850-8270-D2A0-D78A-BD26E88AE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en-US" dirty="0"/>
              <a:t>HPS definition is a triad of:</a:t>
            </a:r>
          </a:p>
          <a:p>
            <a:pPr marL="914400" lvl="1" indent="-457200">
              <a:buAutoNum type="arabicPeriod"/>
            </a:pPr>
            <a:r>
              <a:rPr lang="en-US" dirty="0"/>
              <a:t>Hepatic dysfunction </a:t>
            </a:r>
            <a:r>
              <a:rPr lang="en-US" b="1" i="1" u="sng" dirty="0"/>
              <a:t>or </a:t>
            </a:r>
            <a:r>
              <a:rPr lang="en-US" dirty="0"/>
              <a:t>Portal hypertension</a:t>
            </a:r>
          </a:p>
          <a:p>
            <a:pPr marL="914400" lvl="1" indent="-457200">
              <a:buAutoNum type="arabicPeriod"/>
            </a:pPr>
            <a:r>
              <a:rPr lang="en-US" dirty="0"/>
              <a:t>Widened A-a oxygen gradient on room air</a:t>
            </a:r>
          </a:p>
          <a:p>
            <a:pPr marL="914400" lvl="1" indent="-457200">
              <a:buAutoNum type="arabicPeriod"/>
            </a:pPr>
            <a:r>
              <a:rPr lang="en-US" dirty="0"/>
              <a:t>Presence of intrapulmonary vasodilation (IPVD)</a:t>
            </a:r>
          </a:p>
          <a:p>
            <a:pPr marL="0" indent="0">
              <a:buNone/>
            </a:pPr>
            <a:r>
              <a:rPr lang="en-US" dirty="0"/>
              <a:t>The term </a:t>
            </a:r>
            <a:r>
              <a:rPr lang="en-US" b="1" dirty="0"/>
              <a:t>hepatopulmonary syndrome </a:t>
            </a:r>
            <a:r>
              <a:rPr lang="en-US" dirty="0"/>
              <a:t>was coined in </a:t>
            </a:r>
            <a:r>
              <a:rPr lang="en-US" u="sng" dirty="0"/>
              <a:t>1977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7F247-2CF1-895D-68DF-5EE27E3D18ED}"/>
              </a:ext>
            </a:extLst>
          </p:cNvPr>
          <p:cNvSpPr txBox="1"/>
          <p:nvPr/>
        </p:nvSpPr>
        <p:spPr>
          <a:xfrm>
            <a:off x="6093760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Chest. 1977 Sep;72(3):305-9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B76B12-3D11-9B71-4C2E-6BF599EEB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98" y="4551621"/>
            <a:ext cx="5394750" cy="14726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793BFE-4661-C1B5-F2B7-FDA30AF70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760" y="4627272"/>
            <a:ext cx="5907964" cy="13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665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A07C9-4015-6227-B1E9-08C472A0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Epidemiology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4914A-8602-153D-34E9-8039015A9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many as 40-60% of cirrhotic patients may have detectable intrapulmonary vascular dilation (IPVD)</a:t>
            </a:r>
          </a:p>
          <a:p>
            <a:r>
              <a:rPr lang="en-US" dirty="0"/>
              <a:t>Up to 30% will develop impaired oxygenation due to IPVD</a:t>
            </a:r>
          </a:p>
        </p:txBody>
      </p:sp>
    </p:spTree>
    <p:extLst>
      <p:ext uri="{BB962C8B-B14F-4D97-AF65-F5344CB8AC3E}">
        <p14:creationId xmlns:p14="http://schemas.microsoft.com/office/powerpoint/2010/main" val="1519952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43E7A8-9D00-D8CC-8A13-838030187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what’s the pathophysiology behind HPS?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33B591-08C7-EAFD-0FF3-901D2E9EA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42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591702-95BA-83EB-3805-0385C2E0C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640" y="1"/>
            <a:ext cx="6098240" cy="6495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44EA8C-FFA5-A135-456A-5BEEB3986A38}"/>
              </a:ext>
            </a:extLst>
          </p:cNvPr>
          <p:cNvSpPr txBox="1"/>
          <p:nvPr/>
        </p:nvSpPr>
        <p:spPr>
          <a:xfrm>
            <a:off x="6093760" y="6495953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Nat Rev Gastroenterol Hepatol. 2012 Sep;9(9):539-49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813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C9409-E494-F40B-4102-DBEFAA117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B1B1EB-0A63-6099-67D6-4D76F2722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640" y="1"/>
            <a:ext cx="6098240" cy="6495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426433-364B-D8F7-7989-CA991CC9E410}"/>
              </a:ext>
            </a:extLst>
          </p:cNvPr>
          <p:cNvSpPr txBox="1"/>
          <p:nvPr/>
        </p:nvSpPr>
        <p:spPr>
          <a:xfrm>
            <a:off x="6093760" y="6495953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Nat Rev Gastroenterol Hepatol. 2012 Sep;9(9):539-49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1836A0-2EDE-523D-3F83-AA6FA85ED0B3}"/>
              </a:ext>
            </a:extLst>
          </p:cNvPr>
          <p:cNvSpPr/>
          <p:nvPr/>
        </p:nvSpPr>
        <p:spPr>
          <a:xfrm>
            <a:off x="1" y="0"/>
            <a:ext cx="12192000" cy="6865285"/>
          </a:xfrm>
          <a:prstGeom prst="rect">
            <a:avLst/>
          </a:prstGeom>
          <a:solidFill>
            <a:schemeClr val="tx1">
              <a:alpha val="9086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eorgia" panose="02040502050405020303" pitchFamily="18" charset="0"/>
              </a:rPr>
              <a:t>Cirrhosis ---</a:t>
            </a:r>
            <a:r>
              <a:rPr lang="en-US" sz="2800" i="1" dirty="0">
                <a:latin typeface="Georgia" panose="02040502050405020303" pitchFamily="18" charset="0"/>
              </a:rPr>
              <a:t>magic</a:t>
            </a:r>
            <a:r>
              <a:rPr lang="en-US" sz="2800" i="1" dirty="0">
                <a:latin typeface="Georgia" panose="02040502050405020303" pitchFamily="18" charset="0"/>
                <a:sym typeface="Wingdings" pitchFamily="2" charset="2"/>
              </a:rPr>
              <a:t>-</a:t>
            </a:r>
            <a:r>
              <a:rPr lang="en-US" sz="2800" b="1" dirty="0">
                <a:latin typeface="Georgia" panose="02040502050405020303" pitchFamily="18" charset="0"/>
                <a:sym typeface="Wingdings" pitchFamily="2" charset="2"/>
              </a:rPr>
              <a:t>-&gt; </a:t>
            </a:r>
            <a:r>
              <a:rPr 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Georgia" panose="02040502050405020303" pitchFamily="18" charset="0"/>
                <a:sym typeface="Wingdings" pitchFamily="2" charset="2"/>
              </a:rPr>
              <a:t>Nitric Oxide (NO)</a:t>
            </a:r>
            <a:r>
              <a:rPr lang="en-US" sz="2800" b="1" dirty="0">
                <a:solidFill>
                  <a:srgbClr val="FF0000"/>
                </a:solidFill>
                <a:latin typeface="Georgia" panose="02040502050405020303" pitchFamily="18" charset="0"/>
                <a:sym typeface="Wingdings" pitchFamily="2" charset="2"/>
              </a:rPr>
              <a:t> </a:t>
            </a:r>
            <a:r>
              <a:rPr lang="en-US" sz="2800" b="1" dirty="0">
                <a:latin typeface="Georgia" panose="02040502050405020303" pitchFamily="18" charset="0"/>
                <a:sym typeface="Wingdings" pitchFamily="2" charset="2"/>
              </a:rPr>
              <a:t>---</a:t>
            </a:r>
            <a:r>
              <a:rPr lang="en-US" sz="2800" i="1" dirty="0">
                <a:latin typeface="Georgia" panose="02040502050405020303" pitchFamily="18" charset="0"/>
                <a:sym typeface="Wingdings" pitchFamily="2" charset="2"/>
              </a:rPr>
              <a:t>magic-</a:t>
            </a:r>
            <a:r>
              <a:rPr lang="en-US" sz="2800" b="1" dirty="0">
                <a:latin typeface="Georgia" panose="02040502050405020303" pitchFamily="18" charset="0"/>
                <a:sym typeface="Wingdings" pitchFamily="2" charset="2"/>
              </a:rPr>
              <a:t>--&gt; HPS</a:t>
            </a:r>
            <a:endParaRPr lang="en-US" sz="2800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636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47FAD08-C85D-A667-8328-74FF947CF2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125"/>
          <a:stretch/>
        </p:blipFill>
        <p:spPr bwMode="auto">
          <a:xfrm>
            <a:off x="557213" y="102838"/>
            <a:ext cx="10821452" cy="618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507FD2-476C-C257-0D8D-78CCB06AA0EE}"/>
              </a:ext>
            </a:extLst>
          </p:cNvPr>
          <p:cNvSpPr txBox="1"/>
          <p:nvPr/>
        </p:nvSpPr>
        <p:spPr>
          <a:xfrm>
            <a:off x="6093760" y="6485124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N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Engl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 Med. 2008 May 29;358(22):2378-87.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817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47FAD08-C85D-A667-8328-74FF947CF2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84" b="1270"/>
          <a:stretch/>
        </p:blipFill>
        <p:spPr bwMode="auto">
          <a:xfrm>
            <a:off x="1121710" y="200589"/>
            <a:ext cx="9944100" cy="6284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269BE-AE32-7747-A57B-C80063BCE299}"/>
              </a:ext>
            </a:extLst>
          </p:cNvPr>
          <p:cNvSpPr txBox="1"/>
          <p:nvPr/>
        </p:nvSpPr>
        <p:spPr>
          <a:xfrm>
            <a:off x="6093760" y="6485124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N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Engl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 Med. 2008 May 29;358(22):2378-87.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632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Mechanism of shunting in the hepatopulmonary syndrome from Kinane et... |  Download Scientific Diagram">
            <a:extLst>
              <a:ext uri="{FF2B5EF4-FFF2-40B4-BE49-F238E27FC236}">
                <a16:creationId xmlns:a16="http://schemas.microsoft.com/office/drawing/2014/main" id="{D237DAE5-4B39-1E6E-0A84-F8453B6D5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950" y="1035050"/>
            <a:ext cx="10198100" cy="478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A6FE66-6C77-A626-7997-70A797AEA66A}"/>
              </a:ext>
            </a:extLst>
          </p:cNvPr>
          <p:cNvSpPr txBox="1"/>
          <p:nvPr/>
        </p:nvSpPr>
        <p:spPr>
          <a:xfrm>
            <a:off x="6096000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Pediatr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Surg Int. 2017 Dec;33(12):1335-1340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952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B3B61-396F-9FE3-8901-E615F50A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Hepatopulmonary Syndrome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5DDB9-6B98-4C1B-25E5-471AAE903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Type I: </a:t>
            </a:r>
            <a:r>
              <a:rPr lang="en-US" dirty="0"/>
              <a:t>diffuse pulmonary vascular dilatations at the precapillary level close to the normal gas exchange units of the lung</a:t>
            </a:r>
          </a:p>
          <a:p>
            <a:endParaRPr lang="en-US" dirty="0"/>
          </a:p>
          <a:p>
            <a:r>
              <a:rPr lang="en-US" b="1" dirty="0"/>
              <a:t>Type II: </a:t>
            </a:r>
            <a:r>
              <a:rPr lang="en-US" dirty="0"/>
              <a:t>more discrete, localized dilatations and are actually large arteriovenous communications distant from the gas exchange units</a:t>
            </a:r>
          </a:p>
        </p:txBody>
      </p:sp>
    </p:spTree>
    <p:extLst>
      <p:ext uri="{BB962C8B-B14F-4D97-AF65-F5344CB8AC3E}">
        <p14:creationId xmlns:p14="http://schemas.microsoft.com/office/powerpoint/2010/main" val="2680622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88017-C94E-F997-B76A-3B5B1F0E2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6B88220-5663-52F6-B927-A8C8603DEC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84" b="1270"/>
          <a:stretch/>
        </p:blipFill>
        <p:spPr bwMode="auto">
          <a:xfrm>
            <a:off x="1121710" y="200589"/>
            <a:ext cx="9944100" cy="6284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3F3716-072D-269D-AEBE-AF903933A352}"/>
              </a:ext>
            </a:extLst>
          </p:cNvPr>
          <p:cNvSpPr txBox="1"/>
          <p:nvPr/>
        </p:nvSpPr>
        <p:spPr>
          <a:xfrm>
            <a:off x="6093760" y="6485124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N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Engl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 Med. 2008 May 29;358(22):2378-87.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A46435-2BD7-0545-B478-5F7A75077B0B}"/>
              </a:ext>
            </a:extLst>
          </p:cNvPr>
          <p:cNvSpPr txBox="1"/>
          <p:nvPr/>
        </p:nvSpPr>
        <p:spPr>
          <a:xfrm>
            <a:off x="1828801" y="5338482"/>
            <a:ext cx="18549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effectLst>
                  <a:glow rad="1905000">
                    <a:schemeClr val="bg1"/>
                  </a:glow>
                </a:effectLst>
                <a:latin typeface="Georgia" panose="02040502050405020303" pitchFamily="18" charset="0"/>
              </a:rPr>
              <a:t>Type II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EE924-9C38-85A8-FE7A-61D7B75EB28F}"/>
              </a:ext>
            </a:extLst>
          </p:cNvPr>
          <p:cNvSpPr txBox="1"/>
          <p:nvPr/>
        </p:nvSpPr>
        <p:spPr>
          <a:xfrm>
            <a:off x="8538883" y="1492624"/>
            <a:ext cx="1649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effectLst>
                  <a:glow rad="1905000">
                    <a:schemeClr val="bg1"/>
                  </a:glow>
                </a:effectLst>
                <a:latin typeface="Georgia" panose="02040502050405020303" pitchFamily="18" charset="0"/>
              </a:rPr>
              <a:t>Type I</a:t>
            </a:r>
          </a:p>
        </p:txBody>
      </p:sp>
    </p:spTree>
    <p:extLst>
      <p:ext uri="{BB962C8B-B14F-4D97-AF65-F5344CB8AC3E}">
        <p14:creationId xmlns:p14="http://schemas.microsoft.com/office/powerpoint/2010/main" val="2975582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E26826-98F3-E9AE-B114-28B1DDE85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care if it’s type I or II?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450684-820F-E332-FA3C-5B954A73D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..or is this just for medical student pimping and board exam purposes?</a:t>
            </a:r>
          </a:p>
        </p:txBody>
      </p:sp>
    </p:spTree>
    <p:extLst>
      <p:ext uri="{BB962C8B-B14F-4D97-AF65-F5344CB8AC3E}">
        <p14:creationId xmlns:p14="http://schemas.microsoft.com/office/powerpoint/2010/main" val="1393032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D3E3A92-F1E8-874F-4CAD-CBE913292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336" y="43544"/>
            <a:ext cx="8166847" cy="60473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EAC5CF-FB5D-5427-5B7F-1B723EEBE2DB}"/>
              </a:ext>
            </a:extLst>
          </p:cNvPr>
          <p:cNvSpPr txBox="1"/>
          <p:nvPr/>
        </p:nvSpPr>
        <p:spPr>
          <a:xfrm>
            <a:off x="6093760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Korean J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Radiol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2010 Jul-Aug;11(4):485-9.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727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6934D-7FDD-8CC0-48F4-881B9F94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Does hepatopulmonary syndrome respond to supplemental oxygen?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8386-D5CE-D6F0-5466-772F31DE5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30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701DF-BB3A-8B88-EE56-661D6491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D4D56-FA3D-5C79-E1A7-FD523EDA0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Does hepatopulmonary syndrome respond to supplemental oxygen?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31462-891D-D614-F0AF-25807CAFA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sz="4000" b="1" dirty="0"/>
              <a:t>Type I does</a:t>
            </a:r>
          </a:p>
          <a:p>
            <a:r>
              <a:rPr lang="en-US" sz="4000" dirty="0"/>
              <a:t>Type II doesn’t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D92CC7B-5A8F-FE9C-18C0-F84C5742FA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84" b="1270"/>
          <a:stretch/>
        </p:blipFill>
        <p:spPr bwMode="auto">
          <a:xfrm>
            <a:off x="6004794" y="2341204"/>
            <a:ext cx="6069370" cy="3835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E77397-C97A-E307-07B4-18BA5A8A70C0}"/>
              </a:ext>
            </a:extLst>
          </p:cNvPr>
          <p:cNvSpPr txBox="1"/>
          <p:nvPr/>
        </p:nvSpPr>
        <p:spPr>
          <a:xfrm>
            <a:off x="6093760" y="6485124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N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Engl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 Med. 2008 May 29;358(22):2378-87.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DB7A4-B5C2-FA12-4359-CA147B78AF55}"/>
              </a:ext>
            </a:extLst>
          </p:cNvPr>
          <p:cNvSpPr txBox="1"/>
          <p:nvPr/>
        </p:nvSpPr>
        <p:spPr>
          <a:xfrm>
            <a:off x="6319806" y="5285187"/>
            <a:ext cx="9284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effectLst>
                  <a:glow rad="1905000">
                    <a:schemeClr val="bg1"/>
                  </a:glow>
                </a:effectLst>
                <a:latin typeface="Georgia" panose="02040502050405020303" pitchFamily="18" charset="0"/>
              </a:rPr>
              <a:t>Type 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01F965-3177-F561-46B8-582CB54EA5F8}"/>
              </a:ext>
            </a:extLst>
          </p:cNvPr>
          <p:cNvSpPr txBox="1"/>
          <p:nvPr/>
        </p:nvSpPr>
        <p:spPr>
          <a:xfrm>
            <a:off x="10405500" y="2994753"/>
            <a:ext cx="837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effectLst>
                  <a:glow rad="1905000">
                    <a:schemeClr val="bg1"/>
                  </a:glow>
                </a:effectLst>
                <a:latin typeface="Georgia" panose="02040502050405020303" pitchFamily="18" charset="0"/>
              </a:rPr>
              <a:t>Type I</a:t>
            </a:r>
          </a:p>
        </p:txBody>
      </p:sp>
    </p:spTree>
    <p:extLst>
      <p:ext uri="{BB962C8B-B14F-4D97-AF65-F5344CB8AC3E}">
        <p14:creationId xmlns:p14="http://schemas.microsoft.com/office/powerpoint/2010/main" val="3499646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153E36-952E-20F6-736F-B8C4730BF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So how are we going to diagnose HPS when suspected?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A6AE1B-82EA-5562-DE10-81B6B0EB7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44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DCC853-CDCC-142C-C950-964101C0855C}"/>
              </a:ext>
            </a:extLst>
          </p:cNvPr>
          <p:cNvSpPr txBox="1"/>
          <p:nvPr/>
        </p:nvSpPr>
        <p:spPr>
          <a:xfrm>
            <a:off x="6093760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Arch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Cardiol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Mex. 2022 Apr 4;92(2):274-282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D48201-7D29-9CE7-1603-D223C4BA2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220" y="181073"/>
            <a:ext cx="7981080" cy="611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67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TTE with “bubble” study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20F110-41CE-9A45-9776-1D9715096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442" y="1639613"/>
            <a:ext cx="6535682" cy="413866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E00F35-BFE8-4EB0-8D74-7173DF03E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480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54E0D4-AEEA-E34B-B3FE-BA0298A9A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87" y="389557"/>
            <a:ext cx="10825413" cy="607888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0A7568-BA7E-48FF-A64C-1E4CDEE04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97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A6A97-A96E-70D8-B196-0FDF1215F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0B278-2D69-0E06-4A08-AACB1A68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TTE with bubble: high sensitivity</a:t>
            </a:r>
          </a:p>
          <a:p>
            <a:pPr lvl="1"/>
            <a:r>
              <a:rPr lang="en-US" sz="2000" b="1" dirty="0"/>
              <a:t>HPS = Hypoxemia + positive bubble study + no intrinsic lung disease</a:t>
            </a:r>
            <a:endParaRPr lang="en-US" sz="2000" dirty="0"/>
          </a:p>
          <a:p>
            <a:r>
              <a:rPr lang="en-US" dirty="0"/>
              <a:t>In the presence of intrinsic lung disease, TTE alone is </a:t>
            </a:r>
            <a:r>
              <a:rPr lang="en-US" b="1" i="1" u="sng" dirty="0"/>
              <a:t>NOT</a:t>
            </a:r>
            <a:r>
              <a:rPr lang="en-US" dirty="0"/>
              <a:t> sufficient to diagnose HPS</a:t>
            </a:r>
          </a:p>
          <a:p>
            <a:pPr marL="0" indent="0" algn="ctr">
              <a:buNone/>
            </a:pPr>
            <a:r>
              <a:rPr lang="en-US" b="1" dirty="0"/>
              <a:t>So what can we do?</a:t>
            </a:r>
          </a:p>
        </p:txBody>
      </p:sp>
    </p:spTree>
    <p:extLst>
      <p:ext uri="{BB962C8B-B14F-4D97-AF65-F5344CB8AC3E}">
        <p14:creationId xmlns:p14="http://schemas.microsoft.com/office/powerpoint/2010/main" val="1180192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8A7183-3185-8EEA-D397-F3F9DA421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503" y="995082"/>
            <a:ext cx="7704673" cy="586291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B417D12-A40E-8EC8-3AD6-6C197D27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72"/>
            <a:ext cx="121920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Tagged (</a:t>
            </a:r>
            <a:r>
              <a:rPr lang="en-US" sz="3600" baseline="30000" dirty="0">
                <a:solidFill>
                  <a:schemeClr val="bg1"/>
                </a:solidFill>
              </a:rPr>
              <a:t>99m</a:t>
            </a:r>
            <a:r>
              <a:rPr lang="en-US" sz="3600" dirty="0">
                <a:solidFill>
                  <a:schemeClr val="bg1"/>
                </a:solidFill>
              </a:rPr>
              <a:t>Tc) macroaggregated albumin (20 </a:t>
            </a:r>
            <a:r>
              <a:rPr lang="el-GR" sz="3600" dirty="0">
                <a:solidFill>
                  <a:schemeClr val="bg1"/>
                </a:solidFill>
              </a:rPr>
              <a:t>μ</a:t>
            </a:r>
            <a:r>
              <a:rPr lang="en-US" sz="3600" dirty="0">
                <a:solidFill>
                  <a:schemeClr val="bg1"/>
                </a:solidFill>
              </a:rPr>
              <a:t>m) scan</a:t>
            </a:r>
          </a:p>
        </p:txBody>
      </p:sp>
      <p:pic>
        <p:nvPicPr>
          <p:cNvPr id="6" name="Picture 4" descr="Mechanism of shunting in the hepatopulmonary syndrome from Kinane et... |  Download Scientific Diagram">
            <a:extLst>
              <a:ext uri="{FF2B5EF4-FFF2-40B4-BE49-F238E27FC236}">
                <a16:creationId xmlns:a16="http://schemas.microsoft.com/office/drawing/2014/main" id="{6D05D2E4-43C2-4907-C0C6-0CA2AD5CF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03" y="3064099"/>
            <a:ext cx="3895334" cy="182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9443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1726B-962B-199D-B6FE-B258D796A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15A86-6037-9BFB-7E5A-8A1164B1B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845FF-65A0-31CB-97A7-959FF102F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TTE with bubble: high sensitivity</a:t>
            </a:r>
          </a:p>
          <a:p>
            <a:pPr lvl="1"/>
            <a:r>
              <a:rPr lang="en-US" sz="2000" b="1" dirty="0"/>
              <a:t>HPS = Hypoxemia + positive bubble study + no intrinsic lung disease</a:t>
            </a:r>
          </a:p>
          <a:p>
            <a:r>
              <a:rPr lang="en-US" dirty="0"/>
              <a:t>In the presence of intrinsic lung disease, TTE alone is </a:t>
            </a:r>
            <a:r>
              <a:rPr lang="en-US" b="1" i="1" u="sng" dirty="0"/>
              <a:t>NOT</a:t>
            </a:r>
            <a:r>
              <a:rPr lang="en-US" dirty="0"/>
              <a:t> sufficient to diagnose HPS</a:t>
            </a:r>
          </a:p>
          <a:p>
            <a:r>
              <a:rPr lang="en-US" dirty="0"/>
              <a:t>Tagged (99mTc) macroaggregated albumin (20 </a:t>
            </a:r>
            <a:r>
              <a:rPr lang="el-GR" dirty="0"/>
              <a:t>μ</a:t>
            </a:r>
            <a:r>
              <a:rPr lang="en-US" dirty="0"/>
              <a:t>m) scan: </a:t>
            </a:r>
          </a:p>
          <a:p>
            <a:pPr lvl="1"/>
            <a:r>
              <a:rPr lang="en-US" b="1" dirty="0"/>
              <a:t>Highly specific but not sensitive</a:t>
            </a:r>
          </a:p>
          <a:p>
            <a:pPr lvl="1"/>
            <a:r>
              <a:rPr lang="en-US" dirty="0"/>
              <a:t>Can diagnose HPS in the presence of intrinsic lung disease</a:t>
            </a:r>
          </a:p>
        </p:txBody>
      </p:sp>
    </p:spTree>
    <p:extLst>
      <p:ext uri="{BB962C8B-B14F-4D97-AF65-F5344CB8AC3E}">
        <p14:creationId xmlns:p14="http://schemas.microsoft.com/office/powerpoint/2010/main" val="1849532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BFF3A-9BDC-8A1E-75E8-33F55B595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Pulmonary Angiography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22086-770A-318E-1956-BD53C85CD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differentiate between type I and type II</a:t>
            </a:r>
          </a:p>
          <a:p>
            <a:pPr lvl="1"/>
            <a:r>
              <a:rPr lang="en-US" b="1" dirty="0"/>
              <a:t>Type I: </a:t>
            </a:r>
            <a:r>
              <a:rPr lang="en-US" dirty="0"/>
              <a:t>a diffuse spongiform appearance of pulmonary vessels during the arterial phase; and </a:t>
            </a:r>
          </a:p>
          <a:p>
            <a:pPr lvl="1"/>
            <a:r>
              <a:rPr lang="en-US" b="1" dirty="0"/>
              <a:t>Type II: </a:t>
            </a:r>
            <a:r>
              <a:rPr lang="en-US" dirty="0"/>
              <a:t>small discrete arteriovenous communications.</a:t>
            </a:r>
          </a:p>
          <a:p>
            <a:pPr lvl="1"/>
            <a:endParaRPr lang="en-US" dirty="0"/>
          </a:p>
          <a:p>
            <a:r>
              <a:rPr lang="en-US" dirty="0"/>
              <a:t>Most patients (~85%) with HPS (usually type I) have </a:t>
            </a:r>
            <a:r>
              <a:rPr lang="en-US" b="1" dirty="0"/>
              <a:t>NORMAL pulmonary angiography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73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222983-69F3-6188-9790-E6EF90AE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Ok, you diagnosed HPS. </a:t>
            </a:r>
            <a:br>
              <a:rPr lang="en-US" dirty="0"/>
            </a:br>
            <a:r>
              <a:rPr lang="en-US" dirty="0"/>
              <a:t>How do you assess severity?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130914-DF2A-2009-F365-9AC571DAE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…and does it matter?</a:t>
            </a:r>
          </a:p>
        </p:txBody>
      </p:sp>
    </p:spTree>
    <p:extLst>
      <p:ext uri="{BB962C8B-B14F-4D97-AF65-F5344CB8AC3E}">
        <p14:creationId xmlns:p14="http://schemas.microsoft.com/office/powerpoint/2010/main" val="28535428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B1490-111A-9F3E-9119-D8F8F75DD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Severity Assessment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DFF38-B025-2097-FB52-36B004AC2B19}"/>
              </a:ext>
            </a:extLst>
          </p:cNvPr>
          <p:cNvSpPr txBox="1"/>
          <p:nvPr/>
        </p:nvSpPr>
        <p:spPr>
          <a:xfrm>
            <a:off x="6093760" y="6485124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N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Engl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 Med. 2008 May 29;358(22):2378-87.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4A1353-1794-5FFA-BCB3-C9D25FEA8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Obtain an </a:t>
            </a:r>
            <a:r>
              <a:rPr lang="en-US" b="1" dirty="0"/>
              <a:t>ABG</a:t>
            </a:r>
            <a:r>
              <a:rPr lang="en-US" dirty="0"/>
              <a:t> on </a:t>
            </a:r>
            <a:r>
              <a:rPr lang="en-US" b="1" dirty="0"/>
              <a:t>room air </a:t>
            </a:r>
            <a:r>
              <a:rPr lang="en-US" dirty="0"/>
              <a:t>while patient </a:t>
            </a:r>
            <a:r>
              <a:rPr lang="en-US" b="1" dirty="0"/>
              <a:t>is sitting up</a:t>
            </a:r>
          </a:p>
          <a:p>
            <a:endParaRPr lang="en-US" b="1" dirty="0"/>
          </a:p>
          <a:p>
            <a:r>
              <a:rPr lang="en-US" dirty="0"/>
              <a:t>Severity may be influenced by the “amount of bubbles” that cross to the left side as described in the TTE</a:t>
            </a:r>
          </a:p>
          <a:p>
            <a:pPr lvl="1"/>
            <a:r>
              <a:rPr lang="en-US" dirty="0"/>
              <a:t>You will see reports mentioning “</a:t>
            </a:r>
            <a:r>
              <a:rPr lang="en-US" i="1" dirty="0"/>
              <a:t>large amount of bubbles”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475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AB820-D663-87E5-AF92-977EB1291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D6B37-405B-0C53-B5AE-E5BFF4DB7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Severity Assessment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5AA072-8C3B-1DBC-D9CF-AADCE28343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751" y="2319791"/>
            <a:ext cx="11054498" cy="22184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68EB37-6320-6FDD-E365-2BA84F5D9A20}"/>
              </a:ext>
            </a:extLst>
          </p:cNvPr>
          <p:cNvSpPr txBox="1"/>
          <p:nvPr/>
        </p:nvSpPr>
        <p:spPr>
          <a:xfrm>
            <a:off x="6093760" y="6485124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N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Engl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 Med. 2008 May 29;358(22):2378-87.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758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A02718-E757-CAC5-8258-1523FD6A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Does the degree of hepatic dysfunction or portal hypertension influence the prevalence and/or severity of HPS?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BB9106-2571-0009-255C-79674FD73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9134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BCC05-A6B8-CE82-D193-EABBFF04C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9EA7FF-C15A-36A5-E0F3-33BEC1098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Does the degree of hepatic dysfunction or portal hypertension influence the prevalence and/or severity of HPS?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39AD70-B327-4DDC-3C57-0EC8C03C8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/>
          <a:p>
            <a:r>
              <a:rPr lang="en-US" dirty="0"/>
              <a:t>…controversial.</a:t>
            </a:r>
          </a:p>
        </p:txBody>
      </p:sp>
    </p:spTree>
    <p:extLst>
      <p:ext uri="{BB962C8B-B14F-4D97-AF65-F5344CB8AC3E}">
        <p14:creationId xmlns:p14="http://schemas.microsoft.com/office/powerpoint/2010/main" val="11224374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5C5F3-14E5-90F9-EF14-38F4D4FC8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D94FF-93B6-7B8E-9C2C-E4D91389A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effective medical therapy exists </a:t>
            </a:r>
            <a:r>
              <a:rPr lang="en-US" b="1" dirty="0"/>
              <a:t>yet</a:t>
            </a:r>
          </a:p>
          <a:p>
            <a:endParaRPr lang="en-US" b="1" dirty="0"/>
          </a:p>
          <a:p>
            <a:r>
              <a:rPr lang="en-US" dirty="0"/>
              <a:t>Supplemental oxygen improves quality of life (dyspnea)</a:t>
            </a:r>
          </a:p>
          <a:p>
            <a:endParaRPr lang="en-US" dirty="0"/>
          </a:p>
          <a:p>
            <a:r>
              <a:rPr lang="en-US" dirty="0"/>
              <a:t>Investigational therapies do exist</a:t>
            </a:r>
          </a:p>
          <a:p>
            <a:pPr lvl="1"/>
            <a:r>
              <a:rPr lang="en-US" dirty="0"/>
              <a:t>TIPS: not really indicated here</a:t>
            </a:r>
          </a:p>
          <a:p>
            <a:pPr lvl="1"/>
            <a:r>
              <a:rPr lang="en-US" dirty="0"/>
              <a:t>Embolization: especially type II</a:t>
            </a:r>
          </a:p>
          <a:p>
            <a:pPr lvl="1"/>
            <a:r>
              <a:rPr lang="en-US" dirty="0"/>
              <a:t>Meds</a:t>
            </a:r>
          </a:p>
        </p:txBody>
      </p:sp>
    </p:spTree>
    <p:extLst>
      <p:ext uri="{BB962C8B-B14F-4D97-AF65-F5344CB8AC3E}">
        <p14:creationId xmlns:p14="http://schemas.microsoft.com/office/powerpoint/2010/main" val="34831955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35EA0C-731B-2B80-1374-A692CB013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Allium sativum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82F2FB-467C-AB11-99FE-E504412FD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80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GARLIC (WHOLE) | Green Acres Farmers Market">
            <a:extLst>
              <a:ext uri="{FF2B5EF4-FFF2-40B4-BE49-F238E27FC236}">
                <a16:creationId xmlns:a16="http://schemas.microsoft.com/office/drawing/2014/main" id="{D444BE3F-B262-D28F-598F-3D9D9EB8C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863" y="0"/>
            <a:ext cx="82962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5A0B75B-74B7-6EE7-025B-BB51DA78A0B5}"/>
              </a:ext>
            </a:extLst>
          </p:cNvPr>
          <p:cNvSpPr txBox="1">
            <a:spLocks/>
          </p:cNvSpPr>
          <p:nvPr/>
        </p:nvSpPr>
        <p:spPr>
          <a:xfrm>
            <a:off x="831850" y="190220"/>
            <a:ext cx="10515600" cy="285273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Allium sativum, aka garlic!</a:t>
            </a:r>
          </a:p>
        </p:txBody>
      </p:sp>
    </p:spTree>
    <p:extLst>
      <p:ext uri="{BB962C8B-B14F-4D97-AF65-F5344CB8AC3E}">
        <p14:creationId xmlns:p14="http://schemas.microsoft.com/office/powerpoint/2010/main" val="41855639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F6C9AE-B8F0-906D-43DE-3977C7C023D8}"/>
              </a:ext>
            </a:extLst>
          </p:cNvPr>
          <p:cNvSpPr txBox="1"/>
          <p:nvPr/>
        </p:nvSpPr>
        <p:spPr>
          <a:xfrm>
            <a:off x="6093760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Roboto" panose="020F0502020204030204" pitchFamily="34" charset="0"/>
              </a:rPr>
              <a:t>Can J Gastroenterol. 2010 Mar;24(3):183-8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29E41E-DB26-32AE-9C5E-F843B13A7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872" y="1691864"/>
            <a:ext cx="6533776" cy="47968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2B6AFE-9423-94A0-1308-3B44A1ABF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96311"/>
            <a:ext cx="7772400" cy="159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5380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08EF5B-C12C-B230-3D3B-B8AF48F89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if you have HPS -&gt; </a:t>
            </a:r>
            <a:br>
              <a:rPr lang="en-US" dirty="0"/>
            </a:br>
            <a:r>
              <a:rPr lang="en-US" dirty="0"/>
              <a:t>O2 and chill until you die?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195C87-2930-69AC-2D89-983F40738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013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Aftercare">
            <a:extLst>
              <a:ext uri="{FF2B5EF4-FFF2-40B4-BE49-F238E27FC236}">
                <a16:creationId xmlns:a16="http://schemas.microsoft.com/office/drawing/2014/main" id="{D100AD98-37B0-8430-5A6E-C64D3B9E6B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085" y="1811762"/>
            <a:ext cx="5473830" cy="4379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1E2E8BE-DA85-B6B7-F97B-BE3BBA5BE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Liver Transplantation for HPS</a:t>
            </a:r>
          </a:p>
        </p:txBody>
      </p:sp>
    </p:spTree>
    <p:extLst>
      <p:ext uri="{BB962C8B-B14F-4D97-AF65-F5344CB8AC3E}">
        <p14:creationId xmlns:p14="http://schemas.microsoft.com/office/powerpoint/2010/main" val="35382400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84F12-0ABC-541A-222F-41EFBC46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Liver Transplantation for HPS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DFA01-2BEC-5E16-F6E7-000B1F479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only successful treatment for HPS</a:t>
            </a:r>
          </a:p>
          <a:p>
            <a:r>
              <a:rPr lang="en-US" dirty="0"/>
              <a:t>Severity of HPS influences both:</a:t>
            </a:r>
          </a:p>
          <a:p>
            <a:pPr marL="971550" lvl="1" indent="-514350">
              <a:buAutoNum type="arabicPeriod"/>
            </a:pPr>
            <a:r>
              <a:rPr lang="en-US" dirty="0"/>
              <a:t>Post operative mortality</a:t>
            </a:r>
          </a:p>
          <a:p>
            <a:pPr marL="971550" lvl="1" indent="-514350">
              <a:buAutoNum type="arabicPeriod"/>
            </a:pPr>
            <a:r>
              <a:rPr lang="en-US" dirty="0"/>
              <a:t>The interval from transplant to HPS resolution</a:t>
            </a:r>
          </a:p>
          <a:p>
            <a:r>
              <a:rPr lang="en-US" dirty="0"/>
              <a:t>When </a:t>
            </a:r>
            <a:r>
              <a:rPr lang="en-US" dirty="0" err="1"/>
              <a:t>LTxp</a:t>
            </a:r>
            <a:r>
              <a:rPr lang="en-US" dirty="0"/>
              <a:t> is curative, it takes about </a:t>
            </a:r>
            <a:r>
              <a:rPr lang="en-US" b="1" dirty="0"/>
              <a:t>6-12 months for HPS to resolve</a:t>
            </a:r>
          </a:p>
          <a:p>
            <a:r>
              <a:rPr lang="en-US" dirty="0"/>
              <a:t>Patients usually discharged </a:t>
            </a:r>
            <a:r>
              <a:rPr lang="en-US" b="1" dirty="0"/>
              <a:t>on oxygen</a:t>
            </a:r>
            <a:r>
              <a:rPr lang="en-US" dirty="0"/>
              <a:t> after transplant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144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C63DD73-31D6-FCCA-81B2-6077A8C96A49}"/>
              </a:ext>
            </a:extLst>
          </p:cNvPr>
          <p:cNvGrpSpPr/>
          <p:nvPr/>
        </p:nvGrpSpPr>
        <p:grpSpPr>
          <a:xfrm>
            <a:off x="579633" y="1459005"/>
            <a:ext cx="11028253" cy="4719919"/>
            <a:chOff x="2070007" y="537881"/>
            <a:chExt cx="8451850" cy="3617259"/>
          </a:xfrm>
        </p:grpSpPr>
        <p:pic>
          <p:nvPicPr>
            <p:cNvPr id="7170" name="Picture 2" descr="Details are in the caption following the image">
              <a:extLst>
                <a:ext uri="{FF2B5EF4-FFF2-40B4-BE49-F238E27FC236}">
                  <a16:creationId xmlns:a16="http://schemas.microsoft.com/office/drawing/2014/main" id="{7C203B5A-1D76-91DF-AA8D-7AD1F4A417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 bwMode="auto">
            <a:xfrm>
              <a:off x="2070007" y="726140"/>
              <a:ext cx="4225925" cy="3429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2" descr="Details are in the caption following the image">
              <a:extLst>
                <a:ext uri="{FF2B5EF4-FFF2-40B4-BE49-F238E27FC236}">
                  <a16:creationId xmlns:a16="http://schemas.microsoft.com/office/drawing/2014/main" id="{FE023F19-36A2-97F2-E6C8-FE82E2A34F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 bwMode="auto">
            <a:xfrm>
              <a:off x="6295932" y="537881"/>
              <a:ext cx="4225925" cy="3429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968ED0F-6F9F-A49B-20C9-4BDB95265287}"/>
              </a:ext>
            </a:extLst>
          </p:cNvPr>
          <p:cNvSpPr txBox="1"/>
          <p:nvPr/>
        </p:nvSpPr>
        <p:spPr>
          <a:xfrm>
            <a:off x="6093760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Hepatology. 2005 May;41(5):1122-9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3A29A6E-9998-B33D-94C9-CF4BB993B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Prognosticating HPS outcomes post LT</a:t>
            </a:r>
          </a:p>
        </p:txBody>
      </p:sp>
    </p:spTree>
    <p:extLst>
      <p:ext uri="{BB962C8B-B14F-4D97-AF65-F5344CB8AC3E}">
        <p14:creationId xmlns:p14="http://schemas.microsoft.com/office/powerpoint/2010/main" val="35046751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7F564-BC6B-8108-98E4-568DB6E3C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Thumb for HPS Improvement After Liver Transplant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87D44-6357-1F59-D178-62986B89E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Pre-LT: </a:t>
            </a:r>
            <a:r>
              <a:rPr lang="en-US" dirty="0"/>
              <a:t>PaO2 drops roughly 0.3 to 0.4 mmHg each month in most cohorts.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Post-LT: </a:t>
            </a:r>
            <a:r>
              <a:rPr lang="en-US" dirty="0"/>
              <a:t>PaO2 rises roughly 6 to 8 mmHg each month in the first year, often normalizing by 5 months.</a:t>
            </a:r>
          </a:p>
        </p:txBody>
      </p:sp>
    </p:spTree>
    <p:extLst>
      <p:ext uri="{BB962C8B-B14F-4D97-AF65-F5344CB8AC3E}">
        <p14:creationId xmlns:p14="http://schemas.microsoft.com/office/powerpoint/2010/main" val="4033070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normal liver transplantation&#10;&#10;AI-generated content may be incorrect.">
            <a:extLst>
              <a:ext uri="{FF2B5EF4-FFF2-40B4-BE49-F238E27FC236}">
                <a16:creationId xmlns:a16="http://schemas.microsoft.com/office/drawing/2014/main" id="{A66D0D21-8879-1A4A-3C2F-071E59B53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8" y="403519"/>
            <a:ext cx="8926284" cy="605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3132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B93DA5-7C81-CB2B-43C9-E8B909C28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transplant is curative for HPS, can </a:t>
            </a:r>
            <a:r>
              <a:rPr lang="en-US" b="1" dirty="0"/>
              <a:t>anyone with HPS</a:t>
            </a:r>
            <a:r>
              <a:rPr lang="en-US" dirty="0"/>
              <a:t> get a liver transplant?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087B6A-74AA-AE8E-0AC7-1F33D90F8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4789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16F63C-A4F8-8477-535C-D9B50AF7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Back to our patient 54M w/ cirrhosis and HPS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49EFD2-9806-995C-D225-252A01250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1" y="1825625"/>
            <a:ext cx="11538858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History of ascites and variceal bleeding (portal hypertension)</a:t>
            </a:r>
          </a:p>
          <a:p>
            <a:r>
              <a:rPr lang="en-US" dirty="0"/>
              <a:t>TTE: positive bubbles (after 4-5 cardiac cycles)</a:t>
            </a:r>
          </a:p>
          <a:p>
            <a:r>
              <a:rPr lang="en-US" dirty="0"/>
              <a:t>CT Chest: no intrinsic lung disease</a:t>
            </a:r>
          </a:p>
          <a:p>
            <a:r>
              <a:rPr lang="en-US" dirty="0"/>
              <a:t>ABG on RA: PaO2 = </a:t>
            </a:r>
            <a:r>
              <a:rPr lang="en-US" b="1" dirty="0"/>
              <a:t>55 mmHg</a:t>
            </a:r>
          </a:p>
          <a:p>
            <a:pPr lvl="1"/>
            <a:r>
              <a:rPr lang="en-US" dirty="0"/>
              <a:t>Currently on 3-5L NC at home</a:t>
            </a:r>
          </a:p>
          <a:p>
            <a:r>
              <a:rPr lang="en-US" b="1" dirty="0">
                <a:highlight>
                  <a:srgbClr val="FFFF00"/>
                </a:highlight>
              </a:rPr>
              <a:t>MELD 3.0 = 10</a:t>
            </a:r>
          </a:p>
          <a:p>
            <a:endParaRPr lang="en-US" b="1" dirty="0"/>
          </a:p>
          <a:p>
            <a:pPr marL="0" indent="0" algn="ctr">
              <a:buNone/>
            </a:pPr>
            <a:r>
              <a:rPr lang="en-US" b="1" dirty="0"/>
              <a:t>With such low MELD, patient will not likely get a liver transplant! </a:t>
            </a:r>
          </a:p>
          <a:p>
            <a:pPr marL="0" indent="0" algn="ctr">
              <a:buNone/>
            </a:pPr>
            <a:r>
              <a:rPr lang="en-US" i="1" dirty="0"/>
              <a:t>What can we do?</a:t>
            </a:r>
          </a:p>
        </p:txBody>
      </p:sp>
    </p:spTree>
    <p:extLst>
      <p:ext uri="{BB962C8B-B14F-4D97-AF65-F5344CB8AC3E}">
        <p14:creationId xmlns:p14="http://schemas.microsoft.com/office/powerpoint/2010/main" val="18214247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FB37EC-1BCD-F464-6D76-034207549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503" y="377061"/>
            <a:ext cx="8414994" cy="57119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BA6EC0-84F5-9597-AEF0-8335A4A71A9E}"/>
              </a:ext>
            </a:extLst>
          </p:cNvPr>
          <p:cNvSpPr txBox="1"/>
          <p:nvPr/>
        </p:nvSpPr>
        <p:spPr>
          <a:xfrm>
            <a:off x="6093760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OPTN policy. </a:t>
            </a:r>
            <a:r>
              <a:rPr lang="en-US" i="1" dirty="0"/>
              <a:t>Updated 1/10/2024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7156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CB12A9-D343-9070-25D2-BD4043CE4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501" y="131975"/>
            <a:ext cx="6868998" cy="62454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FFEE76-9492-3137-D092-BE08F5278439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Zakim and Boyer's Hepatology, 18, 281-292.e5</a:t>
            </a:r>
          </a:p>
        </p:txBody>
      </p:sp>
    </p:spTree>
    <p:extLst>
      <p:ext uri="{BB962C8B-B14F-4D97-AF65-F5344CB8AC3E}">
        <p14:creationId xmlns:p14="http://schemas.microsoft.com/office/powerpoint/2010/main" val="29211205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xkcd: P-Values">
            <a:extLst>
              <a:ext uri="{FF2B5EF4-FFF2-40B4-BE49-F238E27FC236}">
                <a16:creationId xmlns:a16="http://schemas.microsoft.com/office/drawing/2014/main" id="{C839AFAF-42B6-76F2-8A64-A57A2019E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408" y="354177"/>
            <a:ext cx="3681182" cy="5169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481A00-2E7D-0F5C-9558-AEDDC8146C96}"/>
              </a:ext>
            </a:extLst>
          </p:cNvPr>
          <p:cNvSpPr txBox="1"/>
          <p:nvPr/>
        </p:nvSpPr>
        <p:spPr>
          <a:xfrm>
            <a:off x="4070445" y="5919048"/>
            <a:ext cx="40511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Georgia" panose="02040502050405020303" pitchFamily="18" charset="0"/>
                <a:cs typeface="Geeza Pro" panose="02000400000000000000" pitchFamily="2" charset="-78"/>
              </a:rPr>
              <a:t>Any questions so far?</a:t>
            </a:r>
          </a:p>
        </p:txBody>
      </p:sp>
    </p:spTree>
    <p:extLst>
      <p:ext uri="{BB962C8B-B14F-4D97-AF65-F5344CB8AC3E}">
        <p14:creationId xmlns:p14="http://schemas.microsoft.com/office/powerpoint/2010/main" val="25990038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CD50E-5D4F-D648-F43E-B706FFF0B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5669-3672-E1EF-0320-F50F6CE68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8FE1F-7697-94B1-8425-2AF00F134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 52-year-old woman with history of MASLD cirrhosis complicated by ascites, presents with exertional dyspnea, underwent a TTE that showed an RVSP of 45. </a:t>
            </a:r>
          </a:p>
          <a:p>
            <a:endParaRPr lang="en-US" sz="3200" b="1" dirty="0"/>
          </a:p>
          <a:p>
            <a:pPr marL="0" indent="0" algn="ctr">
              <a:buNone/>
            </a:pPr>
            <a:r>
              <a:rPr lang="en-US" sz="3200" b="1" dirty="0"/>
              <a:t>What’s your next step?</a:t>
            </a:r>
          </a:p>
        </p:txBody>
      </p:sp>
    </p:spTree>
    <p:extLst>
      <p:ext uri="{BB962C8B-B14F-4D97-AF65-F5344CB8AC3E}">
        <p14:creationId xmlns:p14="http://schemas.microsoft.com/office/powerpoint/2010/main" val="18022493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A1A6B-CA52-E6AF-070E-67D860274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Heart Catheterization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E6271-4F5F-90C1-D189-40E58A1A6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7886" y="1825625"/>
            <a:ext cx="867591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RA 		15			mmHg</a:t>
            </a:r>
          </a:p>
          <a:p>
            <a:pPr marL="0" indent="0">
              <a:buNone/>
            </a:pPr>
            <a:r>
              <a:rPr lang="en-US" dirty="0"/>
              <a:t>RV 		60/30 (40)		mmHg</a:t>
            </a:r>
          </a:p>
          <a:p>
            <a:pPr marL="0" indent="0">
              <a:buNone/>
            </a:pPr>
            <a:r>
              <a:rPr lang="en-US" b="1" dirty="0"/>
              <a:t>PA 		65/40 (48)	mmHg</a:t>
            </a:r>
          </a:p>
          <a:p>
            <a:pPr marL="0" indent="0">
              <a:buNone/>
            </a:pPr>
            <a:r>
              <a:rPr lang="en-US" b="1" dirty="0"/>
              <a:t>PCWP 	10 			mmHg</a:t>
            </a:r>
          </a:p>
          <a:p>
            <a:pPr marL="0" indent="0">
              <a:buNone/>
            </a:pPr>
            <a:r>
              <a:rPr lang="en-US" b="1" dirty="0"/>
              <a:t>PVR 		500			dynes</a:t>
            </a:r>
          </a:p>
          <a:p>
            <a:pPr marL="0" indent="0">
              <a:buNone/>
            </a:pPr>
            <a:r>
              <a:rPr lang="en-US" i="1" dirty="0"/>
              <a:t>PVR		6.25			woods units (WU)</a:t>
            </a:r>
          </a:p>
        </p:txBody>
      </p:sp>
    </p:spTree>
    <p:extLst>
      <p:ext uri="{BB962C8B-B14F-4D97-AF65-F5344CB8AC3E}">
        <p14:creationId xmlns:p14="http://schemas.microsoft.com/office/powerpoint/2010/main" val="11397530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numbers and a number&#10;&#10;AI-generated content may be incorrect.">
            <a:extLst>
              <a:ext uri="{FF2B5EF4-FFF2-40B4-BE49-F238E27FC236}">
                <a16:creationId xmlns:a16="http://schemas.microsoft.com/office/drawing/2014/main" id="{8812F199-3769-3DB6-29AC-939BD42B67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890"/>
          <a:stretch>
            <a:fillRect/>
          </a:stretch>
        </p:blipFill>
        <p:spPr>
          <a:xfrm>
            <a:off x="548640" y="1459992"/>
            <a:ext cx="7223760" cy="393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2673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FB9D4-84A7-7E46-8B04-81356F271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numbers and a number&#10;&#10;AI-generated content may be incorrect.">
            <a:extLst>
              <a:ext uri="{FF2B5EF4-FFF2-40B4-BE49-F238E27FC236}">
                <a16:creationId xmlns:a16="http://schemas.microsoft.com/office/drawing/2014/main" id="{8E39789E-D543-91E3-B09B-2872C91D8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59992"/>
            <a:ext cx="11094720" cy="393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603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ulmonary Hypertension Group Classification #Diagnosis ... | GrepMed">
            <a:extLst>
              <a:ext uri="{FF2B5EF4-FFF2-40B4-BE49-F238E27FC236}">
                <a16:creationId xmlns:a16="http://schemas.microsoft.com/office/drawing/2014/main" id="{167A1273-F55C-BEC7-9FA5-ACBDEC8F7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171" y="353011"/>
            <a:ext cx="9641658" cy="509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9D96FA-14E2-85DB-4585-1CD7F8D46B23}"/>
              </a:ext>
            </a:extLst>
          </p:cNvPr>
          <p:cNvSpPr txBox="1"/>
          <p:nvPr/>
        </p:nvSpPr>
        <p:spPr>
          <a:xfrm>
            <a:off x="703339" y="5704114"/>
            <a:ext cx="107853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Georgia" panose="02040502050405020303" pitchFamily="18" charset="0"/>
              </a:rPr>
              <a:t>Which one of the above is </a:t>
            </a:r>
            <a:r>
              <a:rPr lang="en-US" sz="2800" b="1" dirty="0" err="1">
                <a:latin typeface="Georgia" panose="02040502050405020303" pitchFamily="18" charset="0"/>
              </a:rPr>
              <a:t>portopulmonary</a:t>
            </a:r>
            <a:r>
              <a:rPr lang="en-US" sz="2800" b="1" dirty="0">
                <a:latin typeface="Georgia" panose="02040502050405020303" pitchFamily="18" charset="0"/>
              </a:rPr>
              <a:t> hypertension?</a:t>
            </a:r>
          </a:p>
        </p:txBody>
      </p:sp>
    </p:spTree>
    <p:extLst>
      <p:ext uri="{BB962C8B-B14F-4D97-AF65-F5344CB8AC3E}">
        <p14:creationId xmlns:p14="http://schemas.microsoft.com/office/powerpoint/2010/main" val="40811484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42DF-16A2-10A0-6B0D-2CE462789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Portopulmonary</a:t>
            </a:r>
            <a:r>
              <a:rPr lang="en-US" dirty="0"/>
              <a:t> Hypertension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6CEC0-76A3-DD9B-DE41-1D386D988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The prevalence varies between 2-10% of patients with portal hypertension, depending which study you look at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1BD54A-CCA4-4B21-997D-C686DD181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3189566"/>
            <a:ext cx="5676900" cy="2095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C29026-5376-18B5-FBA6-C35E965C95A5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Hepatology. 2008 Jul;48(1):196-203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3586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C0193D-EA01-A3E5-C602-926CB3397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257" y="226855"/>
            <a:ext cx="8621486" cy="60341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2918F9-B53B-B4C5-BE24-E225704DCA18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Transplant Direct. 2023 Jul 21;9(8):e1517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6183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4C0B1-D328-F25B-873C-38E364D8C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Portopulmonary</a:t>
            </a:r>
            <a:r>
              <a:rPr lang="en-US" dirty="0"/>
              <a:t> Hypertension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68027-599A-36DF-80DD-F24626DBE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proper diagnosis, you will have to </a:t>
            </a:r>
            <a:r>
              <a:rPr lang="en-US" b="1" dirty="0"/>
              <a:t>rule out</a:t>
            </a:r>
            <a:r>
              <a:rPr lang="en-US" dirty="0"/>
              <a:t> other causes of pulmonary hypertension (i.e. rule out all other groups) </a:t>
            </a:r>
          </a:p>
          <a:p>
            <a:endParaRPr lang="en-US" dirty="0"/>
          </a:p>
          <a:p>
            <a:r>
              <a:rPr lang="en-US" dirty="0"/>
              <a:t>Not necessarily, but most patients tend to get </a:t>
            </a:r>
          </a:p>
          <a:p>
            <a:pPr lvl="1"/>
            <a:r>
              <a:rPr lang="en-US" dirty="0"/>
              <a:t>CT Chest (r/o intrinsic lung disease)</a:t>
            </a:r>
          </a:p>
          <a:p>
            <a:pPr lvl="1"/>
            <a:r>
              <a:rPr lang="en-US" dirty="0"/>
              <a:t>V/Q Scan (r/o CTEPH)</a:t>
            </a:r>
          </a:p>
        </p:txBody>
      </p:sp>
    </p:spTree>
    <p:extLst>
      <p:ext uri="{BB962C8B-B14F-4D97-AF65-F5344CB8AC3E}">
        <p14:creationId xmlns:p14="http://schemas.microsoft.com/office/powerpoint/2010/main" val="41678787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B43403-6BDE-F694-CB35-C070E6B8B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0"/>
            <a:ext cx="6705600" cy="64031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5A70C5-F6B5-BC54-C593-98061B992E09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Zakim and Boyer's Hepatology, 18, 281-292.e5</a:t>
            </a:r>
          </a:p>
        </p:txBody>
      </p:sp>
    </p:spTree>
    <p:extLst>
      <p:ext uri="{BB962C8B-B14F-4D97-AF65-F5344CB8AC3E}">
        <p14:creationId xmlns:p14="http://schemas.microsoft.com/office/powerpoint/2010/main" val="24707580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B6AC26-5E93-9243-E806-A7D573454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550" y="1365250"/>
            <a:ext cx="4660900" cy="4127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159E62-A71F-8D63-9E23-C43CB0B9AF44}"/>
              </a:ext>
            </a:extLst>
          </p:cNvPr>
          <p:cNvSpPr txBox="1"/>
          <p:nvPr/>
        </p:nvSpPr>
        <p:spPr>
          <a:xfrm>
            <a:off x="4855029" y="6488668"/>
            <a:ext cx="7336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Liver Fellow Network - Quick Tips: </a:t>
            </a:r>
            <a:r>
              <a:rPr lang="en-US" dirty="0" err="1"/>
              <a:t>Portopulmonary</a:t>
            </a:r>
            <a:r>
              <a:rPr lang="en-US" dirty="0"/>
              <a:t> Hypertension</a:t>
            </a:r>
          </a:p>
        </p:txBody>
      </p:sp>
    </p:spTree>
    <p:extLst>
      <p:ext uri="{BB962C8B-B14F-4D97-AF65-F5344CB8AC3E}">
        <p14:creationId xmlns:p14="http://schemas.microsoft.com/office/powerpoint/2010/main" val="25501831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494AA3-8E22-A1AC-2A57-AFECDC36F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943" y="129948"/>
            <a:ext cx="8752114" cy="63587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0C5E8C-EAA8-3027-2D79-393E5AE5484B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J Heart Lung Transplant. 2007 May;26(5):437-46</a:t>
            </a:r>
          </a:p>
        </p:txBody>
      </p:sp>
    </p:spTree>
    <p:extLst>
      <p:ext uri="{BB962C8B-B14F-4D97-AF65-F5344CB8AC3E}">
        <p14:creationId xmlns:p14="http://schemas.microsoft.com/office/powerpoint/2010/main" val="22732767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E43985B-D379-1D29-1A2B-4336C6A0A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488" y="271324"/>
            <a:ext cx="10189026" cy="5814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FEF2B3-3851-6F98-7569-C3E5BAC1ACF3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Cleve Clin J Med. 2023 Oct 2;90(10):632-639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5208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C2FE55-8E27-64B4-BA81-40B45CFD7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657"/>
            <a:ext cx="7772400" cy="6315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2EE17C-2D9B-33C5-9ABC-43F73B66FCC6}"/>
              </a:ext>
            </a:extLst>
          </p:cNvPr>
          <p:cNvSpPr txBox="1"/>
          <p:nvPr/>
        </p:nvSpPr>
        <p:spPr>
          <a:xfrm>
            <a:off x="4855029" y="6488668"/>
            <a:ext cx="7336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Liver Fellow Network - Quick Tips: </a:t>
            </a:r>
            <a:r>
              <a:rPr lang="en-US" dirty="0" err="1"/>
              <a:t>Portopulmonary</a:t>
            </a:r>
            <a:r>
              <a:rPr lang="en-US" dirty="0"/>
              <a:t> Hypertension</a:t>
            </a:r>
          </a:p>
        </p:txBody>
      </p:sp>
    </p:spTree>
    <p:extLst>
      <p:ext uri="{BB962C8B-B14F-4D97-AF65-F5344CB8AC3E}">
        <p14:creationId xmlns:p14="http://schemas.microsoft.com/office/powerpoint/2010/main" val="9636898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9DC05-51C4-53E7-1FE3-385BF857E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these therapies improve mortality?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033ED-D7B1-E0A3-5EE4-CB053C061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other therapy in your mind?</a:t>
            </a:r>
          </a:p>
        </p:txBody>
      </p:sp>
    </p:spTree>
    <p:extLst>
      <p:ext uri="{BB962C8B-B14F-4D97-AF65-F5344CB8AC3E}">
        <p14:creationId xmlns:p14="http://schemas.microsoft.com/office/powerpoint/2010/main" val="29832307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49E51-41C9-26E1-00C0-7F08C4868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TIPS?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A3128-0E94-6BDE-2A49-5DDBF7CBA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9998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6A2E1-379B-D798-7058-5FA58C0D8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05074-E5FC-72C8-531F-05EAD0181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TIPS?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8307E-EC58-20D8-4767-8BB1C137F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Bad idea.</a:t>
            </a:r>
          </a:p>
        </p:txBody>
      </p:sp>
    </p:spTree>
    <p:extLst>
      <p:ext uri="{BB962C8B-B14F-4D97-AF65-F5344CB8AC3E}">
        <p14:creationId xmlns:p14="http://schemas.microsoft.com/office/powerpoint/2010/main" val="16344102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4981A91B-D2B0-5A1F-8524-BC667C7CA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143" y="127271"/>
            <a:ext cx="8599714" cy="640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B764AD-C636-13E2-FD18-2CA7D8CA88C2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Curr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Hepatol Rep. 2020 Sep;19(3):174-185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0150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2B25A-91C9-8F70-81D2-ABD0C654D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happens if we transplant patients with severe (</a:t>
            </a:r>
            <a:r>
              <a:rPr lang="en-US" dirty="0" err="1"/>
              <a:t>porto</a:t>
            </a:r>
            <a:r>
              <a:rPr lang="en-US" dirty="0"/>
              <a:t>)pulmonary hypertension?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BA8B1-00D6-47C6-E21A-347487535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mPAP</a:t>
            </a:r>
            <a:r>
              <a:rPr lang="en-US" dirty="0"/>
              <a:t>&gt;50</a:t>
            </a:r>
          </a:p>
        </p:txBody>
      </p:sp>
    </p:spTree>
    <p:extLst>
      <p:ext uri="{BB962C8B-B14F-4D97-AF65-F5344CB8AC3E}">
        <p14:creationId xmlns:p14="http://schemas.microsoft.com/office/powerpoint/2010/main" val="20840090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D1B7D1-A0A1-BDFB-9FA7-1B3F3DCE0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33" y="87868"/>
            <a:ext cx="7014050" cy="6400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CF6F8A-700D-93FA-043D-4C5DA3394FD3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Liver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Transpl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2000 Jul;6(4):443-50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A1624-4205-4A39-3C98-47AA3A0FB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871" y="1462314"/>
            <a:ext cx="3913096" cy="393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0757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B1DDE-E364-D973-6080-9E06E9491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if you survive the liver transplant?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F266B-78F9-8ACD-EF9A-6C7797292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872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82DB6A-FB43-CC77-CA33-D5F3E95F7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 of POPH After Liver Transplant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6576BE-67A9-FA27-8CD7-FC27FD7E5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100% (14/14) of patients on parenteral therapy were able to discontinue prostacyclin therapy. </a:t>
            </a:r>
          </a:p>
          <a:p>
            <a:pPr lvl="1"/>
            <a:r>
              <a:rPr lang="en-US" dirty="0"/>
              <a:t>The median time from transplant date to discontinuing parenteral therapy was </a:t>
            </a:r>
            <a:r>
              <a:rPr lang="en-US" b="1" dirty="0"/>
              <a:t>7.2 months </a:t>
            </a:r>
            <a:r>
              <a:rPr lang="en-US" dirty="0"/>
              <a:t>(IQR: 5.1–8.9 </a:t>
            </a:r>
            <a:r>
              <a:rPr lang="en-US" dirty="0" err="1"/>
              <a:t>mo</a:t>
            </a:r>
            <a:r>
              <a:rPr lang="en-US" dirty="0"/>
              <a:t>). </a:t>
            </a:r>
          </a:p>
          <a:p>
            <a:r>
              <a:rPr lang="en-US" dirty="0"/>
              <a:t>61.9% (13/21) of surviving patients were able to stop all pulmonary vasodilator therapy posttransplant</a:t>
            </a:r>
          </a:p>
          <a:p>
            <a:pPr lvl="1"/>
            <a:r>
              <a:rPr lang="en-US" dirty="0"/>
              <a:t>Median time </a:t>
            </a:r>
            <a:r>
              <a:rPr lang="en-US" b="1" dirty="0"/>
              <a:t>of 13.9 months </a:t>
            </a:r>
            <a:r>
              <a:rPr lang="en-US" dirty="0"/>
              <a:t>(IQR: 5.1–17.6 </a:t>
            </a:r>
            <a:r>
              <a:rPr lang="en-US" dirty="0" err="1"/>
              <a:t>mo</a:t>
            </a:r>
            <a:r>
              <a:rPr lang="en-US" dirty="0"/>
              <a:t>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439E0F-9968-231C-DA04-D372D7E448E8}"/>
              </a:ext>
            </a:extLst>
          </p:cNvPr>
          <p:cNvSpPr txBox="1"/>
          <p:nvPr/>
        </p:nvSpPr>
        <p:spPr>
          <a:xfrm>
            <a:off x="3048754" y="6488668"/>
            <a:ext cx="9143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Transplantation. 2021 Feb 1;105(2):346-353</a:t>
            </a:r>
          </a:p>
        </p:txBody>
      </p:sp>
    </p:spTree>
    <p:extLst>
      <p:ext uri="{BB962C8B-B14F-4D97-AF65-F5344CB8AC3E}">
        <p14:creationId xmlns:p14="http://schemas.microsoft.com/office/powerpoint/2010/main" val="316734557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74528-9901-0EC9-A0A5-52FEB0A7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the Guidelines Say?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D460F-39F3-6D45-FE6A-245AFA66D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i="1" dirty="0"/>
              <a:t>“Importantly, LT is not a cure for all patients with POPH and </a:t>
            </a:r>
            <a:r>
              <a:rPr lang="en-US" b="1" i="1" dirty="0"/>
              <a:t>only half of patients</a:t>
            </a:r>
            <a:r>
              <a:rPr lang="en-US" i="1" dirty="0"/>
              <a:t> are able to safely discontinue PH therapy”</a:t>
            </a:r>
          </a:p>
          <a:p>
            <a:pPr marL="0" indent="0" algn="ctr">
              <a:buNone/>
            </a:pPr>
            <a:endParaRPr lang="en-US" i="1" dirty="0"/>
          </a:p>
          <a:p>
            <a:r>
              <a:rPr lang="en-US" dirty="0"/>
              <a:t>Treatment de-escalation is a process that should not be rushed</a:t>
            </a:r>
          </a:p>
          <a:p>
            <a:pPr lvl="1"/>
            <a:r>
              <a:rPr lang="en-US" dirty="0"/>
              <a:t>Parenteral prostacyclin analogues weaned first </a:t>
            </a:r>
          </a:p>
          <a:p>
            <a:pPr lvl="1"/>
            <a:r>
              <a:rPr lang="en-US" dirty="0"/>
              <a:t>Oral and inhaled PAH meds may be stopped eventually</a:t>
            </a:r>
          </a:p>
          <a:p>
            <a:r>
              <a:rPr lang="en-US" dirty="0"/>
              <a:t>Periodic TTE +/- RHC should be used to follow POPH post-transplant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FA0D66-5DFF-9067-5903-2B04F7045C25}"/>
              </a:ext>
            </a:extLst>
          </p:cNvPr>
          <p:cNvSpPr txBox="1"/>
          <p:nvPr/>
        </p:nvSpPr>
        <p:spPr>
          <a:xfrm>
            <a:off x="0" y="6581001"/>
            <a:ext cx="121950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/>
              <a:t>International Liver Transplantation Society practice guideline update on portopulmonary hypertension. Liver </a:t>
            </a:r>
            <a:r>
              <a:rPr lang="en-US" sz="1200" dirty="0" err="1"/>
              <a:t>Transpl</a:t>
            </a:r>
            <a:r>
              <a:rPr lang="en-US" sz="1200" dirty="0"/>
              <a:t>. 2025 Mar 18. </a:t>
            </a:r>
            <a:r>
              <a:rPr lang="en-US" sz="1200" dirty="0" err="1"/>
              <a:t>doi</a:t>
            </a:r>
            <a:r>
              <a:rPr lang="en-US" sz="1200" dirty="0"/>
              <a:t>: 10.1097/LVT.0000000000000600</a:t>
            </a:r>
          </a:p>
        </p:txBody>
      </p:sp>
    </p:spTree>
    <p:extLst>
      <p:ext uri="{BB962C8B-B14F-4D97-AF65-F5344CB8AC3E}">
        <p14:creationId xmlns:p14="http://schemas.microsoft.com/office/powerpoint/2010/main" val="29471388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A8FB033-8D58-30E2-C706-6C4F17CA5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patient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4D51E53-2443-5133-5457-2D9CF24F1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52-year-old woman with history of MASLD cirrhosis complicated by ascites, presents with exertional dyspnea, and RHC showing </a:t>
            </a:r>
            <a:r>
              <a:rPr lang="en-US" dirty="0" err="1"/>
              <a:t>mPAP</a:t>
            </a:r>
            <a:r>
              <a:rPr lang="en-US" dirty="0"/>
              <a:t> 48 mmHg, and PVR 500. CT chest </a:t>
            </a:r>
            <a:r>
              <a:rPr lang="en-US" dirty="0" err="1"/>
              <a:t>wnl</a:t>
            </a:r>
            <a:r>
              <a:rPr lang="en-US" dirty="0"/>
              <a:t>, and V/Q </a:t>
            </a:r>
            <a:r>
              <a:rPr lang="en-US" dirty="0" err="1"/>
              <a:t>wnl</a:t>
            </a:r>
            <a:r>
              <a:rPr lang="en-US" dirty="0"/>
              <a:t>. </a:t>
            </a:r>
          </a:p>
          <a:p>
            <a:r>
              <a:rPr lang="en-US" b="1" dirty="0"/>
              <a:t>MELD 3.0 = 10</a:t>
            </a:r>
          </a:p>
          <a:p>
            <a:endParaRPr lang="en-US" b="1" dirty="0"/>
          </a:p>
          <a:p>
            <a:pPr marL="0" indent="0" algn="ctr">
              <a:buNone/>
            </a:pPr>
            <a:r>
              <a:rPr lang="en-US" dirty="0"/>
              <a:t>With such low MELD, even if listed for transplant, the wait time will be prolonged. </a:t>
            </a:r>
          </a:p>
          <a:p>
            <a:pPr marL="0" indent="0" algn="ctr">
              <a:buNone/>
            </a:pPr>
            <a:r>
              <a:rPr lang="en-US" b="1" dirty="0"/>
              <a:t>Anything we can do?</a:t>
            </a:r>
          </a:p>
        </p:txBody>
      </p:sp>
    </p:spTree>
    <p:extLst>
      <p:ext uri="{BB962C8B-B14F-4D97-AF65-F5344CB8AC3E}">
        <p14:creationId xmlns:p14="http://schemas.microsoft.com/office/powerpoint/2010/main" val="8815884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14CCD7-799B-3B1B-F789-882D518F5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738" y="130629"/>
            <a:ext cx="6822524" cy="659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0105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F6118D-F553-E22F-08FA-77674C7C2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333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ulmonary–Hepatic vascular Disorders (PHD) | European Respiratory Society">
            <a:extLst>
              <a:ext uri="{FF2B5EF4-FFF2-40B4-BE49-F238E27FC236}">
                <a16:creationId xmlns:a16="http://schemas.microsoft.com/office/drawing/2014/main" id="{AE76D7FE-907C-BDBF-6085-23154E158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36072"/>
            <a:ext cx="6248400" cy="579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33DAA8-9087-6B75-9C59-5A51726AE42B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Eur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Respir J. 2004 Nov;24(5):861-80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6039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F22CE1E-B201-AA7F-853D-A50C958A0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777" y="325029"/>
            <a:ext cx="7730446" cy="5990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1F62D2-1EA3-5D72-CB25-3F11152D4EE4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Chest. 2023 Jul;164(1):206-214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0787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5B5AC0-214A-5442-4189-C1366CCB9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00" y="1992086"/>
            <a:ext cx="11225600" cy="28738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FFE57A-BD2A-53D7-A5D9-4F44C8893D27}"/>
              </a:ext>
            </a:extLst>
          </p:cNvPr>
          <p:cNvSpPr txBox="1"/>
          <p:nvPr/>
        </p:nvSpPr>
        <p:spPr>
          <a:xfrm>
            <a:off x="6096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Chest. 2023 Jul;164(1):206-214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4186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07B7-56FD-F090-FDF8-06ED72460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home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0BA8A-69BE-DF2A-6165-8E0E6E1B3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825625"/>
            <a:ext cx="11299372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Hepatopulmonary syndrome = intrapulmonary R-&gt;L shunt -&gt; dx with TTE + bubble</a:t>
            </a:r>
          </a:p>
          <a:p>
            <a:r>
              <a:rPr lang="en-US" dirty="0"/>
              <a:t>No medical therapy exists for HPS yet</a:t>
            </a:r>
          </a:p>
          <a:p>
            <a:endParaRPr lang="en-US" dirty="0"/>
          </a:p>
          <a:p>
            <a:r>
              <a:rPr lang="en-US" dirty="0" err="1"/>
              <a:t>Portopulmonary</a:t>
            </a:r>
            <a:r>
              <a:rPr lang="en-US" dirty="0"/>
              <a:t> hypertension = Group 1 PAH -&gt; dx w/ TTE+RHC</a:t>
            </a:r>
          </a:p>
          <a:p>
            <a:r>
              <a:rPr lang="en-US" dirty="0"/>
              <a:t>Medical therapy until response (</a:t>
            </a:r>
            <a:r>
              <a:rPr lang="en-US" dirty="0" err="1"/>
              <a:t>mPAP</a:t>
            </a:r>
            <a:r>
              <a:rPr lang="en-US" dirty="0"/>
              <a:t> &lt; 45)</a:t>
            </a:r>
          </a:p>
          <a:p>
            <a:r>
              <a:rPr lang="en-US" dirty="0"/>
              <a:t>Severe pulmonary hypertension is </a:t>
            </a:r>
            <a:r>
              <a:rPr lang="en-US" b="1" dirty="0"/>
              <a:t>a contraindication to </a:t>
            </a:r>
            <a:r>
              <a:rPr lang="en-US" b="1" dirty="0" err="1"/>
              <a:t>LTxp</a:t>
            </a:r>
            <a:endParaRPr lang="en-US" dirty="0"/>
          </a:p>
          <a:p>
            <a:r>
              <a:rPr lang="en-US" dirty="0"/>
              <a:t>Both have strict criteria foe MELD Exception Points</a:t>
            </a:r>
          </a:p>
          <a:p>
            <a:r>
              <a:rPr lang="en-US" dirty="0"/>
              <a:t>Co-managed with hepatology and pulmonary</a:t>
            </a:r>
          </a:p>
        </p:txBody>
      </p:sp>
    </p:spTree>
    <p:extLst>
      <p:ext uri="{BB962C8B-B14F-4D97-AF65-F5344CB8AC3E}">
        <p14:creationId xmlns:p14="http://schemas.microsoft.com/office/powerpoint/2010/main" val="3643108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4558</TotalTime>
  <Words>1630</Words>
  <Application>Microsoft Office PowerPoint</Application>
  <PresentationFormat>Widescreen</PresentationFormat>
  <Paragraphs>200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0" baseType="lpstr">
      <vt:lpstr>Arial</vt:lpstr>
      <vt:lpstr>BlinkMacSystemFont</vt:lpstr>
      <vt:lpstr>Georgia</vt:lpstr>
      <vt:lpstr>Roboto</vt:lpstr>
      <vt:lpstr>Office Theme</vt:lpstr>
      <vt:lpstr>Liver and Lungs</vt:lpstr>
      <vt:lpstr>PowerPoint Presentation</vt:lpstr>
      <vt:lpstr>Case Presentation</vt:lpstr>
      <vt:lpstr>Platypnea-Orthodeoxia</vt:lpstr>
      <vt:lpstr>Hepatopulmonary Syndrome</vt:lpstr>
      <vt:lpstr>Epidemiology</vt:lpstr>
      <vt:lpstr>So what’s the pathophysiology behind HPS?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Hepatopulmonary Syndrome</vt:lpstr>
      <vt:lpstr>PowerPoint Presentation</vt:lpstr>
      <vt:lpstr>Do we care if it’s type I or II?</vt:lpstr>
      <vt:lpstr>PowerPoint Presentation</vt:lpstr>
      <vt:lpstr>Does hepatopulmonary syndrome respond to supplemental oxygen?</vt:lpstr>
      <vt:lpstr>Does hepatopulmonary syndrome respond to supplemental oxygen?</vt:lpstr>
      <vt:lpstr>So how are we going to diagnose HPS when suspected?</vt:lpstr>
      <vt:lpstr>PowerPoint Presentation</vt:lpstr>
      <vt:lpstr>TTE with “bubble” study</vt:lpstr>
      <vt:lpstr>PowerPoint Presentation</vt:lpstr>
      <vt:lpstr>Diagnosis</vt:lpstr>
      <vt:lpstr>Tagged (99mTc) macroaggregated albumin (20 μm) scan</vt:lpstr>
      <vt:lpstr>Diagnosis</vt:lpstr>
      <vt:lpstr>Pulmonary Angiography</vt:lpstr>
      <vt:lpstr>Ok, you diagnosed HPS.  How do you assess severity?</vt:lpstr>
      <vt:lpstr>Severity Assessment</vt:lpstr>
      <vt:lpstr>Severity Assessment</vt:lpstr>
      <vt:lpstr>Does the degree of hepatic dysfunction or portal hypertension influence the prevalence and/or severity of HPS?</vt:lpstr>
      <vt:lpstr>Does the degree of hepatic dysfunction or portal hypertension influence the prevalence and/or severity of HPS?</vt:lpstr>
      <vt:lpstr>Treatment</vt:lpstr>
      <vt:lpstr>Allium sativum</vt:lpstr>
      <vt:lpstr>PowerPoint Presentation</vt:lpstr>
      <vt:lpstr>PowerPoint Presentation</vt:lpstr>
      <vt:lpstr>So if you have HPS -&gt;  O2 and chill until you die? </vt:lpstr>
      <vt:lpstr>Liver Transplantation for HPS</vt:lpstr>
      <vt:lpstr>Liver Transplantation for HPS</vt:lpstr>
      <vt:lpstr>Prognosticating HPS outcomes post LT</vt:lpstr>
      <vt:lpstr>Rule of Thumb for HPS Improvement After Liver Transplant</vt:lpstr>
      <vt:lpstr>PowerPoint Presentation</vt:lpstr>
      <vt:lpstr>If transplant is curative for HPS, can anyone with HPS get a liver transplant?</vt:lpstr>
      <vt:lpstr>Back to our patient 54M w/ cirrhosis and HPS</vt:lpstr>
      <vt:lpstr>PowerPoint Presentation</vt:lpstr>
      <vt:lpstr>PowerPoint Presentation</vt:lpstr>
      <vt:lpstr>PowerPoint Presentation</vt:lpstr>
      <vt:lpstr>Case Presentation</vt:lpstr>
      <vt:lpstr>Right Heart Catheterization</vt:lpstr>
      <vt:lpstr>PowerPoint Presentation</vt:lpstr>
      <vt:lpstr>PowerPoint Presentation</vt:lpstr>
      <vt:lpstr>PowerPoint Presentation</vt:lpstr>
      <vt:lpstr>Portopulmonary Hypertension</vt:lpstr>
      <vt:lpstr>PowerPoint Presentation</vt:lpstr>
      <vt:lpstr>Portopulmonary Hypertension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these therapies improve mortality?</vt:lpstr>
      <vt:lpstr>How about TIPS?</vt:lpstr>
      <vt:lpstr>How about TIPS?</vt:lpstr>
      <vt:lpstr>PowerPoint Presentation</vt:lpstr>
      <vt:lpstr>What happens if we transplant patients with severe (porto)pulmonary hypertension?</vt:lpstr>
      <vt:lpstr>PowerPoint Presentation</vt:lpstr>
      <vt:lpstr>How about if you survive the liver transplant?</vt:lpstr>
      <vt:lpstr>Improvement of POPH After Liver Transplant</vt:lpstr>
      <vt:lpstr>What do the Guidelines Say?</vt:lpstr>
      <vt:lpstr>Back to our patient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home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Almeqdadi, Mohammad</dc:creator>
  <cp:lastModifiedBy>Almeqdadi, Mohammad</cp:lastModifiedBy>
  <cp:revision>214</cp:revision>
  <dcterms:created xsi:type="dcterms:W3CDTF">2024-02-05T13:58:16Z</dcterms:created>
  <dcterms:modified xsi:type="dcterms:W3CDTF">2025-10-14T15:35:56Z</dcterms:modified>
</cp:coreProperties>
</file>