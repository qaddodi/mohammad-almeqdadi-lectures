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04"/>
  </p:notesMasterIdLst>
  <p:sldIdLst>
    <p:sldId id="256" r:id="rId2"/>
    <p:sldId id="257" r:id="rId3"/>
    <p:sldId id="338" r:id="rId4"/>
    <p:sldId id="339" r:id="rId5"/>
    <p:sldId id="340" r:id="rId6"/>
    <p:sldId id="341" r:id="rId7"/>
    <p:sldId id="363" r:id="rId8"/>
    <p:sldId id="265" r:id="rId9"/>
    <p:sldId id="266" r:id="rId10"/>
    <p:sldId id="258" r:id="rId11"/>
    <p:sldId id="272" r:id="rId12"/>
    <p:sldId id="273" r:id="rId13"/>
    <p:sldId id="277" r:id="rId14"/>
    <p:sldId id="267" r:id="rId15"/>
    <p:sldId id="362" r:id="rId16"/>
    <p:sldId id="260" r:id="rId17"/>
    <p:sldId id="330" r:id="rId18"/>
    <p:sldId id="259" r:id="rId19"/>
    <p:sldId id="262" r:id="rId20"/>
    <p:sldId id="290" r:id="rId21"/>
    <p:sldId id="280" r:id="rId22"/>
    <p:sldId id="281" r:id="rId23"/>
    <p:sldId id="282" r:id="rId24"/>
    <p:sldId id="331" r:id="rId25"/>
    <p:sldId id="279" r:id="rId26"/>
    <p:sldId id="284" r:id="rId27"/>
    <p:sldId id="332" r:id="rId28"/>
    <p:sldId id="283" r:id="rId29"/>
    <p:sldId id="285" r:id="rId30"/>
    <p:sldId id="286" r:id="rId31"/>
    <p:sldId id="287" r:id="rId32"/>
    <p:sldId id="288" r:id="rId33"/>
    <p:sldId id="333" r:id="rId34"/>
    <p:sldId id="289" r:id="rId35"/>
    <p:sldId id="348" r:id="rId36"/>
    <p:sldId id="349" r:id="rId37"/>
    <p:sldId id="268" r:id="rId38"/>
    <p:sldId id="271" r:id="rId39"/>
    <p:sldId id="352" r:id="rId40"/>
    <p:sldId id="291" r:id="rId41"/>
    <p:sldId id="269" r:id="rId42"/>
    <p:sldId id="270" r:id="rId43"/>
    <p:sldId id="292" r:id="rId44"/>
    <p:sldId id="372" r:id="rId45"/>
    <p:sldId id="293" r:id="rId46"/>
    <p:sldId id="294" r:id="rId47"/>
    <p:sldId id="344" r:id="rId48"/>
    <p:sldId id="296" r:id="rId49"/>
    <p:sldId id="295" r:id="rId50"/>
    <p:sldId id="297" r:id="rId51"/>
    <p:sldId id="298" r:id="rId52"/>
    <p:sldId id="299" r:id="rId53"/>
    <p:sldId id="300" r:id="rId54"/>
    <p:sldId id="301" r:id="rId55"/>
    <p:sldId id="302" r:id="rId56"/>
    <p:sldId id="309" r:id="rId57"/>
    <p:sldId id="303" r:id="rId58"/>
    <p:sldId id="334" r:id="rId59"/>
    <p:sldId id="353" r:id="rId60"/>
    <p:sldId id="304" r:id="rId61"/>
    <p:sldId id="264" r:id="rId62"/>
    <p:sldId id="367" r:id="rId63"/>
    <p:sldId id="368" r:id="rId64"/>
    <p:sldId id="369" r:id="rId65"/>
    <p:sldId id="306" r:id="rId66"/>
    <p:sldId id="371" r:id="rId67"/>
    <p:sldId id="370" r:id="rId68"/>
    <p:sldId id="335" r:id="rId69"/>
    <p:sldId id="307" r:id="rId70"/>
    <p:sldId id="355" r:id="rId71"/>
    <p:sldId id="354" r:id="rId72"/>
    <p:sldId id="305" r:id="rId73"/>
    <p:sldId id="310" r:id="rId74"/>
    <p:sldId id="311" r:id="rId75"/>
    <p:sldId id="356" r:id="rId76"/>
    <p:sldId id="336" r:id="rId77"/>
    <p:sldId id="308" r:id="rId78"/>
    <p:sldId id="337" r:id="rId79"/>
    <p:sldId id="312" r:id="rId80"/>
    <p:sldId id="366" r:id="rId81"/>
    <p:sldId id="313" r:id="rId82"/>
    <p:sldId id="314" r:id="rId83"/>
    <p:sldId id="343" r:id="rId84"/>
    <p:sldId id="359" r:id="rId85"/>
    <p:sldId id="316" r:id="rId86"/>
    <p:sldId id="318" r:id="rId87"/>
    <p:sldId id="319" r:id="rId88"/>
    <p:sldId id="357" r:id="rId89"/>
    <p:sldId id="360" r:id="rId90"/>
    <p:sldId id="322" r:id="rId91"/>
    <p:sldId id="278" r:id="rId92"/>
    <p:sldId id="323" r:id="rId93"/>
    <p:sldId id="324" r:id="rId94"/>
    <p:sldId id="275" r:id="rId95"/>
    <p:sldId id="325" r:id="rId96"/>
    <p:sldId id="326" r:id="rId97"/>
    <p:sldId id="373" r:id="rId98"/>
    <p:sldId id="364" r:id="rId99"/>
    <p:sldId id="365" r:id="rId100"/>
    <p:sldId id="361" r:id="rId101"/>
    <p:sldId id="327" r:id="rId102"/>
    <p:sldId id="328" r:id="rId103"/>
  </p:sldIdLst>
  <p:sldSz cx="12192000" cy="6858000"/>
  <p:notesSz cx="6858000" cy="9144000"/>
  <p:embeddedFontLst>
    <p:embeddedFont>
      <p:font typeface="Quadraat" panose="02000503060000090004" pitchFamily="2" charset="0"/>
      <p:italic r:id="rId10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C00"/>
    <a:srgbClr val="D0CECE"/>
    <a:srgbClr val="FDD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93"/>
    <p:restoredTop sz="94663"/>
  </p:normalViewPr>
  <p:slideViewPr>
    <p:cSldViewPr snapToGrid="0" snapToObjects="1">
      <p:cViewPr varScale="1">
        <p:scale>
          <a:sx n="117" d="100"/>
          <a:sy n="117" d="100"/>
        </p:scale>
        <p:origin x="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1">
                <a:latin typeface="Quadraat" panose="0200050306000009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1">
                <a:latin typeface="Quadraat" panose="02000503060000090004" pitchFamily="2" charset="0"/>
              </a:defRPr>
            </a:lvl1pPr>
          </a:lstStyle>
          <a:p>
            <a:fld id="{E3B0EBB9-74FB-3E4E-A910-BA0D0A3A3C82}" type="datetimeFigureOut">
              <a:rPr lang="en-US" smtClean="0"/>
              <a:pPr/>
              <a:t>10/2/19</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1">
                <a:latin typeface="Quadraat" panose="0200050306000009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1">
                <a:latin typeface="Quadraat" panose="02000503060000090004" pitchFamily="2" charset="0"/>
              </a:defRPr>
            </a:lvl1pPr>
          </a:lstStyle>
          <a:p>
            <a:fld id="{445AAC74-B51A-8542-AB8C-1AE9D2B251CE}" type="slidenum">
              <a:rPr lang="en-US" smtClean="0"/>
              <a:pPr/>
              <a:t>‹#›</a:t>
            </a:fld>
            <a:endParaRPr lang="en-US" dirty="0"/>
          </a:p>
        </p:txBody>
      </p:sp>
    </p:spTree>
    <p:extLst>
      <p:ext uri="{BB962C8B-B14F-4D97-AF65-F5344CB8AC3E}">
        <p14:creationId xmlns:p14="http://schemas.microsoft.com/office/powerpoint/2010/main" val="3141864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1" kern="1200">
        <a:solidFill>
          <a:schemeClr val="tx1"/>
        </a:solidFill>
        <a:latin typeface="Quadraat" panose="02000503060000090004" pitchFamily="2" charset="0"/>
        <a:ea typeface="+mn-ea"/>
        <a:cs typeface="+mn-cs"/>
      </a:defRPr>
    </a:lvl1pPr>
    <a:lvl2pPr marL="457200" algn="l" defTabSz="914400" rtl="0" eaLnBrk="1" latinLnBrk="0" hangingPunct="1">
      <a:defRPr sz="1200" b="0" i="1" kern="1200">
        <a:solidFill>
          <a:schemeClr val="tx1"/>
        </a:solidFill>
        <a:latin typeface="Quadraat" panose="02000503060000090004" pitchFamily="2" charset="0"/>
        <a:ea typeface="+mn-ea"/>
        <a:cs typeface="+mn-cs"/>
      </a:defRPr>
    </a:lvl2pPr>
    <a:lvl3pPr marL="914400" algn="l" defTabSz="914400" rtl="0" eaLnBrk="1" latinLnBrk="0" hangingPunct="1">
      <a:defRPr sz="1200" b="0" i="1" kern="1200">
        <a:solidFill>
          <a:schemeClr val="tx1"/>
        </a:solidFill>
        <a:latin typeface="Quadraat" panose="02000503060000090004" pitchFamily="2" charset="0"/>
        <a:ea typeface="+mn-ea"/>
        <a:cs typeface="+mn-cs"/>
      </a:defRPr>
    </a:lvl3pPr>
    <a:lvl4pPr marL="1371600" algn="l" defTabSz="914400" rtl="0" eaLnBrk="1" latinLnBrk="0" hangingPunct="1">
      <a:defRPr sz="1200" b="0" i="1" kern="1200">
        <a:solidFill>
          <a:schemeClr val="tx1"/>
        </a:solidFill>
        <a:latin typeface="Quadraat" panose="02000503060000090004" pitchFamily="2" charset="0"/>
        <a:ea typeface="+mn-ea"/>
        <a:cs typeface="+mn-cs"/>
      </a:defRPr>
    </a:lvl4pPr>
    <a:lvl5pPr marL="1828800" algn="l" defTabSz="914400" rtl="0" eaLnBrk="1" latinLnBrk="0" hangingPunct="1">
      <a:defRPr sz="1200" b="0" i="1" kern="1200">
        <a:solidFill>
          <a:schemeClr val="tx1"/>
        </a:solidFill>
        <a:latin typeface="Quadraat" panose="0200050306000009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5AAC74-B51A-8542-AB8C-1AE9D2B251CE}" type="slidenum">
              <a:rPr lang="en-US" smtClean="0"/>
              <a:t>23</a:t>
            </a:fld>
            <a:endParaRPr lang="en-US"/>
          </a:p>
        </p:txBody>
      </p:sp>
    </p:spTree>
    <p:extLst>
      <p:ext uri="{BB962C8B-B14F-4D97-AF65-F5344CB8AC3E}">
        <p14:creationId xmlns:p14="http://schemas.microsoft.com/office/powerpoint/2010/main" val="3171503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5AAC74-B51A-8542-AB8C-1AE9D2B251CE}" type="slidenum">
              <a:rPr lang="en-US" smtClean="0"/>
              <a:t>91</a:t>
            </a:fld>
            <a:endParaRPr lang="en-US"/>
          </a:p>
        </p:txBody>
      </p:sp>
    </p:spTree>
    <p:extLst>
      <p:ext uri="{BB962C8B-B14F-4D97-AF65-F5344CB8AC3E}">
        <p14:creationId xmlns:p14="http://schemas.microsoft.com/office/powerpoint/2010/main" val="981150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533FC-1E12-BA4F-B5C4-4716759B1A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DD0108-B92A-C64C-9227-3A5761E579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1ED186-79B9-3643-985E-4708B631226E}"/>
              </a:ext>
            </a:extLst>
          </p:cNvPr>
          <p:cNvSpPr>
            <a:spLocks noGrp="1"/>
          </p:cNvSpPr>
          <p:nvPr>
            <p:ph type="dt" sz="half" idx="10"/>
          </p:nvPr>
        </p:nvSpPr>
        <p:spPr/>
        <p:txBody>
          <a:bodyPr/>
          <a:lstStyle/>
          <a:p>
            <a:fld id="{995AAA10-ADB9-974B-94C9-C14FB9158BD9}" type="datetime1">
              <a:rPr lang="en-US" smtClean="0"/>
              <a:t>10/2/19</a:t>
            </a:fld>
            <a:endParaRPr lang="en-US"/>
          </a:p>
        </p:txBody>
      </p:sp>
      <p:sp>
        <p:nvSpPr>
          <p:cNvPr id="5" name="Footer Placeholder 4">
            <a:extLst>
              <a:ext uri="{FF2B5EF4-FFF2-40B4-BE49-F238E27FC236}">
                <a16:creationId xmlns:a16="http://schemas.microsoft.com/office/drawing/2014/main" id="{E60F4A0C-5646-B64B-88CC-7CC8E7F4EFB9}"/>
              </a:ext>
            </a:extLst>
          </p:cNvPr>
          <p:cNvSpPr>
            <a:spLocks noGrp="1"/>
          </p:cNvSpPr>
          <p:nvPr>
            <p:ph type="ftr" sz="quarter" idx="11"/>
          </p:nvPr>
        </p:nvSpPr>
        <p:spPr/>
        <p:txBody>
          <a:bodyPr/>
          <a:lstStyle/>
          <a:p>
            <a:r>
              <a:rPr lang="en-US"/>
              <a:t>Acute Pancreatitis</a:t>
            </a:r>
          </a:p>
        </p:txBody>
      </p:sp>
      <p:sp>
        <p:nvSpPr>
          <p:cNvPr id="6" name="Slide Number Placeholder 5">
            <a:extLst>
              <a:ext uri="{FF2B5EF4-FFF2-40B4-BE49-F238E27FC236}">
                <a16:creationId xmlns:a16="http://schemas.microsoft.com/office/drawing/2014/main" id="{6C8B0815-93A6-654B-A1BD-E11A57CA2317}"/>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298883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B7EF4-ABD3-084D-B003-3C148C7EC772}"/>
              </a:ext>
            </a:extLst>
          </p:cNvPr>
          <p:cNvSpPr>
            <a:spLocks noGrp="1"/>
          </p:cNvSpPr>
          <p:nvPr>
            <p:ph type="title"/>
          </p:nvPr>
        </p:nvSpPr>
        <p:spPr>
          <a:xfrm>
            <a:off x="838200" y="45085"/>
            <a:ext cx="10515600" cy="1052195"/>
          </a:xfrm>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F997A606-F594-114C-B12C-E77F9BCEFBAB}"/>
              </a:ext>
            </a:extLst>
          </p:cNvPr>
          <p:cNvSpPr>
            <a:spLocks noGrp="1"/>
          </p:cNvSpPr>
          <p:nvPr>
            <p:ph idx="1"/>
          </p:nvPr>
        </p:nvSpPr>
        <p:spPr>
          <a:xfrm>
            <a:off x="838200" y="1579418"/>
            <a:ext cx="10515600" cy="4597545"/>
          </a:xfrm>
        </p:spPr>
        <p:txBody>
          <a:bodyPr/>
          <a:lstStyle>
            <a:lvl1pPr marL="228600" indent="-228600">
              <a:buFont typeface="System Font Regular"/>
              <a:buChar char="-"/>
              <a:defRPr/>
            </a:lvl1pPr>
            <a:lvl2pPr marL="685800" indent="-228600">
              <a:buFont typeface="System Font Regular"/>
              <a:buChar char="-"/>
              <a:defRPr/>
            </a:lvl2pPr>
            <a:lvl3pPr marL="1143000" indent="-228600">
              <a:buFont typeface="System Font Regular"/>
              <a:buChar char="-"/>
              <a:defRPr/>
            </a:lvl3pPr>
            <a:lvl4pPr marL="1600200" indent="-228600">
              <a:buFont typeface="System Font Regular"/>
              <a:buChar char="-"/>
              <a:defRPr/>
            </a:lvl4pPr>
            <a:lvl5pPr marL="2057400" indent="-228600">
              <a:buFont typeface="System Font Regular"/>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639A1F-4B73-0048-BBED-794CCC9E215C}"/>
              </a:ext>
            </a:extLst>
          </p:cNvPr>
          <p:cNvSpPr>
            <a:spLocks noGrp="1"/>
          </p:cNvSpPr>
          <p:nvPr>
            <p:ph type="dt" sz="half" idx="10"/>
          </p:nvPr>
        </p:nvSpPr>
        <p:spPr/>
        <p:txBody>
          <a:bodyPr/>
          <a:lstStyle/>
          <a:p>
            <a:fld id="{15982A1B-E6C1-2B45-B723-9526E4F70B13}" type="datetime1">
              <a:rPr lang="en-US" smtClean="0"/>
              <a:t>10/2/19</a:t>
            </a:fld>
            <a:endParaRPr lang="en-US"/>
          </a:p>
        </p:txBody>
      </p:sp>
      <p:sp>
        <p:nvSpPr>
          <p:cNvPr id="5" name="Footer Placeholder 4">
            <a:extLst>
              <a:ext uri="{FF2B5EF4-FFF2-40B4-BE49-F238E27FC236}">
                <a16:creationId xmlns:a16="http://schemas.microsoft.com/office/drawing/2014/main" id="{A70834F1-D4A4-B241-A4B7-43B1D2D874D5}"/>
              </a:ext>
            </a:extLst>
          </p:cNvPr>
          <p:cNvSpPr>
            <a:spLocks noGrp="1"/>
          </p:cNvSpPr>
          <p:nvPr>
            <p:ph type="ftr" sz="quarter" idx="11"/>
          </p:nvPr>
        </p:nvSpPr>
        <p:spPr/>
        <p:txBody>
          <a:bodyPr/>
          <a:lstStyle/>
          <a:p>
            <a:r>
              <a:rPr lang="en-US"/>
              <a:t>Acute Pancreatitis</a:t>
            </a:r>
          </a:p>
        </p:txBody>
      </p:sp>
      <p:sp>
        <p:nvSpPr>
          <p:cNvPr id="6" name="Slide Number Placeholder 5">
            <a:extLst>
              <a:ext uri="{FF2B5EF4-FFF2-40B4-BE49-F238E27FC236}">
                <a16:creationId xmlns:a16="http://schemas.microsoft.com/office/drawing/2014/main" id="{E20C0F22-FD39-DC4B-A276-5430B8F666A0}"/>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1619983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6BCCB-E847-AC48-84A6-55B6170C5606}"/>
              </a:ext>
            </a:extLst>
          </p:cNvPr>
          <p:cNvSpPr>
            <a:spLocks noGrp="1"/>
          </p:cNvSpPr>
          <p:nvPr>
            <p:ph type="title"/>
          </p:nvPr>
        </p:nvSpPr>
        <p:spPr>
          <a:xfrm>
            <a:off x="831850" y="1709738"/>
            <a:ext cx="10515600" cy="2852737"/>
          </a:xfrm>
        </p:spPr>
        <p:txBody>
          <a:bodyPr anchor="b"/>
          <a:lstStyle>
            <a:lvl1pPr algn="ctr">
              <a:defRPr sz="6000"/>
            </a:lvl1pPr>
          </a:lstStyle>
          <a:p>
            <a:r>
              <a:rPr lang="en-US"/>
              <a:t>Click to edit Master title style</a:t>
            </a:r>
          </a:p>
        </p:txBody>
      </p:sp>
      <p:sp>
        <p:nvSpPr>
          <p:cNvPr id="3" name="Text Placeholder 2">
            <a:extLst>
              <a:ext uri="{FF2B5EF4-FFF2-40B4-BE49-F238E27FC236}">
                <a16:creationId xmlns:a16="http://schemas.microsoft.com/office/drawing/2014/main" id="{CAEF99C1-FA52-074F-97AF-9FC2F30AF7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7A2CF5-E0CE-334C-B8CC-46A60FA74B9A}"/>
              </a:ext>
            </a:extLst>
          </p:cNvPr>
          <p:cNvSpPr>
            <a:spLocks noGrp="1"/>
          </p:cNvSpPr>
          <p:nvPr>
            <p:ph type="dt" sz="half" idx="10"/>
          </p:nvPr>
        </p:nvSpPr>
        <p:spPr/>
        <p:txBody>
          <a:bodyPr/>
          <a:lstStyle/>
          <a:p>
            <a:fld id="{4C154B8D-034B-E343-AFB9-29D98F256F1C}" type="datetime1">
              <a:rPr lang="en-US" smtClean="0"/>
              <a:t>10/2/19</a:t>
            </a:fld>
            <a:endParaRPr lang="en-US"/>
          </a:p>
        </p:txBody>
      </p:sp>
      <p:sp>
        <p:nvSpPr>
          <p:cNvPr id="5" name="Footer Placeholder 4">
            <a:extLst>
              <a:ext uri="{FF2B5EF4-FFF2-40B4-BE49-F238E27FC236}">
                <a16:creationId xmlns:a16="http://schemas.microsoft.com/office/drawing/2014/main" id="{3D24AFB1-126F-EB41-BF54-9EEE84FF1BF6}"/>
              </a:ext>
            </a:extLst>
          </p:cNvPr>
          <p:cNvSpPr>
            <a:spLocks noGrp="1"/>
          </p:cNvSpPr>
          <p:nvPr>
            <p:ph type="ftr" sz="quarter" idx="11"/>
          </p:nvPr>
        </p:nvSpPr>
        <p:spPr/>
        <p:txBody>
          <a:bodyPr/>
          <a:lstStyle/>
          <a:p>
            <a:r>
              <a:rPr lang="en-US"/>
              <a:t>Acute Pancreatitis</a:t>
            </a:r>
          </a:p>
        </p:txBody>
      </p:sp>
      <p:sp>
        <p:nvSpPr>
          <p:cNvPr id="6" name="Slide Number Placeholder 5">
            <a:extLst>
              <a:ext uri="{FF2B5EF4-FFF2-40B4-BE49-F238E27FC236}">
                <a16:creationId xmlns:a16="http://schemas.microsoft.com/office/drawing/2014/main" id="{31C9C737-74F3-1F4C-8DC7-43F1F2FE9D1D}"/>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584265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F0E27-BAC5-8042-BFD7-A77A457142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8CC7B6-D9DE-AC4B-8B5C-FD25D6F2E4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2CA414-08EC-6845-B38F-3E905E684B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CEE30E-102C-4846-A0EF-98F83981B91C}"/>
              </a:ext>
            </a:extLst>
          </p:cNvPr>
          <p:cNvSpPr>
            <a:spLocks noGrp="1"/>
          </p:cNvSpPr>
          <p:nvPr>
            <p:ph type="dt" sz="half" idx="10"/>
          </p:nvPr>
        </p:nvSpPr>
        <p:spPr/>
        <p:txBody>
          <a:bodyPr/>
          <a:lstStyle/>
          <a:p>
            <a:fld id="{1A31C693-3E58-1F4C-9E33-B6526C15D6BB}" type="datetime1">
              <a:rPr lang="en-US" smtClean="0"/>
              <a:t>10/2/19</a:t>
            </a:fld>
            <a:endParaRPr lang="en-US"/>
          </a:p>
        </p:txBody>
      </p:sp>
      <p:sp>
        <p:nvSpPr>
          <p:cNvPr id="6" name="Footer Placeholder 5">
            <a:extLst>
              <a:ext uri="{FF2B5EF4-FFF2-40B4-BE49-F238E27FC236}">
                <a16:creationId xmlns:a16="http://schemas.microsoft.com/office/drawing/2014/main" id="{F79E7BDA-B41E-9E42-AC95-5D55847D6573}"/>
              </a:ext>
            </a:extLst>
          </p:cNvPr>
          <p:cNvSpPr>
            <a:spLocks noGrp="1"/>
          </p:cNvSpPr>
          <p:nvPr>
            <p:ph type="ftr" sz="quarter" idx="11"/>
          </p:nvPr>
        </p:nvSpPr>
        <p:spPr/>
        <p:txBody>
          <a:bodyPr/>
          <a:lstStyle/>
          <a:p>
            <a:r>
              <a:rPr lang="en-US"/>
              <a:t>Acute Pancreatitis</a:t>
            </a:r>
          </a:p>
        </p:txBody>
      </p:sp>
      <p:sp>
        <p:nvSpPr>
          <p:cNvPr id="7" name="Slide Number Placeholder 6">
            <a:extLst>
              <a:ext uri="{FF2B5EF4-FFF2-40B4-BE49-F238E27FC236}">
                <a16:creationId xmlns:a16="http://schemas.microsoft.com/office/drawing/2014/main" id="{F1FDADB8-F2AE-B247-95A6-4D2ACA5BAD8B}"/>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1708183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5F0D5-F834-214C-ADC2-648246A1CA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9E7761-75F5-7E48-815A-E78755C0EB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669FE6-176C-1943-A507-E32EE43ED0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50AA72-C0AC-024A-B822-A754354AEB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E11548-F009-464D-A7A1-1E3BED6CDE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CC5D09-36F4-B44E-8208-6BF24FF86FAB}"/>
              </a:ext>
            </a:extLst>
          </p:cNvPr>
          <p:cNvSpPr>
            <a:spLocks noGrp="1"/>
          </p:cNvSpPr>
          <p:nvPr>
            <p:ph type="dt" sz="half" idx="10"/>
          </p:nvPr>
        </p:nvSpPr>
        <p:spPr/>
        <p:txBody>
          <a:bodyPr/>
          <a:lstStyle/>
          <a:p>
            <a:fld id="{0B9F157C-C15A-2641-9936-A6ECCFF7FAC5}" type="datetime1">
              <a:rPr lang="en-US" smtClean="0"/>
              <a:t>10/2/19</a:t>
            </a:fld>
            <a:endParaRPr lang="en-US"/>
          </a:p>
        </p:txBody>
      </p:sp>
      <p:sp>
        <p:nvSpPr>
          <p:cNvPr id="8" name="Footer Placeholder 7">
            <a:extLst>
              <a:ext uri="{FF2B5EF4-FFF2-40B4-BE49-F238E27FC236}">
                <a16:creationId xmlns:a16="http://schemas.microsoft.com/office/drawing/2014/main" id="{698ECCCF-9CB7-4E4C-9655-768A5D479ED0}"/>
              </a:ext>
            </a:extLst>
          </p:cNvPr>
          <p:cNvSpPr>
            <a:spLocks noGrp="1"/>
          </p:cNvSpPr>
          <p:nvPr>
            <p:ph type="ftr" sz="quarter" idx="11"/>
          </p:nvPr>
        </p:nvSpPr>
        <p:spPr/>
        <p:txBody>
          <a:bodyPr/>
          <a:lstStyle/>
          <a:p>
            <a:r>
              <a:rPr lang="en-US"/>
              <a:t>Acute Pancreatitis</a:t>
            </a:r>
          </a:p>
        </p:txBody>
      </p:sp>
      <p:sp>
        <p:nvSpPr>
          <p:cNvPr id="9" name="Slide Number Placeholder 8">
            <a:extLst>
              <a:ext uri="{FF2B5EF4-FFF2-40B4-BE49-F238E27FC236}">
                <a16:creationId xmlns:a16="http://schemas.microsoft.com/office/drawing/2014/main" id="{B52F0686-E0E9-1049-B9CE-552FD815DEB1}"/>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265253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D7670-81A0-E046-BE82-0C38F22EC5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DE49BE-F67D-2B42-911F-9E70C67964F7}"/>
              </a:ext>
            </a:extLst>
          </p:cNvPr>
          <p:cNvSpPr>
            <a:spLocks noGrp="1"/>
          </p:cNvSpPr>
          <p:nvPr>
            <p:ph type="dt" sz="half" idx="10"/>
          </p:nvPr>
        </p:nvSpPr>
        <p:spPr/>
        <p:txBody>
          <a:bodyPr/>
          <a:lstStyle/>
          <a:p>
            <a:fld id="{206917BC-491F-374C-BE99-224086B85E3F}" type="datetime1">
              <a:rPr lang="en-US" smtClean="0"/>
              <a:t>10/2/19</a:t>
            </a:fld>
            <a:endParaRPr lang="en-US"/>
          </a:p>
        </p:txBody>
      </p:sp>
      <p:sp>
        <p:nvSpPr>
          <p:cNvPr id="4" name="Footer Placeholder 3">
            <a:extLst>
              <a:ext uri="{FF2B5EF4-FFF2-40B4-BE49-F238E27FC236}">
                <a16:creationId xmlns:a16="http://schemas.microsoft.com/office/drawing/2014/main" id="{DB89279E-FFD8-D54D-9A4E-5809C9500ED4}"/>
              </a:ext>
            </a:extLst>
          </p:cNvPr>
          <p:cNvSpPr>
            <a:spLocks noGrp="1"/>
          </p:cNvSpPr>
          <p:nvPr>
            <p:ph type="ftr" sz="quarter" idx="11"/>
          </p:nvPr>
        </p:nvSpPr>
        <p:spPr/>
        <p:txBody>
          <a:bodyPr/>
          <a:lstStyle/>
          <a:p>
            <a:r>
              <a:rPr lang="en-US"/>
              <a:t>Acute Pancreatitis</a:t>
            </a:r>
          </a:p>
        </p:txBody>
      </p:sp>
      <p:sp>
        <p:nvSpPr>
          <p:cNvPr id="5" name="Slide Number Placeholder 4">
            <a:extLst>
              <a:ext uri="{FF2B5EF4-FFF2-40B4-BE49-F238E27FC236}">
                <a16:creationId xmlns:a16="http://schemas.microsoft.com/office/drawing/2014/main" id="{CFA1DA76-5460-C14E-A968-554C4F9201F0}"/>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744864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08CEDD-2E9B-794F-83DE-244A392AF7DE}"/>
              </a:ext>
            </a:extLst>
          </p:cNvPr>
          <p:cNvSpPr>
            <a:spLocks noGrp="1"/>
          </p:cNvSpPr>
          <p:nvPr>
            <p:ph type="dt" sz="half" idx="10"/>
          </p:nvPr>
        </p:nvSpPr>
        <p:spPr/>
        <p:txBody>
          <a:bodyPr/>
          <a:lstStyle/>
          <a:p>
            <a:fld id="{55EA4DAC-1237-B94D-ACB7-FB9C5EB46EF0}" type="datetime1">
              <a:rPr lang="en-US" smtClean="0"/>
              <a:t>10/2/19</a:t>
            </a:fld>
            <a:endParaRPr lang="en-US"/>
          </a:p>
        </p:txBody>
      </p:sp>
      <p:sp>
        <p:nvSpPr>
          <p:cNvPr id="3" name="Footer Placeholder 2">
            <a:extLst>
              <a:ext uri="{FF2B5EF4-FFF2-40B4-BE49-F238E27FC236}">
                <a16:creationId xmlns:a16="http://schemas.microsoft.com/office/drawing/2014/main" id="{3F404EC0-C785-114C-9978-B2B0181DD5D3}"/>
              </a:ext>
            </a:extLst>
          </p:cNvPr>
          <p:cNvSpPr>
            <a:spLocks noGrp="1"/>
          </p:cNvSpPr>
          <p:nvPr>
            <p:ph type="ftr" sz="quarter" idx="11"/>
          </p:nvPr>
        </p:nvSpPr>
        <p:spPr/>
        <p:txBody>
          <a:bodyPr/>
          <a:lstStyle/>
          <a:p>
            <a:r>
              <a:rPr lang="en-US"/>
              <a:t>Acute Pancreatitis</a:t>
            </a:r>
          </a:p>
        </p:txBody>
      </p:sp>
      <p:sp>
        <p:nvSpPr>
          <p:cNvPr id="4" name="Slide Number Placeholder 3">
            <a:extLst>
              <a:ext uri="{FF2B5EF4-FFF2-40B4-BE49-F238E27FC236}">
                <a16:creationId xmlns:a16="http://schemas.microsoft.com/office/drawing/2014/main" id="{C8CA41AA-6B4E-A44D-B87A-D31D8943EF6A}"/>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3635235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6F7EF-9E27-B840-951D-AECE10B21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F6CB43-2EB4-D144-978C-533467D3D9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CA3B75-360F-DD42-B30E-AC9FBF26C5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674984-D018-ED45-86CB-8A197369B338}"/>
              </a:ext>
            </a:extLst>
          </p:cNvPr>
          <p:cNvSpPr>
            <a:spLocks noGrp="1"/>
          </p:cNvSpPr>
          <p:nvPr>
            <p:ph type="dt" sz="half" idx="10"/>
          </p:nvPr>
        </p:nvSpPr>
        <p:spPr/>
        <p:txBody>
          <a:bodyPr/>
          <a:lstStyle/>
          <a:p>
            <a:fld id="{24D2B0FA-A85E-7644-A019-D559D54FCB00}" type="datetime1">
              <a:rPr lang="en-US" smtClean="0"/>
              <a:t>10/2/19</a:t>
            </a:fld>
            <a:endParaRPr lang="en-US"/>
          </a:p>
        </p:txBody>
      </p:sp>
      <p:sp>
        <p:nvSpPr>
          <p:cNvPr id="6" name="Footer Placeholder 5">
            <a:extLst>
              <a:ext uri="{FF2B5EF4-FFF2-40B4-BE49-F238E27FC236}">
                <a16:creationId xmlns:a16="http://schemas.microsoft.com/office/drawing/2014/main" id="{65D23203-68BD-8A48-9A74-F89F8EE52294}"/>
              </a:ext>
            </a:extLst>
          </p:cNvPr>
          <p:cNvSpPr>
            <a:spLocks noGrp="1"/>
          </p:cNvSpPr>
          <p:nvPr>
            <p:ph type="ftr" sz="quarter" idx="11"/>
          </p:nvPr>
        </p:nvSpPr>
        <p:spPr/>
        <p:txBody>
          <a:bodyPr/>
          <a:lstStyle/>
          <a:p>
            <a:r>
              <a:rPr lang="en-US"/>
              <a:t>Acute Pancreatitis</a:t>
            </a:r>
          </a:p>
        </p:txBody>
      </p:sp>
      <p:sp>
        <p:nvSpPr>
          <p:cNvPr id="7" name="Slide Number Placeholder 6">
            <a:extLst>
              <a:ext uri="{FF2B5EF4-FFF2-40B4-BE49-F238E27FC236}">
                <a16:creationId xmlns:a16="http://schemas.microsoft.com/office/drawing/2014/main" id="{FD957247-5AF8-844F-ACC7-3E0EDED0E5FC}"/>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1251827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9C03C-5992-3647-AFD1-764598236A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919D1E-E916-9F4A-A0DC-C76F02E68E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3B9CE3-B1FD-D74A-B645-A62CD98AF0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84599C-2209-A141-A5DF-1C2EC08DC7B3}"/>
              </a:ext>
            </a:extLst>
          </p:cNvPr>
          <p:cNvSpPr>
            <a:spLocks noGrp="1"/>
          </p:cNvSpPr>
          <p:nvPr>
            <p:ph type="dt" sz="half" idx="10"/>
          </p:nvPr>
        </p:nvSpPr>
        <p:spPr/>
        <p:txBody>
          <a:bodyPr/>
          <a:lstStyle/>
          <a:p>
            <a:fld id="{1FDCD6CF-9FD3-8147-A9BF-1E43CCC3E1C0}" type="datetime1">
              <a:rPr lang="en-US" smtClean="0"/>
              <a:t>10/2/19</a:t>
            </a:fld>
            <a:endParaRPr lang="en-US"/>
          </a:p>
        </p:txBody>
      </p:sp>
      <p:sp>
        <p:nvSpPr>
          <p:cNvPr id="6" name="Footer Placeholder 5">
            <a:extLst>
              <a:ext uri="{FF2B5EF4-FFF2-40B4-BE49-F238E27FC236}">
                <a16:creationId xmlns:a16="http://schemas.microsoft.com/office/drawing/2014/main" id="{E2163ACF-84E1-2949-B88D-84E0A31F230F}"/>
              </a:ext>
            </a:extLst>
          </p:cNvPr>
          <p:cNvSpPr>
            <a:spLocks noGrp="1"/>
          </p:cNvSpPr>
          <p:nvPr>
            <p:ph type="ftr" sz="quarter" idx="11"/>
          </p:nvPr>
        </p:nvSpPr>
        <p:spPr/>
        <p:txBody>
          <a:bodyPr/>
          <a:lstStyle/>
          <a:p>
            <a:r>
              <a:rPr lang="en-US"/>
              <a:t>Acute Pancreatitis</a:t>
            </a:r>
          </a:p>
        </p:txBody>
      </p:sp>
      <p:sp>
        <p:nvSpPr>
          <p:cNvPr id="7" name="Slide Number Placeholder 6">
            <a:extLst>
              <a:ext uri="{FF2B5EF4-FFF2-40B4-BE49-F238E27FC236}">
                <a16:creationId xmlns:a16="http://schemas.microsoft.com/office/drawing/2014/main" id="{62BE2C4B-D76E-CE46-B340-8DD1A0049871}"/>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1019271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A0DE9-5308-7E4E-AE9A-3952BEF829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311288-78F1-8B4A-86B4-1AD8960197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EE1B39-48B4-1D4E-889C-99D0A790C3E7}"/>
              </a:ext>
            </a:extLst>
          </p:cNvPr>
          <p:cNvSpPr>
            <a:spLocks noGrp="1"/>
          </p:cNvSpPr>
          <p:nvPr>
            <p:ph type="dt" sz="half" idx="10"/>
          </p:nvPr>
        </p:nvSpPr>
        <p:spPr/>
        <p:txBody>
          <a:bodyPr/>
          <a:lstStyle/>
          <a:p>
            <a:fld id="{33E357A3-36D1-9B49-84E6-D5FD49016817}" type="datetime1">
              <a:rPr lang="en-US" smtClean="0"/>
              <a:t>10/2/19</a:t>
            </a:fld>
            <a:endParaRPr lang="en-US"/>
          </a:p>
        </p:txBody>
      </p:sp>
      <p:sp>
        <p:nvSpPr>
          <p:cNvPr id="5" name="Footer Placeholder 4">
            <a:extLst>
              <a:ext uri="{FF2B5EF4-FFF2-40B4-BE49-F238E27FC236}">
                <a16:creationId xmlns:a16="http://schemas.microsoft.com/office/drawing/2014/main" id="{E5400C45-116E-B64D-A516-02E47E038586}"/>
              </a:ext>
            </a:extLst>
          </p:cNvPr>
          <p:cNvSpPr>
            <a:spLocks noGrp="1"/>
          </p:cNvSpPr>
          <p:nvPr>
            <p:ph type="ftr" sz="quarter" idx="11"/>
          </p:nvPr>
        </p:nvSpPr>
        <p:spPr/>
        <p:txBody>
          <a:bodyPr/>
          <a:lstStyle/>
          <a:p>
            <a:r>
              <a:rPr lang="en-US"/>
              <a:t>Acute Pancreatitis</a:t>
            </a:r>
          </a:p>
        </p:txBody>
      </p:sp>
      <p:sp>
        <p:nvSpPr>
          <p:cNvPr id="6" name="Slide Number Placeholder 5">
            <a:extLst>
              <a:ext uri="{FF2B5EF4-FFF2-40B4-BE49-F238E27FC236}">
                <a16:creationId xmlns:a16="http://schemas.microsoft.com/office/drawing/2014/main" id="{016092F3-C9DB-0E4A-8FF7-C54B1C870C15}"/>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550853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E499DA-351D-8941-B65A-1D05D60657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E127AF-8842-0D42-ADD9-A539AD6AF7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034640-02C0-B847-98EA-EF3D87A575D5}"/>
              </a:ext>
            </a:extLst>
          </p:cNvPr>
          <p:cNvSpPr>
            <a:spLocks noGrp="1"/>
          </p:cNvSpPr>
          <p:nvPr>
            <p:ph type="dt" sz="half" idx="10"/>
          </p:nvPr>
        </p:nvSpPr>
        <p:spPr/>
        <p:txBody>
          <a:bodyPr/>
          <a:lstStyle/>
          <a:p>
            <a:fld id="{6A2BFBB6-8C30-C746-9C4C-F8FE1C480181}" type="datetime1">
              <a:rPr lang="en-US" smtClean="0"/>
              <a:t>10/2/19</a:t>
            </a:fld>
            <a:endParaRPr lang="en-US"/>
          </a:p>
        </p:txBody>
      </p:sp>
      <p:sp>
        <p:nvSpPr>
          <p:cNvPr id="5" name="Footer Placeholder 4">
            <a:extLst>
              <a:ext uri="{FF2B5EF4-FFF2-40B4-BE49-F238E27FC236}">
                <a16:creationId xmlns:a16="http://schemas.microsoft.com/office/drawing/2014/main" id="{CA95F584-C8EC-6C45-9694-E98BAC55807B}"/>
              </a:ext>
            </a:extLst>
          </p:cNvPr>
          <p:cNvSpPr>
            <a:spLocks noGrp="1"/>
          </p:cNvSpPr>
          <p:nvPr>
            <p:ph type="ftr" sz="quarter" idx="11"/>
          </p:nvPr>
        </p:nvSpPr>
        <p:spPr/>
        <p:txBody>
          <a:bodyPr/>
          <a:lstStyle/>
          <a:p>
            <a:r>
              <a:rPr lang="en-US"/>
              <a:t>Acute Pancreatitis</a:t>
            </a:r>
          </a:p>
        </p:txBody>
      </p:sp>
      <p:sp>
        <p:nvSpPr>
          <p:cNvPr id="6" name="Slide Number Placeholder 5">
            <a:extLst>
              <a:ext uri="{FF2B5EF4-FFF2-40B4-BE49-F238E27FC236}">
                <a16:creationId xmlns:a16="http://schemas.microsoft.com/office/drawing/2014/main" id="{D5D8BA0E-EFF5-4248-983D-27D33C5F1F61}"/>
              </a:ext>
            </a:extLst>
          </p:cNvPr>
          <p:cNvSpPr>
            <a:spLocks noGrp="1"/>
          </p:cNvSpPr>
          <p:nvPr>
            <p:ph type="sldNum" sz="quarter" idx="12"/>
          </p:nvPr>
        </p:nvSpPr>
        <p:spPr/>
        <p:txBody>
          <a:bodyPr/>
          <a:lstStyle/>
          <a:p>
            <a:fld id="{FE17EFB8-23D9-784F-BDE7-B4A0686232F2}" type="slidenum">
              <a:rPr lang="en-US" smtClean="0"/>
              <a:t>‹#›</a:t>
            </a:fld>
            <a:endParaRPr lang="en-US"/>
          </a:p>
        </p:txBody>
      </p:sp>
    </p:spTree>
    <p:extLst>
      <p:ext uri="{BB962C8B-B14F-4D97-AF65-F5344CB8AC3E}">
        <p14:creationId xmlns:p14="http://schemas.microsoft.com/office/powerpoint/2010/main" val="4219194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DADB6D-D0F8-1B4A-8B43-B51996ACE5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EEDFC4-3F2F-9742-80CA-34422A4CF7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413290-1861-B24C-B24D-7DBFC872A6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Quadraat" panose="02000503060000090004" pitchFamily="2" charset="0"/>
              </a:defRPr>
            </a:lvl1pPr>
          </a:lstStyle>
          <a:p>
            <a:fld id="{1F5089D2-018C-3046-BC0E-8D5E87B339C1}" type="datetime1">
              <a:rPr lang="en-US" smtClean="0"/>
              <a:t>10/2/19</a:t>
            </a:fld>
            <a:endParaRPr lang="en-US"/>
          </a:p>
        </p:txBody>
      </p:sp>
      <p:sp>
        <p:nvSpPr>
          <p:cNvPr id="5" name="Footer Placeholder 4">
            <a:extLst>
              <a:ext uri="{FF2B5EF4-FFF2-40B4-BE49-F238E27FC236}">
                <a16:creationId xmlns:a16="http://schemas.microsoft.com/office/drawing/2014/main" id="{BFC0BC54-06F3-4346-BDD7-33E28D0297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Quadraat" panose="02000503060000090004" pitchFamily="2" charset="0"/>
              </a:defRPr>
            </a:lvl1pPr>
          </a:lstStyle>
          <a:p>
            <a:r>
              <a:rPr lang="en-US"/>
              <a:t>Acute Pancreatitis</a:t>
            </a:r>
          </a:p>
        </p:txBody>
      </p:sp>
      <p:sp>
        <p:nvSpPr>
          <p:cNvPr id="6" name="Slide Number Placeholder 5">
            <a:extLst>
              <a:ext uri="{FF2B5EF4-FFF2-40B4-BE49-F238E27FC236}">
                <a16:creationId xmlns:a16="http://schemas.microsoft.com/office/drawing/2014/main" id="{92D096CA-1CD8-914F-90B9-6A9904B1E0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Quadraat" panose="02000503060000090004" pitchFamily="2" charset="0"/>
              </a:defRPr>
            </a:lvl1pPr>
          </a:lstStyle>
          <a:p>
            <a:fld id="{FE17EFB8-23D9-784F-BDE7-B4A0686232F2}" type="slidenum">
              <a:rPr lang="en-US" smtClean="0"/>
              <a:pPr/>
              <a:t>‹#›</a:t>
            </a:fld>
            <a:endParaRPr lang="en-US"/>
          </a:p>
        </p:txBody>
      </p:sp>
    </p:spTree>
    <p:extLst>
      <p:ext uri="{BB962C8B-B14F-4D97-AF65-F5344CB8AC3E}">
        <p14:creationId xmlns:p14="http://schemas.microsoft.com/office/powerpoint/2010/main" val="2596869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jpg"/><Relationship Id="rId13" Type="http://schemas.openxmlformats.org/officeDocument/2006/relationships/image" Target="../media/image13.jpg"/><Relationship Id="rId18" Type="http://schemas.openxmlformats.org/officeDocument/2006/relationships/image" Target="../media/image18.jpg"/><Relationship Id="rId3" Type="http://schemas.openxmlformats.org/officeDocument/2006/relationships/image" Target="../media/image3.jpg"/><Relationship Id="rId21" Type="http://schemas.openxmlformats.org/officeDocument/2006/relationships/image" Target="../media/image21.jpg"/><Relationship Id="rId7" Type="http://schemas.openxmlformats.org/officeDocument/2006/relationships/image" Target="../media/image7.jpg"/><Relationship Id="rId12" Type="http://schemas.openxmlformats.org/officeDocument/2006/relationships/image" Target="../media/image12.jpg"/><Relationship Id="rId17" Type="http://schemas.openxmlformats.org/officeDocument/2006/relationships/image" Target="../media/image17.jpg"/><Relationship Id="rId2" Type="http://schemas.openxmlformats.org/officeDocument/2006/relationships/image" Target="../media/image2.jpg"/><Relationship Id="rId16" Type="http://schemas.openxmlformats.org/officeDocument/2006/relationships/image" Target="../media/image16.jpg"/><Relationship Id="rId20"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image" Target="../media/image6.jpg"/><Relationship Id="rId11" Type="http://schemas.openxmlformats.org/officeDocument/2006/relationships/image" Target="../media/image11.jpg"/><Relationship Id="rId5" Type="http://schemas.openxmlformats.org/officeDocument/2006/relationships/image" Target="../media/image5.jpg"/><Relationship Id="rId15" Type="http://schemas.openxmlformats.org/officeDocument/2006/relationships/image" Target="../media/image15.jpg"/><Relationship Id="rId23" Type="http://schemas.openxmlformats.org/officeDocument/2006/relationships/image" Target="../media/image23.jpg"/><Relationship Id="rId10" Type="http://schemas.openxmlformats.org/officeDocument/2006/relationships/image" Target="../media/image10.jpg"/><Relationship Id="rId19" Type="http://schemas.openxmlformats.org/officeDocument/2006/relationships/image" Target="../media/image19.jpg"/><Relationship Id="rId4" Type="http://schemas.openxmlformats.org/officeDocument/2006/relationships/image" Target="../media/image4.jpg"/><Relationship Id="rId9" Type="http://schemas.openxmlformats.org/officeDocument/2006/relationships/image" Target="../media/image9.jpg"/><Relationship Id="rId14" Type="http://schemas.openxmlformats.org/officeDocument/2006/relationships/image" Target="../media/image14.jpg"/><Relationship Id="rId22" Type="http://schemas.openxmlformats.org/officeDocument/2006/relationships/image" Target="../media/image2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image" Target="../media/image24.tiff"/><Relationship Id="rId1" Type="http://schemas.openxmlformats.org/officeDocument/2006/relationships/slideLayout" Target="../slideLayouts/slideLayout2.xml"/><Relationship Id="rId4" Type="http://schemas.openxmlformats.org/officeDocument/2006/relationships/image" Target="../media/image26.tif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8.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tif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image" Target="../media/image35.tif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image" Target="../media/image35.tiff"/><Relationship Id="rId1" Type="http://schemas.openxmlformats.org/officeDocument/2006/relationships/slideLayout" Target="../slideLayouts/slideLayout2.xml"/><Relationship Id="rId4" Type="http://schemas.openxmlformats.org/officeDocument/2006/relationships/image" Target="../media/image37.tiff"/></Relationships>
</file>

<file path=ppt/slides/_rels/slide30.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image" Target="../media/image35.tiff"/><Relationship Id="rId1" Type="http://schemas.openxmlformats.org/officeDocument/2006/relationships/slideLayout" Target="../slideLayouts/slideLayout2.xml"/><Relationship Id="rId5" Type="http://schemas.openxmlformats.org/officeDocument/2006/relationships/image" Target="../media/image38.tiff"/><Relationship Id="rId4" Type="http://schemas.openxmlformats.org/officeDocument/2006/relationships/image" Target="../media/image37.tiff"/></Relationships>
</file>

<file path=ppt/slides/_rels/slide31.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image" Target="../media/image35.tiff"/><Relationship Id="rId1" Type="http://schemas.openxmlformats.org/officeDocument/2006/relationships/slideLayout" Target="../slideLayouts/slideLayout2.xml"/><Relationship Id="rId6" Type="http://schemas.openxmlformats.org/officeDocument/2006/relationships/image" Target="../media/image39.tiff"/><Relationship Id="rId5" Type="http://schemas.openxmlformats.org/officeDocument/2006/relationships/image" Target="../media/image38.tiff"/><Relationship Id="rId4" Type="http://schemas.openxmlformats.org/officeDocument/2006/relationships/image" Target="../media/image37.tif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62.tif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63.tif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8" Type="http://schemas.openxmlformats.org/officeDocument/2006/relationships/image" Target="../media/image8.jpg"/><Relationship Id="rId13" Type="http://schemas.openxmlformats.org/officeDocument/2006/relationships/image" Target="../media/image13.jpg"/><Relationship Id="rId18" Type="http://schemas.openxmlformats.org/officeDocument/2006/relationships/image" Target="../media/image18.jpg"/><Relationship Id="rId3" Type="http://schemas.openxmlformats.org/officeDocument/2006/relationships/image" Target="../media/image3.jpg"/><Relationship Id="rId21" Type="http://schemas.openxmlformats.org/officeDocument/2006/relationships/image" Target="../media/image21.jpg"/><Relationship Id="rId7" Type="http://schemas.openxmlformats.org/officeDocument/2006/relationships/image" Target="../media/image7.jpg"/><Relationship Id="rId12" Type="http://schemas.openxmlformats.org/officeDocument/2006/relationships/image" Target="../media/image12.jpg"/><Relationship Id="rId17" Type="http://schemas.openxmlformats.org/officeDocument/2006/relationships/image" Target="../media/image17.jpg"/><Relationship Id="rId2" Type="http://schemas.openxmlformats.org/officeDocument/2006/relationships/image" Target="../media/image2.jpg"/><Relationship Id="rId16" Type="http://schemas.openxmlformats.org/officeDocument/2006/relationships/image" Target="../media/image16.jpg"/><Relationship Id="rId20"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image" Target="../media/image6.jpg"/><Relationship Id="rId11" Type="http://schemas.openxmlformats.org/officeDocument/2006/relationships/image" Target="../media/image11.jpg"/><Relationship Id="rId5" Type="http://schemas.openxmlformats.org/officeDocument/2006/relationships/image" Target="../media/image5.jpg"/><Relationship Id="rId15" Type="http://schemas.openxmlformats.org/officeDocument/2006/relationships/image" Target="../media/image15.jpg"/><Relationship Id="rId23" Type="http://schemas.openxmlformats.org/officeDocument/2006/relationships/image" Target="../media/image23.jpg"/><Relationship Id="rId10" Type="http://schemas.openxmlformats.org/officeDocument/2006/relationships/image" Target="../media/image10.jpg"/><Relationship Id="rId19" Type="http://schemas.openxmlformats.org/officeDocument/2006/relationships/image" Target="../media/image19.jpg"/><Relationship Id="rId4" Type="http://schemas.openxmlformats.org/officeDocument/2006/relationships/image" Target="../media/image4.jpg"/><Relationship Id="rId9" Type="http://schemas.openxmlformats.org/officeDocument/2006/relationships/image" Target="../media/image9.jpg"/><Relationship Id="rId14" Type="http://schemas.openxmlformats.org/officeDocument/2006/relationships/image" Target="../media/image14.jpg"/><Relationship Id="rId22" Type="http://schemas.openxmlformats.org/officeDocument/2006/relationships/image" Target="../media/image22.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A42C657-4352-394D-8FA5-95F14C7EB013}"/>
              </a:ext>
            </a:extLst>
          </p:cNvPr>
          <p:cNvPicPr>
            <a:picLocks noChangeAspect="1"/>
          </p:cNvPicPr>
          <p:nvPr/>
        </p:nvPicPr>
        <p:blipFill rotWithShape="1">
          <a:blip r:embed="rId2">
            <a:alphaModFix amt="70000"/>
            <a:extLst>
              <a:ext uri="{BEBA8EAE-BF5A-486C-A8C5-ECC9F3942E4B}">
                <a14:imgProps xmlns:a14="http://schemas.microsoft.com/office/drawing/2010/main">
                  <a14:imgLayer r:embed="rId3">
                    <a14:imgEffect>
                      <a14:saturation sat="200000"/>
                    </a14:imgEffect>
                  </a14:imgLayer>
                </a14:imgProps>
              </a:ext>
            </a:extLst>
          </a:blip>
          <a:srcRect r="2384"/>
          <a:stretch/>
        </p:blipFill>
        <p:spPr>
          <a:xfrm>
            <a:off x="-1" y="0"/>
            <a:ext cx="9381745" cy="6820597"/>
          </a:xfrm>
          <a:prstGeom prst="rect">
            <a:avLst/>
          </a:prstGeom>
        </p:spPr>
      </p:pic>
      <p:sp>
        <p:nvSpPr>
          <p:cNvPr id="2" name="Title 1">
            <a:extLst>
              <a:ext uri="{FF2B5EF4-FFF2-40B4-BE49-F238E27FC236}">
                <a16:creationId xmlns:a16="http://schemas.microsoft.com/office/drawing/2014/main" id="{60716455-EF77-A844-B085-643EACE2041D}"/>
              </a:ext>
            </a:extLst>
          </p:cNvPr>
          <p:cNvSpPr>
            <a:spLocks noGrp="1"/>
          </p:cNvSpPr>
          <p:nvPr>
            <p:ph type="ctrTitle"/>
          </p:nvPr>
        </p:nvSpPr>
        <p:spPr>
          <a:xfrm>
            <a:off x="4718304" y="827"/>
            <a:ext cx="7473696" cy="1499616"/>
          </a:xfrm>
        </p:spPr>
        <p:txBody>
          <a:bodyPr/>
          <a:lstStyle/>
          <a:p>
            <a:r>
              <a:rPr lang="en-US" dirty="0"/>
              <a:t>Acute Pancreatitis</a:t>
            </a:r>
          </a:p>
        </p:txBody>
      </p:sp>
      <p:sp>
        <p:nvSpPr>
          <p:cNvPr id="3" name="Subtitle 2">
            <a:extLst>
              <a:ext uri="{FF2B5EF4-FFF2-40B4-BE49-F238E27FC236}">
                <a16:creationId xmlns:a16="http://schemas.microsoft.com/office/drawing/2014/main" id="{ACACF404-E3AE-A642-8E29-F4E3C69037EA}"/>
              </a:ext>
            </a:extLst>
          </p:cNvPr>
          <p:cNvSpPr>
            <a:spLocks noGrp="1"/>
          </p:cNvSpPr>
          <p:nvPr>
            <p:ph type="subTitle" idx="1"/>
          </p:nvPr>
        </p:nvSpPr>
        <p:spPr>
          <a:xfrm>
            <a:off x="4718304" y="5358384"/>
            <a:ext cx="7473696" cy="1499616"/>
          </a:xfrm>
        </p:spPr>
        <p:txBody>
          <a:bodyPr/>
          <a:lstStyle/>
          <a:p>
            <a:r>
              <a:rPr lang="en-US" dirty="0"/>
              <a:t>Mohammad Almeqdadi</a:t>
            </a:r>
          </a:p>
          <a:p>
            <a:r>
              <a:rPr lang="en-US" dirty="0"/>
              <a:t>GI Fellow</a:t>
            </a:r>
          </a:p>
        </p:txBody>
      </p:sp>
    </p:spTree>
    <p:extLst>
      <p:ext uri="{BB962C8B-B14F-4D97-AF65-F5344CB8AC3E}">
        <p14:creationId xmlns:p14="http://schemas.microsoft.com/office/powerpoint/2010/main" val="3364507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dirty="0"/>
              <a:t>Case Presentation</a:t>
            </a:r>
          </a:p>
        </p:txBody>
      </p:sp>
      <p:sp>
        <p:nvSpPr>
          <p:cNvPr id="5" name="Text Placeholder 4">
            <a:extLst>
              <a:ext uri="{FF2B5EF4-FFF2-40B4-BE49-F238E27FC236}">
                <a16:creationId xmlns:a16="http://schemas.microsoft.com/office/drawing/2014/main" id="{3F8B4597-F7CF-944C-B77B-EBFFC04C94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65376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0FA231-2798-E442-A305-AF96347C0DCD}"/>
              </a:ext>
            </a:extLst>
          </p:cNvPr>
          <p:cNvSpPr>
            <a:spLocks noGrp="1"/>
          </p:cNvSpPr>
          <p:nvPr>
            <p:ph type="title"/>
          </p:nvPr>
        </p:nvSpPr>
        <p:spPr/>
        <p:txBody>
          <a:bodyPr/>
          <a:lstStyle/>
          <a:p>
            <a:r>
              <a:rPr lang="en-US" dirty="0"/>
              <a:t>Case Presentation</a:t>
            </a:r>
          </a:p>
        </p:txBody>
      </p:sp>
      <p:sp>
        <p:nvSpPr>
          <p:cNvPr id="5" name="Content Placeholder 4">
            <a:extLst>
              <a:ext uri="{FF2B5EF4-FFF2-40B4-BE49-F238E27FC236}">
                <a16:creationId xmlns:a16="http://schemas.microsoft.com/office/drawing/2014/main" id="{676C19D4-0DF6-C043-8A94-1DE9626D2D61}"/>
              </a:ext>
            </a:extLst>
          </p:cNvPr>
          <p:cNvSpPr>
            <a:spLocks noGrp="1"/>
          </p:cNvSpPr>
          <p:nvPr>
            <p:ph idx="1"/>
          </p:nvPr>
        </p:nvSpPr>
        <p:spPr/>
        <p:txBody>
          <a:bodyPr>
            <a:normAutofit lnSpcReduction="10000"/>
          </a:bodyPr>
          <a:lstStyle/>
          <a:p>
            <a:pPr marL="0" indent="0">
              <a:buNone/>
            </a:pPr>
            <a:r>
              <a:rPr lang="en-US" b="1" dirty="0"/>
              <a:t>History of presenting illness: </a:t>
            </a:r>
            <a:r>
              <a:rPr lang="en-US" dirty="0"/>
              <a:t>the patient is a 19-year-old lady with history of alcohol misuse disorder and recurrent pancreatitis, who presented to the ED with nausea, vomiting, and epigastric abdominal pain. The patient developed the symptoms soon after an episode of binge drinking during her birthday 2 days prior to admission.</a:t>
            </a:r>
          </a:p>
          <a:p>
            <a:pPr marL="0" indent="0">
              <a:buNone/>
            </a:pPr>
            <a:endParaRPr lang="en-US" dirty="0"/>
          </a:p>
          <a:p>
            <a:pPr marL="0" indent="0">
              <a:buNone/>
            </a:pPr>
            <a:r>
              <a:rPr lang="en-US" b="1" dirty="0"/>
              <a:t>Vitals:</a:t>
            </a:r>
            <a:r>
              <a:rPr lang="en-US" dirty="0"/>
              <a:t>	BP 119/72	HR 78		Resp 18	Temp 37˚C</a:t>
            </a:r>
          </a:p>
          <a:p>
            <a:pPr marL="0" indent="0">
              <a:buNone/>
            </a:pPr>
            <a:r>
              <a:rPr lang="en-US" b="1" dirty="0"/>
              <a:t>Physical exam: </a:t>
            </a:r>
            <a:r>
              <a:rPr lang="en-US" dirty="0"/>
              <a:t>Patient was lying comfortably in bed. Was not in acute distress. She was complaining of epigastric abdominal pain. Anicteric sclerae. Abdomen was soft, </a:t>
            </a:r>
            <a:r>
              <a:rPr lang="en-US" b="1" dirty="0"/>
              <a:t>mild tenderness in the epigastric region</a:t>
            </a:r>
            <a:r>
              <a:rPr lang="en-US" dirty="0"/>
              <a:t>, no RUQ tenderness, negative murphy, no organomegaly, normoactive bowel sounds.</a:t>
            </a:r>
          </a:p>
        </p:txBody>
      </p:sp>
    </p:spTree>
    <p:extLst>
      <p:ext uri="{BB962C8B-B14F-4D97-AF65-F5344CB8AC3E}">
        <p14:creationId xmlns:p14="http://schemas.microsoft.com/office/powerpoint/2010/main" val="3674460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0FA231-2798-E442-A305-AF96347C0DCD}"/>
              </a:ext>
            </a:extLst>
          </p:cNvPr>
          <p:cNvSpPr>
            <a:spLocks noGrp="1"/>
          </p:cNvSpPr>
          <p:nvPr>
            <p:ph type="title"/>
          </p:nvPr>
        </p:nvSpPr>
        <p:spPr/>
        <p:txBody>
          <a:bodyPr/>
          <a:lstStyle/>
          <a:p>
            <a:r>
              <a:rPr lang="en-US" dirty="0"/>
              <a:t>Case Presentation</a:t>
            </a:r>
          </a:p>
        </p:txBody>
      </p:sp>
      <p:sp>
        <p:nvSpPr>
          <p:cNvPr id="5" name="Content Placeholder 4">
            <a:extLst>
              <a:ext uri="{FF2B5EF4-FFF2-40B4-BE49-F238E27FC236}">
                <a16:creationId xmlns:a16="http://schemas.microsoft.com/office/drawing/2014/main" id="{676C19D4-0DF6-C043-8A94-1DE9626D2D61}"/>
              </a:ext>
            </a:extLst>
          </p:cNvPr>
          <p:cNvSpPr>
            <a:spLocks noGrp="1"/>
          </p:cNvSpPr>
          <p:nvPr>
            <p:ph idx="1"/>
          </p:nvPr>
        </p:nvSpPr>
        <p:spPr/>
        <p:txBody>
          <a:bodyPr>
            <a:normAutofit/>
          </a:bodyPr>
          <a:lstStyle/>
          <a:p>
            <a:pPr marL="0" indent="0">
              <a:buNone/>
            </a:pPr>
            <a:r>
              <a:rPr lang="en-US" b="1" dirty="0"/>
              <a:t>Laboratory investigations:</a:t>
            </a:r>
          </a:p>
          <a:p>
            <a:pPr marL="0" indent="0">
              <a:buNone/>
            </a:pPr>
            <a:endParaRPr lang="en-US" b="1" dirty="0"/>
          </a:p>
          <a:p>
            <a:pPr marL="0" indent="0">
              <a:buNone/>
            </a:pPr>
            <a:r>
              <a:rPr lang="en-US" dirty="0"/>
              <a:t>WBC 8.9</a:t>
            </a:r>
          </a:p>
          <a:p>
            <a:pPr marL="0" indent="0">
              <a:buNone/>
            </a:pPr>
            <a:r>
              <a:rPr lang="en-US" dirty="0" err="1"/>
              <a:t>Hct</a:t>
            </a:r>
            <a:r>
              <a:rPr lang="en-US" dirty="0"/>
              <a:t> 39.3%, Hb 13.7</a:t>
            </a:r>
          </a:p>
          <a:p>
            <a:pPr marL="0" indent="0">
              <a:buNone/>
            </a:pPr>
            <a:r>
              <a:rPr lang="en-US" dirty="0"/>
              <a:t>BUN 7, Creatinine 0.61</a:t>
            </a:r>
          </a:p>
          <a:p>
            <a:pPr marL="0" indent="0">
              <a:buNone/>
            </a:pPr>
            <a:r>
              <a:rPr lang="en-US" dirty="0" err="1"/>
              <a:t>Tbili</a:t>
            </a:r>
            <a:r>
              <a:rPr lang="en-US" dirty="0"/>
              <a:t> 1.0, AST 18, ALT 13, </a:t>
            </a:r>
            <a:r>
              <a:rPr lang="en-US" dirty="0" err="1"/>
              <a:t>Alk</a:t>
            </a:r>
            <a:r>
              <a:rPr lang="en-US" dirty="0"/>
              <a:t> 47</a:t>
            </a:r>
          </a:p>
          <a:p>
            <a:pPr marL="0" indent="0">
              <a:buNone/>
            </a:pPr>
            <a:endParaRPr lang="en-US" dirty="0"/>
          </a:p>
          <a:p>
            <a:pPr marL="0" indent="0">
              <a:buNone/>
            </a:pPr>
            <a:r>
              <a:rPr lang="en-US" b="1" dirty="0"/>
              <a:t>Lipase 1932</a:t>
            </a:r>
          </a:p>
        </p:txBody>
      </p:sp>
    </p:spTree>
    <p:extLst>
      <p:ext uri="{BB962C8B-B14F-4D97-AF65-F5344CB8AC3E}">
        <p14:creationId xmlns:p14="http://schemas.microsoft.com/office/powerpoint/2010/main" val="1577299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1D106-69EE-8C41-879A-7089CA254951}"/>
              </a:ext>
            </a:extLst>
          </p:cNvPr>
          <p:cNvSpPr>
            <a:spLocks noGrp="1"/>
          </p:cNvSpPr>
          <p:nvPr>
            <p:ph type="title"/>
          </p:nvPr>
        </p:nvSpPr>
        <p:spPr>
          <a:xfrm>
            <a:off x="0" y="45085"/>
            <a:ext cx="2495550" cy="1052195"/>
          </a:xfrm>
        </p:spPr>
        <p:txBody>
          <a:bodyPr>
            <a:normAutofit/>
          </a:bodyPr>
          <a:lstStyle/>
          <a:p>
            <a:r>
              <a:rPr lang="en-US" dirty="0">
                <a:solidFill>
                  <a:schemeClr val="bg1"/>
                </a:solidFill>
              </a:rPr>
              <a:t>CT A/P</a:t>
            </a:r>
          </a:p>
        </p:txBody>
      </p:sp>
      <p:pic>
        <p:nvPicPr>
          <p:cNvPr id="50" name="Picture 49">
            <a:extLst>
              <a:ext uri="{FF2B5EF4-FFF2-40B4-BE49-F238E27FC236}">
                <a16:creationId xmlns:a16="http://schemas.microsoft.com/office/drawing/2014/main" id="{BA57A5F9-35EF-FA42-8D7D-7D51122BCBED}"/>
              </a:ext>
            </a:extLst>
          </p:cNvPr>
          <p:cNvPicPr>
            <a:picLocks noChangeAspect="1"/>
          </p:cNvPicPr>
          <p:nvPr/>
        </p:nvPicPr>
        <p:blipFill>
          <a:blip r:embed="rId2"/>
          <a:stretch>
            <a:fillRect/>
          </a:stretch>
        </p:blipFill>
        <p:spPr>
          <a:xfrm>
            <a:off x="2495550" y="0"/>
            <a:ext cx="7200900" cy="6858000"/>
          </a:xfrm>
          <a:prstGeom prst="rect">
            <a:avLst/>
          </a:prstGeom>
        </p:spPr>
      </p:pic>
      <p:pic>
        <p:nvPicPr>
          <p:cNvPr id="52" name="Picture 51">
            <a:extLst>
              <a:ext uri="{FF2B5EF4-FFF2-40B4-BE49-F238E27FC236}">
                <a16:creationId xmlns:a16="http://schemas.microsoft.com/office/drawing/2014/main" id="{B6593110-7FF5-2341-88AB-98C1B14833DC}"/>
              </a:ext>
            </a:extLst>
          </p:cNvPr>
          <p:cNvPicPr>
            <a:picLocks noChangeAspect="1"/>
          </p:cNvPicPr>
          <p:nvPr/>
        </p:nvPicPr>
        <p:blipFill>
          <a:blip r:embed="rId3"/>
          <a:stretch>
            <a:fillRect/>
          </a:stretch>
        </p:blipFill>
        <p:spPr>
          <a:xfrm>
            <a:off x="2495550" y="0"/>
            <a:ext cx="7200900" cy="6858000"/>
          </a:xfrm>
          <a:prstGeom prst="rect">
            <a:avLst/>
          </a:prstGeom>
        </p:spPr>
      </p:pic>
      <p:pic>
        <p:nvPicPr>
          <p:cNvPr id="54" name="Picture 53">
            <a:extLst>
              <a:ext uri="{FF2B5EF4-FFF2-40B4-BE49-F238E27FC236}">
                <a16:creationId xmlns:a16="http://schemas.microsoft.com/office/drawing/2014/main" id="{F9EC6D49-E7EA-F648-83F6-B593FEFD09C7}"/>
              </a:ext>
            </a:extLst>
          </p:cNvPr>
          <p:cNvPicPr>
            <a:picLocks noChangeAspect="1"/>
          </p:cNvPicPr>
          <p:nvPr/>
        </p:nvPicPr>
        <p:blipFill>
          <a:blip r:embed="rId4"/>
          <a:stretch>
            <a:fillRect/>
          </a:stretch>
        </p:blipFill>
        <p:spPr>
          <a:xfrm>
            <a:off x="2495550" y="0"/>
            <a:ext cx="7200900" cy="6858000"/>
          </a:xfrm>
          <a:prstGeom prst="rect">
            <a:avLst/>
          </a:prstGeom>
        </p:spPr>
      </p:pic>
      <p:pic>
        <p:nvPicPr>
          <p:cNvPr id="56" name="Picture 55">
            <a:extLst>
              <a:ext uri="{FF2B5EF4-FFF2-40B4-BE49-F238E27FC236}">
                <a16:creationId xmlns:a16="http://schemas.microsoft.com/office/drawing/2014/main" id="{FA5C9C85-B3B6-FF41-A05B-278573636099}"/>
              </a:ext>
            </a:extLst>
          </p:cNvPr>
          <p:cNvPicPr>
            <a:picLocks noChangeAspect="1"/>
          </p:cNvPicPr>
          <p:nvPr/>
        </p:nvPicPr>
        <p:blipFill>
          <a:blip r:embed="rId5"/>
          <a:stretch>
            <a:fillRect/>
          </a:stretch>
        </p:blipFill>
        <p:spPr>
          <a:xfrm>
            <a:off x="2495550" y="0"/>
            <a:ext cx="7200900" cy="6858000"/>
          </a:xfrm>
          <a:prstGeom prst="rect">
            <a:avLst/>
          </a:prstGeom>
        </p:spPr>
      </p:pic>
      <p:pic>
        <p:nvPicPr>
          <p:cNvPr id="58" name="Picture 57">
            <a:extLst>
              <a:ext uri="{FF2B5EF4-FFF2-40B4-BE49-F238E27FC236}">
                <a16:creationId xmlns:a16="http://schemas.microsoft.com/office/drawing/2014/main" id="{F51C1FF1-1D58-0746-BC30-589EA1829F2C}"/>
              </a:ext>
            </a:extLst>
          </p:cNvPr>
          <p:cNvPicPr>
            <a:picLocks noChangeAspect="1"/>
          </p:cNvPicPr>
          <p:nvPr/>
        </p:nvPicPr>
        <p:blipFill>
          <a:blip r:embed="rId6"/>
          <a:stretch>
            <a:fillRect/>
          </a:stretch>
        </p:blipFill>
        <p:spPr>
          <a:xfrm>
            <a:off x="2495550" y="0"/>
            <a:ext cx="7200900" cy="6858000"/>
          </a:xfrm>
          <a:prstGeom prst="rect">
            <a:avLst/>
          </a:prstGeom>
        </p:spPr>
      </p:pic>
      <p:pic>
        <p:nvPicPr>
          <p:cNvPr id="60" name="Picture 59">
            <a:extLst>
              <a:ext uri="{FF2B5EF4-FFF2-40B4-BE49-F238E27FC236}">
                <a16:creationId xmlns:a16="http://schemas.microsoft.com/office/drawing/2014/main" id="{D30CB3A5-57E5-9D41-B676-88F12C1A5BEB}"/>
              </a:ext>
            </a:extLst>
          </p:cNvPr>
          <p:cNvPicPr>
            <a:picLocks noChangeAspect="1"/>
          </p:cNvPicPr>
          <p:nvPr/>
        </p:nvPicPr>
        <p:blipFill>
          <a:blip r:embed="rId7"/>
          <a:stretch>
            <a:fillRect/>
          </a:stretch>
        </p:blipFill>
        <p:spPr>
          <a:xfrm>
            <a:off x="2495550" y="0"/>
            <a:ext cx="7200900" cy="6858000"/>
          </a:xfrm>
          <a:prstGeom prst="rect">
            <a:avLst/>
          </a:prstGeom>
        </p:spPr>
      </p:pic>
      <p:pic>
        <p:nvPicPr>
          <p:cNvPr id="62" name="Picture 61">
            <a:extLst>
              <a:ext uri="{FF2B5EF4-FFF2-40B4-BE49-F238E27FC236}">
                <a16:creationId xmlns:a16="http://schemas.microsoft.com/office/drawing/2014/main" id="{23523219-FC4E-F142-9B14-0C237B46D26B}"/>
              </a:ext>
            </a:extLst>
          </p:cNvPr>
          <p:cNvPicPr>
            <a:picLocks noChangeAspect="1"/>
          </p:cNvPicPr>
          <p:nvPr/>
        </p:nvPicPr>
        <p:blipFill>
          <a:blip r:embed="rId8"/>
          <a:stretch>
            <a:fillRect/>
          </a:stretch>
        </p:blipFill>
        <p:spPr>
          <a:xfrm>
            <a:off x="2495550" y="0"/>
            <a:ext cx="7200900" cy="6858000"/>
          </a:xfrm>
          <a:prstGeom prst="rect">
            <a:avLst/>
          </a:prstGeom>
        </p:spPr>
      </p:pic>
      <p:pic>
        <p:nvPicPr>
          <p:cNvPr id="64" name="Picture 63">
            <a:extLst>
              <a:ext uri="{FF2B5EF4-FFF2-40B4-BE49-F238E27FC236}">
                <a16:creationId xmlns:a16="http://schemas.microsoft.com/office/drawing/2014/main" id="{563A2D67-3220-0F4E-A241-DB71D48EDD1B}"/>
              </a:ext>
            </a:extLst>
          </p:cNvPr>
          <p:cNvPicPr>
            <a:picLocks noChangeAspect="1"/>
          </p:cNvPicPr>
          <p:nvPr/>
        </p:nvPicPr>
        <p:blipFill>
          <a:blip r:embed="rId9"/>
          <a:stretch>
            <a:fillRect/>
          </a:stretch>
        </p:blipFill>
        <p:spPr>
          <a:xfrm>
            <a:off x="2495550" y="0"/>
            <a:ext cx="7200900" cy="6858000"/>
          </a:xfrm>
          <a:prstGeom prst="rect">
            <a:avLst/>
          </a:prstGeom>
        </p:spPr>
      </p:pic>
      <p:pic>
        <p:nvPicPr>
          <p:cNvPr id="66" name="Picture 65">
            <a:extLst>
              <a:ext uri="{FF2B5EF4-FFF2-40B4-BE49-F238E27FC236}">
                <a16:creationId xmlns:a16="http://schemas.microsoft.com/office/drawing/2014/main" id="{644F46F7-67FE-7542-9C9A-9671A1182511}"/>
              </a:ext>
            </a:extLst>
          </p:cNvPr>
          <p:cNvPicPr>
            <a:picLocks noChangeAspect="1"/>
          </p:cNvPicPr>
          <p:nvPr/>
        </p:nvPicPr>
        <p:blipFill>
          <a:blip r:embed="rId10"/>
          <a:stretch>
            <a:fillRect/>
          </a:stretch>
        </p:blipFill>
        <p:spPr>
          <a:xfrm>
            <a:off x="2495550" y="0"/>
            <a:ext cx="7200900" cy="6858000"/>
          </a:xfrm>
          <a:prstGeom prst="rect">
            <a:avLst/>
          </a:prstGeom>
        </p:spPr>
      </p:pic>
      <p:pic>
        <p:nvPicPr>
          <p:cNvPr id="68" name="Picture 67">
            <a:extLst>
              <a:ext uri="{FF2B5EF4-FFF2-40B4-BE49-F238E27FC236}">
                <a16:creationId xmlns:a16="http://schemas.microsoft.com/office/drawing/2014/main" id="{B097CA10-1EA3-5F4B-85DF-4E3EF4BFC14A}"/>
              </a:ext>
            </a:extLst>
          </p:cNvPr>
          <p:cNvPicPr>
            <a:picLocks noChangeAspect="1"/>
          </p:cNvPicPr>
          <p:nvPr/>
        </p:nvPicPr>
        <p:blipFill>
          <a:blip r:embed="rId11"/>
          <a:stretch>
            <a:fillRect/>
          </a:stretch>
        </p:blipFill>
        <p:spPr>
          <a:xfrm>
            <a:off x="2495550" y="0"/>
            <a:ext cx="7200900" cy="6858000"/>
          </a:xfrm>
          <a:prstGeom prst="rect">
            <a:avLst/>
          </a:prstGeom>
        </p:spPr>
      </p:pic>
      <p:pic>
        <p:nvPicPr>
          <p:cNvPr id="70" name="Picture 69">
            <a:extLst>
              <a:ext uri="{FF2B5EF4-FFF2-40B4-BE49-F238E27FC236}">
                <a16:creationId xmlns:a16="http://schemas.microsoft.com/office/drawing/2014/main" id="{92AF652D-54E7-E241-9BF4-931AA4FE7640}"/>
              </a:ext>
            </a:extLst>
          </p:cNvPr>
          <p:cNvPicPr>
            <a:picLocks noChangeAspect="1"/>
          </p:cNvPicPr>
          <p:nvPr/>
        </p:nvPicPr>
        <p:blipFill>
          <a:blip r:embed="rId12"/>
          <a:stretch>
            <a:fillRect/>
          </a:stretch>
        </p:blipFill>
        <p:spPr>
          <a:xfrm>
            <a:off x="2495550" y="0"/>
            <a:ext cx="7200900" cy="6858000"/>
          </a:xfrm>
          <a:prstGeom prst="rect">
            <a:avLst/>
          </a:prstGeom>
        </p:spPr>
      </p:pic>
      <p:pic>
        <p:nvPicPr>
          <p:cNvPr id="72" name="Picture 71">
            <a:extLst>
              <a:ext uri="{FF2B5EF4-FFF2-40B4-BE49-F238E27FC236}">
                <a16:creationId xmlns:a16="http://schemas.microsoft.com/office/drawing/2014/main" id="{9F218223-1DF9-114C-966D-CFCC9365D400}"/>
              </a:ext>
            </a:extLst>
          </p:cNvPr>
          <p:cNvPicPr>
            <a:picLocks noChangeAspect="1"/>
          </p:cNvPicPr>
          <p:nvPr/>
        </p:nvPicPr>
        <p:blipFill>
          <a:blip r:embed="rId13"/>
          <a:stretch>
            <a:fillRect/>
          </a:stretch>
        </p:blipFill>
        <p:spPr>
          <a:xfrm>
            <a:off x="2495550" y="0"/>
            <a:ext cx="7200900" cy="6858000"/>
          </a:xfrm>
          <a:prstGeom prst="rect">
            <a:avLst/>
          </a:prstGeom>
        </p:spPr>
      </p:pic>
      <p:pic>
        <p:nvPicPr>
          <p:cNvPr id="74" name="Picture 73">
            <a:extLst>
              <a:ext uri="{FF2B5EF4-FFF2-40B4-BE49-F238E27FC236}">
                <a16:creationId xmlns:a16="http://schemas.microsoft.com/office/drawing/2014/main" id="{1A002F97-F701-294F-A634-3B1DECA5CC6B}"/>
              </a:ext>
            </a:extLst>
          </p:cNvPr>
          <p:cNvPicPr>
            <a:picLocks noChangeAspect="1"/>
          </p:cNvPicPr>
          <p:nvPr/>
        </p:nvPicPr>
        <p:blipFill>
          <a:blip r:embed="rId14"/>
          <a:stretch>
            <a:fillRect/>
          </a:stretch>
        </p:blipFill>
        <p:spPr>
          <a:xfrm>
            <a:off x="2495550" y="0"/>
            <a:ext cx="7200900" cy="6858000"/>
          </a:xfrm>
          <a:prstGeom prst="rect">
            <a:avLst/>
          </a:prstGeom>
        </p:spPr>
      </p:pic>
      <p:pic>
        <p:nvPicPr>
          <p:cNvPr id="76" name="Picture 75">
            <a:extLst>
              <a:ext uri="{FF2B5EF4-FFF2-40B4-BE49-F238E27FC236}">
                <a16:creationId xmlns:a16="http://schemas.microsoft.com/office/drawing/2014/main" id="{1C92FBDB-1A3C-984B-81EA-F6C302D42818}"/>
              </a:ext>
            </a:extLst>
          </p:cNvPr>
          <p:cNvPicPr>
            <a:picLocks noChangeAspect="1"/>
          </p:cNvPicPr>
          <p:nvPr/>
        </p:nvPicPr>
        <p:blipFill>
          <a:blip r:embed="rId15"/>
          <a:stretch>
            <a:fillRect/>
          </a:stretch>
        </p:blipFill>
        <p:spPr>
          <a:xfrm>
            <a:off x="2495550" y="0"/>
            <a:ext cx="7200900" cy="6858000"/>
          </a:xfrm>
          <a:prstGeom prst="rect">
            <a:avLst/>
          </a:prstGeom>
        </p:spPr>
      </p:pic>
      <p:pic>
        <p:nvPicPr>
          <p:cNvPr id="78" name="Picture 77">
            <a:extLst>
              <a:ext uri="{FF2B5EF4-FFF2-40B4-BE49-F238E27FC236}">
                <a16:creationId xmlns:a16="http://schemas.microsoft.com/office/drawing/2014/main" id="{A8110C59-4B1D-4B42-9C8C-04B374EFF28B}"/>
              </a:ext>
            </a:extLst>
          </p:cNvPr>
          <p:cNvPicPr>
            <a:picLocks noChangeAspect="1"/>
          </p:cNvPicPr>
          <p:nvPr/>
        </p:nvPicPr>
        <p:blipFill>
          <a:blip r:embed="rId16"/>
          <a:stretch>
            <a:fillRect/>
          </a:stretch>
        </p:blipFill>
        <p:spPr>
          <a:xfrm>
            <a:off x="2495550" y="0"/>
            <a:ext cx="7200900" cy="6858000"/>
          </a:xfrm>
          <a:prstGeom prst="rect">
            <a:avLst/>
          </a:prstGeom>
        </p:spPr>
      </p:pic>
      <p:pic>
        <p:nvPicPr>
          <p:cNvPr id="80" name="Picture 79">
            <a:extLst>
              <a:ext uri="{FF2B5EF4-FFF2-40B4-BE49-F238E27FC236}">
                <a16:creationId xmlns:a16="http://schemas.microsoft.com/office/drawing/2014/main" id="{66D334DC-8B1E-9546-9408-256E66636D33}"/>
              </a:ext>
            </a:extLst>
          </p:cNvPr>
          <p:cNvPicPr>
            <a:picLocks noChangeAspect="1"/>
          </p:cNvPicPr>
          <p:nvPr/>
        </p:nvPicPr>
        <p:blipFill>
          <a:blip r:embed="rId17"/>
          <a:stretch>
            <a:fillRect/>
          </a:stretch>
        </p:blipFill>
        <p:spPr>
          <a:xfrm>
            <a:off x="2495550" y="0"/>
            <a:ext cx="7200900" cy="6858000"/>
          </a:xfrm>
          <a:prstGeom prst="rect">
            <a:avLst/>
          </a:prstGeom>
        </p:spPr>
      </p:pic>
      <p:pic>
        <p:nvPicPr>
          <p:cNvPr id="82" name="Picture 81">
            <a:extLst>
              <a:ext uri="{FF2B5EF4-FFF2-40B4-BE49-F238E27FC236}">
                <a16:creationId xmlns:a16="http://schemas.microsoft.com/office/drawing/2014/main" id="{55EF95C8-5A3B-8749-ADA9-280C64F5ACF5}"/>
              </a:ext>
            </a:extLst>
          </p:cNvPr>
          <p:cNvPicPr>
            <a:picLocks noChangeAspect="1"/>
          </p:cNvPicPr>
          <p:nvPr/>
        </p:nvPicPr>
        <p:blipFill>
          <a:blip r:embed="rId18"/>
          <a:stretch>
            <a:fillRect/>
          </a:stretch>
        </p:blipFill>
        <p:spPr>
          <a:xfrm>
            <a:off x="2495550" y="0"/>
            <a:ext cx="7200900" cy="6858000"/>
          </a:xfrm>
          <a:prstGeom prst="rect">
            <a:avLst/>
          </a:prstGeom>
        </p:spPr>
      </p:pic>
      <p:pic>
        <p:nvPicPr>
          <p:cNvPr id="84" name="Picture 83">
            <a:extLst>
              <a:ext uri="{FF2B5EF4-FFF2-40B4-BE49-F238E27FC236}">
                <a16:creationId xmlns:a16="http://schemas.microsoft.com/office/drawing/2014/main" id="{8E131A8F-ABE1-FD40-91B3-EDD59E0FB265}"/>
              </a:ext>
            </a:extLst>
          </p:cNvPr>
          <p:cNvPicPr>
            <a:picLocks noChangeAspect="1"/>
          </p:cNvPicPr>
          <p:nvPr/>
        </p:nvPicPr>
        <p:blipFill>
          <a:blip r:embed="rId19"/>
          <a:stretch>
            <a:fillRect/>
          </a:stretch>
        </p:blipFill>
        <p:spPr>
          <a:xfrm>
            <a:off x="2495550" y="0"/>
            <a:ext cx="7200900" cy="6858000"/>
          </a:xfrm>
          <a:prstGeom prst="rect">
            <a:avLst/>
          </a:prstGeom>
        </p:spPr>
      </p:pic>
      <p:pic>
        <p:nvPicPr>
          <p:cNvPr id="86" name="Picture 85">
            <a:extLst>
              <a:ext uri="{FF2B5EF4-FFF2-40B4-BE49-F238E27FC236}">
                <a16:creationId xmlns:a16="http://schemas.microsoft.com/office/drawing/2014/main" id="{85C0B6FE-31D6-1B40-BC79-2F97FFF212E0}"/>
              </a:ext>
            </a:extLst>
          </p:cNvPr>
          <p:cNvPicPr>
            <a:picLocks noChangeAspect="1"/>
          </p:cNvPicPr>
          <p:nvPr/>
        </p:nvPicPr>
        <p:blipFill>
          <a:blip r:embed="rId20"/>
          <a:stretch>
            <a:fillRect/>
          </a:stretch>
        </p:blipFill>
        <p:spPr>
          <a:xfrm>
            <a:off x="2495550" y="0"/>
            <a:ext cx="7200900" cy="6858000"/>
          </a:xfrm>
          <a:prstGeom prst="rect">
            <a:avLst/>
          </a:prstGeom>
        </p:spPr>
      </p:pic>
      <p:pic>
        <p:nvPicPr>
          <p:cNvPr id="88" name="Picture 87">
            <a:extLst>
              <a:ext uri="{FF2B5EF4-FFF2-40B4-BE49-F238E27FC236}">
                <a16:creationId xmlns:a16="http://schemas.microsoft.com/office/drawing/2014/main" id="{0E6BEA45-EEF3-F54A-8B59-16995C4F3AD7}"/>
              </a:ext>
            </a:extLst>
          </p:cNvPr>
          <p:cNvPicPr>
            <a:picLocks noChangeAspect="1"/>
          </p:cNvPicPr>
          <p:nvPr/>
        </p:nvPicPr>
        <p:blipFill>
          <a:blip r:embed="rId21"/>
          <a:stretch>
            <a:fillRect/>
          </a:stretch>
        </p:blipFill>
        <p:spPr>
          <a:xfrm>
            <a:off x="2495550" y="0"/>
            <a:ext cx="7200900" cy="6858000"/>
          </a:xfrm>
          <a:prstGeom prst="rect">
            <a:avLst/>
          </a:prstGeom>
        </p:spPr>
      </p:pic>
      <p:pic>
        <p:nvPicPr>
          <p:cNvPr id="90" name="Picture 89">
            <a:extLst>
              <a:ext uri="{FF2B5EF4-FFF2-40B4-BE49-F238E27FC236}">
                <a16:creationId xmlns:a16="http://schemas.microsoft.com/office/drawing/2014/main" id="{9E6AF226-7B76-5343-B06B-7F0752FFA760}"/>
              </a:ext>
            </a:extLst>
          </p:cNvPr>
          <p:cNvPicPr>
            <a:picLocks noChangeAspect="1"/>
          </p:cNvPicPr>
          <p:nvPr/>
        </p:nvPicPr>
        <p:blipFill>
          <a:blip r:embed="rId22"/>
          <a:stretch>
            <a:fillRect/>
          </a:stretch>
        </p:blipFill>
        <p:spPr>
          <a:xfrm>
            <a:off x="2495550" y="0"/>
            <a:ext cx="7200900" cy="6858000"/>
          </a:xfrm>
          <a:prstGeom prst="rect">
            <a:avLst/>
          </a:prstGeom>
        </p:spPr>
      </p:pic>
      <p:pic>
        <p:nvPicPr>
          <p:cNvPr id="92" name="Picture 91">
            <a:extLst>
              <a:ext uri="{FF2B5EF4-FFF2-40B4-BE49-F238E27FC236}">
                <a16:creationId xmlns:a16="http://schemas.microsoft.com/office/drawing/2014/main" id="{097AACC0-2874-424A-9DD1-DD8F152D22B4}"/>
              </a:ext>
            </a:extLst>
          </p:cNvPr>
          <p:cNvPicPr>
            <a:picLocks noChangeAspect="1"/>
          </p:cNvPicPr>
          <p:nvPr/>
        </p:nvPicPr>
        <p:blipFill>
          <a:blip r:embed="rId23"/>
          <a:stretch>
            <a:fillRect/>
          </a:stretch>
        </p:blipFill>
        <p:spPr>
          <a:xfrm>
            <a:off x="2495550" y="0"/>
            <a:ext cx="7200900" cy="6858000"/>
          </a:xfrm>
          <a:prstGeom prst="rect">
            <a:avLst/>
          </a:prstGeom>
        </p:spPr>
      </p:pic>
    </p:spTree>
    <p:extLst>
      <p:ext uri="{BB962C8B-B14F-4D97-AF65-F5344CB8AC3E}">
        <p14:creationId xmlns:p14="http://schemas.microsoft.com/office/powerpoint/2010/main" val="212670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C2E1FB-7797-E840-91B9-2579AC19B406}"/>
              </a:ext>
            </a:extLst>
          </p:cNvPr>
          <p:cNvSpPr>
            <a:spLocks noGrp="1"/>
          </p:cNvSpPr>
          <p:nvPr>
            <p:ph type="title"/>
          </p:nvPr>
        </p:nvSpPr>
        <p:spPr/>
        <p:txBody>
          <a:bodyPr/>
          <a:lstStyle/>
          <a:p>
            <a:r>
              <a:rPr lang="en-US" dirty="0"/>
              <a:t>What’s the appropriate management?</a:t>
            </a:r>
          </a:p>
        </p:txBody>
      </p:sp>
      <p:sp>
        <p:nvSpPr>
          <p:cNvPr id="5" name="Text Placeholder 4">
            <a:extLst>
              <a:ext uri="{FF2B5EF4-FFF2-40B4-BE49-F238E27FC236}">
                <a16:creationId xmlns:a16="http://schemas.microsoft.com/office/drawing/2014/main" id="{C941DB00-38E0-5C4A-9600-AC28C2C2CB7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50181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C2E1FB-7797-E840-91B9-2579AC19B406}"/>
              </a:ext>
            </a:extLst>
          </p:cNvPr>
          <p:cNvSpPr>
            <a:spLocks noGrp="1"/>
          </p:cNvSpPr>
          <p:nvPr>
            <p:ph type="title"/>
          </p:nvPr>
        </p:nvSpPr>
        <p:spPr/>
        <p:txBody>
          <a:bodyPr/>
          <a:lstStyle/>
          <a:p>
            <a:r>
              <a:rPr lang="en-US" dirty="0"/>
              <a:t>History</a:t>
            </a:r>
          </a:p>
        </p:txBody>
      </p:sp>
      <p:sp>
        <p:nvSpPr>
          <p:cNvPr id="5" name="Text Placeholder 4">
            <a:extLst>
              <a:ext uri="{FF2B5EF4-FFF2-40B4-BE49-F238E27FC236}">
                <a16:creationId xmlns:a16="http://schemas.microsoft.com/office/drawing/2014/main" id="{C941DB00-38E0-5C4A-9600-AC28C2C2CB7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21885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dirty="0"/>
              <a:t>Historic Background</a:t>
            </a:r>
          </a:p>
        </p:txBody>
      </p:sp>
      <p:sp>
        <p:nvSpPr>
          <p:cNvPr id="2" name="Content Placeholder 1">
            <a:extLst>
              <a:ext uri="{FF2B5EF4-FFF2-40B4-BE49-F238E27FC236}">
                <a16:creationId xmlns:a16="http://schemas.microsoft.com/office/drawing/2014/main" id="{082A9A9D-09CC-0845-9604-576661EB7FA8}"/>
              </a:ext>
            </a:extLst>
          </p:cNvPr>
          <p:cNvSpPr>
            <a:spLocks noGrp="1"/>
          </p:cNvSpPr>
          <p:nvPr>
            <p:ph idx="1"/>
          </p:nvPr>
        </p:nvSpPr>
        <p:spPr/>
        <p:txBody>
          <a:bodyPr/>
          <a:lstStyle/>
          <a:p>
            <a:pPr marL="0" indent="0" algn="ctr">
              <a:buNone/>
            </a:pPr>
            <a:r>
              <a:rPr lang="en-US" sz="4000" b="1" dirty="0"/>
              <a:t>Pancreas</a:t>
            </a:r>
            <a:endParaRPr lang="en-US" b="1" dirty="0"/>
          </a:p>
          <a:p>
            <a:pPr marL="0" indent="0" algn="ctr">
              <a:buNone/>
            </a:pPr>
            <a:r>
              <a:rPr lang="en-US" dirty="0"/>
              <a:t>“pan-”: </a:t>
            </a:r>
            <a:r>
              <a:rPr lang="en-US" b="1" dirty="0"/>
              <a:t>all	</a:t>
            </a:r>
            <a:r>
              <a:rPr lang="en-US" dirty="0"/>
              <a:t>“-</a:t>
            </a:r>
            <a:r>
              <a:rPr lang="en-US" dirty="0" err="1"/>
              <a:t>kreas</a:t>
            </a:r>
            <a:r>
              <a:rPr lang="en-US" dirty="0"/>
              <a:t>”: </a:t>
            </a:r>
            <a:r>
              <a:rPr lang="en-US" b="1" dirty="0"/>
              <a:t>flesh</a:t>
            </a:r>
            <a:r>
              <a:rPr lang="en-US" dirty="0"/>
              <a:t>. </a:t>
            </a:r>
          </a:p>
          <a:p>
            <a:pPr>
              <a:buFont typeface="System Font Regular"/>
              <a:buChar char="-"/>
            </a:pPr>
            <a:r>
              <a:rPr lang="en-US" dirty="0"/>
              <a:t>First coined by </a:t>
            </a:r>
            <a:r>
              <a:rPr lang="en-US" dirty="0" err="1"/>
              <a:t>Ruphos</a:t>
            </a:r>
            <a:r>
              <a:rPr lang="en-US" dirty="0"/>
              <a:t> Ephesus in the year 100, as this organ did not contain any bone, muscle, or cartilage.</a:t>
            </a:r>
          </a:p>
          <a:p>
            <a:pPr>
              <a:buFont typeface="System Font Regular"/>
              <a:buChar char="-"/>
            </a:pPr>
            <a:endParaRPr lang="en-US" dirty="0"/>
          </a:p>
          <a:p>
            <a:pPr>
              <a:buFont typeface="System Font Regular"/>
              <a:buChar char="-"/>
            </a:pPr>
            <a:r>
              <a:rPr lang="en-US" dirty="0"/>
              <a:t>First description of </a:t>
            </a:r>
            <a:r>
              <a:rPr lang="en-US" b="1" dirty="0"/>
              <a:t>acute pancreatitis</a:t>
            </a:r>
            <a:r>
              <a:rPr lang="en-US" dirty="0"/>
              <a:t> was made by </a:t>
            </a:r>
            <a:r>
              <a:rPr lang="en-US" dirty="0" err="1"/>
              <a:t>Nicholaes</a:t>
            </a:r>
            <a:r>
              <a:rPr lang="en-US" dirty="0"/>
              <a:t> </a:t>
            </a:r>
            <a:r>
              <a:rPr lang="en-US" dirty="0" err="1"/>
              <a:t>Tulp</a:t>
            </a:r>
            <a:r>
              <a:rPr lang="en-US" dirty="0"/>
              <a:t> in 1652.</a:t>
            </a:r>
          </a:p>
        </p:txBody>
      </p:sp>
    </p:spTree>
    <p:extLst>
      <p:ext uri="{BB962C8B-B14F-4D97-AF65-F5344CB8AC3E}">
        <p14:creationId xmlns:p14="http://schemas.microsoft.com/office/powerpoint/2010/main" val="1879776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005BA0-7B71-9B40-8581-C77198C0A85D}"/>
              </a:ext>
            </a:extLst>
          </p:cNvPr>
          <p:cNvPicPr>
            <a:picLocks noChangeAspect="1"/>
          </p:cNvPicPr>
          <p:nvPr/>
        </p:nvPicPr>
        <p:blipFill rotWithShape="1">
          <a:blip r:embed="rId2"/>
          <a:srcRect l="29749" r="20216"/>
          <a:stretch/>
        </p:blipFill>
        <p:spPr>
          <a:xfrm>
            <a:off x="8878467" y="0"/>
            <a:ext cx="3313533"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B5E3EA5E-8C12-CA45-90D7-1B980C5EECE2}"/>
              </a:ext>
            </a:extLst>
          </p:cNvPr>
          <p:cNvPicPr>
            <a:picLocks noChangeAspect="1"/>
          </p:cNvPicPr>
          <p:nvPr/>
        </p:nvPicPr>
        <p:blipFill>
          <a:blip r:embed="rId3"/>
          <a:stretch>
            <a:fillRect/>
          </a:stretch>
        </p:blipFill>
        <p:spPr>
          <a:xfrm>
            <a:off x="4652319" y="0"/>
            <a:ext cx="4226148"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D128B907-5986-3040-947E-0ADF70F0344C}"/>
              </a:ext>
            </a:extLst>
          </p:cNvPr>
          <p:cNvPicPr>
            <a:picLocks noChangeAspect="1"/>
          </p:cNvPicPr>
          <p:nvPr/>
        </p:nvPicPr>
        <p:blipFill>
          <a:blip r:embed="rId4"/>
          <a:stretch>
            <a:fillRect/>
          </a:stretch>
        </p:blipFill>
        <p:spPr>
          <a:xfrm>
            <a:off x="0" y="0"/>
            <a:ext cx="4652319"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1418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dirty="0"/>
              <a:t>Pathophysiology of Acute Pancreatitis</a:t>
            </a:r>
          </a:p>
        </p:txBody>
      </p:sp>
      <p:sp>
        <p:nvSpPr>
          <p:cNvPr id="5" name="Text Placeholder 4">
            <a:extLst>
              <a:ext uri="{FF2B5EF4-FFF2-40B4-BE49-F238E27FC236}">
                <a16:creationId xmlns:a16="http://schemas.microsoft.com/office/drawing/2014/main" id="{3F8B4597-F7CF-944C-B77B-EBFFC04C94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76347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34BF155-182B-DA43-91EB-C3600248EED2}"/>
              </a:ext>
            </a:extLst>
          </p:cNvPr>
          <p:cNvPicPr>
            <a:picLocks noGrp="1" noChangeAspect="1"/>
          </p:cNvPicPr>
          <p:nvPr>
            <p:ph idx="1"/>
          </p:nvPr>
        </p:nvPicPr>
        <p:blipFill rotWithShape="1">
          <a:blip r:embed="rId2"/>
          <a:srcRect l="26490" t="10749" r="8907" b="52000"/>
          <a:stretch/>
        </p:blipFill>
        <p:spPr>
          <a:xfrm>
            <a:off x="1963783" y="711199"/>
            <a:ext cx="8264434" cy="6101715"/>
          </a:xfrm>
        </p:spPr>
      </p:pic>
      <p:sp>
        <p:nvSpPr>
          <p:cNvPr id="7" name="Rectangle 6">
            <a:extLst>
              <a:ext uri="{FF2B5EF4-FFF2-40B4-BE49-F238E27FC236}">
                <a16:creationId xmlns:a16="http://schemas.microsoft.com/office/drawing/2014/main" id="{AAB765BD-6B9F-3A48-8248-F7BAC98A88A7}"/>
              </a:ext>
            </a:extLst>
          </p:cNvPr>
          <p:cNvSpPr/>
          <p:nvPr/>
        </p:nvSpPr>
        <p:spPr>
          <a:xfrm>
            <a:off x="10228217" y="5657671"/>
            <a:ext cx="1963783" cy="1200329"/>
          </a:xfrm>
          <a:prstGeom prst="rect">
            <a:avLst/>
          </a:prstGeom>
        </p:spPr>
        <p:txBody>
          <a:bodyPr wrap="square">
            <a:spAutoFit/>
          </a:bodyPr>
          <a:lstStyle/>
          <a:p>
            <a:r>
              <a:rPr lang="en-US" i="1" dirty="0">
                <a:solidFill>
                  <a:srgbClr val="222222"/>
                </a:solidFill>
                <a:latin typeface="Quadraat" panose="02000503060000090004" pitchFamily="2" charset="0"/>
              </a:rPr>
              <a:t>Nature Reviews Cancer; </a:t>
            </a:r>
            <a:r>
              <a:rPr lang="en-US" b="1" dirty="0">
                <a:solidFill>
                  <a:srgbClr val="222222"/>
                </a:solidFill>
                <a:latin typeface="Quadraat" panose="02000503060000090004" pitchFamily="2" charset="0"/>
              </a:rPr>
              <a:t>volume 2</a:t>
            </a:r>
            <a:r>
              <a:rPr lang="en-US" dirty="0">
                <a:solidFill>
                  <a:srgbClr val="222222"/>
                </a:solidFill>
                <a:latin typeface="Quadraat" panose="02000503060000090004" pitchFamily="2" charset="0"/>
              </a:rPr>
              <a:t>, pages897–909 (2002) </a:t>
            </a:r>
            <a:endParaRPr lang="en-US" dirty="0">
              <a:latin typeface="Quadraat" panose="02000503060000090004" pitchFamily="2" charset="0"/>
            </a:endParaRPr>
          </a:p>
        </p:txBody>
      </p:sp>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a:xfrm>
            <a:off x="0" y="45085"/>
            <a:ext cx="12192000" cy="1438275"/>
          </a:xfrm>
        </p:spPr>
        <p:txBody>
          <a:bodyPr>
            <a:normAutofit/>
          </a:bodyPr>
          <a:lstStyle/>
          <a:p>
            <a:r>
              <a:rPr lang="en-US" dirty="0"/>
              <a:t>Anatomy of the Pancreas</a:t>
            </a:r>
            <a:br>
              <a:rPr lang="en-US" dirty="0"/>
            </a:br>
            <a:endParaRPr lang="en-US" dirty="0"/>
          </a:p>
        </p:txBody>
      </p:sp>
    </p:spTree>
    <p:extLst>
      <p:ext uri="{BB962C8B-B14F-4D97-AF65-F5344CB8AC3E}">
        <p14:creationId xmlns:p14="http://schemas.microsoft.com/office/powerpoint/2010/main" val="3083845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a:xfrm>
            <a:off x="0" y="45085"/>
            <a:ext cx="12192000" cy="1438275"/>
          </a:xfrm>
        </p:spPr>
        <p:txBody>
          <a:bodyPr>
            <a:normAutofit/>
          </a:bodyPr>
          <a:lstStyle/>
          <a:p>
            <a:r>
              <a:rPr lang="en-US" dirty="0"/>
              <a:t>A Paradigm Shift</a:t>
            </a:r>
          </a:p>
        </p:txBody>
      </p:sp>
      <p:pic>
        <p:nvPicPr>
          <p:cNvPr id="5" name="Content Placeholder 4">
            <a:extLst>
              <a:ext uri="{FF2B5EF4-FFF2-40B4-BE49-F238E27FC236}">
                <a16:creationId xmlns:a16="http://schemas.microsoft.com/office/drawing/2014/main" id="{451723DA-A3F5-B345-93F3-82111E1441E3}"/>
              </a:ext>
            </a:extLst>
          </p:cNvPr>
          <p:cNvPicPr>
            <a:picLocks noGrp="1" noChangeAspect="1"/>
          </p:cNvPicPr>
          <p:nvPr>
            <p:ph idx="1"/>
          </p:nvPr>
        </p:nvPicPr>
        <p:blipFill>
          <a:blip r:embed="rId2"/>
          <a:stretch>
            <a:fillRect/>
          </a:stretch>
        </p:blipFill>
        <p:spPr>
          <a:xfrm>
            <a:off x="3818523" y="1483360"/>
            <a:ext cx="4554954" cy="5233353"/>
          </a:xfrm>
          <a:prstGeom prst="rect">
            <a:avLst/>
          </a:prstGeom>
        </p:spPr>
      </p:pic>
    </p:spTree>
    <p:extLst>
      <p:ext uri="{BB962C8B-B14F-4D97-AF65-F5344CB8AC3E}">
        <p14:creationId xmlns:p14="http://schemas.microsoft.com/office/powerpoint/2010/main" val="4294855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02DBFDE-E056-1544-8020-0B0F59D5F695}"/>
              </a:ext>
            </a:extLst>
          </p:cNvPr>
          <p:cNvSpPr>
            <a:spLocks noGrp="1"/>
          </p:cNvSpPr>
          <p:nvPr>
            <p:ph type="title"/>
          </p:nvPr>
        </p:nvSpPr>
        <p:spPr/>
        <p:txBody>
          <a:bodyPr/>
          <a:lstStyle/>
          <a:p>
            <a:r>
              <a:rPr lang="en-US" dirty="0"/>
              <a:t>The Immune Response</a:t>
            </a:r>
          </a:p>
        </p:txBody>
      </p:sp>
      <p:pic>
        <p:nvPicPr>
          <p:cNvPr id="10" name="Content Placeholder 9">
            <a:extLst>
              <a:ext uri="{FF2B5EF4-FFF2-40B4-BE49-F238E27FC236}">
                <a16:creationId xmlns:a16="http://schemas.microsoft.com/office/drawing/2014/main" id="{C9B61AAD-C5D5-BE48-8892-38B560F67A6D}"/>
              </a:ext>
            </a:extLst>
          </p:cNvPr>
          <p:cNvPicPr>
            <a:picLocks noGrp="1" noChangeAspect="1"/>
          </p:cNvPicPr>
          <p:nvPr>
            <p:ph idx="1"/>
          </p:nvPr>
        </p:nvPicPr>
        <p:blipFill>
          <a:blip r:embed="rId2"/>
          <a:stretch>
            <a:fillRect/>
          </a:stretch>
        </p:blipFill>
        <p:spPr>
          <a:xfrm>
            <a:off x="667073" y="1049766"/>
            <a:ext cx="9803978" cy="5763149"/>
          </a:xfrm>
          <a:prstGeom prst="rect">
            <a:avLst/>
          </a:prstGeom>
        </p:spPr>
      </p:pic>
      <p:sp>
        <p:nvSpPr>
          <p:cNvPr id="11" name="Rectangle 10">
            <a:extLst>
              <a:ext uri="{FF2B5EF4-FFF2-40B4-BE49-F238E27FC236}">
                <a16:creationId xmlns:a16="http://schemas.microsoft.com/office/drawing/2014/main" id="{65BF557F-E93A-FF41-AC03-19ED92BC1B4D}"/>
              </a:ext>
            </a:extLst>
          </p:cNvPr>
          <p:cNvSpPr/>
          <p:nvPr/>
        </p:nvSpPr>
        <p:spPr>
          <a:xfrm>
            <a:off x="8750104" y="6211669"/>
            <a:ext cx="3441895" cy="646331"/>
          </a:xfrm>
          <a:prstGeom prst="rect">
            <a:avLst/>
          </a:prstGeom>
        </p:spPr>
        <p:txBody>
          <a:bodyPr wrap="square">
            <a:spAutoFit/>
          </a:bodyPr>
          <a:lstStyle/>
          <a:p>
            <a:r>
              <a:rPr lang="en-US" sz="1200" dirty="0">
                <a:solidFill>
                  <a:srgbClr val="000000"/>
                </a:solidFill>
                <a:latin typeface="Quadraat" panose="02000503060000090004" pitchFamily="2" charset="0"/>
              </a:rPr>
              <a:t>Lee, P. and </a:t>
            </a:r>
            <a:r>
              <a:rPr lang="en-US" sz="1200" dirty="0" err="1">
                <a:solidFill>
                  <a:srgbClr val="000000"/>
                </a:solidFill>
                <a:latin typeface="Quadraat" panose="02000503060000090004" pitchFamily="2" charset="0"/>
              </a:rPr>
              <a:t>Papachristou</a:t>
            </a:r>
            <a:r>
              <a:rPr lang="en-US" sz="1200" dirty="0">
                <a:solidFill>
                  <a:srgbClr val="000000"/>
                </a:solidFill>
                <a:latin typeface="Quadraat" panose="02000503060000090004" pitchFamily="2" charset="0"/>
              </a:rPr>
              <a:t>, G. (2019). New insights into acute pancreatitis. </a:t>
            </a:r>
            <a:r>
              <a:rPr lang="en-US" sz="1200" i="1" dirty="0">
                <a:solidFill>
                  <a:srgbClr val="000000"/>
                </a:solidFill>
                <a:latin typeface="Quadraat" panose="02000503060000090004" pitchFamily="2" charset="0"/>
              </a:rPr>
              <a:t>Nature Reviews Gastroenterology &amp; Hepatology</a:t>
            </a:r>
            <a:r>
              <a:rPr lang="en-US" sz="1200" dirty="0">
                <a:solidFill>
                  <a:srgbClr val="000000"/>
                </a:solidFill>
                <a:latin typeface="Quadraat" panose="02000503060000090004" pitchFamily="2" charset="0"/>
              </a:rPr>
              <a:t>, 16(8), pp.479-496.</a:t>
            </a:r>
            <a:endParaRPr lang="en-US" sz="1200" dirty="0">
              <a:latin typeface="Quadraat" panose="02000503060000090004" pitchFamily="2" charset="0"/>
            </a:endParaRPr>
          </a:p>
        </p:txBody>
      </p:sp>
    </p:spTree>
    <p:extLst>
      <p:ext uri="{BB962C8B-B14F-4D97-AF65-F5344CB8AC3E}">
        <p14:creationId xmlns:p14="http://schemas.microsoft.com/office/powerpoint/2010/main" val="2909116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BABDBF-B3CE-0D46-88AD-C7EA5C93788C}"/>
              </a:ext>
            </a:extLst>
          </p:cNvPr>
          <p:cNvPicPr>
            <a:picLocks noChangeAspect="1"/>
          </p:cNvPicPr>
          <p:nvPr/>
        </p:nvPicPr>
        <p:blipFill>
          <a:blip r:embed="rId2"/>
          <a:stretch>
            <a:fillRect/>
          </a:stretch>
        </p:blipFill>
        <p:spPr>
          <a:xfrm>
            <a:off x="1840992" y="136883"/>
            <a:ext cx="8510016" cy="6584234"/>
          </a:xfrm>
          <a:prstGeom prst="rect">
            <a:avLst/>
          </a:prstGeom>
        </p:spPr>
      </p:pic>
      <p:sp>
        <p:nvSpPr>
          <p:cNvPr id="8" name="Rectangle 7">
            <a:extLst>
              <a:ext uri="{FF2B5EF4-FFF2-40B4-BE49-F238E27FC236}">
                <a16:creationId xmlns:a16="http://schemas.microsoft.com/office/drawing/2014/main" id="{0E3955B0-9477-7742-BE92-ECEAC2137428}"/>
              </a:ext>
            </a:extLst>
          </p:cNvPr>
          <p:cNvSpPr/>
          <p:nvPr/>
        </p:nvSpPr>
        <p:spPr>
          <a:xfrm>
            <a:off x="9298745" y="6027003"/>
            <a:ext cx="2893255" cy="830997"/>
          </a:xfrm>
          <a:prstGeom prst="rect">
            <a:avLst/>
          </a:prstGeom>
        </p:spPr>
        <p:txBody>
          <a:bodyPr wrap="square">
            <a:spAutoFit/>
          </a:bodyPr>
          <a:lstStyle/>
          <a:p>
            <a:r>
              <a:rPr lang="en-US" sz="1200" dirty="0">
                <a:solidFill>
                  <a:srgbClr val="000000"/>
                </a:solidFill>
                <a:latin typeface="Quadraat" panose="02000503060000090004" pitchFamily="2" charset="0"/>
              </a:rPr>
              <a:t>Robbins, S., </a:t>
            </a:r>
            <a:r>
              <a:rPr lang="en-US" sz="1200" dirty="0" err="1">
                <a:solidFill>
                  <a:srgbClr val="000000"/>
                </a:solidFill>
                <a:latin typeface="Quadraat" panose="02000503060000090004" pitchFamily="2" charset="0"/>
              </a:rPr>
              <a:t>Cotran</a:t>
            </a:r>
            <a:r>
              <a:rPr lang="en-US" sz="1200" dirty="0">
                <a:solidFill>
                  <a:srgbClr val="000000"/>
                </a:solidFill>
                <a:latin typeface="Quadraat" panose="02000503060000090004" pitchFamily="2" charset="0"/>
              </a:rPr>
              <a:t>, R., Kumar, V., Abbas, A. and Aster, J. (2015). </a:t>
            </a:r>
            <a:r>
              <a:rPr lang="en-US" sz="1200" i="1" dirty="0">
                <a:solidFill>
                  <a:srgbClr val="000000"/>
                </a:solidFill>
                <a:latin typeface="Quadraat" panose="02000503060000090004" pitchFamily="2" charset="0"/>
              </a:rPr>
              <a:t>Pathologic basis of disease</a:t>
            </a:r>
            <a:r>
              <a:rPr lang="en-US" sz="1200" dirty="0">
                <a:solidFill>
                  <a:srgbClr val="000000"/>
                </a:solidFill>
                <a:latin typeface="Quadraat" panose="02000503060000090004" pitchFamily="2" charset="0"/>
              </a:rPr>
              <a:t>. Philadelphia, PA: Saunders Elsevier.</a:t>
            </a:r>
            <a:endParaRPr lang="en-US" sz="1200" dirty="0">
              <a:latin typeface="Quadraat" panose="02000503060000090004" pitchFamily="2" charset="0"/>
            </a:endParaRPr>
          </a:p>
        </p:txBody>
      </p:sp>
    </p:spTree>
    <p:extLst>
      <p:ext uri="{BB962C8B-B14F-4D97-AF65-F5344CB8AC3E}">
        <p14:creationId xmlns:p14="http://schemas.microsoft.com/office/powerpoint/2010/main" val="957609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D2006-4550-AE42-9660-A19AC70F3879}"/>
              </a:ext>
            </a:extLst>
          </p:cNvPr>
          <p:cNvSpPr>
            <a:spLocks noGrp="1"/>
          </p:cNvSpPr>
          <p:nvPr>
            <p:ph type="title"/>
          </p:nvPr>
        </p:nvSpPr>
        <p:spPr/>
        <p:txBody>
          <a:bodyPr/>
          <a:lstStyle/>
          <a:p>
            <a:r>
              <a:rPr lang="en-US" dirty="0"/>
              <a:t>Diagnosis</a:t>
            </a:r>
          </a:p>
        </p:txBody>
      </p:sp>
      <p:sp>
        <p:nvSpPr>
          <p:cNvPr id="3" name="Text Placeholder 2">
            <a:extLst>
              <a:ext uri="{FF2B5EF4-FFF2-40B4-BE49-F238E27FC236}">
                <a16:creationId xmlns:a16="http://schemas.microsoft.com/office/drawing/2014/main" id="{396D08AE-CE53-DE4A-9FE2-BE753488B99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51662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dirty="0"/>
              <a:t>Diagnosis</a:t>
            </a:r>
          </a:p>
        </p:txBody>
      </p:sp>
      <p:sp>
        <p:nvSpPr>
          <p:cNvPr id="2" name="Content Placeholder 1">
            <a:extLst>
              <a:ext uri="{FF2B5EF4-FFF2-40B4-BE49-F238E27FC236}">
                <a16:creationId xmlns:a16="http://schemas.microsoft.com/office/drawing/2014/main" id="{147A9AB1-8CFF-CB47-9CA8-35F660B8B35E}"/>
              </a:ext>
            </a:extLst>
          </p:cNvPr>
          <p:cNvSpPr>
            <a:spLocks noGrp="1"/>
          </p:cNvSpPr>
          <p:nvPr>
            <p:ph idx="1"/>
          </p:nvPr>
        </p:nvSpPr>
        <p:spPr/>
        <p:txBody>
          <a:bodyPr/>
          <a:lstStyle/>
          <a:p>
            <a:pPr marL="0" indent="0" algn="ctr">
              <a:buNone/>
            </a:pPr>
            <a:r>
              <a:rPr lang="en-US" b="1" dirty="0"/>
              <a:t>Two out of three criteria</a:t>
            </a:r>
          </a:p>
          <a:p>
            <a:pPr marL="0" indent="0" algn="ctr">
              <a:buNone/>
            </a:pPr>
            <a:endParaRPr lang="en-US" dirty="0"/>
          </a:p>
          <a:p>
            <a:pPr marL="0" indent="0" algn="ctr">
              <a:buNone/>
            </a:pPr>
            <a:endParaRPr lang="en-US" dirty="0"/>
          </a:p>
          <a:p>
            <a:pPr marL="514350" indent="-514350">
              <a:buFont typeface="+mj-lt"/>
              <a:buAutoNum type="arabicPeriod"/>
            </a:pPr>
            <a:r>
              <a:rPr lang="en-US" dirty="0"/>
              <a:t>Typical history and physical exam</a:t>
            </a:r>
          </a:p>
          <a:p>
            <a:pPr marL="514350" indent="-514350">
              <a:buFont typeface="+mj-lt"/>
              <a:buAutoNum type="arabicPeriod"/>
            </a:pPr>
            <a:r>
              <a:rPr lang="en-US" dirty="0"/>
              <a:t>Amylase and/or lipase elevation (3 times ULN)</a:t>
            </a:r>
          </a:p>
          <a:p>
            <a:pPr marL="514350" indent="-514350">
              <a:buFont typeface="+mj-lt"/>
              <a:buAutoNum type="arabicPeriod"/>
            </a:pPr>
            <a:r>
              <a:rPr lang="en-US" dirty="0"/>
              <a:t>Imaging supporting inflammatory changes (CT, ultrasonography, etc.)</a:t>
            </a:r>
          </a:p>
        </p:txBody>
      </p:sp>
    </p:spTree>
    <p:extLst>
      <p:ext uri="{BB962C8B-B14F-4D97-AF65-F5344CB8AC3E}">
        <p14:creationId xmlns:p14="http://schemas.microsoft.com/office/powerpoint/2010/main" val="1877508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D2006-4550-AE42-9660-A19AC70F3879}"/>
              </a:ext>
            </a:extLst>
          </p:cNvPr>
          <p:cNvSpPr>
            <a:spLocks noGrp="1"/>
          </p:cNvSpPr>
          <p:nvPr>
            <p:ph type="title"/>
          </p:nvPr>
        </p:nvSpPr>
        <p:spPr/>
        <p:txBody>
          <a:bodyPr/>
          <a:lstStyle/>
          <a:p>
            <a:r>
              <a:rPr lang="en-US" dirty="0"/>
              <a:t>Etiologies of Acute Pancreatitis</a:t>
            </a:r>
          </a:p>
        </p:txBody>
      </p:sp>
      <p:sp>
        <p:nvSpPr>
          <p:cNvPr id="3" name="Text Placeholder 2">
            <a:extLst>
              <a:ext uri="{FF2B5EF4-FFF2-40B4-BE49-F238E27FC236}">
                <a16:creationId xmlns:a16="http://schemas.microsoft.com/office/drawing/2014/main" id="{396D08AE-CE53-DE4A-9FE2-BE753488B99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97042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A575897-D166-864C-89D8-4C1ABA2231AF}"/>
              </a:ext>
            </a:extLst>
          </p:cNvPr>
          <p:cNvPicPr>
            <a:picLocks noChangeAspect="1"/>
          </p:cNvPicPr>
          <p:nvPr/>
        </p:nvPicPr>
        <p:blipFill>
          <a:blip r:embed="rId2"/>
          <a:stretch>
            <a:fillRect/>
          </a:stretch>
        </p:blipFill>
        <p:spPr>
          <a:xfrm>
            <a:off x="1182741" y="642367"/>
            <a:ext cx="9826518" cy="5969380"/>
          </a:xfrm>
          <a:prstGeom prst="rect">
            <a:avLst/>
          </a:prstGeom>
        </p:spPr>
      </p:pic>
      <p:sp>
        <p:nvSpPr>
          <p:cNvPr id="2" name="Title 1">
            <a:extLst>
              <a:ext uri="{FF2B5EF4-FFF2-40B4-BE49-F238E27FC236}">
                <a16:creationId xmlns:a16="http://schemas.microsoft.com/office/drawing/2014/main" id="{1A9F11ED-1F99-5A41-BA8F-A14E1660AAE2}"/>
              </a:ext>
            </a:extLst>
          </p:cNvPr>
          <p:cNvSpPr>
            <a:spLocks noGrp="1"/>
          </p:cNvSpPr>
          <p:nvPr>
            <p:ph type="title"/>
          </p:nvPr>
        </p:nvSpPr>
        <p:spPr/>
        <p:txBody>
          <a:bodyPr/>
          <a:lstStyle/>
          <a:p>
            <a:r>
              <a:rPr lang="en-US" dirty="0"/>
              <a:t>Etiologies of Acute Pancreatitis</a:t>
            </a:r>
          </a:p>
        </p:txBody>
      </p:sp>
      <p:sp>
        <p:nvSpPr>
          <p:cNvPr id="9" name="Rectangle 8">
            <a:extLst>
              <a:ext uri="{FF2B5EF4-FFF2-40B4-BE49-F238E27FC236}">
                <a16:creationId xmlns:a16="http://schemas.microsoft.com/office/drawing/2014/main" id="{C8AB5058-5FB5-B547-BB0C-F7CB970AB3CA}"/>
              </a:ext>
            </a:extLst>
          </p:cNvPr>
          <p:cNvSpPr/>
          <p:nvPr/>
        </p:nvSpPr>
        <p:spPr>
          <a:xfrm>
            <a:off x="7181088" y="6473247"/>
            <a:ext cx="5010912" cy="276999"/>
          </a:xfrm>
          <a:prstGeom prst="rect">
            <a:avLst/>
          </a:prstGeom>
        </p:spPr>
        <p:txBody>
          <a:bodyPr wrap="square">
            <a:spAutoFit/>
          </a:bodyPr>
          <a:lstStyle/>
          <a:p>
            <a:pPr algn="r"/>
            <a:r>
              <a:rPr lang="en-US" sz="1200" i="1" dirty="0">
                <a:solidFill>
                  <a:srgbClr val="000000"/>
                </a:solidFill>
                <a:latin typeface="Quadraat" panose="02000503060000090004" pitchFamily="2" charset="0"/>
              </a:rPr>
              <a:t>Díaz et al. (2015) </a:t>
            </a:r>
            <a:r>
              <a:rPr lang="en-US" sz="1200" i="1" dirty="0" err="1">
                <a:solidFill>
                  <a:srgbClr val="000000"/>
                </a:solidFill>
                <a:latin typeface="Quadraat" panose="02000503060000090004" pitchFamily="2" charset="0"/>
              </a:rPr>
              <a:t>Revista</a:t>
            </a:r>
            <a:r>
              <a:rPr lang="en-US" sz="1200" i="1" dirty="0">
                <a:solidFill>
                  <a:srgbClr val="000000"/>
                </a:solidFill>
                <a:latin typeface="Quadraat" panose="02000503060000090004" pitchFamily="2" charset="0"/>
              </a:rPr>
              <a:t> </a:t>
            </a:r>
            <a:r>
              <a:rPr lang="en-US" sz="1200" i="1" dirty="0" err="1">
                <a:solidFill>
                  <a:srgbClr val="000000"/>
                </a:solidFill>
                <a:latin typeface="Quadraat" panose="02000503060000090004" pitchFamily="2" charset="0"/>
              </a:rPr>
              <a:t>Colombiana</a:t>
            </a:r>
            <a:r>
              <a:rPr lang="en-US" sz="1200" i="1" dirty="0">
                <a:solidFill>
                  <a:srgbClr val="000000"/>
                </a:solidFill>
                <a:latin typeface="Quadraat" panose="02000503060000090004" pitchFamily="2" charset="0"/>
              </a:rPr>
              <a:t> de </a:t>
            </a:r>
            <a:r>
              <a:rPr lang="en-US" sz="1200" i="1" dirty="0" err="1">
                <a:solidFill>
                  <a:srgbClr val="000000"/>
                </a:solidFill>
                <a:latin typeface="Quadraat" panose="02000503060000090004" pitchFamily="2" charset="0"/>
              </a:rPr>
              <a:t>Gastroenterologia</a:t>
            </a:r>
            <a:r>
              <a:rPr lang="en-US" sz="1200" i="1" dirty="0">
                <a:solidFill>
                  <a:srgbClr val="000000"/>
                </a:solidFill>
                <a:latin typeface="Quadraat" panose="02000503060000090004" pitchFamily="2" charset="0"/>
              </a:rPr>
              <a:t>, 30(4), 479-484.</a:t>
            </a:r>
            <a:endParaRPr lang="en-US" sz="1200" i="1" dirty="0">
              <a:latin typeface="Quadraat" panose="02000503060000090004" pitchFamily="2" charset="0"/>
            </a:endParaRPr>
          </a:p>
        </p:txBody>
      </p:sp>
    </p:spTree>
    <p:extLst>
      <p:ext uri="{BB962C8B-B14F-4D97-AF65-F5344CB8AC3E}">
        <p14:creationId xmlns:p14="http://schemas.microsoft.com/office/powerpoint/2010/main" val="1830565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dirty="0"/>
              <a:t>Management of Acute Pancreatitis</a:t>
            </a:r>
          </a:p>
        </p:txBody>
      </p:sp>
      <p:sp>
        <p:nvSpPr>
          <p:cNvPr id="5" name="Text Placeholder 4">
            <a:extLst>
              <a:ext uri="{FF2B5EF4-FFF2-40B4-BE49-F238E27FC236}">
                <a16:creationId xmlns:a16="http://schemas.microsoft.com/office/drawing/2014/main" id="{3F8B4597-F7CF-944C-B77B-EBFFC04C94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24197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Summary of Management</a:t>
            </a:r>
          </a:p>
        </p:txBody>
      </p:sp>
      <p:sp>
        <p:nvSpPr>
          <p:cNvPr id="2" name="Content Placeholder 1">
            <a:extLst>
              <a:ext uri="{FF2B5EF4-FFF2-40B4-BE49-F238E27FC236}">
                <a16:creationId xmlns:a16="http://schemas.microsoft.com/office/drawing/2014/main" id="{46070B6A-B0D9-7842-A6F0-E4DBE2D27938}"/>
              </a:ext>
            </a:extLst>
          </p:cNvPr>
          <p:cNvSpPr>
            <a:spLocks noGrp="1"/>
          </p:cNvSpPr>
          <p:nvPr>
            <p:ph idx="1"/>
          </p:nvPr>
        </p:nvSpPr>
        <p:spPr/>
        <p:txBody>
          <a:bodyPr/>
          <a:lstStyle/>
          <a:p>
            <a:r>
              <a:rPr lang="en-US" dirty="0"/>
              <a:t>Severity assessment</a:t>
            </a:r>
          </a:p>
          <a:p>
            <a:r>
              <a:rPr lang="en-US" dirty="0"/>
              <a:t>Fluid resuscitation</a:t>
            </a:r>
          </a:p>
          <a:p>
            <a:r>
              <a:rPr lang="en-US" dirty="0"/>
              <a:t>Pain control</a:t>
            </a:r>
          </a:p>
          <a:p>
            <a:r>
              <a:rPr lang="en-US" dirty="0"/>
              <a:t>Nutritional support</a:t>
            </a:r>
          </a:p>
          <a:p>
            <a:r>
              <a:rPr lang="en-US" dirty="0"/>
              <a:t>Antibiotics</a:t>
            </a:r>
          </a:p>
          <a:p>
            <a:r>
              <a:rPr lang="en-US" dirty="0"/>
              <a:t>Specific management in different etiologies</a:t>
            </a:r>
          </a:p>
          <a:p>
            <a:r>
              <a:rPr lang="en-US" dirty="0"/>
              <a:t>Complications and their management</a:t>
            </a:r>
          </a:p>
        </p:txBody>
      </p:sp>
    </p:spTree>
    <p:extLst>
      <p:ext uri="{BB962C8B-B14F-4D97-AF65-F5344CB8AC3E}">
        <p14:creationId xmlns:p14="http://schemas.microsoft.com/office/powerpoint/2010/main" val="2469512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CD5323-772C-EB44-97E0-69A47B2037A0}"/>
              </a:ext>
            </a:extLst>
          </p:cNvPr>
          <p:cNvSpPr>
            <a:spLocks noGrp="1"/>
          </p:cNvSpPr>
          <p:nvPr>
            <p:ph type="title"/>
          </p:nvPr>
        </p:nvSpPr>
        <p:spPr>
          <a:xfrm>
            <a:off x="838200" y="45085"/>
            <a:ext cx="10515600" cy="2487100"/>
          </a:xfrm>
        </p:spPr>
        <p:txBody>
          <a:bodyPr>
            <a:normAutofit/>
          </a:bodyPr>
          <a:lstStyle/>
          <a:p>
            <a:r>
              <a:rPr lang="en-US" dirty="0"/>
              <a:t>Which of the following is the most reliable lab in predicting the severity/mortality in acute pancreatitis?</a:t>
            </a:r>
          </a:p>
        </p:txBody>
      </p:sp>
      <p:sp>
        <p:nvSpPr>
          <p:cNvPr id="5" name="Content Placeholder 4">
            <a:extLst>
              <a:ext uri="{FF2B5EF4-FFF2-40B4-BE49-F238E27FC236}">
                <a16:creationId xmlns:a16="http://schemas.microsoft.com/office/drawing/2014/main" id="{E7219899-2CB2-FA46-9D4D-2FE1752E95FF}"/>
              </a:ext>
            </a:extLst>
          </p:cNvPr>
          <p:cNvSpPr>
            <a:spLocks noGrp="1"/>
          </p:cNvSpPr>
          <p:nvPr>
            <p:ph idx="1"/>
          </p:nvPr>
        </p:nvSpPr>
        <p:spPr>
          <a:xfrm>
            <a:off x="838200" y="2532185"/>
            <a:ext cx="10515600" cy="3644778"/>
          </a:xfrm>
        </p:spPr>
        <p:txBody>
          <a:bodyPr/>
          <a:lstStyle/>
          <a:p>
            <a:pPr marL="514350" indent="-514350">
              <a:buAutoNum type="alphaUcParenR"/>
            </a:pPr>
            <a:r>
              <a:rPr lang="en-US" dirty="0"/>
              <a:t>Hematocrit</a:t>
            </a:r>
          </a:p>
          <a:p>
            <a:pPr marL="514350" indent="-514350">
              <a:buAutoNum type="alphaUcParenR"/>
            </a:pPr>
            <a:r>
              <a:rPr lang="en-US" dirty="0"/>
              <a:t>Blood urea nitrogen</a:t>
            </a:r>
          </a:p>
          <a:p>
            <a:pPr marL="514350" indent="-514350">
              <a:buAutoNum type="alphaUcParenR"/>
            </a:pPr>
            <a:r>
              <a:rPr lang="en-US" dirty="0"/>
              <a:t>Serum creatinine</a:t>
            </a:r>
          </a:p>
          <a:p>
            <a:pPr marL="514350" indent="-514350">
              <a:buAutoNum type="alphaUcParenR"/>
            </a:pPr>
            <a:r>
              <a:rPr lang="en-US" dirty="0"/>
              <a:t>Lipase levels</a:t>
            </a:r>
          </a:p>
          <a:p>
            <a:pPr marL="514350" indent="-514350">
              <a:buAutoNum type="alphaUcParenR"/>
            </a:pPr>
            <a:r>
              <a:rPr lang="en-US" dirty="0"/>
              <a:t>C-reactive protein</a:t>
            </a:r>
          </a:p>
        </p:txBody>
      </p:sp>
    </p:spTree>
    <p:extLst>
      <p:ext uri="{BB962C8B-B14F-4D97-AF65-F5344CB8AC3E}">
        <p14:creationId xmlns:p14="http://schemas.microsoft.com/office/powerpoint/2010/main" val="4041364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CD5323-772C-EB44-97E0-69A47B2037A0}"/>
              </a:ext>
            </a:extLst>
          </p:cNvPr>
          <p:cNvSpPr>
            <a:spLocks noGrp="1"/>
          </p:cNvSpPr>
          <p:nvPr>
            <p:ph type="title"/>
          </p:nvPr>
        </p:nvSpPr>
        <p:spPr>
          <a:xfrm>
            <a:off x="838200" y="45085"/>
            <a:ext cx="10515600" cy="2487100"/>
          </a:xfrm>
        </p:spPr>
        <p:txBody>
          <a:bodyPr>
            <a:normAutofit/>
          </a:bodyPr>
          <a:lstStyle/>
          <a:p>
            <a:r>
              <a:rPr lang="en-US" dirty="0"/>
              <a:t>Which of the following is the most reliable lab in predicting the severity/mortality in acute pancreatitis?</a:t>
            </a:r>
          </a:p>
        </p:txBody>
      </p:sp>
      <p:sp>
        <p:nvSpPr>
          <p:cNvPr id="5" name="Content Placeholder 4">
            <a:extLst>
              <a:ext uri="{FF2B5EF4-FFF2-40B4-BE49-F238E27FC236}">
                <a16:creationId xmlns:a16="http://schemas.microsoft.com/office/drawing/2014/main" id="{E7219899-2CB2-FA46-9D4D-2FE1752E95FF}"/>
              </a:ext>
            </a:extLst>
          </p:cNvPr>
          <p:cNvSpPr>
            <a:spLocks noGrp="1"/>
          </p:cNvSpPr>
          <p:nvPr>
            <p:ph idx="1"/>
          </p:nvPr>
        </p:nvSpPr>
        <p:spPr>
          <a:xfrm>
            <a:off x="838200" y="2532185"/>
            <a:ext cx="10515600" cy="3644778"/>
          </a:xfrm>
        </p:spPr>
        <p:txBody>
          <a:bodyPr/>
          <a:lstStyle/>
          <a:p>
            <a:pPr marL="514350" indent="-514350">
              <a:buAutoNum type="alphaUcParenR"/>
            </a:pPr>
            <a:r>
              <a:rPr lang="en-US" dirty="0"/>
              <a:t>Hematocrit</a:t>
            </a:r>
          </a:p>
          <a:p>
            <a:pPr marL="514350" indent="-514350">
              <a:buAutoNum type="alphaUcParenR"/>
            </a:pPr>
            <a:r>
              <a:rPr lang="en-US" b="1" dirty="0">
                <a:highlight>
                  <a:srgbClr val="FFFF00"/>
                </a:highlight>
              </a:rPr>
              <a:t>Blood urea nitrogen</a:t>
            </a:r>
          </a:p>
          <a:p>
            <a:pPr marL="514350" indent="-514350">
              <a:buAutoNum type="alphaUcParenR"/>
            </a:pPr>
            <a:r>
              <a:rPr lang="en-US" dirty="0"/>
              <a:t>Serum creatinine</a:t>
            </a:r>
          </a:p>
          <a:p>
            <a:pPr marL="514350" indent="-514350">
              <a:buAutoNum type="alphaUcParenR"/>
            </a:pPr>
            <a:r>
              <a:rPr lang="en-US" dirty="0"/>
              <a:t>Lipase levels</a:t>
            </a:r>
          </a:p>
          <a:p>
            <a:pPr marL="514350" indent="-514350">
              <a:buAutoNum type="alphaUcParenR"/>
            </a:pPr>
            <a:r>
              <a:rPr lang="en-US" dirty="0"/>
              <a:t>C-reactive protein</a:t>
            </a:r>
          </a:p>
        </p:txBody>
      </p:sp>
    </p:spTree>
    <p:extLst>
      <p:ext uri="{BB962C8B-B14F-4D97-AF65-F5344CB8AC3E}">
        <p14:creationId xmlns:p14="http://schemas.microsoft.com/office/powerpoint/2010/main" val="1168290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ECF21E-BFEE-884F-875D-5CDAB9C11117}"/>
              </a:ext>
            </a:extLst>
          </p:cNvPr>
          <p:cNvPicPr>
            <a:picLocks noChangeAspect="1"/>
          </p:cNvPicPr>
          <p:nvPr/>
        </p:nvPicPr>
        <p:blipFill>
          <a:blip r:embed="rId3"/>
          <a:stretch>
            <a:fillRect/>
          </a:stretch>
        </p:blipFill>
        <p:spPr>
          <a:xfrm>
            <a:off x="793750" y="0"/>
            <a:ext cx="10604500" cy="1930400"/>
          </a:xfrm>
          <a:prstGeom prst="rect">
            <a:avLst/>
          </a:prstGeom>
        </p:spPr>
      </p:pic>
      <p:pic>
        <p:nvPicPr>
          <p:cNvPr id="7" name="Picture 6">
            <a:extLst>
              <a:ext uri="{FF2B5EF4-FFF2-40B4-BE49-F238E27FC236}">
                <a16:creationId xmlns:a16="http://schemas.microsoft.com/office/drawing/2014/main" id="{876584EA-B09A-9941-A55A-D35EF8A7C176}"/>
              </a:ext>
            </a:extLst>
          </p:cNvPr>
          <p:cNvPicPr>
            <a:picLocks noChangeAspect="1"/>
          </p:cNvPicPr>
          <p:nvPr/>
        </p:nvPicPr>
        <p:blipFill>
          <a:blip r:embed="rId4"/>
          <a:stretch>
            <a:fillRect/>
          </a:stretch>
        </p:blipFill>
        <p:spPr>
          <a:xfrm>
            <a:off x="6363287" y="2206428"/>
            <a:ext cx="5744235" cy="3881643"/>
          </a:xfrm>
          <a:prstGeom prst="rect">
            <a:avLst/>
          </a:prstGeom>
        </p:spPr>
      </p:pic>
      <p:pic>
        <p:nvPicPr>
          <p:cNvPr id="10" name="Picture 9">
            <a:extLst>
              <a:ext uri="{FF2B5EF4-FFF2-40B4-BE49-F238E27FC236}">
                <a16:creationId xmlns:a16="http://schemas.microsoft.com/office/drawing/2014/main" id="{630BFB3C-0BBE-0A40-B120-4A616E726200}"/>
              </a:ext>
            </a:extLst>
          </p:cNvPr>
          <p:cNvPicPr>
            <a:picLocks noChangeAspect="1"/>
          </p:cNvPicPr>
          <p:nvPr/>
        </p:nvPicPr>
        <p:blipFill>
          <a:blip r:embed="rId5"/>
          <a:stretch>
            <a:fillRect/>
          </a:stretch>
        </p:blipFill>
        <p:spPr>
          <a:xfrm>
            <a:off x="94373" y="2234565"/>
            <a:ext cx="6086035" cy="3881644"/>
          </a:xfrm>
          <a:prstGeom prst="rect">
            <a:avLst/>
          </a:prstGeom>
        </p:spPr>
      </p:pic>
      <p:sp>
        <p:nvSpPr>
          <p:cNvPr id="11" name="TextBox 10">
            <a:extLst>
              <a:ext uri="{FF2B5EF4-FFF2-40B4-BE49-F238E27FC236}">
                <a16:creationId xmlns:a16="http://schemas.microsoft.com/office/drawing/2014/main" id="{2A9A1126-CE9F-8243-ACD8-D0E10414DD4F}"/>
              </a:ext>
            </a:extLst>
          </p:cNvPr>
          <p:cNvSpPr txBox="1"/>
          <p:nvPr/>
        </p:nvSpPr>
        <p:spPr>
          <a:xfrm>
            <a:off x="3967090" y="2262700"/>
            <a:ext cx="1152880" cy="369332"/>
          </a:xfrm>
          <a:prstGeom prst="rect">
            <a:avLst/>
          </a:prstGeom>
          <a:noFill/>
        </p:spPr>
        <p:txBody>
          <a:bodyPr wrap="none" rtlCol="0">
            <a:spAutoFit/>
          </a:bodyPr>
          <a:lstStyle/>
          <a:p>
            <a:r>
              <a:rPr lang="en-US" dirty="0">
                <a:latin typeface="Quadraat" panose="02000503060000090004" pitchFamily="2" charset="0"/>
              </a:rPr>
              <a:t>n = 13,384</a:t>
            </a:r>
          </a:p>
        </p:txBody>
      </p:sp>
    </p:spTree>
    <p:extLst>
      <p:ext uri="{BB962C8B-B14F-4D97-AF65-F5344CB8AC3E}">
        <p14:creationId xmlns:p14="http://schemas.microsoft.com/office/powerpoint/2010/main" val="3591859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C32BEC-3CBB-B64E-8989-B90F8FA710C1}"/>
              </a:ext>
            </a:extLst>
          </p:cNvPr>
          <p:cNvSpPr>
            <a:spLocks noGrp="1"/>
          </p:cNvSpPr>
          <p:nvPr>
            <p:ph type="title"/>
          </p:nvPr>
        </p:nvSpPr>
        <p:spPr/>
        <p:txBody>
          <a:bodyPr/>
          <a:lstStyle/>
          <a:p>
            <a:r>
              <a:rPr lang="en-US" dirty="0"/>
              <a:t>Assessment of Severity</a:t>
            </a:r>
          </a:p>
        </p:txBody>
      </p:sp>
      <p:sp>
        <p:nvSpPr>
          <p:cNvPr id="5" name="Text Placeholder 4">
            <a:extLst>
              <a:ext uri="{FF2B5EF4-FFF2-40B4-BE49-F238E27FC236}">
                <a16:creationId xmlns:a16="http://schemas.microsoft.com/office/drawing/2014/main" id="{12BCC2AF-D20D-9848-9EC4-94BF2D06E5B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193390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Assessment of Severity</a:t>
            </a:r>
          </a:p>
        </p:txBody>
      </p:sp>
      <p:sp>
        <p:nvSpPr>
          <p:cNvPr id="8" name="Content Placeholder 7">
            <a:extLst>
              <a:ext uri="{FF2B5EF4-FFF2-40B4-BE49-F238E27FC236}">
                <a16:creationId xmlns:a16="http://schemas.microsoft.com/office/drawing/2014/main" id="{22DF45BC-B500-2540-91C2-583B54541C25}"/>
              </a:ext>
            </a:extLst>
          </p:cNvPr>
          <p:cNvSpPr>
            <a:spLocks noGrp="1"/>
          </p:cNvSpPr>
          <p:nvPr>
            <p:ph idx="1"/>
          </p:nvPr>
        </p:nvSpPr>
        <p:spPr/>
        <p:txBody>
          <a:bodyPr>
            <a:normAutofit/>
          </a:bodyPr>
          <a:lstStyle/>
          <a:p>
            <a:r>
              <a:rPr lang="en-US" sz="3600" dirty="0"/>
              <a:t>Multiple scoring systems have been developed trying to assess the severity of acute pancreatitis</a:t>
            </a:r>
          </a:p>
          <a:p>
            <a:r>
              <a:rPr lang="en-US" sz="3600" b="1" dirty="0"/>
              <a:t>None have been proven to be perfect</a:t>
            </a:r>
          </a:p>
        </p:txBody>
      </p:sp>
    </p:spTree>
    <p:extLst>
      <p:ext uri="{BB962C8B-B14F-4D97-AF65-F5344CB8AC3E}">
        <p14:creationId xmlns:p14="http://schemas.microsoft.com/office/powerpoint/2010/main" val="2337643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Assessment of Severity</a:t>
            </a:r>
          </a:p>
        </p:txBody>
      </p:sp>
    </p:spTree>
    <p:extLst>
      <p:ext uri="{BB962C8B-B14F-4D97-AF65-F5344CB8AC3E}">
        <p14:creationId xmlns:p14="http://schemas.microsoft.com/office/powerpoint/2010/main" val="2702027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Assessment of Severity</a:t>
            </a:r>
          </a:p>
        </p:txBody>
      </p:sp>
      <p:pic>
        <p:nvPicPr>
          <p:cNvPr id="6" name="Picture 5">
            <a:extLst>
              <a:ext uri="{FF2B5EF4-FFF2-40B4-BE49-F238E27FC236}">
                <a16:creationId xmlns:a16="http://schemas.microsoft.com/office/drawing/2014/main" id="{437637DA-FE1D-E346-B59B-91CC846CD77E}"/>
              </a:ext>
            </a:extLst>
          </p:cNvPr>
          <p:cNvPicPr>
            <a:picLocks noChangeAspect="1"/>
          </p:cNvPicPr>
          <p:nvPr/>
        </p:nvPicPr>
        <p:blipFill>
          <a:blip r:embed="rId2"/>
          <a:stretch>
            <a:fillRect/>
          </a:stretch>
        </p:blipFill>
        <p:spPr>
          <a:xfrm>
            <a:off x="3338344" y="1097280"/>
            <a:ext cx="5515312" cy="54342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itle 3">
            <a:extLst>
              <a:ext uri="{FF2B5EF4-FFF2-40B4-BE49-F238E27FC236}">
                <a16:creationId xmlns:a16="http://schemas.microsoft.com/office/drawing/2014/main" id="{F935C6CF-ABEE-BD46-B2A8-D156C0805740}"/>
              </a:ext>
            </a:extLst>
          </p:cNvPr>
          <p:cNvSpPr txBox="1">
            <a:spLocks/>
          </p:cNvSpPr>
          <p:nvPr/>
        </p:nvSpPr>
        <p:spPr>
          <a:xfrm>
            <a:off x="3338342" y="2762186"/>
            <a:ext cx="5515313"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err="1">
                <a:solidFill>
                  <a:sysClr val="windowText" lastClr="000000"/>
                </a:solidFill>
              </a:rPr>
              <a:t>Ranson’s</a:t>
            </a:r>
            <a:r>
              <a:rPr lang="en-US" b="1" dirty="0">
                <a:solidFill>
                  <a:sysClr val="windowText" lastClr="000000"/>
                </a:solidFill>
              </a:rPr>
              <a:t> Criteria</a:t>
            </a:r>
          </a:p>
        </p:txBody>
      </p:sp>
    </p:spTree>
    <p:extLst>
      <p:ext uri="{BB962C8B-B14F-4D97-AF65-F5344CB8AC3E}">
        <p14:creationId xmlns:p14="http://schemas.microsoft.com/office/powerpoint/2010/main" val="2178005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Assessment of Severity</a:t>
            </a:r>
          </a:p>
        </p:txBody>
      </p:sp>
      <p:pic>
        <p:nvPicPr>
          <p:cNvPr id="6" name="Picture 5">
            <a:extLst>
              <a:ext uri="{FF2B5EF4-FFF2-40B4-BE49-F238E27FC236}">
                <a16:creationId xmlns:a16="http://schemas.microsoft.com/office/drawing/2014/main" id="{437637DA-FE1D-E346-B59B-91CC846CD77E}"/>
              </a:ext>
            </a:extLst>
          </p:cNvPr>
          <p:cNvPicPr>
            <a:picLocks noChangeAspect="1"/>
          </p:cNvPicPr>
          <p:nvPr/>
        </p:nvPicPr>
        <p:blipFill>
          <a:blip r:embed="rId2"/>
          <a:stretch>
            <a:fillRect/>
          </a:stretch>
        </p:blipFill>
        <p:spPr>
          <a:xfrm>
            <a:off x="3338344" y="1097280"/>
            <a:ext cx="5515312" cy="54342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 name="Picture 1">
            <a:extLst>
              <a:ext uri="{FF2B5EF4-FFF2-40B4-BE49-F238E27FC236}">
                <a16:creationId xmlns:a16="http://schemas.microsoft.com/office/drawing/2014/main" id="{68FA7DEF-22B3-D644-82D9-A1EF359C0A0E}"/>
              </a:ext>
            </a:extLst>
          </p:cNvPr>
          <p:cNvPicPr>
            <a:picLocks noChangeAspect="1"/>
          </p:cNvPicPr>
          <p:nvPr/>
        </p:nvPicPr>
        <p:blipFill>
          <a:blip r:embed="rId3"/>
          <a:stretch>
            <a:fillRect/>
          </a:stretch>
        </p:blipFill>
        <p:spPr>
          <a:xfrm rot="21288467">
            <a:off x="1730327" y="1152553"/>
            <a:ext cx="9003518" cy="51267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itle 3">
            <a:extLst>
              <a:ext uri="{FF2B5EF4-FFF2-40B4-BE49-F238E27FC236}">
                <a16:creationId xmlns:a16="http://schemas.microsoft.com/office/drawing/2014/main" id="{A82CFECA-4489-7B46-A667-0F1E8A078F37}"/>
              </a:ext>
            </a:extLst>
          </p:cNvPr>
          <p:cNvSpPr txBox="1">
            <a:spLocks/>
          </p:cNvSpPr>
          <p:nvPr/>
        </p:nvSpPr>
        <p:spPr>
          <a:xfrm rot="21288467">
            <a:off x="1730327" y="2762186"/>
            <a:ext cx="9003518"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a:solidFill>
                  <a:sysClr val="windowText" lastClr="000000"/>
                </a:solidFill>
              </a:rPr>
              <a:t>APACHE II</a:t>
            </a:r>
          </a:p>
        </p:txBody>
      </p:sp>
    </p:spTree>
    <p:extLst>
      <p:ext uri="{BB962C8B-B14F-4D97-AF65-F5344CB8AC3E}">
        <p14:creationId xmlns:p14="http://schemas.microsoft.com/office/powerpoint/2010/main" val="356893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Assessment of Severity</a:t>
            </a:r>
          </a:p>
        </p:txBody>
      </p:sp>
      <p:pic>
        <p:nvPicPr>
          <p:cNvPr id="6" name="Picture 5">
            <a:extLst>
              <a:ext uri="{FF2B5EF4-FFF2-40B4-BE49-F238E27FC236}">
                <a16:creationId xmlns:a16="http://schemas.microsoft.com/office/drawing/2014/main" id="{437637DA-FE1D-E346-B59B-91CC846CD77E}"/>
              </a:ext>
            </a:extLst>
          </p:cNvPr>
          <p:cNvPicPr>
            <a:picLocks noChangeAspect="1"/>
          </p:cNvPicPr>
          <p:nvPr/>
        </p:nvPicPr>
        <p:blipFill>
          <a:blip r:embed="rId2"/>
          <a:stretch>
            <a:fillRect/>
          </a:stretch>
        </p:blipFill>
        <p:spPr>
          <a:xfrm>
            <a:off x="3338344" y="1097280"/>
            <a:ext cx="5515312" cy="54342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 name="Picture 1">
            <a:extLst>
              <a:ext uri="{FF2B5EF4-FFF2-40B4-BE49-F238E27FC236}">
                <a16:creationId xmlns:a16="http://schemas.microsoft.com/office/drawing/2014/main" id="{68FA7DEF-22B3-D644-82D9-A1EF359C0A0E}"/>
              </a:ext>
            </a:extLst>
          </p:cNvPr>
          <p:cNvPicPr>
            <a:picLocks noChangeAspect="1"/>
          </p:cNvPicPr>
          <p:nvPr/>
        </p:nvPicPr>
        <p:blipFill>
          <a:blip r:embed="rId3"/>
          <a:stretch>
            <a:fillRect/>
          </a:stretch>
        </p:blipFill>
        <p:spPr>
          <a:xfrm rot="21288467">
            <a:off x="1730327" y="1152553"/>
            <a:ext cx="9003518" cy="51267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itle 3">
            <a:extLst>
              <a:ext uri="{FF2B5EF4-FFF2-40B4-BE49-F238E27FC236}">
                <a16:creationId xmlns:a16="http://schemas.microsoft.com/office/drawing/2014/main" id="{A82CFECA-4489-7B46-A667-0F1E8A078F37}"/>
              </a:ext>
            </a:extLst>
          </p:cNvPr>
          <p:cNvSpPr txBox="1">
            <a:spLocks/>
          </p:cNvSpPr>
          <p:nvPr/>
        </p:nvSpPr>
        <p:spPr>
          <a:xfrm rot="21288467">
            <a:off x="1730327" y="2762186"/>
            <a:ext cx="9003518"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a:solidFill>
                  <a:sysClr val="windowText" lastClr="000000"/>
                </a:solidFill>
              </a:rPr>
              <a:t>APACHE II</a:t>
            </a:r>
          </a:p>
        </p:txBody>
      </p:sp>
      <p:pic>
        <p:nvPicPr>
          <p:cNvPr id="3" name="Picture 2">
            <a:extLst>
              <a:ext uri="{FF2B5EF4-FFF2-40B4-BE49-F238E27FC236}">
                <a16:creationId xmlns:a16="http://schemas.microsoft.com/office/drawing/2014/main" id="{B68A7DB6-32F3-CD46-9FAC-F3EF9D7AE878}"/>
              </a:ext>
            </a:extLst>
          </p:cNvPr>
          <p:cNvPicPr>
            <a:picLocks noChangeAspect="1"/>
          </p:cNvPicPr>
          <p:nvPr/>
        </p:nvPicPr>
        <p:blipFill rotWithShape="1">
          <a:blip r:embed="rId4"/>
          <a:srcRect l="2464" t="2147" r="4053" b="4743"/>
          <a:stretch/>
        </p:blipFill>
        <p:spPr>
          <a:xfrm rot="405311">
            <a:off x="2832294" y="1240341"/>
            <a:ext cx="6527409" cy="47940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itle 3">
            <a:extLst>
              <a:ext uri="{FF2B5EF4-FFF2-40B4-BE49-F238E27FC236}">
                <a16:creationId xmlns:a16="http://schemas.microsoft.com/office/drawing/2014/main" id="{5EAA4535-DEA0-9A4D-8BA4-698DA764D0C8}"/>
              </a:ext>
            </a:extLst>
          </p:cNvPr>
          <p:cNvSpPr txBox="1">
            <a:spLocks/>
          </p:cNvSpPr>
          <p:nvPr/>
        </p:nvSpPr>
        <p:spPr>
          <a:xfrm rot="405311">
            <a:off x="2832294" y="2902902"/>
            <a:ext cx="6527409"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a:solidFill>
                  <a:sysClr val="windowText" lastClr="000000"/>
                </a:solidFill>
              </a:rPr>
              <a:t>SIRS</a:t>
            </a:r>
          </a:p>
        </p:txBody>
      </p:sp>
    </p:spTree>
    <p:extLst>
      <p:ext uri="{BB962C8B-B14F-4D97-AF65-F5344CB8AC3E}">
        <p14:creationId xmlns:p14="http://schemas.microsoft.com/office/powerpoint/2010/main" val="1425590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Assessment of Severity</a:t>
            </a:r>
          </a:p>
        </p:txBody>
      </p:sp>
      <p:pic>
        <p:nvPicPr>
          <p:cNvPr id="6" name="Picture 5">
            <a:extLst>
              <a:ext uri="{FF2B5EF4-FFF2-40B4-BE49-F238E27FC236}">
                <a16:creationId xmlns:a16="http://schemas.microsoft.com/office/drawing/2014/main" id="{437637DA-FE1D-E346-B59B-91CC846CD77E}"/>
              </a:ext>
            </a:extLst>
          </p:cNvPr>
          <p:cNvPicPr>
            <a:picLocks noChangeAspect="1"/>
          </p:cNvPicPr>
          <p:nvPr/>
        </p:nvPicPr>
        <p:blipFill>
          <a:blip r:embed="rId2"/>
          <a:stretch>
            <a:fillRect/>
          </a:stretch>
        </p:blipFill>
        <p:spPr>
          <a:xfrm>
            <a:off x="3338344" y="1097280"/>
            <a:ext cx="5515312" cy="54342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 name="Picture 1">
            <a:extLst>
              <a:ext uri="{FF2B5EF4-FFF2-40B4-BE49-F238E27FC236}">
                <a16:creationId xmlns:a16="http://schemas.microsoft.com/office/drawing/2014/main" id="{68FA7DEF-22B3-D644-82D9-A1EF359C0A0E}"/>
              </a:ext>
            </a:extLst>
          </p:cNvPr>
          <p:cNvPicPr>
            <a:picLocks noChangeAspect="1"/>
          </p:cNvPicPr>
          <p:nvPr/>
        </p:nvPicPr>
        <p:blipFill>
          <a:blip r:embed="rId3"/>
          <a:stretch>
            <a:fillRect/>
          </a:stretch>
        </p:blipFill>
        <p:spPr>
          <a:xfrm rot="21288467">
            <a:off x="1730327" y="1152553"/>
            <a:ext cx="9003518" cy="51267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itle 3">
            <a:extLst>
              <a:ext uri="{FF2B5EF4-FFF2-40B4-BE49-F238E27FC236}">
                <a16:creationId xmlns:a16="http://schemas.microsoft.com/office/drawing/2014/main" id="{A82CFECA-4489-7B46-A667-0F1E8A078F37}"/>
              </a:ext>
            </a:extLst>
          </p:cNvPr>
          <p:cNvSpPr txBox="1">
            <a:spLocks/>
          </p:cNvSpPr>
          <p:nvPr/>
        </p:nvSpPr>
        <p:spPr>
          <a:xfrm rot="21288467">
            <a:off x="1730327" y="2762186"/>
            <a:ext cx="9003518"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a:solidFill>
                  <a:sysClr val="windowText" lastClr="000000"/>
                </a:solidFill>
              </a:rPr>
              <a:t>APACHE II</a:t>
            </a:r>
          </a:p>
        </p:txBody>
      </p:sp>
      <p:pic>
        <p:nvPicPr>
          <p:cNvPr id="3" name="Picture 2">
            <a:extLst>
              <a:ext uri="{FF2B5EF4-FFF2-40B4-BE49-F238E27FC236}">
                <a16:creationId xmlns:a16="http://schemas.microsoft.com/office/drawing/2014/main" id="{B68A7DB6-32F3-CD46-9FAC-F3EF9D7AE878}"/>
              </a:ext>
            </a:extLst>
          </p:cNvPr>
          <p:cNvPicPr>
            <a:picLocks noChangeAspect="1"/>
          </p:cNvPicPr>
          <p:nvPr/>
        </p:nvPicPr>
        <p:blipFill rotWithShape="1">
          <a:blip r:embed="rId4"/>
          <a:srcRect l="2464" t="2147" r="4053" b="4743"/>
          <a:stretch/>
        </p:blipFill>
        <p:spPr>
          <a:xfrm rot="405311">
            <a:off x="2832294" y="1240341"/>
            <a:ext cx="6527409" cy="47940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itle 3">
            <a:extLst>
              <a:ext uri="{FF2B5EF4-FFF2-40B4-BE49-F238E27FC236}">
                <a16:creationId xmlns:a16="http://schemas.microsoft.com/office/drawing/2014/main" id="{5EAA4535-DEA0-9A4D-8BA4-698DA764D0C8}"/>
              </a:ext>
            </a:extLst>
          </p:cNvPr>
          <p:cNvSpPr txBox="1">
            <a:spLocks/>
          </p:cNvSpPr>
          <p:nvPr/>
        </p:nvSpPr>
        <p:spPr>
          <a:xfrm rot="405311">
            <a:off x="2832294" y="2902902"/>
            <a:ext cx="6527409"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a:solidFill>
                  <a:sysClr val="windowText" lastClr="000000"/>
                </a:solidFill>
              </a:rPr>
              <a:t>SIRS</a:t>
            </a:r>
          </a:p>
        </p:txBody>
      </p:sp>
      <p:pic>
        <p:nvPicPr>
          <p:cNvPr id="8" name="Picture 7">
            <a:extLst>
              <a:ext uri="{FF2B5EF4-FFF2-40B4-BE49-F238E27FC236}">
                <a16:creationId xmlns:a16="http://schemas.microsoft.com/office/drawing/2014/main" id="{7D49DF61-9018-924B-B946-503EB5413AB4}"/>
              </a:ext>
            </a:extLst>
          </p:cNvPr>
          <p:cNvPicPr>
            <a:picLocks noChangeAspect="1"/>
          </p:cNvPicPr>
          <p:nvPr/>
        </p:nvPicPr>
        <p:blipFill>
          <a:blip r:embed="rId5"/>
          <a:stretch>
            <a:fillRect/>
          </a:stretch>
        </p:blipFill>
        <p:spPr>
          <a:xfrm>
            <a:off x="2142023" y="1097280"/>
            <a:ext cx="7476978" cy="51780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itle 3">
            <a:extLst>
              <a:ext uri="{FF2B5EF4-FFF2-40B4-BE49-F238E27FC236}">
                <a16:creationId xmlns:a16="http://schemas.microsoft.com/office/drawing/2014/main" id="{FDD0602B-EBF9-324F-965D-A45C7136AFCD}"/>
              </a:ext>
            </a:extLst>
          </p:cNvPr>
          <p:cNvSpPr txBox="1">
            <a:spLocks/>
          </p:cNvSpPr>
          <p:nvPr/>
        </p:nvSpPr>
        <p:spPr>
          <a:xfrm>
            <a:off x="2142023" y="3111258"/>
            <a:ext cx="7476978"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a:solidFill>
                  <a:sysClr val="windowText" lastClr="000000"/>
                </a:solidFill>
              </a:rPr>
              <a:t>BISAP</a:t>
            </a:r>
          </a:p>
        </p:txBody>
      </p:sp>
    </p:spTree>
    <p:extLst>
      <p:ext uri="{BB962C8B-B14F-4D97-AF65-F5344CB8AC3E}">
        <p14:creationId xmlns:p14="http://schemas.microsoft.com/office/powerpoint/2010/main" val="3940159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Assessment of Severity</a:t>
            </a:r>
          </a:p>
        </p:txBody>
      </p:sp>
      <p:pic>
        <p:nvPicPr>
          <p:cNvPr id="6" name="Picture 5">
            <a:extLst>
              <a:ext uri="{FF2B5EF4-FFF2-40B4-BE49-F238E27FC236}">
                <a16:creationId xmlns:a16="http://schemas.microsoft.com/office/drawing/2014/main" id="{437637DA-FE1D-E346-B59B-91CC846CD77E}"/>
              </a:ext>
            </a:extLst>
          </p:cNvPr>
          <p:cNvPicPr>
            <a:picLocks noChangeAspect="1"/>
          </p:cNvPicPr>
          <p:nvPr/>
        </p:nvPicPr>
        <p:blipFill>
          <a:blip r:embed="rId2"/>
          <a:stretch>
            <a:fillRect/>
          </a:stretch>
        </p:blipFill>
        <p:spPr>
          <a:xfrm>
            <a:off x="3338344" y="1097280"/>
            <a:ext cx="5515312" cy="54342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 name="Picture 1">
            <a:extLst>
              <a:ext uri="{FF2B5EF4-FFF2-40B4-BE49-F238E27FC236}">
                <a16:creationId xmlns:a16="http://schemas.microsoft.com/office/drawing/2014/main" id="{68FA7DEF-22B3-D644-82D9-A1EF359C0A0E}"/>
              </a:ext>
            </a:extLst>
          </p:cNvPr>
          <p:cNvPicPr>
            <a:picLocks noChangeAspect="1"/>
          </p:cNvPicPr>
          <p:nvPr/>
        </p:nvPicPr>
        <p:blipFill>
          <a:blip r:embed="rId3"/>
          <a:stretch>
            <a:fillRect/>
          </a:stretch>
        </p:blipFill>
        <p:spPr>
          <a:xfrm rot="21288467">
            <a:off x="1730327" y="1152553"/>
            <a:ext cx="9003518" cy="51267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itle 3">
            <a:extLst>
              <a:ext uri="{FF2B5EF4-FFF2-40B4-BE49-F238E27FC236}">
                <a16:creationId xmlns:a16="http://schemas.microsoft.com/office/drawing/2014/main" id="{A82CFECA-4489-7B46-A667-0F1E8A078F37}"/>
              </a:ext>
            </a:extLst>
          </p:cNvPr>
          <p:cNvSpPr txBox="1">
            <a:spLocks/>
          </p:cNvSpPr>
          <p:nvPr/>
        </p:nvSpPr>
        <p:spPr>
          <a:xfrm rot="21288467">
            <a:off x="1730327" y="2762186"/>
            <a:ext cx="9003518"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a:solidFill>
                  <a:sysClr val="windowText" lastClr="000000"/>
                </a:solidFill>
              </a:rPr>
              <a:t>APACHE II</a:t>
            </a:r>
          </a:p>
        </p:txBody>
      </p:sp>
      <p:pic>
        <p:nvPicPr>
          <p:cNvPr id="3" name="Picture 2">
            <a:extLst>
              <a:ext uri="{FF2B5EF4-FFF2-40B4-BE49-F238E27FC236}">
                <a16:creationId xmlns:a16="http://schemas.microsoft.com/office/drawing/2014/main" id="{B68A7DB6-32F3-CD46-9FAC-F3EF9D7AE878}"/>
              </a:ext>
            </a:extLst>
          </p:cNvPr>
          <p:cNvPicPr>
            <a:picLocks noChangeAspect="1"/>
          </p:cNvPicPr>
          <p:nvPr/>
        </p:nvPicPr>
        <p:blipFill rotWithShape="1">
          <a:blip r:embed="rId4"/>
          <a:srcRect l="2464" t="2147" r="4053" b="4743"/>
          <a:stretch/>
        </p:blipFill>
        <p:spPr>
          <a:xfrm rot="405311">
            <a:off x="2832294" y="1240341"/>
            <a:ext cx="6527409" cy="47940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itle 3">
            <a:extLst>
              <a:ext uri="{FF2B5EF4-FFF2-40B4-BE49-F238E27FC236}">
                <a16:creationId xmlns:a16="http://schemas.microsoft.com/office/drawing/2014/main" id="{5EAA4535-DEA0-9A4D-8BA4-698DA764D0C8}"/>
              </a:ext>
            </a:extLst>
          </p:cNvPr>
          <p:cNvSpPr txBox="1">
            <a:spLocks/>
          </p:cNvSpPr>
          <p:nvPr/>
        </p:nvSpPr>
        <p:spPr>
          <a:xfrm rot="405311">
            <a:off x="2832294" y="2902902"/>
            <a:ext cx="6527409"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a:solidFill>
                  <a:sysClr val="windowText" lastClr="000000"/>
                </a:solidFill>
              </a:rPr>
              <a:t>SIRS</a:t>
            </a:r>
          </a:p>
        </p:txBody>
      </p:sp>
      <p:pic>
        <p:nvPicPr>
          <p:cNvPr id="8" name="Picture 7">
            <a:extLst>
              <a:ext uri="{FF2B5EF4-FFF2-40B4-BE49-F238E27FC236}">
                <a16:creationId xmlns:a16="http://schemas.microsoft.com/office/drawing/2014/main" id="{7D49DF61-9018-924B-B946-503EB5413AB4}"/>
              </a:ext>
            </a:extLst>
          </p:cNvPr>
          <p:cNvPicPr>
            <a:picLocks noChangeAspect="1"/>
          </p:cNvPicPr>
          <p:nvPr/>
        </p:nvPicPr>
        <p:blipFill>
          <a:blip r:embed="rId5"/>
          <a:stretch>
            <a:fillRect/>
          </a:stretch>
        </p:blipFill>
        <p:spPr>
          <a:xfrm>
            <a:off x="2142023" y="1097280"/>
            <a:ext cx="7476978" cy="51780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itle 3">
            <a:extLst>
              <a:ext uri="{FF2B5EF4-FFF2-40B4-BE49-F238E27FC236}">
                <a16:creationId xmlns:a16="http://schemas.microsoft.com/office/drawing/2014/main" id="{FDD0602B-EBF9-324F-965D-A45C7136AFCD}"/>
              </a:ext>
            </a:extLst>
          </p:cNvPr>
          <p:cNvSpPr txBox="1">
            <a:spLocks/>
          </p:cNvSpPr>
          <p:nvPr/>
        </p:nvSpPr>
        <p:spPr>
          <a:xfrm>
            <a:off x="2142023" y="3111258"/>
            <a:ext cx="7476978"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a:solidFill>
                  <a:sysClr val="windowText" lastClr="000000"/>
                </a:solidFill>
              </a:rPr>
              <a:t>BISAP</a:t>
            </a:r>
          </a:p>
        </p:txBody>
      </p:sp>
      <p:pic>
        <p:nvPicPr>
          <p:cNvPr id="10" name="Picture 9">
            <a:extLst>
              <a:ext uri="{FF2B5EF4-FFF2-40B4-BE49-F238E27FC236}">
                <a16:creationId xmlns:a16="http://schemas.microsoft.com/office/drawing/2014/main" id="{DDA74B34-F19C-BC4D-947D-3AE6E7C4BCCF}"/>
              </a:ext>
            </a:extLst>
          </p:cNvPr>
          <p:cNvPicPr>
            <a:picLocks noChangeAspect="1"/>
          </p:cNvPicPr>
          <p:nvPr/>
        </p:nvPicPr>
        <p:blipFill>
          <a:blip r:embed="rId6"/>
          <a:stretch>
            <a:fillRect/>
          </a:stretch>
        </p:blipFill>
        <p:spPr>
          <a:xfrm rot="405072">
            <a:off x="2018980" y="1199087"/>
            <a:ext cx="6881837" cy="49450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itle 3">
            <a:extLst>
              <a:ext uri="{FF2B5EF4-FFF2-40B4-BE49-F238E27FC236}">
                <a16:creationId xmlns:a16="http://schemas.microsoft.com/office/drawing/2014/main" id="{8E56D25D-663A-9D40-A6BB-ECDA8A2FBB1D}"/>
              </a:ext>
            </a:extLst>
          </p:cNvPr>
          <p:cNvSpPr txBox="1">
            <a:spLocks/>
          </p:cNvSpPr>
          <p:nvPr/>
        </p:nvSpPr>
        <p:spPr>
          <a:xfrm rot="405072">
            <a:off x="2018980" y="3010788"/>
            <a:ext cx="6881837" cy="1052195"/>
          </a:xfrm>
          <a:prstGeom prst="rect">
            <a:avLst/>
          </a:prstGeom>
          <a:solidFill>
            <a:srgbClr val="D0CECE">
              <a:alpha val="50196"/>
            </a:srgb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b="1" dirty="0">
                <a:solidFill>
                  <a:sysClr val="windowText" lastClr="000000"/>
                </a:solidFill>
              </a:rPr>
              <a:t>HAPS</a:t>
            </a:r>
          </a:p>
        </p:txBody>
      </p:sp>
    </p:spTree>
    <p:extLst>
      <p:ext uri="{BB962C8B-B14F-4D97-AF65-F5344CB8AC3E}">
        <p14:creationId xmlns:p14="http://schemas.microsoft.com/office/powerpoint/2010/main" val="7821066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Assessment of Severity</a:t>
            </a:r>
          </a:p>
        </p:txBody>
      </p:sp>
      <p:sp>
        <p:nvSpPr>
          <p:cNvPr id="12" name="Content Placeholder 11">
            <a:extLst>
              <a:ext uri="{FF2B5EF4-FFF2-40B4-BE49-F238E27FC236}">
                <a16:creationId xmlns:a16="http://schemas.microsoft.com/office/drawing/2014/main" id="{491B485E-0CD6-CE4C-80C9-243BD4B67F8F}"/>
              </a:ext>
            </a:extLst>
          </p:cNvPr>
          <p:cNvSpPr>
            <a:spLocks noGrp="1"/>
          </p:cNvSpPr>
          <p:nvPr>
            <p:ph idx="1"/>
          </p:nvPr>
        </p:nvSpPr>
        <p:spPr/>
        <p:txBody>
          <a:bodyPr/>
          <a:lstStyle/>
          <a:p>
            <a:r>
              <a:rPr lang="en-US" b="1" dirty="0"/>
              <a:t>What does the AGA recommend?</a:t>
            </a:r>
          </a:p>
        </p:txBody>
      </p:sp>
    </p:spTree>
    <p:extLst>
      <p:ext uri="{BB962C8B-B14F-4D97-AF65-F5344CB8AC3E}">
        <p14:creationId xmlns:p14="http://schemas.microsoft.com/office/powerpoint/2010/main" val="3247570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Assessment of Severity</a:t>
            </a:r>
          </a:p>
        </p:txBody>
      </p:sp>
      <p:sp>
        <p:nvSpPr>
          <p:cNvPr id="12" name="Content Placeholder 11">
            <a:extLst>
              <a:ext uri="{FF2B5EF4-FFF2-40B4-BE49-F238E27FC236}">
                <a16:creationId xmlns:a16="http://schemas.microsoft.com/office/drawing/2014/main" id="{491B485E-0CD6-CE4C-80C9-243BD4B67F8F}"/>
              </a:ext>
            </a:extLst>
          </p:cNvPr>
          <p:cNvSpPr>
            <a:spLocks noGrp="1"/>
          </p:cNvSpPr>
          <p:nvPr>
            <p:ph idx="1"/>
          </p:nvPr>
        </p:nvSpPr>
        <p:spPr/>
        <p:txBody>
          <a:bodyPr/>
          <a:lstStyle/>
          <a:p>
            <a:r>
              <a:rPr lang="en-US" b="1" dirty="0"/>
              <a:t>What does the AGA recommend?</a:t>
            </a:r>
          </a:p>
        </p:txBody>
      </p:sp>
      <p:pic>
        <p:nvPicPr>
          <p:cNvPr id="13" name="Picture 12">
            <a:extLst>
              <a:ext uri="{FF2B5EF4-FFF2-40B4-BE49-F238E27FC236}">
                <a16:creationId xmlns:a16="http://schemas.microsoft.com/office/drawing/2014/main" id="{8AC81AA3-EDF0-9841-85E6-FB105992218C}"/>
              </a:ext>
            </a:extLst>
          </p:cNvPr>
          <p:cNvPicPr>
            <a:picLocks noChangeAspect="1"/>
          </p:cNvPicPr>
          <p:nvPr/>
        </p:nvPicPr>
        <p:blipFill>
          <a:blip r:embed="rId2"/>
          <a:stretch>
            <a:fillRect/>
          </a:stretch>
        </p:blipFill>
        <p:spPr>
          <a:xfrm>
            <a:off x="1562100" y="2893940"/>
            <a:ext cx="9067800" cy="1968500"/>
          </a:xfrm>
          <a:prstGeom prst="rect">
            <a:avLst/>
          </a:prstGeom>
        </p:spPr>
      </p:pic>
    </p:spTree>
    <p:extLst>
      <p:ext uri="{BB962C8B-B14F-4D97-AF65-F5344CB8AC3E}">
        <p14:creationId xmlns:p14="http://schemas.microsoft.com/office/powerpoint/2010/main" val="2874557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F8EF-1D8C-BF4E-8E98-08E8A0733087}"/>
              </a:ext>
            </a:extLst>
          </p:cNvPr>
          <p:cNvSpPr>
            <a:spLocks noGrp="1"/>
          </p:cNvSpPr>
          <p:nvPr>
            <p:ph type="title"/>
          </p:nvPr>
        </p:nvSpPr>
        <p:spPr/>
        <p:txBody>
          <a:bodyPr/>
          <a:lstStyle/>
          <a:p>
            <a:r>
              <a:rPr lang="en-US" dirty="0"/>
              <a:t>Assessment of Severity</a:t>
            </a:r>
          </a:p>
        </p:txBody>
      </p:sp>
      <p:pic>
        <p:nvPicPr>
          <p:cNvPr id="9" name="Picture 8">
            <a:extLst>
              <a:ext uri="{FF2B5EF4-FFF2-40B4-BE49-F238E27FC236}">
                <a16:creationId xmlns:a16="http://schemas.microsoft.com/office/drawing/2014/main" id="{6E5A194A-3CAA-594E-B1BA-F4C0580F0E56}"/>
              </a:ext>
            </a:extLst>
          </p:cNvPr>
          <p:cNvPicPr>
            <a:picLocks noChangeAspect="1"/>
          </p:cNvPicPr>
          <p:nvPr/>
        </p:nvPicPr>
        <p:blipFill>
          <a:blip r:embed="rId2"/>
          <a:stretch>
            <a:fillRect/>
          </a:stretch>
        </p:blipFill>
        <p:spPr>
          <a:xfrm>
            <a:off x="838200" y="1097280"/>
            <a:ext cx="9687950" cy="5137256"/>
          </a:xfrm>
          <a:prstGeom prst="rect">
            <a:avLst/>
          </a:prstGeom>
        </p:spPr>
      </p:pic>
    </p:spTree>
    <p:extLst>
      <p:ext uri="{BB962C8B-B14F-4D97-AF65-F5344CB8AC3E}">
        <p14:creationId xmlns:p14="http://schemas.microsoft.com/office/powerpoint/2010/main" val="29407169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933806-D155-C943-ADEE-2DED5EC9F4AC}"/>
              </a:ext>
            </a:extLst>
          </p:cNvPr>
          <p:cNvSpPr>
            <a:spLocks noGrp="1"/>
          </p:cNvSpPr>
          <p:nvPr>
            <p:ph type="title"/>
          </p:nvPr>
        </p:nvSpPr>
        <p:spPr/>
        <p:txBody>
          <a:bodyPr/>
          <a:lstStyle/>
          <a:p>
            <a:r>
              <a:rPr lang="en-US" dirty="0"/>
              <a:t>How to determine “Organ Failure”?</a:t>
            </a:r>
          </a:p>
        </p:txBody>
      </p:sp>
      <p:sp>
        <p:nvSpPr>
          <p:cNvPr id="5" name="Text Placeholder 4">
            <a:extLst>
              <a:ext uri="{FF2B5EF4-FFF2-40B4-BE49-F238E27FC236}">
                <a16:creationId xmlns:a16="http://schemas.microsoft.com/office/drawing/2014/main" id="{E86E637E-41A1-B64E-B6B2-DEC53993CDD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67126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D87341-57DF-5C46-B3F8-8345729ABC97}"/>
              </a:ext>
            </a:extLst>
          </p:cNvPr>
          <p:cNvPicPr>
            <a:picLocks noChangeAspect="1"/>
          </p:cNvPicPr>
          <p:nvPr/>
        </p:nvPicPr>
        <p:blipFill>
          <a:blip r:embed="rId2"/>
          <a:stretch>
            <a:fillRect/>
          </a:stretch>
        </p:blipFill>
        <p:spPr>
          <a:xfrm>
            <a:off x="0" y="1206675"/>
            <a:ext cx="12192000" cy="4444650"/>
          </a:xfrm>
          <a:prstGeom prst="rect">
            <a:avLst/>
          </a:prstGeom>
        </p:spPr>
      </p:pic>
    </p:spTree>
    <p:extLst>
      <p:ext uri="{BB962C8B-B14F-4D97-AF65-F5344CB8AC3E}">
        <p14:creationId xmlns:p14="http://schemas.microsoft.com/office/powerpoint/2010/main" val="125869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Fluid Resuscitation</a:t>
            </a:r>
          </a:p>
        </p:txBody>
      </p:sp>
      <p:sp>
        <p:nvSpPr>
          <p:cNvPr id="3" name="Text Placeholder 2">
            <a:extLst>
              <a:ext uri="{FF2B5EF4-FFF2-40B4-BE49-F238E27FC236}">
                <a16:creationId xmlns:a16="http://schemas.microsoft.com/office/drawing/2014/main" id="{59DF8AFA-F707-9640-A929-4F2B9A7833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725349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Fluid Resuscitation</a:t>
            </a:r>
          </a:p>
        </p:txBody>
      </p:sp>
      <p:pic>
        <p:nvPicPr>
          <p:cNvPr id="5" name="Content Placeholder 4">
            <a:extLst>
              <a:ext uri="{FF2B5EF4-FFF2-40B4-BE49-F238E27FC236}">
                <a16:creationId xmlns:a16="http://schemas.microsoft.com/office/drawing/2014/main" id="{69898A5E-9837-FE44-828A-EBB51125DDAA}"/>
              </a:ext>
            </a:extLst>
          </p:cNvPr>
          <p:cNvPicPr>
            <a:picLocks noGrp="1" noChangeAspect="1"/>
          </p:cNvPicPr>
          <p:nvPr>
            <p:ph idx="1"/>
          </p:nvPr>
        </p:nvPicPr>
        <p:blipFill>
          <a:blip r:embed="rId2"/>
          <a:stretch>
            <a:fillRect/>
          </a:stretch>
        </p:blipFill>
        <p:spPr>
          <a:xfrm>
            <a:off x="1155700" y="2309813"/>
            <a:ext cx="9880600" cy="3136900"/>
          </a:xfrm>
          <a:prstGeom prst="rect">
            <a:avLst/>
          </a:prstGeom>
        </p:spPr>
      </p:pic>
    </p:spTree>
    <p:extLst>
      <p:ext uri="{BB962C8B-B14F-4D97-AF65-F5344CB8AC3E}">
        <p14:creationId xmlns:p14="http://schemas.microsoft.com/office/powerpoint/2010/main" val="26692985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Fluid Resuscitation</a:t>
            </a:r>
          </a:p>
        </p:txBody>
      </p:sp>
      <p:pic>
        <p:nvPicPr>
          <p:cNvPr id="5" name="Content Placeholder 4">
            <a:extLst>
              <a:ext uri="{FF2B5EF4-FFF2-40B4-BE49-F238E27FC236}">
                <a16:creationId xmlns:a16="http://schemas.microsoft.com/office/drawing/2014/main" id="{69898A5E-9837-FE44-828A-EBB51125DDAA}"/>
              </a:ext>
            </a:extLst>
          </p:cNvPr>
          <p:cNvPicPr>
            <a:picLocks noGrp="1" noChangeAspect="1"/>
          </p:cNvPicPr>
          <p:nvPr>
            <p:ph idx="1"/>
          </p:nvPr>
        </p:nvPicPr>
        <p:blipFill>
          <a:blip r:embed="rId2"/>
          <a:stretch>
            <a:fillRect/>
          </a:stretch>
        </p:blipFill>
        <p:spPr>
          <a:xfrm>
            <a:off x="1155700" y="2309813"/>
            <a:ext cx="9880600" cy="3136900"/>
          </a:xfrm>
          <a:prstGeom prst="rect">
            <a:avLst/>
          </a:prstGeom>
        </p:spPr>
      </p:pic>
      <p:sp>
        <p:nvSpPr>
          <p:cNvPr id="6" name="Rectangle 5">
            <a:extLst>
              <a:ext uri="{FF2B5EF4-FFF2-40B4-BE49-F238E27FC236}">
                <a16:creationId xmlns:a16="http://schemas.microsoft.com/office/drawing/2014/main" id="{8936CFB5-1DFC-8143-93D1-5D54CBEF2530}"/>
              </a:ext>
            </a:extLst>
          </p:cNvPr>
          <p:cNvSpPr/>
          <p:nvPr/>
        </p:nvSpPr>
        <p:spPr>
          <a:xfrm>
            <a:off x="4660490" y="3185653"/>
            <a:ext cx="4085304" cy="38345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i="1" dirty="0">
              <a:latin typeface="Quadraat" panose="02000503060000090004" pitchFamily="2" charset="0"/>
            </a:endParaRPr>
          </a:p>
        </p:txBody>
      </p:sp>
    </p:spTree>
    <p:extLst>
      <p:ext uri="{BB962C8B-B14F-4D97-AF65-F5344CB8AC3E}">
        <p14:creationId xmlns:p14="http://schemas.microsoft.com/office/powerpoint/2010/main" val="27832495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Normal Saline vs. Lactated Ringer’s?</a:t>
            </a:r>
          </a:p>
        </p:txBody>
      </p:sp>
      <p:sp>
        <p:nvSpPr>
          <p:cNvPr id="3" name="Text Placeholder 2">
            <a:extLst>
              <a:ext uri="{FF2B5EF4-FFF2-40B4-BE49-F238E27FC236}">
                <a16:creationId xmlns:a16="http://schemas.microsoft.com/office/drawing/2014/main" id="{59DF8AFA-F707-9640-A929-4F2B9A7833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91995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Normal Saline vs. Lactated Ringer’s</a:t>
            </a:r>
          </a:p>
        </p:txBody>
      </p:sp>
      <p:pic>
        <p:nvPicPr>
          <p:cNvPr id="5" name="Content Placeholder 4">
            <a:extLst>
              <a:ext uri="{FF2B5EF4-FFF2-40B4-BE49-F238E27FC236}">
                <a16:creationId xmlns:a16="http://schemas.microsoft.com/office/drawing/2014/main" id="{4DDB3576-F1A5-DC4B-85BD-87C6146CC35F}"/>
              </a:ext>
            </a:extLst>
          </p:cNvPr>
          <p:cNvPicPr>
            <a:picLocks noGrp="1" noChangeAspect="1"/>
          </p:cNvPicPr>
          <p:nvPr>
            <p:ph idx="1"/>
          </p:nvPr>
        </p:nvPicPr>
        <p:blipFill>
          <a:blip r:embed="rId2"/>
          <a:stretch>
            <a:fillRect/>
          </a:stretch>
        </p:blipFill>
        <p:spPr>
          <a:xfrm>
            <a:off x="838200" y="1097280"/>
            <a:ext cx="10515600" cy="2040046"/>
          </a:xfrm>
          <a:prstGeom prst="rect">
            <a:avLst/>
          </a:prstGeom>
        </p:spPr>
      </p:pic>
      <p:sp>
        <p:nvSpPr>
          <p:cNvPr id="7" name="TextBox 6">
            <a:extLst>
              <a:ext uri="{FF2B5EF4-FFF2-40B4-BE49-F238E27FC236}">
                <a16:creationId xmlns:a16="http://schemas.microsoft.com/office/drawing/2014/main" id="{BEFC103F-E0D0-474E-B704-16A4DC576E08}"/>
              </a:ext>
            </a:extLst>
          </p:cNvPr>
          <p:cNvSpPr txBox="1"/>
          <p:nvPr/>
        </p:nvSpPr>
        <p:spPr>
          <a:xfrm>
            <a:off x="250723" y="3893910"/>
            <a:ext cx="4717865" cy="2246769"/>
          </a:xfrm>
          <a:prstGeom prst="rect">
            <a:avLst/>
          </a:prstGeom>
          <a:noFill/>
        </p:spPr>
        <p:txBody>
          <a:bodyPr wrap="square" rtlCol="0">
            <a:spAutoFit/>
          </a:bodyPr>
          <a:lstStyle/>
          <a:p>
            <a:pPr algn="ctr"/>
            <a:r>
              <a:rPr lang="en-US" sz="2800" dirty="0">
                <a:latin typeface="Quadraat" panose="02000503060000090004" pitchFamily="2" charset="0"/>
              </a:rPr>
              <a:t>Pitfalls</a:t>
            </a:r>
          </a:p>
          <a:p>
            <a:pPr marL="457200" indent="-457200">
              <a:buFontTx/>
              <a:buChar char="-"/>
            </a:pPr>
            <a:r>
              <a:rPr lang="en-US" sz="2800" dirty="0">
                <a:latin typeface="Quadraat" panose="02000503060000090004" pitchFamily="2" charset="0"/>
              </a:rPr>
              <a:t>Total of </a:t>
            </a:r>
            <a:r>
              <a:rPr lang="en-US" sz="2800" b="1" dirty="0">
                <a:latin typeface="Quadraat" panose="02000503060000090004" pitchFamily="2" charset="0"/>
              </a:rPr>
              <a:t>40 patients</a:t>
            </a:r>
            <a:r>
              <a:rPr lang="en-US" sz="2800" dirty="0">
                <a:latin typeface="Quadraat" panose="02000503060000090004" pitchFamily="2" charset="0"/>
              </a:rPr>
              <a:t>, double-blind multi-center RCT. </a:t>
            </a:r>
          </a:p>
          <a:p>
            <a:pPr marL="457200" indent="-457200">
              <a:buFontTx/>
              <a:buChar char="-"/>
            </a:pPr>
            <a:r>
              <a:rPr lang="en-US" sz="2800" dirty="0">
                <a:latin typeface="Quadraat" panose="02000503060000090004" pitchFamily="2" charset="0"/>
              </a:rPr>
              <a:t>Used SIRS and CRP as end points</a:t>
            </a:r>
          </a:p>
        </p:txBody>
      </p:sp>
      <p:pic>
        <p:nvPicPr>
          <p:cNvPr id="9" name="Picture 8">
            <a:extLst>
              <a:ext uri="{FF2B5EF4-FFF2-40B4-BE49-F238E27FC236}">
                <a16:creationId xmlns:a16="http://schemas.microsoft.com/office/drawing/2014/main" id="{083868C0-57B5-804A-9CC8-F9065DD26BF4}"/>
              </a:ext>
            </a:extLst>
          </p:cNvPr>
          <p:cNvPicPr>
            <a:picLocks noChangeAspect="1"/>
          </p:cNvPicPr>
          <p:nvPr/>
        </p:nvPicPr>
        <p:blipFill>
          <a:blip r:embed="rId3"/>
          <a:stretch>
            <a:fillRect/>
          </a:stretch>
        </p:blipFill>
        <p:spPr>
          <a:xfrm>
            <a:off x="4968588" y="3221677"/>
            <a:ext cx="7231804" cy="3591237"/>
          </a:xfrm>
          <a:prstGeom prst="rect">
            <a:avLst/>
          </a:prstGeom>
        </p:spPr>
      </p:pic>
    </p:spTree>
    <p:extLst>
      <p:ext uri="{BB962C8B-B14F-4D97-AF65-F5344CB8AC3E}">
        <p14:creationId xmlns:p14="http://schemas.microsoft.com/office/powerpoint/2010/main" val="3847517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DDFD7"/>
        </a:solidFill>
        <a:effectLst/>
      </p:bgPr>
    </p:bg>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4F556BA1-E15E-CD4E-B188-908ACD896A81}"/>
              </a:ext>
            </a:extLst>
          </p:cNvPr>
          <p:cNvSpPr>
            <a:spLocks noGrp="1"/>
          </p:cNvSpPr>
          <p:nvPr>
            <p:ph idx="1"/>
          </p:nvPr>
        </p:nvSpPr>
        <p:spPr/>
        <p:txBody>
          <a:bodyPr/>
          <a:lstStyle/>
          <a:p>
            <a:endParaRPr lang="en-US"/>
          </a:p>
        </p:txBody>
      </p:sp>
      <p:pic>
        <p:nvPicPr>
          <p:cNvPr id="13" name="Picture 12">
            <a:extLst>
              <a:ext uri="{FF2B5EF4-FFF2-40B4-BE49-F238E27FC236}">
                <a16:creationId xmlns:a16="http://schemas.microsoft.com/office/drawing/2014/main" id="{7E10EFAB-A655-B846-A8B1-D45CA33B0725}"/>
              </a:ext>
            </a:extLst>
          </p:cNvPr>
          <p:cNvPicPr>
            <a:picLocks noChangeAspect="1"/>
          </p:cNvPicPr>
          <p:nvPr/>
        </p:nvPicPr>
        <p:blipFill>
          <a:blip r:embed="rId2"/>
          <a:stretch>
            <a:fillRect/>
          </a:stretch>
        </p:blipFill>
        <p:spPr>
          <a:xfrm>
            <a:off x="533400" y="196850"/>
            <a:ext cx="11125200" cy="6464300"/>
          </a:xfrm>
          <a:prstGeom prst="rect">
            <a:avLst/>
          </a:prstGeom>
        </p:spPr>
      </p:pic>
    </p:spTree>
    <p:extLst>
      <p:ext uri="{BB962C8B-B14F-4D97-AF65-F5344CB8AC3E}">
        <p14:creationId xmlns:p14="http://schemas.microsoft.com/office/powerpoint/2010/main" val="3615986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Pain Control</a:t>
            </a:r>
          </a:p>
        </p:txBody>
      </p:sp>
      <p:sp>
        <p:nvSpPr>
          <p:cNvPr id="3" name="Text Placeholder 2">
            <a:extLst>
              <a:ext uri="{FF2B5EF4-FFF2-40B4-BE49-F238E27FC236}">
                <a16:creationId xmlns:a16="http://schemas.microsoft.com/office/drawing/2014/main" id="{59DF8AFA-F707-9640-A929-4F2B9A7833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438422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Pain Control</a:t>
            </a:r>
          </a:p>
        </p:txBody>
      </p:sp>
      <p:sp>
        <p:nvSpPr>
          <p:cNvPr id="3" name="Text Placeholder 2">
            <a:extLst>
              <a:ext uri="{FF2B5EF4-FFF2-40B4-BE49-F238E27FC236}">
                <a16:creationId xmlns:a16="http://schemas.microsoft.com/office/drawing/2014/main" id="{59DF8AFA-F707-9640-A929-4F2B9A7833ED}"/>
              </a:ext>
            </a:extLst>
          </p:cNvPr>
          <p:cNvSpPr>
            <a:spLocks noGrp="1"/>
          </p:cNvSpPr>
          <p:nvPr>
            <p:ph type="body" idx="1"/>
          </p:nvPr>
        </p:nvSpPr>
        <p:spPr/>
        <p:txBody>
          <a:bodyPr/>
          <a:lstStyle/>
          <a:p>
            <a:pPr algn="ctr"/>
            <a:r>
              <a:rPr lang="en-US" b="1" dirty="0">
                <a:solidFill>
                  <a:schemeClr val="tx1"/>
                </a:solidFill>
              </a:rPr>
              <a:t>What’s the agent of choice for pain control?</a:t>
            </a:r>
          </a:p>
        </p:txBody>
      </p:sp>
    </p:spTree>
    <p:extLst>
      <p:ext uri="{BB962C8B-B14F-4D97-AF65-F5344CB8AC3E}">
        <p14:creationId xmlns:p14="http://schemas.microsoft.com/office/powerpoint/2010/main" val="5157323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C17729F9-257E-A147-A9A2-79942A02741D}"/>
              </a:ext>
            </a:extLst>
          </p:cNvPr>
          <p:cNvPicPr>
            <a:picLocks noChangeAspect="1"/>
          </p:cNvPicPr>
          <p:nvPr/>
        </p:nvPicPr>
        <p:blipFill rotWithShape="1">
          <a:blip r:embed="rId2"/>
          <a:srcRect b="8243"/>
          <a:stretch/>
        </p:blipFill>
        <p:spPr>
          <a:xfrm>
            <a:off x="832338" y="1659988"/>
            <a:ext cx="9842500" cy="1561514"/>
          </a:xfrm>
          <a:prstGeom prst="rect">
            <a:avLst/>
          </a:prstGeom>
        </p:spPr>
      </p:pic>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Pain Control</a:t>
            </a:r>
          </a:p>
        </p:txBody>
      </p:sp>
      <p:sp>
        <p:nvSpPr>
          <p:cNvPr id="6" name="Content Placeholder 5">
            <a:extLst>
              <a:ext uri="{FF2B5EF4-FFF2-40B4-BE49-F238E27FC236}">
                <a16:creationId xmlns:a16="http://schemas.microsoft.com/office/drawing/2014/main" id="{494FCE62-C2AC-564C-A24F-5A2D65BA3DF4}"/>
              </a:ext>
            </a:extLst>
          </p:cNvPr>
          <p:cNvSpPr>
            <a:spLocks noGrp="1"/>
          </p:cNvSpPr>
          <p:nvPr>
            <p:ph idx="1"/>
          </p:nvPr>
        </p:nvSpPr>
        <p:spPr>
          <a:xfrm>
            <a:off x="838200" y="1097280"/>
            <a:ext cx="10515600" cy="5079683"/>
          </a:xfrm>
        </p:spPr>
        <p:txBody>
          <a:bodyPr/>
          <a:lstStyle/>
          <a:p>
            <a:r>
              <a:rPr lang="en-US" dirty="0"/>
              <a:t>Usually resort to opioids for adequate analgesia</a:t>
            </a:r>
          </a:p>
          <a:p>
            <a:endParaRPr lang="en-US" dirty="0"/>
          </a:p>
          <a:p>
            <a:endParaRPr lang="en-US" dirty="0"/>
          </a:p>
          <a:p>
            <a:endParaRPr lang="en-US" dirty="0"/>
          </a:p>
          <a:p>
            <a:endParaRPr lang="en-US" dirty="0"/>
          </a:p>
          <a:p>
            <a:r>
              <a:rPr lang="en-US" dirty="0"/>
              <a:t>Morphine was found to cause transient spasms of sphincter of Oddi</a:t>
            </a:r>
          </a:p>
          <a:p>
            <a:pPr lvl="1"/>
            <a:r>
              <a:rPr lang="en-US" dirty="0"/>
              <a:t>No proven cases of worsening pancreatitis</a:t>
            </a:r>
          </a:p>
          <a:p>
            <a:pPr lvl="1"/>
            <a:r>
              <a:rPr lang="en-US" dirty="0"/>
              <a:t>No proven cases of  cholecystitis</a:t>
            </a:r>
          </a:p>
          <a:p>
            <a:pPr lvl="1"/>
            <a:endParaRPr lang="en-US" dirty="0"/>
          </a:p>
          <a:p>
            <a:r>
              <a:rPr lang="en-US" dirty="0"/>
              <a:t>Agents of choice are </a:t>
            </a:r>
            <a:r>
              <a:rPr lang="en-US" b="1" dirty="0"/>
              <a:t>hydromorphone</a:t>
            </a:r>
            <a:r>
              <a:rPr lang="en-US" dirty="0"/>
              <a:t> or </a:t>
            </a:r>
            <a:r>
              <a:rPr lang="en-US" b="1" dirty="0"/>
              <a:t>fentanyl</a:t>
            </a:r>
            <a:r>
              <a:rPr lang="en-US" dirty="0"/>
              <a:t> given intravenously</a:t>
            </a:r>
          </a:p>
        </p:txBody>
      </p:sp>
    </p:spTree>
    <p:extLst>
      <p:ext uri="{BB962C8B-B14F-4D97-AF65-F5344CB8AC3E}">
        <p14:creationId xmlns:p14="http://schemas.microsoft.com/office/powerpoint/2010/main" val="37468865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Nutritional Support</a:t>
            </a:r>
          </a:p>
        </p:txBody>
      </p:sp>
      <p:sp>
        <p:nvSpPr>
          <p:cNvPr id="3" name="Text Placeholder 2">
            <a:extLst>
              <a:ext uri="{FF2B5EF4-FFF2-40B4-BE49-F238E27FC236}">
                <a16:creationId xmlns:a16="http://schemas.microsoft.com/office/drawing/2014/main" id="{59DF8AFA-F707-9640-A929-4F2B9A7833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4635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Nutritional Support</a:t>
            </a:r>
          </a:p>
        </p:txBody>
      </p:sp>
      <p:sp>
        <p:nvSpPr>
          <p:cNvPr id="3" name="Text Placeholder 2">
            <a:extLst>
              <a:ext uri="{FF2B5EF4-FFF2-40B4-BE49-F238E27FC236}">
                <a16:creationId xmlns:a16="http://schemas.microsoft.com/office/drawing/2014/main" id="{59DF8AFA-F707-9640-A929-4F2B9A7833ED}"/>
              </a:ext>
            </a:extLst>
          </p:cNvPr>
          <p:cNvSpPr>
            <a:spLocks noGrp="1"/>
          </p:cNvSpPr>
          <p:nvPr>
            <p:ph type="body" idx="1"/>
          </p:nvPr>
        </p:nvSpPr>
        <p:spPr/>
        <p:txBody>
          <a:bodyPr>
            <a:normAutofit/>
          </a:bodyPr>
          <a:lstStyle/>
          <a:p>
            <a:pPr algn="ctr"/>
            <a:r>
              <a:rPr lang="en-US" sz="4000" dirty="0"/>
              <a:t>When to start feeding?</a:t>
            </a:r>
          </a:p>
        </p:txBody>
      </p:sp>
    </p:spTree>
    <p:extLst>
      <p:ext uri="{BB962C8B-B14F-4D97-AF65-F5344CB8AC3E}">
        <p14:creationId xmlns:p14="http://schemas.microsoft.com/office/powerpoint/2010/main" val="23767417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Nutritional Support</a:t>
            </a:r>
          </a:p>
        </p:txBody>
      </p:sp>
      <p:sp>
        <p:nvSpPr>
          <p:cNvPr id="4" name="Content Placeholder 3">
            <a:extLst>
              <a:ext uri="{FF2B5EF4-FFF2-40B4-BE49-F238E27FC236}">
                <a16:creationId xmlns:a16="http://schemas.microsoft.com/office/drawing/2014/main" id="{408F9A9F-3E2E-5E4C-96DF-391A29FEA137}"/>
              </a:ext>
            </a:extLst>
          </p:cNvPr>
          <p:cNvSpPr>
            <a:spLocks noGrp="1"/>
          </p:cNvSpPr>
          <p:nvPr>
            <p:ph idx="1"/>
          </p:nvPr>
        </p:nvSpPr>
        <p:spPr>
          <a:xfrm>
            <a:off x="838200" y="3559126"/>
            <a:ext cx="10515600" cy="2617837"/>
          </a:xfrm>
        </p:spPr>
        <p:txBody>
          <a:bodyPr>
            <a:normAutofit/>
          </a:bodyPr>
          <a:lstStyle/>
          <a:p>
            <a:r>
              <a:rPr lang="en-US" dirty="0"/>
              <a:t>Although the data is limited, early feeding (within 24h) of patients with acute pancreatitis does not increase adverse events.</a:t>
            </a:r>
          </a:p>
          <a:p>
            <a:r>
              <a:rPr lang="en-US" dirty="0"/>
              <a:t>In patients with mild-to-moderate pancreatitis, it could reduce length of hospital stay.</a:t>
            </a:r>
          </a:p>
        </p:txBody>
      </p:sp>
      <p:pic>
        <p:nvPicPr>
          <p:cNvPr id="5" name="Picture 4">
            <a:extLst>
              <a:ext uri="{FF2B5EF4-FFF2-40B4-BE49-F238E27FC236}">
                <a16:creationId xmlns:a16="http://schemas.microsoft.com/office/drawing/2014/main" id="{4BD84DEF-EDA4-4549-8BE1-B94474205026}"/>
              </a:ext>
            </a:extLst>
          </p:cNvPr>
          <p:cNvPicPr>
            <a:picLocks noChangeAspect="1"/>
          </p:cNvPicPr>
          <p:nvPr/>
        </p:nvPicPr>
        <p:blipFill>
          <a:blip r:embed="rId2"/>
          <a:stretch>
            <a:fillRect/>
          </a:stretch>
        </p:blipFill>
        <p:spPr>
          <a:xfrm>
            <a:off x="298450" y="1097280"/>
            <a:ext cx="11595100" cy="2032000"/>
          </a:xfrm>
          <a:prstGeom prst="rect">
            <a:avLst/>
          </a:prstGeom>
        </p:spPr>
      </p:pic>
    </p:spTree>
    <p:extLst>
      <p:ext uri="{BB962C8B-B14F-4D97-AF65-F5344CB8AC3E}">
        <p14:creationId xmlns:p14="http://schemas.microsoft.com/office/powerpoint/2010/main" val="3496087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Nutritional Support</a:t>
            </a:r>
          </a:p>
        </p:txBody>
      </p:sp>
      <p:pic>
        <p:nvPicPr>
          <p:cNvPr id="6" name="Content Placeholder 5">
            <a:extLst>
              <a:ext uri="{FF2B5EF4-FFF2-40B4-BE49-F238E27FC236}">
                <a16:creationId xmlns:a16="http://schemas.microsoft.com/office/drawing/2014/main" id="{143168F8-D1FB-6D47-9135-1267E3D84B05}"/>
              </a:ext>
            </a:extLst>
          </p:cNvPr>
          <p:cNvPicPr>
            <a:picLocks noGrp="1" noChangeAspect="1"/>
          </p:cNvPicPr>
          <p:nvPr>
            <p:ph idx="1"/>
          </p:nvPr>
        </p:nvPicPr>
        <p:blipFill>
          <a:blip r:embed="rId2"/>
          <a:stretch>
            <a:fillRect/>
          </a:stretch>
        </p:blipFill>
        <p:spPr>
          <a:xfrm>
            <a:off x="838200" y="2612394"/>
            <a:ext cx="10515600" cy="2531738"/>
          </a:xfrm>
          <a:prstGeom prst="rect">
            <a:avLst/>
          </a:prstGeom>
        </p:spPr>
      </p:pic>
    </p:spTree>
    <p:extLst>
      <p:ext uri="{BB962C8B-B14F-4D97-AF65-F5344CB8AC3E}">
        <p14:creationId xmlns:p14="http://schemas.microsoft.com/office/powerpoint/2010/main" val="5113495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Enteral feeding</a:t>
            </a:r>
            <a:br>
              <a:rPr lang="en-US" dirty="0"/>
            </a:br>
            <a:r>
              <a:rPr lang="en-US" dirty="0"/>
              <a:t>Nasogastric vs. </a:t>
            </a:r>
            <a:r>
              <a:rPr lang="en-US" dirty="0" err="1"/>
              <a:t>Nasojejunal</a:t>
            </a:r>
            <a:r>
              <a:rPr lang="en-US" dirty="0"/>
              <a:t>?</a:t>
            </a:r>
          </a:p>
        </p:txBody>
      </p:sp>
      <p:sp>
        <p:nvSpPr>
          <p:cNvPr id="3" name="Text Placeholder 2">
            <a:extLst>
              <a:ext uri="{FF2B5EF4-FFF2-40B4-BE49-F238E27FC236}">
                <a16:creationId xmlns:a16="http://schemas.microsoft.com/office/drawing/2014/main" id="{59DF8AFA-F707-9640-A929-4F2B9A7833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862736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normAutofit/>
          </a:bodyPr>
          <a:lstStyle/>
          <a:p>
            <a:r>
              <a:rPr lang="en-US" dirty="0"/>
              <a:t>Nasogastric vs. </a:t>
            </a:r>
            <a:r>
              <a:rPr lang="en-US" dirty="0" err="1"/>
              <a:t>Nasojejunal</a:t>
            </a:r>
            <a:r>
              <a:rPr lang="en-US" dirty="0"/>
              <a:t> Feeding</a:t>
            </a:r>
          </a:p>
        </p:txBody>
      </p:sp>
      <p:pic>
        <p:nvPicPr>
          <p:cNvPr id="5" name="Content Placeholder 4">
            <a:extLst>
              <a:ext uri="{FF2B5EF4-FFF2-40B4-BE49-F238E27FC236}">
                <a16:creationId xmlns:a16="http://schemas.microsoft.com/office/drawing/2014/main" id="{8E09DD8E-4B0C-BB4D-8487-05D8AE3FFACA}"/>
              </a:ext>
            </a:extLst>
          </p:cNvPr>
          <p:cNvPicPr>
            <a:picLocks noGrp="1" noChangeAspect="1"/>
          </p:cNvPicPr>
          <p:nvPr>
            <p:ph idx="1"/>
          </p:nvPr>
        </p:nvPicPr>
        <p:blipFill>
          <a:blip r:embed="rId2"/>
          <a:stretch>
            <a:fillRect/>
          </a:stretch>
        </p:blipFill>
        <p:spPr>
          <a:xfrm>
            <a:off x="254000" y="1097280"/>
            <a:ext cx="11657094" cy="1555135"/>
          </a:xfrm>
          <a:prstGeom prst="rect">
            <a:avLst/>
          </a:prstGeom>
        </p:spPr>
      </p:pic>
      <p:pic>
        <p:nvPicPr>
          <p:cNvPr id="6" name="Picture 5">
            <a:extLst>
              <a:ext uri="{FF2B5EF4-FFF2-40B4-BE49-F238E27FC236}">
                <a16:creationId xmlns:a16="http://schemas.microsoft.com/office/drawing/2014/main" id="{C4D8E600-109A-7848-B054-034AEF02E3AF}"/>
              </a:ext>
            </a:extLst>
          </p:cNvPr>
          <p:cNvPicPr>
            <a:picLocks noChangeAspect="1"/>
          </p:cNvPicPr>
          <p:nvPr/>
        </p:nvPicPr>
        <p:blipFill>
          <a:blip r:embed="rId3"/>
          <a:stretch>
            <a:fillRect/>
          </a:stretch>
        </p:blipFill>
        <p:spPr>
          <a:xfrm>
            <a:off x="254000" y="2804698"/>
            <a:ext cx="11684000" cy="1612900"/>
          </a:xfrm>
          <a:prstGeom prst="rect">
            <a:avLst/>
          </a:prstGeom>
        </p:spPr>
      </p:pic>
      <p:pic>
        <p:nvPicPr>
          <p:cNvPr id="7" name="Picture 6">
            <a:extLst>
              <a:ext uri="{FF2B5EF4-FFF2-40B4-BE49-F238E27FC236}">
                <a16:creationId xmlns:a16="http://schemas.microsoft.com/office/drawing/2014/main" id="{953B28E8-929D-E54D-960A-6A853255DF3A}"/>
              </a:ext>
            </a:extLst>
          </p:cNvPr>
          <p:cNvPicPr>
            <a:picLocks noChangeAspect="1"/>
          </p:cNvPicPr>
          <p:nvPr/>
        </p:nvPicPr>
        <p:blipFill>
          <a:blip r:embed="rId4"/>
          <a:stretch>
            <a:fillRect/>
          </a:stretch>
        </p:blipFill>
        <p:spPr>
          <a:xfrm>
            <a:off x="170697" y="4569881"/>
            <a:ext cx="11823700" cy="1714500"/>
          </a:xfrm>
          <a:prstGeom prst="rect">
            <a:avLst/>
          </a:prstGeom>
        </p:spPr>
      </p:pic>
    </p:spTree>
    <p:extLst>
      <p:ext uri="{BB962C8B-B14F-4D97-AF65-F5344CB8AC3E}">
        <p14:creationId xmlns:p14="http://schemas.microsoft.com/office/powerpoint/2010/main" val="36996810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normAutofit/>
          </a:bodyPr>
          <a:lstStyle/>
          <a:p>
            <a:r>
              <a:rPr lang="en-US" dirty="0"/>
              <a:t>Nasogastric vs. </a:t>
            </a:r>
            <a:r>
              <a:rPr lang="en-US" dirty="0" err="1"/>
              <a:t>Nasojejunal</a:t>
            </a:r>
            <a:r>
              <a:rPr lang="en-US" dirty="0"/>
              <a:t> Feeding</a:t>
            </a:r>
          </a:p>
        </p:txBody>
      </p:sp>
      <p:pic>
        <p:nvPicPr>
          <p:cNvPr id="9" name="Content Placeholder 8">
            <a:extLst>
              <a:ext uri="{FF2B5EF4-FFF2-40B4-BE49-F238E27FC236}">
                <a16:creationId xmlns:a16="http://schemas.microsoft.com/office/drawing/2014/main" id="{9FBC251B-997D-9445-B849-54FDF2411A38}"/>
              </a:ext>
            </a:extLst>
          </p:cNvPr>
          <p:cNvPicPr>
            <a:picLocks noGrp="1" noChangeAspect="1"/>
          </p:cNvPicPr>
          <p:nvPr>
            <p:ph idx="1"/>
          </p:nvPr>
        </p:nvPicPr>
        <p:blipFill>
          <a:blip r:embed="rId2"/>
          <a:stretch>
            <a:fillRect/>
          </a:stretch>
        </p:blipFill>
        <p:spPr>
          <a:xfrm>
            <a:off x="1890627" y="1097280"/>
            <a:ext cx="8410746" cy="5682615"/>
          </a:xfrm>
          <a:prstGeom prst="rect">
            <a:avLst/>
          </a:prstGeom>
        </p:spPr>
      </p:pic>
    </p:spTree>
    <p:extLst>
      <p:ext uri="{BB962C8B-B14F-4D97-AF65-F5344CB8AC3E}">
        <p14:creationId xmlns:p14="http://schemas.microsoft.com/office/powerpoint/2010/main" val="40772766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Parenteral Nutrition</a:t>
            </a:r>
          </a:p>
        </p:txBody>
      </p:sp>
      <p:sp>
        <p:nvSpPr>
          <p:cNvPr id="4" name="Content Placeholder 3">
            <a:extLst>
              <a:ext uri="{FF2B5EF4-FFF2-40B4-BE49-F238E27FC236}">
                <a16:creationId xmlns:a16="http://schemas.microsoft.com/office/drawing/2014/main" id="{5F7C0A1A-1CBC-364D-8284-976EB0C72604}"/>
              </a:ext>
            </a:extLst>
          </p:cNvPr>
          <p:cNvSpPr>
            <a:spLocks noGrp="1"/>
          </p:cNvSpPr>
          <p:nvPr>
            <p:ph idx="1"/>
          </p:nvPr>
        </p:nvSpPr>
        <p:spPr/>
        <p:txBody>
          <a:bodyPr/>
          <a:lstStyle/>
          <a:p>
            <a:r>
              <a:rPr lang="en-US" dirty="0"/>
              <a:t>Should be only used for patients who do not tolerate enteral nutrition within 48-72 hours</a:t>
            </a:r>
          </a:p>
        </p:txBody>
      </p:sp>
    </p:spTree>
    <p:extLst>
      <p:ext uri="{BB962C8B-B14F-4D97-AF65-F5344CB8AC3E}">
        <p14:creationId xmlns:p14="http://schemas.microsoft.com/office/powerpoint/2010/main" val="31995911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Parenteral Nutrition</a:t>
            </a:r>
          </a:p>
        </p:txBody>
      </p:sp>
      <p:sp>
        <p:nvSpPr>
          <p:cNvPr id="4" name="Content Placeholder 3">
            <a:extLst>
              <a:ext uri="{FF2B5EF4-FFF2-40B4-BE49-F238E27FC236}">
                <a16:creationId xmlns:a16="http://schemas.microsoft.com/office/drawing/2014/main" id="{5F7C0A1A-1CBC-364D-8284-976EB0C72604}"/>
              </a:ext>
            </a:extLst>
          </p:cNvPr>
          <p:cNvSpPr>
            <a:spLocks noGrp="1"/>
          </p:cNvSpPr>
          <p:nvPr>
            <p:ph idx="1"/>
          </p:nvPr>
        </p:nvSpPr>
        <p:spPr/>
        <p:txBody>
          <a:bodyPr/>
          <a:lstStyle/>
          <a:p>
            <a:r>
              <a:rPr lang="en-US" dirty="0"/>
              <a:t>Should be only used for patients who do not tolerate enteral nutrition within 48-72 hours</a:t>
            </a:r>
          </a:p>
          <a:p>
            <a:endParaRPr lang="en-US" dirty="0"/>
          </a:p>
          <a:p>
            <a:pPr marL="0" indent="0" algn="ctr">
              <a:buNone/>
            </a:pPr>
            <a:r>
              <a:rPr lang="en-US" b="1" dirty="0"/>
              <a:t>Can you use parenteral nutrition in adjunct to enteral nutrition?</a:t>
            </a:r>
          </a:p>
        </p:txBody>
      </p:sp>
    </p:spTree>
    <p:extLst>
      <p:ext uri="{BB962C8B-B14F-4D97-AF65-F5344CB8AC3E}">
        <p14:creationId xmlns:p14="http://schemas.microsoft.com/office/powerpoint/2010/main" val="12972750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Parenteral Nutrition</a:t>
            </a:r>
          </a:p>
        </p:txBody>
      </p:sp>
      <p:sp>
        <p:nvSpPr>
          <p:cNvPr id="4" name="Content Placeholder 3">
            <a:extLst>
              <a:ext uri="{FF2B5EF4-FFF2-40B4-BE49-F238E27FC236}">
                <a16:creationId xmlns:a16="http://schemas.microsoft.com/office/drawing/2014/main" id="{5F7C0A1A-1CBC-364D-8284-976EB0C72604}"/>
              </a:ext>
            </a:extLst>
          </p:cNvPr>
          <p:cNvSpPr>
            <a:spLocks noGrp="1"/>
          </p:cNvSpPr>
          <p:nvPr>
            <p:ph idx="1"/>
          </p:nvPr>
        </p:nvSpPr>
        <p:spPr>
          <a:xfrm>
            <a:off x="838200" y="1579419"/>
            <a:ext cx="10515600" cy="2035464"/>
          </a:xfrm>
        </p:spPr>
        <p:txBody>
          <a:bodyPr/>
          <a:lstStyle/>
          <a:p>
            <a:r>
              <a:rPr lang="en-US" dirty="0"/>
              <a:t>Should be only used for patients who do not tolerate enteral nutrition within 48-72 hours</a:t>
            </a:r>
          </a:p>
          <a:p>
            <a:endParaRPr lang="en-US" dirty="0"/>
          </a:p>
          <a:p>
            <a:pPr marL="0" indent="0" algn="ctr">
              <a:buNone/>
            </a:pPr>
            <a:r>
              <a:rPr lang="en-US" b="1" dirty="0"/>
              <a:t>Can you use parenteral nutrition in adjunct to enteral nutrition?</a:t>
            </a:r>
          </a:p>
        </p:txBody>
      </p:sp>
      <p:pic>
        <p:nvPicPr>
          <p:cNvPr id="5" name="Picture 4">
            <a:extLst>
              <a:ext uri="{FF2B5EF4-FFF2-40B4-BE49-F238E27FC236}">
                <a16:creationId xmlns:a16="http://schemas.microsoft.com/office/drawing/2014/main" id="{993903D4-EB7A-DA41-9705-76F2327B5516}"/>
              </a:ext>
            </a:extLst>
          </p:cNvPr>
          <p:cNvPicPr>
            <a:picLocks noChangeAspect="1"/>
          </p:cNvPicPr>
          <p:nvPr/>
        </p:nvPicPr>
        <p:blipFill>
          <a:blip r:embed="rId2"/>
          <a:stretch>
            <a:fillRect/>
          </a:stretch>
        </p:blipFill>
        <p:spPr>
          <a:xfrm>
            <a:off x="400050" y="3614882"/>
            <a:ext cx="11391900" cy="1663700"/>
          </a:xfrm>
          <a:prstGeom prst="rect">
            <a:avLst/>
          </a:prstGeom>
        </p:spPr>
      </p:pic>
      <p:sp>
        <p:nvSpPr>
          <p:cNvPr id="6" name="Rectangle 5">
            <a:extLst>
              <a:ext uri="{FF2B5EF4-FFF2-40B4-BE49-F238E27FC236}">
                <a16:creationId xmlns:a16="http://schemas.microsoft.com/office/drawing/2014/main" id="{354C0C84-C777-2D40-8BCD-6114761652F9}"/>
              </a:ext>
            </a:extLst>
          </p:cNvPr>
          <p:cNvSpPr/>
          <p:nvPr/>
        </p:nvSpPr>
        <p:spPr>
          <a:xfrm>
            <a:off x="1892837" y="5530632"/>
            <a:ext cx="8406325" cy="707886"/>
          </a:xfrm>
          <a:prstGeom prst="rect">
            <a:avLst/>
          </a:prstGeom>
        </p:spPr>
        <p:txBody>
          <a:bodyPr wrap="square">
            <a:spAutoFit/>
          </a:bodyPr>
          <a:lstStyle/>
          <a:p>
            <a:pPr algn="ctr"/>
            <a:r>
              <a:rPr lang="en-US" sz="2000" dirty="0">
                <a:solidFill>
                  <a:srgbClr val="000000"/>
                </a:solidFill>
                <a:latin typeface="Quadraat" panose="02000503060000090004" pitchFamily="2" charset="0"/>
              </a:rPr>
              <a:t>“Late initiation of parenteral nutrition was associated with </a:t>
            </a:r>
            <a:r>
              <a:rPr lang="en-US" sz="2000" b="1" dirty="0">
                <a:solidFill>
                  <a:srgbClr val="000000"/>
                </a:solidFill>
                <a:latin typeface="Quadraat" panose="02000503060000090004" pitchFamily="2" charset="0"/>
              </a:rPr>
              <a:t>faster recovery </a:t>
            </a:r>
            <a:r>
              <a:rPr lang="en-US" sz="2000" dirty="0">
                <a:solidFill>
                  <a:srgbClr val="000000"/>
                </a:solidFill>
                <a:latin typeface="Quadraat" panose="02000503060000090004" pitchFamily="2" charset="0"/>
              </a:rPr>
              <a:t>and fewer complications, as compared with early initiation.”</a:t>
            </a:r>
            <a:endParaRPr lang="en-US" sz="2000" dirty="0">
              <a:latin typeface="Quadraat" panose="02000503060000090004" pitchFamily="2" charset="0"/>
            </a:endParaRPr>
          </a:p>
        </p:txBody>
      </p:sp>
    </p:spTree>
    <p:extLst>
      <p:ext uri="{BB962C8B-B14F-4D97-AF65-F5344CB8AC3E}">
        <p14:creationId xmlns:p14="http://schemas.microsoft.com/office/powerpoint/2010/main" val="33701351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Parenteral Nutrition</a:t>
            </a:r>
          </a:p>
        </p:txBody>
      </p:sp>
      <p:pic>
        <p:nvPicPr>
          <p:cNvPr id="8" name="Content Placeholder 7">
            <a:extLst>
              <a:ext uri="{FF2B5EF4-FFF2-40B4-BE49-F238E27FC236}">
                <a16:creationId xmlns:a16="http://schemas.microsoft.com/office/drawing/2014/main" id="{4F130499-0741-C042-8E13-07DAE0B17A33}"/>
              </a:ext>
            </a:extLst>
          </p:cNvPr>
          <p:cNvPicPr>
            <a:picLocks noGrp="1" noChangeAspect="1"/>
          </p:cNvPicPr>
          <p:nvPr>
            <p:ph idx="1"/>
          </p:nvPr>
        </p:nvPicPr>
        <p:blipFill>
          <a:blip r:embed="rId2"/>
          <a:stretch>
            <a:fillRect/>
          </a:stretch>
        </p:blipFill>
        <p:spPr>
          <a:xfrm>
            <a:off x="838200" y="2168201"/>
            <a:ext cx="10515600" cy="2521597"/>
          </a:xfrm>
          <a:prstGeom prst="rect">
            <a:avLst/>
          </a:prstGeom>
        </p:spPr>
      </p:pic>
    </p:spTree>
    <p:extLst>
      <p:ext uri="{BB962C8B-B14F-4D97-AF65-F5344CB8AC3E}">
        <p14:creationId xmlns:p14="http://schemas.microsoft.com/office/powerpoint/2010/main" val="15240606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Prophylactic Antibiotics</a:t>
            </a:r>
          </a:p>
        </p:txBody>
      </p:sp>
      <p:sp>
        <p:nvSpPr>
          <p:cNvPr id="3" name="Text Placeholder 2">
            <a:extLst>
              <a:ext uri="{FF2B5EF4-FFF2-40B4-BE49-F238E27FC236}">
                <a16:creationId xmlns:a16="http://schemas.microsoft.com/office/drawing/2014/main" id="{59DF8AFA-F707-9640-A929-4F2B9A7833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752860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Prophylactic Antibiotics</a:t>
            </a:r>
          </a:p>
        </p:txBody>
      </p:sp>
      <p:pic>
        <p:nvPicPr>
          <p:cNvPr id="5" name="Picture 4">
            <a:extLst>
              <a:ext uri="{FF2B5EF4-FFF2-40B4-BE49-F238E27FC236}">
                <a16:creationId xmlns:a16="http://schemas.microsoft.com/office/drawing/2014/main" id="{885E60BE-7873-8544-BC5C-A8BB44DACC95}"/>
              </a:ext>
            </a:extLst>
          </p:cNvPr>
          <p:cNvPicPr>
            <a:picLocks noChangeAspect="1"/>
          </p:cNvPicPr>
          <p:nvPr/>
        </p:nvPicPr>
        <p:blipFill rotWithShape="1">
          <a:blip r:embed="rId2"/>
          <a:srcRect t="7440"/>
          <a:stretch/>
        </p:blipFill>
        <p:spPr>
          <a:xfrm>
            <a:off x="364761" y="1010750"/>
            <a:ext cx="11462478" cy="5084476"/>
          </a:xfrm>
          <a:prstGeom prst="rect">
            <a:avLst/>
          </a:prstGeom>
        </p:spPr>
      </p:pic>
      <p:sp>
        <p:nvSpPr>
          <p:cNvPr id="6" name="Rectangle 5">
            <a:extLst>
              <a:ext uri="{FF2B5EF4-FFF2-40B4-BE49-F238E27FC236}">
                <a16:creationId xmlns:a16="http://schemas.microsoft.com/office/drawing/2014/main" id="{B9E31620-A2E9-844A-BC7D-1C13E19EB36D}"/>
              </a:ext>
            </a:extLst>
          </p:cNvPr>
          <p:cNvSpPr/>
          <p:nvPr/>
        </p:nvSpPr>
        <p:spPr>
          <a:xfrm>
            <a:off x="5765369" y="6396335"/>
            <a:ext cx="6426631" cy="461665"/>
          </a:xfrm>
          <a:prstGeom prst="rect">
            <a:avLst/>
          </a:prstGeom>
        </p:spPr>
        <p:txBody>
          <a:bodyPr wrap="square">
            <a:spAutoFit/>
          </a:bodyPr>
          <a:lstStyle/>
          <a:p>
            <a:pPr algn="r"/>
            <a:r>
              <a:rPr lang="en-US" sz="1200" dirty="0">
                <a:latin typeface="Quadraat" panose="02000503060000090004" pitchFamily="2" charset="0"/>
              </a:rPr>
              <a:t>Vege et al.. (2018). Initial Medical Treatment of Acute Pancreatitis: American Gastroenterological Association Institute Technical Review. Gastroenterology, 154(4), 1103–1139.</a:t>
            </a:r>
          </a:p>
        </p:txBody>
      </p:sp>
    </p:spTree>
    <p:extLst>
      <p:ext uri="{BB962C8B-B14F-4D97-AF65-F5344CB8AC3E}">
        <p14:creationId xmlns:p14="http://schemas.microsoft.com/office/powerpoint/2010/main" val="10928812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Prophylactic Antibiotics</a:t>
            </a:r>
          </a:p>
        </p:txBody>
      </p:sp>
      <p:pic>
        <p:nvPicPr>
          <p:cNvPr id="5" name="Picture 4">
            <a:extLst>
              <a:ext uri="{FF2B5EF4-FFF2-40B4-BE49-F238E27FC236}">
                <a16:creationId xmlns:a16="http://schemas.microsoft.com/office/drawing/2014/main" id="{885E60BE-7873-8544-BC5C-A8BB44DACC95}"/>
              </a:ext>
            </a:extLst>
          </p:cNvPr>
          <p:cNvPicPr>
            <a:picLocks noChangeAspect="1"/>
          </p:cNvPicPr>
          <p:nvPr/>
        </p:nvPicPr>
        <p:blipFill rotWithShape="1">
          <a:blip r:embed="rId2"/>
          <a:srcRect t="7440"/>
          <a:stretch/>
        </p:blipFill>
        <p:spPr>
          <a:xfrm>
            <a:off x="364761" y="1010750"/>
            <a:ext cx="11462478" cy="5084476"/>
          </a:xfrm>
          <a:prstGeom prst="rect">
            <a:avLst/>
          </a:prstGeom>
        </p:spPr>
      </p:pic>
      <p:sp>
        <p:nvSpPr>
          <p:cNvPr id="6" name="Rectangle 5">
            <a:extLst>
              <a:ext uri="{FF2B5EF4-FFF2-40B4-BE49-F238E27FC236}">
                <a16:creationId xmlns:a16="http://schemas.microsoft.com/office/drawing/2014/main" id="{B9E31620-A2E9-844A-BC7D-1C13E19EB36D}"/>
              </a:ext>
            </a:extLst>
          </p:cNvPr>
          <p:cNvSpPr/>
          <p:nvPr/>
        </p:nvSpPr>
        <p:spPr>
          <a:xfrm>
            <a:off x="5765369" y="6396335"/>
            <a:ext cx="6426631" cy="461665"/>
          </a:xfrm>
          <a:prstGeom prst="rect">
            <a:avLst/>
          </a:prstGeom>
        </p:spPr>
        <p:txBody>
          <a:bodyPr wrap="square">
            <a:spAutoFit/>
          </a:bodyPr>
          <a:lstStyle/>
          <a:p>
            <a:pPr algn="r"/>
            <a:r>
              <a:rPr lang="en-US" sz="1200" dirty="0">
                <a:latin typeface="Quadraat" panose="02000503060000090004" pitchFamily="2" charset="0"/>
              </a:rPr>
              <a:t>Vege et al.. (2018). Initial Medical Treatment of Acute Pancreatitis: American Gastroenterological Association Institute Technical Review. Gastroenterology, 154(4), 1103–1139.</a:t>
            </a:r>
          </a:p>
        </p:txBody>
      </p:sp>
      <p:sp>
        <p:nvSpPr>
          <p:cNvPr id="7" name="Rectangle 6">
            <a:extLst>
              <a:ext uri="{FF2B5EF4-FFF2-40B4-BE49-F238E27FC236}">
                <a16:creationId xmlns:a16="http://schemas.microsoft.com/office/drawing/2014/main" id="{659089BC-CFD2-1841-9A87-A4ED5EE7EF05}"/>
              </a:ext>
            </a:extLst>
          </p:cNvPr>
          <p:cNvSpPr/>
          <p:nvPr/>
        </p:nvSpPr>
        <p:spPr>
          <a:xfrm>
            <a:off x="364761" y="2494210"/>
            <a:ext cx="11483140" cy="7075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i="1" dirty="0">
              <a:latin typeface="Quadraat" panose="02000503060000090004" pitchFamily="2" charset="0"/>
            </a:endParaRPr>
          </a:p>
        </p:txBody>
      </p:sp>
    </p:spTree>
    <p:extLst>
      <p:ext uri="{BB962C8B-B14F-4D97-AF65-F5344CB8AC3E}">
        <p14:creationId xmlns:p14="http://schemas.microsoft.com/office/powerpoint/2010/main" val="9830387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26F-79F7-0F4D-86F1-72989B59AAB2}"/>
              </a:ext>
            </a:extLst>
          </p:cNvPr>
          <p:cNvSpPr>
            <a:spLocks noGrp="1"/>
          </p:cNvSpPr>
          <p:nvPr>
            <p:ph type="title"/>
          </p:nvPr>
        </p:nvSpPr>
        <p:spPr/>
        <p:txBody>
          <a:bodyPr/>
          <a:lstStyle/>
          <a:p>
            <a:r>
              <a:rPr lang="en-US" dirty="0"/>
              <a:t>Antibiotics</a:t>
            </a:r>
          </a:p>
        </p:txBody>
      </p:sp>
      <p:pic>
        <p:nvPicPr>
          <p:cNvPr id="5" name="Content Placeholder 4">
            <a:extLst>
              <a:ext uri="{FF2B5EF4-FFF2-40B4-BE49-F238E27FC236}">
                <a16:creationId xmlns:a16="http://schemas.microsoft.com/office/drawing/2014/main" id="{741F1912-7099-8840-A1B8-AC42F6615E25}"/>
              </a:ext>
            </a:extLst>
          </p:cNvPr>
          <p:cNvPicPr>
            <a:picLocks noGrp="1" noChangeAspect="1"/>
          </p:cNvPicPr>
          <p:nvPr>
            <p:ph idx="1"/>
          </p:nvPr>
        </p:nvPicPr>
        <p:blipFill>
          <a:blip r:embed="rId2"/>
          <a:stretch>
            <a:fillRect/>
          </a:stretch>
        </p:blipFill>
        <p:spPr>
          <a:xfrm>
            <a:off x="838200" y="2167783"/>
            <a:ext cx="10515600" cy="2522433"/>
          </a:xfrm>
          <a:prstGeom prst="rect">
            <a:avLst/>
          </a:prstGeom>
        </p:spPr>
      </p:pic>
    </p:spTree>
    <p:extLst>
      <p:ext uri="{BB962C8B-B14F-4D97-AF65-F5344CB8AC3E}">
        <p14:creationId xmlns:p14="http://schemas.microsoft.com/office/powerpoint/2010/main" val="23482509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b="1" dirty="0"/>
              <a:t>When do you repeat a CT scan?</a:t>
            </a:r>
          </a:p>
        </p:txBody>
      </p:sp>
      <p:sp>
        <p:nvSpPr>
          <p:cNvPr id="5" name="Text Placeholder 4">
            <a:extLst>
              <a:ext uri="{FF2B5EF4-FFF2-40B4-BE49-F238E27FC236}">
                <a16:creationId xmlns:a16="http://schemas.microsoft.com/office/drawing/2014/main" id="{3F8B4597-F7CF-944C-B77B-EBFFC04C94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587513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b="1" dirty="0"/>
              <a:t>When do you repeat a CT scan?</a:t>
            </a:r>
          </a:p>
        </p:txBody>
      </p:sp>
      <p:sp>
        <p:nvSpPr>
          <p:cNvPr id="5" name="Text Placeholder 4">
            <a:extLst>
              <a:ext uri="{FF2B5EF4-FFF2-40B4-BE49-F238E27FC236}">
                <a16:creationId xmlns:a16="http://schemas.microsoft.com/office/drawing/2014/main" id="{3F8B4597-F7CF-944C-B77B-EBFFC04C9471}"/>
              </a:ext>
            </a:extLst>
          </p:cNvPr>
          <p:cNvSpPr>
            <a:spLocks noGrp="1"/>
          </p:cNvSpPr>
          <p:nvPr>
            <p:ph type="body" idx="1"/>
          </p:nvPr>
        </p:nvSpPr>
        <p:spPr/>
        <p:txBody>
          <a:bodyPr/>
          <a:lstStyle/>
          <a:p>
            <a:pPr algn="ctr"/>
            <a:r>
              <a:rPr lang="en-US" dirty="0">
                <a:solidFill>
                  <a:schemeClr val="tx1"/>
                </a:solidFill>
              </a:rPr>
              <a:t>Only indicated if the pancreatitis is severe, lasts longer than 48 hours, or complications are suspected. </a:t>
            </a:r>
          </a:p>
        </p:txBody>
      </p:sp>
    </p:spTree>
    <p:extLst>
      <p:ext uri="{BB962C8B-B14F-4D97-AF65-F5344CB8AC3E}">
        <p14:creationId xmlns:p14="http://schemas.microsoft.com/office/powerpoint/2010/main" val="16287338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b="1" dirty="0"/>
              <a:t>When do you trend lipase/amylase?</a:t>
            </a:r>
          </a:p>
        </p:txBody>
      </p:sp>
      <p:sp>
        <p:nvSpPr>
          <p:cNvPr id="5" name="Text Placeholder 4">
            <a:extLst>
              <a:ext uri="{FF2B5EF4-FFF2-40B4-BE49-F238E27FC236}">
                <a16:creationId xmlns:a16="http://schemas.microsoft.com/office/drawing/2014/main" id="{3F8B4597-F7CF-944C-B77B-EBFFC04C94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225193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b="1" dirty="0"/>
              <a:t>When do you trend lipase/amylase?</a:t>
            </a:r>
          </a:p>
        </p:txBody>
      </p:sp>
      <p:sp>
        <p:nvSpPr>
          <p:cNvPr id="5" name="Text Placeholder 4">
            <a:extLst>
              <a:ext uri="{FF2B5EF4-FFF2-40B4-BE49-F238E27FC236}">
                <a16:creationId xmlns:a16="http://schemas.microsoft.com/office/drawing/2014/main" id="{3F8B4597-F7CF-944C-B77B-EBFFC04C9471}"/>
              </a:ext>
            </a:extLst>
          </p:cNvPr>
          <p:cNvSpPr>
            <a:spLocks noGrp="1"/>
          </p:cNvSpPr>
          <p:nvPr>
            <p:ph type="body" idx="1"/>
          </p:nvPr>
        </p:nvSpPr>
        <p:spPr/>
        <p:txBody>
          <a:bodyPr>
            <a:normAutofit fontScale="92500" lnSpcReduction="10000"/>
          </a:bodyPr>
          <a:lstStyle/>
          <a:p>
            <a:pPr algn="ctr"/>
            <a:r>
              <a:rPr lang="en-US" sz="11500" b="1" dirty="0">
                <a:solidFill>
                  <a:srgbClr val="FF0000"/>
                </a:solidFill>
                <a:highlight>
                  <a:srgbClr val="FFFF00"/>
                </a:highlight>
              </a:rPr>
              <a:t>Never.</a:t>
            </a:r>
          </a:p>
        </p:txBody>
      </p:sp>
    </p:spTree>
    <p:extLst>
      <p:ext uri="{BB962C8B-B14F-4D97-AF65-F5344CB8AC3E}">
        <p14:creationId xmlns:p14="http://schemas.microsoft.com/office/powerpoint/2010/main" val="18614723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135C29-F8B6-0641-9845-BAC431DAC42F}"/>
              </a:ext>
            </a:extLst>
          </p:cNvPr>
          <p:cNvSpPr>
            <a:spLocks noGrp="1"/>
          </p:cNvSpPr>
          <p:nvPr>
            <p:ph type="title"/>
          </p:nvPr>
        </p:nvSpPr>
        <p:spPr/>
        <p:txBody>
          <a:bodyPr/>
          <a:lstStyle/>
          <a:p>
            <a:r>
              <a:rPr lang="en-US" dirty="0"/>
              <a:t>Investigating the Etiology</a:t>
            </a:r>
          </a:p>
        </p:txBody>
      </p:sp>
      <p:sp>
        <p:nvSpPr>
          <p:cNvPr id="5" name="Text Placeholder 4">
            <a:extLst>
              <a:ext uri="{FF2B5EF4-FFF2-40B4-BE49-F238E27FC236}">
                <a16:creationId xmlns:a16="http://schemas.microsoft.com/office/drawing/2014/main" id="{68E7A4E7-600C-7446-914A-2F815E4A942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407609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135C29-F8B6-0641-9845-BAC431DAC42F}"/>
              </a:ext>
            </a:extLst>
          </p:cNvPr>
          <p:cNvSpPr>
            <a:spLocks noGrp="1"/>
          </p:cNvSpPr>
          <p:nvPr>
            <p:ph type="title"/>
          </p:nvPr>
        </p:nvSpPr>
        <p:spPr/>
        <p:txBody>
          <a:bodyPr/>
          <a:lstStyle/>
          <a:p>
            <a:r>
              <a:rPr lang="en-US" dirty="0"/>
              <a:t>Investigating the Etiology</a:t>
            </a:r>
          </a:p>
        </p:txBody>
      </p:sp>
      <p:sp>
        <p:nvSpPr>
          <p:cNvPr id="2" name="Content Placeholder 1">
            <a:extLst>
              <a:ext uri="{FF2B5EF4-FFF2-40B4-BE49-F238E27FC236}">
                <a16:creationId xmlns:a16="http://schemas.microsoft.com/office/drawing/2014/main" id="{923B113F-EF8A-7C4D-BC50-64D3C6D982AD}"/>
              </a:ext>
            </a:extLst>
          </p:cNvPr>
          <p:cNvSpPr>
            <a:spLocks noGrp="1"/>
          </p:cNvSpPr>
          <p:nvPr>
            <p:ph idx="1"/>
          </p:nvPr>
        </p:nvSpPr>
        <p:spPr/>
        <p:txBody>
          <a:bodyPr/>
          <a:lstStyle/>
          <a:p>
            <a:pPr marL="0" indent="0">
              <a:buNone/>
            </a:pPr>
            <a:r>
              <a:rPr lang="en-US" b="1" dirty="0"/>
              <a:t>Every patient with acute pancreatitis should get those investigations:</a:t>
            </a:r>
          </a:p>
          <a:p>
            <a:r>
              <a:rPr lang="en-US" dirty="0"/>
              <a:t>Med reconciliation</a:t>
            </a:r>
          </a:p>
          <a:p>
            <a:r>
              <a:rPr lang="en-US" dirty="0"/>
              <a:t>Alcohol levels</a:t>
            </a:r>
          </a:p>
          <a:p>
            <a:r>
              <a:rPr lang="en-US" dirty="0"/>
              <a:t>Triglycerides level</a:t>
            </a:r>
          </a:p>
          <a:p>
            <a:r>
              <a:rPr lang="en-US" dirty="0"/>
              <a:t>RUQ ultrasound</a:t>
            </a:r>
          </a:p>
          <a:p>
            <a:r>
              <a:rPr lang="en-US" dirty="0"/>
              <a:t>IgG4/IgG-levels (if recurrent, other association, or imaging findings)</a:t>
            </a:r>
          </a:p>
          <a:p>
            <a:r>
              <a:rPr lang="en-US" dirty="0"/>
              <a:t>Calcium levels (BMP)</a:t>
            </a:r>
          </a:p>
          <a:p>
            <a:endParaRPr lang="en-US" dirty="0"/>
          </a:p>
        </p:txBody>
      </p:sp>
    </p:spTree>
    <p:extLst>
      <p:ext uri="{BB962C8B-B14F-4D97-AF65-F5344CB8AC3E}">
        <p14:creationId xmlns:p14="http://schemas.microsoft.com/office/powerpoint/2010/main" val="27108720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135C29-F8B6-0641-9845-BAC431DAC42F}"/>
              </a:ext>
            </a:extLst>
          </p:cNvPr>
          <p:cNvSpPr>
            <a:spLocks noGrp="1"/>
          </p:cNvSpPr>
          <p:nvPr>
            <p:ph type="title"/>
          </p:nvPr>
        </p:nvSpPr>
        <p:spPr/>
        <p:txBody>
          <a:bodyPr/>
          <a:lstStyle/>
          <a:p>
            <a:r>
              <a:rPr lang="en-US" dirty="0"/>
              <a:t>Specific Management</a:t>
            </a:r>
          </a:p>
        </p:txBody>
      </p:sp>
      <p:sp>
        <p:nvSpPr>
          <p:cNvPr id="5" name="Text Placeholder 4">
            <a:extLst>
              <a:ext uri="{FF2B5EF4-FFF2-40B4-BE49-F238E27FC236}">
                <a16:creationId xmlns:a16="http://schemas.microsoft.com/office/drawing/2014/main" id="{68E7A4E7-600C-7446-914A-2F815E4A942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837311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135C29-F8B6-0641-9845-BAC431DAC42F}"/>
              </a:ext>
            </a:extLst>
          </p:cNvPr>
          <p:cNvSpPr>
            <a:spLocks noGrp="1"/>
          </p:cNvSpPr>
          <p:nvPr>
            <p:ph type="title"/>
          </p:nvPr>
        </p:nvSpPr>
        <p:spPr/>
        <p:txBody>
          <a:bodyPr/>
          <a:lstStyle/>
          <a:p>
            <a:r>
              <a:rPr lang="en-US" dirty="0"/>
              <a:t>Specific Management</a:t>
            </a:r>
          </a:p>
        </p:txBody>
      </p:sp>
      <p:sp>
        <p:nvSpPr>
          <p:cNvPr id="5" name="Text Placeholder 4">
            <a:extLst>
              <a:ext uri="{FF2B5EF4-FFF2-40B4-BE49-F238E27FC236}">
                <a16:creationId xmlns:a16="http://schemas.microsoft.com/office/drawing/2014/main" id="{68E7A4E7-600C-7446-914A-2F815E4A9423}"/>
              </a:ext>
            </a:extLst>
          </p:cNvPr>
          <p:cNvSpPr>
            <a:spLocks noGrp="1"/>
          </p:cNvSpPr>
          <p:nvPr>
            <p:ph type="body" idx="1"/>
          </p:nvPr>
        </p:nvSpPr>
        <p:spPr/>
        <p:txBody>
          <a:bodyPr>
            <a:normAutofit/>
          </a:bodyPr>
          <a:lstStyle/>
          <a:p>
            <a:pPr algn="ctr"/>
            <a:r>
              <a:rPr lang="en-US" sz="3600" dirty="0"/>
              <a:t>Acute Biliary Pancreatitis</a:t>
            </a:r>
          </a:p>
        </p:txBody>
      </p:sp>
    </p:spTree>
    <p:extLst>
      <p:ext uri="{BB962C8B-B14F-4D97-AF65-F5344CB8AC3E}">
        <p14:creationId xmlns:p14="http://schemas.microsoft.com/office/powerpoint/2010/main" val="4894767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59A0C90-6757-6248-A120-B805BD51CB6B}"/>
              </a:ext>
            </a:extLst>
          </p:cNvPr>
          <p:cNvSpPr>
            <a:spLocks noGrp="1"/>
          </p:cNvSpPr>
          <p:nvPr>
            <p:ph type="title"/>
          </p:nvPr>
        </p:nvSpPr>
        <p:spPr/>
        <p:txBody>
          <a:bodyPr/>
          <a:lstStyle/>
          <a:p>
            <a:r>
              <a:rPr lang="en-US" dirty="0"/>
              <a:t>Acute Biliary Pancreatitis</a:t>
            </a:r>
          </a:p>
        </p:txBody>
      </p:sp>
      <p:sp>
        <p:nvSpPr>
          <p:cNvPr id="2" name="Content Placeholder 1">
            <a:extLst>
              <a:ext uri="{FF2B5EF4-FFF2-40B4-BE49-F238E27FC236}">
                <a16:creationId xmlns:a16="http://schemas.microsoft.com/office/drawing/2014/main" id="{248BE59F-555B-4D4B-A5CD-4EE1F415CA9D}"/>
              </a:ext>
            </a:extLst>
          </p:cNvPr>
          <p:cNvSpPr>
            <a:spLocks noGrp="1"/>
          </p:cNvSpPr>
          <p:nvPr>
            <p:ph idx="1"/>
          </p:nvPr>
        </p:nvSpPr>
        <p:spPr>
          <a:xfrm>
            <a:off x="838200" y="1579418"/>
            <a:ext cx="10515600" cy="4597545"/>
          </a:xfrm>
        </p:spPr>
        <p:txBody>
          <a:bodyPr/>
          <a:lstStyle/>
          <a:p>
            <a:r>
              <a:rPr lang="en-US" dirty="0"/>
              <a:t>Patients with acute pancreatitis who are found to have gallstones are presumed to have acute biliary pancreatitis</a:t>
            </a:r>
          </a:p>
          <a:p>
            <a:r>
              <a:rPr lang="en-US" dirty="0"/>
              <a:t>Recommendation is to perform a cholecystectomy for all comers with acute biliary pancreatitis</a:t>
            </a:r>
          </a:p>
        </p:txBody>
      </p:sp>
    </p:spTree>
    <p:extLst>
      <p:ext uri="{BB962C8B-B14F-4D97-AF65-F5344CB8AC3E}">
        <p14:creationId xmlns:p14="http://schemas.microsoft.com/office/powerpoint/2010/main" val="34831491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59A0C90-6757-6248-A120-B805BD51CB6B}"/>
              </a:ext>
            </a:extLst>
          </p:cNvPr>
          <p:cNvSpPr>
            <a:spLocks noGrp="1"/>
          </p:cNvSpPr>
          <p:nvPr>
            <p:ph type="title"/>
          </p:nvPr>
        </p:nvSpPr>
        <p:spPr/>
        <p:txBody>
          <a:bodyPr/>
          <a:lstStyle/>
          <a:p>
            <a:r>
              <a:rPr lang="en-US" dirty="0"/>
              <a:t>Acute Biliary Pancreatitis</a:t>
            </a:r>
          </a:p>
        </p:txBody>
      </p:sp>
      <p:sp>
        <p:nvSpPr>
          <p:cNvPr id="2" name="Content Placeholder 1">
            <a:extLst>
              <a:ext uri="{FF2B5EF4-FFF2-40B4-BE49-F238E27FC236}">
                <a16:creationId xmlns:a16="http://schemas.microsoft.com/office/drawing/2014/main" id="{248BE59F-555B-4D4B-A5CD-4EE1F415CA9D}"/>
              </a:ext>
            </a:extLst>
          </p:cNvPr>
          <p:cNvSpPr>
            <a:spLocks noGrp="1"/>
          </p:cNvSpPr>
          <p:nvPr>
            <p:ph idx="1"/>
          </p:nvPr>
        </p:nvSpPr>
        <p:spPr>
          <a:xfrm>
            <a:off x="838200" y="1579418"/>
            <a:ext cx="10515600" cy="4597545"/>
          </a:xfrm>
        </p:spPr>
        <p:txBody>
          <a:bodyPr/>
          <a:lstStyle/>
          <a:p>
            <a:r>
              <a:rPr lang="en-US" dirty="0"/>
              <a:t>Patients with acute pancreatitis who are found to have gallstones are presumed to have acute biliary pancreatitis</a:t>
            </a:r>
          </a:p>
          <a:p>
            <a:r>
              <a:rPr lang="en-US" dirty="0"/>
              <a:t>Recommendation is to perform a cholecystectomy for all comers with acute biliary pancreatitis</a:t>
            </a:r>
          </a:p>
          <a:p>
            <a:endParaRPr lang="en-US" dirty="0"/>
          </a:p>
          <a:p>
            <a:pPr marL="0" indent="0" algn="ctr">
              <a:buNone/>
            </a:pPr>
            <a:r>
              <a:rPr lang="en-US" sz="3600" b="1" dirty="0"/>
              <a:t>What is the ideal timing for cholecystectomy?</a:t>
            </a:r>
          </a:p>
        </p:txBody>
      </p:sp>
    </p:spTree>
    <p:extLst>
      <p:ext uri="{BB962C8B-B14F-4D97-AF65-F5344CB8AC3E}">
        <p14:creationId xmlns:p14="http://schemas.microsoft.com/office/powerpoint/2010/main" val="20155564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59A0C90-6757-6248-A120-B805BD51CB6B}"/>
              </a:ext>
            </a:extLst>
          </p:cNvPr>
          <p:cNvSpPr>
            <a:spLocks noGrp="1"/>
          </p:cNvSpPr>
          <p:nvPr>
            <p:ph type="title"/>
          </p:nvPr>
        </p:nvSpPr>
        <p:spPr/>
        <p:txBody>
          <a:bodyPr/>
          <a:lstStyle/>
          <a:p>
            <a:r>
              <a:rPr lang="en-US" dirty="0"/>
              <a:t>Acute Biliary Pancreatitis</a:t>
            </a:r>
          </a:p>
        </p:txBody>
      </p:sp>
      <p:pic>
        <p:nvPicPr>
          <p:cNvPr id="4" name="Picture 3">
            <a:extLst>
              <a:ext uri="{FF2B5EF4-FFF2-40B4-BE49-F238E27FC236}">
                <a16:creationId xmlns:a16="http://schemas.microsoft.com/office/drawing/2014/main" id="{326F1242-5505-0342-966A-507EEA540FC0}"/>
              </a:ext>
            </a:extLst>
          </p:cNvPr>
          <p:cNvPicPr>
            <a:picLocks noChangeAspect="1"/>
          </p:cNvPicPr>
          <p:nvPr/>
        </p:nvPicPr>
        <p:blipFill>
          <a:blip r:embed="rId2"/>
          <a:stretch>
            <a:fillRect/>
          </a:stretch>
        </p:blipFill>
        <p:spPr>
          <a:xfrm>
            <a:off x="635000" y="1097280"/>
            <a:ext cx="11557000" cy="1206500"/>
          </a:xfrm>
          <a:prstGeom prst="rect">
            <a:avLst/>
          </a:prstGeom>
        </p:spPr>
      </p:pic>
      <p:pic>
        <p:nvPicPr>
          <p:cNvPr id="10" name="Picture 9">
            <a:extLst>
              <a:ext uri="{FF2B5EF4-FFF2-40B4-BE49-F238E27FC236}">
                <a16:creationId xmlns:a16="http://schemas.microsoft.com/office/drawing/2014/main" id="{98FA195E-C630-6B4E-9E75-76060FFB463F}"/>
              </a:ext>
            </a:extLst>
          </p:cNvPr>
          <p:cNvPicPr>
            <a:picLocks noChangeAspect="1"/>
          </p:cNvPicPr>
          <p:nvPr/>
        </p:nvPicPr>
        <p:blipFill>
          <a:blip r:embed="rId3"/>
          <a:stretch>
            <a:fillRect/>
          </a:stretch>
        </p:blipFill>
        <p:spPr>
          <a:xfrm>
            <a:off x="1646337" y="2246628"/>
            <a:ext cx="8899325" cy="4509135"/>
          </a:xfrm>
          <a:prstGeom prst="rect">
            <a:avLst/>
          </a:prstGeom>
        </p:spPr>
      </p:pic>
    </p:spTree>
    <p:extLst>
      <p:ext uri="{BB962C8B-B14F-4D97-AF65-F5344CB8AC3E}">
        <p14:creationId xmlns:p14="http://schemas.microsoft.com/office/powerpoint/2010/main" val="30504599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59A0C90-6757-6248-A120-B805BD51CB6B}"/>
              </a:ext>
            </a:extLst>
          </p:cNvPr>
          <p:cNvSpPr>
            <a:spLocks noGrp="1"/>
          </p:cNvSpPr>
          <p:nvPr>
            <p:ph type="title"/>
          </p:nvPr>
        </p:nvSpPr>
        <p:spPr/>
        <p:txBody>
          <a:bodyPr/>
          <a:lstStyle/>
          <a:p>
            <a:r>
              <a:rPr lang="en-US" dirty="0"/>
              <a:t>Acute Biliary Pancreatitis</a:t>
            </a:r>
          </a:p>
        </p:txBody>
      </p:sp>
      <p:pic>
        <p:nvPicPr>
          <p:cNvPr id="8" name="Content Placeholder 7">
            <a:extLst>
              <a:ext uri="{FF2B5EF4-FFF2-40B4-BE49-F238E27FC236}">
                <a16:creationId xmlns:a16="http://schemas.microsoft.com/office/drawing/2014/main" id="{3304B9E5-1377-4F41-86E4-C4BE001F4A20}"/>
              </a:ext>
            </a:extLst>
          </p:cNvPr>
          <p:cNvPicPr>
            <a:picLocks noGrp="1" noChangeAspect="1"/>
          </p:cNvPicPr>
          <p:nvPr>
            <p:ph idx="1"/>
          </p:nvPr>
        </p:nvPicPr>
        <p:blipFill>
          <a:blip r:embed="rId2"/>
          <a:stretch>
            <a:fillRect/>
          </a:stretch>
        </p:blipFill>
        <p:spPr>
          <a:xfrm>
            <a:off x="838200" y="1957429"/>
            <a:ext cx="10515600" cy="2943141"/>
          </a:xfrm>
          <a:prstGeom prst="rect">
            <a:avLst/>
          </a:prstGeom>
        </p:spPr>
      </p:pic>
    </p:spTree>
    <p:extLst>
      <p:ext uri="{BB962C8B-B14F-4D97-AF65-F5344CB8AC3E}">
        <p14:creationId xmlns:p14="http://schemas.microsoft.com/office/powerpoint/2010/main" val="21590506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88F048-0582-0247-8302-0E88CB6D9E7B}"/>
              </a:ext>
            </a:extLst>
          </p:cNvPr>
          <p:cNvSpPr>
            <a:spLocks noGrp="1"/>
          </p:cNvSpPr>
          <p:nvPr>
            <p:ph type="title"/>
          </p:nvPr>
        </p:nvSpPr>
        <p:spPr/>
        <p:txBody>
          <a:bodyPr/>
          <a:lstStyle/>
          <a:p>
            <a:r>
              <a:rPr lang="en-US" dirty="0"/>
              <a:t>What about ERCP?</a:t>
            </a:r>
          </a:p>
        </p:txBody>
      </p:sp>
      <p:sp>
        <p:nvSpPr>
          <p:cNvPr id="5" name="Text Placeholder 4">
            <a:extLst>
              <a:ext uri="{FF2B5EF4-FFF2-40B4-BE49-F238E27FC236}">
                <a16:creationId xmlns:a16="http://schemas.microsoft.com/office/drawing/2014/main" id="{AEBD4C28-A56E-7B41-87A8-01A28A0F93D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974472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88F048-0582-0247-8302-0E88CB6D9E7B}"/>
              </a:ext>
            </a:extLst>
          </p:cNvPr>
          <p:cNvSpPr>
            <a:spLocks noGrp="1"/>
          </p:cNvSpPr>
          <p:nvPr>
            <p:ph type="title"/>
          </p:nvPr>
        </p:nvSpPr>
        <p:spPr/>
        <p:txBody>
          <a:bodyPr/>
          <a:lstStyle/>
          <a:p>
            <a:r>
              <a:rPr lang="en-US" dirty="0"/>
              <a:t>What about ERCP?</a:t>
            </a:r>
          </a:p>
        </p:txBody>
      </p:sp>
      <p:sp>
        <p:nvSpPr>
          <p:cNvPr id="2" name="Content Placeholder 1">
            <a:extLst>
              <a:ext uri="{FF2B5EF4-FFF2-40B4-BE49-F238E27FC236}">
                <a16:creationId xmlns:a16="http://schemas.microsoft.com/office/drawing/2014/main" id="{2D900217-AECF-624A-918A-B9D7C95D725C}"/>
              </a:ext>
            </a:extLst>
          </p:cNvPr>
          <p:cNvSpPr>
            <a:spLocks noGrp="1"/>
          </p:cNvSpPr>
          <p:nvPr>
            <p:ph idx="1"/>
          </p:nvPr>
        </p:nvSpPr>
        <p:spPr>
          <a:xfrm>
            <a:off x="838200" y="1097280"/>
            <a:ext cx="10515600" cy="5079683"/>
          </a:xfrm>
        </p:spPr>
        <p:txBody>
          <a:bodyPr/>
          <a:lstStyle/>
          <a:p>
            <a:r>
              <a:rPr lang="en-US" dirty="0"/>
              <a:t>8 RCTs were done investigating the role of urgent ERCP in acute biliary pancreatitis</a:t>
            </a:r>
          </a:p>
          <a:p>
            <a:r>
              <a:rPr lang="en-US" dirty="0"/>
              <a:t>In the absence of cholangitis and/or choledocholithiasis, it was found that there is no difference in the primary and secondary outcomes of people with acute biliary pancreatitis</a:t>
            </a:r>
          </a:p>
          <a:p>
            <a:endParaRPr lang="en-US" dirty="0"/>
          </a:p>
        </p:txBody>
      </p:sp>
      <p:sp>
        <p:nvSpPr>
          <p:cNvPr id="6" name="Rectangle 5">
            <a:extLst>
              <a:ext uri="{FF2B5EF4-FFF2-40B4-BE49-F238E27FC236}">
                <a16:creationId xmlns:a16="http://schemas.microsoft.com/office/drawing/2014/main" id="{554ECB7A-853B-F541-813C-3EA77C35BC20}"/>
              </a:ext>
            </a:extLst>
          </p:cNvPr>
          <p:cNvSpPr/>
          <p:nvPr/>
        </p:nvSpPr>
        <p:spPr>
          <a:xfrm>
            <a:off x="3831019" y="6412125"/>
            <a:ext cx="8401926" cy="430887"/>
          </a:xfrm>
          <a:prstGeom prst="rect">
            <a:avLst/>
          </a:prstGeom>
        </p:spPr>
        <p:txBody>
          <a:bodyPr wrap="square">
            <a:spAutoFit/>
          </a:bodyPr>
          <a:lstStyle/>
          <a:p>
            <a:pPr algn="r"/>
            <a:r>
              <a:rPr lang="en-US" sz="1100" dirty="0">
                <a:latin typeface="Quadraat" panose="02000503060000090004" pitchFamily="2" charset="0"/>
              </a:rPr>
              <a:t>Vege, S. S., </a:t>
            </a:r>
            <a:r>
              <a:rPr lang="en-US" sz="1100" dirty="0" err="1">
                <a:latin typeface="Quadraat" panose="02000503060000090004" pitchFamily="2" charset="0"/>
              </a:rPr>
              <a:t>DiMagno</a:t>
            </a:r>
            <a:r>
              <a:rPr lang="en-US" sz="1100" dirty="0">
                <a:latin typeface="Quadraat" panose="02000503060000090004" pitchFamily="2" charset="0"/>
              </a:rPr>
              <a:t>, M. J., </a:t>
            </a:r>
            <a:r>
              <a:rPr lang="en-US" sz="1100" dirty="0" err="1">
                <a:latin typeface="Quadraat" panose="02000503060000090004" pitchFamily="2" charset="0"/>
              </a:rPr>
              <a:t>Forsmark</a:t>
            </a:r>
            <a:r>
              <a:rPr lang="en-US" sz="1100" dirty="0">
                <a:latin typeface="Quadraat" panose="02000503060000090004" pitchFamily="2" charset="0"/>
              </a:rPr>
              <a:t>, C. E., Martel, M., &amp; </a:t>
            </a:r>
            <a:r>
              <a:rPr lang="en-US" sz="1100" dirty="0" err="1">
                <a:latin typeface="Quadraat" panose="02000503060000090004" pitchFamily="2" charset="0"/>
              </a:rPr>
              <a:t>Barkun</a:t>
            </a:r>
            <a:r>
              <a:rPr lang="en-US" sz="1100" dirty="0">
                <a:latin typeface="Quadraat" panose="02000503060000090004" pitchFamily="2" charset="0"/>
              </a:rPr>
              <a:t>, A. N. (2018). Initial Medical Treatment of Acute Pancreatitis: American Gastroenterological Association Institute Technical Review. Gastroenterology, 154(4), 1103–1139. https://</a:t>
            </a:r>
            <a:r>
              <a:rPr lang="en-US" sz="1100" dirty="0" err="1">
                <a:latin typeface="Quadraat" panose="02000503060000090004" pitchFamily="2" charset="0"/>
              </a:rPr>
              <a:t>doi.org</a:t>
            </a:r>
            <a:r>
              <a:rPr lang="en-US" sz="1100" dirty="0">
                <a:latin typeface="Quadraat" panose="02000503060000090004" pitchFamily="2" charset="0"/>
              </a:rPr>
              <a:t>/10.1053/j.gastro.2018.01.031</a:t>
            </a:r>
          </a:p>
        </p:txBody>
      </p:sp>
    </p:spTree>
    <p:extLst>
      <p:ext uri="{BB962C8B-B14F-4D97-AF65-F5344CB8AC3E}">
        <p14:creationId xmlns:p14="http://schemas.microsoft.com/office/powerpoint/2010/main" val="12137574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88F048-0582-0247-8302-0E88CB6D9E7B}"/>
              </a:ext>
            </a:extLst>
          </p:cNvPr>
          <p:cNvSpPr>
            <a:spLocks noGrp="1"/>
          </p:cNvSpPr>
          <p:nvPr>
            <p:ph type="title"/>
          </p:nvPr>
        </p:nvSpPr>
        <p:spPr/>
        <p:txBody>
          <a:bodyPr/>
          <a:lstStyle/>
          <a:p>
            <a:r>
              <a:rPr lang="en-US" dirty="0"/>
              <a:t>What about ERCP?</a:t>
            </a:r>
          </a:p>
        </p:txBody>
      </p:sp>
      <p:sp>
        <p:nvSpPr>
          <p:cNvPr id="2" name="Content Placeholder 1">
            <a:extLst>
              <a:ext uri="{FF2B5EF4-FFF2-40B4-BE49-F238E27FC236}">
                <a16:creationId xmlns:a16="http://schemas.microsoft.com/office/drawing/2014/main" id="{2D900217-AECF-624A-918A-B9D7C95D725C}"/>
              </a:ext>
            </a:extLst>
          </p:cNvPr>
          <p:cNvSpPr>
            <a:spLocks noGrp="1"/>
          </p:cNvSpPr>
          <p:nvPr>
            <p:ph idx="1"/>
          </p:nvPr>
        </p:nvSpPr>
        <p:spPr>
          <a:xfrm>
            <a:off x="838200" y="1097280"/>
            <a:ext cx="10515600" cy="5079683"/>
          </a:xfrm>
        </p:spPr>
        <p:txBody>
          <a:bodyPr/>
          <a:lstStyle/>
          <a:p>
            <a:r>
              <a:rPr lang="en-US" dirty="0"/>
              <a:t>8 RCTs were done investigating the role of urgent ERCP in acute biliary pancreatitis</a:t>
            </a:r>
          </a:p>
          <a:p>
            <a:r>
              <a:rPr lang="en-US" dirty="0"/>
              <a:t>In the absence of cholangitis and/or choledocholithiasis, it was found that there is no difference in the primary and secondary outcomes of people with acute biliary pancreatitis</a:t>
            </a:r>
          </a:p>
          <a:p>
            <a:endParaRPr lang="en-US" dirty="0"/>
          </a:p>
        </p:txBody>
      </p:sp>
      <p:pic>
        <p:nvPicPr>
          <p:cNvPr id="3" name="Picture 2">
            <a:extLst>
              <a:ext uri="{FF2B5EF4-FFF2-40B4-BE49-F238E27FC236}">
                <a16:creationId xmlns:a16="http://schemas.microsoft.com/office/drawing/2014/main" id="{A7C44194-3691-D347-9F76-6F092380DF8F}"/>
              </a:ext>
            </a:extLst>
          </p:cNvPr>
          <p:cNvPicPr>
            <a:picLocks noChangeAspect="1"/>
          </p:cNvPicPr>
          <p:nvPr/>
        </p:nvPicPr>
        <p:blipFill>
          <a:blip r:embed="rId2"/>
          <a:stretch>
            <a:fillRect/>
          </a:stretch>
        </p:blipFill>
        <p:spPr>
          <a:xfrm>
            <a:off x="450850" y="3535363"/>
            <a:ext cx="11290300" cy="2641600"/>
          </a:xfrm>
          <a:prstGeom prst="rect">
            <a:avLst/>
          </a:prstGeom>
        </p:spPr>
      </p:pic>
      <p:sp>
        <p:nvSpPr>
          <p:cNvPr id="6" name="Rectangle 5">
            <a:extLst>
              <a:ext uri="{FF2B5EF4-FFF2-40B4-BE49-F238E27FC236}">
                <a16:creationId xmlns:a16="http://schemas.microsoft.com/office/drawing/2014/main" id="{554ECB7A-853B-F541-813C-3EA77C35BC20}"/>
              </a:ext>
            </a:extLst>
          </p:cNvPr>
          <p:cNvSpPr/>
          <p:nvPr/>
        </p:nvSpPr>
        <p:spPr>
          <a:xfrm>
            <a:off x="3831019" y="6412125"/>
            <a:ext cx="8401926" cy="430887"/>
          </a:xfrm>
          <a:prstGeom prst="rect">
            <a:avLst/>
          </a:prstGeom>
        </p:spPr>
        <p:txBody>
          <a:bodyPr wrap="square">
            <a:spAutoFit/>
          </a:bodyPr>
          <a:lstStyle/>
          <a:p>
            <a:pPr algn="r"/>
            <a:r>
              <a:rPr lang="en-US" sz="1100" dirty="0">
                <a:latin typeface="Quadraat" panose="02000503060000090004" pitchFamily="2" charset="0"/>
              </a:rPr>
              <a:t>Vege, S. S., </a:t>
            </a:r>
            <a:r>
              <a:rPr lang="en-US" sz="1100" dirty="0" err="1">
                <a:latin typeface="Quadraat" panose="02000503060000090004" pitchFamily="2" charset="0"/>
              </a:rPr>
              <a:t>DiMagno</a:t>
            </a:r>
            <a:r>
              <a:rPr lang="en-US" sz="1100" dirty="0">
                <a:latin typeface="Quadraat" panose="02000503060000090004" pitchFamily="2" charset="0"/>
              </a:rPr>
              <a:t>, M. J., </a:t>
            </a:r>
            <a:r>
              <a:rPr lang="en-US" sz="1100" dirty="0" err="1">
                <a:latin typeface="Quadraat" panose="02000503060000090004" pitchFamily="2" charset="0"/>
              </a:rPr>
              <a:t>Forsmark</a:t>
            </a:r>
            <a:r>
              <a:rPr lang="en-US" sz="1100" dirty="0">
                <a:latin typeface="Quadraat" panose="02000503060000090004" pitchFamily="2" charset="0"/>
              </a:rPr>
              <a:t>, C. E., Martel, M., &amp; </a:t>
            </a:r>
            <a:r>
              <a:rPr lang="en-US" sz="1100" dirty="0" err="1">
                <a:latin typeface="Quadraat" panose="02000503060000090004" pitchFamily="2" charset="0"/>
              </a:rPr>
              <a:t>Barkun</a:t>
            </a:r>
            <a:r>
              <a:rPr lang="en-US" sz="1100" dirty="0">
                <a:latin typeface="Quadraat" panose="02000503060000090004" pitchFamily="2" charset="0"/>
              </a:rPr>
              <a:t>, A. N. (2018). Initial Medical Treatment of Acute Pancreatitis: American Gastroenterological Association Institute Technical Review. Gastroenterology, 154(4), 1103–1139. https://</a:t>
            </a:r>
            <a:r>
              <a:rPr lang="en-US" sz="1100" dirty="0" err="1">
                <a:latin typeface="Quadraat" panose="02000503060000090004" pitchFamily="2" charset="0"/>
              </a:rPr>
              <a:t>doi.org</a:t>
            </a:r>
            <a:r>
              <a:rPr lang="en-US" sz="1100" dirty="0">
                <a:latin typeface="Quadraat" panose="02000503060000090004" pitchFamily="2" charset="0"/>
              </a:rPr>
              <a:t>/10.1053/j.gastro.2018.01.031</a:t>
            </a:r>
          </a:p>
        </p:txBody>
      </p:sp>
    </p:spTree>
    <p:extLst>
      <p:ext uri="{BB962C8B-B14F-4D97-AF65-F5344CB8AC3E}">
        <p14:creationId xmlns:p14="http://schemas.microsoft.com/office/powerpoint/2010/main" val="12788118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135C29-F8B6-0641-9845-BAC431DAC42F}"/>
              </a:ext>
            </a:extLst>
          </p:cNvPr>
          <p:cNvSpPr>
            <a:spLocks noGrp="1"/>
          </p:cNvSpPr>
          <p:nvPr>
            <p:ph type="title"/>
          </p:nvPr>
        </p:nvSpPr>
        <p:spPr/>
        <p:txBody>
          <a:bodyPr/>
          <a:lstStyle/>
          <a:p>
            <a:r>
              <a:rPr lang="en-US" dirty="0"/>
              <a:t>Specific Management</a:t>
            </a:r>
          </a:p>
        </p:txBody>
      </p:sp>
      <p:sp>
        <p:nvSpPr>
          <p:cNvPr id="5" name="Text Placeholder 4">
            <a:extLst>
              <a:ext uri="{FF2B5EF4-FFF2-40B4-BE49-F238E27FC236}">
                <a16:creationId xmlns:a16="http://schemas.microsoft.com/office/drawing/2014/main" id="{68E7A4E7-600C-7446-914A-2F815E4A9423}"/>
              </a:ext>
            </a:extLst>
          </p:cNvPr>
          <p:cNvSpPr>
            <a:spLocks noGrp="1"/>
          </p:cNvSpPr>
          <p:nvPr>
            <p:ph type="body" idx="1"/>
          </p:nvPr>
        </p:nvSpPr>
        <p:spPr/>
        <p:txBody>
          <a:bodyPr>
            <a:normAutofit/>
          </a:bodyPr>
          <a:lstStyle/>
          <a:p>
            <a:pPr algn="ctr"/>
            <a:r>
              <a:rPr lang="en-US" sz="3600" dirty="0"/>
              <a:t>Acute </a:t>
            </a:r>
            <a:r>
              <a:rPr lang="en-US" sz="3600" dirty="0" err="1"/>
              <a:t>Hypertriglyceridemic</a:t>
            </a:r>
            <a:r>
              <a:rPr lang="en-US" sz="3600" dirty="0"/>
              <a:t> Pancreatitis</a:t>
            </a:r>
          </a:p>
        </p:txBody>
      </p:sp>
    </p:spTree>
    <p:extLst>
      <p:ext uri="{BB962C8B-B14F-4D97-AF65-F5344CB8AC3E}">
        <p14:creationId xmlns:p14="http://schemas.microsoft.com/office/powerpoint/2010/main" val="11795053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0407C8-9F1A-BF46-BDF7-7AF1213CA176}"/>
              </a:ext>
            </a:extLst>
          </p:cNvPr>
          <p:cNvPicPr>
            <a:picLocks noChangeAspect="1"/>
          </p:cNvPicPr>
          <p:nvPr/>
        </p:nvPicPr>
        <p:blipFill>
          <a:blip r:embed="rId2"/>
          <a:stretch>
            <a:fillRect/>
          </a:stretch>
        </p:blipFill>
        <p:spPr>
          <a:xfrm>
            <a:off x="3759200" y="1059815"/>
            <a:ext cx="8432800" cy="5753100"/>
          </a:xfrm>
          <a:prstGeom prst="rect">
            <a:avLst/>
          </a:prstGeom>
        </p:spPr>
      </p:pic>
      <p:sp>
        <p:nvSpPr>
          <p:cNvPr id="6" name="Title 5">
            <a:extLst>
              <a:ext uri="{FF2B5EF4-FFF2-40B4-BE49-F238E27FC236}">
                <a16:creationId xmlns:a16="http://schemas.microsoft.com/office/drawing/2014/main" id="{759A0C90-6757-6248-A120-B805BD51CB6B}"/>
              </a:ext>
            </a:extLst>
          </p:cNvPr>
          <p:cNvSpPr>
            <a:spLocks noGrp="1"/>
          </p:cNvSpPr>
          <p:nvPr>
            <p:ph type="title"/>
          </p:nvPr>
        </p:nvSpPr>
        <p:spPr/>
        <p:txBody>
          <a:bodyPr/>
          <a:lstStyle/>
          <a:p>
            <a:r>
              <a:rPr lang="en-US" dirty="0"/>
              <a:t>Acute </a:t>
            </a:r>
            <a:r>
              <a:rPr lang="en-US" dirty="0" err="1"/>
              <a:t>Hypertriglyceridemic</a:t>
            </a:r>
            <a:r>
              <a:rPr lang="en-US" dirty="0"/>
              <a:t> Pancreatitis</a:t>
            </a:r>
          </a:p>
        </p:txBody>
      </p:sp>
      <p:sp>
        <p:nvSpPr>
          <p:cNvPr id="3" name="Content Placeholder 2">
            <a:extLst>
              <a:ext uri="{FF2B5EF4-FFF2-40B4-BE49-F238E27FC236}">
                <a16:creationId xmlns:a16="http://schemas.microsoft.com/office/drawing/2014/main" id="{167C23EB-FE72-A94A-9F69-ED50DB960ADB}"/>
              </a:ext>
            </a:extLst>
          </p:cNvPr>
          <p:cNvSpPr>
            <a:spLocks noGrp="1"/>
          </p:cNvSpPr>
          <p:nvPr>
            <p:ph idx="1"/>
          </p:nvPr>
        </p:nvSpPr>
        <p:spPr>
          <a:xfrm>
            <a:off x="176924" y="1097280"/>
            <a:ext cx="3796862" cy="5079683"/>
          </a:xfrm>
        </p:spPr>
        <p:txBody>
          <a:bodyPr/>
          <a:lstStyle/>
          <a:p>
            <a:r>
              <a:rPr lang="en-US" dirty="0"/>
              <a:t>Serum triglycerides level of </a:t>
            </a:r>
            <a:r>
              <a:rPr lang="en-US" b="1" dirty="0"/>
              <a:t>&gt; 1000 mg /dL</a:t>
            </a:r>
          </a:p>
          <a:p>
            <a:r>
              <a:rPr lang="en-US" dirty="0"/>
              <a:t>Apheresis vs. Insulin infusion, depending on severity and availability</a:t>
            </a:r>
          </a:p>
          <a:p>
            <a:r>
              <a:rPr lang="en-US" dirty="0"/>
              <a:t>Target triglycerides level is </a:t>
            </a:r>
            <a:r>
              <a:rPr lang="en-US" b="1" dirty="0"/>
              <a:t>&lt; 500 mg /dL</a:t>
            </a:r>
          </a:p>
          <a:p>
            <a:r>
              <a:rPr lang="en-US" dirty="0"/>
              <a:t>Initiate fibrate therapy</a:t>
            </a:r>
          </a:p>
          <a:p>
            <a:endParaRPr lang="en-US" dirty="0"/>
          </a:p>
        </p:txBody>
      </p:sp>
    </p:spTree>
    <p:extLst>
      <p:ext uri="{BB962C8B-B14F-4D97-AF65-F5344CB8AC3E}">
        <p14:creationId xmlns:p14="http://schemas.microsoft.com/office/powerpoint/2010/main" val="7297150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135C29-F8B6-0641-9845-BAC431DAC42F}"/>
              </a:ext>
            </a:extLst>
          </p:cNvPr>
          <p:cNvSpPr>
            <a:spLocks noGrp="1"/>
          </p:cNvSpPr>
          <p:nvPr>
            <p:ph type="title"/>
          </p:nvPr>
        </p:nvSpPr>
        <p:spPr/>
        <p:txBody>
          <a:bodyPr/>
          <a:lstStyle/>
          <a:p>
            <a:r>
              <a:rPr lang="en-US" dirty="0"/>
              <a:t>Specific Management</a:t>
            </a:r>
          </a:p>
        </p:txBody>
      </p:sp>
      <p:sp>
        <p:nvSpPr>
          <p:cNvPr id="5" name="Text Placeholder 4">
            <a:extLst>
              <a:ext uri="{FF2B5EF4-FFF2-40B4-BE49-F238E27FC236}">
                <a16:creationId xmlns:a16="http://schemas.microsoft.com/office/drawing/2014/main" id="{68E7A4E7-600C-7446-914A-2F815E4A9423}"/>
              </a:ext>
            </a:extLst>
          </p:cNvPr>
          <p:cNvSpPr>
            <a:spLocks noGrp="1"/>
          </p:cNvSpPr>
          <p:nvPr>
            <p:ph type="body" idx="1"/>
          </p:nvPr>
        </p:nvSpPr>
        <p:spPr/>
        <p:txBody>
          <a:bodyPr>
            <a:normAutofit/>
          </a:bodyPr>
          <a:lstStyle/>
          <a:p>
            <a:pPr algn="ctr"/>
            <a:r>
              <a:rPr lang="en-US" sz="3600" dirty="0"/>
              <a:t>Acute Autoimmune Pancreatitis</a:t>
            </a:r>
          </a:p>
        </p:txBody>
      </p:sp>
    </p:spTree>
    <p:extLst>
      <p:ext uri="{BB962C8B-B14F-4D97-AF65-F5344CB8AC3E}">
        <p14:creationId xmlns:p14="http://schemas.microsoft.com/office/powerpoint/2010/main" val="34883762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F844-0C59-D542-8CEF-0F691EE33E5F}"/>
              </a:ext>
            </a:extLst>
          </p:cNvPr>
          <p:cNvSpPr>
            <a:spLocks noGrp="1"/>
          </p:cNvSpPr>
          <p:nvPr>
            <p:ph type="title"/>
          </p:nvPr>
        </p:nvSpPr>
        <p:spPr/>
        <p:txBody>
          <a:bodyPr/>
          <a:lstStyle/>
          <a:p>
            <a:r>
              <a:rPr lang="en-US" dirty="0"/>
              <a:t>Acute Autoimmune Pancreatitis</a:t>
            </a:r>
          </a:p>
        </p:txBody>
      </p:sp>
      <p:sp>
        <p:nvSpPr>
          <p:cNvPr id="3" name="Content Placeholder 2">
            <a:extLst>
              <a:ext uri="{FF2B5EF4-FFF2-40B4-BE49-F238E27FC236}">
                <a16:creationId xmlns:a16="http://schemas.microsoft.com/office/drawing/2014/main" id="{AE129C68-C7D7-4B4F-81BC-D243E4E8DFFB}"/>
              </a:ext>
            </a:extLst>
          </p:cNvPr>
          <p:cNvSpPr>
            <a:spLocks noGrp="1"/>
          </p:cNvSpPr>
          <p:nvPr>
            <p:ph idx="1"/>
          </p:nvPr>
        </p:nvSpPr>
        <p:spPr>
          <a:xfrm>
            <a:off x="385011" y="1632423"/>
            <a:ext cx="6543145" cy="4430110"/>
          </a:xfrm>
        </p:spPr>
        <p:txBody>
          <a:bodyPr/>
          <a:lstStyle/>
          <a:p>
            <a:r>
              <a:rPr lang="en-US" b="1" dirty="0"/>
              <a:t>Sausage-like</a:t>
            </a:r>
            <a:r>
              <a:rPr lang="en-US" dirty="0"/>
              <a:t> swelling of pancreas with loss of pancreatic clefts and thin, symmetric </a:t>
            </a:r>
            <a:r>
              <a:rPr lang="en-US" b="1" dirty="0"/>
              <a:t>capsule-like rim </a:t>
            </a:r>
            <a:r>
              <a:rPr lang="en-US" dirty="0"/>
              <a:t>of low attenuation surrounding pancreas</a:t>
            </a:r>
          </a:p>
          <a:p>
            <a:r>
              <a:rPr lang="en-US" b="1" dirty="0"/>
              <a:t>Can be misdiagnosed as pancreatic cancer</a:t>
            </a:r>
          </a:p>
          <a:p>
            <a:r>
              <a:rPr lang="en-US" dirty="0"/>
              <a:t>IgG4 levels (don’t forget total IgG levels)</a:t>
            </a:r>
          </a:p>
          <a:p>
            <a:r>
              <a:rPr lang="en-US" dirty="0"/>
              <a:t>Treatment is </a:t>
            </a:r>
            <a:r>
              <a:rPr lang="en-US" b="1" dirty="0"/>
              <a:t>glucocorticoids</a:t>
            </a:r>
          </a:p>
        </p:txBody>
      </p:sp>
      <p:pic>
        <p:nvPicPr>
          <p:cNvPr id="4" name="Picture 3">
            <a:extLst>
              <a:ext uri="{FF2B5EF4-FFF2-40B4-BE49-F238E27FC236}">
                <a16:creationId xmlns:a16="http://schemas.microsoft.com/office/drawing/2014/main" id="{E2FFCACF-A77F-A34B-B76A-3CF7A3E10E36}"/>
              </a:ext>
            </a:extLst>
          </p:cNvPr>
          <p:cNvPicPr>
            <a:picLocks noChangeAspect="1"/>
          </p:cNvPicPr>
          <p:nvPr/>
        </p:nvPicPr>
        <p:blipFill>
          <a:blip r:embed="rId2"/>
          <a:stretch>
            <a:fillRect/>
          </a:stretch>
        </p:blipFill>
        <p:spPr>
          <a:xfrm>
            <a:off x="6928156" y="1632423"/>
            <a:ext cx="5090424" cy="4430110"/>
          </a:xfrm>
          <a:prstGeom prst="rect">
            <a:avLst/>
          </a:prstGeom>
        </p:spPr>
      </p:pic>
    </p:spTree>
    <p:extLst>
      <p:ext uri="{BB962C8B-B14F-4D97-AF65-F5344CB8AC3E}">
        <p14:creationId xmlns:p14="http://schemas.microsoft.com/office/powerpoint/2010/main" val="42844974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dirty="0"/>
              <a:t>Local Complications of Acute Pancreatitis</a:t>
            </a:r>
          </a:p>
        </p:txBody>
      </p:sp>
      <p:sp>
        <p:nvSpPr>
          <p:cNvPr id="5" name="Text Placeholder 4">
            <a:extLst>
              <a:ext uri="{FF2B5EF4-FFF2-40B4-BE49-F238E27FC236}">
                <a16:creationId xmlns:a16="http://schemas.microsoft.com/office/drawing/2014/main" id="{3F8B4597-F7CF-944C-B77B-EBFFC04C94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259113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D0C705-24D4-7A40-9CCA-6699AE184928}"/>
              </a:ext>
            </a:extLst>
          </p:cNvPr>
          <p:cNvSpPr>
            <a:spLocks noGrp="1"/>
          </p:cNvSpPr>
          <p:nvPr>
            <p:ph type="title"/>
          </p:nvPr>
        </p:nvSpPr>
        <p:spPr/>
        <p:txBody>
          <a:bodyPr/>
          <a:lstStyle/>
          <a:p>
            <a:r>
              <a:rPr lang="en-US" dirty="0"/>
              <a:t>Subgrouping of Acute Pancreatitis</a:t>
            </a:r>
          </a:p>
        </p:txBody>
      </p:sp>
      <p:sp>
        <p:nvSpPr>
          <p:cNvPr id="5" name="Content Placeholder 4">
            <a:extLst>
              <a:ext uri="{FF2B5EF4-FFF2-40B4-BE49-F238E27FC236}">
                <a16:creationId xmlns:a16="http://schemas.microsoft.com/office/drawing/2014/main" id="{39D154EB-1210-F344-8BA9-9E4DB785911C}"/>
              </a:ext>
            </a:extLst>
          </p:cNvPr>
          <p:cNvSpPr>
            <a:spLocks noGrp="1"/>
          </p:cNvSpPr>
          <p:nvPr>
            <p:ph idx="1"/>
          </p:nvPr>
        </p:nvSpPr>
        <p:spPr/>
        <p:txBody>
          <a:bodyPr/>
          <a:lstStyle/>
          <a:p>
            <a:r>
              <a:rPr lang="en-US" dirty="0"/>
              <a:t>In the revised Atlanta classifications, acute pancreatitis can be divided into two categories </a:t>
            </a:r>
          </a:p>
          <a:p>
            <a:endParaRPr lang="en-US" dirty="0"/>
          </a:p>
          <a:p>
            <a:pPr marL="514350" indent="-514350">
              <a:buFont typeface="+mj-lt"/>
              <a:buAutoNum type="arabicPeriod"/>
            </a:pPr>
            <a:r>
              <a:rPr lang="en-US" sz="4400" b="1" dirty="0"/>
              <a:t>Interstitial edematous pancreatitis (IEP)</a:t>
            </a:r>
          </a:p>
          <a:p>
            <a:pPr marL="514350" indent="-514350">
              <a:buFont typeface="+mj-lt"/>
              <a:buAutoNum type="arabicPeriod"/>
            </a:pPr>
            <a:r>
              <a:rPr lang="en-US" sz="4400" b="1" dirty="0"/>
              <a:t>Necrotizing pancreatitis</a:t>
            </a:r>
          </a:p>
        </p:txBody>
      </p:sp>
    </p:spTree>
    <p:extLst>
      <p:ext uri="{BB962C8B-B14F-4D97-AF65-F5344CB8AC3E}">
        <p14:creationId xmlns:p14="http://schemas.microsoft.com/office/powerpoint/2010/main" val="13164467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D0C705-24D4-7A40-9CCA-6699AE184928}"/>
              </a:ext>
            </a:extLst>
          </p:cNvPr>
          <p:cNvSpPr>
            <a:spLocks noGrp="1"/>
          </p:cNvSpPr>
          <p:nvPr>
            <p:ph type="title"/>
          </p:nvPr>
        </p:nvSpPr>
        <p:spPr/>
        <p:txBody>
          <a:bodyPr/>
          <a:lstStyle/>
          <a:p>
            <a:r>
              <a:rPr lang="en-US" dirty="0"/>
              <a:t>Subgrouping of Acute Pancreatitis</a:t>
            </a:r>
          </a:p>
        </p:txBody>
      </p:sp>
      <p:graphicFrame>
        <p:nvGraphicFramePr>
          <p:cNvPr id="6" name="Content Placeholder 5">
            <a:extLst>
              <a:ext uri="{FF2B5EF4-FFF2-40B4-BE49-F238E27FC236}">
                <a16:creationId xmlns:a16="http://schemas.microsoft.com/office/drawing/2014/main" id="{86F24723-2FC2-2A48-88A9-82A5B6129955}"/>
              </a:ext>
            </a:extLst>
          </p:cNvPr>
          <p:cNvGraphicFramePr>
            <a:graphicFrameLocks noGrp="1"/>
          </p:cNvGraphicFramePr>
          <p:nvPr>
            <p:ph idx="1"/>
            <p:extLst>
              <p:ext uri="{D42A27DB-BD31-4B8C-83A1-F6EECF244321}">
                <p14:modId xmlns:p14="http://schemas.microsoft.com/office/powerpoint/2010/main" val="3154655114"/>
              </p:ext>
            </p:extLst>
          </p:nvPr>
        </p:nvGraphicFramePr>
        <p:xfrm>
          <a:off x="838200" y="1579563"/>
          <a:ext cx="10515600" cy="490728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89517611"/>
                    </a:ext>
                  </a:extLst>
                </a:gridCol>
                <a:gridCol w="5257800">
                  <a:extLst>
                    <a:ext uri="{9D8B030D-6E8A-4147-A177-3AD203B41FA5}">
                      <a16:colId xmlns:a16="http://schemas.microsoft.com/office/drawing/2014/main" val="1861154084"/>
                    </a:ext>
                  </a:extLst>
                </a:gridCol>
              </a:tblGrid>
              <a:tr h="370840">
                <a:tc>
                  <a:txBody>
                    <a:bodyPr/>
                    <a:lstStyle/>
                    <a:p>
                      <a:pPr algn="ctr"/>
                      <a:r>
                        <a:rPr lang="en-US" sz="3200" b="1" dirty="0">
                          <a:latin typeface="Quadraat" panose="02000503060000090004" pitchFamily="2" charset="0"/>
                        </a:rPr>
                        <a:t>Interstitial edematous pancreatitis (IEP)</a:t>
                      </a:r>
                    </a:p>
                  </a:txBody>
                  <a:tcPr/>
                </a:tc>
                <a:tc>
                  <a:txBody>
                    <a:bodyPr/>
                    <a:lstStyle/>
                    <a:p>
                      <a:pPr algn="ctr"/>
                      <a:r>
                        <a:rPr lang="en-US" sz="3200" b="1" dirty="0">
                          <a:latin typeface="Quadraat" panose="02000503060000090004" pitchFamily="2" charset="0"/>
                        </a:rPr>
                        <a:t>Necrotizing pancreatitis</a:t>
                      </a:r>
                    </a:p>
                  </a:txBody>
                  <a:tcPr/>
                </a:tc>
                <a:extLst>
                  <a:ext uri="{0D108BD9-81ED-4DB2-BD59-A6C34878D82A}">
                    <a16:rowId xmlns:a16="http://schemas.microsoft.com/office/drawing/2014/main" val="2448317991"/>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2400" kern="1200" dirty="0">
                          <a:effectLst/>
                          <a:latin typeface="Quadraat" panose="02000503060000090004" pitchFamily="2" charset="0"/>
                        </a:rPr>
                        <a:t>Non-necrotizing inflammation of the pancreas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2400" kern="1200" dirty="0">
                          <a:solidFill>
                            <a:schemeClr val="tx1"/>
                          </a:solidFill>
                          <a:effectLst/>
                          <a:latin typeface="Quadraat" panose="02000503060000090004" pitchFamily="2" charset="0"/>
                          <a:ea typeface="+mn-ea"/>
                          <a:cs typeface="+mn-cs"/>
                        </a:rPr>
                        <a:t>The entire pancreas will enhance at contrast-enhanced CT or MR imaging, with no unenhanced (necrotic) areas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2400" dirty="0">
                          <a:latin typeface="Quadraat" panose="02000503060000090004" pitchFamily="2" charset="0"/>
                        </a:rPr>
                        <a:t>There should be no surrounding peri- pancreatic necrotic collections</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lang="en-US" sz="2400" dirty="0">
                        <a:latin typeface="Quadraat" panose="02000503060000090004" pitchFamily="2" charset="0"/>
                      </a:endParaRPr>
                    </a:p>
                  </a:txBody>
                  <a:tcPr/>
                </a:tc>
                <a:tc>
                  <a:txBody>
                    <a:bodyPr/>
                    <a:lstStyle/>
                    <a:p>
                      <a:pPr marL="285750" indent="-285750">
                        <a:buFontTx/>
                        <a:buChar char="-"/>
                      </a:pPr>
                      <a:r>
                        <a:rPr lang="en-US" sz="2400" dirty="0">
                          <a:latin typeface="Quadraat" panose="02000503060000090004" pitchFamily="2" charset="0"/>
                        </a:rPr>
                        <a:t>Necrosis may involve either the pancreatic parenchyma or the peripancreatic tissues</a:t>
                      </a:r>
                    </a:p>
                    <a:p>
                      <a:pPr marL="285750" indent="-285750">
                        <a:buFontTx/>
                        <a:buChar char="-"/>
                      </a:pPr>
                      <a:r>
                        <a:rPr lang="en-US" sz="2400" dirty="0">
                          <a:latin typeface="Quadraat" panose="02000503060000090004" pitchFamily="2" charset="0"/>
                        </a:rPr>
                        <a:t>Can involve pancreas, peripancreatic tissue or both which is most common</a:t>
                      </a:r>
                    </a:p>
                    <a:p>
                      <a:pPr marL="285750" indent="-285750">
                        <a:buFontTx/>
                        <a:buChar char="-"/>
                      </a:pPr>
                      <a:endParaRPr lang="en-US" sz="2400" dirty="0">
                        <a:latin typeface="Quadraat" panose="02000503060000090004" pitchFamily="2" charset="0"/>
                      </a:endParaRPr>
                    </a:p>
                    <a:p>
                      <a:pPr marL="285750" indent="-285750">
                        <a:buFontTx/>
                        <a:buChar char="-"/>
                      </a:pPr>
                      <a:endParaRPr lang="en-US" sz="2400" dirty="0">
                        <a:latin typeface="Quadraat" panose="02000503060000090004" pitchFamily="2" charset="0"/>
                      </a:endParaRPr>
                    </a:p>
                    <a:p>
                      <a:endParaRPr lang="en-US" sz="2400" dirty="0">
                        <a:latin typeface="Quadraat" panose="02000503060000090004" pitchFamily="2" charset="0"/>
                      </a:endParaRPr>
                    </a:p>
                  </a:txBody>
                  <a:tcPr/>
                </a:tc>
                <a:extLst>
                  <a:ext uri="{0D108BD9-81ED-4DB2-BD59-A6C34878D82A}">
                    <a16:rowId xmlns:a16="http://schemas.microsoft.com/office/drawing/2014/main" val="1312349481"/>
                  </a:ext>
                </a:extLst>
              </a:tr>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Quadraat" panose="02000503060000090004" pitchFamily="2" charset="0"/>
                        </a:rPr>
                        <a:t>When imaging is performed within the first few days of disease onset, necrosis may not be detected</a:t>
                      </a:r>
                    </a:p>
                  </a:txBody>
                  <a:tcPr/>
                </a:tc>
                <a:tc hMerge="1">
                  <a:txBody>
                    <a:bodyPr/>
                    <a:lstStyle/>
                    <a:p>
                      <a:endParaRPr lang="en-US" dirty="0">
                        <a:latin typeface="Quadraat" panose="02000503060000090004" pitchFamily="2" charset="0"/>
                      </a:endParaRPr>
                    </a:p>
                  </a:txBody>
                  <a:tcPr/>
                </a:tc>
                <a:extLst>
                  <a:ext uri="{0D108BD9-81ED-4DB2-BD59-A6C34878D82A}">
                    <a16:rowId xmlns:a16="http://schemas.microsoft.com/office/drawing/2014/main" val="3876838191"/>
                  </a:ext>
                </a:extLst>
              </a:tr>
            </a:tbl>
          </a:graphicData>
        </a:graphic>
      </p:graphicFrame>
    </p:spTree>
    <p:extLst>
      <p:ext uri="{BB962C8B-B14F-4D97-AF65-F5344CB8AC3E}">
        <p14:creationId xmlns:p14="http://schemas.microsoft.com/office/powerpoint/2010/main" val="17441111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404731-6B99-6E40-BEFB-EA95B7FD72A7}"/>
              </a:ext>
            </a:extLst>
          </p:cNvPr>
          <p:cNvSpPr>
            <a:spLocks noGrp="1"/>
          </p:cNvSpPr>
          <p:nvPr>
            <p:ph type="title"/>
          </p:nvPr>
        </p:nvSpPr>
        <p:spPr/>
        <p:txBody>
          <a:bodyPr/>
          <a:lstStyle/>
          <a:p>
            <a:r>
              <a:rPr lang="en-US" dirty="0"/>
              <a:t>Local Complications Nomenclature</a:t>
            </a:r>
          </a:p>
        </p:txBody>
      </p:sp>
      <p:sp>
        <p:nvSpPr>
          <p:cNvPr id="5" name="Text Placeholder 4">
            <a:extLst>
              <a:ext uri="{FF2B5EF4-FFF2-40B4-BE49-F238E27FC236}">
                <a16:creationId xmlns:a16="http://schemas.microsoft.com/office/drawing/2014/main" id="{E1AAC255-A75D-644B-A085-5F188F1D570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803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C93632-B0A7-F949-B57B-1338474B7FD8}"/>
              </a:ext>
            </a:extLst>
          </p:cNvPr>
          <p:cNvPicPr>
            <a:picLocks noChangeAspect="1"/>
          </p:cNvPicPr>
          <p:nvPr/>
        </p:nvPicPr>
        <p:blipFill>
          <a:blip r:embed="rId2"/>
          <a:stretch>
            <a:fillRect/>
          </a:stretch>
        </p:blipFill>
        <p:spPr>
          <a:xfrm>
            <a:off x="488950" y="1358900"/>
            <a:ext cx="11214100" cy="4140200"/>
          </a:xfrm>
          <a:prstGeom prst="rect">
            <a:avLst/>
          </a:prstGeom>
        </p:spPr>
      </p:pic>
      <p:sp>
        <p:nvSpPr>
          <p:cNvPr id="5" name="Rectangle 4">
            <a:extLst>
              <a:ext uri="{FF2B5EF4-FFF2-40B4-BE49-F238E27FC236}">
                <a16:creationId xmlns:a16="http://schemas.microsoft.com/office/drawing/2014/main" id="{71B03EC4-5658-3A4D-AE9B-755A155AC9AB}"/>
              </a:ext>
            </a:extLst>
          </p:cNvPr>
          <p:cNvSpPr/>
          <p:nvPr/>
        </p:nvSpPr>
        <p:spPr>
          <a:xfrm>
            <a:off x="6096000" y="6396335"/>
            <a:ext cx="6096000" cy="461665"/>
          </a:xfrm>
          <a:prstGeom prst="rect">
            <a:avLst/>
          </a:prstGeom>
        </p:spPr>
        <p:txBody>
          <a:bodyPr>
            <a:spAutoFit/>
          </a:bodyPr>
          <a:lstStyle/>
          <a:p>
            <a:pPr algn="r"/>
            <a:r>
              <a:rPr lang="en-US" sz="1200" dirty="0">
                <a:latin typeface="Quadraat" panose="02000503060000090004" pitchFamily="2" charset="0"/>
              </a:rPr>
              <a:t>CHUA, T. Y., WALSH, R. M., BAKER, M. E., &amp; STEVENS, T. (2017). Necrotizing pancreatitis: Diagnose, treat, consult. Cleveland Clinic Journal of Medicine, 84(8), 639–648</a:t>
            </a:r>
          </a:p>
        </p:txBody>
      </p:sp>
    </p:spTree>
    <p:extLst>
      <p:ext uri="{BB962C8B-B14F-4D97-AF65-F5344CB8AC3E}">
        <p14:creationId xmlns:p14="http://schemas.microsoft.com/office/powerpoint/2010/main" val="4364620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D0C705-24D4-7A40-9CCA-6699AE184928}"/>
              </a:ext>
            </a:extLst>
          </p:cNvPr>
          <p:cNvSpPr>
            <a:spLocks noGrp="1"/>
          </p:cNvSpPr>
          <p:nvPr>
            <p:ph type="title"/>
          </p:nvPr>
        </p:nvSpPr>
        <p:spPr/>
        <p:txBody>
          <a:bodyPr/>
          <a:lstStyle/>
          <a:p>
            <a:r>
              <a:rPr lang="en-US" dirty="0"/>
              <a:t>Local Complications</a:t>
            </a:r>
          </a:p>
        </p:txBody>
      </p:sp>
      <p:graphicFrame>
        <p:nvGraphicFramePr>
          <p:cNvPr id="5" name="Content Placeholder 4">
            <a:extLst>
              <a:ext uri="{FF2B5EF4-FFF2-40B4-BE49-F238E27FC236}">
                <a16:creationId xmlns:a16="http://schemas.microsoft.com/office/drawing/2014/main" id="{5C0A278A-DAAF-5944-BF74-BCFED6474E87}"/>
              </a:ext>
            </a:extLst>
          </p:cNvPr>
          <p:cNvGraphicFramePr>
            <a:graphicFrameLocks noGrp="1"/>
          </p:cNvGraphicFramePr>
          <p:nvPr>
            <p:ph idx="1"/>
            <p:extLst>
              <p:ext uri="{D42A27DB-BD31-4B8C-83A1-F6EECF244321}">
                <p14:modId xmlns:p14="http://schemas.microsoft.com/office/powerpoint/2010/main" val="4249774026"/>
              </p:ext>
            </p:extLst>
          </p:nvPr>
        </p:nvGraphicFramePr>
        <p:xfrm>
          <a:off x="224588" y="1097280"/>
          <a:ext cx="11742824" cy="5623050"/>
        </p:xfrm>
        <a:graphic>
          <a:graphicData uri="http://schemas.openxmlformats.org/drawingml/2006/table">
            <a:tbl>
              <a:tblPr firstRow="1" bandRow="1">
                <a:tableStyleId>{2D5ABB26-0587-4C30-8999-92F81FD0307C}</a:tableStyleId>
              </a:tblPr>
              <a:tblGrid>
                <a:gridCol w="2935706">
                  <a:extLst>
                    <a:ext uri="{9D8B030D-6E8A-4147-A177-3AD203B41FA5}">
                      <a16:colId xmlns:a16="http://schemas.microsoft.com/office/drawing/2014/main" val="2287100706"/>
                    </a:ext>
                  </a:extLst>
                </a:gridCol>
                <a:gridCol w="2935706">
                  <a:extLst>
                    <a:ext uri="{9D8B030D-6E8A-4147-A177-3AD203B41FA5}">
                      <a16:colId xmlns:a16="http://schemas.microsoft.com/office/drawing/2014/main" val="1115196099"/>
                    </a:ext>
                  </a:extLst>
                </a:gridCol>
                <a:gridCol w="2935706">
                  <a:extLst>
                    <a:ext uri="{9D8B030D-6E8A-4147-A177-3AD203B41FA5}">
                      <a16:colId xmlns:a16="http://schemas.microsoft.com/office/drawing/2014/main" val="3550876361"/>
                    </a:ext>
                  </a:extLst>
                </a:gridCol>
                <a:gridCol w="2935706">
                  <a:extLst>
                    <a:ext uri="{9D8B030D-6E8A-4147-A177-3AD203B41FA5}">
                      <a16:colId xmlns:a16="http://schemas.microsoft.com/office/drawing/2014/main" val="2175386514"/>
                    </a:ext>
                  </a:extLst>
                </a:gridCol>
              </a:tblGrid>
              <a:tr h="565134">
                <a:tc gridSpan="2">
                  <a:txBody>
                    <a:bodyPr/>
                    <a:lstStyle/>
                    <a:p>
                      <a:pPr algn="ctr"/>
                      <a:r>
                        <a:rPr lang="en-US" sz="2800" b="1" dirty="0">
                          <a:latin typeface="Quadraat" panose="02000503060000090004" pitchFamily="2" charset="0"/>
                        </a:rPr>
                        <a:t>No Necrosis</a:t>
                      </a:r>
                    </a:p>
                  </a:txBody>
                  <a:tcPr>
                    <a:lnR w="38100" cap="flat" cmpd="sng" algn="ctr">
                      <a:solidFill>
                        <a:schemeClr val="tx1"/>
                      </a:solidFill>
                      <a:prstDash val="solid"/>
                      <a:round/>
                      <a:headEnd type="none" w="med" len="med"/>
                      <a:tailEnd type="none" w="med" len="med"/>
                    </a:lnR>
                  </a:tcPr>
                </a:tc>
                <a:tc hMerge="1">
                  <a:txBody>
                    <a:bodyPr/>
                    <a:lstStyle/>
                    <a:p>
                      <a:pPr algn="ctr"/>
                      <a:endParaRPr lang="en-US" b="1" dirty="0">
                        <a:latin typeface="Quadraat" panose="02000503060000090004" pitchFamily="2" charset="0"/>
                      </a:endParaRPr>
                    </a:p>
                  </a:txBody>
                  <a:tcPr>
                    <a:lnR w="38100" cap="flat" cmpd="sng" algn="ctr">
                      <a:solidFill>
                        <a:schemeClr val="tx1"/>
                      </a:solidFill>
                      <a:prstDash val="solid"/>
                      <a:round/>
                      <a:headEnd type="none" w="med" len="med"/>
                      <a:tailEnd type="none" w="med" len="med"/>
                    </a:lnR>
                  </a:tcPr>
                </a:tc>
                <a:tc gridSpan="2">
                  <a:txBody>
                    <a:bodyPr/>
                    <a:lstStyle/>
                    <a:p>
                      <a:pPr algn="ctr"/>
                      <a:r>
                        <a:rPr lang="en-US" sz="2800" b="1" dirty="0">
                          <a:latin typeface="Quadraat" panose="02000503060000090004" pitchFamily="2" charset="0"/>
                        </a:rPr>
                        <a:t>Yes Necrosis</a:t>
                      </a:r>
                    </a:p>
                  </a:txBody>
                  <a:tcPr>
                    <a:lnL w="38100" cap="flat" cmpd="sng" algn="ctr">
                      <a:solidFill>
                        <a:schemeClr val="tx1"/>
                      </a:solidFill>
                      <a:prstDash val="solid"/>
                      <a:round/>
                      <a:headEnd type="none" w="med" len="med"/>
                      <a:tailEnd type="none" w="med" len="med"/>
                    </a:lnL>
                  </a:tcPr>
                </a:tc>
                <a:tc hMerge="1">
                  <a:txBody>
                    <a:bodyPr/>
                    <a:lstStyle/>
                    <a:p>
                      <a:pPr algn="ctr"/>
                      <a:endParaRPr lang="en-US" b="1" dirty="0">
                        <a:latin typeface="Quadraat" panose="02000503060000090004" pitchFamily="2" charset="0"/>
                      </a:endParaRPr>
                    </a:p>
                  </a:txBody>
                  <a:tcPr/>
                </a:tc>
                <a:extLst>
                  <a:ext uri="{0D108BD9-81ED-4DB2-BD59-A6C34878D82A}">
                    <a16:rowId xmlns:a16="http://schemas.microsoft.com/office/drawing/2014/main" val="3357335905"/>
                  </a:ext>
                </a:extLst>
              </a:tr>
              <a:tr h="56513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dirty="0">
                          <a:latin typeface="Quadraat" panose="02000503060000090004" pitchFamily="2" charset="0"/>
                        </a:rPr>
                        <a:t>Interstitial edematous pancreatitis (IEP)</a:t>
                      </a:r>
                    </a:p>
                  </a:txBody>
                  <a:tcPr>
                    <a:lnR w="38100" cap="flat" cmpd="sng" algn="ctr">
                      <a:solidFill>
                        <a:schemeClr val="tx1"/>
                      </a:solidFill>
                      <a:prstDash val="solid"/>
                      <a:round/>
                      <a:headEnd type="none" w="med" len="med"/>
                      <a:tailEnd type="none" w="med" len="med"/>
                    </a:lnR>
                  </a:tcPr>
                </a:tc>
                <a:tc hMerge="1">
                  <a:txBody>
                    <a:bodyPr/>
                    <a:lstStyle/>
                    <a:p>
                      <a:endParaRPr lang="en-US"/>
                    </a:p>
                  </a:txBody>
                  <a:tcPr/>
                </a:tc>
                <a:tc gridSpan="2">
                  <a:txBody>
                    <a:bodyPr/>
                    <a:lstStyle/>
                    <a:p>
                      <a:pPr algn="ctr"/>
                      <a:r>
                        <a:rPr lang="en-US" sz="2400" b="0" dirty="0">
                          <a:latin typeface="Quadraat" panose="02000503060000090004" pitchFamily="2" charset="0"/>
                        </a:rPr>
                        <a:t>Necrotizing pancreatitis</a:t>
                      </a:r>
                    </a:p>
                  </a:txBody>
                  <a:tcPr>
                    <a:lnL w="38100" cap="flat" cmpd="sng" algn="ctr">
                      <a:solidFill>
                        <a:schemeClr val="tx1"/>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2458120185"/>
                  </a:ext>
                </a:extLst>
              </a:tr>
              <a:tr h="631621">
                <a:tc>
                  <a:txBody>
                    <a:bodyPr/>
                    <a:lstStyle/>
                    <a:p>
                      <a:pPr algn="ctr"/>
                      <a:r>
                        <a:rPr lang="en-US" sz="3200" b="1" dirty="0">
                          <a:latin typeface="Quadraat" panose="02000503060000090004" pitchFamily="2" charset="0"/>
                        </a:rPr>
                        <a:t>APFC</a:t>
                      </a:r>
                    </a:p>
                  </a:txBody>
                  <a:tcPr/>
                </a:tc>
                <a:tc>
                  <a:txBody>
                    <a:bodyPr/>
                    <a:lstStyle/>
                    <a:p>
                      <a:pPr algn="ctr"/>
                      <a:r>
                        <a:rPr lang="en-US" sz="3200" b="1" dirty="0">
                          <a:latin typeface="Quadraat" panose="02000503060000090004" pitchFamily="2" charset="0"/>
                        </a:rPr>
                        <a:t>Pseudocyst</a:t>
                      </a:r>
                    </a:p>
                  </a:txBody>
                  <a:tcPr>
                    <a:lnR w="38100" cap="flat" cmpd="sng" algn="ctr">
                      <a:solidFill>
                        <a:schemeClr val="tx1"/>
                      </a:solidFill>
                      <a:prstDash val="solid"/>
                      <a:round/>
                      <a:headEnd type="none" w="med" len="med"/>
                      <a:tailEnd type="none" w="med" len="med"/>
                    </a:lnR>
                  </a:tcPr>
                </a:tc>
                <a:tc>
                  <a:txBody>
                    <a:bodyPr/>
                    <a:lstStyle/>
                    <a:p>
                      <a:pPr algn="ctr"/>
                      <a:r>
                        <a:rPr lang="en-US" sz="3200" b="1" dirty="0">
                          <a:latin typeface="Quadraat" panose="02000503060000090004" pitchFamily="2" charset="0"/>
                        </a:rPr>
                        <a:t>ANC</a:t>
                      </a:r>
                    </a:p>
                  </a:txBody>
                  <a:tcPr>
                    <a:lnL w="38100" cap="flat" cmpd="sng" algn="ctr">
                      <a:solidFill>
                        <a:schemeClr val="tx1"/>
                      </a:solidFill>
                      <a:prstDash val="solid"/>
                      <a:round/>
                      <a:headEnd type="none" w="med" len="med"/>
                      <a:tailEnd type="none" w="med" len="med"/>
                    </a:lnL>
                  </a:tcPr>
                </a:tc>
                <a:tc>
                  <a:txBody>
                    <a:bodyPr/>
                    <a:lstStyle/>
                    <a:p>
                      <a:pPr algn="ctr"/>
                      <a:r>
                        <a:rPr lang="en-US" sz="3200" b="1" dirty="0">
                          <a:latin typeface="Quadraat" panose="02000503060000090004" pitchFamily="2" charset="0"/>
                        </a:rPr>
                        <a:t>WON</a:t>
                      </a:r>
                    </a:p>
                  </a:txBody>
                  <a:tcPr/>
                </a:tc>
                <a:extLst>
                  <a:ext uri="{0D108BD9-81ED-4DB2-BD59-A6C34878D82A}">
                    <a16:rowId xmlns:a16="http://schemas.microsoft.com/office/drawing/2014/main" val="3359780050"/>
                  </a:ext>
                </a:extLst>
              </a:tr>
              <a:tr h="432161">
                <a:tc>
                  <a:txBody>
                    <a:bodyPr/>
                    <a:lstStyle/>
                    <a:p>
                      <a:pPr algn="ctr"/>
                      <a:r>
                        <a:rPr lang="en-US" sz="2000" b="1" dirty="0">
                          <a:latin typeface="Quadraat" panose="02000503060000090004" pitchFamily="2" charset="0"/>
                        </a:rPr>
                        <a:t>Acute (&lt; 4wk)</a:t>
                      </a:r>
                    </a:p>
                  </a:txBody>
                  <a:tcPr/>
                </a:tc>
                <a:tc>
                  <a:txBody>
                    <a:bodyPr/>
                    <a:lstStyle/>
                    <a:p>
                      <a:pPr algn="ctr"/>
                      <a:r>
                        <a:rPr lang="en-US" sz="2000" b="1" dirty="0">
                          <a:latin typeface="Quadraat" panose="02000503060000090004" pitchFamily="2" charset="0"/>
                        </a:rPr>
                        <a:t>Chronic (&gt;4wk)</a:t>
                      </a:r>
                    </a:p>
                  </a:txBody>
                  <a:tcPr>
                    <a:lnR w="38100" cap="flat" cmpd="sng" algn="ctr">
                      <a:solidFill>
                        <a:schemeClr val="tx1"/>
                      </a:solidFill>
                      <a:prstDash val="solid"/>
                      <a:round/>
                      <a:headEnd type="none" w="med" len="med"/>
                      <a:tailEnd type="none" w="med" len="med"/>
                    </a:lnR>
                  </a:tcPr>
                </a:tc>
                <a:tc>
                  <a:txBody>
                    <a:bodyPr/>
                    <a:lstStyle/>
                    <a:p>
                      <a:pPr algn="ctr"/>
                      <a:r>
                        <a:rPr lang="en-US" sz="2000" b="1" dirty="0">
                          <a:latin typeface="Quadraat" panose="02000503060000090004" pitchFamily="2" charset="0"/>
                        </a:rPr>
                        <a:t>Acute (&lt;4wk)</a:t>
                      </a:r>
                    </a:p>
                  </a:txBody>
                  <a:tcPr>
                    <a:lnL w="38100" cap="flat" cmpd="sng" algn="ctr">
                      <a:solidFill>
                        <a:schemeClr val="tx1"/>
                      </a:solidFill>
                      <a:prstDash val="solid"/>
                      <a:round/>
                      <a:headEnd type="none" w="med" len="med"/>
                      <a:tailEnd type="none" w="med" len="med"/>
                    </a:lnL>
                  </a:tcPr>
                </a:tc>
                <a:tc>
                  <a:txBody>
                    <a:bodyPr/>
                    <a:lstStyle/>
                    <a:p>
                      <a:pPr algn="ctr"/>
                      <a:r>
                        <a:rPr lang="en-US" sz="2000" b="1" dirty="0">
                          <a:latin typeface="Quadraat" panose="02000503060000090004" pitchFamily="2" charset="0"/>
                        </a:rPr>
                        <a:t>Chronic (&gt;4wk)</a:t>
                      </a:r>
                    </a:p>
                  </a:txBody>
                  <a:tcPr/>
                </a:tc>
                <a:extLst>
                  <a:ext uri="{0D108BD9-81ED-4DB2-BD59-A6C34878D82A}">
                    <a16:rowId xmlns:a16="http://schemas.microsoft.com/office/drawing/2014/main" val="1113142559"/>
                  </a:ext>
                </a:extLst>
              </a:tr>
              <a:tr h="1508760">
                <a:tc rowSpan="2">
                  <a:txBody>
                    <a:bodyPr/>
                    <a:lstStyle/>
                    <a:p>
                      <a:pPr marL="285750" indent="-285750">
                        <a:buFontTx/>
                        <a:buChar char="-"/>
                      </a:pPr>
                      <a:r>
                        <a:rPr lang="en-US" sz="2400" dirty="0">
                          <a:latin typeface="Quadraat" panose="02000503060000090004" pitchFamily="2" charset="0"/>
                        </a:rPr>
                        <a:t>Resolve spontaneously, drainage should not be performed</a:t>
                      </a:r>
                    </a:p>
                    <a:p>
                      <a:pPr marL="285750" indent="-285750">
                        <a:buFontTx/>
                        <a:buChar char="-"/>
                      </a:pPr>
                      <a:r>
                        <a:rPr lang="en-US" sz="2400" dirty="0">
                          <a:latin typeface="Quadraat" panose="02000503060000090004" pitchFamily="2" charset="0"/>
                        </a:rPr>
                        <a:t>CT in 2 weeks can differentiate it from ANC</a:t>
                      </a:r>
                    </a:p>
                    <a:p>
                      <a:endParaRPr lang="en-US" sz="2400" dirty="0">
                        <a:latin typeface="Quadraat" panose="02000503060000090004" pitchFamily="2" charset="0"/>
                      </a:endParaRPr>
                    </a:p>
                  </a:txBody>
                  <a:tcPr/>
                </a:tc>
                <a:tc rowSpan="2">
                  <a:txBody>
                    <a:bodyPr/>
                    <a:lstStyle/>
                    <a:p>
                      <a:pPr marL="285750" indent="-285750">
                        <a:buFontTx/>
                        <a:buChar char="-"/>
                      </a:pPr>
                      <a:r>
                        <a:rPr lang="en-US" sz="2400" dirty="0">
                          <a:latin typeface="Quadraat" panose="02000503060000090004" pitchFamily="2" charset="0"/>
                        </a:rPr>
                        <a:t>Develops after APFC matures</a:t>
                      </a:r>
                    </a:p>
                    <a:p>
                      <a:pPr marL="285750" indent="-285750">
                        <a:buFontTx/>
                        <a:buChar char="-"/>
                      </a:pPr>
                      <a:r>
                        <a:rPr lang="en-US" sz="2400" dirty="0">
                          <a:latin typeface="Quadraat" panose="02000503060000090004" pitchFamily="2" charset="0"/>
                        </a:rPr>
                        <a:t>Can be connected to the ductal system</a:t>
                      </a:r>
                    </a:p>
                    <a:p>
                      <a:pPr marL="285750" indent="-285750">
                        <a:buFontTx/>
                        <a:buChar char="-"/>
                      </a:pPr>
                      <a:r>
                        <a:rPr lang="en-US" sz="2400" dirty="0">
                          <a:latin typeface="Quadraat" panose="02000503060000090004" pitchFamily="2" charset="0"/>
                        </a:rPr>
                        <a:t>Only drain if rapidly increasing in size, or causing local complications</a:t>
                      </a:r>
                    </a:p>
                  </a:txBody>
                  <a:tcPr>
                    <a:lnR w="38100" cap="flat" cmpd="sng" algn="ctr">
                      <a:solidFill>
                        <a:schemeClr val="tx1"/>
                      </a:solidFill>
                      <a:prstDash val="solid"/>
                      <a:round/>
                      <a:headEnd type="none" w="med" len="med"/>
                      <a:tailEnd type="none" w="med" len="med"/>
                    </a:lnR>
                  </a:tcPr>
                </a:tc>
                <a:tc>
                  <a:txBody>
                    <a:bodyPr/>
                    <a:lstStyle/>
                    <a:p>
                      <a:pPr marL="285750" indent="-285750">
                        <a:buFontTx/>
                        <a:buChar char="-"/>
                      </a:pPr>
                      <a:r>
                        <a:rPr lang="en-US" sz="2400" dirty="0">
                          <a:latin typeface="Quadraat" panose="02000503060000090004" pitchFamily="2" charset="0"/>
                        </a:rPr>
                        <a:t>Presence of heterogenous non-liquefied debris</a:t>
                      </a:r>
                    </a:p>
                    <a:p>
                      <a:pPr marL="285750" indent="-285750">
                        <a:buFontTx/>
                        <a:buChar char="-"/>
                      </a:pPr>
                      <a:endParaRPr lang="en-US" sz="2400" dirty="0">
                        <a:latin typeface="Quadraat" panose="02000503060000090004" pitchFamily="2" charset="0"/>
                      </a:endParaRPr>
                    </a:p>
                  </a:txBody>
                  <a:tcPr>
                    <a:lnL w="38100" cap="flat" cmpd="sng" algn="ctr">
                      <a:solidFill>
                        <a:schemeClr val="tx1"/>
                      </a:solidFill>
                      <a:prstDash val="solid"/>
                      <a:round/>
                      <a:headEnd type="none" w="med" len="med"/>
                      <a:tailEnd type="none" w="med" len="med"/>
                    </a:lnL>
                  </a:tcPr>
                </a:tc>
                <a:tc>
                  <a:txBody>
                    <a:bodyPr/>
                    <a:lstStyle/>
                    <a:p>
                      <a:pPr marL="285750" indent="-285750">
                        <a:buFontTx/>
                        <a:buChar char="-"/>
                      </a:pPr>
                      <a:r>
                        <a:rPr lang="en-US" sz="2400" dirty="0">
                          <a:latin typeface="Quadraat" panose="02000503060000090004" pitchFamily="2" charset="0"/>
                        </a:rPr>
                        <a:t>Develops after ANC matures</a:t>
                      </a:r>
                    </a:p>
                    <a:p>
                      <a:pPr marL="285750" indent="-285750">
                        <a:buFontTx/>
                        <a:buChar char="-"/>
                      </a:pPr>
                      <a:r>
                        <a:rPr lang="en-US" sz="2400" dirty="0">
                          <a:latin typeface="Quadraat" panose="02000503060000090004" pitchFamily="2" charset="0"/>
                        </a:rPr>
                        <a:t>MR imaging outperforms CT imaging</a:t>
                      </a:r>
                    </a:p>
                  </a:txBody>
                  <a:tcPr/>
                </a:tc>
                <a:extLst>
                  <a:ext uri="{0D108BD9-81ED-4DB2-BD59-A6C34878D82A}">
                    <a16:rowId xmlns:a16="http://schemas.microsoft.com/office/drawing/2014/main" val="2448883526"/>
                  </a:ext>
                </a:extLst>
              </a:tr>
              <a:tr h="1508760">
                <a:tc vMerge="1">
                  <a:txBody>
                    <a:bodyPr/>
                    <a:lstStyle/>
                    <a:p>
                      <a:endParaRPr lang="en-US"/>
                    </a:p>
                  </a:txBody>
                  <a:tcPr/>
                </a:tc>
                <a:tc vMerge="1">
                  <a:txBody>
                    <a:bodyPr/>
                    <a:lstStyle/>
                    <a:p>
                      <a:endParaRPr lang="en-US"/>
                    </a:p>
                  </a:txBody>
                  <a:tcPr/>
                </a:tc>
                <a:tc gridSpan="2">
                  <a:txBody>
                    <a:bodyPr/>
                    <a:lstStyle/>
                    <a:p>
                      <a:pPr marL="0" indent="0" algn="ctr">
                        <a:buFontTx/>
                        <a:buNone/>
                      </a:pPr>
                      <a:r>
                        <a:rPr lang="en-US" sz="2400" dirty="0">
                          <a:latin typeface="Quadraat" panose="02000503060000090004" pitchFamily="2" charset="0"/>
                        </a:rPr>
                        <a:t>Can be complicated by infection causing </a:t>
                      </a:r>
                      <a:r>
                        <a:rPr lang="en-US" sz="2400" b="1" dirty="0">
                          <a:latin typeface="Quadraat" panose="02000503060000090004" pitchFamily="2" charset="0"/>
                        </a:rPr>
                        <a:t>infected pancreatic necrosis</a:t>
                      </a:r>
                    </a:p>
                  </a:txBody>
                  <a:tcPr anchor="ctr">
                    <a:lnL w="38100" cap="flat" cmpd="sng" algn="ctr">
                      <a:solidFill>
                        <a:schemeClr val="tx1"/>
                      </a:solidFill>
                      <a:prstDash val="solid"/>
                      <a:round/>
                      <a:headEnd type="none" w="med" len="med"/>
                      <a:tailEnd type="none" w="med" len="med"/>
                    </a:lnL>
                  </a:tcPr>
                </a:tc>
                <a:tc hMerge="1">
                  <a:txBody>
                    <a:bodyPr/>
                    <a:lstStyle/>
                    <a:p>
                      <a:pPr marL="285750" indent="-285750">
                        <a:buFontTx/>
                        <a:buChar char="-"/>
                      </a:pPr>
                      <a:endParaRPr lang="en-US" sz="2400" dirty="0">
                        <a:latin typeface="Quadraat" panose="02000503060000090004" pitchFamily="2" charset="0"/>
                      </a:endParaRPr>
                    </a:p>
                  </a:txBody>
                  <a:tcPr/>
                </a:tc>
                <a:extLst>
                  <a:ext uri="{0D108BD9-81ED-4DB2-BD59-A6C34878D82A}">
                    <a16:rowId xmlns:a16="http://schemas.microsoft.com/office/drawing/2014/main" val="471911106"/>
                  </a:ext>
                </a:extLst>
              </a:tr>
            </a:tbl>
          </a:graphicData>
        </a:graphic>
      </p:graphicFrame>
    </p:spTree>
    <p:extLst>
      <p:ext uri="{BB962C8B-B14F-4D97-AF65-F5344CB8AC3E}">
        <p14:creationId xmlns:p14="http://schemas.microsoft.com/office/powerpoint/2010/main" val="26104992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1791B2-D33E-D74D-84F7-1D2416733384}"/>
              </a:ext>
            </a:extLst>
          </p:cNvPr>
          <p:cNvSpPr>
            <a:spLocks noGrp="1"/>
          </p:cNvSpPr>
          <p:nvPr>
            <p:ph type="title"/>
          </p:nvPr>
        </p:nvSpPr>
        <p:spPr/>
        <p:txBody>
          <a:bodyPr/>
          <a:lstStyle/>
          <a:p>
            <a:r>
              <a:rPr lang="en-US" dirty="0"/>
              <a:t>When do you drain a pancreatic necrotic collection (ANC/WON)?</a:t>
            </a:r>
          </a:p>
        </p:txBody>
      </p:sp>
      <p:sp>
        <p:nvSpPr>
          <p:cNvPr id="5" name="Text Placeholder 4">
            <a:extLst>
              <a:ext uri="{FF2B5EF4-FFF2-40B4-BE49-F238E27FC236}">
                <a16:creationId xmlns:a16="http://schemas.microsoft.com/office/drawing/2014/main" id="{478EDAA6-B479-274C-B791-F979AF813C4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100574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1791B2-D33E-D74D-84F7-1D2416733384}"/>
              </a:ext>
            </a:extLst>
          </p:cNvPr>
          <p:cNvSpPr>
            <a:spLocks noGrp="1"/>
          </p:cNvSpPr>
          <p:nvPr>
            <p:ph type="title"/>
          </p:nvPr>
        </p:nvSpPr>
        <p:spPr>
          <a:xfrm>
            <a:off x="838200" y="287973"/>
            <a:ext cx="10515600" cy="1052195"/>
          </a:xfrm>
        </p:spPr>
        <p:txBody>
          <a:bodyPr>
            <a:normAutofit fontScale="90000"/>
          </a:bodyPr>
          <a:lstStyle/>
          <a:p>
            <a:r>
              <a:rPr lang="en-US" dirty="0"/>
              <a:t>When do you drain a pancreatic necrotic collection (ANC/WON)?</a:t>
            </a:r>
          </a:p>
        </p:txBody>
      </p:sp>
      <p:sp>
        <p:nvSpPr>
          <p:cNvPr id="2" name="Content Placeholder 1">
            <a:extLst>
              <a:ext uri="{FF2B5EF4-FFF2-40B4-BE49-F238E27FC236}">
                <a16:creationId xmlns:a16="http://schemas.microsoft.com/office/drawing/2014/main" id="{50117929-B508-554E-AD48-A4A98F171977}"/>
              </a:ext>
            </a:extLst>
          </p:cNvPr>
          <p:cNvSpPr>
            <a:spLocks noGrp="1"/>
          </p:cNvSpPr>
          <p:nvPr>
            <p:ph idx="1"/>
          </p:nvPr>
        </p:nvSpPr>
        <p:spPr/>
        <p:txBody>
          <a:bodyPr/>
          <a:lstStyle/>
          <a:p>
            <a:r>
              <a:rPr lang="en-US" b="1" dirty="0"/>
              <a:t>Infected</a:t>
            </a:r>
            <a:r>
              <a:rPr lang="en-US" dirty="0"/>
              <a:t> necrotic collection</a:t>
            </a:r>
          </a:p>
          <a:p>
            <a:pPr lvl="1"/>
            <a:r>
              <a:rPr lang="en-US" dirty="0"/>
              <a:t>Should use antibiotics to cover intraabdominal flora (</a:t>
            </a:r>
            <a:r>
              <a:rPr lang="en-US" b="1" dirty="0"/>
              <a:t>carbapenem</a:t>
            </a:r>
            <a:r>
              <a:rPr lang="en-US" dirty="0"/>
              <a:t>)</a:t>
            </a:r>
          </a:p>
          <a:p>
            <a:r>
              <a:rPr lang="en-US" b="1" dirty="0"/>
              <a:t>Symptomatic</a:t>
            </a:r>
            <a:r>
              <a:rPr lang="en-US" dirty="0"/>
              <a:t> collection</a:t>
            </a:r>
          </a:p>
          <a:p>
            <a:pPr lvl="1"/>
            <a:r>
              <a:rPr lang="en-US" dirty="0"/>
              <a:t>Gastric outlet obstruction</a:t>
            </a:r>
          </a:p>
          <a:p>
            <a:pPr lvl="1"/>
            <a:r>
              <a:rPr lang="en-US" dirty="0"/>
              <a:t>Failure to thrive</a:t>
            </a:r>
          </a:p>
          <a:p>
            <a:pPr lvl="1"/>
            <a:r>
              <a:rPr lang="en-US" dirty="0"/>
              <a:t>Biliary obstruction</a:t>
            </a:r>
          </a:p>
          <a:p>
            <a:pPr lvl="1"/>
            <a:r>
              <a:rPr lang="en-US" dirty="0"/>
              <a:t>Intractable pain</a:t>
            </a:r>
          </a:p>
          <a:p>
            <a:pPr lvl="1"/>
            <a:endParaRPr lang="en-US" dirty="0"/>
          </a:p>
          <a:p>
            <a:endParaRPr lang="en-US" dirty="0"/>
          </a:p>
        </p:txBody>
      </p:sp>
      <p:sp>
        <p:nvSpPr>
          <p:cNvPr id="6" name="Rectangle 5">
            <a:extLst>
              <a:ext uri="{FF2B5EF4-FFF2-40B4-BE49-F238E27FC236}">
                <a16:creationId xmlns:a16="http://schemas.microsoft.com/office/drawing/2014/main" id="{4481A52D-D08F-0A4C-9C76-635832BB2480}"/>
              </a:ext>
            </a:extLst>
          </p:cNvPr>
          <p:cNvSpPr/>
          <p:nvPr/>
        </p:nvSpPr>
        <p:spPr>
          <a:xfrm>
            <a:off x="8750104" y="6211669"/>
            <a:ext cx="3441895" cy="646331"/>
          </a:xfrm>
          <a:prstGeom prst="rect">
            <a:avLst/>
          </a:prstGeom>
        </p:spPr>
        <p:txBody>
          <a:bodyPr wrap="square">
            <a:spAutoFit/>
          </a:bodyPr>
          <a:lstStyle/>
          <a:p>
            <a:r>
              <a:rPr lang="en-US" sz="1200" dirty="0">
                <a:solidFill>
                  <a:srgbClr val="000000"/>
                </a:solidFill>
                <a:latin typeface="Quadraat" panose="02000503060000090004" pitchFamily="2" charset="0"/>
              </a:rPr>
              <a:t>Lee, P. and </a:t>
            </a:r>
            <a:r>
              <a:rPr lang="en-US" sz="1200" dirty="0" err="1">
                <a:solidFill>
                  <a:srgbClr val="000000"/>
                </a:solidFill>
                <a:latin typeface="Quadraat" panose="02000503060000090004" pitchFamily="2" charset="0"/>
              </a:rPr>
              <a:t>Papachristou</a:t>
            </a:r>
            <a:r>
              <a:rPr lang="en-US" sz="1200" dirty="0">
                <a:solidFill>
                  <a:srgbClr val="000000"/>
                </a:solidFill>
                <a:latin typeface="Quadraat" panose="02000503060000090004" pitchFamily="2" charset="0"/>
              </a:rPr>
              <a:t>, G. (2019). New insights into acute pancreatitis. </a:t>
            </a:r>
            <a:r>
              <a:rPr lang="en-US" sz="1200" i="1" dirty="0">
                <a:solidFill>
                  <a:srgbClr val="000000"/>
                </a:solidFill>
                <a:latin typeface="Quadraat" panose="02000503060000090004" pitchFamily="2" charset="0"/>
              </a:rPr>
              <a:t>Nature Reviews Gastroenterology &amp; Hepatology</a:t>
            </a:r>
            <a:r>
              <a:rPr lang="en-US" sz="1200" dirty="0">
                <a:solidFill>
                  <a:srgbClr val="000000"/>
                </a:solidFill>
                <a:latin typeface="Quadraat" panose="02000503060000090004" pitchFamily="2" charset="0"/>
              </a:rPr>
              <a:t>, 16(8), pp.479-496.</a:t>
            </a:r>
            <a:endParaRPr lang="en-US" sz="1200" dirty="0">
              <a:latin typeface="Quadraat" panose="02000503060000090004" pitchFamily="2" charset="0"/>
            </a:endParaRPr>
          </a:p>
        </p:txBody>
      </p:sp>
    </p:spTree>
    <p:extLst>
      <p:ext uri="{BB962C8B-B14F-4D97-AF65-F5344CB8AC3E}">
        <p14:creationId xmlns:p14="http://schemas.microsoft.com/office/powerpoint/2010/main" val="19743547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1791B2-D33E-D74D-84F7-1D2416733384}"/>
              </a:ext>
            </a:extLst>
          </p:cNvPr>
          <p:cNvSpPr>
            <a:spLocks noGrp="1"/>
          </p:cNvSpPr>
          <p:nvPr>
            <p:ph type="title"/>
          </p:nvPr>
        </p:nvSpPr>
        <p:spPr>
          <a:xfrm>
            <a:off x="838200" y="287973"/>
            <a:ext cx="10515600" cy="1052195"/>
          </a:xfrm>
        </p:spPr>
        <p:txBody>
          <a:bodyPr>
            <a:normAutofit fontScale="90000"/>
          </a:bodyPr>
          <a:lstStyle/>
          <a:p>
            <a:r>
              <a:rPr lang="en-US" dirty="0"/>
              <a:t>When do you drain a pancreatic necrotic collection (ANC/WON)?</a:t>
            </a:r>
          </a:p>
        </p:txBody>
      </p:sp>
      <p:sp>
        <p:nvSpPr>
          <p:cNvPr id="2" name="Content Placeholder 1">
            <a:extLst>
              <a:ext uri="{FF2B5EF4-FFF2-40B4-BE49-F238E27FC236}">
                <a16:creationId xmlns:a16="http://schemas.microsoft.com/office/drawing/2014/main" id="{50117929-B508-554E-AD48-A4A98F171977}"/>
              </a:ext>
            </a:extLst>
          </p:cNvPr>
          <p:cNvSpPr>
            <a:spLocks noGrp="1"/>
          </p:cNvSpPr>
          <p:nvPr>
            <p:ph idx="1"/>
          </p:nvPr>
        </p:nvSpPr>
        <p:spPr/>
        <p:txBody>
          <a:bodyPr/>
          <a:lstStyle/>
          <a:p>
            <a:r>
              <a:rPr lang="en-US" b="1" dirty="0"/>
              <a:t>Infected</a:t>
            </a:r>
            <a:r>
              <a:rPr lang="en-US" dirty="0"/>
              <a:t> necrotic collection</a:t>
            </a:r>
          </a:p>
          <a:p>
            <a:pPr lvl="1"/>
            <a:r>
              <a:rPr lang="en-US" dirty="0"/>
              <a:t>Should use antibiotics to cover intraabdominal flora (</a:t>
            </a:r>
            <a:r>
              <a:rPr lang="en-US" b="1" dirty="0"/>
              <a:t>carbapenem</a:t>
            </a:r>
            <a:r>
              <a:rPr lang="en-US" dirty="0"/>
              <a:t>)</a:t>
            </a:r>
          </a:p>
          <a:p>
            <a:r>
              <a:rPr lang="en-US" b="1" dirty="0"/>
              <a:t>Symptomatic</a:t>
            </a:r>
            <a:r>
              <a:rPr lang="en-US" dirty="0"/>
              <a:t> collection</a:t>
            </a:r>
          </a:p>
          <a:p>
            <a:pPr lvl="1"/>
            <a:r>
              <a:rPr lang="en-US" dirty="0"/>
              <a:t>Gastric outlet obstruction</a:t>
            </a:r>
          </a:p>
          <a:p>
            <a:pPr lvl="1"/>
            <a:r>
              <a:rPr lang="en-US" dirty="0"/>
              <a:t>Failure to thrive</a:t>
            </a:r>
          </a:p>
          <a:p>
            <a:pPr lvl="1"/>
            <a:r>
              <a:rPr lang="en-US" dirty="0"/>
              <a:t>Biliary obstruction</a:t>
            </a:r>
          </a:p>
          <a:p>
            <a:pPr lvl="1"/>
            <a:r>
              <a:rPr lang="en-US" dirty="0"/>
              <a:t>Intractable pain</a:t>
            </a:r>
          </a:p>
          <a:p>
            <a:pPr lvl="1"/>
            <a:endParaRPr lang="en-US" dirty="0"/>
          </a:p>
          <a:p>
            <a:pPr marL="0" indent="0" algn="ctr">
              <a:buNone/>
            </a:pPr>
            <a:r>
              <a:rPr lang="en-US" b="1" dirty="0">
                <a:highlight>
                  <a:srgbClr val="FFFF00"/>
                </a:highlight>
              </a:rPr>
              <a:t>Avoid in patients with sterile necrosis without symptoms, regardless of the size of the collection </a:t>
            </a:r>
          </a:p>
          <a:p>
            <a:endParaRPr lang="en-US" dirty="0"/>
          </a:p>
        </p:txBody>
      </p:sp>
      <p:sp>
        <p:nvSpPr>
          <p:cNvPr id="6" name="Rectangle 5">
            <a:extLst>
              <a:ext uri="{FF2B5EF4-FFF2-40B4-BE49-F238E27FC236}">
                <a16:creationId xmlns:a16="http://schemas.microsoft.com/office/drawing/2014/main" id="{4481A52D-D08F-0A4C-9C76-635832BB2480}"/>
              </a:ext>
            </a:extLst>
          </p:cNvPr>
          <p:cNvSpPr/>
          <p:nvPr/>
        </p:nvSpPr>
        <p:spPr>
          <a:xfrm>
            <a:off x="8750104" y="6211669"/>
            <a:ext cx="3441895" cy="646331"/>
          </a:xfrm>
          <a:prstGeom prst="rect">
            <a:avLst/>
          </a:prstGeom>
        </p:spPr>
        <p:txBody>
          <a:bodyPr wrap="square">
            <a:spAutoFit/>
          </a:bodyPr>
          <a:lstStyle/>
          <a:p>
            <a:r>
              <a:rPr lang="en-US" sz="1200" dirty="0">
                <a:solidFill>
                  <a:srgbClr val="000000"/>
                </a:solidFill>
                <a:latin typeface="Quadraat" panose="02000503060000090004" pitchFamily="2" charset="0"/>
              </a:rPr>
              <a:t>Lee, P. and </a:t>
            </a:r>
            <a:r>
              <a:rPr lang="en-US" sz="1200" dirty="0" err="1">
                <a:solidFill>
                  <a:srgbClr val="000000"/>
                </a:solidFill>
                <a:latin typeface="Quadraat" panose="02000503060000090004" pitchFamily="2" charset="0"/>
              </a:rPr>
              <a:t>Papachristou</a:t>
            </a:r>
            <a:r>
              <a:rPr lang="en-US" sz="1200" dirty="0">
                <a:solidFill>
                  <a:srgbClr val="000000"/>
                </a:solidFill>
                <a:latin typeface="Quadraat" panose="02000503060000090004" pitchFamily="2" charset="0"/>
              </a:rPr>
              <a:t>, G. (2019). New insights into acute pancreatitis. </a:t>
            </a:r>
            <a:r>
              <a:rPr lang="en-US" sz="1200" i="1" dirty="0">
                <a:solidFill>
                  <a:srgbClr val="000000"/>
                </a:solidFill>
                <a:latin typeface="Quadraat" panose="02000503060000090004" pitchFamily="2" charset="0"/>
              </a:rPr>
              <a:t>Nature Reviews Gastroenterology &amp; Hepatology</a:t>
            </a:r>
            <a:r>
              <a:rPr lang="en-US" sz="1200" dirty="0">
                <a:solidFill>
                  <a:srgbClr val="000000"/>
                </a:solidFill>
                <a:latin typeface="Quadraat" panose="02000503060000090004" pitchFamily="2" charset="0"/>
              </a:rPr>
              <a:t>, 16(8), pp.479-496.</a:t>
            </a:r>
            <a:endParaRPr lang="en-US" sz="1200" dirty="0">
              <a:latin typeface="Quadraat" panose="02000503060000090004" pitchFamily="2" charset="0"/>
            </a:endParaRPr>
          </a:p>
        </p:txBody>
      </p:sp>
    </p:spTree>
    <p:extLst>
      <p:ext uri="{BB962C8B-B14F-4D97-AF65-F5344CB8AC3E}">
        <p14:creationId xmlns:p14="http://schemas.microsoft.com/office/powerpoint/2010/main" val="17568914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53479-ECCA-5343-80A6-E4C45FF2EEDC}"/>
              </a:ext>
            </a:extLst>
          </p:cNvPr>
          <p:cNvSpPr>
            <a:spLocks noGrp="1"/>
          </p:cNvSpPr>
          <p:nvPr>
            <p:ph type="title"/>
          </p:nvPr>
        </p:nvSpPr>
        <p:spPr/>
        <p:txBody>
          <a:bodyPr/>
          <a:lstStyle/>
          <a:p>
            <a:r>
              <a:rPr lang="en-US" dirty="0"/>
              <a:t>Vascular Complications</a:t>
            </a:r>
          </a:p>
        </p:txBody>
      </p:sp>
      <p:sp>
        <p:nvSpPr>
          <p:cNvPr id="3" name="Text Placeholder 2">
            <a:extLst>
              <a:ext uri="{FF2B5EF4-FFF2-40B4-BE49-F238E27FC236}">
                <a16:creationId xmlns:a16="http://schemas.microsoft.com/office/drawing/2014/main" id="{E78ABC14-5168-4143-9B4D-BFF433D4791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400938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49EC-CE89-F14A-8CD2-FA5BDCF7E5DC}"/>
              </a:ext>
            </a:extLst>
          </p:cNvPr>
          <p:cNvSpPr>
            <a:spLocks noGrp="1"/>
          </p:cNvSpPr>
          <p:nvPr>
            <p:ph type="title"/>
          </p:nvPr>
        </p:nvSpPr>
        <p:spPr/>
        <p:txBody>
          <a:bodyPr/>
          <a:lstStyle/>
          <a:p>
            <a:r>
              <a:rPr lang="en-US" dirty="0"/>
              <a:t>Vascular Complications</a:t>
            </a:r>
          </a:p>
        </p:txBody>
      </p:sp>
      <p:sp>
        <p:nvSpPr>
          <p:cNvPr id="3" name="Content Placeholder 2">
            <a:extLst>
              <a:ext uri="{FF2B5EF4-FFF2-40B4-BE49-F238E27FC236}">
                <a16:creationId xmlns:a16="http://schemas.microsoft.com/office/drawing/2014/main" id="{B92A36D0-6317-CA42-AB45-6A22016B22C8}"/>
              </a:ext>
            </a:extLst>
          </p:cNvPr>
          <p:cNvSpPr>
            <a:spLocks noGrp="1"/>
          </p:cNvSpPr>
          <p:nvPr>
            <p:ph idx="1"/>
          </p:nvPr>
        </p:nvSpPr>
        <p:spPr/>
        <p:txBody>
          <a:bodyPr/>
          <a:lstStyle/>
          <a:p>
            <a:r>
              <a:rPr lang="en-US" dirty="0"/>
              <a:t>Venous and/or arterial thrombosis of the splanchnic vessels</a:t>
            </a:r>
          </a:p>
          <a:p>
            <a:pPr lvl="1"/>
            <a:r>
              <a:rPr lang="en-US" dirty="0"/>
              <a:t>Mostly benign course, do not require intervention</a:t>
            </a:r>
          </a:p>
          <a:p>
            <a:endParaRPr lang="en-US" dirty="0"/>
          </a:p>
          <a:p>
            <a:r>
              <a:rPr lang="en-US" dirty="0"/>
              <a:t>Splenic vein thrombosis -&gt; local portal hypertension -&gt; </a:t>
            </a:r>
            <a:r>
              <a:rPr lang="en-US" b="1" dirty="0"/>
              <a:t>gastric varices</a:t>
            </a:r>
          </a:p>
          <a:p>
            <a:r>
              <a:rPr lang="en-US" dirty="0"/>
              <a:t>SMV thrombosis -&gt; </a:t>
            </a:r>
            <a:r>
              <a:rPr lang="en-US" b="1" dirty="0"/>
              <a:t>ascites</a:t>
            </a:r>
          </a:p>
          <a:p>
            <a:pPr lvl="1"/>
            <a:r>
              <a:rPr lang="en-US" dirty="0"/>
              <a:t>Anticoagulation</a:t>
            </a:r>
          </a:p>
          <a:p>
            <a:endParaRPr lang="en-US" b="1" dirty="0"/>
          </a:p>
          <a:p>
            <a:r>
              <a:rPr lang="en-US" dirty="0"/>
              <a:t>If pseudoaneurysm occurs -&gt; IR embolization as soon as possible</a:t>
            </a:r>
          </a:p>
          <a:p>
            <a:pPr lvl="1"/>
            <a:r>
              <a:rPr lang="en-US" b="1" dirty="0"/>
              <a:t>Do not drain a pseudocyst if a pseudoaneurysm is suspected!</a:t>
            </a:r>
          </a:p>
        </p:txBody>
      </p:sp>
    </p:spTree>
    <p:extLst>
      <p:ext uri="{BB962C8B-B14F-4D97-AF65-F5344CB8AC3E}">
        <p14:creationId xmlns:p14="http://schemas.microsoft.com/office/powerpoint/2010/main" val="15430100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2B7477-73DC-FC40-A82E-CF06CD96A0DE}"/>
              </a:ext>
            </a:extLst>
          </p:cNvPr>
          <p:cNvSpPr>
            <a:spLocks noGrp="1"/>
          </p:cNvSpPr>
          <p:nvPr>
            <p:ph type="title"/>
          </p:nvPr>
        </p:nvSpPr>
        <p:spPr/>
        <p:txBody>
          <a:bodyPr/>
          <a:lstStyle/>
          <a:p>
            <a:r>
              <a:rPr lang="en-US" dirty="0"/>
              <a:t>Suggested Algorithm for Management</a:t>
            </a:r>
          </a:p>
        </p:txBody>
      </p:sp>
      <p:pic>
        <p:nvPicPr>
          <p:cNvPr id="7" name="Picture 6">
            <a:extLst>
              <a:ext uri="{FF2B5EF4-FFF2-40B4-BE49-F238E27FC236}">
                <a16:creationId xmlns:a16="http://schemas.microsoft.com/office/drawing/2014/main" id="{60536629-98A5-4F4F-8644-720870074C71}"/>
              </a:ext>
            </a:extLst>
          </p:cNvPr>
          <p:cNvPicPr>
            <a:picLocks noChangeAspect="1"/>
          </p:cNvPicPr>
          <p:nvPr/>
        </p:nvPicPr>
        <p:blipFill rotWithShape="1">
          <a:blip r:embed="rId3"/>
          <a:srcRect l="4154" t="8389" r="4879" b="59590"/>
          <a:stretch/>
        </p:blipFill>
        <p:spPr>
          <a:xfrm>
            <a:off x="146881" y="973947"/>
            <a:ext cx="11898238" cy="5560887"/>
          </a:xfrm>
          <a:prstGeom prst="rect">
            <a:avLst/>
          </a:prstGeom>
        </p:spPr>
      </p:pic>
      <p:sp>
        <p:nvSpPr>
          <p:cNvPr id="8" name="Rectangle 7">
            <a:extLst>
              <a:ext uri="{FF2B5EF4-FFF2-40B4-BE49-F238E27FC236}">
                <a16:creationId xmlns:a16="http://schemas.microsoft.com/office/drawing/2014/main" id="{2B228E42-59FA-E746-B811-BEEAEB8ABC05}"/>
              </a:ext>
            </a:extLst>
          </p:cNvPr>
          <p:cNvSpPr/>
          <p:nvPr/>
        </p:nvSpPr>
        <p:spPr>
          <a:xfrm>
            <a:off x="8750105" y="6211669"/>
            <a:ext cx="3441894" cy="646331"/>
          </a:xfrm>
          <a:prstGeom prst="rect">
            <a:avLst/>
          </a:prstGeom>
        </p:spPr>
        <p:txBody>
          <a:bodyPr wrap="square">
            <a:spAutoFit/>
          </a:bodyPr>
          <a:lstStyle/>
          <a:p>
            <a:r>
              <a:rPr lang="en-US" sz="1200" dirty="0">
                <a:solidFill>
                  <a:srgbClr val="000000"/>
                </a:solidFill>
                <a:latin typeface="Quadraat" panose="02000503060000090004" pitchFamily="2" charset="0"/>
              </a:rPr>
              <a:t>Lee, P. and </a:t>
            </a:r>
            <a:r>
              <a:rPr lang="en-US" sz="1200" dirty="0" err="1">
                <a:solidFill>
                  <a:srgbClr val="000000"/>
                </a:solidFill>
                <a:latin typeface="Quadraat" panose="02000503060000090004" pitchFamily="2" charset="0"/>
              </a:rPr>
              <a:t>Papachristou</a:t>
            </a:r>
            <a:r>
              <a:rPr lang="en-US" sz="1200" dirty="0">
                <a:solidFill>
                  <a:srgbClr val="000000"/>
                </a:solidFill>
                <a:latin typeface="Quadraat" panose="02000503060000090004" pitchFamily="2" charset="0"/>
              </a:rPr>
              <a:t>, G. (2019). New insights into acute pancreatitis. </a:t>
            </a:r>
            <a:r>
              <a:rPr lang="en-US" sz="1200" i="1" dirty="0">
                <a:solidFill>
                  <a:srgbClr val="000000"/>
                </a:solidFill>
                <a:latin typeface="Quadraat" panose="02000503060000090004" pitchFamily="2" charset="0"/>
              </a:rPr>
              <a:t>Nature Reviews Gastroenterology &amp; Hepatology</a:t>
            </a:r>
            <a:r>
              <a:rPr lang="en-US" sz="1200" dirty="0">
                <a:solidFill>
                  <a:srgbClr val="000000"/>
                </a:solidFill>
                <a:latin typeface="Quadraat" panose="02000503060000090004" pitchFamily="2" charset="0"/>
              </a:rPr>
              <a:t>, 16(8), pp.479-496.</a:t>
            </a:r>
            <a:endParaRPr lang="en-US" sz="1200" dirty="0">
              <a:latin typeface="Quadraat" panose="02000503060000090004" pitchFamily="2" charset="0"/>
            </a:endParaRPr>
          </a:p>
        </p:txBody>
      </p:sp>
    </p:spTree>
    <p:extLst>
      <p:ext uri="{BB962C8B-B14F-4D97-AF65-F5344CB8AC3E}">
        <p14:creationId xmlns:p14="http://schemas.microsoft.com/office/powerpoint/2010/main" val="54760588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133B0-A267-4649-BB28-4EA6AB8B241F}"/>
              </a:ext>
            </a:extLst>
          </p:cNvPr>
          <p:cNvSpPr>
            <a:spLocks noGrp="1"/>
          </p:cNvSpPr>
          <p:nvPr>
            <p:ph type="title"/>
          </p:nvPr>
        </p:nvSpPr>
        <p:spPr/>
        <p:txBody>
          <a:bodyPr/>
          <a:lstStyle/>
          <a:p>
            <a:r>
              <a:rPr lang="en-US" dirty="0"/>
              <a:t>Long-term Complications of Pancreatitis</a:t>
            </a:r>
          </a:p>
        </p:txBody>
      </p:sp>
      <p:sp>
        <p:nvSpPr>
          <p:cNvPr id="5" name="Text Placeholder 4">
            <a:extLst>
              <a:ext uri="{FF2B5EF4-FFF2-40B4-BE49-F238E27FC236}">
                <a16:creationId xmlns:a16="http://schemas.microsoft.com/office/drawing/2014/main" id="{D81BF9BC-DFC0-0646-AF78-C775385A4B6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5213022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133B0-A267-4649-BB28-4EA6AB8B241F}"/>
              </a:ext>
            </a:extLst>
          </p:cNvPr>
          <p:cNvSpPr>
            <a:spLocks noGrp="1"/>
          </p:cNvSpPr>
          <p:nvPr>
            <p:ph type="title"/>
          </p:nvPr>
        </p:nvSpPr>
        <p:spPr/>
        <p:txBody>
          <a:bodyPr/>
          <a:lstStyle/>
          <a:p>
            <a:r>
              <a:rPr lang="en-US" dirty="0"/>
              <a:t>Long-term Complications of Pancreatitis</a:t>
            </a:r>
          </a:p>
        </p:txBody>
      </p:sp>
      <p:sp>
        <p:nvSpPr>
          <p:cNvPr id="2" name="Content Placeholder 1">
            <a:extLst>
              <a:ext uri="{FF2B5EF4-FFF2-40B4-BE49-F238E27FC236}">
                <a16:creationId xmlns:a16="http://schemas.microsoft.com/office/drawing/2014/main" id="{CDEED58E-A27B-CB45-98A6-6F117BAC541A}"/>
              </a:ext>
            </a:extLst>
          </p:cNvPr>
          <p:cNvSpPr>
            <a:spLocks noGrp="1"/>
          </p:cNvSpPr>
          <p:nvPr>
            <p:ph idx="1"/>
          </p:nvPr>
        </p:nvSpPr>
        <p:spPr>
          <a:xfrm>
            <a:off x="838200" y="1888761"/>
            <a:ext cx="10515600" cy="4288202"/>
          </a:xfrm>
        </p:spPr>
        <p:txBody>
          <a:bodyPr/>
          <a:lstStyle/>
          <a:p>
            <a:r>
              <a:rPr lang="en-US" dirty="0"/>
              <a:t>Recurrent pancreatitis in 18%</a:t>
            </a:r>
          </a:p>
          <a:p>
            <a:r>
              <a:rPr lang="en-US" dirty="0"/>
              <a:t>Endocrine insufficiency and diabetes in about 33% </a:t>
            </a:r>
          </a:p>
          <a:p>
            <a:r>
              <a:rPr lang="en-US" dirty="0"/>
              <a:t>Exocrine insufficiency in 24-40%</a:t>
            </a:r>
          </a:p>
          <a:p>
            <a:endParaRPr lang="en-US" dirty="0"/>
          </a:p>
          <a:p>
            <a:r>
              <a:rPr lang="en-US" dirty="0"/>
              <a:t>Quality of life is reduced, and </a:t>
            </a:r>
            <a:r>
              <a:rPr lang="en-US" b="1" dirty="0"/>
              <a:t>53% of patients become registered as disabled at one year following discharge</a:t>
            </a:r>
          </a:p>
        </p:txBody>
      </p:sp>
      <p:sp>
        <p:nvSpPr>
          <p:cNvPr id="5" name="Rectangle 4">
            <a:extLst>
              <a:ext uri="{FF2B5EF4-FFF2-40B4-BE49-F238E27FC236}">
                <a16:creationId xmlns:a16="http://schemas.microsoft.com/office/drawing/2014/main" id="{118A9D3A-4F66-A14E-9DB1-3396A8C25980}"/>
              </a:ext>
            </a:extLst>
          </p:cNvPr>
          <p:cNvSpPr/>
          <p:nvPr/>
        </p:nvSpPr>
        <p:spPr>
          <a:xfrm>
            <a:off x="6726264" y="6413148"/>
            <a:ext cx="5465735" cy="461665"/>
          </a:xfrm>
          <a:prstGeom prst="rect">
            <a:avLst/>
          </a:prstGeom>
        </p:spPr>
        <p:txBody>
          <a:bodyPr wrap="square">
            <a:spAutoFit/>
          </a:bodyPr>
          <a:lstStyle/>
          <a:p>
            <a:pPr algn="r"/>
            <a:r>
              <a:rPr lang="en-US" sz="1200" dirty="0">
                <a:solidFill>
                  <a:srgbClr val="000000"/>
                </a:solidFill>
                <a:latin typeface="Quadraat" panose="02000503060000090004" pitchFamily="2" charset="0"/>
              </a:rPr>
              <a:t>Lee, P. and </a:t>
            </a:r>
            <a:r>
              <a:rPr lang="en-US" sz="1200" dirty="0" err="1">
                <a:solidFill>
                  <a:srgbClr val="000000"/>
                </a:solidFill>
                <a:latin typeface="Quadraat" panose="02000503060000090004" pitchFamily="2" charset="0"/>
              </a:rPr>
              <a:t>Papachristou</a:t>
            </a:r>
            <a:r>
              <a:rPr lang="en-US" sz="1200" dirty="0">
                <a:solidFill>
                  <a:srgbClr val="000000"/>
                </a:solidFill>
                <a:latin typeface="Quadraat" panose="02000503060000090004" pitchFamily="2" charset="0"/>
              </a:rPr>
              <a:t>, G. (2019). New insights into acute pancreatitis. </a:t>
            </a:r>
            <a:r>
              <a:rPr lang="en-US" sz="1200" i="1" dirty="0">
                <a:solidFill>
                  <a:srgbClr val="000000"/>
                </a:solidFill>
                <a:latin typeface="Quadraat" panose="02000503060000090004" pitchFamily="2" charset="0"/>
              </a:rPr>
              <a:t>Nature Reviews Gastroenterology &amp; Hepatology</a:t>
            </a:r>
            <a:r>
              <a:rPr lang="en-US" sz="1200" dirty="0">
                <a:solidFill>
                  <a:srgbClr val="000000"/>
                </a:solidFill>
                <a:latin typeface="Quadraat" panose="02000503060000090004" pitchFamily="2" charset="0"/>
              </a:rPr>
              <a:t>, 16(8), pp.479-496.</a:t>
            </a:r>
            <a:endParaRPr lang="en-US" sz="1200" dirty="0">
              <a:latin typeface="Quadraat" panose="02000503060000090004" pitchFamily="2" charset="0"/>
            </a:endParaRPr>
          </a:p>
        </p:txBody>
      </p:sp>
    </p:spTree>
    <p:extLst>
      <p:ext uri="{BB962C8B-B14F-4D97-AF65-F5344CB8AC3E}">
        <p14:creationId xmlns:p14="http://schemas.microsoft.com/office/powerpoint/2010/main" val="35271286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dirty="0"/>
              <a:t>Future Directions</a:t>
            </a:r>
          </a:p>
        </p:txBody>
      </p:sp>
      <p:sp>
        <p:nvSpPr>
          <p:cNvPr id="5" name="Text Placeholder 4">
            <a:extLst>
              <a:ext uri="{FF2B5EF4-FFF2-40B4-BE49-F238E27FC236}">
                <a16:creationId xmlns:a16="http://schemas.microsoft.com/office/drawing/2014/main" id="{3F8B4597-F7CF-944C-B77B-EBFFC04C94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135739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5B5957-A579-B546-ADDB-0FB54B4E03FB}"/>
              </a:ext>
            </a:extLst>
          </p:cNvPr>
          <p:cNvSpPr>
            <a:spLocks noGrp="1"/>
          </p:cNvSpPr>
          <p:nvPr>
            <p:ph type="title"/>
          </p:nvPr>
        </p:nvSpPr>
        <p:spPr/>
        <p:txBody>
          <a:bodyPr>
            <a:normAutofit fontScale="90000"/>
          </a:bodyPr>
          <a:lstStyle/>
          <a:p>
            <a:r>
              <a:rPr lang="en-US" dirty="0"/>
              <a:t>Potential Therapeutic Targets in Acute Pancreatitis</a:t>
            </a:r>
          </a:p>
        </p:txBody>
      </p:sp>
      <p:pic>
        <p:nvPicPr>
          <p:cNvPr id="6" name="Picture 5">
            <a:extLst>
              <a:ext uri="{FF2B5EF4-FFF2-40B4-BE49-F238E27FC236}">
                <a16:creationId xmlns:a16="http://schemas.microsoft.com/office/drawing/2014/main" id="{17442A3C-901E-3C46-ACC6-C7DFC3666D62}"/>
              </a:ext>
            </a:extLst>
          </p:cNvPr>
          <p:cNvPicPr>
            <a:picLocks noChangeAspect="1"/>
          </p:cNvPicPr>
          <p:nvPr/>
        </p:nvPicPr>
        <p:blipFill>
          <a:blip r:embed="rId2"/>
          <a:stretch>
            <a:fillRect/>
          </a:stretch>
        </p:blipFill>
        <p:spPr>
          <a:xfrm>
            <a:off x="1126210" y="882386"/>
            <a:ext cx="9939580" cy="5582782"/>
          </a:xfrm>
          <a:prstGeom prst="rect">
            <a:avLst/>
          </a:prstGeom>
        </p:spPr>
      </p:pic>
      <p:sp>
        <p:nvSpPr>
          <p:cNvPr id="7" name="Rectangle 6">
            <a:extLst>
              <a:ext uri="{FF2B5EF4-FFF2-40B4-BE49-F238E27FC236}">
                <a16:creationId xmlns:a16="http://schemas.microsoft.com/office/drawing/2014/main" id="{7D184577-2D68-8443-BC75-FEFC89C9F2D1}"/>
              </a:ext>
            </a:extLst>
          </p:cNvPr>
          <p:cNvSpPr/>
          <p:nvPr/>
        </p:nvSpPr>
        <p:spPr>
          <a:xfrm>
            <a:off x="6726264" y="6413148"/>
            <a:ext cx="5465735" cy="461665"/>
          </a:xfrm>
          <a:prstGeom prst="rect">
            <a:avLst/>
          </a:prstGeom>
        </p:spPr>
        <p:txBody>
          <a:bodyPr wrap="square">
            <a:spAutoFit/>
          </a:bodyPr>
          <a:lstStyle/>
          <a:p>
            <a:pPr algn="r"/>
            <a:r>
              <a:rPr lang="en-US" sz="1200" dirty="0">
                <a:solidFill>
                  <a:srgbClr val="000000"/>
                </a:solidFill>
                <a:latin typeface="Quadraat" panose="02000503060000090004" pitchFamily="2" charset="0"/>
              </a:rPr>
              <a:t>Lee, P. and </a:t>
            </a:r>
            <a:r>
              <a:rPr lang="en-US" sz="1200" dirty="0" err="1">
                <a:solidFill>
                  <a:srgbClr val="000000"/>
                </a:solidFill>
                <a:latin typeface="Quadraat" panose="02000503060000090004" pitchFamily="2" charset="0"/>
              </a:rPr>
              <a:t>Papachristou</a:t>
            </a:r>
            <a:r>
              <a:rPr lang="en-US" sz="1200" dirty="0">
                <a:solidFill>
                  <a:srgbClr val="000000"/>
                </a:solidFill>
                <a:latin typeface="Quadraat" panose="02000503060000090004" pitchFamily="2" charset="0"/>
              </a:rPr>
              <a:t>, G. (2019). New insights into acute pancreatitis. </a:t>
            </a:r>
            <a:r>
              <a:rPr lang="en-US" sz="1200" i="1" dirty="0">
                <a:solidFill>
                  <a:srgbClr val="000000"/>
                </a:solidFill>
                <a:latin typeface="Quadraat" panose="02000503060000090004" pitchFamily="2" charset="0"/>
              </a:rPr>
              <a:t>Nature Reviews Gastroenterology &amp; Hepatology</a:t>
            </a:r>
            <a:r>
              <a:rPr lang="en-US" sz="1200" dirty="0">
                <a:solidFill>
                  <a:srgbClr val="000000"/>
                </a:solidFill>
                <a:latin typeface="Quadraat" panose="02000503060000090004" pitchFamily="2" charset="0"/>
              </a:rPr>
              <a:t>, 16(8), pp.479-496.</a:t>
            </a:r>
            <a:endParaRPr lang="en-US" sz="1200" dirty="0">
              <a:latin typeface="Quadraat" panose="02000503060000090004" pitchFamily="2" charset="0"/>
            </a:endParaRPr>
          </a:p>
        </p:txBody>
      </p:sp>
    </p:spTree>
    <p:extLst>
      <p:ext uri="{BB962C8B-B14F-4D97-AF65-F5344CB8AC3E}">
        <p14:creationId xmlns:p14="http://schemas.microsoft.com/office/powerpoint/2010/main" val="19078580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5B5957-A579-B546-ADDB-0FB54B4E03FB}"/>
              </a:ext>
            </a:extLst>
          </p:cNvPr>
          <p:cNvSpPr>
            <a:spLocks noGrp="1"/>
          </p:cNvSpPr>
          <p:nvPr>
            <p:ph type="title"/>
          </p:nvPr>
        </p:nvSpPr>
        <p:spPr/>
        <p:txBody>
          <a:bodyPr>
            <a:normAutofit fontScale="90000"/>
          </a:bodyPr>
          <a:lstStyle/>
          <a:p>
            <a:r>
              <a:rPr lang="en-US" dirty="0"/>
              <a:t>Potential Therapeutic Targets in Acute Pancreatitis</a:t>
            </a:r>
          </a:p>
        </p:txBody>
      </p:sp>
      <p:pic>
        <p:nvPicPr>
          <p:cNvPr id="6" name="Picture 5">
            <a:extLst>
              <a:ext uri="{FF2B5EF4-FFF2-40B4-BE49-F238E27FC236}">
                <a16:creationId xmlns:a16="http://schemas.microsoft.com/office/drawing/2014/main" id="{17442A3C-901E-3C46-ACC6-C7DFC3666D62}"/>
              </a:ext>
            </a:extLst>
          </p:cNvPr>
          <p:cNvPicPr>
            <a:picLocks noChangeAspect="1"/>
          </p:cNvPicPr>
          <p:nvPr/>
        </p:nvPicPr>
        <p:blipFill>
          <a:blip r:embed="rId2"/>
          <a:stretch>
            <a:fillRect/>
          </a:stretch>
        </p:blipFill>
        <p:spPr>
          <a:xfrm>
            <a:off x="1126210" y="882386"/>
            <a:ext cx="9939580" cy="5582782"/>
          </a:xfrm>
          <a:prstGeom prst="rect">
            <a:avLst/>
          </a:prstGeom>
        </p:spPr>
      </p:pic>
      <p:sp>
        <p:nvSpPr>
          <p:cNvPr id="7" name="Rectangle 6">
            <a:extLst>
              <a:ext uri="{FF2B5EF4-FFF2-40B4-BE49-F238E27FC236}">
                <a16:creationId xmlns:a16="http://schemas.microsoft.com/office/drawing/2014/main" id="{7D184577-2D68-8443-BC75-FEFC89C9F2D1}"/>
              </a:ext>
            </a:extLst>
          </p:cNvPr>
          <p:cNvSpPr/>
          <p:nvPr/>
        </p:nvSpPr>
        <p:spPr>
          <a:xfrm>
            <a:off x="6726264" y="6413148"/>
            <a:ext cx="5465735" cy="461665"/>
          </a:xfrm>
          <a:prstGeom prst="rect">
            <a:avLst/>
          </a:prstGeom>
        </p:spPr>
        <p:txBody>
          <a:bodyPr wrap="square">
            <a:spAutoFit/>
          </a:bodyPr>
          <a:lstStyle/>
          <a:p>
            <a:pPr algn="r"/>
            <a:r>
              <a:rPr lang="en-US" sz="1200" dirty="0">
                <a:solidFill>
                  <a:srgbClr val="000000"/>
                </a:solidFill>
                <a:latin typeface="Quadraat" panose="02000503060000090004" pitchFamily="2" charset="0"/>
              </a:rPr>
              <a:t>Lee, P. and </a:t>
            </a:r>
            <a:r>
              <a:rPr lang="en-US" sz="1200" dirty="0" err="1">
                <a:solidFill>
                  <a:srgbClr val="000000"/>
                </a:solidFill>
                <a:latin typeface="Quadraat" panose="02000503060000090004" pitchFamily="2" charset="0"/>
              </a:rPr>
              <a:t>Papachristou</a:t>
            </a:r>
            <a:r>
              <a:rPr lang="en-US" sz="1200" dirty="0">
                <a:solidFill>
                  <a:srgbClr val="000000"/>
                </a:solidFill>
                <a:latin typeface="Quadraat" panose="02000503060000090004" pitchFamily="2" charset="0"/>
              </a:rPr>
              <a:t>, G. (2019). New insights into acute pancreatitis. </a:t>
            </a:r>
            <a:r>
              <a:rPr lang="en-US" sz="1200" i="1" dirty="0">
                <a:solidFill>
                  <a:srgbClr val="000000"/>
                </a:solidFill>
                <a:latin typeface="Quadraat" panose="02000503060000090004" pitchFamily="2" charset="0"/>
              </a:rPr>
              <a:t>Nature Reviews Gastroenterology &amp; Hepatology</a:t>
            </a:r>
            <a:r>
              <a:rPr lang="en-US" sz="1200" dirty="0">
                <a:solidFill>
                  <a:srgbClr val="000000"/>
                </a:solidFill>
                <a:latin typeface="Quadraat" panose="02000503060000090004" pitchFamily="2" charset="0"/>
              </a:rPr>
              <a:t>, 16(8), pp.479-496.</a:t>
            </a:r>
            <a:endParaRPr lang="en-US" sz="1200" dirty="0">
              <a:latin typeface="Quadraat" panose="02000503060000090004" pitchFamily="2" charset="0"/>
            </a:endParaRPr>
          </a:p>
        </p:txBody>
      </p:sp>
      <p:sp>
        <p:nvSpPr>
          <p:cNvPr id="2" name="Rectangle 1">
            <a:extLst>
              <a:ext uri="{FF2B5EF4-FFF2-40B4-BE49-F238E27FC236}">
                <a16:creationId xmlns:a16="http://schemas.microsoft.com/office/drawing/2014/main" id="{87E95AFB-D91F-3742-93FE-3AD9A6A95DD0}"/>
              </a:ext>
            </a:extLst>
          </p:cNvPr>
          <p:cNvSpPr/>
          <p:nvPr/>
        </p:nvSpPr>
        <p:spPr>
          <a:xfrm>
            <a:off x="1126210" y="4339525"/>
            <a:ext cx="9939580" cy="55793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i="1" dirty="0">
              <a:latin typeface="Quadraat" panose="02000503060000090004" pitchFamily="2" charset="0"/>
            </a:endParaRPr>
          </a:p>
        </p:txBody>
      </p:sp>
    </p:spTree>
    <p:extLst>
      <p:ext uri="{BB962C8B-B14F-4D97-AF65-F5344CB8AC3E}">
        <p14:creationId xmlns:p14="http://schemas.microsoft.com/office/powerpoint/2010/main" val="25072133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F97A3-56B8-0842-A8FC-BE4F0EFF3AEE}"/>
              </a:ext>
            </a:extLst>
          </p:cNvPr>
          <p:cNvSpPr>
            <a:spLocks noGrp="1"/>
          </p:cNvSpPr>
          <p:nvPr>
            <p:ph type="title"/>
          </p:nvPr>
        </p:nvSpPr>
        <p:spPr/>
        <p:txBody>
          <a:bodyPr/>
          <a:lstStyle/>
          <a:p>
            <a:r>
              <a:rPr lang="en-US" dirty="0"/>
              <a:t>MKSAP Question</a:t>
            </a:r>
          </a:p>
        </p:txBody>
      </p:sp>
      <p:sp>
        <p:nvSpPr>
          <p:cNvPr id="5" name="Text Placeholder 4">
            <a:extLst>
              <a:ext uri="{FF2B5EF4-FFF2-40B4-BE49-F238E27FC236}">
                <a16:creationId xmlns:a16="http://schemas.microsoft.com/office/drawing/2014/main" id="{3F8B4597-F7CF-944C-B77B-EBFFC04C94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935521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34288A-D536-FA40-B268-D7AE42D7524E}"/>
              </a:ext>
            </a:extLst>
          </p:cNvPr>
          <p:cNvSpPr>
            <a:spLocks noGrp="1"/>
          </p:cNvSpPr>
          <p:nvPr>
            <p:ph idx="1"/>
          </p:nvPr>
        </p:nvSpPr>
        <p:spPr>
          <a:xfrm>
            <a:off x="152400" y="76200"/>
            <a:ext cx="11887200" cy="6781800"/>
          </a:xfrm>
        </p:spPr>
        <p:txBody>
          <a:bodyPr>
            <a:normAutofit fontScale="85000" lnSpcReduction="20000"/>
          </a:bodyPr>
          <a:lstStyle/>
          <a:p>
            <a:pPr marL="0" indent="0">
              <a:buNone/>
            </a:pPr>
            <a:r>
              <a:rPr lang="en-US" dirty="0"/>
              <a:t>A 35-year-old man is evaluated in the emergency department for a 6-hour history of epigastric abdominal pain that radiates to the back. He also has nausea and occasional bilious vomiting. He has consumed between six and twelve beers daily for 10 to 15 years.</a:t>
            </a:r>
          </a:p>
          <a:p>
            <a:pPr marL="0" indent="0">
              <a:buNone/>
            </a:pPr>
            <a:r>
              <a:rPr lang="en-US" dirty="0"/>
              <a:t>On physical examination, temperature is 37.2 °C (99.0 °F), blood pressure is 110/65 mm Hg, pulse rate is 105/min, and respiration rate is 22/min. Abdominal examination discloses epigastric tenderness without guarding or rebound. Bowel sounds are present but hypoactive, and there is mild abdominal distention. No jaundice is noted.</a:t>
            </a:r>
          </a:p>
          <a:p>
            <a:pPr marL="0" indent="0">
              <a:buNone/>
            </a:pPr>
            <a:r>
              <a:rPr lang="en-US" dirty="0"/>
              <a:t>Laboratory studies reveal a leukocyte count of 14,000/</a:t>
            </a:r>
            <a:r>
              <a:rPr lang="el-GR" dirty="0"/>
              <a:t>μ</a:t>
            </a:r>
            <a:r>
              <a:rPr lang="en-US" dirty="0"/>
              <a:t>L (14 × 10</a:t>
            </a:r>
            <a:r>
              <a:rPr lang="en-US" baseline="30000" dirty="0"/>
              <a:t>9</a:t>
            </a:r>
            <a:r>
              <a:rPr lang="en-US" dirty="0"/>
              <a:t>/L), a blood urea nitrogen level of 25 mg/dL (8.9 mmol/L), and a serum lipase level of 952 U/L.</a:t>
            </a:r>
          </a:p>
          <a:p>
            <a:pPr marL="0" indent="0">
              <a:buNone/>
            </a:pPr>
            <a:r>
              <a:rPr lang="en-US" dirty="0"/>
              <a:t>Abdominal ultrasound shows a normal-appearing gallbladder and no biliary dilation. The patient is admitted to the hospital. Over the next 48 hours, he has ongoing abdominal pain, nausea, and poor appetite despite supportive therapy consisting of pain medication and aggressive intravenous fluid replacement. Subsequent contrast-enhanced CT of the abdomen shows </a:t>
            </a:r>
            <a:r>
              <a:rPr lang="en-US" dirty="0" err="1"/>
              <a:t>nonenhancing</a:t>
            </a:r>
            <a:r>
              <a:rPr lang="en-US" dirty="0"/>
              <a:t> areas of the head and body of the pancreas (consistent with necrosis) and several peripancreatic fluid collections.</a:t>
            </a:r>
          </a:p>
          <a:p>
            <a:pPr marL="0" indent="0">
              <a:buNone/>
            </a:pPr>
            <a:endParaRPr lang="en-US" dirty="0"/>
          </a:p>
          <a:p>
            <a:pPr marL="0" indent="0">
              <a:buNone/>
            </a:pPr>
            <a:r>
              <a:rPr lang="en-US" dirty="0"/>
              <a:t>Which of the following is the most appropriate management?</a:t>
            </a:r>
          </a:p>
          <a:p>
            <a:pPr marL="514350" indent="-514350">
              <a:buAutoNum type="alphaUcParenR"/>
            </a:pPr>
            <a:r>
              <a:rPr lang="en-US" dirty="0"/>
              <a:t>Drainage of the fluid collections</a:t>
            </a:r>
          </a:p>
          <a:p>
            <a:pPr marL="514350" indent="-514350">
              <a:buFont typeface="System Font Regular"/>
              <a:buAutoNum type="alphaUcParenR"/>
            </a:pPr>
            <a:r>
              <a:rPr lang="en-US" dirty="0"/>
              <a:t>Endoscopic retrograde cholangiopancreatography</a:t>
            </a:r>
          </a:p>
          <a:p>
            <a:pPr marL="514350" indent="-514350">
              <a:buFont typeface="System Font Regular"/>
              <a:buAutoNum type="alphaUcParenR"/>
            </a:pPr>
            <a:r>
              <a:rPr lang="en-US" dirty="0"/>
              <a:t>Enteral nutrition by nasogastric tube</a:t>
            </a:r>
          </a:p>
          <a:p>
            <a:pPr marL="514350" indent="-514350">
              <a:buFont typeface="System Font Regular"/>
              <a:buAutoNum type="alphaUcParenR"/>
            </a:pPr>
            <a:r>
              <a:rPr lang="en-US" dirty="0"/>
              <a:t>Total parenteral nutrition</a:t>
            </a:r>
          </a:p>
        </p:txBody>
      </p:sp>
    </p:spTree>
    <p:extLst>
      <p:ext uri="{BB962C8B-B14F-4D97-AF65-F5344CB8AC3E}">
        <p14:creationId xmlns:p14="http://schemas.microsoft.com/office/powerpoint/2010/main" val="30611314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34288A-D536-FA40-B268-D7AE42D7524E}"/>
              </a:ext>
            </a:extLst>
          </p:cNvPr>
          <p:cNvSpPr>
            <a:spLocks noGrp="1"/>
          </p:cNvSpPr>
          <p:nvPr>
            <p:ph idx="1"/>
          </p:nvPr>
        </p:nvSpPr>
        <p:spPr>
          <a:xfrm>
            <a:off x="152400" y="76200"/>
            <a:ext cx="11887200" cy="6781800"/>
          </a:xfrm>
        </p:spPr>
        <p:txBody>
          <a:bodyPr>
            <a:normAutofit fontScale="85000" lnSpcReduction="20000"/>
          </a:bodyPr>
          <a:lstStyle/>
          <a:p>
            <a:pPr marL="0" indent="0">
              <a:buNone/>
            </a:pPr>
            <a:r>
              <a:rPr lang="en-US" dirty="0"/>
              <a:t>A 35-year-old man is evaluated in the emergency department for a 6-hour history of epigastric abdominal pain that radiates to the back. He also has nausea and occasional bilious vomiting. He has consumed between six and twelve beers daily for 10 to 15 years.</a:t>
            </a:r>
          </a:p>
          <a:p>
            <a:pPr marL="0" indent="0">
              <a:buNone/>
            </a:pPr>
            <a:r>
              <a:rPr lang="en-US" dirty="0"/>
              <a:t>On physical examination, temperature is 37.2 °C (99.0 °F), blood pressure is 110/65 mm Hg, pulse rate is 105/min, and respiration rate is 22/min. Abdominal examination discloses epigastric tenderness without guarding or rebound. Bowel sounds are present but hypoactive, and there is mild abdominal distention. No jaundice is noted.</a:t>
            </a:r>
          </a:p>
          <a:p>
            <a:pPr marL="0" indent="0">
              <a:buNone/>
            </a:pPr>
            <a:r>
              <a:rPr lang="en-US" dirty="0"/>
              <a:t>Laboratory studies reveal a leukocyte count of 14,000/</a:t>
            </a:r>
            <a:r>
              <a:rPr lang="el-GR" dirty="0"/>
              <a:t>μ</a:t>
            </a:r>
            <a:r>
              <a:rPr lang="en-US" dirty="0"/>
              <a:t>L (14 × 10</a:t>
            </a:r>
            <a:r>
              <a:rPr lang="en-US" baseline="30000" dirty="0"/>
              <a:t>9</a:t>
            </a:r>
            <a:r>
              <a:rPr lang="en-US" dirty="0"/>
              <a:t>/L), a blood urea nitrogen level of 25 mg/dL (8.9 mmol/L), and a serum lipase level of 952 U/L.</a:t>
            </a:r>
          </a:p>
          <a:p>
            <a:pPr marL="0" indent="0">
              <a:buNone/>
            </a:pPr>
            <a:r>
              <a:rPr lang="en-US" dirty="0"/>
              <a:t>Abdominal ultrasound shows a normal-appearing gallbladder and no biliary dilation. The patient is admitted to the hospital. Over the next 48 hours, he has ongoing abdominal pain, nausea, and poor appetite despite supportive therapy consisting of pain medication and aggressive intravenous fluid replacement. Subsequent contrast-enhanced CT of the abdomen shows </a:t>
            </a:r>
            <a:r>
              <a:rPr lang="en-US" dirty="0" err="1"/>
              <a:t>nonenhancing</a:t>
            </a:r>
            <a:r>
              <a:rPr lang="en-US" dirty="0"/>
              <a:t> areas of the head and body of the pancreas (consistent with necrosis) and several peripancreatic fluid collections.</a:t>
            </a:r>
          </a:p>
          <a:p>
            <a:pPr marL="0" indent="0">
              <a:buNone/>
            </a:pPr>
            <a:endParaRPr lang="en-US" dirty="0"/>
          </a:p>
          <a:p>
            <a:pPr marL="0" indent="0">
              <a:buNone/>
            </a:pPr>
            <a:r>
              <a:rPr lang="en-US" dirty="0"/>
              <a:t>Which of the following is the most appropriate management?</a:t>
            </a:r>
          </a:p>
          <a:p>
            <a:pPr marL="514350" indent="-514350">
              <a:buAutoNum type="alphaUcParenR"/>
            </a:pPr>
            <a:r>
              <a:rPr lang="en-US" dirty="0"/>
              <a:t>Drainage of the fluid collections</a:t>
            </a:r>
          </a:p>
          <a:p>
            <a:pPr marL="514350" indent="-514350">
              <a:buFont typeface="System Font Regular"/>
              <a:buAutoNum type="alphaUcParenR"/>
            </a:pPr>
            <a:r>
              <a:rPr lang="en-US" dirty="0"/>
              <a:t>Endoscopic retrograde cholangiopancreatography</a:t>
            </a:r>
          </a:p>
          <a:p>
            <a:pPr marL="514350" indent="-514350">
              <a:buFont typeface="System Font Regular"/>
              <a:buAutoNum type="alphaUcParenR"/>
            </a:pPr>
            <a:r>
              <a:rPr lang="en-US" dirty="0">
                <a:highlight>
                  <a:srgbClr val="FFFF00"/>
                </a:highlight>
              </a:rPr>
              <a:t>Enteral nutrition by nasogastric tube</a:t>
            </a:r>
          </a:p>
          <a:p>
            <a:pPr marL="514350" indent="-514350">
              <a:buFont typeface="System Font Regular"/>
              <a:buAutoNum type="alphaUcParenR"/>
            </a:pPr>
            <a:r>
              <a:rPr lang="en-US" dirty="0"/>
              <a:t>Total parenteral nutrition</a:t>
            </a:r>
          </a:p>
        </p:txBody>
      </p:sp>
    </p:spTree>
    <p:extLst>
      <p:ext uri="{BB962C8B-B14F-4D97-AF65-F5344CB8AC3E}">
        <p14:creationId xmlns:p14="http://schemas.microsoft.com/office/powerpoint/2010/main" val="18576584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1D106-69EE-8C41-879A-7089CA254951}"/>
              </a:ext>
            </a:extLst>
          </p:cNvPr>
          <p:cNvSpPr>
            <a:spLocks noGrp="1"/>
          </p:cNvSpPr>
          <p:nvPr>
            <p:ph type="title"/>
          </p:nvPr>
        </p:nvSpPr>
        <p:spPr>
          <a:xfrm>
            <a:off x="0" y="45085"/>
            <a:ext cx="2495550" cy="1052195"/>
          </a:xfrm>
        </p:spPr>
        <p:txBody>
          <a:bodyPr>
            <a:normAutofit/>
          </a:bodyPr>
          <a:lstStyle/>
          <a:p>
            <a:r>
              <a:rPr lang="en-US" dirty="0">
                <a:solidFill>
                  <a:schemeClr val="bg1"/>
                </a:solidFill>
              </a:rPr>
              <a:t>CT A/P</a:t>
            </a:r>
          </a:p>
        </p:txBody>
      </p:sp>
      <p:pic>
        <p:nvPicPr>
          <p:cNvPr id="50" name="Picture 49">
            <a:extLst>
              <a:ext uri="{FF2B5EF4-FFF2-40B4-BE49-F238E27FC236}">
                <a16:creationId xmlns:a16="http://schemas.microsoft.com/office/drawing/2014/main" id="{BA57A5F9-35EF-FA42-8D7D-7D51122BCBED}"/>
              </a:ext>
            </a:extLst>
          </p:cNvPr>
          <p:cNvPicPr>
            <a:picLocks noChangeAspect="1"/>
          </p:cNvPicPr>
          <p:nvPr/>
        </p:nvPicPr>
        <p:blipFill>
          <a:blip r:embed="rId2"/>
          <a:stretch>
            <a:fillRect/>
          </a:stretch>
        </p:blipFill>
        <p:spPr>
          <a:xfrm>
            <a:off x="2495550" y="0"/>
            <a:ext cx="7200900" cy="6858000"/>
          </a:xfrm>
          <a:prstGeom prst="rect">
            <a:avLst/>
          </a:prstGeom>
        </p:spPr>
      </p:pic>
      <p:pic>
        <p:nvPicPr>
          <p:cNvPr id="52" name="Picture 51">
            <a:extLst>
              <a:ext uri="{FF2B5EF4-FFF2-40B4-BE49-F238E27FC236}">
                <a16:creationId xmlns:a16="http://schemas.microsoft.com/office/drawing/2014/main" id="{B6593110-7FF5-2341-88AB-98C1B14833DC}"/>
              </a:ext>
            </a:extLst>
          </p:cNvPr>
          <p:cNvPicPr>
            <a:picLocks noChangeAspect="1"/>
          </p:cNvPicPr>
          <p:nvPr/>
        </p:nvPicPr>
        <p:blipFill>
          <a:blip r:embed="rId3"/>
          <a:stretch>
            <a:fillRect/>
          </a:stretch>
        </p:blipFill>
        <p:spPr>
          <a:xfrm>
            <a:off x="2495550" y="0"/>
            <a:ext cx="7200900" cy="6858000"/>
          </a:xfrm>
          <a:prstGeom prst="rect">
            <a:avLst/>
          </a:prstGeom>
        </p:spPr>
      </p:pic>
      <p:pic>
        <p:nvPicPr>
          <p:cNvPr id="54" name="Picture 53">
            <a:extLst>
              <a:ext uri="{FF2B5EF4-FFF2-40B4-BE49-F238E27FC236}">
                <a16:creationId xmlns:a16="http://schemas.microsoft.com/office/drawing/2014/main" id="{F9EC6D49-E7EA-F648-83F6-B593FEFD09C7}"/>
              </a:ext>
            </a:extLst>
          </p:cNvPr>
          <p:cNvPicPr>
            <a:picLocks noChangeAspect="1"/>
          </p:cNvPicPr>
          <p:nvPr/>
        </p:nvPicPr>
        <p:blipFill>
          <a:blip r:embed="rId4"/>
          <a:stretch>
            <a:fillRect/>
          </a:stretch>
        </p:blipFill>
        <p:spPr>
          <a:xfrm>
            <a:off x="2495550" y="0"/>
            <a:ext cx="7200900" cy="6858000"/>
          </a:xfrm>
          <a:prstGeom prst="rect">
            <a:avLst/>
          </a:prstGeom>
        </p:spPr>
      </p:pic>
      <p:pic>
        <p:nvPicPr>
          <p:cNvPr id="56" name="Picture 55">
            <a:extLst>
              <a:ext uri="{FF2B5EF4-FFF2-40B4-BE49-F238E27FC236}">
                <a16:creationId xmlns:a16="http://schemas.microsoft.com/office/drawing/2014/main" id="{FA5C9C85-B3B6-FF41-A05B-278573636099}"/>
              </a:ext>
            </a:extLst>
          </p:cNvPr>
          <p:cNvPicPr>
            <a:picLocks noChangeAspect="1"/>
          </p:cNvPicPr>
          <p:nvPr/>
        </p:nvPicPr>
        <p:blipFill>
          <a:blip r:embed="rId5"/>
          <a:stretch>
            <a:fillRect/>
          </a:stretch>
        </p:blipFill>
        <p:spPr>
          <a:xfrm>
            <a:off x="2495550" y="0"/>
            <a:ext cx="7200900" cy="6858000"/>
          </a:xfrm>
          <a:prstGeom prst="rect">
            <a:avLst/>
          </a:prstGeom>
        </p:spPr>
      </p:pic>
      <p:pic>
        <p:nvPicPr>
          <p:cNvPr id="58" name="Picture 57">
            <a:extLst>
              <a:ext uri="{FF2B5EF4-FFF2-40B4-BE49-F238E27FC236}">
                <a16:creationId xmlns:a16="http://schemas.microsoft.com/office/drawing/2014/main" id="{F51C1FF1-1D58-0746-BC30-589EA1829F2C}"/>
              </a:ext>
            </a:extLst>
          </p:cNvPr>
          <p:cNvPicPr>
            <a:picLocks noChangeAspect="1"/>
          </p:cNvPicPr>
          <p:nvPr/>
        </p:nvPicPr>
        <p:blipFill>
          <a:blip r:embed="rId6"/>
          <a:stretch>
            <a:fillRect/>
          </a:stretch>
        </p:blipFill>
        <p:spPr>
          <a:xfrm>
            <a:off x="2495550" y="0"/>
            <a:ext cx="7200900" cy="6858000"/>
          </a:xfrm>
          <a:prstGeom prst="rect">
            <a:avLst/>
          </a:prstGeom>
        </p:spPr>
      </p:pic>
      <p:pic>
        <p:nvPicPr>
          <p:cNvPr id="60" name="Picture 59">
            <a:extLst>
              <a:ext uri="{FF2B5EF4-FFF2-40B4-BE49-F238E27FC236}">
                <a16:creationId xmlns:a16="http://schemas.microsoft.com/office/drawing/2014/main" id="{D30CB3A5-57E5-9D41-B676-88F12C1A5BEB}"/>
              </a:ext>
            </a:extLst>
          </p:cNvPr>
          <p:cNvPicPr>
            <a:picLocks noChangeAspect="1"/>
          </p:cNvPicPr>
          <p:nvPr/>
        </p:nvPicPr>
        <p:blipFill>
          <a:blip r:embed="rId7"/>
          <a:stretch>
            <a:fillRect/>
          </a:stretch>
        </p:blipFill>
        <p:spPr>
          <a:xfrm>
            <a:off x="2495550" y="0"/>
            <a:ext cx="7200900" cy="6858000"/>
          </a:xfrm>
          <a:prstGeom prst="rect">
            <a:avLst/>
          </a:prstGeom>
        </p:spPr>
      </p:pic>
      <p:pic>
        <p:nvPicPr>
          <p:cNvPr id="62" name="Picture 61">
            <a:extLst>
              <a:ext uri="{FF2B5EF4-FFF2-40B4-BE49-F238E27FC236}">
                <a16:creationId xmlns:a16="http://schemas.microsoft.com/office/drawing/2014/main" id="{23523219-FC4E-F142-9B14-0C237B46D26B}"/>
              </a:ext>
            </a:extLst>
          </p:cNvPr>
          <p:cNvPicPr>
            <a:picLocks noChangeAspect="1"/>
          </p:cNvPicPr>
          <p:nvPr/>
        </p:nvPicPr>
        <p:blipFill>
          <a:blip r:embed="rId8"/>
          <a:stretch>
            <a:fillRect/>
          </a:stretch>
        </p:blipFill>
        <p:spPr>
          <a:xfrm>
            <a:off x="2495550" y="0"/>
            <a:ext cx="7200900" cy="6858000"/>
          </a:xfrm>
          <a:prstGeom prst="rect">
            <a:avLst/>
          </a:prstGeom>
        </p:spPr>
      </p:pic>
      <p:pic>
        <p:nvPicPr>
          <p:cNvPr id="64" name="Picture 63">
            <a:extLst>
              <a:ext uri="{FF2B5EF4-FFF2-40B4-BE49-F238E27FC236}">
                <a16:creationId xmlns:a16="http://schemas.microsoft.com/office/drawing/2014/main" id="{563A2D67-3220-0F4E-A241-DB71D48EDD1B}"/>
              </a:ext>
            </a:extLst>
          </p:cNvPr>
          <p:cNvPicPr>
            <a:picLocks noChangeAspect="1"/>
          </p:cNvPicPr>
          <p:nvPr/>
        </p:nvPicPr>
        <p:blipFill>
          <a:blip r:embed="rId9"/>
          <a:stretch>
            <a:fillRect/>
          </a:stretch>
        </p:blipFill>
        <p:spPr>
          <a:xfrm>
            <a:off x="2495550" y="0"/>
            <a:ext cx="7200900" cy="6858000"/>
          </a:xfrm>
          <a:prstGeom prst="rect">
            <a:avLst/>
          </a:prstGeom>
        </p:spPr>
      </p:pic>
      <p:pic>
        <p:nvPicPr>
          <p:cNvPr id="66" name="Picture 65">
            <a:extLst>
              <a:ext uri="{FF2B5EF4-FFF2-40B4-BE49-F238E27FC236}">
                <a16:creationId xmlns:a16="http://schemas.microsoft.com/office/drawing/2014/main" id="{644F46F7-67FE-7542-9C9A-9671A1182511}"/>
              </a:ext>
            </a:extLst>
          </p:cNvPr>
          <p:cNvPicPr>
            <a:picLocks noChangeAspect="1"/>
          </p:cNvPicPr>
          <p:nvPr/>
        </p:nvPicPr>
        <p:blipFill>
          <a:blip r:embed="rId10"/>
          <a:stretch>
            <a:fillRect/>
          </a:stretch>
        </p:blipFill>
        <p:spPr>
          <a:xfrm>
            <a:off x="2495550" y="0"/>
            <a:ext cx="7200900" cy="6858000"/>
          </a:xfrm>
          <a:prstGeom prst="rect">
            <a:avLst/>
          </a:prstGeom>
        </p:spPr>
      </p:pic>
      <p:pic>
        <p:nvPicPr>
          <p:cNvPr id="68" name="Picture 67">
            <a:extLst>
              <a:ext uri="{FF2B5EF4-FFF2-40B4-BE49-F238E27FC236}">
                <a16:creationId xmlns:a16="http://schemas.microsoft.com/office/drawing/2014/main" id="{B097CA10-1EA3-5F4B-85DF-4E3EF4BFC14A}"/>
              </a:ext>
            </a:extLst>
          </p:cNvPr>
          <p:cNvPicPr>
            <a:picLocks noChangeAspect="1"/>
          </p:cNvPicPr>
          <p:nvPr/>
        </p:nvPicPr>
        <p:blipFill>
          <a:blip r:embed="rId11"/>
          <a:stretch>
            <a:fillRect/>
          </a:stretch>
        </p:blipFill>
        <p:spPr>
          <a:xfrm>
            <a:off x="2495550" y="0"/>
            <a:ext cx="7200900" cy="6858000"/>
          </a:xfrm>
          <a:prstGeom prst="rect">
            <a:avLst/>
          </a:prstGeom>
        </p:spPr>
      </p:pic>
      <p:pic>
        <p:nvPicPr>
          <p:cNvPr id="70" name="Picture 69">
            <a:extLst>
              <a:ext uri="{FF2B5EF4-FFF2-40B4-BE49-F238E27FC236}">
                <a16:creationId xmlns:a16="http://schemas.microsoft.com/office/drawing/2014/main" id="{92AF652D-54E7-E241-9BF4-931AA4FE7640}"/>
              </a:ext>
            </a:extLst>
          </p:cNvPr>
          <p:cNvPicPr>
            <a:picLocks noChangeAspect="1"/>
          </p:cNvPicPr>
          <p:nvPr/>
        </p:nvPicPr>
        <p:blipFill>
          <a:blip r:embed="rId12"/>
          <a:stretch>
            <a:fillRect/>
          </a:stretch>
        </p:blipFill>
        <p:spPr>
          <a:xfrm>
            <a:off x="2495550" y="0"/>
            <a:ext cx="7200900" cy="6858000"/>
          </a:xfrm>
          <a:prstGeom prst="rect">
            <a:avLst/>
          </a:prstGeom>
        </p:spPr>
      </p:pic>
      <p:pic>
        <p:nvPicPr>
          <p:cNvPr id="72" name="Picture 71">
            <a:extLst>
              <a:ext uri="{FF2B5EF4-FFF2-40B4-BE49-F238E27FC236}">
                <a16:creationId xmlns:a16="http://schemas.microsoft.com/office/drawing/2014/main" id="{9F218223-1DF9-114C-966D-CFCC9365D400}"/>
              </a:ext>
            </a:extLst>
          </p:cNvPr>
          <p:cNvPicPr>
            <a:picLocks noChangeAspect="1"/>
          </p:cNvPicPr>
          <p:nvPr/>
        </p:nvPicPr>
        <p:blipFill>
          <a:blip r:embed="rId13"/>
          <a:stretch>
            <a:fillRect/>
          </a:stretch>
        </p:blipFill>
        <p:spPr>
          <a:xfrm>
            <a:off x="2495550" y="0"/>
            <a:ext cx="7200900" cy="6858000"/>
          </a:xfrm>
          <a:prstGeom prst="rect">
            <a:avLst/>
          </a:prstGeom>
        </p:spPr>
      </p:pic>
      <p:pic>
        <p:nvPicPr>
          <p:cNvPr id="74" name="Picture 73">
            <a:extLst>
              <a:ext uri="{FF2B5EF4-FFF2-40B4-BE49-F238E27FC236}">
                <a16:creationId xmlns:a16="http://schemas.microsoft.com/office/drawing/2014/main" id="{1A002F97-F701-294F-A634-3B1DECA5CC6B}"/>
              </a:ext>
            </a:extLst>
          </p:cNvPr>
          <p:cNvPicPr>
            <a:picLocks noChangeAspect="1"/>
          </p:cNvPicPr>
          <p:nvPr/>
        </p:nvPicPr>
        <p:blipFill>
          <a:blip r:embed="rId14"/>
          <a:stretch>
            <a:fillRect/>
          </a:stretch>
        </p:blipFill>
        <p:spPr>
          <a:xfrm>
            <a:off x="2495550" y="0"/>
            <a:ext cx="7200900" cy="6858000"/>
          </a:xfrm>
          <a:prstGeom prst="rect">
            <a:avLst/>
          </a:prstGeom>
        </p:spPr>
      </p:pic>
      <p:pic>
        <p:nvPicPr>
          <p:cNvPr id="76" name="Picture 75">
            <a:extLst>
              <a:ext uri="{FF2B5EF4-FFF2-40B4-BE49-F238E27FC236}">
                <a16:creationId xmlns:a16="http://schemas.microsoft.com/office/drawing/2014/main" id="{1C92FBDB-1A3C-984B-81EA-F6C302D42818}"/>
              </a:ext>
            </a:extLst>
          </p:cNvPr>
          <p:cNvPicPr>
            <a:picLocks noChangeAspect="1"/>
          </p:cNvPicPr>
          <p:nvPr/>
        </p:nvPicPr>
        <p:blipFill>
          <a:blip r:embed="rId15"/>
          <a:stretch>
            <a:fillRect/>
          </a:stretch>
        </p:blipFill>
        <p:spPr>
          <a:xfrm>
            <a:off x="2495550" y="0"/>
            <a:ext cx="7200900" cy="6858000"/>
          </a:xfrm>
          <a:prstGeom prst="rect">
            <a:avLst/>
          </a:prstGeom>
        </p:spPr>
      </p:pic>
      <p:pic>
        <p:nvPicPr>
          <p:cNvPr id="78" name="Picture 77">
            <a:extLst>
              <a:ext uri="{FF2B5EF4-FFF2-40B4-BE49-F238E27FC236}">
                <a16:creationId xmlns:a16="http://schemas.microsoft.com/office/drawing/2014/main" id="{A8110C59-4B1D-4B42-9C8C-04B374EFF28B}"/>
              </a:ext>
            </a:extLst>
          </p:cNvPr>
          <p:cNvPicPr>
            <a:picLocks noChangeAspect="1"/>
          </p:cNvPicPr>
          <p:nvPr/>
        </p:nvPicPr>
        <p:blipFill>
          <a:blip r:embed="rId16"/>
          <a:stretch>
            <a:fillRect/>
          </a:stretch>
        </p:blipFill>
        <p:spPr>
          <a:xfrm>
            <a:off x="2495550" y="0"/>
            <a:ext cx="7200900" cy="6858000"/>
          </a:xfrm>
          <a:prstGeom prst="rect">
            <a:avLst/>
          </a:prstGeom>
        </p:spPr>
      </p:pic>
      <p:pic>
        <p:nvPicPr>
          <p:cNvPr id="80" name="Picture 79">
            <a:extLst>
              <a:ext uri="{FF2B5EF4-FFF2-40B4-BE49-F238E27FC236}">
                <a16:creationId xmlns:a16="http://schemas.microsoft.com/office/drawing/2014/main" id="{66D334DC-8B1E-9546-9408-256E66636D33}"/>
              </a:ext>
            </a:extLst>
          </p:cNvPr>
          <p:cNvPicPr>
            <a:picLocks noChangeAspect="1"/>
          </p:cNvPicPr>
          <p:nvPr/>
        </p:nvPicPr>
        <p:blipFill>
          <a:blip r:embed="rId17"/>
          <a:stretch>
            <a:fillRect/>
          </a:stretch>
        </p:blipFill>
        <p:spPr>
          <a:xfrm>
            <a:off x="2495550" y="0"/>
            <a:ext cx="7200900" cy="6858000"/>
          </a:xfrm>
          <a:prstGeom prst="rect">
            <a:avLst/>
          </a:prstGeom>
        </p:spPr>
      </p:pic>
      <p:pic>
        <p:nvPicPr>
          <p:cNvPr id="82" name="Picture 81">
            <a:extLst>
              <a:ext uri="{FF2B5EF4-FFF2-40B4-BE49-F238E27FC236}">
                <a16:creationId xmlns:a16="http://schemas.microsoft.com/office/drawing/2014/main" id="{55EF95C8-5A3B-8749-ADA9-280C64F5ACF5}"/>
              </a:ext>
            </a:extLst>
          </p:cNvPr>
          <p:cNvPicPr>
            <a:picLocks noChangeAspect="1"/>
          </p:cNvPicPr>
          <p:nvPr/>
        </p:nvPicPr>
        <p:blipFill>
          <a:blip r:embed="rId18"/>
          <a:stretch>
            <a:fillRect/>
          </a:stretch>
        </p:blipFill>
        <p:spPr>
          <a:xfrm>
            <a:off x="2495550" y="0"/>
            <a:ext cx="7200900" cy="6858000"/>
          </a:xfrm>
          <a:prstGeom prst="rect">
            <a:avLst/>
          </a:prstGeom>
        </p:spPr>
      </p:pic>
      <p:pic>
        <p:nvPicPr>
          <p:cNvPr id="84" name="Picture 83">
            <a:extLst>
              <a:ext uri="{FF2B5EF4-FFF2-40B4-BE49-F238E27FC236}">
                <a16:creationId xmlns:a16="http://schemas.microsoft.com/office/drawing/2014/main" id="{8E131A8F-ABE1-FD40-91B3-EDD59E0FB265}"/>
              </a:ext>
            </a:extLst>
          </p:cNvPr>
          <p:cNvPicPr>
            <a:picLocks noChangeAspect="1"/>
          </p:cNvPicPr>
          <p:nvPr/>
        </p:nvPicPr>
        <p:blipFill>
          <a:blip r:embed="rId19"/>
          <a:stretch>
            <a:fillRect/>
          </a:stretch>
        </p:blipFill>
        <p:spPr>
          <a:xfrm>
            <a:off x="2495550" y="0"/>
            <a:ext cx="7200900" cy="6858000"/>
          </a:xfrm>
          <a:prstGeom prst="rect">
            <a:avLst/>
          </a:prstGeom>
        </p:spPr>
      </p:pic>
      <p:pic>
        <p:nvPicPr>
          <p:cNvPr id="86" name="Picture 85">
            <a:extLst>
              <a:ext uri="{FF2B5EF4-FFF2-40B4-BE49-F238E27FC236}">
                <a16:creationId xmlns:a16="http://schemas.microsoft.com/office/drawing/2014/main" id="{85C0B6FE-31D6-1B40-BC79-2F97FFF212E0}"/>
              </a:ext>
            </a:extLst>
          </p:cNvPr>
          <p:cNvPicPr>
            <a:picLocks noChangeAspect="1"/>
          </p:cNvPicPr>
          <p:nvPr/>
        </p:nvPicPr>
        <p:blipFill>
          <a:blip r:embed="rId20"/>
          <a:stretch>
            <a:fillRect/>
          </a:stretch>
        </p:blipFill>
        <p:spPr>
          <a:xfrm>
            <a:off x="2495550" y="0"/>
            <a:ext cx="7200900" cy="6858000"/>
          </a:xfrm>
          <a:prstGeom prst="rect">
            <a:avLst/>
          </a:prstGeom>
        </p:spPr>
      </p:pic>
      <p:pic>
        <p:nvPicPr>
          <p:cNvPr id="88" name="Picture 87">
            <a:extLst>
              <a:ext uri="{FF2B5EF4-FFF2-40B4-BE49-F238E27FC236}">
                <a16:creationId xmlns:a16="http://schemas.microsoft.com/office/drawing/2014/main" id="{0E6BEA45-EEF3-F54A-8B59-16995C4F3AD7}"/>
              </a:ext>
            </a:extLst>
          </p:cNvPr>
          <p:cNvPicPr>
            <a:picLocks noChangeAspect="1"/>
          </p:cNvPicPr>
          <p:nvPr/>
        </p:nvPicPr>
        <p:blipFill>
          <a:blip r:embed="rId21"/>
          <a:stretch>
            <a:fillRect/>
          </a:stretch>
        </p:blipFill>
        <p:spPr>
          <a:xfrm>
            <a:off x="2495550" y="0"/>
            <a:ext cx="7200900" cy="6858000"/>
          </a:xfrm>
          <a:prstGeom prst="rect">
            <a:avLst/>
          </a:prstGeom>
        </p:spPr>
      </p:pic>
      <p:pic>
        <p:nvPicPr>
          <p:cNvPr id="90" name="Picture 89">
            <a:extLst>
              <a:ext uri="{FF2B5EF4-FFF2-40B4-BE49-F238E27FC236}">
                <a16:creationId xmlns:a16="http://schemas.microsoft.com/office/drawing/2014/main" id="{9E6AF226-7B76-5343-B06B-7F0752FFA760}"/>
              </a:ext>
            </a:extLst>
          </p:cNvPr>
          <p:cNvPicPr>
            <a:picLocks noChangeAspect="1"/>
          </p:cNvPicPr>
          <p:nvPr/>
        </p:nvPicPr>
        <p:blipFill>
          <a:blip r:embed="rId22"/>
          <a:stretch>
            <a:fillRect/>
          </a:stretch>
        </p:blipFill>
        <p:spPr>
          <a:xfrm>
            <a:off x="2495550" y="0"/>
            <a:ext cx="7200900" cy="6858000"/>
          </a:xfrm>
          <a:prstGeom prst="rect">
            <a:avLst/>
          </a:prstGeom>
        </p:spPr>
      </p:pic>
      <p:pic>
        <p:nvPicPr>
          <p:cNvPr id="92" name="Picture 91">
            <a:extLst>
              <a:ext uri="{FF2B5EF4-FFF2-40B4-BE49-F238E27FC236}">
                <a16:creationId xmlns:a16="http://schemas.microsoft.com/office/drawing/2014/main" id="{097AACC0-2874-424A-9DD1-DD8F152D22B4}"/>
              </a:ext>
            </a:extLst>
          </p:cNvPr>
          <p:cNvPicPr>
            <a:picLocks noChangeAspect="1"/>
          </p:cNvPicPr>
          <p:nvPr/>
        </p:nvPicPr>
        <p:blipFill>
          <a:blip r:embed="rId23"/>
          <a:stretch>
            <a:fillRect/>
          </a:stretch>
        </p:blipFill>
        <p:spPr>
          <a:xfrm>
            <a:off x="2495550" y="0"/>
            <a:ext cx="7200900" cy="6858000"/>
          </a:xfrm>
          <a:prstGeom prst="rect">
            <a:avLst/>
          </a:prstGeom>
        </p:spPr>
      </p:pic>
      <p:sp>
        <p:nvSpPr>
          <p:cNvPr id="25" name="Title 3">
            <a:extLst>
              <a:ext uri="{FF2B5EF4-FFF2-40B4-BE49-F238E27FC236}">
                <a16:creationId xmlns:a16="http://schemas.microsoft.com/office/drawing/2014/main" id="{70B04608-5B6F-8E43-B020-A538F67CDC70}"/>
              </a:ext>
            </a:extLst>
          </p:cNvPr>
          <p:cNvSpPr txBox="1">
            <a:spLocks/>
          </p:cNvSpPr>
          <p:nvPr/>
        </p:nvSpPr>
        <p:spPr>
          <a:xfrm>
            <a:off x="0" y="4486275"/>
            <a:ext cx="12192000" cy="27051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dirty="0">
                <a:solidFill>
                  <a:schemeClr val="bg1"/>
                </a:solidFill>
                <a:highlight>
                  <a:srgbClr val="000000"/>
                </a:highlight>
              </a:rPr>
              <a:t>What’s the appropriate management?</a:t>
            </a:r>
          </a:p>
        </p:txBody>
      </p:sp>
    </p:spTree>
    <p:extLst>
      <p:ext uri="{BB962C8B-B14F-4D97-AF65-F5344CB8AC3E}">
        <p14:creationId xmlns:p14="http://schemas.microsoft.com/office/powerpoint/2010/main" val="3602976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33F3CB4-10BC-C744-ADFC-7A230D95F006}"/>
              </a:ext>
            </a:extLst>
          </p:cNvPr>
          <p:cNvSpPr>
            <a:spLocks noGrp="1"/>
          </p:cNvSpPr>
          <p:nvPr>
            <p:ph type="title"/>
          </p:nvPr>
        </p:nvSpPr>
        <p:spPr/>
        <p:txBody>
          <a:bodyPr/>
          <a:lstStyle/>
          <a:p>
            <a:r>
              <a:rPr lang="en-US" dirty="0"/>
              <a:t>Take-home Points</a:t>
            </a:r>
          </a:p>
        </p:txBody>
      </p:sp>
      <p:sp>
        <p:nvSpPr>
          <p:cNvPr id="7" name="Content Placeholder 6">
            <a:extLst>
              <a:ext uri="{FF2B5EF4-FFF2-40B4-BE49-F238E27FC236}">
                <a16:creationId xmlns:a16="http://schemas.microsoft.com/office/drawing/2014/main" id="{0065F180-A3ED-6546-8633-9C6790A138DD}"/>
              </a:ext>
            </a:extLst>
          </p:cNvPr>
          <p:cNvSpPr>
            <a:spLocks noGrp="1"/>
          </p:cNvSpPr>
          <p:nvPr>
            <p:ph idx="1"/>
          </p:nvPr>
        </p:nvSpPr>
        <p:spPr>
          <a:xfrm>
            <a:off x="599607" y="1579418"/>
            <a:ext cx="10992786" cy="5022860"/>
          </a:xfrm>
        </p:spPr>
        <p:txBody>
          <a:bodyPr>
            <a:normAutofit lnSpcReduction="10000"/>
          </a:bodyPr>
          <a:lstStyle/>
          <a:p>
            <a:r>
              <a:rPr lang="en-US" sz="3200" dirty="0"/>
              <a:t>Assessing patients clinically is more accurate than fancy scoring systems</a:t>
            </a:r>
          </a:p>
          <a:p>
            <a:r>
              <a:rPr lang="en-US" sz="3200" dirty="0"/>
              <a:t>Triage appropriately (ICU vs Floors)</a:t>
            </a:r>
          </a:p>
          <a:p>
            <a:r>
              <a:rPr lang="en-US" sz="3200" dirty="0"/>
              <a:t>Fluids fluids fluids! -&gt; Lactated Ringer’s</a:t>
            </a:r>
          </a:p>
          <a:p>
            <a:r>
              <a:rPr lang="en-US" sz="3200" dirty="0"/>
              <a:t>No role for prophylactic antibiotics</a:t>
            </a:r>
          </a:p>
          <a:p>
            <a:r>
              <a:rPr lang="en-US" sz="3200" dirty="0"/>
              <a:t>Escalate as appropriate</a:t>
            </a:r>
          </a:p>
          <a:p>
            <a:pPr lvl="1"/>
            <a:r>
              <a:rPr lang="en-US" sz="2800" dirty="0"/>
              <a:t>Cholangitis -&gt; ERCP</a:t>
            </a:r>
          </a:p>
          <a:p>
            <a:pPr lvl="1"/>
            <a:r>
              <a:rPr lang="en-US" sz="2800" dirty="0"/>
              <a:t>Necrosis -&gt; Step-up therapy</a:t>
            </a:r>
          </a:p>
          <a:p>
            <a:pPr lvl="1"/>
            <a:r>
              <a:rPr lang="en-US" sz="2800" dirty="0"/>
              <a:t>Infected necrosis -&gt; Antibiotics</a:t>
            </a:r>
          </a:p>
          <a:p>
            <a:r>
              <a:rPr lang="en-US" sz="3200" dirty="0"/>
              <a:t>Prevention is likely to be the focus in the next decade</a:t>
            </a:r>
          </a:p>
        </p:txBody>
      </p:sp>
    </p:spTree>
    <p:extLst>
      <p:ext uri="{BB962C8B-B14F-4D97-AF65-F5344CB8AC3E}">
        <p14:creationId xmlns:p14="http://schemas.microsoft.com/office/powerpoint/2010/main" val="6223128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87AEB-D889-CA4D-966D-26FBC5DE335B}"/>
              </a:ext>
            </a:extLst>
          </p:cNvPr>
          <p:cNvSpPr>
            <a:spLocks noGrp="1"/>
          </p:cNvSpPr>
          <p:nvPr>
            <p:ph type="title"/>
          </p:nvPr>
        </p:nvSpPr>
        <p:spPr/>
        <p:txBody>
          <a:bodyPr/>
          <a:lstStyle/>
          <a:p>
            <a:r>
              <a:rPr lang="en-US" dirty="0"/>
              <a:t>Summary of The AGA Recommendations</a:t>
            </a:r>
          </a:p>
        </p:txBody>
      </p:sp>
      <p:pic>
        <p:nvPicPr>
          <p:cNvPr id="4" name="Content Placeholder 3">
            <a:extLst>
              <a:ext uri="{FF2B5EF4-FFF2-40B4-BE49-F238E27FC236}">
                <a16:creationId xmlns:a16="http://schemas.microsoft.com/office/drawing/2014/main" id="{80F2037A-0D85-B945-991D-FB9524E19B35}"/>
              </a:ext>
            </a:extLst>
          </p:cNvPr>
          <p:cNvPicPr>
            <a:picLocks noGrp="1" noChangeAspect="1"/>
          </p:cNvPicPr>
          <p:nvPr>
            <p:ph idx="1"/>
          </p:nvPr>
        </p:nvPicPr>
        <p:blipFill>
          <a:blip r:embed="rId2"/>
          <a:stretch>
            <a:fillRect/>
          </a:stretch>
        </p:blipFill>
        <p:spPr>
          <a:xfrm>
            <a:off x="351295" y="888732"/>
            <a:ext cx="11489410" cy="4921072"/>
          </a:xfrm>
          <a:prstGeom prst="rect">
            <a:avLst/>
          </a:prstGeom>
        </p:spPr>
      </p:pic>
      <p:sp>
        <p:nvSpPr>
          <p:cNvPr id="5" name="Title 1">
            <a:extLst>
              <a:ext uri="{FF2B5EF4-FFF2-40B4-BE49-F238E27FC236}">
                <a16:creationId xmlns:a16="http://schemas.microsoft.com/office/drawing/2014/main" id="{6C26DE48-C028-AF4F-A2A5-10D8377CFF07}"/>
              </a:ext>
            </a:extLst>
          </p:cNvPr>
          <p:cNvSpPr txBox="1">
            <a:spLocks/>
          </p:cNvSpPr>
          <p:nvPr/>
        </p:nvSpPr>
        <p:spPr>
          <a:xfrm>
            <a:off x="838200" y="5760720"/>
            <a:ext cx="10515600" cy="105219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r>
              <a:rPr lang="en-US" dirty="0"/>
              <a:t>Questions?</a:t>
            </a:r>
          </a:p>
        </p:txBody>
      </p:sp>
    </p:spTree>
    <p:extLst>
      <p:ext uri="{BB962C8B-B14F-4D97-AF65-F5344CB8AC3E}">
        <p14:creationId xmlns:p14="http://schemas.microsoft.com/office/powerpoint/2010/main" val="1716314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7438</TotalTime>
  <Words>2400</Words>
  <Application>Microsoft Macintosh PowerPoint</Application>
  <PresentationFormat>Widescreen</PresentationFormat>
  <Paragraphs>319</Paragraphs>
  <Slides>102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102</vt:i4>
      </vt:variant>
    </vt:vector>
  </HeadingPairs>
  <TitlesOfParts>
    <vt:vector size="106" baseType="lpstr">
      <vt:lpstr>Arial</vt:lpstr>
      <vt:lpstr>System Font Regular</vt:lpstr>
      <vt:lpstr>Quadraat</vt:lpstr>
      <vt:lpstr>Office Theme</vt:lpstr>
      <vt:lpstr>Acute Pancreatitis</vt:lpstr>
      <vt:lpstr>Case Presentation</vt:lpstr>
      <vt:lpstr>Case Presentation</vt:lpstr>
      <vt:lpstr>Case Presentation</vt:lpstr>
      <vt:lpstr>CT A/P</vt:lpstr>
      <vt:lpstr>What’s the appropriate management?</vt:lpstr>
      <vt:lpstr>History</vt:lpstr>
      <vt:lpstr>Historic Background</vt:lpstr>
      <vt:lpstr>PowerPoint Presentation</vt:lpstr>
      <vt:lpstr>Pathophysiology of Acute Pancreatitis</vt:lpstr>
      <vt:lpstr>Anatomy of the Pancreas </vt:lpstr>
      <vt:lpstr>A Paradigm Shift</vt:lpstr>
      <vt:lpstr>The Immune Response</vt:lpstr>
      <vt:lpstr>PowerPoint Presentation</vt:lpstr>
      <vt:lpstr>Diagnosis</vt:lpstr>
      <vt:lpstr>Diagnosis</vt:lpstr>
      <vt:lpstr>Etiologies of Acute Pancreatitis</vt:lpstr>
      <vt:lpstr>Etiologies of Acute Pancreatitis</vt:lpstr>
      <vt:lpstr>Management of Acute Pancreatitis</vt:lpstr>
      <vt:lpstr>Summary of Management</vt:lpstr>
      <vt:lpstr>Which of the following is the most reliable lab in predicting the severity/mortality in acute pancreatitis?</vt:lpstr>
      <vt:lpstr>Which of the following is the most reliable lab in predicting the severity/mortality in acute pancreatitis?</vt:lpstr>
      <vt:lpstr>PowerPoint Presentation</vt:lpstr>
      <vt:lpstr>Assessment of Severity</vt:lpstr>
      <vt:lpstr>Assessment of Severity</vt:lpstr>
      <vt:lpstr>Assessment of Severity</vt:lpstr>
      <vt:lpstr>Assessment of Severity</vt:lpstr>
      <vt:lpstr>Assessment of Severity</vt:lpstr>
      <vt:lpstr>Assessment of Severity</vt:lpstr>
      <vt:lpstr>Assessment of Severity</vt:lpstr>
      <vt:lpstr>Assessment of Severity</vt:lpstr>
      <vt:lpstr>Assessment of Severity</vt:lpstr>
      <vt:lpstr>Assessment of Severity</vt:lpstr>
      <vt:lpstr>Assessment of Severity</vt:lpstr>
      <vt:lpstr>How to determine “Organ Failure”?</vt:lpstr>
      <vt:lpstr>PowerPoint Presentation</vt:lpstr>
      <vt:lpstr>Fluid Resuscitation</vt:lpstr>
      <vt:lpstr>Fluid Resuscitation</vt:lpstr>
      <vt:lpstr>Fluid Resuscitation</vt:lpstr>
      <vt:lpstr>Normal Saline vs. Lactated Ringer’s?</vt:lpstr>
      <vt:lpstr>Normal Saline vs. Lactated Ringer’s</vt:lpstr>
      <vt:lpstr>PowerPoint Presentation</vt:lpstr>
      <vt:lpstr>Pain Control</vt:lpstr>
      <vt:lpstr>Pain Control</vt:lpstr>
      <vt:lpstr>Pain Control</vt:lpstr>
      <vt:lpstr>Nutritional Support</vt:lpstr>
      <vt:lpstr>Nutritional Support</vt:lpstr>
      <vt:lpstr>Nutritional Support</vt:lpstr>
      <vt:lpstr>Nutritional Support</vt:lpstr>
      <vt:lpstr>Enteral feeding Nasogastric vs. Nasojejunal?</vt:lpstr>
      <vt:lpstr>Nasogastric vs. Nasojejunal Feeding</vt:lpstr>
      <vt:lpstr>Nasogastric vs. Nasojejunal Feeding</vt:lpstr>
      <vt:lpstr>Parenteral Nutrition</vt:lpstr>
      <vt:lpstr>Parenteral Nutrition</vt:lpstr>
      <vt:lpstr>Parenteral Nutrition</vt:lpstr>
      <vt:lpstr>Parenteral Nutrition</vt:lpstr>
      <vt:lpstr>Prophylactic Antibiotics</vt:lpstr>
      <vt:lpstr>Prophylactic Antibiotics</vt:lpstr>
      <vt:lpstr>Prophylactic Antibiotics</vt:lpstr>
      <vt:lpstr>Antibiotics</vt:lpstr>
      <vt:lpstr>When do you repeat a CT scan?</vt:lpstr>
      <vt:lpstr>When do you repeat a CT scan?</vt:lpstr>
      <vt:lpstr>When do you trend lipase/amylase?</vt:lpstr>
      <vt:lpstr>When do you trend lipase/amylase?</vt:lpstr>
      <vt:lpstr>Investigating the Etiology</vt:lpstr>
      <vt:lpstr>Investigating the Etiology</vt:lpstr>
      <vt:lpstr>Specific Management</vt:lpstr>
      <vt:lpstr>Specific Management</vt:lpstr>
      <vt:lpstr>Acute Biliary Pancreatitis</vt:lpstr>
      <vt:lpstr>Acute Biliary Pancreatitis</vt:lpstr>
      <vt:lpstr>Acute Biliary Pancreatitis</vt:lpstr>
      <vt:lpstr>Acute Biliary Pancreatitis</vt:lpstr>
      <vt:lpstr>What about ERCP?</vt:lpstr>
      <vt:lpstr>What about ERCP?</vt:lpstr>
      <vt:lpstr>What about ERCP?</vt:lpstr>
      <vt:lpstr>Specific Management</vt:lpstr>
      <vt:lpstr>Acute Hypertriglyceridemic Pancreatitis</vt:lpstr>
      <vt:lpstr>Specific Management</vt:lpstr>
      <vt:lpstr>Acute Autoimmune Pancreatitis</vt:lpstr>
      <vt:lpstr>Local Complications of Acute Pancreatitis</vt:lpstr>
      <vt:lpstr>Subgrouping of Acute Pancreatitis</vt:lpstr>
      <vt:lpstr>Subgrouping of Acute Pancreatitis</vt:lpstr>
      <vt:lpstr>Local Complications Nomenclature</vt:lpstr>
      <vt:lpstr>PowerPoint Presentation</vt:lpstr>
      <vt:lpstr>Local Complications</vt:lpstr>
      <vt:lpstr>When do you drain a pancreatic necrotic collection (ANC/WON)?</vt:lpstr>
      <vt:lpstr>When do you drain a pancreatic necrotic collection (ANC/WON)?</vt:lpstr>
      <vt:lpstr>When do you drain a pancreatic necrotic collection (ANC/WON)?</vt:lpstr>
      <vt:lpstr>Vascular Complications</vt:lpstr>
      <vt:lpstr>Vascular Complications</vt:lpstr>
      <vt:lpstr>Suggested Algorithm for Management</vt:lpstr>
      <vt:lpstr>Long-term Complications of Pancreatitis</vt:lpstr>
      <vt:lpstr>Long-term Complications of Pancreatitis</vt:lpstr>
      <vt:lpstr>Future Directions</vt:lpstr>
      <vt:lpstr>Potential Therapeutic Targets in Acute Pancreatitis</vt:lpstr>
      <vt:lpstr>Potential Therapeutic Targets in Acute Pancreatitis</vt:lpstr>
      <vt:lpstr>MKSAP Question</vt:lpstr>
      <vt:lpstr>PowerPoint Presentation</vt:lpstr>
      <vt:lpstr>PowerPoint Presentation</vt:lpstr>
      <vt:lpstr>CT A/P</vt:lpstr>
      <vt:lpstr>Take-home Points</vt:lpstr>
      <vt:lpstr>Summary of The AGA Recommendations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Mohammad Almeqdadi</dc:creator>
  <cp:keywords/>
  <dc:description/>
  <cp:lastModifiedBy>Mohammad Almeqdadi</cp:lastModifiedBy>
  <cp:revision>262</cp:revision>
  <dcterms:created xsi:type="dcterms:W3CDTF">2019-08-13T15:09:39Z</dcterms:created>
  <dcterms:modified xsi:type="dcterms:W3CDTF">2019-10-02T21:51:37Z</dcterms:modified>
  <cp:category/>
</cp:coreProperties>
</file>