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9"/>
  </p:notesMasterIdLst>
  <p:sldIdLst>
    <p:sldId id="286" r:id="rId2"/>
    <p:sldId id="257" r:id="rId3"/>
    <p:sldId id="259" r:id="rId4"/>
    <p:sldId id="291" r:id="rId5"/>
    <p:sldId id="342" r:id="rId6"/>
    <p:sldId id="258" r:id="rId7"/>
    <p:sldId id="260" r:id="rId8"/>
    <p:sldId id="343" r:id="rId9"/>
    <p:sldId id="261" r:id="rId10"/>
    <p:sldId id="287" r:id="rId11"/>
    <p:sldId id="288" r:id="rId12"/>
    <p:sldId id="289" r:id="rId13"/>
    <p:sldId id="290" r:id="rId14"/>
    <p:sldId id="262" r:id="rId15"/>
    <p:sldId id="344" r:id="rId16"/>
    <p:sldId id="263" r:id="rId17"/>
    <p:sldId id="264" r:id="rId18"/>
    <p:sldId id="292" r:id="rId19"/>
    <p:sldId id="265" r:id="rId20"/>
    <p:sldId id="266" r:id="rId21"/>
    <p:sldId id="267" r:id="rId22"/>
    <p:sldId id="268" r:id="rId23"/>
    <p:sldId id="269" r:id="rId24"/>
    <p:sldId id="270" r:id="rId25"/>
    <p:sldId id="272" r:id="rId26"/>
    <p:sldId id="271" r:id="rId27"/>
    <p:sldId id="318" r:id="rId28"/>
    <p:sldId id="319" r:id="rId29"/>
    <p:sldId id="320" r:id="rId30"/>
    <p:sldId id="297" r:id="rId31"/>
    <p:sldId id="321" r:id="rId32"/>
    <p:sldId id="345" r:id="rId33"/>
    <p:sldId id="299" r:id="rId34"/>
    <p:sldId id="313" r:id="rId35"/>
    <p:sldId id="314" r:id="rId36"/>
    <p:sldId id="298" r:id="rId37"/>
    <p:sldId id="312" r:id="rId38"/>
    <p:sldId id="300" r:id="rId39"/>
    <p:sldId id="301" r:id="rId40"/>
    <p:sldId id="273" r:id="rId41"/>
    <p:sldId id="303" r:id="rId42"/>
    <p:sldId id="304" r:id="rId43"/>
    <p:sldId id="302" r:id="rId44"/>
    <p:sldId id="305" r:id="rId45"/>
    <p:sldId id="306" r:id="rId46"/>
    <p:sldId id="307" r:id="rId47"/>
    <p:sldId id="309" r:id="rId48"/>
    <p:sldId id="346" r:id="rId49"/>
    <p:sldId id="274" r:id="rId50"/>
    <p:sldId id="310" r:id="rId51"/>
    <p:sldId id="347" r:id="rId52"/>
    <p:sldId id="278" r:id="rId53"/>
    <p:sldId id="348" r:id="rId54"/>
    <p:sldId id="349" r:id="rId55"/>
    <p:sldId id="315" r:id="rId56"/>
    <p:sldId id="316" r:id="rId57"/>
    <p:sldId id="317" r:id="rId58"/>
    <p:sldId id="293" r:id="rId59"/>
    <p:sldId id="350" r:id="rId60"/>
    <p:sldId id="351" r:id="rId61"/>
    <p:sldId id="280" r:id="rId62"/>
    <p:sldId id="322" r:id="rId63"/>
    <p:sldId id="323" r:id="rId64"/>
    <p:sldId id="339" r:id="rId65"/>
    <p:sldId id="324" r:id="rId66"/>
    <p:sldId id="325" r:id="rId67"/>
    <p:sldId id="294" r:id="rId68"/>
    <p:sldId id="352" r:id="rId69"/>
    <p:sldId id="275" r:id="rId70"/>
    <p:sldId id="353" r:id="rId71"/>
    <p:sldId id="276" r:id="rId72"/>
    <p:sldId id="277" r:id="rId73"/>
    <p:sldId id="295" r:id="rId74"/>
    <p:sldId id="296" r:id="rId75"/>
    <p:sldId id="354" r:id="rId76"/>
    <p:sldId id="326" r:id="rId77"/>
    <p:sldId id="327" r:id="rId78"/>
    <p:sldId id="328" r:id="rId79"/>
    <p:sldId id="355" r:id="rId80"/>
    <p:sldId id="329" r:id="rId81"/>
    <p:sldId id="330" r:id="rId82"/>
    <p:sldId id="340" r:id="rId83"/>
    <p:sldId id="331" r:id="rId84"/>
    <p:sldId id="356" r:id="rId85"/>
    <p:sldId id="332" r:id="rId86"/>
    <p:sldId id="336" r:id="rId87"/>
    <p:sldId id="333" r:id="rId88"/>
    <p:sldId id="334" r:id="rId89"/>
    <p:sldId id="337" r:id="rId90"/>
    <p:sldId id="338" r:id="rId91"/>
    <p:sldId id="335" r:id="rId92"/>
    <p:sldId id="357" r:id="rId93"/>
    <p:sldId id="281" r:id="rId94"/>
    <p:sldId id="282" r:id="rId95"/>
    <p:sldId id="283" r:id="rId96"/>
    <p:sldId id="341" r:id="rId97"/>
    <p:sldId id="358" r:id="rId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9BB3"/>
    <a:srgbClr val="A3D8E2"/>
    <a:srgbClr val="0F1F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44"/>
    <p:restoredTop sz="86320"/>
  </p:normalViewPr>
  <p:slideViewPr>
    <p:cSldViewPr snapToGrid="0" snapToObjects="1">
      <p:cViewPr>
        <p:scale>
          <a:sx n="177" d="100"/>
          <a:sy n="177" d="100"/>
        </p:scale>
        <p:origin x="1104" y="504"/>
      </p:cViewPr>
      <p:guideLst/>
    </p:cSldViewPr>
  </p:slideViewPr>
  <p:notesTextViewPr>
    <p:cViewPr>
      <p:scale>
        <a:sx n="1" d="1"/>
        <a:sy n="1" d="1"/>
      </p:scale>
      <p:origin x="0" y="0"/>
    </p:cViewPr>
  </p:notesTextViewPr>
  <p:notesViewPr>
    <p:cSldViewPr snapToGrid="0" snapToObjects="1">
      <p:cViewPr varScale="1">
        <p:scale>
          <a:sx n="85" d="100"/>
          <a:sy n="85" d="100"/>
        </p:scale>
        <p:origin x="3928" y="16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Users/qaddodi/Library/Mobile%20Documents/com~apple~CloudDocs/Me%20And%20Aya/Mohammad/Medical%20Education/Lectures/Presentations/Chronic%20Diarrhea/Bowel%20movements%20diaries.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Users/qaddodi/Library/Mobile%20Documents/com~apple~CloudDocs/Me%20And%20Aya/Mohammad/Medical%20Education/Lectures/Presentations/Chronic%20Diarrhea/Bowel%20movements%20diaries.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A</c:v>
                </c:pt>
              </c:strCache>
            </c:strRef>
          </c:tx>
          <c:spPr>
            <a:ln w="19050" cap="rnd">
              <a:noFill/>
              <a:round/>
            </a:ln>
            <a:effectLst/>
          </c:spPr>
          <c:marker>
            <c:symbol val="circle"/>
            <c:size val="5"/>
            <c:spPr>
              <a:solidFill>
                <a:schemeClr val="accent1"/>
              </a:solidFill>
              <a:ln w="9525">
                <a:solidFill>
                  <a:schemeClr val="accent1"/>
                </a:solidFill>
              </a:ln>
              <a:effectLst/>
            </c:spPr>
          </c:marker>
          <c:xVal>
            <c:numRef>
              <c:f>Sheet1!$A$2:$A$44</c:f>
              <c:numCache>
                <c:formatCode>ddd</c:formatCode>
                <c:ptCount val="43"/>
                <c:pt idx="0">
                  <c:v>44170.333333333336</c:v>
                </c:pt>
                <c:pt idx="1">
                  <c:v>44170.5</c:v>
                </c:pt>
                <c:pt idx="2">
                  <c:v>44170.666666666664</c:v>
                </c:pt>
                <c:pt idx="3">
                  <c:v>44170.833333333336</c:v>
                </c:pt>
                <c:pt idx="4">
                  <c:v>44171</c:v>
                </c:pt>
                <c:pt idx="5">
                  <c:v>44171.166666666664</c:v>
                </c:pt>
                <c:pt idx="6">
                  <c:v>44171.333333333336</c:v>
                </c:pt>
                <c:pt idx="7">
                  <c:v>44171.5</c:v>
                </c:pt>
                <c:pt idx="8">
                  <c:v>44171.666666666664</c:v>
                </c:pt>
                <c:pt idx="9">
                  <c:v>44171.833333333336</c:v>
                </c:pt>
                <c:pt idx="10">
                  <c:v>44172</c:v>
                </c:pt>
                <c:pt idx="11">
                  <c:v>44172.166666666664</c:v>
                </c:pt>
                <c:pt idx="12">
                  <c:v>44172.333333333336</c:v>
                </c:pt>
                <c:pt idx="13">
                  <c:v>44172.5</c:v>
                </c:pt>
                <c:pt idx="14">
                  <c:v>44172.666666666664</c:v>
                </c:pt>
                <c:pt idx="15">
                  <c:v>44172.833333333336</c:v>
                </c:pt>
                <c:pt idx="16">
                  <c:v>44173</c:v>
                </c:pt>
                <c:pt idx="17">
                  <c:v>44173.166666666664</c:v>
                </c:pt>
                <c:pt idx="18">
                  <c:v>44173.333333333336</c:v>
                </c:pt>
                <c:pt idx="19">
                  <c:v>44173.5</c:v>
                </c:pt>
                <c:pt idx="20">
                  <c:v>44173.666666666664</c:v>
                </c:pt>
                <c:pt idx="21">
                  <c:v>44173.833333333336</c:v>
                </c:pt>
                <c:pt idx="22">
                  <c:v>44174</c:v>
                </c:pt>
                <c:pt idx="23">
                  <c:v>44174.166666666664</c:v>
                </c:pt>
                <c:pt idx="24">
                  <c:v>44174.333333333336</c:v>
                </c:pt>
                <c:pt idx="25">
                  <c:v>44174.5</c:v>
                </c:pt>
                <c:pt idx="26">
                  <c:v>44174.666666666664</c:v>
                </c:pt>
                <c:pt idx="27">
                  <c:v>44174.833333333336</c:v>
                </c:pt>
                <c:pt idx="28">
                  <c:v>44175</c:v>
                </c:pt>
                <c:pt idx="29">
                  <c:v>44175.166666666664</c:v>
                </c:pt>
                <c:pt idx="30">
                  <c:v>44175.333333333336</c:v>
                </c:pt>
                <c:pt idx="31">
                  <c:v>44175.5</c:v>
                </c:pt>
                <c:pt idx="32">
                  <c:v>44175.666666666664</c:v>
                </c:pt>
                <c:pt idx="33">
                  <c:v>44175.833333333336</c:v>
                </c:pt>
                <c:pt idx="34">
                  <c:v>44176</c:v>
                </c:pt>
                <c:pt idx="35">
                  <c:v>44176.166666666664</c:v>
                </c:pt>
                <c:pt idx="36">
                  <c:v>44176.333333333336</c:v>
                </c:pt>
                <c:pt idx="37">
                  <c:v>44176.5</c:v>
                </c:pt>
                <c:pt idx="38">
                  <c:v>44176.666666666664</c:v>
                </c:pt>
                <c:pt idx="39">
                  <c:v>44176.833333333336</c:v>
                </c:pt>
                <c:pt idx="40">
                  <c:v>44177</c:v>
                </c:pt>
                <c:pt idx="41">
                  <c:v>44177.166666666664</c:v>
                </c:pt>
                <c:pt idx="42">
                  <c:v>44177.333333333336</c:v>
                </c:pt>
              </c:numCache>
            </c:numRef>
          </c:xVal>
          <c:yVal>
            <c:numRef>
              <c:f>Sheet1!$B$2:$B$44</c:f>
              <c:numCache>
                <c:formatCode>General</c:formatCode>
                <c:ptCount val="43"/>
                <c:pt idx="1">
                  <c:v>1</c:v>
                </c:pt>
                <c:pt idx="35">
                  <c:v>1</c:v>
                </c:pt>
              </c:numCache>
            </c:numRef>
          </c:yVal>
          <c:smooth val="0"/>
          <c:extLst>
            <c:ext xmlns:c16="http://schemas.microsoft.com/office/drawing/2014/chart" uri="{C3380CC4-5D6E-409C-BE32-E72D297353CC}">
              <c16:uniqueId val="{00000000-5D74-2048-AE46-3FE414924893}"/>
            </c:ext>
          </c:extLst>
        </c:ser>
        <c:ser>
          <c:idx val="1"/>
          <c:order val="1"/>
          <c:tx>
            <c:strRef>
              <c:f>Sheet1!$C$1</c:f>
              <c:strCache>
                <c:ptCount val="1"/>
                <c:pt idx="0">
                  <c:v>B</c:v>
                </c:pt>
              </c:strCache>
            </c:strRef>
          </c:tx>
          <c:spPr>
            <a:ln w="19050" cap="rnd">
              <a:noFill/>
              <a:round/>
            </a:ln>
            <a:effectLst/>
          </c:spPr>
          <c:marker>
            <c:symbol val="circle"/>
            <c:size val="5"/>
            <c:spPr>
              <a:solidFill>
                <a:schemeClr val="accent2"/>
              </a:solidFill>
              <a:ln w="9525">
                <a:solidFill>
                  <a:schemeClr val="accent2"/>
                </a:solidFill>
              </a:ln>
              <a:effectLst/>
            </c:spPr>
          </c:marker>
          <c:xVal>
            <c:numRef>
              <c:f>Sheet1!$A$2:$A$44</c:f>
              <c:numCache>
                <c:formatCode>ddd</c:formatCode>
                <c:ptCount val="43"/>
                <c:pt idx="0">
                  <c:v>44170.333333333336</c:v>
                </c:pt>
                <c:pt idx="1">
                  <c:v>44170.5</c:v>
                </c:pt>
                <c:pt idx="2">
                  <c:v>44170.666666666664</c:v>
                </c:pt>
                <c:pt idx="3">
                  <c:v>44170.833333333336</c:v>
                </c:pt>
                <c:pt idx="4">
                  <c:v>44171</c:v>
                </c:pt>
                <c:pt idx="5">
                  <c:v>44171.166666666664</c:v>
                </c:pt>
                <c:pt idx="6">
                  <c:v>44171.333333333336</c:v>
                </c:pt>
                <c:pt idx="7">
                  <c:v>44171.5</c:v>
                </c:pt>
                <c:pt idx="8">
                  <c:v>44171.666666666664</c:v>
                </c:pt>
                <c:pt idx="9">
                  <c:v>44171.833333333336</c:v>
                </c:pt>
                <c:pt idx="10">
                  <c:v>44172</c:v>
                </c:pt>
                <c:pt idx="11">
                  <c:v>44172.166666666664</c:v>
                </c:pt>
                <c:pt idx="12">
                  <c:v>44172.333333333336</c:v>
                </c:pt>
                <c:pt idx="13">
                  <c:v>44172.5</c:v>
                </c:pt>
                <c:pt idx="14">
                  <c:v>44172.666666666664</c:v>
                </c:pt>
                <c:pt idx="15">
                  <c:v>44172.833333333336</c:v>
                </c:pt>
                <c:pt idx="16">
                  <c:v>44173</c:v>
                </c:pt>
                <c:pt idx="17">
                  <c:v>44173.166666666664</c:v>
                </c:pt>
                <c:pt idx="18">
                  <c:v>44173.333333333336</c:v>
                </c:pt>
                <c:pt idx="19">
                  <c:v>44173.5</c:v>
                </c:pt>
                <c:pt idx="20">
                  <c:v>44173.666666666664</c:v>
                </c:pt>
                <c:pt idx="21">
                  <c:v>44173.833333333336</c:v>
                </c:pt>
                <c:pt idx="22">
                  <c:v>44174</c:v>
                </c:pt>
                <c:pt idx="23">
                  <c:v>44174.166666666664</c:v>
                </c:pt>
                <c:pt idx="24">
                  <c:v>44174.333333333336</c:v>
                </c:pt>
                <c:pt idx="25">
                  <c:v>44174.5</c:v>
                </c:pt>
                <c:pt idx="26">
                  <c:v>44174.666666666664</c:v>
                </c:pt>
                <c:pt idx="27">
                  <c:v>44174.833333333336</c:v>
                </c:pt>
                <c:pt idx="28">
                  <c:v>44175</c:v>
                </c:pt>
                <c:pt idx="29">
                  <c:v>44175.166666666664</c:v>
                </c:pt>
                <c:pt idx="30">
                  <c:v>44175.333333333336</c:v>
                </c:pt>
                <c:pt idx="31">
                  <c:v>44175.5</c:v>
                </c:pt>
                <c:pt idx="32">
                  <c:v>44175.666666666664</c:v>
                </c:pt>
                <c:pt idx="33">
                  <c:v>44175.833333333336</c:v>
                </c:pt>
                <c:pt idx="34">
                  <c:v>44176</c:v>
                </c:pt>
                <c:pt idx="35">
                  <c:v>44176.166666666664</c:v>
                </c:pt>
                <c:pt idx="36">
                  <c:v>44176.333333333336</c:v>
                </c:pt>
                <c:pt idx="37">
                  <c:v>44176.5</c:v>
                </c:pt>
                <c:pt idx="38">
                  <c:v>44176.666666666664</c:v>
                </c:pt>
                <c:pt idx="39">
                  <c:v>44176.833333333336</c:v>
                </c:pt>
                <c:pt idx="40">
                  <c:v>44177</c:v>
                </c:pt>
                <c:pt idx="41">
                  <c:v>44177.166666666664</c:v>
                </c:pt>
                <c:pt idx="42">
                  <c:v>44177.333333333336</c:v>
                </c:pt>
              </c:numCache>
            </c:numRef>
          </c:xVal>
          <c:yVal>
            <c:numRef>
              <c:f>Sheet1!$C$2:$C$44</c:f>
              <c:numCache>
                <c:formatCode>General</c:formatCode>
                <c:ptCount val="43"/>
                <c:pt idx="1">
                  <c:v>2</c:v>
                </c:pt>
                <c:pt idx="17">
                  <c:v>2</c:v>
                </c:pt>
                <c:pt idx="35">
                  <c:v>2</c:v>
                </c:pt>
              </c:numCache>
            </c:numRef>
          </c:yVal>
          <c:smooth val="0"/>
          <c:extLst>
            <c:ext xmlns:c16="http://schemas.microsoft.com/office/drawing/2014/chart" uri="{C3380CC4-5D6E-409C-BE32-E72D297353CC}">
              <c16:uniqueId val="{00000001-5D74-2048-AE46-3FE414924893}"/>
            </c:ext>
          </c:extLst>
        </c:ser>
        <c:ser>
          <c:idx val="2"/>
          <c:order val="2"/>
          <c:tx>
            <c:strRef>
              <c:f>Sheet1!$D$1</c:f>
              <c:strCache>
                <c:ptCount val="1"/>
                <c:pt idx="0">
                  <c:v>C</c:v>
                </c:pt>
              </c:strCache>
            </c:strRef>
          </c:tx>
          <c:spPr>
            <a:ln w="19050" cap="rnd">
              <a:noFill/>
              <a:round/>
            </a:ln>
            <a:effectLst/>
          </c:spPr>
          <c:marker>
            <c:symbol val="circle"/>
            <c:size val="5"/>
            <c:spPr>
              <a:solidFill>
                <a:schemeClr val="accent3"/>
              </a:solidFill>
              <a:ln w="9525">
                <a:solidFill>
                  <a:schemeClr val="accent3"/>
                </a:solidFill>
              </a:ln>
              <a:effectLst/>
            </c:spPr>
          </c:marker>
          <c:xVal>
            <c:numRef>
              <c:f>Sheet1!$A$2:$A$44</c:f>
              <c:numCache>
                <c:formatCode>ddd</c:formatCode>
                <c:ptCount val="43"/>
                <c:pt idx="0">
                  <c:v>44170.333333333336</c:v>
                </c:pt>
                <c:pt idx="1">
                  <c:v>44170.5</c:v>
                </c:pt>
                <c:pt idx="2">
                  <c:v>44170.666666666664</c:v>
                </c:pt>
                <c:pt idx="3">
                  <c:v>44170.833333333336</c:v>
                </c:pt>
                <c:pt idx="4">
                  <c:v>44171</c:v>
                </c:pt>
                <c:pt idx="5">
                  <c:v>44171.166666666664</c:v>
                </c:pt>
                <c:pt idx="6">
                  <c:v>44171.333333333336</c:v>
                </c:pt>
                <c:pt idx="7">
                  <c:v>44171.5</c:v>
                </c:pt>
                <c:pt idx="8">
                  <c:v>44171.666666666664</c:v>
                </c:pt>
                <c:pt idx="9">
                  <c:v>44171.833333333336</c:v>
                </c:pt>
                <c:pt idx="10">
                  <c:v>44172</c:v>
                </c:pt>
                <c:pt idx="11">
                  <c:v>44172.166666666664</c:v>
                </c:pt>
                <c:pt idx="12">
                  <c:v>44172.333333333336</c:v>
                </c:pt>
                <c:pt idx="13">
                  <c:v>44172.5</c:v>
                </c:pt>
                <c:pt idx="14">
                  <c:v>44172.666666666664</c:v>
                </c:pt>
                <c:pt idx="15">
                  <c:v>44172.833333333336</c:v>
                </c:pt>
                <c:pt idx="16">
                  <c:v>44173</c:v>
                </c:pt>
                <c:pt idx="17">
                  <c:v>44173.166666666664</c:v>
                </c:pt>
                <c:pt idx="18">
                  <c:v>44173.333333333336</c:v>
                </c:pt>
                <c:pt idx="19">
                  <c:v>44173.5</c:v>
                </c:pt>
                <c:pt idx="20">
                  <c:v>44173.666666666664</c:v>
                </c:pt>
                <c:pt idx="21">
                  <c:v>44173.833333333336</c:v>
                </c:pt>
                <c:pt idx="22">
                  <c:v>44174</c:v>
                </c:pt>
                <c:pt idx="23">
                  <c:v>44174.166666666664</c:v>
                </c:pt>
                <c:pt idx="24">
                  <c:v>44174.333333333336</c:v>
                </c:pt>
                <c:pt idx="25">
                  <c:v>44174.5</c:v>
                </c:pt>
                <c:pt idx="26">
                  <c:v>44174.666666666664</c:v>
                </c:pt>
                <c:pt idx="27">
                  <c:v>44174.833333333336</c:v>
                </c:pt>
                <c:pt idx="28">
                  <c:v>44175</c:v>
                </c:pt>
                <c:pt idx="29">
                  <c:v>44175.166666666664</c:v>
                </c:pt>
                <c:pt idx="30">
                  <c:v>44175.333333333336</c:v>
                </c:pt>
                <c:pt idx="31">
                  <c:v>44175.5</c:v>
                </c:pt>
                <c:pt idx="32">
                  <c:v>44175.666666666664</c:v>
                </c:pt>
                <c:pt idx="33">
                  <c:v>44175.833333333336</c:v>
                </c:pt>
                <c:pt idx="34">
                  <c:v>44176</c:v>
                </c:pt>
                <c:pt idx="35">
                  <c:v>44176.166666666664</c:v>
                </c:pt>
                <c:pt idx="36">
                  <c:v>44176.333333333336</c:v>
                </c:pt>
                <c:pt idx="37">
                  <c:v>44176.5</c:v>
                </c:pt>
                <c:pt idx="38">
                  <c:v>44176.666666666664</c:v>
                </c:pt>
                <c:pt idx="39">
                  <c:v>44176.833333333336</c:v>
                </c:pt>
                <c:pt idx="40">
                  <c:v>44177</c:v>
                </c:pt>
                <c:pt idx="41">
                  <c:v>44177.166666666664</c:v>
                </c:pt>
                <c:pt idx="42">
                  <c:v>44177.333333333336</c:v>
                </c:pt>
              </c:numCache>
            </c:numRef>
          </c:xVal>
          <c:yVal>
            <c:numRef>
              <c:f>Sheet1!$D$2:$D$44</c:f>
              <c:numCache>
                <c:formatCode>General</c:formatCode>
                <c:ptCount val="43"/>
                <c:pt idx="1">
                  <c:v>3</c:v>
                </c:pt>
                <c:pt idx="12">
                  <c:v>3</c:v>
                </c:pt>
                <c:pt idx="19">
                  <c:v>3</c:v>
                </c:pt>
                <c:pt idx="32">
                  <c:v>3</c:v>
                </c:pt>
              </c:numCache>
            </c:numRef>
          </c:yVal>
          <c:smooth val="0"/>
          <c:extLst>
            <c:ext xmlns:c16="http://schemas.microsoft.com/office/drawing/2014/chart" uri="{C3380CC4-5D6E-409C-BE32-E72D297353CC}">
              <c16:uniqueId val="{00000002-5D74-2048-AE46-3FE414924893}"/>
            </c:ext>
          </c:extLst>
        </c:ser>
        <c:ser>
          <c:idx val="3"/>
          <c:order val="3"/>
          <c:tx>
            <c:strRef>
              <c:f>Sheet1!$E$1</c:f>
              <c:strCache>
                <c:ptCount val="1"/>
                <c:pt idx="0">
                  <c:v>D</c:v>
                </c:pt>
              </c:strCache>
            </c:strRef>
          </c:tx>
          <c:spPr>
            <a:ln w="19050" cap="rnd">
              <a:noFill/>
              <a:round/>
            </a:ln>
            <a:effectLst/>
          </c:spPr>
          <c:marker>
            <c:symbol val="circle"/>
            <c:size val="5"/>
            <c:spPr>
              <a:solidFill>
                <a:schemeClr val="accent4"/>
              </a:solidFill>
              <a:ln w="9525">
                <a:solidFill>
                  <a:schemeClr val="accent4"/>
                </a:solidFill>
              </a:ln>
              <a:effectLst/>
            </c:spPr>
          </c:marker>
          <c:xVal>
            <c:numRef>
              <c:f>Sheet1!$A$2:$A$44</c:f>
              <c:numCache>
                <c:formatCode>ddd</c:formatCode>
                <c:ptCount val="43"/>
                <c:pt idx="0">
                  <c:v>44170.333333333336</c:v>
                </c:pt>
                <c:pt idx="1">
                  <c:v>44170.5</c:v>
                </c:pt>
                <c:pt idx="2">
                  <c:v>44170.666666666664</c:v>
                </c:pt>
                <c:pt idx="3">
                  <c:v>44170.833333333336</c:v>
                </c:pt>
                <c:pt idx="4">
                  <c:v>44171</c:v>
                </c:pt>
                <c:pt idx="5">
                  <c:v>44171.166666666664</c:v>
                </c:pt>
                <c:pt idx="6">
                  <c:v>44171.333333333336</c:v>
                </c:pt>
                <c:pt idx="7">
                  <c:v>44171.5</c:v>
                </c:pt>
                <c:pt idx="8">
                  <c:v>44171.666666666664</c:v>
                </c:pt>
                <c:pt idx="9">
                  <c:v>44171.833333333336</c:v>
                </c:pt>
                <c:pt idx="10">
                  <c:v>44172</c:v>
                </c:pt>
                <c:pt idx="11">
                  <c:v>44172.166666666664</c:v>
                </c:pt>
                <c:pt idx="12">
                  <c:v>44172.333333333336</c:v>
                </c:pt>
                <c:pt idx="13">
                  <c:v>44172.5</c:v>
                </c:pt>
                <c:pt idx="14">
                  <c:v>44172.666666666664</c:v>
                </c:pt>
                <c:pt idx="15">
                  <c:v>44172.833333333336</c:v>
                </c:pt>
                <c:pt idx="16">
                  <c:v>44173</c:v>
                </c:pt>
                <c:pt idx="17">
                  <c:v>44173.166666666664</c:v>
                </c:pt>
                <c:pt idx="18">
                  <c:v>44173.333333333336</c:v>
                </c:pt>
                <c:pt idx="19">
                  <c:v>44173.5</c:v>
                </c:pt>
                <c:pt idx="20">
                  <c:v>44173.666666666664</c:v>
                </c:pt>
                <c:pt idx="21">
                  <c:v>44173.833333333336</c:v>
                </c:pt>
                <c:pt idx="22">
                  <c:v>44174</c:v>
                </c:pt>
                <c:pt idx="23">
                  <c:v>44174.166666666664</c:v>
                </c:pt>
                <c:pt idx="24">
                  <c:v>44174.333333333336</c:v>
                </c:pt>
                <c:pt idx="25">
                  <c:v>44174.5</c:v>
                </c:pt>
                <c:pt idx="26">
                  <c:v>44174.666666666664</c:v>
                </c:pt>
                <c:pt idx="27">
                  <c:v>44174.833333333336</c:v>
                </c:pt>
                <c:pt idx="28">
                  <c:v>44175</c:v>
                </c:pt>
                <c:pt idx="29">
                  <c:v>44175.166666666664</c:v>
                </c:pt>
                <c:pt idx="30">
                  <c:v>44175.333333333336</c:v>
                </c:pt>
                <c:pt idx="31">
                  <c:v>44175.5</c:v>
                </c:pt>
                <c:pt idx="32">
                  <c:v>44175.666666666664</c:v>
                </c:pt>
                <c:pt idx="33">
                  <c:v>44175.833333333336</c:v>
                </c:pt>
                <c:pt idx="34">
                  <c:v>44176</c:v>
                </c:pt>
                <c:pt idx="35">
                  <c:v>44176.166666666664</c:v>
                </c:pt>
                <c:pt idx="36">
                  <c:v>44176.333333333336</c:v>
                </c:pt>
                <c:pt idx="37">
                  <c:v>44176.5</c:v>
                </c:pt>
                <c:pt idx="38">
                  <c:v>44176.666666666664</c:v>
                </c:pt>
                <c:pt idx="39">
                  <c:v>44176.833333333336</c:v>
                </c:pt>
                <c:pt idx="40">
                  <c:v>44177</c:v>
                </c:pt>
                <c:pt idx="41">
                  <c:v>44177.166666666664</c:v>
                </c:pt>
                <c:pt idx="42">
                  <c:v>44177.333333333336</c:v>
                </c:pt>
              </c:numCache>
            </c:numRef>
          </c:xVal>
          <c:yVal>
            <c:numRef>
              <c:f>Sheet1!$E$2:$E$44</c:f>
              <c:numCache>
                <c:formatCode>General</c:formatCode>
                <c:ptCount val="43"/>
                <c:pt idx="1">
                  <c:v>4</c:v>
                </c:pt>
                <c:pt idx="8">
                  <c:v>4</c:v>
                </c:pt>
                <c:pt idx="14">
                  <c:v>4</c:v>
                </c:pt>
                <c:pt idx="19">
                  <c:v>4</c:v>
                </c:pt>
                <c:pt idx="26">
                  <c:v>4</c:v>
                </c:pt>
                <c:pt idx="33">
                  <c:v>4</c:v>
                </c:pt>
                <c:pt idx="38">
                  <c:v>4</c:v>
                </c:pt>
                <c:pt idx="42">
                  <c:v>4</c:v>
                </c:pt>
              </c:numCache>
            </c:numRef>
          </c:yVal>
          <c:smooth val="0"/>
          <c:extLst>
            <c:ext xmlns:c16="http://schemas.microsoft.com/office/drawing/2014/chart" uri="{C3380CC4-5D6E-409C-BE32-E72D297353CC}">
              <c16:uniqueId val="{00000003-5D74-2048-AE46-3FE414924893}"/>
            </c:ext>
          </c:extLst>
        </c:ser>
        <c:ser>
          <c:idx val="4"/>
          <c:order val="4"/>
          <c:tx>
            <c:strRef>
              <c:f>Sheet1!$F$1</c:f>
              <c:strCache>
                <c:ptCount val="1"/>
                <c:pt idx="0">
                  <c:v>E</c:v>
                </c:pt>
              </c:strCache>
            </c:strRef>
          </c:tx>
          <c:spPr>
            <a:ln w="19050" cap="rnd">
              <a:noFill/>
              <a:round/>
            </a:ln>
            <a:effectLst/>
          </c:spPr>
          <c:marker>
            <c:symbol val="circle"/>
            <c:size val="5"/>
            <c:spPr>
              <a:solidFill>
                <a:schemeClr val="accent5"/>
              </a:solidFill>
              <a:ln w="9525">
                <a:solidFill>
                  <a:schemeClr val="accent5"/>
                </a:solidFill>
              </a:ln>
              <a:effectLst/>
            </c:spPr>
          </c:marker>
          <c:xVal>
            <c:numRef>
              <c:f>Sheet1!$A$2:$A$44</c:f>
              <c:numCache>
                <c:formatCode>ddd</c:formatCode>
                <c:ptCount val="43"/>
                <c:pt idx="0">
                  <c:v>44170.333333333336</c:v>
                </c:pt>
                <c:pt idx="1">
                  <c:v>44170.5</c:v>
                </c:pt>
                <c:pt idx="2">
                  <c:v>44170.666666666664</c:v>
                </c:pt>
                <c:pt idx="3">
                  <c:v>44170.833333333336</c:v>
                </c:pt>
                <c:pt idx="4">
                  <c:v>44171</c:v>
                </c:pt>
                <c:pt idx="5">
                  <c:v>44171.166666666664</c:v>
                </c:pt>
                <c:pt idx="6">
                  <c:v>44171.333333333336</c:v>
                </c:pt>
                <c:pt idx="7">
                  <c:v>44171.5</c:v>
                </c:pt>
                <c:pt idx="8">
                  <c:v>44171.666666666664</c:v>
                </c:pt>
                <c:pt idx="9">
                  <c:v>44171.833333333336</c:v>
                </c:pt>
                <c:pt idx="10">
                  <c:v>44172</c:v>
                </c:pt>
                <c:pt idx="11">
                  <c:v>44172.166666666664</c:v>
                </c:pt>
                <c:pt idx="12">
                  <c:v>44172.333333333336</c:v>
                </c:pt>
                <c:pt idx="13">
                  <c:v>44172.5</c:v>
                </c:pt>
                <c:pt idx="14">
                  <c:v>44172.666666666664</c:v>
                </c:pt>
                <c:pt idx="15">
                  <c:v>44172.833333333336</c:v>
                </c:pt>
                <c:pt idx="16">
                  <c:v>44173</c:v>
                </c:pt>
                <c:pt idx="17">
                  <c:v>44173.166666666664</c:v>
                </c:pt>
                <c:pt idx="18">
                  <c:v>44173.333333333336</c:v>
                </c:pt>
                <c:pt idx="19">
                  <c:v>44173.5</c:v>
                </c:pt>
                <c:pt idx="20">
                  <c:v>44173.666666666664</c:v>
                </c:pt>
                <c:pt idx="21">
                  <c:v>44173.833333333336</c:v>
                </c:pt>
                <c:pt idx="22">
                  <c:v>44174</c:v>
                </c:pt>
                <c:pt idx="23">
                  <c:v>44174.166666666664</c:v>
                </c:pt>
                <c:pt idx="24">
                  <c:v>44174.333333333336</c:v>
                </c:pt>
                <c:pt idx="25">
                  <c:v>44174.5</c:v>
                </c:pt>
                <c:pt idx="26">
                  <c:v>44174.666666666664</c:v>
                </c:pt>
                <c:pt idx="27">
                  <c:v>44174.833333333336</c:v>
                </c:pt>
                <c:pt idx="28">
                  <c:v>44175</c:v>
                </c:pt>
                <c:pt idx="29">
                  <c:v>44175.166666666664</c:v>
                </c:pt>
                <c:pt idx="30">
                  <c:v>44175.333333333336</c:v>
                </c:pt>
                <c:pt idx="31">
                  <c:v>44175.5</c:v>
                </c:pt>
                <c:pt idx="32">
                  <c:v>44175.666666666664</c:v>
                </c:pt>
                <c:pt idx="33">
                  <c:v>44175.833333333336</c:v>
                </c:pt>
                <c:pt idx="34">
                  <c:v>44176</c:v>
                </c:pt>
                <c:pt idx="35">
                  <c:v>44176.166666666664</c:v>
                </c:pt>
                <c:pt idx="36">
                  <c:v>44176.333333333336</c:v>
                </c:pt>
                <c:pt idx="37">
                  <c:v>44176.5</c:v>
                </c:pt>
                <c:pt idx="38">
                  <c:v>44176.666666666664</c:v>
                </c:pt>
                <c:pt idx="39">
                  <c:v>44176.833333333336</c:v>
                </c:pt>
                <c:pt idx="40">
                  <c:v>44177</c:v>
                </c:pt>
                <c:pt idx="41">
                  <c:v>44177.166666666664</c:v>
                </c:pt>
                <c:pt idx="42">
                  <c:v>44177.333333333336</c:v>
                </c:pt>
              </c:numCache>
            </c:numRef>
          </c:xVal>
          <c:yVal>
            <c:numRef>
              <c:f>Sheet1!$F$2:$F$44</c:f>
              <c:numCache>
                <c:formatCode>General</c:formatCode>
                <c:ptCount val="43"/>
                <c:pt idx="1">
                  <c:v>5</c:v>
                </c:pt>
                <c:pt idx="3">
                  <c:v>5</c:v>
                </c:pt>
                <c:pt idx="6">
                  <c:v>5</c:v>
                </c:pt>
                <c:pt idx="8">
                  <c:v>5</c:v>
                </c:pt>
                <c:pt idx="11">
                  <c:v>5</c:v>
                </c:pt>
                <c:pt idx="14">
                  <c:v>5</c:v>
                </c:pt>
                <c:pt idx="17">
                  <c:v>5</c:v>
                </c:pt>
                <c:pt idx="20">
                  <c:v>5</c:v>
                </c:pt>
                <c:pt idx="23">
                  <c:v>5</c:v>
                </c:pt>
                <c:pt idx="27">
                  <c:v>5</c:v>
                </c:pt>
                <c:pt idx="30">
                  <c:v>5</c:v>
                </c:pt>
                <c:pt idx="33">
                  <c:v>5</c:v>
                </c:pt>
                <c:pt idx="37">
                  <c:v>5</c:v>
                </c:pt>
                <c:pt idx="42">
                  <c:v>5</c:v>
                </c:pt>
              </c:numCache>
            </c:numRef>
          </c:yVal>
          <c:smooth val="0"/>
          <c:extLst>
            <c:ext xmlns:c16="http://schemas.microsoft.com/office/drawing/2014/chart" uri="{C3380CC4-5D6E-409C-BE32-E72D297353CC}">
              <c16:uniqueId val="{00000004-5D74-2048-AE46-3FE414924893}"/>
            </c:ext>
          </c:extLst>
        </c:ser>
        <c:ser>
          <c:idx val="5"/>
          <c:order val="5"/>
          <c:tx>
            <c:strRef>
              <c:f>Sheet1!$G$1</c:f>
              <c:strCache>
                <c:ptCount val="1"/>
                <c:pt idx="0">
                  <c:v>F</c:v>
                </c:pt>
              </c:strCache>
            </c:strRef>
          </c:tx>
          <c:spPr>
            <a:ln w="19050" cap="rnd">
              <a:noFill/>
              <a:round/>
            </a:ln>
            <a:effectLst/>
          </c:spPr>
          <c:marker>
            <c:symbol val="circle"/>
            <c:size val="5"/>
            <c:spPr>
              <a:solidFill>
                <a:schemeClr val="accent6"/>
              </a:solidFill>
              <a:ln w="9525">
                <a:solidFill>
                  <a:schemeClr val="accent6"/>
                </a:solidFill>
              </a:ln>
              <a:effectLst/>
            </c:spPr>
          </c:marker>
          <c:xVal>
            <c:numRef>
              <c:f>Sheet1!$A$2:$A$44</c:f>
              <c:numCache>
                <c:formatCode>ddd</c:formatCode>
                <c:ptCount val="43"/>
                <c:pt idx="0">
                  <c:v>44170.333333333336</c:v>
                </c:pt>
                <c:pt idx="1">
                  <c:v>44170.5</c:v>
                </c:pt>
                <c:pt idx="2">
                  <c:v>44170.666666666664</c:v>
                </c:pt>
                <c:pt idx="3">
                  <c:v>44170.833333333336</c:v>
                </c:pt>
                <c:pt idx="4">
                  <c:v>44171</c:v>
                </c:pt>
                <c:pt idx="5">
                  <c:v>44171.166666666664</c:v>
                </c:pt>
                <c:pt idx="6">
                  <c:v>44171.333333333336</c:v>
                </c:pt>
                <c:pt idx="7">
                  <c:v>44171.5</c:v>
                </c:pt>
                <c:pt idx="8">
                  <c:v>44171.666666666664</c:v>
                </c:pt>
                <c:pt idx="9">
                  <c:v>44171.833333333336</c:v>
                </c:pt>
                <c:pt idx="10">
                  <c:v>44172</c:v>
                </c:pt>
                <c:pt idx="11">
                  <c:v>44172.166666666664</c:v>
                </c:pt>
                <c:pt idx="12">
                  <c:v>44172.333333333336</c:v>
                </c:pt>
                <c:pt idx="13">
                  <c:v>44172.5</c:v>
                </c:pt>
                <c:pt idx="14">
                  <c:v>44172.666666666664</c:v>
                </c:pt>
                <c:pt idx="15">
                  <c:v>44172.833333333336</c:v>
                </c:pt>
                <c:pt idx="16">
                  <c:v>44173</c:v>
                </c:pt>
                <c:pt idx="17">
                  <c:v>44173.166666666664</c:v>
                </c:pt>
                <c:pt idx="18">
                  <c:v>44173.333333333336</c:v>
                </c:pt>
                <c:pt idx="19">
                  <c:v>44173.5</c:v>
                </c:pt>
                <c:pt idx="20">
                  <c:v>44173.666666666664</c:v>
                </c:pt>
                <c:pt idx="21">
                  <c:v>44173.833333333336</c:v>
                </c:pt>
                <c:pt idx="22">
                  <c:v>44174</c:v>
                </c:pt>
                <c:pt idx="23">
                  <c:v>44174.166666666664</c:v>
                </c:pt>
                <c:pt idx="24">
                  <c:v>44174.333333333336</c:v>
                </c:pt>
                <c:pt idx="25">
                  <c:v>44174.5</c:v>
                </c:pt>
                <c:pt idx="26">
                  <c:v>44174.666666666664</c:v>
                </c:pt>
                <c:pt idx="27">
                  <c:v>44174.833333333336</c:v>
                </c:pt>
                <c:pt idx="28">
                  <c:v>44175</c:v>
                </c:pt>
                <c:pt idx="29">
                  <c:v>44175.166666666664</c:v>
                </c:pt>
                <c:pt idx="30">
                  <c:v>44175.333333333336</c:v>
                </c:pt>
                <c:pt idx="31">
                  <c:v>44175.5</c:v>
                </c:pt>
                <c:pt idx="32">
                  <c:v>44175.666666666664</c:v>
                </c:pt>
                <c:pt idx="33">
                  <c:v>44175.833333333336</c:v>
                </c:pt>
                <c:pt idx="34">
                  <c:v>44176</c:v>
                </c:pt>
                <c:pt idx="35">
                  <c:v>44176.166666666664</c:v>
                </c:pt>
                <c:pt idx="36">
                  <c:v>44176.333333333336</c:v>
                </c:pt>
                <c:pt idx="37">
                  <c:v>44176.5</c:v>
                </c:pt>
                <c:pt idx="38">
                  <c:v>44176.666666666664</c:v>
                </c:pt>
                <c:pt idx="39">
                  <c:v>44176.833333333336</c:v>
                </c:pt>
                <c:pt idx="40">
                  <c:v>44177</c:v>
                </c:pt>
                <c:pt idx="41">
                  <c:v>44177.166666666664</c:v>
                </c:pt>
                <c:pt idx="42">
                  <c:v>44177.333333333336</c:v>
                </c:pt>
              </c:numCache>
            </c:numRef>
          </c:xVal>
          <c:yVal>
            <c:numRef>
              <c:f>Sheet1!$G$2:$G$44</c:f>
              <c:numCache>
                <c:formatCode>General</c:formatCode>
                <c:ptCount val="43"/>
                <c:pt idx="0">
                  <c:v>6</c:v>
                </c:pt>
                <c:pt idx="2">
                  <c:v>6</c:v>
                </c:pt>
                <c:pt idx="3">
                  <c:v>6</c:v>
                </c:pt>
                <c:pt idx="5">
                  <c:v>6</c:v>
                </c:pt>
                <c:pt idx="7">
                  <c:v>6</c:v>
                </c:pt>
                <c:pt idx="9">
                  <c:v>6</c:v>
                </c:pt>
                <c:pt idx="10">
                  <c:v>6</c:v>
                </c:pt>
                <c:pt idx="12">
                  <c:v>6</c:v>
                </c:pt>
                <c:pt idx="14">
                  <c:v>6</c:v>
                </c:pt>
                <c:pt idx="16">
                  <c:v>6</c:v>
                </c:pt>
                <c:pt idx="18">
                  <c:v>6</c:v>
                </c:pt>
                <c:pt idx="20">
                  <c:v>6</c:v>
                </c:pt>
                <c:pt idx="23">
                  <c:v>6</c:v>
                </c:pt>
                <c:pt idx="25">
                  <c:v>6</c:v>
                </c:pt>
                <c:pt idx="27">
                  <c:v>6</c:v>
                </c:pt>
                <c:pt idx="29">
                  <c:v>6</c:v>
                </c:pt>
                <c:pt idx="31">
                  <c:v>6</c:v>
                </c:pt>
                <c:pt idx="33">
                  <c:v>6</c:v>
                </c:pt>
                <c:pt idx="35">
                  <c:v>6</c:v>
                </c:pt>
                <c:pt idx="37">
                  <c:v>6</c:v>
                </c:pt>
                <c:pt idx="39">
                  <c:v>6</c:v>
                </c:pt>
                <c:pt idx="41">
                  <c:v>6</c:v>
                </c:pt>
              </c:numCache>
            </c:numRef>
          </c:yVal>
          <c:smooth val="0"/>
          <c:extLst>
            <c:ext xmlns:c16="http://schemas.microsoft.com/office/drawing/2014/chart" uri="{C3380CC4-5D6E-409C-BE32-E72D297353CC}">
              <c16:uniqueId val="{00000005-5D74-2048-AE46-3FE414924893}"/>
            </c:ext>
          </c:extLst>
        </c:ser>
        <c:ser>
          <c:idx val="6"/>
          <c:order val="6"/>
          <c:tx>
            <c:strRef>
              <c:f>Sheet1!$H$1</c:f>
              <c:strCache>
                <c:ptCount val="1"/>
                <c:pt idx="0">
                  <c:v>G</c:v>
                </c:pt>
              </c:strCache>
            </c:strRef>
          </c:tx>
          <c:spPr>
            <a:ln w="19050" cap="rnd">
              <a:noFill/>
              <a:round/>
            </a:ln>
            <a:effectLst/>
          </c:spPr>
          <c:marker>
            <c:symbol val="circle"/>
            <c:size val="5"/>
            <c:spPr>
              <a:solidFill>
                <a:schemeClr val="accent1">
                  <a:lumMod val="60000"/>
                </a:schemeClr>
              </a:solidFill>
              <a:ln w="9525">
                <a:solidFill>
                  <a:schemeClr val="accent1">
                    <a:lumMod val="60000"/>
                  </a:schemeClr>
                </a:solidFill>
              </a:ln>
              <a:effectLst/>
            </c:spPr>
          </c:marker>
          <c:xVal>
            <c:numRef>
              <c:f>Sheet1!$A$2:$A$44</c:f>
              <c:numCache>
                <c:formatCode>ddd</c:formatCode>
                <c:ptCount val="43"/>
                <c:pt idx="0">
                  <c:v>44170.333333333336</c:v>
                </c:pt>
                <c:pt idx="1">
                  <c:v>44170.5</c:v>
                </c:pt>
                <c:pt idx="2">
                  <c:v>44170.666666666664</c:v>
                </c:pt>
                <c:pt idx="3">
                  <c:v>44170.833333333336</c:v>
                </c:pt>
                <c:pt idx="4">
                  <c:v>44171</c:v>
                </c:pt>
                <c:pt idx="5">
                  <c:v>44171.166666666664</c:v>
                </c:pt>
                <c:pt idx="6">
                  <c:v>44171.333333333336</c:v>
                </c:pt>
                <c:pt idx="7">
                  <c:v>44171.5</c:v>
                </c:pt>
                <c:pt idx="8">
                  <c:v>44171.666666666664</c:v>
                </c:pt>
                <c:pt idx="9">
                  <c:v>44171.833333333336</c:v>
                </c:pt>
                <c:pt idx="10">
                  <c:v>44172</c:v>
                </c:pt>
                <c:pt idx="11">
                  <c:v>44172.166666666664</c:v>
                </c:pt>
                <c:pt idx="12">
                  <c:v>44172.333333333336</c:v>
                </c:pt>
                <c:pt idx="13">
                  <c:v>44172.5</c:v>
                </c:pt>
                <c:pt idx="14">
                  <c:v>44172.666666666664</c:v>
                </c:pt>
                <c:pt idx="15">
                  <c:v>44172.833333333336</c:v>
                </c:pt>
                <c:pt idx="16">
                  <c:v>44173</c:v>
                </c:pt>
                <c:pt idx="17">
                  <c:v>44173.166666666664</c:v>
                </c:pt>
                <c:pt idx="18">
                  <c:v>44173.333333333336</c:v>
                </c:pt>
                <c:pt idx="19">
                  <c:v>44173.5</c:v>
                </c:pt>
                <c:pt idx="20">
                  <c:v>44173.666666666664</c:v>
                </c:pt>
                <c:pt idx="21">
                  <c:v>44173.833333333336</c:v>
                </c:pt>
                <c:pt idx="22">
                  <c:v>44174</c:v>
                </c:pt>
                <c:pt idx="23">
                  <c:v>44174.166666666664</c:v>
                </c:pt>
                <c:pt idx="24">
                  <c:v>44174.333333333336</c:v>
                </c:pt>
                <c:pt idx="25">
                  <c:v>44174.5</c:v>
                </c:pt>
                <c:pt idx="26">
                  <c:v>44174.666666666664</c:v>
                </c:pt>
                <c:pt idx="27">
                  <c:v>44174.833333333336</c:v>
                </c:pt>
                <c:pt idx="28">
                  <c:v>44175</c:v>
                </c:pt>
                <c:pt idx="29">
                  <c:v>44175.166666666664</c:v>
                </c:pt>
                <c:pt idx="30">
                  <c:v>44175.333333333336</c:v>
                </c:pt>
                <c:pt idx="31">
                  <c:v>44175.5</c:v>
                </c:pt>
                <c:pt idx="32">
                  <c:v>44175.666666666664</c:v>
                </c:pt>
                <c:pt idx="33">
                  <c:v>44175.833333333336</c:v>
                </c:pt>
                <c:pt idx="34">
                  <c:v>44176</c:v>
                </c:pt>
                <c:pt idx="35">
                  <c:v>44176.166666666664</c:v>
                </c:pt>
                <c:pt idx="36">
                  <c:v>44176.333333333336</c:v>
                </c:pt>
                <c:pt idx="37">
                  <c:v>44176.5</c:v>
                </c:pt>
                <c:pt idx="38">
                  <c:v>44176.666666666664</c:v>
                </c:pt>
                <c:pt idx="39">
                  <c:v>44176.833333333336</c:v>
                </c:pt>
                <c:pt idx="40">
                  <c:v>44177</c:v>
                </c:pt>
                <c:pt idx="41">
                  <c:v>44177.166666666664</c:v>
                </c:pt>
                <c:pt idx="42">
                  <c:v>44177.333333333336</c:v>
                </c:pt>
              </c:numCache>
            </c:numRef>
          </c:xVal>
          <c:yVal>
            <c:numRef>
              <c:f>Sheet1!$H$2:$H$44</c:f>
              <c:numCache>
                <c:formatCode>General</c:formatCode>
                <c:ptCount val="43"/>
                <c:pt idx="0">
                  <c:v>7</c:v>
                </c:pt>
                <c:pt idx="1">
                  <c:v>7</c:v>
                </c:pt>
                <c:pt idx="2">
                  <c:v>7</c:v>
                </c:pt>
                <c:pt idx="4">
                  <c:v>7</c:v>
                </c:pt>
                <c:pt idx="5">
                  <c:v>7</c:v>
                </c:pt>
                <c:pt idx="7">
                  <c:v>7</c:v>
                </c:pt>
                <c:pt idx="9">
                  <c:v>7</c:v>
                </c:pt>
                <c:pt idx="10">
                  <c:v>7</c:v>
                </c:pt>
                <c:pt idx="11">
                  <c:v>7</c:v>
                </c:pt>
                <c:pt idx="13">
                  <c:v>7</c:v>
                </c:pt>
                <c:pt idx="14">
                  <c:v>7</c:v>
                </c:pt>
                <c:pt idx="15">
                  <c:v>7</c:v>
                </c:pt>
                <c:pt idx="16">
                  <c:v>7</c:v>
                </c:pt>
                <c:pt idx="18">
                  <c:v>7</c:v>
                </c:pt>
                <c:pt idx="19">
                  <c:v>7</c:v>
                </c:pt>
                <c:pt idx="20">
                  <c:v>7</c:v>
                </c:pt>
                <c:pt idx="21">
                  <c:v>7</c:v>
                </c:pt>
                <c:pt idx="23">
                  <c:v>7</c:v>
                </c:pt>
                <c:pt idx="24">
                  <c:v>7</c:v>
                </c:pt>
                <c:pt idx="25">
                  <c:v>7</c:v>
                </c:pt>
                <c:pt idx="26">
                  <c:v>7</c:v>
                </c:pt>
                <c:pt idx="27">
                  <c:v>7</c:v>
                </c:pt>
                <c:pt idx="28">
                  <c:v>7</c:v>
                </c:pt>
                <c:pt idx="30">
                  <c:v>7</c:v>
                </c:pt>
                <c:pt idx="31">
                  <c:v>7</c:v>
                </c:pt>
                <c:pt idx="32">
                  <c:v>7</c:v>
                </c:pt>
                <c:pt idx="35">
                  <c:v>7</c:v>
                </c:pt>
                <c:pt idx="36">
                  <c:v>7</c:v>
                </c:pt>
                <c:pt idx="37">
                  <c:v>7</c:v>
                </c:pt>
                <c:pt idx="39">
                  <c:v>7</c:v>
                </c:pt>
                <c:pt idx="40">
                  <c:v>7</c:v>
                </c:pt>
                <c:pt idx="42">
                  <c:v>7</c:v>
                </c:pt>
              </c:numCache>
            </c:numRef>
          </c:yVal>
          <c:smooth val="0"/>
          <c:extLst>
            <c:ext xmlns:c16="http://schemas.microsoft.com/office/drawing/2014/chart" uri="{C3380CC4-5D6E-409C-BE32-E72D297353CC}">
              <c16:uniqueId val="{00000006-5D74-2048-AE46-3FE414924893}"/>
            </c:ext>
          </c:extLst>
        </c:ser>
        <c:dLbls>
          <c:showLegendKey val="0"/>
          <c:showVal val="0"/>
          <c:showCatName val="0"/>
          <c:showSerName val="0"/>
          <c:showPercent val="0"/>
          <c:showBubbleSize val="0"/>
        </c:dLbls>
        <c:axId val="1154152608"/>
        <c:axId val="1153959776"/>
      </c:scatterChart>
      <c:valAx>
        <c:axId val="1154152608"/>
        <c:scaling>
          <c:orientation val="minMax"/>
          <c:max val="44177.5"/>
          <c:min val="44170"/>
        </c:scaling>
        <c:delete val="0"/>
        <c:axPos val="b"/>
        <c:majorGridlines>
          <c:spPr>
            <a:ln w="25400" cap="flat" cmpd="sng" algn="ctr">
              <a:solidFill>
                <a:schemeClr val="tx1">
                  <a:lumMod val="15000"/>
                  <a:lumOff val="85000"/>
                </a:schemeClr>
              </a:solidFill>
              <a:prstDash val="sysDash"/>
              <a:round/>
            </a:ln>
            <a:effectLst/>
          </c:spPr>
        </c:majorGridlines>
        <c:numFmt formatCode="ddd" sourceLinked="1"/>
        <c:majorTickMark val="none"/>
        <c:minorTickMark val="none"/>
        <c:tickLblPos val="low"/>
        <c:spPr>
          <a:noFill/>
          <a:ln w="9525" cap="flat" cmpd="sng" algn="ctr">
            <a:solidFill>
              <a:schemeClr val="tx1">
                <a:lumMod val="25000"/>
                <a:lumOff val="75000"/>
              </a:schemeClr>
            </a:solidFill>
            <a:round/>
          </a:ln>
          <a:effectLst/>
        </c:spPr>
        <c:txPr>
          <a:bodyPr rot="-2700000" spcFirstLastPara="1" vertOverflow="ellipsis" wrap="square" anchor="ctr" anchorCtr="0"/>
          <a:lstStyle/>
          <a:p>
            <a:pPr>
              <a:defRPr sz="1400" b="1" i="0" u="none" strike="noStrike" kern="1200" baseline="0">
                <a:solidFill>
                  <a:schemeClr val="tx1">
                    <a:lumMod val="65000"/>
                    <a:lumOff val="35000"/>
                  </a:schemeClr>
                </a:solidFill>
                <a:latin typeface="Quadraat" panose="02000503060000090004" pitchFamily="2" charset="0"/>
                <a:ea typeface="+mn-ea"/>
                <a:cs typeface="+mn-cs"/>
              </a:defRPr>
            </a:pPr>
            <a:endParaRPr lang="en-US"/>
          </a:p>
        </c:txPr>
        <c:crossAx val="1153959776"/>
        <c:crosses val="autoZero"/>
        <c:crossBetween val="midCat"/>
        <c:minorUnit val="0.5"/>
      </c:valAx>
      <c:valAx>
        <c:axId val="1153959776"/>
        <c:scaling>
          <c:orientation val="minMax"/>
          <c:max val="7.5"/>
          <c:min val="0"/>
        </c:scaling>
        <c:delete val="0"/>
        <c:axPos val="l"/>
        <c:numFmt formatCode="&quot;Patient&quot;\ #" sourceLinked="0"/>
        <c:majorTickMark val="none"/>
        <c:minorTickMark val="none"/>
        <c:tickLblPos val="nextTo"/>
        <c:spPr>
          <a:noFill/>
          <a:ln w="9525" cap="flat" cmpd="sng" algn="ctr">
            <a:solidFill>
              <a:schemeClr val="tx1">
                <a:lumMod val="25000"/>
                <a:lumOff val="75000"/>
              </a:schemeClr>
            </a:solidFill>
            <a:round/>
          </a:ln>
          <a:effectLst/>
        </c:spPr>
        <c:txPr>
          <a:bodyPr rot="0" spcFirstLastPara="1" vertOverflow="ellipsis" wrap="square" anchor="ctr" anchorCtr="0"/>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154152608"/>
        <c:crosses val="autoZero"/>
        <c:crossBetween val="midCat"/>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A</c:v>
                </c:pt>
              </c:strCache>
            </c:strRef>
          </c:tx>
          <c:spPr>
            <a:ln w="19050" cap="rnd">
              <a:noFill/>
              <a:round/>
            </a:ln>
            <a:effectLst/>
          </c:spPr>
          <c:marker>
            <c:symbol val="circle"/>
            <c:size val="5"/>
            <c:spPr>
              <a:solidFill>
                <a:schemeClr val="accent1"/>
              </a:solidFill>
              <a:ln w="9525">
                <a:solidFill>
                  <a:schemeClr val="accent1"/>
                </a:solidFill>
              </a:ln>
              <a:effectLst/>
            </c:spPr>
          </c:marker>
          <c:xVal>
            <c:numRef>
              <c:f>Sheet1!$A$2:$A$44</c:f>
              <c:numCache>
                <c:formatCode>ddd</c:formatCode>
                <c:ptCount val="43"/>
                <c:pt idx="0">
                  <c:v>44170.333333333336</c:v>
                </c:pt>
                <c:pt idx="1">
                  <c:v>44170.5</c:v>
                </c:pt>
                <c:pt idx="2">
                  <c:v>44170.666666666664</c:v>
                </c:pt>
                <c:pt idx="3">
                  <c:v>44170.833333333336</c:v>
                </c:pt>
                <c:pt idx="4">
                  <c:v>44171</c:v>
                </c:pt>
                <c:pt idx="5">
                  <c:v>44171.166666666664</c:v>
                </c:pt>
                <c:pt idx="6">
                  <c:v>44171.333333333336</c:v>
                </c:pt>
                <c:pt idx="7">
                  <c:v>44171.5</c:v>
                </c:pt>
                <c:pt idx="8">
                  <c:v>44171.666666666664</c:v>
                </c:pt>
                <c:pt idx="9">
                  <c:v>44171.833333333336</c:v>
                </c:pt>
                <c:pt idx="10">
                  <c:v>44172</c:v>
                </c:pt>
                <c:pt idx="11">
                  <c:v>44172.166666666664</c:v>
                </c:pt>
                <c:pt idx="12">
                  <c:v>44172.333333333336</c:v>
                </c:pt>
                <c:pt idx="13">
                  <c:v>44172.5</c:v>
                </c:pt>
                <c:pt idx="14">
                  <c:v>44172.666666666664</c:v>
                </c:pt>
                <c:pt idx="15">
                  <c:v>44172.833333333336</c:v>
                </c:pt>
                <c:pt idx="16">
                  <c:v>44173</c:v>
                </c:pt>
                <c:pt idx="17">
                  <c:v>44173.166666666664</c:v>
                </c:pt>
                <c:pt idx="18">
                  <c:v>44173.333333333336</c:v>
                </c:pt>
                <c:pt idx="19">
                  <c:v>44173.5</c:v>
                </c:pt>
                <c:pt idx="20">
                  <c:v>44173.666666666664</c:v>
                </c:pt>
                <c:pt idx="21">
                  <c:v>44173.833333333336</c:v>
                </c:pt>
                <c:pt idx="22">
                  <c:v>44174</c:v>
                </c:pt>
                <c:pt idx="23">
                  <c:v>44174.166666666664</c:v>
                </c:pt>
                <c:pt idx="24">
                  <c:v>44174.333333333336</c:v>
                </c:pt>
                <c:pt idx="25">
                  <c:v>44174.5</c:v>
                </c:pt>
                <c:pt idx="26">
                  <c:v>44174.666666666664</c:v>
                </c:pt>
                <c:pt idx="27">
                  <c:v>44174.833333333336</c:v>
                </c:pt>
                <c:pt idx="28">
                  <c:v>44175</c:v>
                </c:pt>
                <c:pt idx="29">
                  <c:v>44175.166666666664</c:v>
                </c:pt>
                <c:pt idx="30">
                  <c:v>44175.333333333336</c:v>
                </c:pt>
                <c:pt idx="31">
                  <c:v>44175.5</c:v>
                </c:pt>
                <c:pt idx="32">
                  <c:v>44175.666666666664</c:v>
                </c:pt>
                <c:pt idx="33">
                  <c:v>44175.833333333336</c:v>
                </c:pt>
                <c:pt idx="34">
                  <c:v>44176</c:v>
                </c:pt>
                <c:pt idx="35">
                  <c:v>44176.166666666664</c:v>
                </c:pt>
                <c:pt idx="36">
                  <c:v>44176.333333333336</c:v>
                </c:pt>
                <c:pt idx="37">
                  <c:v>44176.5</c:v>
                </c:pt>
                <c:pt idx="38">
                  <c:v>44176.666666666664</c:v>
                </c:pt>
                <c:pt idx="39">
                  <c:v>44176.833333333336</c:v>
                </c:pt>
                <c:pt idx="40">
                  <c:v>44177</c:v>
                </c:pt>
                <c:pt idx="41">
                  <c:v>44177.166666666664</c:v>
                </c:pt>
                <c:pt idx="42">
                  <c:v>44177.333333333336</c:v>
                </c:pt>
              </c:numCache>
            </c:numRef>
          </c:xVal>
          <c:yVal>
            <c:numRef>
              <c:f>Sheet1!$B$2:$B$44</c:f>
              <c:numCache>
                <c:formatCode>General</c:formatCode>
                <c:ptCount val="43"/>
                <c:pt idx="1">
                  <c:v>1</c:v>
                </c:pt>
                <c:pt idx="35">
                  <c:v>1</c:v>
                </c:pt>
              </c:numCache>
            </c:numRef>
          </c:yVal>
          <c:smooth val="0"/>
          <c:extLst>
            <c:ext xmlns:c16="http://schemas.microsoft.com/office/drawing/2014/chart" uri="{C3380CC4-5D6E-409C-BE32-E72D297353CC}">
              <c16:uniqueId val="{00000000-5D74-2048-AE46-3FE414924893}"/>
            </c:ext>
          </c:extLst>
        </c:ser>
        <c:ser>
          <c:idx val="1"/>
          <c:order val="1"/>
          <c:tx>
            <c:strRef>
              <c:f>Sheet1!$C$1</c:f>
              <c:strCache>
                <c:ptCount val="1"/>
                <c:pt idx="0">
                  <c:v>B</c:v>
                </c:pt>
              </c:strCache>
            </c:strRef>
          </c:tx>
          <c:spPr>
            <a:ln w="19050" cap="rnd">
              <a:noFill/>
              <a:round/>
            </a:ln>
            <a:effectLst/>
          </c:spPr>
          <c:marker>
            <c:symbol val="circle"/>
            <c:size val="5"/>
            <c:spPr>
              <a:solidFill>
                <a:schemeClr val="accent2"/>
              </a:solidFill>
              <a:ln w="9525">
                <a:solidFill>
                  <a:schemeClr val="accent2"/>
                </a:solidFill>
              </a:ln>
              <a:effectLst/>
            </c:spPr>
          </c:marker>
          <c:xVal>
            <c:numRef>
              <c:f>Sheet1!$A$2:$A$44</c:f>
              <c:numCache>
                <c:formatCode>ddd</c:formatCode>
                <c:ptCount val="43"/>
                <c:pt idx="0">
                  <c:v>44170.333333333336</c:v>
                </c:pt>
                <c:pt idx="1">
                  <c:v>44170.5</c:v>
                </c:pt>
                <c:pt idx="2">
                  <c:v>44170.666666666664</c:v>
                </c:pt>
                <c:pt idx="3">
                  <c:v>44170.833333333336</c:v>
                </c:pt>
                <c:pt idx="4">
                  <c:v>44171</c:v>
                </c:pt>
                <c:pt idx="5">
                  <c:v>44171.166666666664</c:v>
                </c:pt>
                <c:pt idx="6">
                  <c:v>44171.333333333336</c:v>
                </c:pt>
                <c:pt idx="7">
                  <c:v>44171.5</c:v>
                </c:pt>
                <c:pt idx="8">
                  <c:v>44171.666666666664</c:v>
                </c:pt>
                <c:pt idx="9">
                  <c:v>44171.833333333336</c:v>
                </c:pt>
                <c:pt idx="10">
                  <c:v>44172</c:v>
                </c:pt>
                <c:pt idx="11">
                  <c:v>44172.166666666664</c:v>
                </c:pt>
                <c:pt idx="12">
                  <c:v>44172.333333333336</c:v>
                </c:pt>
                <c:pt idx="13">
                  <c:v>44172.5</c:v>
                </c:pt>
                <c:pt idx="14">
                  <c:v>44172.666666666664</c:v>
                </c:pt>
                <c:pt idx="15">
                  <c:v>44172.833333333336</c:v>
                </c:pt>
                <c:pt idx="16">
                  <c:v>44173</c:v>
                </c:pt>
                <c:pt idx="17">
                  <c:v>44173.166666666664</c:v>
                </c:pt>
                <c:pt idx="18">
                  <c:v>44173.333333333336</c:v>
                </c:pt>
                <c:pt idx="19">
                  <c:v>44173.5</c:v>
                </c:pt>
                <c:pt idx="20">
                  <c:v>44173.666666666664</c:v>
                </c:pt>
                <c:pt idx="21">
                  <c:v>44173.833333333336</c:v>
                </c:pt>
                <c:pt idx="22">
                  <c:v>44174</c:v>
                </c:pt>
                <c:pt idx="23">
                  <c:v>44174.166666666664</c:v>
                </c:pt>
                <c:pt idx="24">
                  <c:v>44174.333333333336</c:v>
                </c:pt>
                <c:pt idx="25">
                  <c:v>44174.5</c:v>
                </c:pt>
                <c:pt idx="26">
                  <c:v>44174.666666666664</c:v>
                </c:pt>
                <c:pt idx="27">
                  <c:v>44174.833333333336</c:v>
                </c:pt>
                <c:pt idx="28">
                  <c:v>44175</c:v>
                </c:pt>
                <c:pt idx="29">
                  <c:v>44175.166666666664</c:v>
                </c:pt>
                <c:pt idx="30">
                  <c:v>44175.333333333336</c:v>
                </c:pt>
                <c:pt idx="31">
                  <c:v>44175.5</c:v>
                </c:pt>
                <c:pt idx="32">
                  <c:v>44175.666666666664</c:v>
                </c:pt>
                <c:pt idx="33">
                  <c:v>44175.833333333336</c:v>
                </c:pt>
                <c:pt idx="34">
                  <c:v>44176</c:v>
                </c:pt>
                <c:pt idx="35">
                  <c:v>44176.166666666664</c:v>
                </c:pt>
                <c:pt idx="36">
                  <c:v>44176.333333333336</c:v>
                </c:pt>
                <c:pt idx="37">
                  <c:v>44176.5</c:v>
                </c:pt>
                <c:pt idx="38">
                  <c:v>44176.666666666664</c:v>
                </c:pt>
                <c:pt idx="39">
                  <c:v>44176.833333333336</c:v>
                </c:pt>
                <c:pt idx="40">
                  <c:v>44177</c:v>
                </c:pt>
                <c:pt idx="41">
                  <c:v>44177.166666666664</c:v>
                </c:pt>
                <c:pt idx="42">
                  <c:v>44177.333333333336</c:v>
                </c:pt>
              </c:numCache>
            </c:numRef>
          </c:xVal>
          <c:yVal>
            <c:numRef>
              <c:f>Sheet1!$C$2:$C$44</c:f>
              <c:numCache>
                <c:formatCode>General</c:formatCode>
                <c:ptCount val="43"/>
                <c:pt idx="1">
                  <c:v>2</c:v>
                </c:pt>
                <c:pt idx="17">
                  <c:v>2</c:v>
                </c:pt>
                <c:pt idx="35">
                  <c:v>2</c:v>
                </c:pt>
              </c:numCache>
            </c:numRef>
          </c:yVal>
          <c:smooth val="0"/>
          <c:extLst>
            <c:ext xmlns:c16="http://schemas.microsoft.com/office/drawing/2014/chart" uri="{C3380CC4-5D6E-409C-BE32-E72D297353CC}">
              <c16:uniqueId val="{00000001-5D74-2048-AE46-3FE414924893}"/>
            </c:ext>
          </c:extLst>
        </c:ser>
        <c:ser>
          <c:idx val="2"/>
          <c:order val="2"/>
          <c:tx>
            <c:strRef>
              <c:f>Sheet1!$D$1</c:f>
              <c:strCache>
                <c:ptCount val="1"/>
                <c:pt idx="0">
                  <c:v>C</c:v>
                </c:pt>
              </c:strCache>
            </c:strRef>
          </c:tx>
          <c:spPr>
            <a:ln w="19050" cap="rnd">
              <a:noFill/>
              <a:round/>
            </a:ln>
            <a:effectLst/>
          </c:spPr>
          <c:marker>
            <c:symbol val="circle"/>
            <c:size val="5"/>
            <c:spPr>
              <a:solidFill>
                <a:schemeClr val="accent3"/>
              </a:solidFill>
              <a:ln w="9525">
                <a:solidFill>
                  <a:schemeClr val="accent3"/>
                </a:solidFill>
              </a:ln>
              <a:effectLst/>
            </c:spPr>
          </c:marker>
          <c:xVal>
            <c:numRef>
              <c:f>Sheet1!$A$2:$A$44</c:f>
              <c:numCache>
                <c:formatCode>ddd</c:formatCode>
                <c:ptCount val="43"/>
                <c:pt idx="0">
                  <c:v>44170.333333333336</c:v>
                </c:pt>
                <c:pt idx="1">
                  <c:v>44170.5</c:v>
                </c:pt>
                <c:pt idx="2">
                  <c:v>44170.666666666664</c:v>
                </c:pt>
                <c:pt idx="3">
                  <c:v>44170.833333333336</c:v>
                </c:pt>
                <c:pt idx="4">
                  <c:v>44171</c:v>
                </c:pt>
                <c:pt idx="5">
                  <c:v>44171.166666666664</c:v>
                </c:pt>
                <c:pt idx="6">
                  <c:v>44171.333333333336</c:v>
                </c:pt>
                <c:pt idx="7">
                  <c:v>44171.5</c:v>
                </c:pt>
                <c:pt idx="8">
                  <c:v>44171.666666666664</c:v>
                </c:pt>
                <c:pt idx="9">
                  <c:v>44171.833333333336</c:v>
                </c:pt>
                <c:pt idx="10">
                  <c:v>44172</c:v>
                </c:pt>
                <c:pt idx="11">
                  <c:v>44172.166666666664</c:v>
                </c:pt>
                <c:pt idx="12">
                  <c:v>44172.333333333336</c:v>
                </c:pt>
                <c:pt idx="13">
                  <c:v>44172.5</c:v>
                </c:pt>
                <c:pt idx="14">
                  <c:v>44172.666666666664</c:v>
                </c:pt>
                <c:pt idx="15">
                  <c:v>44172.833333333336</c:v>
                </c:pt>
                <c:pt idx="16">
                  <c:v>44173</c:v>
                </c:pt>
                <c:pt idx="17">
                  <c:v>44173.166666666664</c:v>
                </c:pt>
                <c:pt idx="18">
                  <c:v>44173.333333333336</c:v>
                </c:pt>
                <c:pt idx="19">
                  <c:v>44173.5</c:v>
                </c:pt>
                <c:pt idx="20">
                  <c:v>44173.666666666664</c:v>
                </c:pt>
                <c:pt idx="21">
                  <c:v>44173.833333333336</c:v>
                </c:pt>
                <c:pt idx="22">
                  <c:v>44174</c:v>
                </c:pt>
                <c:pt idx="23">
                  <c:v>44174.166666666664</c:v>
                </c:pt>
                <c:pt idx="24">
                  <c:v>44174.333333333336</c:v>
                </c:pt>
                <c:pt idx="25">
                  <c:v>44174.5</c:v>
                </c:pt>
                <c:pt idx="26">
                  <c:v>44174.666666666664</c:v>
                </c:pt>
                <c:pt idx="27">
                  <c:v>44174.833333333336</c:v>
                </c:pt>
                <c:pt idx="28">
                  <c:v>44175</c:v>
                </c:pt>
                <c:pt idx="29">
                  <c:v>44175.166666666664</c:v>
                </c:pt>
                <c:pt idx="30">
                  <c:v>44175.333333333336</c:v>
                </c:pt>
                <c:pt idx="31">
                  <c:v>44175.5</c:v>
                </c:pt>
                <c:pt idx="32">
                  <c:v>44175.666666666664</c:v>
                </c:pt>
                <c:pt idx="33">
                  <c:v>44175.833333333336</c:v>
                </c:pt>
                <c:pt idx="34">
                  <c:v>44176</c:v>
                </c:pt>
                <c:pt idx="35">
                  <c:v>44176.166666666664</c:v>
                </c:pt>
                <c:pt idx="36">
                  <c:v>44176.333333333336</c:v>
                </c:pt>
                <c:pt idx="37">
                  <c:v>44176.5</c:v>
                </c:pt>
                <c:pt idx="38">
                  <c:v>44176.666666666664</c:v>
                </c:pt>
                <c:pt idx="39">
                  <c:v>44176.833333333336</c:v>
                </c:pt>
                <c:pt idx="40">
                  <c:v>44177</c:v>
                </c:pt>
                <c:pt idx="41">
                  <c:v>44177.166666666664</c:v>
                </c:pt>
                <c:pt idx="42">
                  <c:v>44177.333333333336</c:v>
                </c:pt>
              </c:numCache>
            </c:numRef>
          </c:xVal>
          <c:yVal>
            <c:numRef>
              <c:f>Sheet1!$D$2:$D$44</c:f>
              <c:numCache>
                <c:formatCode>General</c:formatCode>
                <c:ptCount val="43"/>
                <c:pt idx="1">
                  <c:v>3</c:v>
                </c:pt>
                <c:pt idx="12">
                  <c:v>3</c:v>
                </c:pt>
                <c:pt idx="19">
                  <c:v>3</c:v>
                </c:pt>
                <c:pt idx="32">
                  <c:v>3</c:v>
                </c:pt>
              </c:numCache>
            </c:numRef>
          </c:yVal>
          <c:smooth val="0"/>
          <c:extLst>
            <c:ext xmlns:c16="http://schemas.microsoft.com/office/drawing/2014/chart" uri="{C3380CC4-5D6E-409C-BE32-E72D297353CC}">
              <c16:uniqueId val="{00000002-5D74-2048-AE46-3FE414924893}"/>
            </c:ext>
          </c:extLst>
        </c:ser>
        <c:ser>
          <c:idx val="3"/>
          <c:order val="3"/>
          <c:tx>
            <c:strRef>
              <c:f>Sheet1!$E$1</c:f>
              <c:strCache>
                <c:ptCount val="1"/>
                <c:pt idx="0">
                  <c:v>D</c:v>
                </c:pt>
              </c:strCache>
            </c:strRef>
          </c:tx>
          <c:spPr>
            <a:ln w="19050" cap="rnd">
              <a:noFill/>
              <a:round/>
            </a:ln>
            <a:effectLst/>
          </c:spPr>
          <c:marker>
            <c:symbol val="circle"/>
            <c:size val="5"/>
            <c:spPr>
              <a:solidFill>
                <a:schemeClr val="accent4"/>
              </a:solidFill>
              <a:ln w="9525">
                <a:solidFill>
                  <a:schemeClr val="accent4"/>
                </a:solidFill>
              </a:ln>
              <a:effectLst/>
            </c:spPr>
          </c:marker>
          <c:xVal>
            <c:numRef>
              <c:f>Sheet1!$A$2:$A$44</c:f>
              <c:numCache>
                <c:formatCode>ddd</c:formatCode>
                <c:ptCount val="43"/>
                <c:pt idx="0">
                  <c:v>44170.333333333336</c:v>
                </c:pt>
                <c:pt idx="1">
                  <c:v>44170.5</c:v>
                </c:pt>
                <c:pt idx="2">
                  <c:v>44170.666666666664</c:v>
                </c:pt>
                <c:pt idx="3">
                  <c:v>44170.833333333336</c:v>
                </c:pt>
                <c:pt idx="4">
                  <c:v>44171</c:v>
                </c:pt>
                <c:pt idx="5">
                  <c:v>44171.166666666664</c:v>
                </c:pt>
                <c:pt idx="6">
                  <c:v>44171.333333333336</c:v>
                </c:pt>
                <c:pt idx="7">
                  <c:v>44171.5</c:v>
                </c:pt>
                <c:pt idx="8">
                  <c:v>44171.666666666664</c:v>
                </c:pt>
                <c:pt idx="9">
                  <c:v>44171.833333333336</c:v>
                </c:pt>
                <c:pt idx="10">
                  <c:v>44172</c:v>
                </c:pt>
                <c:pt idx="11">
                  <c:v>44172.166666666664</c:v>
                </c:pt>
                <c:pt idx="12">
                  <c:v>44172.333333333336</c:v>
                </c:pt>
                <c:pt idx="13">
                  <c:v>44172.5</c:v>
                </c:pt>
                <c:pt idx="14">
                  <c:v>44172.666666666664</c:v>
                </c:pt>
                <c:pt idx="15">
                  <c:v>44172.833333333336</c:v>
                </c:pt>
                <c:pt idx="16">
                  <c:v>44173</c:v>
                </c:pt>
                <c:pt idx="17">
                  <c:v>44173.166666666664</c:v>
                </c:pt>
                <c:pt idx="18">
                  <c:v>44173.333333333336</c:v>
                </c:pt>
                <c:pt idx="19">
                  <c:v>44173.5</c:v>
                </c:pt>
                <c:pt idx="20">
                  <c:v>44173.666666666664</c:v>
                </c:pt>
                <c:pt idx="21">
                  <c:v>44173.833333333336</c:v>
                </c:pt>
                <c:pt idx="22">
                  <c:v>44174</c:v>
                </c:pt>
                <c:pt idx="23">
                  <c:v>44174.166666666664</c:v>
                </c:pt>
                <c:pt idx="24">
                  <c:v>44174.333333333336</c:v>
                </c:pt>
                <c:pt idx="25">
                  <c:v>44174.5</c:v>
                </c:pt>
                <c:pt idx="26">
                  <c:v>44174.666666666664</c:v>
                </c:pt>
                <c:pt idx="27">
                  <c:v>44174.833333333336</c:v>
                </c:pt>
                <c:pt idx="28">
                  <c:v>44175</c:v>
                </c:pt>
                <c:pt idx="29">
                  <c:v>44175.166666666664</c:v>
                </c:pt>
                <c:pt idx="30">
                  <c:v>44175.333333333336</c:v>
                </c:pt>
                <c:pt idx="31">
                  <c:v>44175.5</c:v>
                </c:pt>
                <c:pt idx="32">
                  <c:v>44175.666666666664</c:v>
                </c:pt>
                <c:pt idx="33">
                  <c:v>44175.833333333336</c:v>
                </c:pt>
                <c:pt idx="34">
                  <c:v>44176</c:v>
                </c:pt>
                <c:pt idx="35">
                  <c:v>44176.166666666664</c:v>
                </c:pt>
                <c:pt idx="36">
                  <c:v>44176.333333333336</c:v>
                </c:pt>
                <c:pt idx="37">
                  <c:v>44176.5</c:v>
                </c:pt>
                <c:pt idx="38">
                  <c:v>44176.666666666664</c:v>
                </c:pt>
                <c:pt idx="39">
                  <c:v>44176.833333333336</c:v>
                </c:pt>
                <c:pt idx="40">
                  <c:v>44177</c:v>
                </c:pt>
                <c:pt idx="41">
                  <c:v>44177.166666666664</c:v>
                </c:pt>
                <c:pt idx="42">
                  <c:v>44177.333333333336</c:v>
                </c:pt>
              </c:numCache>
            </c:numRef>
          </c:xVal>
          <c:yVal>
            <c:numRef>
              <c:f>Sheet1!$E$2:$E$44</c:f>
              <c:numCache>
                <c:formatCode>General</c:formatCode>
                <c:ptCount val="43"/>
                <c:pt idx="1">
                  <c:v>4</c:v>
                </c:pt>
                <c:pt idx="8">
                  <c:v>4</c:v>
                </c:pt>
                <c:pt idx="14">
                  <c:v>4</c:v>
                </c:pt>
                <c:pt idx="19">
                  <c:v>4</c:v>
                </c:pt>
                <c:pt idx="26">
                  <c:v>4</c:v>
                </c:pt>
                <c:pt idx="33">
                  <c:v>4</c:v>
                </c:pt>
                <c:pt idx="38">
                  <c:v>4</c:v>
                </c:pt>
                <c:pt idx="42">
                  <c:v>4</c:v>
                </c:pt>
              </c:numCache>
            </c:numRef>
          </c:yVal>
          <c:smooth val="0"/>
          <c:extLst>
            <c:ext xmlns:c16="http://schemas.microsoft.com/office/drawing/2014/chart" uri="{C3380CC4-5D6E-409C-BE32-E72D297353CC}">
              <c16:uniqueId val="{00000003-5D74-2048-AE46-3FE414924893}"/>
            </c:ext>
          </c:extLst>
        </c:ser>
        <c:ser>
          <c:idx val="4"/>
          <c:order val="4"/>
          <c:tx>
            <c:strRef>
              <c:f>Sheet1!$F$1</c:f>
              <c:strCache>
                <c:ptCount val="1"/>
                <c:pt idx="0">
                  <c:v>E</c:v>
                </c:pt>
              </c:strCache>
            </c:strRef>
          </c:tx>
          <c:spPr>
            <a:ln w="19050" cap="rnd">
              <a:noFill/>
              <a:round/>
            </a:ln>
            <a:effectLst/>
          </c:spPr>
          <c:marker>
            <c:symbol val="circle"/>
            <c:size val="5"/>
            <c:spPr>
              <a:solidFill>
                <a:schemeClr val="accent5"/>
              </a:solidFill>
              <a:ln w="9525">
                <a:solidFill>
                  <a:schemeClr val="accent5"/>
                </a:solidFill>
              </a:ln>
              <a:effectLst/>
            </c:spPr>
          </c:marker>
          <c:xVal>
            <c:numRef>
              <c:f>Sheet1!$A$2:$A$44</c:f>
              <c:numCache>
                <c:formatCode>ddd</c:formatCode>
                <c:ptCount val="43"/>
                <c:pt idx="0">
                  <c:v>44170.333333333336</c:v>
                </c:pt>
                <c:pt idx="1">
                  <c:v>44170.5</c:v>
                </c:pt>
                <c:pt idx="2">
                  <c:v>44170.666666666664</c:v>
                </c:pt>
                <c:pt idx="3">
                  <c:v>44170.833333333336</c:v>
                </c:pt>
                <c:pt idx="4">
                  <c:v>44171</c:v>
                </c:pt>
                <c:pt idx="5">
                  <c:v>44171.166666666664</c:v>
                </c:pt>
                <c:pt idx="6">
                  <c:v>44171.333333333336</c:v>
                </c:pt>
                <c:pt idx="7">
                  <c:v>44171.5</c:v>
                </c:pt>
                <c:pt idx="8">
                  <c:v>44171.666666666664</c:v>
                </c:pt>
                <c:pt idx="9">
                  <c:v>44171.833333333336</c:v>
                </c:pt>
                <c:pt idx="10">
                  <c:v>44172</c:v>
                </c:pt>
                <c:pt idx="11">
                  <c:v>44172.166666666664</c:v>
                </c:pt>
                <c:pt idx="12">
                  <c:v>44172.333333333336</c:v>
                </c:pt>
                <c:pt idx="13">
                  <c:v>44172.5</c:v>
                </c:pt>
                <c:pt idx="14">
                  <c:v>44172.666666666664</c:v>
                </c:pt>
                <c:pt idx="15">
                  <c:v>44172.833333333336</c:v>
                </c:pt>
                <c:pt idx="16">
                  <c:v>44173</c:v>
                </c:pt>
                <c:pt idx="17">
                  <c:v>44173.166666666664</c:v>
                </c:pt>
                <c:pt idx="18">
                  <c:v>44173.333333333336</c:v>
                </c:pt>
                <c:pt idx="19">
                  <c:v>44173.5</c:v>
                </c:pt>
                <c:pt idx="20">
                  <c:v>44173.666666666664</c:v>
                </c:pt>
                <c:pt idx="21">
                  <c:v>44173.833333333336</c:v>
                </c:pt>
                <c:pt idx="22">
                  <c:v>44174</c:v>
                </c:pt>
                <c:pt idx="23">
                  <c:v>44174.166666666664</c:v>
                </c:pt>
                <c:pt idx="24">
                  <c:v>44174.333333333336</c:v>
                </c:pt>
                <c:pt idx="25">
                  <c:v>44174.5</c:v>
                </c:pt>
                <c:pt idx="26">
                  <c:v>44174.666666666664</c:v>
                </c:pt>
                <c:pt idx="27">
                  <c:v>44174.833333333336</c:v>
                </c:pt>
                <c:pt idx="28">
                  <c:v>44175</c:v>
                </c:pt>
                <c:pt idx="29">
                  <c:v>44175.166666666664</c:v>
                </c:pt>
                <c:pt idx="30">
                  <c:v>44175.333333333336</c:v>
                </c:pt>
                <c:pt idx="31">
                  <c:v>44175.5</c:v>
                </c:pt>
                <c:pt idx="32">
                  <c:v>44175.666666666664</c:v>
                </c:pt>
                <c:pt idx="33">
                  <c:v>44175.833333333336</c:v>
                </c:pt>
                <c:pt idx="34">
                  <c:v>44176</c:v>
                </c:pt>
                <c:pt idx="35">
                  <c:v>44176.166666666664</c:v>
                </c:pt>
                <c:pt idx="36">
                  <c:v>44176.333333333336</c:v>
                </c:pt>
                <c:pt idx="37">
                  <c:v>44176.5</c:v>
                </c:pt>
                <c:pt idx="38">
                  <c:v>44176.666666666664</c:v>
                </c:pt>
                <c:pt idx="39">
                  <c:v>44176.833333333336</c:v>
                </c:pt>
                <c:pt idx="40">
                  <c:v>44177</c:v>
                </c:pt>
                <c:pt idx="41">
                  <c:v>44177.166666666664</c:v>
                </c:pt>
                <c:pt idx="42">
                  <c:v>44177.333333333336</c:v>
                </c:pt>
              </c:numCache>
            </c:numRef>
          </c:xVal>
          <c:yVal>
            <c:numRef>
              <c:f>Sheet1!$F$2:$F$44</c:f>
              <c:numCache>
                <c:formatCode>General</c:formatCode>
                <c:ptCount val="43"/>
                <c:pt idx="1">
                  <c:v>5</c:v>
                </c:pt>
                <c:pt idx="3">
                  <c:v>5</c:v>
                </c:pt>
                <c:pt idx="6">
                  <c:v>5</c:v>
                </c:pt>
                <c:pt idx="8">
                  <c:v>5</c:v>
                </c:pt>
                <c:pt idx="11">
                  <c:v>5</c:v>
                </c:pt>
                <c:pt idx="14">
                  <c:v>5</c:v>
                </c:pt>
                <c:pt idx="17">
                  <c:v>5</c:v>
                </c:pt>
                <c:pt idx="20">
                  <c:v>5</c:v>
                </c:pt>
                <c:pt idx="23">
                  <c:v>5</c:v>
                </c:pt>
                <c:pt idx="27">
                  <c:v>5</c:v>
                </c:pt>
                <c:pt idx="30">
                  <c:v>5</c:v>
                </c:pt>
                <c:pt idx="33">
                  <c:v>5</c:v>
                </c:pt>
                <c:pt idx="37">
                  <c:v>5</c:v>
                </c:pt>
                <c:pt idx="42">
                  <c:v>5</c:v>
                </c:pt>
              </c:numCache>
            </c:numRef>
          </c:yVal>
          <c:smooth val="0"/>
          <c:extLst>
            <c:ext xmlns:c16="http://schemas.microsoft.com/office/drawing/2014/chart" uri="{C3380CC4-5D6E-409C-BE32-E72D297353CC}">
              <c16:uniqueId val="{00000004-5D74-2048-AE46-3FE414924893}"/>
            </c:ext>
          </c:extLst>
        </c:ser>
        <c:ser>
          <c:idx val="5"/>
          <c:order val="5"/>
          <c:tx>
            <c:strRef>
              <c:f>Sheet1!$G$1</c:f>
              <c:strCache>
                <c:ptCount val="1"/>
                <c:pt idx="0">
                  <c:v>F</c:v>
                </c:pt>
              </c:strCache>
            </c:strRef>
          </c:tx>
          <c:spPr>
            <a:ln w="19050" cap="rnd">
              <a:noFill/>
              <a:round/>
            </a:ln>
            <a:effectLst/>
          </c:spPr>
          <c:marker>
            <c:symbol val="circle"/>
            <c:size val="5"/>
            <c:spPr>
              <a:solidFill>
                <a:schemeClr val="accent6"/>
              </a:solidFill>
              <a:ln w="9525">
                <a:solidFill>
                  <a:schemeClr val="accent6"/>
                </a:solidFill>
              </a:ln>
              <a:effectLst/>
            </c:spPr>
          </c:marker>
          <c:xVal>
            <c:numRef>
              <c:f>Sheet1!$A$2:$A$44</c:f>
              <c:numCache>
                <c:formatCode>ddd</c:formatCode>
                <c:ptCount val="43"/>
                <c:pt idx="0">
                  <c:v>44170.333333333336</c:v>
                </c:pt>
                <c:pt idx="1">
                  <c:v>44170.5</c:v>
                </c:pt>
                <c:pt idx="2">
                  <c:v>44170.666666666664</c:v>
                </c:pt>
                <c:pt idx="3">
                  <c:v>44170.833333333336</c:v>
                </c:pt>
                <c:pt idx="4">
                  <c:v>44171</c:v>
                </c:pt>
                <c:pt idx="5">
                  <c:v>44171.166666666664</c:v>
                </c:pt>
                <c:pt idx="6">
                  <c:v>44171.333333333336</c:v>
                </c:pt>
                <c:pt idx="7">
                  <c:v>44171.5</c:v>
                </c:pt>
                <c:pt idx="8">
                  <c:v>44171.666666666664</c:v>
                </c:pt>
                <c:pt idx="9">
                  <c:v>44171.833333333336</c:v>
                </c:pt>
                <c:pt idx="10">
                  <c:v>44172</c:v>
                </c:pt>
                <c:pt idx="11">
                  <c:v>44172.166666666664</c:v>
                </c:pt>
                <c:pt idx="12">
                  <c:v>44172.333333333336</c:v>
                </c:pt>
                <c:pt idx="13">
                  <c:v>44172.5</c:v>
                </c:pt>
                <c:pt idx="14">
                  <c:v>44172.666666666664</c:v>
                </c:pt>
                <c:pt idx="15">
                  <c:v>44172.833333333336</c:v>
                </c:pt>
                <c:pt idx="16">
                  <c:v>44173</c:v>
                </c:pt>
                <c:pt idx="17">
                  <c:v>44173.166666666664</c:v>
                </c:pt>
                <c:pt idx="18">
                  <c:v>44173.333333333336</c:v>
                </c:pt>
                <c:pt idx="19">
                  <c:v>44173.5</c:v>
                </c:pt>
                <c:pt idx="20">
                  <c:v>44173.666666666664</c:v>
                </c:pt>
                <c:pt idx="21">
                  <c:v>44173.833333333336</c:v>
                </c:pt>
                <c:pt idx="22">
                  <c:v>44174</c:v>
                </c:pt>
                <c:pt idx="23">
                  <c:v>44174.166666666664</c:v>
                </c:pt>
                <c:pt idx="24">
                  <c:v>44174.333333333336</c:v>
                </c:pt>
                <c:pt idx="25">
                  <c:v>44174.5</c:v>
                </c:pt>
                <c:pt idx="26">
                  <c:v>44174.666666666664</c:v>
                </c:pt>
                <c:pt idx="27">
                  <c:v>44174.833333333336</c:v>
                </c:pt>
                <c:pt idx="28">
                  <c:v>44175</c:v>
                </c:pt>
                <c:pt idx="29">
                  <c:v>44175.166666666664</c:v>
                </c:pt>
                <c:pt idx="30">
                  <c:v>44175.333333333336</c:v>
                </c:pt>
                <c:pt idx="31">
                  <c:v>44175.5</c:v>
                </c:pt>
                <c:pt idx="32">
                  <c:v>44175.666666666664</c:v>
                </c:pt>
                <c:pt idx="33">
                  <c:v>44175.833333333336</c:v>
                </c:pt>
                <c:pt idx="34">
                  <c:v>44176</c:v>
                </c:pt>
                <c:pt idx="35">
                  <c:v>44176.166666666664</c:v>
                </c:pt>
                <c:pt idx="36">
                  <c:v>44176.333333333336</c:v>
                </c:pt>
                <c:pt idx="37">
                  <c:v>44176.5</c:v>
                </c:pt>
                <c:pt idx="38">
                  <c:v>44176.666666666664</c:v>
                </c:pt>
                <c:pt idx="39">
                  <c:v>44176.833333333336</c:v>
                </c:pt>
                <c:pt idx="40">
                  <c:v>44177</c:v>
                </c:pt>
                <c:pt idx="41">
                  <c:v>44177.166666666664</c:v>
                </c:pt>
                <c:pt idx="42">
                  <c:v>44177.333333333336</c:v>
                </c:pt>
              </c:numCache>
            </c:numRef>
          </c:xVal>
          <c:yVal>
            <c:numRef>
              <c:f>Sheet1!$G$2:$G$44</c:f>
              <c:numCache>
                <c:formatCode>General</c:formatCode>
                <c:ptCount val="43"/>
                <c:pt idx="0">
                  <c:v>6</c:v>
                </c:pt>
                <c:pt idx="2">
                  <c:v>6</c:v>
                </c:pt>
                <c:pt idx="3">
                  <c:v>6</c:v>
                </c:pt>
                <c:pt idx="5">
                  <c:v>6</c:v>
                </c:pt>
                <c:pt idx="7">
                  <c:v>6</c:v>
                </c:pt>
                <c:pt idx="9">
                  <c:v>6</c:v>
                </c:pt>
                <c:pt idx="10">
                  <c:v>6</c:v>
                </c:pt>
                <c:pt idx="12">
                  <c:v>6</c:v>
                </c:pt>
                <c:pt idx="14">
                  <c:v>6</c:v>
                </c:pt>
                <c:pt idx="16">
                  <c:v>6</c:v>
                </c:pt>
                <c:pt idx="18">
                  <c:v>6</c:v>
                </c:pt>
                <c:pt idx="20">
                  <c:v>6</c:v>
                </c:pt>
                <c:pt idx="23">
                  <c:v>6</c:v>
                </c:pt>
                <c:pt idx="25">
                  <c:v>6</c:v>
                </c:pt>
                <c:pt idx="27">
                  <c:v>6</c:v>
                </c:pt>
                <c:pt idx="29">
                  <c:v>6</c:v>
                </c:pt>
                <c:pt idx="31">
                  <c:v>6</c:v>
                </c:pt>
                <c:pt idx="33">
                  <c:v>6</c:v>
                </c:pt>
                <c:pt idx="35">
                  <c:v>6</c:v>
                </c:pt>
                <c:pt idx="37">
                  <c:v>6</c:v>
                </c:pt>
                <c:pt idx="39">
                  <c:v>6</c:v>
                </c:pt>
                <c:pt idx="41">
                  <c:v>6</c:v>
                </c:pt>
              </c:numCache>
            </c:numRef>
          </c:yVal>
          <c:smooth val="0"/>
          <c:extLst>
            <c:ext xmlns:c16="http://schemas.microsoft.com/office/drawing/2014/chart" uri="{C3380CC4-5D6E-409C-BE32-E72D297353CC}">
              <c16:uniqueId val="{00000005-5D74-2048-AE46-3FE414924893}"/>
            </c:ext>
          </c:extLst>
        </c:ser>
        <c:ser>
          <c:idx val="6"/>
          <c:order val="6"/>
          <c:tx>
            <c:strRef>
              <c:f>Sheet1!$H$1</c:f>
              <c:strCache>
                <c:ptCount val="1"/>
                <c:pt idx="0">
                  <c:v>G</c:v>
                </c:pt>
              </c:strCache>
            </c:strRef>
          </c:tx>
          <c:spPr>
            <a:ln w="19050" cap="rnd">
              <a:noFill/>
              <a:round/>
            </a:ln>
            <a:effectLst/>
          </c:spPr>
          <c:marker>
            <c:symbol val="circle"/>
            <c:size val="5"/>
            <c:spPr>
              <a:solidFill>
                <a:schemeClr val="accent1">
                  <a:lumMod val="60000"/>
                </a:schemeClr>
              </a:solidFill>
              <a:ln w="9525">
                <a:solidFill>
                  <a:schemeClr val="accent1">
                    <a:lumMod val="60000"/>
                  </a:schemeClr>
                </a:solidFill>
              </a:ln>
              <a:effectLst/>
            </c:spPr>
          </c:marker>
          <c:xVal>
            <c:numRef>
              <c:f>Sheet1!$A$2:$A$44</c:f>
              <c:numCache>
                <c:formatCode>ddd</c:formatCode>
                <c:ptCount val="43"/>
                <c:pt idx="0">
                  <c:v>44170.333333333336</c:v>
                </c:pt>
                <c:pt idx="1">
                  <c:v>44170.5</c:v>
                </c:pt>
                <c:pt idx="2">
                  <c:v>44170.666666666664</c:v>
                </c:pt>
                <c:pt idx="3">
                  <c:v>44170.833333333336</c:v>
                </c:pt>
                <c:pt idx="4">
                  <c:v>44171</c:v>
                </c:pt>
                <c:pt idx="5">
                  <c:v>44171.166666666664</c:v>
                </c:pt>
                <c:pt idx="6">
                  <c:v>44171.333333333336</c:v>
                </c:pt>
                <c:pt idx="7">
                  <c:v>44171.5</c:v>
                </c:pt>
                <c:pt idx="8">
                  <c:v>44171.666666666664</c:v>
                </c:pt>
                <c:pt idx="9">
                  <c:v>44171.833333333336</c:v>
                </c:pt>
                <c:pt idx="10">
                  <c:v>44172</c:v>
                </c:pt>
                <c:pt idx="11">
                  <c:v>44172.166666666664</c:v>
                </c:pt>
                <c:pt idx="12">
                  <c:v>44172.333333333336</c:v>
                </c:pt>
                <c:pt idx="13">
                  <c:v>44172.5</c:v>
                </c:pt>
                <c:pt idx="14">
                  <c:v>44172.666666666664</c:v>
                </c:pt>
                <c:pt idx="15">
                  <c:v>44172.833333333336</c:v>
                </c:pt>
                <c:pt idx="16">
                  <c:v>44173</c:v>
                </c:pt>
                <c:pt idx="17">
                  <c:v>44173.166666666664</c:v>
                </c:pt>
                <c:pt idx="18">
                  <c:v>44173.333333333336</c:v>
                </c:pt>
                <c:pt idx="19">
                  <c:v>44173.5</c:v>
                </c:pt>
                <c:pt idx="20">
                  <c:v>44173.666666666664</c:v>
                </c:pt>
                <c:pt idx="21">
                  <c:v>44173.833333333336</c:v>
                </c:pt>
                <c:pt idx="22">
                  <c:v>44174</c:v>
                </c:pt>
                <c:pt idx="23">
                  <c:v>44174.166666666664</c:v>
                </c:pt>
                <c:pt idx="24">
                  <c:v>44174.333333333336</c:v>
                </c:pt>
                <c:pt idx="25">
                  <c:v>44174.5</c:v>
                </c:pt>
                <c:pt idx="26">
                  <c:v>44174.666666666664</c:v>
                </c:pt>
                <c:pt idx="27">
                  <c:v>44174.833333333336</c:v>
                </c:pt>
                <c:pt idx="28">
                  <c:v>44175</c:v>
                </c:pt>
                <c:pt idx="29">
                  <c:v>44175.166666666664</c:v>
                </c:pt>
                <c:pt idx="30">
                  <c:v>44175.333333333336</c:v>
                </c:pt>
                <c:pt idx="31">
                  <c:v>44175.5</c:v>
                </c:pt>
                <c:pt idx="32">
                  <c:v>44175.666666666664</c:v>
                </c:pt>
                <c:pt idx="33">
                  <c:v>44175.833333333336</c:v>
                </c:pt>
                <c:pt idx="34">
                  <c:v>44176</c:v>
                </c:pt>
                <c:pt idx="35">
                  <c:v>44176.166666666664</c:v>
                </c:pt>
                <c:pt idx="36">
                  <c:v>44176.333333333336</c:v>
                </c:pt>
                <c:pt idx="37">
                  <c:v>44176.5</c:v>
                </c:pt>
                <c:pt idx="38">
                  <c:v>44176.666666666664</c:v>
                </c:pt>
                <c:pt idx="39">
                  <c:v>44176.833333333336</c:v>
                </c:pt>
                <c:pt idx="40">
                  <c:v>44177</c:v>
                </c:pt>
                <c:pt idx="41">
                  <c:v>44177.166666666664</c:v>
                </c:pt>
                <c:pt idx="42">
                  <c:v>44177.333333333336</c:v>
                </c:pt>
              </c:numCache>
            </c:numRef>
          </c:xVal>
          <c:yVal>
            <c:numRef>
              <c:f>Sheet1!$H$2:$H$44</c:f>
              <c:numCache>
                <c:formatCode>General</c:formatCode>
                <c:ptCount val="43"/>
                <c:pt idx="0">
                  <c:v>7</c:v>
                </c:pt>
                <c:pt idx="1">
                  <c:v>7</c:v>
                </c:pt>
                <c:pt idx="2">
                  <c:v>7</c:v>
                </c:pt>
                <c:pt idx="4">
                  <c:v>7</c:v>
                </c:pt>
                <c:pt idx="5">
                  <c:v>7</c:v>
                </c:pt>
                <c:pt idx="7">
                  <c:v>7</c:v>
                </c:pt>
                <c:pt idx="9">
                  <c:v>7</c:v>
                </c:pt>
                <c:pt idx="10">
                  <c:v>7</c:v>
                </c:pt>
                <c:pt idx="11">
                  <c:v>7</c:v>
                </c:pt>
                <c:pt idx="13">
                  <c:v>7</c:v>
                </c:pt>
                <c:pt idx="14">
                  <c:v>7</c:v>
                </c:pt>
                <c:pt idx="15">
                  <c:v>7</c:v>
                </c:pt>
                <c:pt idx="16">
                  <c:v>7</c:v>
                </c:pt>
                <c:pt idx="18">
                  <c:v>7</c:v>
                </c:pt>
                <c:pt idx="19">
                  <c:v>7</c:v>
                </c:pt>
                <c:pt idx="20">
                  <c:v>7</c:v>
                </c:pt>
                <c:pt idx="21">
                  <c:v>7</c:v>
                </c:pt>
                <c:pt idx="23">
                  <c:v>7</c:v>
                </c:pt>
                <c:pt idx="24">
                  <c:v>7</c:v>
                </c:pt>
                <c:pt idx="25">
                  <c:v>7</c:v>
                </c:pt>
                <c:pt idx="26">
                  <c:v>7</c:v>
                </c:pt>
                <c:pt idx="27">
                  <c:v>7</c:v>
                </c:pt>
                <c:pt idx="28">
                  <c:v>7</c:v>
                </c:pt>
                <c:pt idx="30">
                  <c:v>7</c:v>
                </c:pt>
                <c:pt idx="31">
                  <c:v>7</c:v>
                </c:pt>
                <c:pt idx="32">
                  <c:v>7</c:v>
                </c:pt>
                <c:pt idx="35">
                  <c:v>7</c:v>
                </c:pt>
                <c:pt idx="36">
                  <c:v>7</c:v>
                </c:pt>
                <c:pt idx="37">
                  <c:v>7</c:v>
                </c:pt>
                <c:pt idx="39">
                  <c:v>7</c:v>
                </c:pt>
                <c:pt idx="40">
                  <c:v>7</c:v>
                </c:pt>
                <c:pt idx="42">
                  <c:v>7</c:v>
                </c:pt>
              </c:numCache>
            </c:numRef>
          </c:yVal>
          <c:smooth val="0"/>
          <c:extLst>
            <c:ext xmlns:c16="http://schemas.microsoft.com/office/drawing/2014/chart" uri="{C3380CC4-5D6E-409C-BE32-E72D297353CC}">
              <c16:uniqueId val="{00000006-5D74-2048-AE46-3FE414924893}"/>
            </c:ext>
          </c:extLst>
        </c:ser>
        <c:dLbls>
          <c:showLegendKey val="0"/>
          <c:showVal val="0"/>
          <c:showCatName val="0"/>
          <c:showSerName val="0"/>
          <c:showPercent val="0"/>
          <c:showBubbleSize val="0"/>
        </c:dLbls>
        <c:axId val="1154152608"/>
        <c:axId val="1153959776"/>
      </c:scatterChart>
      <c:valAx>
        <c:axId val="1154152608"/>
        <c:scaling>
          <c:orientation val="minMax"/>
          <c:max val="44177.5"/>
          <c:min val="44170"/>
        </c:scaling>
        <c:delete val="0"/>
        <c:axPos val="b"/>
        <c:majorGridlines>
          <c:spPr>
            <a:ln w="25400" cap="flat" cmpd="sng" algn="ctr">
              <a:solidFill>
                <a:schemeClr val="tx1">
                  <a:lumMod val="15000"/>
                  <a:lumOff val="85000"/>
                </a:schemeClr>
              </a:solidFill>
              <a:prstDash val="sysDash"/>
              <a:round/>
            </a:ln>
            <a:effectLst/>
          </c:spPr>
        </c:majorGridlines>
        <c:numFmt formatCode="ddd" sourceLinked="1"/>
        <c:majorTickMark val="none"/>
        <c:minorTickMark val="none"/>
        <c:tickLblPos val="low"/>
        <c:spPr>
          <a:noFill/>
          <a:ln w="9525" cap="flat" cmpd="sng" algn="ctr">
            <a:solidFill>
              <a:schemeClr val="tx1">
                <a:lumMod val="25000"/>
                <a:lumOff val="75000"/>
              </a:schemeClr>
            </a:solidFill>
            <a:round/>
          </a:ln>
          <a:effectLst/>
        </c:spPr>
        <c:txPr>
          <a:bodyPr rot="-2700000" spcFirstLastPara="1" vertOverflow="ellipsis" wrap="square" anchor="ctr" anchorCtr="0"/>
          <a:lstStyle/>
          <a:p>
            <a:pPr>
              <a:defRPr sz="1400" b="1" i="0" u="none" strike="noStrike" kern="1200" baseline="0">
                <a:solidFill>
                  <a:schemeClr val="tx1">
                    <a:lumMod val="65000"/>
                    <a:lumOff val="35000"/>
                  </a:schemeClr>
                </a:solidFill>
                <a:latin typeface="Quadraat" panose="02000503060000090004" pitchFamily="2" charset="0"/>
                <a:ea typeface="+mn-ea"/>
                <a:cs typeface="+mn-cs"/>
              </a:defRPr>
            </a:pPr>
            <a:endParaRPr lang="en-US"/>
          </a:p>
        </c:txPr>
        <c:crossAx val="1153959776"/>
        <c:crosses val="autoZero"/>
        <c:crossBetween val="midCat"/>
        <c:minorUnit val="0.5"/>
      </c:valAx>
      <c:valAx>
        <c:axId val="1153959776"/>
        <c:scaling>
          <c:orientation val="minMax"/>
          <c:max val="7.5"/>
          <c:min val="0"/>
        </c:scaling>
        <c:delete val="0"/>
        <c:axPos val="l"/>
        <c:numFmt formatCode="&quot;Patient&quot;\ #" sourceLinked="0"/>
        <c:majorTickMark val="none"/>
        <c:minorTickMark val="none"/>
        <c:tickLblPos val="nextTo"/>
        <c:spPr>
          <a:noFill/>
          <a:ln w="9525" cap="flat" cmpd="sng" algn="ctr">
            <a:solidFill>
              <a:schemeClr val="tx1">
                <a:lumMod val="25000"/>
                <a:lumOff val="75000"/>
              </a:schemeClr>
            </a:solidFill>
            <a:round/>
          </a:ln>
          <a:effectLst/>
        </c:spPr>
        <c:txPr>
          <a:bodyPr rot="0" spcFirstLastPara="1" vertOverflow="ellipsis" wrap="square" anchor="ctr" anchorCtr="0"/>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154152608"/>
        <c:crosses val="autoZero"/>
        <c:crossBetween val="midCat"/>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0.96031</cdr:x>
      <cdr:y>0.08326</cdr:y>
    </cdr:from>
    <cdr:to>
      <cdr:x>0.98552</cdr:x>
      <cdr:y>0.81048</cdr:y>
    </cdr:to>
    <cdr:sp macro="" textlink="">
      <cdr:nvSpPr>
        <cdr:cNvPr id="2" name="TextBox 1">
          <a:extLst xmlns:a="http://schemas.openxmlformats.org/drawingml/2006/main">
            <a:ext uri="{FF2B5EF4-FFF2-40B4-BE49-F238E27FC236}">
              <a16:creationId xmlns:a16="http://schemas.microsoft.com/office/drawing/2014/main" id="{4E2744C0-2BF3-7F44-A5DF-09E249601E6D}"/>
            </a:ext>
          </a:extLst>
        </cdr:cNvPr>
        <cdr:cNvSpPr txBox="1"/>
      </cdr:nvSpPr>
      <cdr:spPr>
        <a:xfrm xmlns:a="http://schemas.openxmlformats.org/drawingml/2006/main">
          <a:off x="7495594" y="234503"/>
          <a:ext cx="196760" cy="2048099"/>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0.02001</cdr:x>
      <cdr:y>0.78311</cdr:y>
    </cdr:from>
    <cdr:to>
      <cdr:x>0.09651</cdr:x>
      <cdr:y>0.87178</cdr:y>
    </cdr:to>
    <cdr:sp macro="" textlink="">
      <cdr:nvSpPr>
        <cdr:cNvPr id="3" name="Rectangle 2">
          <a:extLst xmlns:a="http://schemas.openxmlformats.org/drawingml/2006/main">
            <a:ext uri="{FF2B5EF4-FFF2-40B4-BE49-F238E27FC236}">
              <a16:creationId xmlns:a16="http://schemas.microsoft.com/office/drawing/2014/main" id="{0EFB08A6-3DC6-E64D-A111-4348BDDBE818}"/>
            </a:ext>
          </a:extLst>
        </cdr:cNvPr>
        <cdr:cNvSpPr/>
      </cdr:nvSpPr>
      <cdr:spPr>
        <a:xfrm xmlns:a="http://schemas.openxmlformats.org/drawingml/2006/main">
          <a:off x="164855" y="2393202"/>
          <a:ext cx="630194" cy="270979"/>
        </a:xfrm>
        <a:prstGeom xmlns:a="http://schemas.openxmlformats.org/drawingml/2006/main" prst="rect">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userShapes>
</file>

<file path=ppt/drawings/drawing2.xml><?xml version="1.0" encoding="utf-8"?>
<c:userShapes xmlns:c="http://schemas.openxmlformats.org/drawingml/2006/chart">
  <cdr:relSizeAnchor xmlns:cdr="http://schemas.openxmlformats.org/drawingml/2006/chartDrawing">
    <cdr:from>
      <cdr:x>0.96031</cdr:x>
      <cdr:y>0.08326</cdr:y>
    </cdr:from>
    <cdr:to>
      <cdr:x>0.98552</cdr:x>
      <cdr:y>0.81048</cdr:y>
    </cdr:to>
    <cdr:sp macro="" textlink="">
      <cdr:nvSpPr>
        <cdr:cNvPr id="2" name="TextBox 1">
          <a:extLst xmlns:a="http://schemas.openxmlformats.org/drawingml/2006/main">
            <a:ext uri="{FF2B5EF4-FFF2-40B4-BE49-F238E27FC236}">
              <a16:creationId xmlns:a16="http://schemas.microsoft.com/office/drawing/2014/main" id="{4E2744C0-2BF3-7F44-A5DF-09E249601E6D}"/>
            </a:ext>
          </a:extLst>
        </cdr:cNvPr>
        <cdr:cNvSpPr txBox="1"/>
      </cdr:nvSpPr>
      <cdr:spPr>
        <a:xfrm xmlns:a="http://schemas.openxmlformats.org/drawingml/2006/main">
          <a:off x="7495594" y="234503"/>
          <a:ext cx="196760" cy="2048099"/>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0.02001</cdr:x>
      <cdr:y>0.78311</cdr:y>
    </cdr:from>
    <cdr:to>
      <cdr:x>0.09651</cdr:x>
      <cdr:y>0.87178</cdr:y>
    </cdr:to>
    <cdr:sp macro="" textlink="">
      <cdr:nvSpPr>
        <cdr:cNvPr id="3" name="Rectangle 2">
          <a:extLst xmlns:a="http://schemas.openxmlformats.org/drawingml/2006/main">
            <a:ext uri="{FF2B5EF4-FFF2-40B4-BE49-F238E27FC236}">
              <a16:creationId xmlns:a16="http://schemas.microsoft.com/office/drawing/2014/main" id="{0EFB08A6-3DC6-E64D-A111-4348BDDBE818}"/>
            </a:ext>
          </a:extLst>
        </cdr:cNvPr>
        <cdr:cNvSpPr/>
      </cdr:nvSpPr>
      <cdr:spPr>
        <a:xfrm xmlns:a="http://schemas.openxmlformats.org/drawingml/2006/main">
          <a:off x="164855" y="2393202"/>
          <a:ext cx="630194" cy="270979"/>
        </a:xfrm>
        <a:prstGeom xmlns:a="http://schemas.openxmlformats.org/drawingml/2006/main" prst="rect">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C1DCDD-6ABA-0241-8B8C-16FA66EF7C47}" type="datetimeFigureOut">
              <a:rPr lang="en-US" smtClean="0"/>
              <a:t>12/13/20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883795-447A-E24B-9EF1-CB6058244828}" type="slidenum">
              <a:rPr lang="en-US" smtClean="0"/>
              <a:t>‹#›</a:t>
            </a:fld>
            <a:endParaRPr lang="en-US"/>
          </a:p>
        </p:txBody>
      </p:sp>
    </p:spTree>
    <p:extLst>
      <p:ext uri="{BB962C8B-B14F-4D97-AF65-F5344CB8AC3E}">
        <p14:creationId xmlns:p14="http://schemas.microsoft.com/office/powerpoint/2010/main" val="3082243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883795-447A-E24B-9EF1-CB6058244828}" type="slidenum">
              <a:rPr lang="en-US" smtClean="0"/>
              <a:t>2</a:t>
            </a:fld>
            <a:endParaRPr lang="en-US"/>
          </a:p>
        </p:txBody>
      </p:sp>
    </p:spTree>
    <p:extLst>
      <p:ext uri="{BB962C8B-B14F-4D97-AF65-F5344CB8AC3E}">
        <p14:creationId xmlns:p14="http://schemas.microsoft.com/office/powerpoint/2010/main" val="1219817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Ileal enterocytes absorb bile acid through a receptor-mediated process [ileal bile acid transporter (IBAT)]. Intracellular bile acids activate </a:t>
            </a:r>
            <a:r>
              <a:rPr lang="en-US" sz="1200" b="0" kern="1200" dirty="0" err="1">
                <a:solidFill>
                  <a:schemeClr val="tx1"/>
                </a:solidFill>
                <a:effectLst/>
                <a:latin typeface="+mn-lt"/>
                <a:ea typeface="+mn-ea"/>
                <a:cs typeface="+mn-cs"/>
              </a:rPr>
              <a:t>farnesoid</a:t>
            </a:r>
            <a:r>
              <a:rPr lang="en-US" sz="1200" b="0" kern="1200" dirty="0">
                <a:solidFill>
                  <a:schemeClr val="tx1"/>
                </a:solidFill>
                <a:effectLst/>
                <a:latin typeface="+mn-lt"/>
                <a:ea typeface="+mn-ea"/>
                <a:cs typeface="+mn-cs"/>
              </a:rPr>
              <a:t>-</a:t>
            </a:r>
            <a:r>
              <a:rPr lang="el-GR" sz="1200" kern="1200" dirty="0">
                <a:solidFill>
                  <a:schemeClr val="tx1"/>
                </a:solidFill>
                <a:effectLst/>
                <a:latin typeface="+mn-lt"/>
                <a:ea typeface="+mn-ea"/>
                <a:cs typeface="+mn-cs"/>
              </a:rPr>
              <a:t>γ </a:t>
            </a:r>
            <a:r>
              <a:rPr lang="en-US" sz="1200" b="0" kern="1200" dirty="0">
                <a:solidFill>
                  <a:schemeClr val="tx1"/>
                </a:solidFill>
                <a:effectLst/>
                <a:latin typeface="+mn-lt"/>
                <a:ea typeface="+mn-ea"/>
                <a:cs typeface="+mn-cs"/>
              </a:rPr>
              <a:t>receptor to increase FGF-19 synthesis. FGF-19 in portal circulation downregulates hepatocyte bile acid synthesis. Disorders of FGF-19 synthesis by ileal enterocytes or genetic variations of FGFR4 or </a:t>
            </a:r>
            <a:r>
              <a:rPr lang="el-GR" sz="1200" kern="1200" dirty="0">
                <a:solidFill>
                  <a:schemeClr val="tx1"/>
                </a:solidFill>
                <a:effectLst/>
                <a:latin typeface="+mn-lt"/>
                <a:ea typeface="+mn-ea"/>
                <a:cs typeface="+mn-cs"/>
              </a:rPr>
              <a:t>β</a:t>
            </a:r>
            <a:r>
              <a:rPr lang="el-GR" sz="1200" b="0"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klotho result in excess bile acid concentration in the colon, resulting in activation of the G-protein coupled bile acid receptor 1 (GPBAR1) with enteroendocrine cell stimulation [(e.g. release of 5-hydroxytryptamine (5-HT)] and stimulation of colonic motility with acceleration of colonic transit, activation of visceral sensation and fluid secretion (through increased intracellular cAMP, increased mucosal permeability or chloride ion secretion). Gene variation in GPBAR1 is associated with increased colonic transit in IBS-D. </a:t>
            </a:r>
            <a:endParaRPr lang="en-US" dirty="0"/>
          </a:p>
        </p:txBody>
      </p:sp>
      <p:sp>
        <p:nvSpPr>
          <p:cNvPr id="4" name="Slide Number Placeholder 3"/>
          <p:cNvSpPr>
            <a:spLocks noGrp="1"/>
          </p:cNvSpPr>
          <p:nvPr>
            <p:ph type="sldNum" sz="quarter" idx="5"/>
          </p:nvPr>
        </p:nvSpPr>
        <p:spPr/>
        <p:txBody>
          <a:bodyPr/>
          <a:lstStyle/>
          <a:p>
            <a:fld id="{8F883795-447A-E24B-9EF1-CB6058244828}" type="slidenum">
              <a:rPr lang="en-US" smtClean="0"/>
              <a:t>56</a:t>
            </a:fld>
            <a:endParaRPr lang="en-US"/>
          </a:p>
        </p:txBody>
      </p:sp>
    </p:spTree>
    <p:extLst>
      <p:ext uri="{BB962C8B-B14F-4D97-AF65-F5344CB8AC3E}">
        <p14:creationId xmlns:p14="http://schemas.microsoft.com/office/powerpoint/2010/main" val="3306485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5559A-3F85-A84E-90EB-DBB7766318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C281E62-AC49-0840-B165-C27C5B96C4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535BF7-F2B6-BC43-A24B-1C393DFE545E}"/>
              </a:ext>
            </a:extLst>
          </p:cNvPr>
          <p:cNvSpPr>
            <a:spLocks noGrp="1"/>
          </p:cNvSpPr>
          <p:nvPr>
            <p:ph type="dt" sz="half" idx="10"/>
          </p:nvPr>
        </p:nvSpPr>
        <p:spPr/>
        <p:txBody>
          <a:bodyPr/>
          <a:lstStyle/>
          <a:p>
            <a:fld id="{8658D1D9-E75C-484B-83BA-A38C3D0ED8DE}" type="datetimeFigureOut">
              <a:rPr lang="en-US" smtClean="0"/>
              <a:t>12/13/20</a:t>
            </a:fld>
            <a:endParaRPr lang="en-US"/>
          </a:p>
        </p:txBody>
      </p:sp>
      <p:sp>
        <p:nvSpPr>
          <p:cNvPr id="5" name="Footer Placeholder 4">
            <a:extLst>
              <a:ext uri="{FF2B5EF4-FFF2-40B4-BE49-F238E27FC236}">
                <a16:creationId xmlns:a16="http://schemas.microsoft.com/office/drawing/2014/main" id="{E3F01B5C-7826-BC44-9DE4-F9C13560CA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6BCC44-67DB-2D46-9D47-1C4C3AF539B2}"/>
              </a:ext>
            </a:extLst>
          </p:cNvPr>
          <p:cNvSpPr>
            <a:spLocks noGrp="1"/>
          </p:cNvSpPr>
          <p:nvPr>
            <p:ph type="sldNum" sz="quarter" idx="12"/>
          </p:nvPr>
        </p:nvSpPr>
        <p:spPr/>
        <p:txBody>
          <a:bodyPr/>
          <a:lstStyle/>
          <a:p>
            <a:fld id="{C2F5BA18-BC2D-9245-A5C7-CA505A2C2592}" type="slidenum">
              <a:rPr lang="en-US" smtClean="0"/>
              <a:t>‹#›</a:t>
            </a:fld>
            <a:endParaRPr lang="en-US"/>
          </a:p>
        </p:txBody>
      </p:sp>
    </p:spTree>
    <p:extLst>
      <p:ext uri="{BB962C8B-B14F-4D97-AF65-F5344CB8AC3E}">
        <p14:creationId xmlns:p14="http://schemas.microsoft.com/office/powerpoint/2010/main" val="2904324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BD115-1324-5D42-8EB3-31D6E2A772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8B56AC-86C3-7341-A384-F7AA6004859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8D18FB9-27FD-BC42-8F09-48DD82DA5EAC}"/>
              </a:ext>
            </a:extLst>
          </p:cNvPr>
          <p:cNvSpPr>
            <a:spLocks noGrp="1"/>
          </p:cNvSpPr>
          <p:nvPr>
            <p:ph type="dt" sz="half" idx="10"/>
          </p:nvPr>
        </p:nvSpPr>
        <p:spPr/>
        <p:txBody>
          <a:bodyPr/>
          <a:lstStyle/>
          <a:p>
            <a:fld id="{8658D1D9-E75C-484B-83BA-A38C3D0ED8DE}" type="datetimeFigureOut">
              <a:rPr lang="en-US" smtClean="0"/>
              <a:t>12/13/20</a:t>
            </a:fld>
            <a:endParaRPr lang="en-US"/>
          </a:p>
        </p:txBody>
      </p:sp>
      <p:sp>
        <p:nvSpPr>
          <p:cNvPr id="5" name="Footer Placeholder 4">
            <a:extLst>
              <a:ext uri="{FF2B5EF4-FFF2-40B4-BE49-F238E27FC236}">
                <a16:creationId xmlns:a16="http://schemas.microsoft.com/office/drawing/2014/main" id="{9A89A982-A7AC-CB48-A6DB-737A72097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C8394A-2EC3-214D-AA9F-9F56316F0411}"/>
              </a:ext>
            </a:extLst>
          </p:cNvPr>
          <p:cNvSpPr>
            <a:spLocks noGrp="1"/>
          </p:cNvSpPr>
          <p:nvPr>
            <p:ph type="sldNum" sz="quarter" idx="12"/>
          </p:nvPr>
        </p:nvSpPr>
        <p:spPr/>
        <p:txBody>
          <a:bodyPr/>
          <a:lstStyle/>
          <a:p>
            <a:fld id="{C2F5BA18-BC2D-9245-A5C7-CA505A2C2592}" type="slidenum">
              <a:rPr lang="en-US" smtClean="0"/>
              <a:t>‹#›</a:t>
            </a:fld>
            <a:endParaRPr lang="en-US"/>
          </a:p>
        </p:txBody>
      </p:sp>
    </p:spTree>
    <p:extLst>
      <p:ext uri="{BB962C8B-B14F-4D97-AF65-F5344CB8AC3E}">
        <p14:creationId xmlns:p14="http://schemas.microsoft.com/office/powerpoint/2010/main" val="1445030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C74BD-287A-B747-AB09-BD119F75AB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D649E5-3F11-1742-ADCD-8E3CC98E5E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9B42A5-EE0B-8D4B-84EB-751718EB1BCE}"/>
              </a:ext>
            </a:extLst>
          </p:cNvPr>
          <p:cNvSpPr>
            <a:spLocks noGrp="1"/>
          </p:cNvSpPr>
          <p:nvPr>
            <p:ph type="dt" sz="half" idx="10"/>
          </p:nvPr>
        </p:nvSpPr>
        <p:spPr/>
        <p:txBody>
          <a:bodyPr/>
          <a:lstStyle/>
          <a:p>
            <a:fld id="{8658D1D9-E75C-484B-83BA-A38C3D0ED8DE}" type="datetimeFigureOut">
              <a:rPr lang="en-US" smtClean="0"/>
              <a:t>12/13/20</a:t>
            </a:fld>
            <a:endParaRPr lang="en-US"/>
          </a:p>
        </p:txBody>
      </p:sp>
      <p:sp>
        <p:nvSpPr>
          <p:cNvPr id="5" name="Footer Placeholder 4">
            <a:extLst>
              <a:ext uri="{FF2B5EF4-FFF2-40B4-BE49-F238E27FC236}">
                <a16:creationId xmlns:a16="http://schemas.microsoft.com/office/drawing/2014/main" id="{4B3DD2F3-AE0D-184E-A616-540F74832E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3A73E1-9C43-DE42-A534-045178AC55F5}"/>
              </a:ext>
            </a:extLst>
          </p:cNvPr>
          <p:cNvSpPr>
            <a:spLocks noGrp="1"/>
          </p:cNvSpPr>
          <p:nvPr>
            <p:ph type="sldNum" sz="quarter" idx="12"/>
          </p:nvPr>
        </p:nvSpPr>
        <p:spPr/>
        <p:txBody>
          <a:bodyPr/>
          <a:lstStyle/>
          <a:p>
            <a:fld id="{C2F5BA18-BC2D-9245-A5C7-CA505A2C2592}" type="slidenum">
              <a:rPr lang="en-US" smtClean="0"/>
              <a:t>‹#›</a:t>
            </a:fld>
            <a:endParaRPr lang="en-US"/>
          </a:p>
        </p:txBody>
      </p:sp>
    </p:spTree>
    <p:extLst>
      <p:ext uri="{BB962C8B-B14F-4D97-AF65-F5344CB8AC3E}">
        <p14:creationId xmlns:p14="http://schemas.microsoft.com/office/powerpoint/2010/main" val="1905901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26174-A34B-B449-A64D-2E1CF8423D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035200-6726-D04D-8E55-AD108FCBB8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AFBB71-AE93-2849-9B77-2140DDA889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A0D99E-8ABF-2241-8F9E-9ECCC6D05D35}"/>
              </a:ext>
            </a:extLst>
          </p:cNvPr>
          <p:cNvSpPr>
            <a:spLocks noGrp="1"/>
          </p:cNvSpPr>
          <p:nvPr>
            <p:ph type="dt" sz="half" idx="10"/>
          </p:nvPr>
        </p:nvSpPr>
        <p:spPr/>
        <p:txBody>
          <a:bodyPr/>
          <a:lstStyle/>
          <a:p>
            <a:fld id="{8658D1D9-E75C-484B-83BA-A38C3D0ED8DE}" type="datetimeFigureOut">
              <a:rPr lang="en-US" smtClean="0"/>
              <a:t>12/13/20</a:t>
            </a:fld>
            <a:endParaRPr lang="en-US"/>
          </a:p>
        </p:txBody>
      </p:sp>
      <p:sp>
        <p:nvSpPr>
          <p:cNvPr id="6" name="Footer Placeholder 5">
            <a:extLst>
              <a:ext uri="{FF2B5EF4-FFF2-40B4-BE49-F238E27FC236}">
                <a16:creationId xmlns:a16="http://schemas.microsoft.com/office/drawing/2014/main" id="{964E9C63-3A31-DD4F-A173-3A8E354DCF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2BD3B8-BA05-E642-91F3-F302F5421184}"/>
              </a:ext>
            </a:extLst>
          </p:cNvPr>
          <p:cNvSpPr>
            <a:spLocks noGrp="1"/>
          </p:cNvSpPr>
          <p:nvPr>
            <p:ph type="sldNum" sz="quarter" idx="12"/>
          </p:nvPr>
        </p:nvSpPr>
        <p:spPr/>
        <p:txBody>
          <a:bodyPr/>
          <a:lstStyle/>
          <a:p>
            <a:fld id="{C2F5BA18-BC2D-9245-A5C7-CA505A2C2592}" type="slidenum">
              <a:rPr lang="en-US" smtClean="0"/>
              <a:t>‹#›</a:t>
            </a:fld>
            <a:endParaRPr lang="en-US"/>
          </a:p>
        </p:txBody>
      </p:sp>
    </p:spTree>
    <p:extLst>
      <p:ext uri="{BB962C8B-B14F-4D97-AF65-F5344CB8AC3E}">
        <p14:creationId xmlns:p14="http://schemas.microsoft.com/office/powerpoint/2010/main" val="3723474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8FD61-DB77-8246-8876-098BA6D252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D558EB-7B41-1849-8710-3C6CF41B8C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F8992A-0DE0-E44C-AA29-5AF88A4931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C3C9C7-4183-024B-AFCE-74AA219B7C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0CBAAF-9851-E34F-94CF-370EA9349F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F69C4F-149D-0A4F-A505-7ED382457119}"/>
              </a:ext>
            </a:extLst>
          </p:cNvPr>
          <p:cNvSpPr>
            <a:spLocks noGrp="1"/>
          </p:cNvSpPr>
          <p:nvPr>
            <p:ph type="dt" sz="half" idx="10"/>
          </p:nvPr>
        </p:nvSpPr>
        <p:spPr/>
        <p:txBody>
          <a:bodyPr/>
          <a:lstStyle/>
          <a:p>
            <a:fld id="{8658D1D9-E75C-484B-83BA-A38C3D0ED8DE}" type="datetimeFigureOut">
              <a:rPr lang="en-US" smtClean="0"/>
              <a:t>12/13/20</a:t>
            </a:fld>
            <a:endParaRPr lang="en-US"/>
          </a:p>
        </p:txBody>
      </p:sp>
      <p:sp>
        <p:nvSpPr>
          <p:cNvPr id="8" name="Footer Placeholder 7">
            <a:extLst>
              <a:ext uri="{FF2B5EF4-FFF2-40B4-BE49-F238E27FC236}">
                <a16:creationId xmlns:a16="http://schemas.microsoft.com/office/drawing/2014/main" id="{6617011E-4BF5-C845-B20C-F09B1885D8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FE05B1-95EB-8442-BE2D-EF50122523F3}"/>
              </a:ext>
            </a:extLst>
          </p:cNvPr>
          <p:cNvSpPr>
            <a:spLocks noGrp="1"/>
          </p:cNvSpPr>
          <p:nvPr>
            <p:ph type="sldNum" sz="quarter" idx="12"/>
          </p:nvPr>
        </p:nvSpPr>
        <p:spPr/>
        <p:txBody>
          <a:bodyPr/>
          <a:lstStyle/>
          <a:p>
            <a:fld id="{C2F5BA18-BC2D-9245-A5C7-CA505A2C2592}" type="slidenum">
              <a:rPr lang="en-US" smtClean="0"/>
              <a:t>‹#›</a:t>
            </a:fld>
            <a:endParaRPr lang="en-US"/>
          </a:p>
        </p:txBody>
      </p:sp>
    </p:spTree>
    <p:extLst>
      <p:ext uri="{BB962C8B-B14F-4D97-AF65-F5344CB8AC3E}">
        <p14:creationId xmlns:p14="http://schemas.microsoft.com/office/powerpoint/2010/main" val="3523699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0E980-B58A-BC41-9D03-723D825C2C4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82AC00-9E77-1345-94FF-AA0F453B484E}"/>
              </a:ext>
            </a:extLst>
          </p:cNvPr>
          <p:cNvSpPr>
            <a:spLocks noGrp="1"/>
          </p:cNvSpPr>
          <p:nvPr>
            <p:ph type="dt" sz="half" idx="10"/>
          </p:nvPr>
        </p:nvSpPr>
        <p:spPr/>
        <p:txBody>
          <a:bodyPr/>
          <a:lstStyle/>
          <a:p>
            <a:fld id="{8658D1D9-E75C-484B-83BA-A38C3D0ED8DE}" type="datetimeFigureOut">
              <a:rPr lang="en-US" smtClean="0"/>
              <a:t>12/13/20</a:t>
            </a:fld>
            <a:endParaRPr lang="en-US"/>
          </a:p>
        </p:txBody>
      </p:sp>
      <p:sp>
        <p:nvSpPr>
          <p:cNvPr id="4" name="Footer Placeholder 3">
            <a:extLst>
              <a:ext uri="{FF2B5EF4-FFF2-40B4-BE49-F238E27FC236}">
                <a16:creationId xmlns:a16="http://schemas.microsoft.com/office/drawing/2014/main" id="{64EAAD8D-9560-A54E-BE7E-C8EFE8E5057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50C7CA-8FFB-D941-B8E4-BEF8A6CB85FA}"/>
              </a:ext>
            </a:extLst>
          </p:cNvPr>
          <p:cNvSpPr>
            <a:spLocks noGrp="1"/>
          </p:cNvSpPr>
          <p:nvPr>
            <p:ph type="sldNum" sz="quarter" idx="12"/>
          </p:nvPr>
        </p:nvSpPr>
        <p:spPr/>
        <p:txBody>
          <a:bodyPr/>
          <a:lstStyle/>
          <a:p>
            <a:fld id="{C2F5BA18-BC2D-9245-A5C7-CA505A2C2592}" type="slidenum">
              <a:rPr lang="en-US" smtClean="0"/>
              <a:t>‹#›</a:t>
            </a:fld>
            <a:endParaRPr lang="en-US"/>
          </a:p>
        </p:txBody>
      </p:sp>
    </p:spTree>
    <p:extLst>
      <p:ext uri="{BB962C8B-B14F-4D97-AF65-F5344CB8AC3E}">
        <p14:creationId xmlns:p14="http://schemas.microsoft.com/office/powerpoint/2010/main" val="1735080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5AADFC-32BA-4D45-A4EF-EC5D689864B3}"/>
              </a:ext>
            </a:extLst>
          </p:cNvPr>
          <p:cNvSpPr>
            <a:spLocks noGrp="1"/>
          </p:cNvSpPr>
          <p:nvPr>
            <p:ph type="dt" sz="half" idx="10"/>
          </p:nvPr>
        </p:nvSpPr>
        <p:spPr/>
        <p:txBody>
          <a:bodyPr/>
          <a:lstStyle/>
          <a:p>
            <a:fld id="{8658D1D9-E75C-484B-83BA-A38C3D0ED8DE}" type="datetimeFigureOut">
              <a:rPr lang="en-US" smtClean="0"/>
              <a:t>12/13/20</a:t>
            </a:fld>
            <a:endParaRPr lang="en-US"/>
          </a:p>
        </p:txBody>
      </p:sp>
      <p:sp>
        <p:nvSpPr>
          <p:cNvPr id="3" name="Footer Placeholder 2">
            <a:extLst>
              <a:ext uri="{FF2B5EF4-FFF2-40B4-BE49-F238E27FC236}">
                <a16:creationId xmlns:a16="http://schemas.microsoft.com/office/drawing/2014/main" id="{25FD75B5-39B0-B449-81C7-A3FBDD8A5B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5C53C1-0DB4-9741-A6D8-C6F34CD98EFD}"/>
              </a:ext>
            </a:extLst>
          </p:cNvPr>
          <p:cNvSpPr>
            <a:spLocks noGrp="1"/>
          </p:cNvSpPr>
          <p:nvPr>
            <p:ph type="sldNum" sz="quarter" idx="12"/>
          </p:nvPr>
        </p:nvSpPr>
        <p:spPr/>
        <p:txBody>
          <a:bodyPr/>
          <a:lstStyle/>
          <a:p>
            <a:fld id="{C2F5BA18-BC2D-9245-A5C7-CA505A2C2592}" type="slidenum">
              <a:rPr lang="en-US" smtClean="0"/>
              <a:t>‹#›</a:t>
            </a:fld>
            <a:endParaRPr lang="en-US"/>
          </a:p>
        </p:txBody>
      </p:sp>
    </p:spTree>
    <p:extLst>
      <p:ext uri="{BB962C8B-B14F-4D97-AF65-F5344CB8AC3E}">
        <p14:creationId xmlns:p14="http://schemas.microsoft.com/office/powerpoint/2010/main" val="2432561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6BEF3-D887-8245-99DE-493E370419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C3C60F-76BF-9243-93F4-092FD42664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A96188-88EF-6B4E-B324-0F3F54FAFA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89248D-D5C4-9A45-8935-6E54113BD179}"/>
              </a:ext>
            </a:extLst>
          </p:cNvPr>
          <p:cNvSpPr>
            <a:spLocks noGrp="1"/>
          </p:cNvSpPr>
          <p:nvPr>
            <p:ph type="dt" sz="half" idx="10"/>
          </p:nvPr>
        </p:nvSpPr>
        <p:spPr/>
        <p:txBody>
          <a:bodyPr/>
          <a:lstStyle/>
          <a:p>
            <a:fld id="{8658D1D9-E75C-484B-83BA-A38C3D0ED8DE}" type="datetimeFigureOut">
              <a:rPr lang="en-US" smtClean="0"/>
              <a:t>12/13/20</a:t>
            </a:fld>
            <a:endParaRPr lang="en-US"/>
          </a:p>
        </p:txBody>
      </p:sp>
      <p:sp>
        <p:nvSpPr>
          <p:cNvPr id="6" name="Footer Placeholder 5">
            <a:extLst>
              <a:ext uri="{FF2B5EF4-FFF2-40B4-BE49-F238E27FC236}">
                <a16:creationId xmlns:a16="http://schemas.microsoft.com/office/drawing/2014/main" id="{789E384D-B5F0-AC4B-8143-486ED31324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2FE8C5-D4E5-BA4D-9A58-1257733CBCDC}"/>
              </a:ext>
            </a:extLst>
          </p:cNvPr>
          <p:cNvSpPr>
            <a:spLocks noGrp="1"/>
          </p:cNvSpPr>
          <p:nvPr>
            <p:ph type="sldNum" sz="quarter" idx="12"/>
          </p:nvPr>
        </p:nvSpPr>
        <p:spPr/>
        <p:txBody>
          <a:bodyPr/>
          <a:lstStyle/>
          <a:p>
            <a:fld id="{C2F5BA18-BC2D-9245-A5C7-CA505A2C2592}" type="slidenum">
              <a:rPr lang="en-US" smtClean="0"/>
              <a:t>‹#›</a:t>
            </a:fld>
            <a:endParaRPr lang="en-US"/>
          </a:p>
        </p:txBody>
      </p:sp>
    </p:spTree>
    <p:extLst>
      <p:ext uri="{BB962C8B-B14F-4D97-AF65-F5344CB8AC3E}">
        <p14:creationId xmlns:p14="http://schemas.microsoft.com/office/powerpoint/2010/main" val="803623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73DFE-9098-174E-8E74-6A73FA4E24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3C0F07-C66A-D843-A14E-AA9C3FD975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7F32BD8-2C42-1F40-AE53-36D3234AB4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66302B-0A60-274B-BDFD-84E495327694}"/>
              </a:ext>
            </a:extLst>
          </p:cNvPr>
          <p:cNvSpPr>
            <a:spLocks noGrp="1"/>
          </p:cNvSpPr>
          <p:nvPr>
            <p:ph type="dt" sz="half" idx="10"/>
          </p:nvPr>
        </p:nvSpPr>
        <p:spPr/>
        <p:txBody>
          <a:bodyPr/>
          <a:lstStyle/>
          <a:p>
            <a:fld id="{8658D1D9-E75C-484B-83BA-A38C3D0ED8DE}" type="datetimeFigureOut">
              <a:rPr lang="en-US" smtClean="0"/>
              <a:t>12/13/20</a:t>
            </a:fld>
            <a:endParaRPr lang="en-US"/>
          </a:p>
        </p:txBody>
      </p:sp>
      <p:sp>
        <p:nvSpPr>
          <p:cNvPr id="6" name="Footer Placeholder 5">
            <a:extLst>
              <a:ext uri="{FF2B5EF4-FFF2-40B4-BE49-F238E27FC236}">
                <a16:creationId xmlns:a16="http://schemas.microsoft.com/office/drawing/2014/main" id="{AC2A413E-EF2B-5643-BB01-5BCFD46E61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FB9777-FE62-D044-ABFC-43021CCAD9A8}"/>
              </a:ext>
            </a:extLst>
          </p:cNvPr>
          <p:cNvSpPr>
            <a:spLocks noGrp="1"/>
          </p:cNvSpPr>
          <p:nvPr>
            <p:ph type="sldNum" sz="quarter" idx="12"/>
          </p:nvPr>
        </p:nvSpPr>
        <p:spPr/>
        <p:txBody>
          <a:bodyPr/>
          <a:lstStyle/>
          <a:p>
            <a:fld id="{C2F5BA18-BC2D-9245-A5C7-CA505A2C2592}" type="slidenum">
              <a:rPr lang="en-US" smtClean="0"/>
              <a:t>‹#›</a:t>
            </a:fld>
            <a:endParaRPr lang="en-US"/>
          </a:p>
        </p:txBody>
      </p:sp>
    </p:spTree>
    <p:extLst>
      <p:ext uri="{BB962C8B-B14F-4D97-AF65-F5344CB8AC3E}">
        <p14:creationId xmlns:p14="http://schemas.microsoft.com/office/powerpoint/2010/main" val="2385176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9635D-A131-474C-BBE4-10FECFEFDB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C1C448-48F7-294F-A934-898F881544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AEF5D9-E75E-3546-9EE4-6F7C02E0C6C9}"/>
              </a:ext>
            </a:extLst>
          </p:cNvPr>
          <p:cNvSpPr>
            <a:spLocks noGrp="1"/>
          </p:cNvSpPr>
          <p:nvPr>
            <p:ph type="dt" sz="half" idx="10"/>
          </p:nvPr>
        </p:nvSpPr>
        <p:spPr/>
        <p:txBody>
          <a:bodyPr/>
          <a:lstStyle/>
          <a:p>
            <a:fld id="{8658D1D9-E75C-484B-83BA-A38C3D0ED8DE}" type="datetimeFigureOut">
              <a:rPr lang="en-US" smtClean="0"/>
              <a:t>12/13/20</a:t>
            </a:fld>
            <a:endParaRPr lang="en-US"/>
          </a:p>
        </p:txBody>
      </p:sp>
      <p:sp>
        <p:nvSpPr>
          <p:cNvPr id="5" name="Footer Placeholder 4">
            <a:extLst>
              <a:ext uri="{FF2B5EF4-FFF2-40B4-BE49-F238E27FC236}">
                <a16:creationId xmlns:a16="http://schemas.microsoft.com/office/drawing/2014/main" id="{27C4065B-F2D2-5B41-B459-31F0410294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A4BC54-7C54-684B-86CB-B8A735651DCA}"/>
              </a:ext>
            </a:extLst>
          </p:cNvPr>
          <p:cNvSpPr>
            <a:spLocks noGrp="1"/>
          </p:cNvSpPr>
          <p:nvPr>
            <p:ph type="sldNum" sz="quarter" idx="12"/>
          </p:nvPr>
        </p:nvSpPr>
        <p:spPr/>
        <p:txBody>
          <a:bodyPr/>
          <a:lstStyle/>
          <a:p>
            <a:fld id="{C2F5BA18-BC2D-9245-A5C7-CA505A2C2592}" type="slidenum">
              <a:rPr lang="en-US" smtClean="0"/>
              <a:t>‹#›</a:t>
            </a:fld>
            <a:endParaRPr lang="en-US"/>
          </a:p>
        </p:txBody>
      </p:sp>
    </p:spTree>
    <p:extLst>
      <p:ext uri="{BB962C8B-B14F-4D97-AF65-F5344CB8AC3E}">
        <p14:creationId xmlns:p14="http://schemas.microsoft.com/office/powerpoint/2010/main" val="3758483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8FFB1B-356B-4045-BEA7-7C9DC2DF47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97150FB-E263-CB41-9BC0-488B8E5E8F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4338BA-C45A-3149-B58A-B0F3A9771DDE}"/>
              </a:ext>
            </a:extLst>
          </p:cNvPr>
          <p:cNvSpPr>
            <a:spLocks noGrp="1"/>
          </p:cNvSpPr>
          <p:nvPr>
            <p:ph type="dt" sz="half" idx="10"/>
          </p:nvPr>
        </p:nvSpPr>
        <p:spPr/>
        <p:txBody>
          <a:bodyPr/>
          <a:lstStyle/>
          <a:p>
            <a:fld id="{8658D1D9-E75C-484B-83BA-A38C3D0ED8DE}" type="datetimeFigureOut">
              <a:rPr lang="en-US" smtClean="0"/>
              <a:t>12/13/20</a:t>
            </a:fld>
            <a:endParaRPr lang="en-US"/>
          </a:p>
        </p:txBody>
      </p:sp>
      <p:sp>
        <p:nvSpPr>
          <p:cNvPr id="5" name="Footer Placeholder 4">
            <a:extLst>
              <a:ext uri="{FF2B5EF4-FFF2-40B4-BE49-F238E27FC236}">
                <a16:creationId xmlns:a16="http://schemas.microsoft.com/office/drawing/2014/main" id="{4F2E94B8-D235-3F49-BF68-DFB49CB11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41C6C0-7E29-3845-8AC9-AA412E5BF6DE}"/>
              </a:ext>
            </a:extLst>
          </p:cNvPr>
          <p:cNvSpPr>
            <a:spLocks noGrp="1"/>
          </p:cNvSpPr>
          <p:nvPr>
            <p:ph type="sldNum" sz="quarter" idx="12"/>
          </p:nvPr>
        </p:nvSpPr>
        <p:spPr/>
        <p:txBody>
          <a:bodyPr/>
          <a:lstStyle/>
          <a:p>
            <a:fld id="{C2F5BA18-BC2D-9245-A5C7-CA505A2C2592}" type="slidenum">
              <a:rPr lang="en-US" smtClean="0"/>
              <a:t>‹#›</a:t>
            </a:fld>
            <a:endParaRPr lang="en-US"/>
          </a:p>
        </p:txBody>
      </p:sp>
    </p:spTree>
    <p:extLst>
      <p:ext uri="{BB962C8B-B14F-4D97-AF65-F5344CB8AC3E}">
        <p14:creationId xmlns:p14="http://schemas.microsoft.com/office/powerpoint/2010/main" val="3989700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0F9615-5306-6E4C-BA99-BE5F06426DA7}"/>
              </a:ext>
            </a:extLst>
          </p:cNvPr>
          <p:cNvSpPr>
            <a:spLocks noGrp="1"/>
          </p:cNvSpPr>
          <p:nvPr>
            <p:ph type="title"/>
          </p:nvPr>
        </p:nvSpPr>
        <p:spPr>
          <a:xfrm>
            <a:off x="462844" y="136525"/>
            <a:ext cx="11266312"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AF8486-E288-E548-9AB2-C83AAF39A467}"/>
              </a:ext>
            </a:extLst>
          </p:cNvPr>
          <p:cNvSpPr>
            <a:spLocks noGrp="1"/>
          </p:cNvSpPr>
          <p:nvPr>
            <p:ph type="body" idx="1"/>
          </p:nvPr>
        </p:nvSpPr>
        <p:spPr>
          <a:xfrm>
            <a:off x="462844" y="1603022"/>
            <a:ext cx="11266312" cy="457394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D43B82B-5ABB-144C-A0A1-A261C580DA7B}"/>
              </a:ext>
            </a:extLst>
          </p:cNvPr>
          <p:cNvSpPr>
            <a:spLocks noGrp="1"/>
          </p:cNvSpPr>
          <p:nvPr>
            <p:ph type="dt" sz="half" idx="2"/>
          </p:nvPr>
        </p:nvSpPr>
        <p:spPr>
          <a:xfrm>
            <a:off x="740281" y="6356350"/>
            <a:ext cx="2939038" cy="365125"/>
          </a:xfrm>
          <a:prstGeom prst="rect">
            <a:avLst/>
          </a:prstGeom>
        </p:spPr>
        <p:txBody>
          <a:bodyPr vert="horz" lIns="91440" tIns="45720" rIns="91440" bIns="45720" rtlCol="0" anchor="ctr"/>
          <a:lstStyle>
            <a:lvl1pPr algn="l">
              <a:defRPr sz="1200">
                <a:solidFill>
                  <a:schemeClr val="tx1">
                    <a:tint val="75000"/>
                  </a:schemeClr>
                </a:solidFill>
                <a:latin typeface="Quadraat" panose="02000503060000090004" pitchFamily="2" charset="0"/>
              </a:defRPr>
            </a:lvl1pPr>
          </a:lstStyle>
          <a:p>
            <a:fld id="{8658D1D9-E75C-484B-83BA-A38C3D0ED8DE}" type="datetimeFigureOut">
              <a:rPr lang="en-US" smtClean="0"/>
              <a:pPr/>
              <a:t>12/13/20</a:t>
            </a:fld>
            <a:endParaRPr lang="en-US"/>
          </a:p>
        </p:txBody>
      </p:sp>
      <p:sp>
        <p:nvSpPr>
          <p:cNvPr id="5" name="Footer Placeholder 4">
            <a:extLst>
              <a:ext uri="{FF2B5EF4-FFF2-40B4-BE49-F238E27FC236}">
                <a16:creationId xmlns:a16="http://schemas.microsoft.com/office/drawing/2014/main" id="{2E2380A6-7ED9-054B-9D59-A44A208572BB}"/>
              </a:ext>
            </a:extLst>
          </p:cNvPr>
          <p:cNvSpPr>
            <a:spLocks noGrp="1"/>
          </p:cNvSpPr>
          <p:nvPr>
            <p:ph type="ftr" sz="quarter" idx="3"/>
          </p:nvPr>
        </p:nvSpPr>
        <p:spPr>
          <a:xfrm>
            <a:off x="3891722" y="6356350"/>
            <a:ext cx="4408556" cy="365125"/>
          </a:xfrm>
          <a:prstGeom prst="rect">
            <a:avLst/>
          </a:prstGeom>
        </p:spPr>
        <p:txBody>
          <a:bodyPr vert="horz" lIns="91440" tIns="45720" rIns="91440" bIns="45720" rtlCol="0" anchor="ctr"/>
          <a:lstStyle>
            <a:lvl1pPr algn="ctr">
              <a:defRPr sz="1200">
                <a:solidFill>
                  <a:schemeClr val="tx1">
                    <a:tint val="75000"/>
                  </a:schemeClr>
                </a:solidFill>
                <a:latin typeface="Quadraat" panose="02000503060000090004" pitchFamily="2" charset="0"/>
              </a:defRPr>
            </a:lvl1pPr>
          </a:lstStyle>
          <a:p>
            <a:endParaRPr lang="en-US"/>
          </a:p>
        </p:txBody>
      </p:sp>
      <p:sp>
        <p:nvSpPr>
          <p:cNvPr id="6" name="Slide Number Placeholder 5">
            <a:extLst>
              <a:ext uri="{FF2B5EF4-FFF2-40B4-BE49-F238E27FC236}">
                <a16:creationId xmlns:a16="http://schemas.microsoft.com/office/drawing/2014/main" id="{EF36EE06-EAF0-5D4D-A6E4-1B43CC8BF0E6}"/>
              </a:ext>
            </a:extLst>
          </p:cNvPr>
          <p:cNvSpPr>
            <a:spLocks noGrp="1"/>
          </p:cNvSpPr>
          <p:nvPr>
            <p:ph type="sldNum" sz="quarter" idx="4"/>
          </p:nvPr>
        </p:nvSpPr>
        <p:spPr>
          <a:xfrm>
            <a:off x="8512681" y="6356350"/>
            <a:ext cx="2939038" cy="365125"/>
          </a:xfrm>
          <a:prstGeom prst="rect">
            <a:avLst/>
          </a:prstGeom>
        </p:spPr>
        <p:txBody>
          <a:bodyPr vert="horz" lIns="91440" tIns="45720" rIns="91440" bIns="45720" rtlCol="0" anchor="ctr"/>
          <a:lstStyle>
            <a:lvl1pPr algn="r">
              <a:defRPr sz="1200">
                <a:solidFill>
                  <a:schemeClr val="tx1">
                    <a:tint val="75000"/>
                  </a:schemeClr>
                </a:solidFill>
                <a:latin typeface="Quadraat" panose="02000503060000090004" pitchFamily="2" charset="0"/>
              </a:defRPr>
            </a:lvl1pPr>
          </a:lstStyle>
          <a:p>
            <a:fld id="{C2F5BA18-BC2D-9245-A5C7-CA505A2C2592}" type="slidenum">
              <a:rPr lang="en-US" smtClean="0"/>
              <a:pPr/>
              <a:t>‹#›</a:t>
            </a:fld>
            <a:endParaRPr lang="en-US"/>
          </a:p>
        </p:txBody>
      </p:sp>
    </p:spTree>
    <p:extLst>
      <p:ext uri="{BB962C8B-B14F-4D97-AF65-F5344CB8AC3E}">
        <p14:creationId xmlns:p14="http://schemas.microsoft.com/office/powerpoint/2010/main" val="2018573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p:titleStyle>
    <p:bodyStyle>
      <a:lvl1pPr marL="228600" indent="-228600" algn="l" defTabSz="914400" rtl="0" eaLnBrk="1" latinLnBrk="0" hangingPunct="1">
        <a:lnSpc>
          <a:spcPct val="90000"/>
        </a:lnSpc>
        <a:spcBef>
          <a:spcPts val="1000"/>
        </a:spcBef>
        <a:buFont typeface="System Font Regular"/>
        <a:buChar char="-"/>
        <a:defRPr sz="2800" kern="1200">
          <a:solidFill>
            <a:schemeClr val="tx1"/>
          </a:solidFill>
          <a:latin typeface="Quadraat" panose="02000503060000090004" pitchFamily="2" charset="0"/>
          <a:ea typeface="+mn-ea"/>
          <a:cs typeface="+mn-cs"/>
        </a:defRPr>
      </a:lvl1pPr>
      <a:lvl2pPr marL="685800" indent="-228600" algn="l" defTabSz="914400" rtl="0" eaLnBrk="1" latinLnBrk="0" hangingPunct="1">
        <a:lnSpc>
          <a:spcPct val="90000"/>
        </a:lnSpc>
        <a:spcBef>
          <a:spcPts val="500"/>
        </a:spcBef>
        <a:buFont typeface="System Font Regular"/>
        <a:buChar char="-"/>
        <a:defRPr sz="2400" kern="1200">
          <a:solidFill>
            <a:schemeClr val="tx1"/>
          </a:solidFill>
          <a:latin typeface="Quadraat" panose="02000503060000090004" pitchFamily="2" charset="0"/>
          <a:ea typeface="+mn-ea"/>
          <a:cs typeface="+mn-cs"/>
        </a:defRPr>
      </a:lvl2pPr>
      <a:lvl3pPr marL="1143000" indent="-228600" algn="l" defTabSz="914400" rtl="0" eaLnBrk="1" latinLnBrk="0" hangingPunct="1">
        <a:lnSpc>
          <a:spcPct val="90000"/>
        </a:lnSpc>
        <a:spcBef>
          <a:spcPts val="500"/>
        </a:spcBef>
        <a:buFont typeface="System Font Regular"/>
        <a:buChar char="-"/>
        <a:defRPr sz="2000" kern="1200">
          <a:solidFill>
            <a:schemeClr val="tx1"/>
          </a:solidFill>
          <a:latin typeface="Quadraat" panose="02000503060000090004" pitchFamily="2" charset="0"/>
          <a:ea typeface="+mn-ea"/>
          <a:cs typeface="+mn-cs"/>
        </a:defRPr>
      </a:lvl3pPr>
      <a:lvl4pPr marL="1600200" indent="-228600" algn="l" defTabSz="914400" rtl="0" eaLnBrk="1" latinLnBrk="0" hangingPunct="1">
        <a:lnSpc>
          <a:spcPct val="90000"/>
        </a:lnSpc>
        <a:spcBef>
          <a:spcPts val="500"/>
        </a:spcBef>
        <a:buFont typeface="System Font Regular"/>
        <a:buChar char="-"/>
        <a:defRPr sz="1800" kern="1200">
          <a:solidFill>
            <a:schemeClr val="tx1"/>
          </a:solidFill>
          <a:latin typeface="Quadraat" panose="02000503060000090004" pitchFamily="2" charset="0"/>
          <a:ea typeface="+mn-ea"/>
          <a:cs typeface="+mn-cs"/>
        </a:defRPr>
      </a:lvl4pPr>
      <a:lvl5pPr marL="2057400" indent="-228600" algn="l" defTabSz="914400" rtl="0" eaLnBrk="1" latinLnBrk="0" hangingPunct="1">
        <a:lnSpc>
          <a:spcPct val="90000"/>
        </a:lnSpc>
        <a:spcBef>
          <a:spcPts val="500"/>
        </a:spcBef>
        <a:buFont typeface="System Font Regular"/>
        <a:buChar char="-"/>
        <a:defRPr sz="1800" kern="1200">
          <a:solidFill>
            <a:schemeClr val="tx1"/>
          </a:solidFill>
          <a:latin typeface="Quadraat" panose="0200050306000009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27D2BE-3D9E-3F46-9D01-E271365F092A}"/>
              </a:ext>
            </a:extLst>
          </p:cNvPr>
          <p:cNvPicPr>
            <a:picLocks noChangeAspect="1"/>
          </p:cNvPicPr>
          <p:nvPr/>
        </p:nvPicPr>
        <p:blipFill>
          <a:blip r:embed="rId2">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0" y="8467"/>
            <a:ext cx="12192000" cy="6849533"/>
          </a:xfrm>
          <a:prstGeom prst="rect">
            <a:avLst/>
          </a:prstGeom>
        </p:spPr>
      </p:pic>
      <p:sp>
        <p:nvSpPr>
          <p:cNvPr id="7" name="Title 1">
            <a:extLst>
              <a:ext uri="{FF2B5EF4-FFF2-40B4-BE49-F238E27FC236}">
                <a16:creationId xmlns:a16="http://schemas.microsoft.com/office/drawing/2014/main" id="{32948D0B-1155-3046-9C53-4765FA34903A}"/>
              </a:ext>
            </a:extLst>
          </p:cNvPr>
          <p:cNvSpPr>
            <a:spLocks noGrp="1"/>
          </p:cNvSpPr>
          <p:nvPr>
            <p:ph type="ctrTitle"/>
          </p:nvPr>
        </p:nvSpPr>
        <p:spPr>
          <a:xfrm>
            <a:off x="1524000" y="1122363"/>
            <a:ext cx="9144000" cy="2387600"/>
          </a:xfrm>
        </p:spPr>
        <p:txBody>
          <a:bodyPr/>
          <a:lstStyle/>
          <a:p>
            <a:r>
              <a:rPr lang="en-US" b="1" dirty="0">
                <a:effectLst>
                  <a:glow rad="228600">
                    <a:schemeClr val="bg1">
                      <a:alpha val="80000"/>
                    </a:schemeClr>
                  </a:glow>
                </a:effectLst>
              </a:rPr>
              <a:t>Chronic Diarrhea</a:t>
            </a:r>
          </a:p>
        </p:txBody>
      </p:sp>
      <p:sp>
        <p:nvSpPr>
          <p:cNvPr id="8" name="Subtitle 2">
            <a:extLst>
              <a:ext uri="{FF2B5EF4-FFF2-40B4-BE49-F238E27FC236}">
                <a16:creationId xmlns:a16="http://schemas.microsoft.com/office/drawing/2014/main" id="{80994492-4DCB-1D46-BCB8-2BD83BC69432}"/>
              </a:ext>
            </a:extLst>
          </p:cNvPr>
          <p:cNvSpPr>
            <a:spLocks noGrp="1"/>
          </p:cNvSpPr>
          <p:nvPr>
            <p:ph type="subTitle" idx="1"/>
          </p:nvPr>
        </p:nvSpPr>
        <p:spPr>
          <a:xfrm>
            <a:off x="1524000" y="3602038"/>
            <a:ext cx="9144000" cy="645109"/>
          </a:xfrm>
        </p:spPr>
        <p:txBody>
          <a:bodyPr>
            <a:normAutofit/>
          </a:bodyPr>
          <a:lstStyle/>
          <a:p>
            <a:r>
              <a:rPr lang="en-US" sz="3600" i="1" dirty="0">
                <a:effectLst>
                  <a:glow rad="228600">
                    <a:schemeClr val="bg1">
                      <a:alpha val="80000"/>
                    </a:schemeClr>
                  </a:glow>
                </a:effectLst>
              </a:rPr>
              <a:t>Focus: </a:t>
            </a:r>
            <a:r>
              <a:rPr lang="en-US" sz="3600" dirty="0">
                <a:effectLst>
                  <a:glow rad="228600">
                    <a:schemeClr val="bg1">
                      <a:alpha val="80000"/>
                    </a:schemeClr>
                  </a:glow>
                </a:effectLst>
              </a:rPr>
              <a:t>Small Bowel</a:t>
            </a:r>
          </a:p>
        </p:txBody>
      </p:sp>
      <p:sp>
        <p:nvSpPr>
          <p:cNvPr id="9" name="Subtitle 2">
            <a:extLst>
              <a:ext uri="{FF2B5EF4-FFF2-40B4-BE49-F238E27FC236}">
                <a16:creationId xmlns:a16="http://schemas.microsoft.com/office/drawing/2014/main" id="{E9A872BC-03ED-7B44-AC1E-0ECD76AB95AA}"/>
              </a:ext>
            </a:extLst>
          </p:cNvPr>
          <p:cNvSpPr txBox="1">
            <a:spLocks/>
          </p:cNvSpPr>
          <p:nvPr/>
        </p:nvSpPr>
        <p:spPr>
          <a:xfrm>
            <a:off x="1524000" y="4331787"/>
            <a:ext cx="9144000" cy="64510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System Font Regular"/>
              <a:buNone/>
              <a:defRPr sz="2400" kern="1200">
                <a:solidFill>
                  <a:schemeClr val="tx1"/>
                </a:solidFill>
                <a:latin typeface="Quadraat" panose="02000503060000090004" pitchFamily="2" charset="0"/>
                <a:ea typeface="+mn-ea"/>
                <a:cs typeface="+mn-cs"/>
              </a:defRPr>
            </a:lvl1pPr>
            <a:lvl2pPr marL="457200" indent="0" algn="ctr" defTabSz="914400" rtl="0" eaLnBrk="1" latinLnBrk="0" hangingPunct="1">
              <a:lnSpc>
                <a:spcPct val="90000"/>
              </a:lnSpc>
              <a:spcBef>
                <a:spcPts val="500"/>
              </a:spcBef>
              <a:buFont typeface="System Font Regular"/>
              <a:buNone/>
              <a:defRPr sz="2000" kern="1200">
                <a:solidFill>
                  <a:schemeClr val="tx1"/>
                </a:solidFill>
                <a:latin typeface="Quadraat" panose="02000503060000090004" pitchFamily="2" charset="0"/>
                <a:ea typeface="+mn-ea"/>
                <a:cs typeface="+mn-cs"/>
              </a:defRPr>
            </a:lvl2pPr>
            <a:lvl3pPr marL="914400" indent="0" algn="ctr" defTabSz="914400" rtl="0" eaLnBrk="1" latinLnBrk="0" hangingPunct="1">
              <a:lnSpc>
                <a:spcPct val="90000"/>
              </a:lnSpc>
              <a:spcBef>
                <a:spcPts val="500"/>
              </a:spcBef>
              <a:buFont typeface="System Font Regular"/>
              <a:buNone/>
              <a:defRPr sz="1800" kern="1200">
                <a:solidFill>
                  <a:schemeClr val="tx1"/>
                </a:solidFill>
                <a:latin typeface="Quadraat" panose="02000503060000090004" pitchFamily="2" charset="0"/>
                <a:ea typeface="+mn-ea"/>
                <a:cs typeface="+mn-cs"/>
              </a:defRPr>
            </a:lvl3pPr>
            <a:lvl4pPr marL="1371600" indent="0" algn="ctr" defTabSz="914400" rtl="0" eaLnBrk="1" latinLnBrk="0" hangingPunct="1">
              <a:lnSpc>
                <a:spcPct val="90000"/>
              </a:lnSpc>
              <a:spcBef>
                <a:spcPts val="500"/>
              </a:spcBef>
              <a:buFont typeface="System Font Regular"/>
              <a:buNone/>
              <a:defRPr sz="1600" kern="1200">
                <a:solidFill>
                  <a:schemeClr val="tx1"/>
                </a:solidFill>
                <a:latin typeface="Quadraat" panose="02000503060000090004" pitchFamily="2" charset="0"/>
                <a:ea typeface="+mn-ea"/>
                <a:cs typeface="+mn-cs"/>
              </a:defRPr>
            </a:lvl4pPr>
            <a:lvl5pPr marL="1828800" indent="0" algn="ctr" defTabSz="914400" rtl="0" eaLnBrk="1" latinLnBrk="0" hangingPunct="1">
              <a:lnSpc>
                <a:spcPct val="90000"/>
              </a:lnSpc>
              <a:spcBef>
                <a:spcPts val="500"/>
              </a:spcBef>
              <a:buFont typeface="System Font Regular"/>
              <a:buNone/>
              <a:defRPr sz="1600" kern="1200">
                <a:solidFill>
                  <a:schemeClr val="tx1"/>
                </a:solidFill>
                <a:latin typeface="Quadraat" panose="02000503060000090004"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tx1">
                    <a:lumMod val="85000"/>
                    <a:lumOff val="15000"/>
                  </a:schemeClr>
                </a:solidFill>
                <a:effectLst>
                  <a:glow rad="228600">
                    <a:schemeClr val="bg1">
                      <a:alpha val="80000"/>
                    </a:schemeClr>
                  </a:glow>
                </a:effectLst>
              </a:rPr>
              <a:t>Mohammad Almeqdadi, MD</a:t>
            </a:r>
          </a:p>
        </p:txBody>
      </p:sp>
    </p:spTree>
    <p:extLst>
      <p:ext uri="{BB962C8B-B14F-4D97-AF65-F5344CB8AC3E}">
        <p14:creationId xmlns:p14="http://schemas.microsoft.com/office/powerpoint/2010/main" val="840183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2B317-628F-1A4C-A45E-FB6C6939060E}"/>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6823F771-7ECE-4746-AC3C-FC3CC80B9364}"/>
              </a:ext>
            </a:extLst>
          </p:cNvPr>
          <p:cNvSpPr>
            <a:spLocks noGrp="1"/>
          </p:cNvSpPr>
          <p:nvPr>
            <p:ph idx="1"/>
          </p:nvPr>
        </p:nvSpPr>
        <p:spPr/>
        <p:txBody>
          <a:bodyPr/>
          <a:lstStyle/>
          <a:p>
            <a:r>
              <a:rPr lang="en-US" dirty="0"/>
              <a:t>Definitions</a:t>
            </a:r>
          </a:p>
          <a:p>
            <a:r>
              <a:rPr lang="en-US" dirty="0"/>
              <a:t>Classification</a:t>
            </a:r>
          </a:p>
          <a:p>
            <a:r>
              <a:rPr lang="en-US" dirty="0"/>
              <a:t>Pathophysiology</a:t>
            </a:r>
          </a:p>
          <a:p>
            <a:r>
              <a:rPr lang="en-US" dirty="0"/>
              <a:t>Clinical evaluation and work u</a:t>
            </a:r>
          </a:p>
          <a:p>
            <a:r>
              <a:rPr lang="en-US" dirty="0"/>
              <a:t>Specific small bowel diseases</a:t>
            </a:r>
          </a:p>
          <a:p>
            <a:r>
              <a:rPr lang="en-US" dirty="0"/>
              <a:t>Treatment</a:t>
            </a:r>
          </a:p>
        </p:txBody>
      </p:sp>
    </p:spTree>
    <p:extLst>
      <p:ext uri="{BB962C8B-B14F-4D97-AF65-F5344CB8AC3E}">
        <p14:creationId xmlns:p14="http://schemas.microsoft.com/office/powerpoint/2010/main" val="2661634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41E1C-DEF3-D64A-8740-C2F6DBC28B9F}"/>
              </a:ext>
            </a:extLst>
          </p:cNvPr>
          <p:cNvSpPr>
            <a:spLocks noGrp="1"/>
          </p:cNvSpPr>
          <p:nvPr>
            <p:ph type="title"/>
          </p:nvPr>
        </p:nvSpPr>
        <p:spPr/>
        <p:txBody>
          <a:bodyPr/>
          <a:lstStyle/>
          <a:p>
            <a:r>
              <a:rPr lang="en-US" dirty="0"/>
              <a:t>Normal Bowel Movements</a:t>
            </a:r>
          </a:p>
        </p:txBody>
      </p:sp>
      <p:graphicFrame>
        <p:nvGraphicFramePr>
          <p:cNvPr id="7" name="Chart 6">
            <a:extLst>
              <a:ext uri="{FF2B5EF4-FFF2-40B4-BE49-F238E27FC236}">
                <a16:creationId xmlns:a16="http://schemas.microsoft.com/office/drawing/2014/main" id="{C8C50777-AE30-5A44-B44D-35171A9BE8F0}"/>
              </a:ext>
            </a:extLst>
          </p:cNvPr>
          <p:cNvGraphicFramePr>
            <a:graphicFrameLocks/>
          </p:cNvGraphicFramePr>
          <p:nvPr>
            <p:extLst>
              <p:ext uri="{D42A27DB-BD31-4B8C-83A1-F6EECF244321}">
                <p14:modId xmlns:p14="http://schemas.microsoft.com/office/powerpoint/2010/main" val="3134467802"/>
              </p:ext>
            </p:extLst>
          </p:nvPr>
        </p:nvGraphicFramePr>
        <p:xfrm>
          <a:off x="2084075" y="2352662"/>
          <a:ext cx="8237918" cy="3056013"/>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7D443A25-E2FF-644F-BFAD-169188732477}"/>
              </a:ext>
            </a:extLst>
          </p:cNvPr>
          <p:cNvSpPr txBox="1"/>
          <p:nvPr/>
        </p:nvSpPr>
        <p:spPr>
          <a:xfrm>
            <a:off x="10039189" y="2431320"/>
            <a:ext cx="1898383" cy="2314544"/>
          </a:xfrm>
          <a:prstGeom prst="rect">
            <a:avLst/>
          </a:prstGeom>
          <a:noFill/>
        </p:spPr>
        <p:txBody>
          <a:bodyPr wrap="square" rtlCol="0">
            <a:spAutoFit/>
          </a:bodyPr>
          <a:lstStyle/>
          <a:p>
            <a:pPr>
              <a:lnSpc>
                <a:spcPct val="150000"/>
              </a:lnSpc>
            </a:pPr>
            <a:r>
              <a:rPr lang="en-US" sz="1400" dirty="0">
                <a:latin typeface="Quadraat" panose="02000503060000090004" pitchFamily="2" charset="0"/>
                <a:cs typeface="Arial" panose="020B0604020202020204" pitchFamily="34" charset="0"/>
              </a:rPr>
              <a:t>4-5 BMs per day</a:t>
            </a:r>
          </a:p>
          <a:p>
            <a:pPr>
              <a:lnSpc>
                <a:spcPct val="150000"/>
              </a:lnSpc>
            </a:pPr>
            <a:r>
              <a:rPr lang="en-US" sz="1400" dirty="0">
                <a:latin typeface="Quadraat" panose="02000503060000090004" pitchFamily="2" charset="0"/>
                <a:cs typeface="Arial" panose="020B0604020202020204" pitchFamily="34" charset="0"/>
              </a:rPr>
              <a:t>3 BMs per day</a:t>
            </a:r>
          </a:p>
          <a:p>
            <a:pPr>
              <a:lnSpc>
                <a:spcPct val="150000"/>
              </a:lnSpc>
            </a:pPr>
            <a:r>
              <a:rPr lang="en-US" sz="1400" dirty="0">
                <a:latin typeface="Quadraat" panose="02000503060000090004" pitchFamily="2" charset="0"/>
                <a:cs typeface="Arial" panose="020B0604020202020204" pitchFamily="34" charset="0"/>
              </a:rPr>
              <a:t>2 BMs per day</a:t>
            </a:r>
          </a:p>
          <a:p>
            <a:pPr>
              <a:lnSpc>
                <a:spcPct val="150000"/>
              </a:lnSpc>
            </a:pPr>
            <a:r>
              <a:rPr lang="en-US" sz="1400" dirty="0">
                <a:latin typeface="Quadraat" panose="02000503060000090004" pitchFamily="2" charset="0"/>
                <a:cs typeface="Arial" panose="020B0604020202020204" pitchFamily="34" charset="0"/>
              </a:rPr>
              <a:t>1-2 BM per day</a:t>
            </a:r>
          </a:p>
          <a:p>
            <a:pPr>
              <a:lnSpc>
                <a:spcPct val="150000"/>
              </a:lnSpc>
            </a:pPr>
            <a:r>
              <a:rPr lang="en-US" sz="1400" dirty="0">
                <a:latin typeface="Quadraat" panose="02000503060000090004" pitchFamily="2" charset="0"/>
                <a:cs typeface="Arial" panose="020B0604020202020204" pitchFamily="34" charset="0"/>
              </a:rPr>
              <a:t>1 BM every 2 days</a:t>
            </a:r>
          </a:p>
          <a:p>
            <a:pPr>
              <a:lnSpc>
                <a:spcPct val="150000"/>
              </a:lnSpc>
            </a:pPr>
            <a:r>
              <a:rPr lang="en-US" sz="1400" dirty="0">
                <a:latin typeface="Quadraat" panose="02000503060000090004" pitchFamily="2" charset="0"/>
                <a:cs typeface="Arial" panose="020B0604020202020204" pitchFamily="34" charset="0"/>
              </a:rPr>
              <a:t>1 BM every 3 days</a:t>
            </a:r>
          </a:p>
          <a:p>
            <a:pPr>
              <a:lnSpc>
                <a:spcPct val="150000"/>
              </a:lnSpc>
            </a:pPr>
            <a:r>
              <a:rPr lang="en-US" sz="1400" dirty="0">
                <a:latin typeface="Quadraat" panose="02000503060000090004" pitchFamily="2" charset="0"/>
                <a:cs typeface="Arial" panose="020B0604020202020204" pitchFamily="34" charset="0"/>
              </a:rPr>
              <a:t>1 BM every 5 days</a:t>
            </a:r>
          </a:p>
        </p:txBody>
      </p:sp>
      <p:sp>
        <p:nvSpPr>
          <p:cNvPr id="9" name="TextBox 8">
            <a:extLst>
              <a:ext uri="{FF2B5EF4-FFF2-40B4-BE49-F238E27FC236}">
                <a16:creationId xmlns:a16="http://schemas.microsoft.com/office/drawing/2014/main" id="{4DC561B0-3715-1B4C-8275-D405FB62A6FD}"/>
              </a:ext>
            </a:extLst>
          </p:cNvPr>
          <p:cNvSpPr txBox="1"/>
          <p:nvPr/>
        </p:nvSpPr>
        <p:spPr>
          <a:xfrm>
            <a:off x="2755181" y="1645765"/>
            <a:ext cx="6681637" cy="523220"/>
          </a:xfrm>
          <a:prstGeom prst="rect">
            <a:avLst/>
          </a:prstGeom>
          <a:noFill/>
        </p:spPr>
        <p:txBody>
          <a:bodyPr wrap="none" rtlCol="0">
            <a:spAutoFit/>
          </a:bodyPr>
          <a:lstStyle/>
          <a:p>
            <a:pPr algn="ctr"/>
            <a:r>
              <a:rPr lang="en-US" sz="2800" dirty="0">
                <a:latin typeface="Quadraat" panose="02000503060000090004" pitchFamily="2" charset="0"/>
              </a:rPr>
              <a:t>Who has diarrhea and who has constipation?</a:t>
            </a:r>
          </a:p>
        </p:txBody>
      </p:sp>
    </p:spTree>
    <p:extLst>
      <p:ext uri="{BB962C8B-B14F-4D97-AF65-F5344CB8AC3E}">
        <p14:creationId xmlns:p14="http://schemas.microsoft.com/office/powerpoint/2010/main" val="156705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41E1C-DEF3-D64A-8740-C2F6DBC28B9F}"/>
              </a:ext>
            </a:extLst>
          </p:cNvPr>
          <p:cNvSpPr>
            <a:spLocks noGrp="1"/>
          </p:cNvSpPr>
          <p:nvPr>
            <p:ph type="title"/>
          </p:nvPr>
        </p:nvSpPr>
        <p:spPr/>
        <p:txBody>
          <a:bodyPr/>
          <a:lstStyle/>
          <a:p>
            <a:r>
              <a:rPr lang="en-US" dirty="0"/>
              <a:t>Normal Bowel Movements</a:t>
            </a:r>
          </a:p>
        </p:txBody>
      </p:sp>
      <p:graphicFrame>
        <p:nvGraphicFramePr>
          <p:cNvPr id="7" name="Chart 6">
            <a:extLst>
              <a:ext uri="{FF2B5EF4-FFF2-40B4-BE49-F238E27FC236}">
                <a16:creationId xmlns:a16="http://schemas.microsoft.com/office/drawing/2014/main" id="{C8C50777-AE30-5A44-B44D-35171A9BE8F0}"/>
              </a:ext>
            </a:extLst>
          </p:cNvPr>
          <p:cNvGraphicFramePr>
            <a:graphicFrameLocks/>
          </p:cNvGraphicFramePr>
          <p:nvPr/>
        </p:nvGraphicFramePr>
        <p:xfrm>
          <a:off x="2084075" y="2352662"/>
          <a:ext cx="8237918" cy="3056013"/>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7D443A25-E2FF-644F-BFAD-169188732477}"/>
              </a:ext>
            </a:extLst>
          </p:cNvPr>
          <p:cNvSpPr txBox="1"/>
          <p:nvPr/>
        </p:nvSpPr>
        <p:spPr>
          <a:xfrm>
            <a:off x="10039189" y="2431320"/>
            <a:ext cx="1898383" cy="2314544"/>
          </a:xfrm>
          <a:prstGeom prst="rect">
            <a:avLst/>
          </a:prstGeom>
          <a:noFill/>
        </p:spPr>
        <p:txBody>
          <a:bodyPr wrap="square" rtlCol="0">
            <a:spAutoFit/>
          </a:bodyPr>
          <a:lstStyle/>
          <a:p>
            <a:pPr>
              <a:lnSpc>
                <a:spcPct val="150000"/>
              </a:lnSpc>
            </a:pPr>
            <a:r>
              <a:rPr lang="en-US" sz="1400" dirty="0">
                <a:latin typeface="Quadraat" panose="02000503060000090004" pitchFamily="2" charset="0"/>
                <a:cs typeface="Arial" panose="020B0604020202020204" pitchFamily="34" charset="0"/>
              </a:rPr>
              <a:t>4-5 BMs per day</a:t>
            </a:r>
          </a:p>
          <a:p>
            <a:pPr>
              <a:lnSpc>
                <a:spcPct val="150000"/>
              </a:lnSpc>
            </a:pPr>
            <a:r>
              <a:rPr lang="en-US" sz="1400" dirty="0">
                <a:latin typeface="Quadraat" panose="02000503060000090004" pitchFamily="2" charset="0"/>
                <a:cs typeface="Arial" panose="020B0604020202020204" pitchFamily="34" charset="0"/>
              </a:rPr>
              <a:t>3 BMs per day</a:t>
            </a:r>
          </a:p>
          <a:p>
            <a:pPr>
              <a:lnSpc>
                <a:spcPct val="150000"/>
              </a:lnSpc>
            </a:pPr>
            <a:r>
              <a:rPr lang="en-US" sz="1400" dirty="0">
                <a:latin typeface="Quadraat" panose="02000503060000090004" pitchFamily="2" charset="0"/>
                <a:cs typeface="Arial" panose="020B0604020202020204" pitchFamily="34" charset="0"/>
              </a:rPr>
              <a:t>2 BMs per day</a:t>
            </a:r>
          </a:p>
          <a:p>
            <a:pPr>
              <a:lnSpc>
                <a:spcPct val="150000"/>
              </a:lnSpc>
            </a:pPr>
            <a:r>
              <a:rPr lang="en-US" sz="1400" dirty="0">
                <a:latin typeface="Quadraat" panose="02000503060000090004" pitchFamily="2" charset="0"/>
                <a:cs typeface="Arial" panose="020B0604020202020204" pitchFamily="34" charset="0"/>
              </a:rPr>
              <a:t>1-2 BM per day</a:t>
            </a:r>
          </a:p>
          <a:p>
            <a:pPr>
              <a:lnSpc>
                <a:spcPct val="150000"/>
              </a:lnSpc>
            </a:pPr>
            <a:r>
              <a:rPr lang="en-US" sz="1400" dirty="0">
                <a:latin typeface="Quadraat" panose="02000503060000090004" pitchFamily="2" charset="0"/>
                <a:cs typeface="Arial" panose="020B0604020202020204" pitchFamily="34" charset="0"/>
              </a:rPr>
              <a:t>1 BM every 2 days</a:t>
            </a:r>
          </a:p>
          <a:p>
            <a:pPr>
              <a:lnSpc>
                <a:spcPct val="150000"/>
              </a:lnSpc>
            </a:pPr>
            <a:r>
              <a:rPr lang="en-US" sz="1400" dirty="0">
                <a:latin typeface="Quadraat" panose="02000503060000090004" pitchFamily="2" charset="0"/>
                <a:cs typeface="Arial" panose="020B0604020202020204" pitchFamily="34" charset="0"/>
              </a:rPr>
              <a:t>1 BM every 3 days</a:t>
            </a:r>
          </a:p>
          <a:p>
            <a:pPr>
              <a:lnSpc>
                <a:spcPct val="150000"/>
              </a:lnSpc>
            </a:pPr>
            <a:r>
              <a:rPr lang="en-US" sz="1400" dirty="0">
                <a:latin typeface="Quadraat" panose="02000503060000090004" pitchFamily="2" charset="0"/>
                <a:cs typeface="Arial" panose="020B0604020202020204" pitchFamily="34" charset="0"/>
              </a:rPr>
              <a:t>1 BM every 5 days</a:t>
            </a:r>
          </a:p>
        </p:txBody>
      </p:sp>
      <p:sp>
        <p:nvSpPr>
          <p:cNvPr id="9" name="TextBox 8">
            <a:extLst>
              <a:ext uri="{FF2B5EF4-FFF2-40B4-BE49-F238E27FC236}">
                <a16:creationId xmlns:a16="http://schemas.microsoft.com/office/drawing/2014/main" id="{4DC561B0-3715-1B4C-8275-D405FB62A6FD}"/>
              </a:ext>
            </a:extLst>
          </p:cNvPr>
          <p:cNvSpPr txBox="1"/>
          <p:nvPr/>
        </p:nvSpPr>
        <p:spPr>
          <a:xfrm>
            <a:off x="2755181" y="1645765"/>
            <a:ext cx="6681637" cy="523220"/>
          </a:xfrm>
          <a:prstGeom prst="rect">
            <a:avLst/>
          </a:prstGeom>
          <a:noFill/>
        </p:spPr>
        <p:txBody>
          <a:bodyPr wrap="none" rtlCol="0">
            <a:spAutoFit/>
          </a:bodyPr>
          <a:lstStyle/>
          <a:p>
            <a:pPr algn="ctr"/>
            <a:r>
              <a:rPr lang="en-US" sz="2800" dirty="0">
                <a:latin typeface="Quadraat" panose="02000503060000090004" pitchFamily="2" charset="0"/>
              </a:rPr>
              <a:t>Who has diarrhea and who has constipation?</a:t>
            </a:r>
          </a:p>
        </p:txBody>
      </p:sp>
      <p:sp>
        <p:nvSpPr>
          <p:cNvPr id="10" name="Rectangle 9">
            <a:extLst>
              <a:ext uri="{FF2B5EF4-FFF2-40B4-BE49-F238E27FC236}">
                <a16:creationId xmlns:a16="http://schemas.microsoft.com/office/drawing/2014/main" id="{8F08EAE7-E2BC-5F41-949C-C6D2BB65C70E}"/>
              </a:ext>
            </a:extLst>
          </p:cNvPr>
          <p:cNvSpPr/>
          <p:nvPr/>
        </p:nvSpPr>
        <p:spPr>
          <a:xfrm>
            <a:off x="725999" y="2498103"/>
            <a:ext cx="10775092" cy="353574"/>
          </a:xfrm>
          <a:prstGeom prst="rect">
            <a:avLst/>
          </a:pr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latin typeface="Quadraat" panose="02000503060000090004" pitchFamily="2" charset="0"/>
              </a:rPr>
              <a:t>Diarrhea</a:t>
            </a:r>
            <a:endParaRPr lang="en-US" b="1" dirty="0">
              <a:solidFill>
                <a:schemeClr val="tx1"/>
              </a:solidFill>
              <a:latin typeface="Quadraat" panose="02000503060000090004" pitchFamily="2" charset="0"/>
            </a:endParaRPr>
          </a:p>
        </p:txBody>
      </p:sp>
      <p:sp>
        <p:nvSpPr>
          <p:cNvPr id="11" name="Rectangle 10">
            <a:extLst>
              <a:ext uri="{FF2B5EF4-FFF2-40B4-BE49-F238E27FC236}">
                <a16:creationId xmlns:a16="http://schemas.microsoft.com/office/drawing/2014/main" id="{6C6708C9-B956-234A-9063-2EE5BB70A3B4}"/>
              </a:ext>
            </a:extLst>
          </p:cNvPr>
          <p:cNvSpPr/>
          <p:nvPr/>
        </p:nvSpPr>
        <p:spPr>
          <a:xfrm>
            <a:off x="725999" y="4397072"/>
            <a:ext cx="10775092" cy="348792"/>
          </a:xfrm>
          <a:prstGeom prst="rect">
            <a:avLst/>
          </a:pr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latin typeface="Quadraat" panose="02000503060000090004" pitchFamily="2" charset="0"/>
              </a:rPr>
              <a:t>Constipation</a:t>
            </a:r>
          </a:p>
        </p:txBody>
      </p:sp>
      <p:sp>
        <p:nvSpPr>
          <p:cNvPr id="12" name="Rectangle 11">
            <a:extLst>
              <a:ext uri="{FF2B5EF4-FFF2-40B4-BE49-F238E27FC236}">
                <a16:creationId xmlns:a16="http://schemas.microsoft.com/office/drawing/2014/main" id="{712CF956-7237-334B-BE80-5F92C6B27C1B}"/>
              </a:ext>
            </a:extLst>
          </p:cNvPr>
          <p:cNvSpPr/>
          <p:nvPr/>
        </p:nvSpPr>
        <p:spPr>
          <a:xfrm>
            <a:off x="725999" y="2851678"/>
            <a:ext cx="10775092" cy="1545393"/>
          </a:xfrm>
          <a:prstGeom prst="rect">
            <a:avLst/>
          </a:prstGeom>
          <a:solidFill>
            <a:srgbClr val="00B05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latin typeface="Quadraat" panose="02000503060000090004" pitchFamily="2" charset="0"/>
              </a:rPr>
              <a:t>Normal</a:t>
            </a:r>
          </a:p>
        </p:txBody>
      </p:sp>
    </p:spTree>
    <p:extLst>
      <p:ext uri="{BB962C8B-B14F-4D97-AF65-F5344CB8AC3E}">
        <p14:creationId xmlns:p14="http://schemas.microsoft.com/office/powerpoint/2010/main" val="2723961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BF49F-06E1-AF40-9927-91B0E3445EB1}"/>
              </a:ext>
            </a:extLst>
          </p:cNvPr>
          <p:cNvSpPr>
            <a:spLocks noGrp="1"/>
          </p:cNvSpPr>
          <p:nvPr>
            <p:ph type="title"/>
          </p:nvPr>
        </p:nvSpPr>
        <p:spPr/>
        <p:txBody>
          <a:bodyPr/>
          <a:lstStyle/>
          <a:p>
            <a:r>
              <a:rPr lang="en-US" dirty="0"/>
              <a:t>What is diarrhea?</a:t>
            </a:r>
          </a:p>
        </p:txBody>
      </p:sp>
      <p:sp>
        <p:nvSpPr>
          <p:cNvPr id="3" name="Text Placeholder 2">
            <a:extLst>
              <a:ext uri="{FF2B5EF4-FFF2-40B4-BE49-F238E27FC236}">
                <a16:creationId xmlns:a16="http://schemas.microsoft.com/office/drawing/2014/main" id="{E81A9139-0AA6-E34F-BBA8-8BB1948F928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59605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BB113-FDAC-5C43-A720-A9A0F391715D}"/>
              </a:ext>
            </a:extLst>
          </p:cNvPr>
          <p:cNvSpPr>
            <a:spLocks noGrp="1"/>
          </p:cNvSpPr>
          <p:nvPr>
            <p:ph type="title"/>
          </p:nvPr>
        </p:nvSpPr>
        <p:spPr/>
        <p:txBody>
          <a:bodyPr/>
          <a:lstStyle/>
          <a:p>
            <a:r>
              <a:rPr lang="en-US" dirty="0"/>
              <a:t>What is diarrhea?</a:t>
            </a:r>
          </a:p>
        </p:txBody>
      </p:sp>
      <p:sp>
        <p:nvSpPr>
          <p:cNvPr id="3" name="Content Placeholder 2">
            <a:extLst>
              <a:ext uri="{FF2B5EF4-FFF2-40B4-BE49-F238E27FC236}">
                <a16:creationId xmlns:a16="http://schemas.microsoft.com/office/drawing/2014/main" id="{59AB74A7-8040-1441-8A49-61F27A1531C1}"/>
              </a:ext>
            </a:extLst>
          </p:cNvPr>
          <p:cNvSpPr>
            <a:spLocks noGrp="1"/>
          </p:cNvSpPr>
          <p:nvPr>
            <p:ph idx="1"/>
          </p:nvPr>
        </p:nvSpPr>
        <p:spPr/>
        <p:txBody>
          <a:bodyPr>
            <a:normAutofit lnSpcReduction="10000"/>
          </a:bodyPr>
          <a:lstStyle/>
          <a:p>
            <a:r>
              <a:rPr lang="en-US" dirty="0"/>
              <a:t>Diarrhea as defined by patients is increased liquidity of stool</a:t>
            </a:r>
          </a:p>
          <a:p>
            <a:endParaRPr lang="en-US" dirty="0"/>
          </a:p>
          <a:p>
            <a:r>
              <a:rPr lang="en-US" dirty="0"/>
              <a:t>Clinical definitions</a:t>
            </a:r>
          </a:p>
          <a:p>
            <a:pPr marL="0" indent="0" algn="ctr">
              <a:buNone/>
            </a:pPr>
            <a:r>
              <a:rPr lang="en-US" b="1" dirty="0"/>
              <a:t>More than three bowel movements per day</a:t>
            </a:r>
          </a:p>
          <a:p>
            <a:pPr marL="0" indent="0" algn="ctr">
              <a:buNone/>
            </a:pPr>
            <a:r>
              <a:rPr lang="en-US" dirty="0"/>
              <a:t>OR</a:t>
            </a:r>
          </a:p>
          <a:p>
            <a:pPr marL="0" indent="0" algn="ctr">
              <a:buNone/>
            </a:pPr>
            <a:r>
              <a:rPr lang="en-US" b="1" dirty="0"/>
              <a:t>More than 200 g of stool per day</a:t>
            </a:r>
          </a:p>
          <a:p>
            <a:pPr marL="0" indent="0" algn="ctr">
              <a:buNone/>
            </a:pPr>
            <a:endParaRPr lang="en-US" b="1" dirty="0"/>
          </a:p>
          <a:p>
            <a:pPr>
              <a:buFontTx/>
              <a:buChar char="-"/>
            </a:pPr>
            <a:r>
              <a:rPr lang="en-US" dirty="0"/>
              <a:t>Can be up to 300 g in patients who take </a:t>
            </a:r>
            <a:r>
              <a:rPr lang="en-US" b="1" dirty="0"/>
              <a:t>fiber supplements</a:t>
            </a:r>
          </a:p>
          <a:p>
            <a:pPr>
              <a:buFontTx/>
              <a:buChar char="-"/>
            </a:pPr>
            <a:r>
              <a:rPr lang="en-US" dirty="0"/>
              <a:t>Should also be aware of </a:t>
            </a:r>
            <a:r>
              <a:rPr lang="en-US" b="1" dirty="0"/>
              <a:t>incontinence</a:t>
            </a:r>
            <a:r>
              <a:rPr lang="en-US" dirty="0"/>
              <a:t> which needs to be evaluated separately</a:t>
            </a:r>
          </a:p>
        </p:txBody>
      </p:sp>
    </p:spTree>
    <p:extLst>
      <p:ext uri="{BB962C8B-B14F-4D97-AF65-F5344CB8AC3E}">
        <p14:creationId xmlns:p14="http://schemas.microsoft.com/office/powerpoint/2010/main" val="319920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10952-99F3-5A46-BB17-373B5FC26A67}"/>
              </a:ext>
            </a:extLst>
          </p:cNvPr>
          <p:cNvSpPr>
            <a:spLocks noGrp="1"/>
          </p:cNvSpPr>
          <p:nvPr>
            <p:ph type="title"/>
          </p:nvPr>
        </p:nvSpPr>
        <p:spPr/>
        <p:txBody>
          <a:bodyPr/>
          <a:lstStyle/>
          <a:p>
            <a:r>
              <a:rPr lang="en-US" dirty="0"/>
              <a:t>Clinical classification of diarrhea</a:t>
            </a:r>
          </a:p>
        </p:txBody>
      </p:sp>
      <p:graphicFrame>
        <p:nvGraphicFramePr>
          <p:cNvPr id="7" name="Table 7">
            <a:extLst>
              <a:ext uri="{FF2B5EF4-FFF2-40B4-BE49-F238E27FC236}">
                <a16:creationId xmlns:a16="http://schemas.microsoft.com/office/drawing/2014/main" id="{85120522-DC41-A146-B1D9-C8E40DF14591}"/>
              </a:ext>
            </a:extLst>
          </p:cNvPr>
          <p:cNvGraphicFramePr>
            <a:graphicFrameLocks noGrp="1"/>
          </p:cNvGraphicFramePr>
          <p:nvPr>
            <p:ph idx="1"/>
            <p:extLst>
              <p:ext uri="{D42A27DB-BD31-4B8C-83A1-F6EECF244321}">
                <p14:modId xmlns:p14="http://schemas.microsoft.com/office/powerpoint/2010/main" val="1670126033"/>
              </p:ext>
            </p:extLst>
          </p:nvPr>
        </p:nvGraphicFramePr>
        <p:xfrm>
          <a:off x="2679357" y="2119616"/>
          <a:ext cx="6833286" cy="3621660"/>
        </p:xfrm>
        <a:graphic>
          <a:graphicData uri="http://schemas.openxmlformats.org/drawingml/2006/table">
            <a:tbl>
              <a:tblPr bandRow="1">
                <a:tableStyleId>{5940675A-B579-460E-94D1-54222C63F5DA}</a:tableStyleId>
              </a:tblPr>
              <a:tblGrid>
                <a:gridCol w="2671585">
                  <a:extLst>
                    <a:ext uri="{9D8B030D-6E8A-4147-A177-3AD203B41FA5}">
                      <a16:colId xmlns:a16="http://schemas.microsoft.com/office/drawing/2014/main" val="3948206795"/>
                    </a:ext>
                  </a:extLst>
                </a:gridCol>
                <a:gridCol w="4161701">
                  <a:extLst>
                    <a:ext uri="{9D8B030D-6E8A-4147-A177-3AD203B41FA5}">
                      <a16:colId xmlns:a16="http://schemas.microsoft.com/office/drawing/2014/main" val="3859304334"/>
                    </a:ext>
                  </a:extLst>
                </a:gridCol>
              </a:tblGrid>
              <a:tr h="603610">
                <a:tc>
                  <a:txBody>
                    <a:bodyPr/>
                    <a:lstStyle/>
                    <a:p>
                      <a:pPr algn="ctr"/>
                      <a:r>
                        <a:rPr lang="en-US" sz="2400" b="1" dirty="0">
                          <a:latin typeface="Quadraat" panose="02000503060000090004" pitchFamily="2" charset="0"/>
                        </a:rPr>
                        <a:t>Class</a:t>
                      </a:r>
                    </a:p>
                  </a:txBody>
                  <a:tcPr anchor="ctr"/>
                </a:tc>
                <a:tc>
                  <a:txBody>
                    <a:bodyPr/>
                    <a:lstStyle/>
                    <a:p>
                      <a:pPr algn="ctr"/>
                      <a:r>
                        <a:rPr lang="en-US" sz="2400" b="1" dirty="0">
                          <a:latin typeface="Quadraat" panose="02000503060000090004" pitchFamily="2" charset="0"/>
                        </a:rPr>
                        <a:t>Examples</a:t>
                      </a:r>
                    </a:p>
                  </a:txBody>
                  <a:tcPr anchor="ctr"/>
                </a:tc>
                <a:extLst>
                  <a:ext uri="{0D108BD9-81ED-4DB2-BD59-A6C34878D82A}">
                    <a16:rowId xmlns:a16="http://schemas.microsoft.com/office/drawing/2014/main" val="3854987714"/>
                  </a:ext>
                </a:extLst>
              </a:tr>
              <a:tr h="603610">
                <a:tc>
                  <a:txBody>
                    <a:bodyPr/>
                    <a:lstStyle/>
                    <a:p>
                      <a:pPr algn="ctr"/>
                      <a:r>
                        <a:rPr lang="en-US" b="1" dirty="0">
                          <a:latin typeface="Quadraat" panose="02000503060000090004" pitchFamily="2" charset="0"/>
                        </a:rPr>
                        <a:t>Duration of illness</a:t>
                      </a:r>
                    </a:p>
                  </a:txBody>
                  <a:tcPr anchor="ctr">
                    <a:solidFill>
                      <a:srgbClr val="FFFF00"/>
                    </a:solidFill>
                  </a:tcPr>
                </a:tc>
                <a:tc>
                  <a:txBody>
                    <a:bodyPr/>
                    <a:lstStyle/>
                    <a:p>
                      <a:pPr algn="ctr"/>
                      <a:r>
                        <a:rPr lang="en-US" dirty="0">
                          <a:latin typeface="Quadraat" panose="02000503060000090004" pitchFamily="2" charset="0"/>
                        </a:rPr>
                        <a:t>Acute vs chronic</a:t>
                      </a:r>
                    </a:p>
                  </a:txBody>
                  <a:tcPr anchor="ctr">
                    <a:solidFill>
                      <a:srgbClr val="FFFF00"/>
                    </a:solidFill>
                  </a:tcPr>
                </a:tc>
                <a:extLst>
                  <a:ext uri="{0D108BD9-81ED-4DB2-BD59-A6C34878D82A}">
                    <a16:rowId xmlns:a16="http://schemas.microsoft.com/office/drawing/2014/main" val="3959356749"/>
                  </a:ext>
                </a:extLst>
              </a:tr>
              <a:tr h="603610">
                <a:tc>
                  <a:txBody>
                    <a:bodyPr/>
                    <a:lstStyle/>
                    <a:p>
                      <a:pPr algn="ctr"/>
                      <a:r>
                        <a:rPr lang="en-US" b="1" dirty="0">
                          <a:latin typeface="Quadraat" panose="02000503060000090004" pitchFamily="2" charset="0"/>
                        </a:rPr>
                        <a:t>Stool characteristic</a:t>
                      </a:r>
                    </a:p>
                  </a:txBody>
                  <a:tcPr anchor="ctr">
                    <a:solidFill>
                      <a:srgbClr val="FFFF00"/>
                    </a:solidFill>
                  </a:tcPr>
                </a:tc>
                <a:tc>
                  <a:txBody>
                    <a:bodyPr/>
                    <a:lstStyle/>
                    <a:p>
                      <a:pPr algn="ctr"/>
                      <a:r>
                        <a:rPr lang="en-US" dirty="0">
                          <a:latin typeface="Quadraat" panose="02000503060000090004" pitchFamily="2" charset="0"/>
                        </a:rPr>
                        <a:t>Watery, fatty, or bloody</a:t>
                      </a:r>
                    </a:p>
                  </a:txBody>
                  <a:tcPr anchor="ctr">
                    <a:solidFill>
                      <a:srgbClr val="FFFF00"/>
                    </a:solidFill>
                  </a:tcPr>
                </a:tc>
                <a:extLst>
                  <a:ext uri="{0D108BD9-81ED-4DB2-BD59-A6C34878D82A}">
                    <a16:rowId xmlns:a16="http://schemas.microsoft.com/office/drawing/2014/main" val="4223972376"/>
                  </a:ext>
                </a:extLst>
              </a:tr>
              <a:tr h="60361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Quadraat" panose="02000503060000090004" pitchFamily="2" charset="0"/>
                        </a:rPr>
                        <a:t>Pathophysiology</a:t>
                      </a:r>
                    </a:p>
                  </a:txBody>
                  <a:tcPr anchor="ct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Quadraat" panose="02000503060000090004" pitchFamily="2" charset="0"/>
                        </a:rPr>
                        <a:t>Osmotic, secretory or inflammatory</a:t>
                      </a:r>
                    </a:p>
                  </a:txBody>
                  <a:tcPr anchor="ctr">
                    <a:solidFill>
                      <a:srgbClr val="FFFF00"/>
                    </a:solidFill>
                  </a:tcPr>
                </a:tc>
                <a:extLst>
                  <a:ext uri="{0D108BD9-81ED-4DB2-BD59-A6C34878D82A}">
                    <a16:rowId xmlns:a16="http://schemas.microsoft.com/office/drawing/2014/main" val="3631729595"/>
                  </a:ext>
                </a:extLst>
              </a:tr>
              <a:tr h="603610">
                <a:tc>
                  <a:txBody>
                    <a:bodyPr/>
                    <a:lstStyle/>
                    <a:p>
                      <a:pPr algn="ctr"/>
                      <a:r>
                        <a:rPr lang="en-US" b="1" dirty="0">
                          <a:latin typeface="Quadraat" panose="02000503060000090004" pitchFamily="2" charset="0"/>
                        </a:rPr>
                        <a:t>Population at risk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Quadraat" panose="02000503060000090004" pitchFamily="2" charset="0"/>
                        </a:rPr>
                        <a:t>AIDS, international travelers, etc. </a:t>
                      </a:r>
                    </a:p>
                  </a:txBody>
                  <a:tcPr anchor="ctr"/>
                </a:tc>
                <a:extLst>
                  <a:ext uri="{0D108BD9-81ED-4DB2-BD59-A6C34878D82A}">
                    <a16:rowId xmlns:a16="http://schemas.microsoft.com/office/drawing/2014/main" val="2945186071"/>
                  </a:ext>
                </a:extLst>
              </a:tr>
              <a:tr h="603610">
                <a:tc>
                  <a:txBody>
                    <a:bodyPr/>
                    <a:lstStyle/>
                    <a:p>
                      <a:pPr algn="ctr"/>
                      <a:r>
                        <a:rPr lang="en-US" b="1" dirty="0">
                          <a:latin typeface="Quadraat" panose="02000503060000090004" pitchFamily="2" charset="0"/>
                        </a:rPr>
                        <a:t>Severity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Quadraat" panose="02000503060000090004" pitchFamily="2" charset="0"/>
                        </a:rPr>
                        <a:t>Large vs small volume</a:t>
                      </a:r>
                    </a:p>
                  </a:txBody>
                  <a:tcPr anchor="ctr"/>
                </a:tc>
                <a:extLst>
                  <a:ext uri="{0D108BD9-81ED-4DB2-BD59-A6C34878D82A}">
                    <a16:rowId xmlns:a16="http://schemas.microsoft.com/office/drawing/2014/main" val="2190630007"/>
                  </a:ext>
                </a:extLst>
              </a:tr>
            </a:tbl>
          </a:graphicData>
        </a:graphic>
      </p:graphicFrame>
    </p:spTree>
    <p:extLst>
      <p:ext uri="{BB962C8B-B14F-4D97-AF65-F5344CB8AC3E}">
        <p14:creationId xmlns:p14="http://schemas.microsoft.com/office/powerpoint/2010/main" val="2551182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BF49F-06E1-AF40-9927-91B0E3445EB1}"/>
              </a:ext>
            </a:extLst>
          </p:cNvPr>
          <p:cNvSpPr>
            <a:spLocks noGrp="1"/>
          </p:cNvSpPr>
          <p:nvPr>
            <p:ph type="title"/>
          </p:nvPr>
        </p:nvSpPr>
        <p:spPr/>
        <p:txBody>
          <a:bodyPr/>
          <a:lstStyle/>
          <a:p>
            <a:r>
              <a:rPr lang="en-US" dirty="0"/>
              <a:t>Pathophysiology of diarrhea</a:t>
            </a:r>
          </a:p>
        </p:txBody>
      </p:sp>
      <p:sp>
        <p:nvSpPr>
          <p:cNvPr id="3" name="Text Placeholder 2">
            <a:extLst>
              <a:ext uri="{FF2B5EF4-FFF2-40B4-BE49-F238E27FC236}">
                <a16:creationId xmlns:a16="http://schemas.microsoft.com/office/drawing/2014/main" id="{E81A9139-0AA6-E34F-BBA8-8BB1948F928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91172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990E7-63B2-104D-AEB2-2A5E8D88EF34}"/>
              </a:ext>
            </a:extLst>
          </p:cNvPr>
          <p:cNvSpPr>
            <a:spLocks noGrp="1"/>
          </p:cNvSpPr>
          <p:nvPr>
            <p:ph type="title"/>
          </p:nvPr>
        </p:nvSpPr>
        <p:spPr/>
        <p:txBody>
          <a:bodyPr/>
          <a:lstStyle/>
          <a:p>
            <a:r>
              <a:rPr lang="en-US" dirty="0"/>
              <a:t>Pathophysiology of diarrhea</a:t>
            </a:r>
          </a:p>
        </p:txBody>
      </p:sp>
      <p:pic>
        <p:nvPicPr>
          <p:cNvPr id="20" name="Content Placeholder 19">
            <a:extLst>
              <a:ext uri="{FF2B5EF4-FFF2-40B4-BE49-F238E27FC236}">
                <a16:creationId xmlns:a16="http://schemas.microsoft.com/office/drawing/2014/main" id="{B121CD09-1A9B-164A-8C31-8DAF5071C136}"/>
              </a:ext>
            </a:extLst>
          </p:cNvPr>
          <p:cNvPicPr>
            <a:picLocks noGrp="1" noChangeAspect="1"/>
          </p:cNvPicPr>
          <p:nvPr>
            <p:ph idx="1"/>
          </p:nvPr>
        </p:nvPicPr>
        <p:blipFill>
          <a:blip r:embed="rId2"/>
          <a:stretch>
            <a:fillRect/>
          </a:stretch>
        </p:blipFill>
        <p:spPr>
          <a:xfrm>
            <a:off x="462844" y="1309889"/>
            <a:ext cx="11264900" cy="2948302"/>
          </a:xfrm>
          <a:prstGeom prst="rect">
            <a:avLst/>
          </a:prstGeom>
        </p:spPr>
      </p:pic>
    </p:spTree>
    <p:extLst>
      <p:ext uri="{BB962C8B-B14F-4D97-AF65-F5344CB8AC3E}">
        <p14:creationId xmlns:p14="http://schemas.microsoft.com/office/powerpoint/2010/main" val="276220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990E7-63B2-104D-AEB2-2A5E8D88EF34}"/>
              </a:ext>
            </a:extLst>
          </p:cNvPr>
          <p:cNvSpPr>
            <a:spLocks noGrp="1"/>
          </p:cNvSpPr>
          <p:nvPr>
            <p:ph type="title"/>
          </p:nvPr>
        </p:nvSpPr>
        <p:spPr/>
        <p:txBody>
          <a:bodyPr/>
          <a:lstStyle/>
          <a:p>
            <a:r>
              <a:rPr lang="en-US" dirty="0"/>
              <a:t>Pathophysiology of diarrhea</a:t>
            </a:r>
          </a:p>
        </p:txBody>
      </p:sp>
      <p:pic>
        <p:nvPicPr>
          <p:cNvPr id="20" name="Content Placeholder 19">
            <a:extLst>
              <a:ext uri="{FF2B5EF4-FFF2-40B4-BE49-F238E27FC236}">
                <a16:creationId xmlns:a16="http://schemas.microsoft.com/office/drawing/2014/main" id="{B121CD09-1A9B-164A-8C31-8DAF5071C136}"/>
              </a:ext>
            </a:extLst>
          </p:cNvPr>
          <p:cNvPicPr>
            <a:picLocks noGrp="1" noChangeAspect="1"/>
          </p:cNvPicPr>
          <p:nvPr>
            <p:ph idx="1"/>
          </p:nvPr>
        </p:nvPicPr>
        <p:blipFill>
          <a:blip r:embed="rId2"/>
          <a:stretch>
            <a:fillRect/>
          </a:stretch>
        </p:blipFill>
        <p:spPr>
          <a:xfrm>
            <a:off x="462844" y="1309889"/>
            <a:ext cx="11264900" cy="2948302"/>
          </a:xfrm>
          <a:prstGeom prst="rect">
            <a:avLst/>
          </a:prstGeom>
        </p:spPr>
      </p:pic>
      <p:sp>
        <p:nvSpPr>
          <p:cNvPr id="3" name="TextBox 2">
            <a:extLst>
              <a:ext uri="{FF2B5EF4-FFF2-40B4-BE49-F238E27FC236}">
                <a16:creationId xmlns:a16="http://schemas.microsoft.com/office/drawing/2014/main" id="{FC30D6BE-05CC-7B45-BB54-CE65ED746E5D}"/>
              </a:ext>
            </a:extLst>
          </p:cNvPr>
          <p:cNvSpPr txBox="1"/>
          <p:nvPr/>
        </p:nvSpPr>
        <p:spPr>
          <a:xfrm>
            <a:off x="462844" y="4408390"/>
            <a:ext cx="11264900" cy="461665"/>
          </a:xfrm>
          <a:prstGeom prst="rect">
            <a:avLst/>
          </a:prstGeom>
          <a:noFill/>
        </p:spPr>
        <p:txBody>
          <a:bodyPr wrap="square" rtlCol="0">
            <a:spAutoFit/>
          </a:bodyPr>
          <a:lstStyle/>
          <a:p>
            <a:pPr marL="285750" indent="-285750">
              <a:buFontTx/>
              <a:buChar char="-"/>
            </a:pPr>
            <a:r>
              <a:rPr lang="en-US" sz="2400" dirty="0">
                <a:latin typeface="Quadraat" panose="02000503060000090004" pitchFamily="2" charset="0"/>
              </a:rPr>
              <a:t>A decrease in overall intestinal absorption of 1-2% is sufficiency to cause diarrhea</a:t>
            </a:r>
          </a:p>
        </p:txBody>
      </p:sp>
    </p:spTree>
    <p:extLst>
      <p:ext uri="{BB962C8B-B14F-4D97-AF65-F5344CB8AC3E}">
        <p14:creationId xmlns:p14="http://schemas.microsoft.com/office/powerpoint/2010/main" val="835405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990E7-63B2-104D-AEB2-2A5E8D88EF34}"/>
              </a:ext>
            </a:extLst>
          </p:cNvPr>
          <p:cNvSpPr>
            <a:spLocks noGrp="1"/>
          </p:cNvSpPr>
          <p:nvPr>
            <p:ph type="title"/>
          </p:nvPr>
        </p:nvSpPr>
        <p:spPr/>
        <p:txBody>
          <a:bodyPr/>
          <a:lstStyle/>
          <a:p>
            <a:r>
              <a:rPr lang="en-US" dirty="0"/>
              <a:t>Pathophysiology of diarrhea</a:t>
            </a:r>
          </a:p>
        </p:txBody>
      </p:sp>
      <p:pic>
        <p:nvPicPr>
          <p:cNvPr id="20" name="Content Placeholder 19">
            <a:extLst>
              <a:ext uri="{FF2B5EF4-FFF2-40B4-BE49-F238E27FC236}">
                <a16:creationId xmlns:a16="http://schemas.microsoft.com/office/drawing/2014/main" id="{B121CD09-1A9B-164A-8C31-8DAF5071C136}"/>
              </a:ext>
            </a:extLst>
          </p:cNvPr>
          <p:cNvPicPr>
            <a:picLocks noGrp="1" noChangeAspect="1"/>
          </p:cNvPicPr>
          <p:nvPr>
            <p:ph idx="1"/>
          </p:nvPr>
        </p:nvPicPr>
        <p:blipFill>
          <a:blip r:embed="rId2"/>
          <a:stretch>
            <a:fillRect/>
          </a:stretch>
        </p:blipFill>
        <p:spPr>
          <a:xfrm>
            <a:off x="462844" y="1309889"/>
            <a:ext cx="11264900" cy="2948302"/>
          </a:xfrm>
          <a:prstGeom prst="rect">
            <a:avLst/>
          </a:prstGeom>
        </p:spPr>
      </p:pic>
      <p:sp>
        <p:nvSpPr>
          <p:cNvPr id="3" name="TextBox 2">
            <a:extLst>
              <a:ext uri="{FF2B5EF4-FFF2-40B4-BE49-F238E27FC236}">
                <a16:creationId xmlns:a16="http://schemas.microsoft.com/office/drawing/2014/main" id="{FC30D6BE-05CC-7B45-BB54-CE65ED746E5D}"/>
              </a:ext>
            </a:extLst>
          </p:cNvPr>
          <p:cNvSpPr txBox="1"/>
          <p:nvPr/>
        </p:nvSpPr>
        <p:spPr>
          <a:xfrm>
            <a:off x="462844" y="4408390"/>
            <a:ext cx="11264900" cy="1200329"/>
          </a:xfrm>
          <a:prstGeom prst="rect">
            <a:avLst/>
          </a:prstGeom>
          <a:noFill/>
        </p:spPr>
        <p:txBody>
          <a:bodyPr wrap="square" rtlCol="0">
            <a:spAutoFit/>
          </a:bodyPr>
          <a:lstStyle/>
          <a:p>
            <a:pPr marL="285750" indent="-285750">
              <a:buFontTx/>
              <a:buChar char="-"/>
            </a:pPr>
            <a:r>
              <a:rPr lang="en-US" sz="2400" dirty="0">
                <a:latin typeface="Quadraat" panose="02000503060000090004" pitchFamily="2" charset="0"/>
              </a:rPr>
              <a:t>A decrease in overall intestinal absorption of 1-2% is sufficiency to cause diarrhea</a:t>
            </a:r>
          </a:p>
          <a:p>
            <a:pPr marL="285750" indent="-285750">
              <a:buFontTx/>
              <a:buChar char="-"/>
            </a:pPr>
            <a:endParaRPr lang="en-US" sz="2400" dirty="0">
              <a:latin typeface="Quadraat" panose="02000503060000090004" pitchFamily="2" charset="0"/>
            </a:endParaRPr>
          </a:p>
          <a:p>
            <a:pPr algn="ctr"/>
            <a:r>
              <a:rPr lang="en-US" sz="2400" b="1" dirty="0">
                <a:latin typeface="Quadraat" panose="02000503060000090004" pitchFamily="2" charset="0"/>
              </a:rPr>
              <a:t>What type of diarrhea is this?</a:t>
            </a:r>
          </a:p>
        </p:txBody>
      </p:sp>
    </p:spTree>
    <p:extLst>
      <p:ext uri="{BB962C8B-B14F-4D97-AF65-F5344CB8AC3E}">
        <p14:creationId xmlns:p14="http://schemas.microsoft.com/office/powerpoint/2010/main" val="4270676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990E7-63B2-104D-AEB2-2A5E8D88EF34}"/>
              </a:ext>
            </a:extLst>
          </p:cNvPr>
          <p:cNvSpPr>
            <a:spLocks noGrp="1"/>
          </p:cNvSpPr>
          <p:nvPr>
            <p:ph type="title"/>
          </p:nvPr>
        </p:nvSpPr>
        <p:spPr/>
        <p:txBody>
          <a:bodyPr/>
          <a:lstStyle/>
          <a:p>
            <a:r>
              <a:rPr lang="en-US" dirty="0"/>
              <a:t>Pathophysiology of diarrhea</a:t>
            </a:r>
          </a:p>
        </p:txBody>
      </p:sp>
      <p:pic>
        <p:nvPicPr>
          <p:cNvPr id="20" name="Content Placeholder 19">
            <a:extLst>
              <a:ext uri="{FF2B5EF4-FFF2-40B4-BE49-F238E27FC236}">
                <a16:creationId xmlns:a16="http://schemas.microsoft.com/office/drawing/2014/main" id="{B121CD09-1A9B-164A-8C31-8DAF5071C136}"/>
              </a:ext>
            </a:extLst>
          </p:cNvPr>
          <p:cNvPicPr>
            <a:picLocks noGrp="1" noChangeAspect="1"/>
          </p:cNvPicPr>
          <p:nvPr>
            <p:ph idx="1"/>
          </p:nvPr>
        </p:nvPicPr>
        <p:blipFill>
          <a:blip r:embed="rId2"/>
          <a:stretch>
            <a:fillRect/>
          </a:stretch>
        </p:blipFill>
        <p:spPr>
          <a:xfrm>
            <a:off x="462844" y="1309889"/>
            <a:ext cx="11264900" cy="2948302"/>
          </a:xfrm>
          <a:prstGeom prst="rect">
            <a:avLst/>
          </a:prstGeom>
        </p:spPr>
      </p:pic>
      <p:sp>
        <p:nvSpPr>
          <p:cNvPr id="3" name="TextBox 2">
            <a:extLst>
              <a:ext uri="{FF2B5EF4-FFF2-40B4-BE49-F238E27FC236}">
                <a16:creationId xmlns:a16="http://schemas.microsoft.com/office/drawing/2014/main" id="{FC30D6BE-05CC-7B45-BB54-CE65ED746E5D}"/>
              </a:ext>
            </a:extLst>
          </p:cNvPr>
          <p:cNvSpPr txBox="1"/>
          <p:nvPr/>
        </p:nvSpPr>
        <p:spPr>
          <a:xfrm>
            <a:off x="462844" y="4408390"/>
            <a:ext cx="11264900" cy="1200329"/>
          </a:xfrm>
          <a:prstGeom prst="rect">
            <a:avLst/>
          </a:prstGeom>
          <a:noFill/>
        </p:spPr>
        <p:txBody>
          <a:bodyPr wrap="square" rtlCol="0">
            <a:spAutoFit/>
          </a:bodyPr>
          <a:lstStyle/>
          <a:p>
            <a:pPr marL="285750" indent="-285750">
              <a:buFontTx/>
              <a:buChar char="-"/>
            </a:pPr>
            <a:r>
              <a:rPr lang="en-US" sz="2400" dirty="0">
                <a:latin typeface="Quadraat" panose="02000503060000090004" pitchFamily="2" charset="0"/>
              </a:rPr>
              <a:t>A decrease in overall intestinal absorption of 1-2% is sufficiency to cause diarrhea</a:t>
            </a:r>
          </a:p>
          <a:p>
            <a:pPr marL="285750" indent="-285750">
              <a:buFontTx/>
              <a:buChar char="-"/>
            </a:pPr>
            <a:endParaRPr lang="en-US" sz="2400" dirty="0">
              <a:latin typeface="Quadraat" panose="02000503060000090004" pitchFamily="2" charset="0"/>
            </a:endParaRPr>
          </a:p>
          <a:p>
            <a:pPr algn="ctr"/>
            <a:r>
              <a:rPr lang="en-US" sz="2400" b="1" dirty="0">
                <a:latin typeface="Quadraat" panose="02000503060000090004" pitchFamily="2" charset="0"/>
              </a:rPr>
              <a:t>Secretory diarrhea</a:t>
            </a:r>
          </a:p>
        </p:txBody>
      </p:sp>
    </p:spTree>
    <p:extLst>
      <p:ext uri="{BB962C8B-B14F-4D97-AF65-F5344CB8AC3E}">
        <p14:creationId xmlns:p14="http://schemas.microsoft.com/office/powerpoint/2010/main" val="632608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990E7-63B2-104D-AEB2-2A5E8D88EF34}"/>
              </a:ext>
            </a:extLst>
          </p:cNvPr>
          <p:cNvSpPr>
            <a:spLocks noGrp="1"/>
          </p:cNvSpPr>
          <p:nvPr>
            <p:ph type="title"/>
          </p:nvPr>
        </p:nvSpPr>
        <p:spPr/>
        <p:txBody>
          <a:bodyPr/>
          <a:lstStyle/>
          <a:p>
            <a:r>
              <a:rPr lang="en-US" dirty="0"/>
              <a:t>Pathophysiology of diarrhea</a:t>
            </a:r>
          </a:p>
        </p:txBody>
      </p:sp>
      <p:pic>
        <p:nvPicPr>
          <p:cNvPr id="20" name="Content Placeholder 19">
            <a:extLst>
              <a:ext uri="{FF2B5EF4-FFF2-40B4-BE49-F238E27FC236}">
                <a16:creationId xmlns:a16="http://schemas.microsoft.com/office/drawing/2014/main" id="{B121CD09-1A9B-164A-8C31-8DAF5071C136}"/>
              </a:ext>
            </a:extLst>
          </p:cNvPr>
          <p:cNvPicPr>
            <a:picLocks noGrp="1" noChangeAspect="1"/>
          </p:cNvPicPr>
          <p:nvPr>
            <p:ph idx="1"/>
          </p:nvPr>
        </p:nvPicPr>
        <p:blipFill>
          <a:blip r:embed="rId2"/>
          <a:stretch>
            <a:fillRect/>
          </a:stretch>
        </p:blipFill>
        <p:spPr>
          <a:xfrm>
            <a:off x="462844" y="1309889"/>
            <a:ext cx="11264900" cy="2948302"/>
          </a:xfrm>
          <a:prstGeom prst="rect">
            <a:avLst/>
          </a:prstGeom>
        </p:spPr>
      </p:pic>
      <p:sp>
        <p:nvSpPr>
          <p:cNvPr id="3" name="TextBox 2">
            <a:extLst>
              <a:ext uri="{FF2B5EF4-FFF2-40B4-BE49-F238E27FC236}">
                <a16:creationId xmlns:a16="http://schemas.microsoft.com/office/drawing/2014/main" id="{FC30D6BE-05CC-7B45-BB54-CE65ED746E5D}"/>
              </a:ext>
            </a:extLst>
          </p:cNvPr>
          <p:cNvSpPr txBox="1"/>
          <p:nvPr/>
        </p:nvSpPr>
        <p:spPr>
          <a:xfrm>
            <a:off x="462844" y="4408390"/>
            <a:ext cx="11729156" cy="1569660"/>
          </a:xfrm>
          <a:prstGeom prst="rect">
            <a:avLst/>
          </a:prstGeom>
          <a:noFill/>
        </p:spPr>
        <p:txBody>
          <a:bodyPr wrap="square" rtlCol="0">
            <a:spAutoFit/>
          </a:bodyPr>
          <a:lstStyle/>
          <a:p>
            <a:pPr marL="285750" indent="-285750">
              <a:buFontTx/>
              <a:buChar char="-"/>
            </a:pPr>
            <a:r>
              <a:rPr lang="en-US" sz="2400" dirty="0">
                <a:latin typeface="Quadraat" panose="02000503060000090004" pitchFamily="2" charset="0"/>
              </a:rPr>
              <a:t>A decrease in overall intestinal absorption of 1-2% is sufficiency to cause </a:t>
            </a:r>
            <a:r>
              <a:rPr lang="en-US" sz="2400" b="1" dirty="0">
                <a:latin typeface="Quadraat" panose="02000503060000090004" pitchFamily="2" charset="0"/>
              </a:rPr>
              <a:t>secretory diarrhea</a:t>
            </a:r>
          </a:p>
          <a:p>
            <a:pPr marL="285750" indent="-285750">
              <a:buFontTx/>
              <a:buChar char="-"/>
            </a:pPr>
            <a:endParaRPr lang="en-US" sz="2400" dirty="0">
              <a:latin typeface="Quadraat" panose="02000503060000090004" pitchFamily="2" charset="0"/>
            </a:endParaRPr>
          </a:p>
          <a:p>
            <a:pPr marL="285750" indent="-285750">
              <a:buFontTx/>
              <a:buChar char="-"/>
            </a:pPr>
            <a:r>
              <a:rPr lang="en-US" sz="2400" dirty="0">
                <a:latin typeface="Quadraat" panose="02000503060000090004" pitchFamily="2" charset="0"/>
              </a:rPr>
              <a:t>Excess stool water from poorly absorbed substances that remain in the lumen can cause </a:t>
            </a:r>
            <a:r>
              <a:rPr lang="en-US" sz="2400" b="1" dirty="0">
                <a:latin typeface="Quadraat" panose="02000503060000090004" pitchFamily="2" charset="0"/>
              </a:rPr>
              <a:t>osmotic diarrhea </a:t>
            </a:r>
          </a:p>
        </p:txBody>
      </p:sp>
    </p:spTree>
    <p:extLst>
      <p:ext uri="{BB962C8B-B14F-4D97-AF65-F5344CB8AC3E}">
        <p14:creationId xmlns:p14="http://schemas.microsoft.com/office/powerpoint/2010/main" val="3428746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Fecal osmotic gap</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9EEF21E-9513-1F42-987E-08E5ED398673}"/>
                  </a:ext>
                </a:extLst>
              </p:cNvPr>
              <p:cNvSpPr txBox="1"/>
              <p:nvPr/>
            </p:nvSpPr>
            <p:spPr>
              <a:xfrm>
                <a:off x="1579956" y="1462088"/>
                <a:ext cx="9032088"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1" i="1" smtClean="0">
                          <a:latin typeface="Cambria Math" panose="02040503050406030204" pitchFamily="18" charset="0"/>
                        </a:rPr>
                        <m:t>𝟐𝟗𝟎</m:t>
                      </m:r>
                      <m:f>
                        <m:fPr>
                          <m:type m:val="lin"/>
                          <m:ctrlPr>
                            <a:rPr lang="en-US" sz="3600" b="1" i="1" smtClean="0">
                              <a:latin typeface="Cambria Math" panose="02040503050406030204" pitchFamily="18" charset="0"/>
                            </a:rPr>
                          </m:ctrlPr>
                        </m:fPr>
                        <m:num>
                          <m:r>
                            <a:rPr lang="en-US" sz="3600" b="1" i="1" smtClean="0">
                              <a:latin typeface="Cambria Math" panose="02040503050406030204" pitchFamily="18" charset="0"/>
                            </a:rPr>
                            <m:t>𝒎𝑶𝒔𝒎</m:t>
                          </m:r>
                        </m:num>
                        <m:den>
                          <m:r>
                            <a:rPr lang="en-US" sz="3600" b="1" i="1" smtClean="0">
                              <a:latin typeface="Cambria Math" panose="02040503050406030204" pitchFamily="18" charset="0"/>
                            </a:rPr>
                            <m:t>𝒌𝒈</m:t>
                          </m:r>
                        </m:den>
                      </m:f>
                      <m:r>
                        <a:rPr lang="en-US" sz="3600" b="1" i="1" smtClean="0">
                          <a:latin typeface="Cambria Math" panose="02040503050406030204" pitchFamily="18" charset="0"/>
                        </a:rPr>
                        <m:t>−</m:t>
                      </m:r>
                      <m:r>
                        <a:rPr lang="en-US" sz="3600" b="1" i="1" smtClean="0">
                          <a:latin typeface="Cambria Math" panose="02040503050406030204" pitchFamily="18" charset="0"/>
                        </a:rPr>
                        <m:t>𝟐</m:t>
                      </m:r>
                      <m:r>
                        <a:rPr lang="en-US" sz="3600" b="1" i="1" smtClean="0">
                          <a:latin typeface="Cambria Math" panose="02040503050406030204" pitchFamily="18" charset="0"/>
                        </a:rPr>
                        <m:t> × (</m:t>
                      </m:r>
                      <m:r>
                        <a:rPr lang="en-US" sz="3600" b="1" i="1" smtClean="0">
                          <a:latin typeface="Cambria Math" panose="02040503050406030204" pitchFamily="18" charset="0"/>
                          <a:ea typeface="Cambria Math" panose="02040503050406030204" pitchFamily="18" charset="0"/>
                        </a:rPr>
                        <m:t>𝒔𝒕𝒐𝒐𝒍</m:t>
                      </m:r>
                      <m:r>
                        <a:rPr lang="en-US" sz="3600" b="1" i="1" smtClean="0">
                          <a:latin typeface="Cambria Math" panose="02040503050406030204" pitchFamily="18" charset="0"/>
                          <a:ea typeface="Cambria Math" panose="02040503050406030204" pitchFamily="18" charset="0"/>
                        </a:rPr>
                        <m:t> </m:t>
                      </m:r>
                      <m:r>
                        <a:rPr lang="en-US" sz="3600" b="1" i="1" smtClean="0">
                          <a:latin typeface="Cambria Math" panose="02040503050406030204" pitchFamily="18" charset="0"/>
                          <a:ea typeface="Cambria Math" panose="02040503050406030204" pitchFamily="18" charset="0"/>
                        </a:rPr>
                        <m:t>𝑵𝒂</m:t>
                      </m:r>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𝒔𝒕𝒐𝒐𝒍</m:t>
                      </m:r>
                      <m:r>
                        <a:rPr lang="en-US" sz="3600" b="1" i="1" smtClean="0">
                          <a:latin typeface="Cambria Math" panose="02040503050406030204" pitchFamily="18" charset="0"/>
                          <a:ea typeface="Cambria Math" panose="02040503050406030204" pitchFamily="18" charset="0"/>
                        </a:rPr>
                        <m:t> </m:t>
                      </m:r>
                      <m:r>
                        <a:rPr lang="en-US" sz="3600" b="1" i="1" smtClean="0">
                          <a:latin typeface="Cambria Math" panose="02040503050406030204" pitchFamily="18" charset="0"/>
                          <a:ea typeface="Cambria Math" panose="02040503050406030204" pitchFamily="18" charset="0"/>
                        </a:rPr>
                        <m:t>𝑲</m:t>
                      </m:r>
                      <m:r>
                        <a:rPr lang="en-US" sz="3600" b="1" i="1" smtClean="0">
                          <a:latin typeface="Cambria Math" panose="02040503050406030204" pitchFamily="18" charset="0"/>
                          <a:ea typeface="Cambria Math" panose="02040503050406030204" pitchFamily="18" charset="0"/>
                        </a:rPr>
                        <m:t>)</m:t>
                      </m:r>
                    </m:oMath>
                  </m:oMathPara>
                </a14:m>
                <a:endParaRPr lang="en-US" sz="3600" b="1" dirty="0"/>
              </a:p>
            </p:txBody>
          </p:sp>
        </mc:Choice>
        <mc:Fallback xmlns="">
          <p:sp>
            <p:nvSpPr>
              <p:cNvPr id="5" name="TextBox 4">
                <a:extLst>
                  <a:ext uri="{FF2B5EF4-FFF2-40B4-BE49-F238E27FC236}">
                    <a16:creationId xmlns:a16="http://schemas.microsoft.com/office/drawing/2014/main" id="{79EEF21E-9513-1F42-987E-08E5ED398673}"/>
                  </a:ext>
                </a:extLst>
              </p:cNvPr>
              <p:cNvSpPr txBox="1">
                <a:spLocks noRot="1" noChangeAspect="1" noMove="1" noResize="1" noEditPoints="1" noAdjustHandles="1" noChangeArrowheads="1" noChangeShapeType="1" noTextEdit="1"/>
              </p:cNvSpPr>
              <p:nvPr/>
            </p:nvSpPr>
            <p:spPr>
              <a:xfrm>
                <a:off x="1579956" y="1462088"/>
                <a:ext cx="9032088" cy="553998"/>
              </a:xfrm>
              <a:prstGeom prst="rect">
                <a:avLst/>
              </a:prstGeom>
              <a:blipFill>
                <a:blip r:embed="rId2"/>
                <a:stretch>
                  <a:fillRect l="-702" t="-170455" r="-1264" b="-256818"/>
                </a:stretch>
              </a:blipFill>
            </p:spPr>
            <p:txBody>
              <a:bodyPr/>
              <a:lstStyle/>
              <a:p>
                <a:r>
                  <a:rPr lang="en-US">
                    <a:noFill/>
                  </a:rPr>
                  <a:t> </a:t>
                </a:r>
              </a:p>
            </p:txBody>
          </p:sp>
        </mc:Fallback>
      </mc:AlternateContent>
    </p:spTree>
    <p:extLst>
      <p:ext uri="{BB962C8B-B14F-4D97-AF65-F5344CB8AC3E}">
        <p14:creationId xmlns:p14="http://schemas.microsoft.com/office/powerpoint/2010/main" val="4113271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Fecal osmotic gap</a:t>
            </a:r>
          </a:p>
        </p:txBody>
      </p:sp>
      <p:graphicFrame>
        <p:nvGraphicFramePr>
          <p:cNvPr id="6" name="Table 6">
            <a:extLst>
              <a:ext uri="{FF2B5EF4-FFF2-40B4-BE49-F238E27FC236}">
                <a16:creationId xmlns:a16="http://schemas.microsoft.com/office/drawing/2014/main" id="{295DFE80-B11F-F44A-8998-AD3C27159080}"/>
              </a:ext>
            </a:extLst>
          </p:cNvPr>
          <p:cNvGraphicFramePr>
            <a:graphicFrameLocks noGrp="1"/>
          </p:cNvGraphicFramePr>
          <p:nvPr>
            <p:ph idx="1"/>
          </p:nvPr>
        </p:nvGraphicFramePr>
        <p:xfrm>
          <a:off x="460722" y="2863297"/>
          <a:ext cx="11264898" cy="2532615"/>
        </p:xfrm>
        <a:graphic>
          <a:graphicData uri="http://schemas.openxmlformats.org/drawingml/2006/table">
            <a:tbl>
              <a:tblPr firstRow="1" bandRow="1">
                <a:tableStyleId>{5940675A-B579-460E-94D1-54222C63F5DA}</a:tableStyleId>
              </a:tblPr>
              <a:tblGrid>
                <a:gridCol w="3754966">
                  <a:extLst>
                    <a:ext uri="{9D8B030D-6E8A-4147-A177-3AD203B41FA5}">
                      <a16:colId xmlns:a16="http://schemas.microsoft.com/office/drawing/2014/main" val="185609587"/>
                    </a:ext>
                  </a:extLst>
                </a:gridCol>
                <a:gridCol w="3754966">
                  <a:extLst>
                    <a:ext uri="{9D8B030D-6E8A-4147-A177-3AD203B41FA5}">
                      <a16:colId xmlns:a16="http://schemas.microsoft.com/office/drawing/2014/main" val="3401996596"/>
                    </a:ext>
                  </a:extLst>
                </a:gridCol>
                <a:gridCol w="3754966">
                  <a:extLst>
                    <a:ext uri="{9D8B030D-6E8A-4147-A177-3AD203B41FA5}">
                      <a16:colId xmlns:a16="http://schemas.microsoft.com/office/drawing/2014/main" val="1109181197"/>
                    </a:ext>
                  </a:extLst>
                </a:gridCol>
              </a:tblGrid>
              <a:tr h="844205">
                <a:tc>
                  <a:txBody>
                    <a:bodyPr/>
                    <a:lstStyle/>
                    <a:p>
                      <a:pPr algn="ctr"/>
                      <a:endParaRPr lang="en-US" sz="3200" dirty="0">
                        <a:latin typeface="Quadraat" panose="02000503060000090004"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Quadraat" panose="02000503060000090004" pitchFamily="2" charset="0"/>
                        </a:rPr>
                        <a:t>Osmotic Diarrhea</a:t>
                      </a:r>
                    </a:p>
                  </a:txBody>
                  <a:tcPr anchor="ctr">
                    <a:lnL w="12700" cap="flat" cmpd="sng" algn="ctr">
                      <a:solidFill>
                        <a:schemeClr val="tx1"/>
                      </a:solidFill>
                      <a:prstDash val="solid"/>
                      <a:round/>
                      <a:headEnd type="none" w="med" len="med"/>
                      <a:tailEnd type="none" w="med" len="med"/>
                    </a:lnL>
                  </a:tcPr>
                </a:tc>
                <a:tc>
                  <a:txBody>
                    <a:bodyPr/>
                    <a:lstStyle/>
                    <a:p>
                      <a:pPr algn="ctr"/>
                      <a:r>
                        <a:rPr lang="en-US" sz="3200" b="1" dirty="0">
                          <a:latin typeface="Quadraat" panose="02000503060000090004" pitchFamily="2" charset="0"/>
                        </a:rPr>
                        <a:t>Secretory Diarrhea</a:t>
                      </a:r>
                    </a:p>
                  </a:txBody>
                  <a:tcPr anchor="ctr"/>
                </a:tc>
                <a:extLst>
                  <a:ext uri="{0D108BD9-81ED-4DB2-BD59-A6C34878D82A}">
                    <a16:rowId xmlns:a16="http://schemas.microsoft.com/office/drawing/2014/main" val="3664929473"/>
                  </a:ext>
                </a:extLst>
              </a:tr>
              <a:tr h="844205">
                <a:tc>
                  <a:txBody>
                    <a:bodyPr/>
                    <a:lstStyle/>
                    <a:p>
                      <a:pPr algn="ctr"/>
                      <a:r>
                        <a:rPr lang="en-US" sz="3200" dirty="0">
                          <a:latin typeface="Quadraat" panose="02000503060000090004" pitchFamily="2" charset="0"/>
                        </a:rPr>
                        <a:t>Osmotic Gap</a:t>
                      </a:r>
                    </a:p>
                  </a:txBody>
                  <a:tcPr anchor="ctr">
                    <a:lnT w="12700" cap="flat" cmpd="sng" algn="ctr">
                      <a:solidFill>
                        <a:schemeClr val="tx1"/>
                      </a:solidFill>
                      <a:prstDash val="solid"/>
                      <a:round/>
                      <a:headEnd type="none" w="med" len="med"/>
                      <a:tailEnd type="none" w="med" len="med"/>
                    </a:lnT>
                  </a:tcPr>
                </a:tc>
                <a:tc>
                  <a:txBody>
                    <a:bodyPr/>
                    <a:lstStyle/>
                    <a:p>
                      <a:pPr algn="ctr"/>
                      <a:r>
                        <a:rPr lang="en-US" sz="3200" dirty="0">
                          <a:latin typeface="Quadraat" panose="02000503060000090004" pitchFamily="2" charset="0"/>
                        </a:rPr>
                        <a:t>&lt; 50</a:t>
                      </a:r>
                      <a:endParaRPr lang="en-US" sz="3200" i="1" dirty="0">
                        <a:latin typeface="Quadraat" panose="02000503060000090004" pitchFamily="2" charset="0"/>
                      </a:endParaRPr>
                    </a:p>
                  </a:txBody>
                  <a:tcPr anchor="ctr"/>
                </a:tc>
                <a:tc>
                  <a:txBody>
                    <a:bodyPr/>
                    <a:lstStyle/>
                    <a:p>
                      <a:pPr algn="ctr"/>
                      <a:r>
                        <a:rPr lang="en-US" sz="3200" dirty="0">
                          <a:latin typeface="Quadraat" panose="02000503060000090004" pitchFamily="2" charset="0"/>
                        </a:rPr>
                        <a:t>&gt; 100-125</a:t>
                      </a:r>
                      <a:endParaRPr lang="en-US" sz="3200" i="1" dirty="0">
                        <a:latin typeface="Quadraat" panose="02000503060000090004" pitchFamily="2" charset="0"/>
                      </a:endParaRPr>
                    </a:p>
                  </a:txBody>
                  <a:tcPr anchor="ctr"/>
                </a:tc>
                <a:extLst>
                  <a:ext uri="{0D108BD9-81ED-4DB2-BD59-A6C34878D82A}">
                    <a16:rowId xmlns:a16="http://schemas.microsoft.com/office/drawing/2014/main" val="3922050088"/>
                  </a:ext>
                </a:extLst>
              </a:tr>
              <a:tr h="844205">
                <a:tc>
                  <a:txBody>
                    <a:bodyPr/>
                    <a:lstStyle/>
                    <a:p>
                      <a:pPr algn="ctr"/>
                      <a:r>
                        <a:rPr lang="en-US" sz="3200" dirty="0">
                          <a:latin typeface="Quadraat" panose="02000503060000090004" pitchFamily="2" charset="0"/>
                        </a:rPr>
                        <a:t>Stool pH</a:t>
                      </a:r>
                    </a:p>
                  </a:txBody>
                  <a:tcPr anchor="ctr"/>
                </a:tc>
                <a:tc>
                  <a:txBody>
                    <a:bodyPr/>
                    <a:lstStyle/>
                    <a:p>
                      <a:pPr algn="ctr"/>
                      <a:r>
                        <a:rPr lang="en-US" sz="3200" dirty="0">
                          <a:latin typeface="Quadraat" panose="02000503060000090004" pitchFamily="2" charset="0"/>
                        </a:rPr>
                        <a:t>&gt; 6.0</a:t>
                      </a:r>
                    </a:p>
                  </a:txBody>
                  <a:tcPr anchor="ctr"/>
                </a:tc>
                <a:tc>
                  <a:txBody>
                    <a:bodyPr/>
                    <a:lstStyle/>
                    <a:p>
                      <a:pPr algn="ctr"/>
                      <a:r>
                        <a:rPr lang="en-US" sz="3200" dirty="0">
                          <a:latin typeface="Quadraat" panose="02000503060000090004" pitchFamily="2" charset="0"/>
                        </a:rPr>
                        <a:t>&lt; 5.5</a:t>
                      </a:r>
                    </a:p>
                  </a:txBody>
                  <a:tcPr anchor="ctr"/>
                </a:tc>
                <a:extLst>
                  <a:ext uri="{0D108BD9-81ED-4DB2-BD59-A6C34878D82A}">
                    <a16:rowId xmlns:a16="http://schemas.microsoft.com/office/drawing/2014/main" val="4232491809"/>
                  </a:ext>
                </a:extLst>
              </a:tr>
            </a:tbl>
          </a:graphicData>
        </a:graphic>
      </p:graphicFrame>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9EEF21E-9513-1F42-987E-08E5ED398673}"/>
                  </a:ext>
                </a:extLst>
              </p:cNvPr>
              <p:cNvSpPr txBox="1"/>
              <p:nvPr/>
            </p:nvSpPr>
            <p:spPr>
              <a:xfrm>
                <a:off x="1579956" y="1462088"/>
                <a:ext cx="9032088"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1" i="1" smtClean="0">
                          <a:latin typeface="Cambria Math" panose="02040503050406030204" pitchFamily="18" charset="0"/>
                        </a:rPr>
                        <m:t>𝟐𝟗𝟎</m:t>
                      </m:r>
                      <m:f>
                        <m:fPr>
                          <m:type m:val="lin"/>
                          <m:ctrlPr>
                            <a:rPr lang="en-US" sz="3600" b="1" i="1" smtClean="0">
                              <a:latin typeface="Cambria Math" panose="02040503050406030204" pitchFamily="18" charset="0"/>
                            </a:rPr>
                          </m:ctrlPr>
                        </m:fPr>
                        <m:num>
                          <m:r>
                            <a:rPr lang="en-US" sz="3600" b="1" i="1" smtClean="0">
                              <a:latin typeface="Cambria Math" panose="02040503050406030204" pitchFamily="18" charset="0"/>
                            </a:rPr>
                            <m:t>𝒎𝑶𝒔𝒎</m:t>
                          </m:r>
                        </m:num>
                        <m:den>
                          <m:r>
                            <a:rPr lang="en-US" sz="3600" b="1" i="1" smtClean="0">
                              <a:latin typeface="Cambria Math" panose="02040503050406030204" pitchFamily="18" charset="0"/>
                            </a:rPr>
                            <m:t>𝒌𝒈</m:t>
                          </m:r>
                        </m:den>
                      </m:f>
                      <m:r>
                        <a:rPr lang="en-US" sz="3600" b="1" i="1" smtClean="0">
                          <a:latin typeface="Cambria Math" panose="02040503050406030204" pitchFamily="18" charset="0"/>
                        </a:rPr>
                        <m:t>−</m:t>
                      </m:r>
                      <m:r>
                        <a:rPr lang="en-US" sz="3600" b="1" i="1" smtClean="0">
                          <a:latin typeface="Cambria Math" panose="02040503050406030204" pitchFamily="18" charset="0"/>
                        </a:rPr>
                        <m:t>𝟐</m:t>
                      </m:r>
                      <m:r>
                        <a:rPr lang="en-US" sz="3600" b="1" i="1" smtClean="0">
                          <a:latin typeface="Cambria Math" panose="02040503050406030204" pitchFamily="18" charset="0"/>
                        </a:rPr>
                        <m:t> × (</m:t>
                      </m:r>
                      <m:r>
                        <a:rPr lang="en-US" sz="3600" b="1" i="1" smtClean="0">
                          <a:latin typeface="Cambria Math" panose="02040503050406030204" pitchFamily="18" charset="0"/>
                          <a:ea typeface="Cambria Math" panose="02040503050406030204" pitchFamily="18" charset="0"/>
                        </a:rPr>
                        <m:t>𝒔𝒕𝒐𝒐𝒍</m:t>
                      </m:r>
                      <m:r>
                        <a:rPr lang="en-US" sz="3600" b="1" i="1" smtClean="0">
                          <a:latin typeface="Cambria Math" panose="02040503050406030204" pitchFamily="18" charset="0"/>
                          <a:ea typeface="Cambria Math" panose="02040503050406030204" pitchFamily="18" charset="0"/>
                        </a:rPr>
                        <m:t> </m:t>
                      </m:r>
                      <m:r>
                        <a:rPr lang="en-US" sz="3600" b="1" i="1" smtClean="0">
                          <a:latin typeface="Cambria Math" panose="02040503050406030204" pitchFamily="18" charset="0"/>
                          <a:ea typeface="Cambria Math" panose="02040503050406030204" pitchFamily="18" charset="0"/>
                        </a:rPr>
                        <m:t>𝑵𝒂</m:t>
                      </m:r>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𝒔𝒕𝒐𝒐𝒍</m:t>
                      </m:r>
                      <m:r>
                        <a:rPr lang="en-US" sz="3600" b="1" i="1" smtClean="0">
                          <a:latin typeface="Cambria Math" panose="02040503050406030204" pitchFamily="18" charset="0"/>
                          <a:ea typeface="Cambria Math" panose="02040503050406030204" pitchFamily="18" charset="0"/>
                        </a:rPr>
                        <m:t> </m:t>
                      </m:r>
                      <m:r>
                        <a:rPr lang="en-US" sz="3600" b="1" i="1" smtClean="0">
                          <a:latin typeface="Cambria Math" panose="02040503050406030204" pitchFamily="18" charset="0"/>
                          <a:ea typeface="Cambria Math" panose="02040503050406030204" pitchFamily="18" charset="0"/>
                        </a:rPr>
                        <m:t>𝑲</m:t>
                      </m:r>
                      <m:r>
                        <a:rPr lang="en-US" sz="3600" b="1" i="1" smtClean="0">
                          <a:latin typeface="Cambria Math" panose="02040503050406030204" pitchFamily="18" charset="0"/>
                          <a:ea typeface="Cambria Math" panose="02040503050406030204" pitchFamily="18" charset="0"/>
                        </a:rPr>
                        <m:t>)</m:t>
                      </m:r>
                    </m:oMath>
                  </m:oMathPara>
                </a14:m>
                <a:endParaRPr lang="en-US" sz="3600" b="1" dirty="0"/>
              </a:p>
            </p:txBody>
          </p:sp>
        </mc:Choice>
        <mc:Fallback>
          <p:sp>
            <p:nvSpPr>
              <p:cNvPr id="5" name="TextBox 4">
                <a:extLst>
                  <a:ext uri="{FF2B5EF4-FFF2-40B4-BE49-F238E27FC236}">
                    <a16:creationId xmlns:a16="http://schemas.microsoft.com/office/drawing/2014/main" id="{79EEF21E-9513-1F42-987E-08E5ED398673}"/>
                  </a:ext>
                </a:extLst>
              </p:cNvPr>
              <p:cNvSpPr txBox="1">
                <a:spLocks noRot="1" noChangeAspect="1" noMove="1" noResize="1" noEditPoints="1" noAdjustHandles="1" noChangeArrowheads="1" noChangeShapeType="1" noTextEdit="1"/>
              </p:cNvSpPr>
              <p:nvPr/>
            </p:nvSpPr>
            <p:spPr>
              <a:xfrm>
                <a:off x="1579956" y="1462088"/>
                <a:ext cx="9032088" cy="553998"/>
              </a:xfrm>
              <a:prstGeom prst="rect">
                <a:avLst/>
              </a:prstGeom>
              <a:blipFill>
                <a:blip r:embed="rId2"/>
                <a:stretch>
                  <a:fillRect l="-702" t="-170455" r="-1264" b="-256818"/>
                </a:stretch>
              </a:blipFill>
            </p:spPr>
            <p:txBody>
              <a:bodyPr/>
              <a:lstStyle/>
              <a:p>
                <a:r>
                  <a:rPr lang="en-US">
                    <a:noFill/>
                  </a:rPr>
                  <a:t> </a:t>
                </a:r>
              </a:p>
            </p:txBody>
          </p:sp>
        </mc:Fallback>
      </mc:AlternateContent>
    </p:spTree>
    <p:extLst>
      <p:ext uri="{BB962C8B-B14F-4D97-AF65-F5344CB8AC3E}">
        <p14:creationId xmlns:p14="http://schemas.microsoft.com/office/powerpoint/2010/main" val="723562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Osmotic diarrhea</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a:xfrm>
            <a:off x="462843" y="1603022"/>
            <a:ext cx="6070691" cy="4573941"/>
          </a:xfrm>
        </p:spPr>
        <p:txBody>
          <a:bodyPr>
            <a:normAutofit/>
          </a:bodyPr>
          <a:lstStyle/>
          <a:p>
            <a:r>
              <a:rPr lang="en-US" dirty="0"/>
              <a:t>Excess stool water can result from ingestion of poorly absorbed substances that remain in the lumen of the intestine and obligate retention of water within the lumen by virtue of their osmotic effects</a:t>
            </a:r>
          </a:p>
          <a:p>
            <a:r>
              <a:rPr lang="en-US" dirty="0"/>
              <a:t>Electrolyte absorption is unaffected by these osmotically active substances and stool water contains very little unabsorbed sodium or potassium with osmotic diarrhea</a:t>
            </a:r>
          </a:p>
        </p:txBody>
      </p:sp>
      <p:pic>
        <p:nvPicPr>
          <p:cNvPr id="5" name="Picture 4">
            <a:extLst>
              <a:ext uri="{FF2B5EF4-FFF2-40B4-BE49-F238E27FC236}">
                <a16:creationId xmlns:a16="http://schemas.microsoft.com/office/drawing/2014/main" id="{4EC5BB39-57FE-9F45-A58C-7AEB97D10C8B}"/>
              </a:ext>
            </a:extLst>
          </p:cNvPr>
          <p:cNvPicPr>
            <a:picLocks noChangeAspect="1"/>
          </p:cNvPicPr>
          <p:nvPr/>
        </p:nvPicPr>
        <p:blipFill>
          <a:blip r:embed="rId2"/>
          <a:stretch>
            <a:fillRect/>
          </a:stretch>
        </p:blipFill>
        <p:spPr>
          <a:xfrm>
            <a:off x="6910259" y="1462088"/>
            <a:ext cx="5156993" cy="4573941"/>
          </a:xfrm>
          <a:prstGeom prst="rect">
            <a:avLst/>
          </a:prstGeom>
        </p:spPr>
      </p:pic>
    </p:spTree>
    <p:extLst>
      <p:ext uri="{BB962C8B-B14F-4D97-AF65-F5344CB8AC3E}">
        <p14:creationId xmlns:p14="http://schemas.microsoft.com/office/powerpoint/2010/main" val="1094021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Secretory diarrhea</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When the osmotic gap is small, electrolytes account for most of the luminal osmolality</a:t>
            </a:r>
          </a:p>
          <a:p>
            <a:r>
              <a:rPr lang="en-US" dirty="0"/>
              <a:t>Secretory diarrhea is somewhat of a misnomer: most patients with secretory diarrhea, as defined by a small osmotic gap, still absorb most of the nine to 10 L of fluid entering the jejunum each day; they just do not absorb almost all of it</a:t>
            </a:r>
          </a:p>
          <a:p>
            <a:r>
              <a:rPr lang="en-US" dirty="0"/>
              <a:t>Several mechanisms can lead to secretory diarrhea</a:t>
            </a:r>
          </a:p>
        </p:txBody>
      </p:sp>
    </p:spTree>
    <p:extLst>
      <p:ext uri="{BB962C8B-B14F-4D97-AF65-F5344CB8AC3E}">
        <p14:creationId xmlns:p14="http://schemas.microsoft.com/office/powerpoint/2010/main" val="3576272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Secretory diarrhea</a:t>
            </a:r>
          </a:p>
        </p:txBody>
      </p:sp>
      <p:pic>
        <p:nvPicPr>
          <p:cNvPr id="4" name="Content Placeholder 3">
            <a:extLst>
              <a:ext uri="{FF2B5EF4-FFF2-40B4-BE49-F238E27FC236}">
                <a16:creationId xmlns:a16="http://schemas.microsoft.com/office/drawing/2014/main" id="{7C4F76E0-5FD6-A84B-A2E9-7655CEA1A771}"/>
              </a:ext>
            </a:extLst>
          </p:cNvPr>
          <p:cNvPicPr>
            <a:picLocks noGrp="1" noChangeAspect="1"/>
          </p:cNvPicPr>
          <p:nvPr>
            <p:ph idx="1"/>
          </p:nvPr>
        </p:nvPicPr>
        <p:blipFill rotWithShape="1">
          <a:blip r:embed="rId2"/>
          <a:srcRect l="737" t="1382"/>
          <a:stretch/>
        </p:blipFill>
        <p:spPr>
          <a:xfrm>
            <a:off x="1336272" y="1462088"/>
            <a:ext cx="9519456" cy="4510395"/>
          </a:xfrm>
          <a:prstGeom prst="rect">
            <a:avLst/>
          </a:prstGeom>
          <a:ln w="25400">
            <a:solidFill>
              <a:srgbClr val="0F1F32"/>
            </a:solidFill>
          </a:ln>
        </p:spPr>
      </p:pic>
    </p:spTree>
    <p:extLst>
      <p:ext uri="{BB962C8B-B14F-4D97-AF65-F5344CB8AC3E}">
        <p14:creationId xmlns:p14="http://schemas.microsoft.com/office/powerpoint/2010/main" val="526619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Infections</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Usually cause acute diarrhea, however chronic infections exist especially in immunocompromised patients</a:t>
            </a:r>
          </a:p>
          <a:p>
            <a:r>
              <a:rPr lang="en-US" dirty="0"/>
              <a:t>Diarrhea is secretory due to either direct bacterial invasion, enterocyte destruction or toxin production </a:t>
            </a:r>
          </a:p>
          <a:p>
            <a:endParaRPr lang="en-US" dirty="0"/>
          </a:p>
        </p:txBody>
      </p:sp>
    </p:spTree>
    <p:extLst>
      <p:ext uri="{BB962C8B-B14F-4D97-AF65-F5344CB8AC3E}">
        <p14:creationId xmlns:p14="http://schemas.microsoft.com/office/powerpoint/2010/main" val="2421896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a:xfrm>
            <a:off x="462844" y="136525"/>
            <a:ext cx="5633156" cy="1325563"/>
          </a:xfrm>
        </p:spPr>
        <p:txBody>
          <a:bodyPr/>
          <a:lstStyle/>
          <a:p>
            <a:r>
              <a:rPr lang="en-US" dirty="0"/>
              <a:t>Reduction of mucosal surface area</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a:xfrm>
            <a:off x="462844" y="1603022"/>
            <a:ext cx="5140389" cy="5118453"/>
          </a:xfrm>
        </p:spPr>
        <p:txBody>
          <a:bodyPr/>
          <a:lstStyle/>
          <a:p>
            <a:r>
              <a:rPr lang="en-US" dirty="0"/>
              <a:t>Absorptive function in different parts of the intestine is specialized, some segments cannot compensate for the missing functions of other segments</a:t>
            </a:r>
          </a:p>
          <a:p>
            <a:endParaRPr lang="en-US" dirty="0"/>
          </a:p>
          <a:p>
            <a:r>
              <a:rPr lang="en-US" dirty="0"/>
              <a:t>There must be enough reserve capacity more distally to be able to compensate for missing absorptive function</a:t>
            </a:r>
          </a:p>
        </p:txBody>
      </p:sp>
      <p:pic>
        <p:nvPicPr>
          <p:cNvPr id="4" name="Picture 3">
            <a:extLst>
              <a:ext uri="{FF2B5EF4-FFF2-40B4-BE49-F238E27FC236}">
                <a16:creationId xmlns:a16="http://schemas.microsoft.com/office/drawing/2014/main" id="{44BBDBAE-04C6-8148-B6CF-98831767E928}"/>
              </a:ext>
            </a:extLst>
          </p:cNvPr>
          <p:cNvPicPr>
            <a:picLocks noChangeAspect="1"/>
          </p:cNvPicPr>
          <p:nvPr/>
        </p:nvPicPr>
        <p:blipFill>
          <a:blip r:embed="rId2"/>
          <a:stretch>
            <a:fillRect/>
          </a:stretch>
        </p:blipFill>
        <p:spPr>
          <a:xfrm>
            <a:off x="5603233" y="0"/>
            <a:ext cx="6588767" cy="6852709"/>
          </a:xfrm>
          <a:prstGeom prst="rect">
            <a:avLst/>
          </a:prstGeom>
        </p:spPr>
      </p:pic>
    </p:spTree>
    <p:extLst>
      <p:ext uri="{BB962C8B-B14F-4D97-AF65-F5344CB8AC3E}">
        <p14:creationId xmlns:p14="http://schemas.microsoft.com/office/powerpoint/2010/main" val="159703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Absence of ion transport mechanism</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a:xfrm>
            <a:off x="462843" y="1603022"/>
            <a:ext cx="11588185" cy="4573941"/>
          </a:xfrm>
        </p:spPr>
        <p:txBody>
          <a:bodyPr/>
          <a:lstStyle/>
          <a:p>
            <a:r>
              <a:rPr lang="en-US" dirty="0"/>
              <a:t>Usually, congenital absence of transporters that can cause secretory diarrhea due to absence of specific ion transporters such as Cl-HCO3 transporter or Na-H antiporter. </a:t>
            </a:r>
          </a:p>
        </p:txBody>
      </p:sp>
      <p:pic>
        <p:nvPicPr>
          <p:cNvPr id="4" name="Picture 3">
            <a:extLst>
              <a:ext uri="{FF2B5EF4-FFF2-40B4-BE49-F238E27FC236}">
                <a16:creationId xmlns:a16="http://schemas.microsoft.com/office/drawing/2014/main" id="{4273BC30-C06B-294F-ACD4-A0B1DC0A1B24}"/>
              </a:ext>
            </a:extLst>
          </p:cNvPr>
          <p:cNvPicPr>
            <a:picLocks noChangeAspect="1"/>
          </p:cNvPicPr>
          <p:nvPr/>
        </p:nvPicPr>
        <p:blipFill>
          <a:blip r:embed="rId2"/>
          <a:stretch>
            <a:fillRect/>
          </a:stretch>
        </p:blipFill>
        <p:spPr>
          <a:xfrm>
            <a:off x="2403121" y="2848589"/>
            <a:ext cx="7385757" cy="4009411"/>
          </a:xfrm>
          <a:prstGeom prst="rect">
            <a:avLst/>
          </a:prstGeom>
        </p:spPr>
      </p:pic>
    </p:spTree>
    <p:extLst>
      <p:ext uri="{BB962C8B-B14F-4D97-AF65-F5344CB8AC3E}">
        <p14:creationId xmlns:p14="http://schemas.microsoft.com/office/powerpoint/2010/main" val="1347537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Inflammation</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The immune system in the intestine modulates electrolyte absorption by release of cytokines and by effects on the enteric nervous system</a:t>
            </a:r>
          </a:p>
          <a:p>
            <a:endParaRPr lang="en-US" dirty="0"/>
          </a:p>
        </p:txBody>
      </p:sp>
    </p:spTree>
    <p:extLst>
      <p:ext uri="{BB962C8B-B14F-4D97-AF65-F5344CB8AC3E}">
        <p14:creationId xmlns:p14="http://schemas.microsoft.com/office/powerpoint/2010/main" val="31413306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Dysregulation</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Secretory diarrhea may occur as a complication of diabetic autonomic neuropathy. </a:t>
            </a:r>
          </a:p>
          <a:p>
            <a:r>
              <a:rPr lang="en-US" dirty="0"/>
              <a:t>Abnormal function of the enteric nervous system may alter the dynamics of intestinal fluid and electrolyte absorption or motility. </a:t>
            </a:r>
          </a:p>
          <a:p>
            <a:r>
              <a:rPr lang="en-US" dirty="0"/>
              <a:t>Similar difficulties may occur in patients who develop diarrhea after vagotomy, sympathectomy, or celiac plexus neurolysis</a:t>
            </a:r>
          </a:p>
        </p:txBody>
      </p:sp>
    </p:spTree>
    <p:extLst>
      <p:ext uri="{BB962C8B-B14F-4D97-AF65-F5344CB8AC3E}">
        <p14:creationId xmlns:p14="http://schemas.microsoft.com/office/powerpoint/2010/main" val="806977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Circulating secretagogues</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Tumors of endocrine cells in the gut, pancreas, and elsewhere can produce high enough circulating levels of secretagogues that inhibit absorption or increase secretions in the intestine</a:t>
            </a:r>
          </a:p>
          <a:p>
            <a:r>
              <a:rPr lang="en-US" dirty="0"/>
              <a:t>Rarely the cause as estimates of prevalence range from </a:t>
            </a:r>
            <a:r>
              <a:rPr lang="en-US" b="1" dirty="0"/>
              <a:t>1/1000-10,000 </a:t>
            </a:r>
            <a:r>
              <a:rPr lang="en-US" dirty="0"/>
              <a:t>patients with chronic diarrhea </a:t>
            </a:r>
          </a:p>
          <a:p>
            <a:endParaRPr lang="en-US" dirty="0"/>
          </a:p>
        </p:txBody>
      </p:sp>
    </p:spTree>
    <p:extLst>
      <p:ext uri="{BB962C8B-B14F-4D97-AF65-F5344CB8AC3E}">
        <p14:creationId xmlns:p14="http://schemas.microsoft.com/office/powerpoint/2010/main" val="2063132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Evaluating a patient with diarrhea</a:t>
            </a:r>
          </a:p>
        </p:txBody>
      </p:sp>
      <p:sp>
        <p:nvSpPr>
          <p:cNvPr id="4" name="Text Placeholder 3">
            <a:extLst>
              <a:ext uri="{FF2B5EF4-FFF2-40B4-BE49-F238E27FC236}">
                <a16:creationId xmlns:a16="http://schemas.microsoft.com/office/drawing/2014/main" id="{8FC6F892-5EBD-8D4C-9962-8F39A8F9964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57122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History</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pPr>
              <a:buFontTx/>
              <a:buChar char="-"/>
            </a:pPr>
            <a:r>
              <a:rPr lang="en-US" b="1" dirty="0">
                <a:highlight>
                  <a:srgbClr val="FFFF00"/>
                </a:highlight>
              </a:rPr>
              <a:t>Taking a thorough history is the most important step in management</a:t>
            </a:r>
          </a:p>
          <a:p>
            <a:pPr>
              <a:buFontTx/>
              <a:buChar char="-"/>
            </a:pPr>
            <a:endParaRPr lang="en-US" b="1" dirty="0">
              <a:highlight>
                <a:srgbClr val="FFFF00"/>
              </a:highlight>
            </a:endParaRPr>
          </a:p>
          <a:p>
            <a:pPr>
              <a:buFontTx/>
              <a:buChar char="-"/>
            </a:pPr>
            <a:r>
              <a:rPr lang="en-US" dirty="0"/>
              <a:t>Duration of diarrhea (4 weeks as the cut off for acute vs chronic)</a:t>
            </a:r>
          </a:p>
          <a:p>
            <a:r>
              <a:rPr lang="en-US" dirty="0"/>
              <a:t>Frequency of BMs, does not correlate with stool weight necessarily</a:t>
            </a:r>
          </a:p>
          <a:p>
            <a:r>
              <a:rPr lang="en-US" dirty="0"/>
              <a:t>Assess hydration status by asking about thirst, decreased urine output, and weakness</a:t>
            </a:r>
          </a:p>
          <a:p>
            <a:r>
              <a:rPr lang="en-US" dirty="0"/>
              <a:t> Acute weight loss = severe diarrhea</a:t>
            </a:r>
          </a:p>
          <a:p>
            <a:r>
              <a:rPr lang="en-US" dirty="0"/>
              <a:t>Stool characteristics</a:t>
            </a:r>
          </a:p>
          <a:p>
            <a:pPr lvl="1"/>
            <a:r>
              <a:rPr lang="en-US" dirty="0"/>
              <a:t>blood, mucus, pus, oil droplets, or food particles </a:t>
            </a:r>
          </a:p>
          <a:p>
            <a:endParaRPr lang="en-US" dirty="0"/>
          </a:p>
        </p:txBody>
      </p:sp>
    </p:spTree>
    <p:extLst>
      <p:ext uri="{BB962C8B-B14F-4D97-AF65-F5344CB8AC3E}">
        <p14:creationId xmlns:p14="http://schemas.microsoft.com/office/powerpoint/2010/main" val="2540304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History</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Relationship of defecation to meals or fasting</a:t>
            </a:r>
          </a:p>
        </p:txBody>
      </p:sp>
    </p:spTree>
    <p:extLst>
      <p:ext uri="{BB962C8B-B14F-4D97-AF65-F5344CB8AC3E}">
        <p14:creationId xmlns:p14="http://schemas.microsoft.com/office/powerpoint/2010/main" val="3802032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History</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Relationship of defecation to meals or fasting</a:t>
            </a:r>
          </a:p>
          <a:p>
            <a:pPr marL="0" indent="0" algn="ctr">
              <a:buNone/>
            </a:pPr>
            <a:r>
              <a:rPr lang="en-US" b="1" dirty="0"/>
              <a:t>What is the significance of diarrhea relation to fasting?</a:t>
            </a:r>
          </a:p>
        </p:txBody>
      </p:sp>
    </p:spTree>
    <p:extLst>
      <p:ext uri="{BB962C8B-B14F-4D97-AF65-F5344CB8AC3E}">
        <p14:creationId xmlns:p14="http://schemas.microsoft.com/office/powerpoint/2010/main" val="17339961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History</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Relationship of defecation to meals or fasting</a:t>
            </a:r>
          </a:p>
          <a:p>
            <a:pPr marL="0" indent="0" algn="ctr">
              <a:buNone/>
            </a:pPr>
            <a:r>
              <a:rPr lang="en-US" b="1" dirty="0"/>
              <a:t>What is the significance of diarrhea relation to fasting?</a:t>
            </a:r>
          </a:p>
          <a:p>
            <a:pPr marL="0" indent="0" algn="ctr">
              <a:buNone/>
            </a:pPr>
            <a:r>
              <a:rPr lang="en-US" dirty="0"/>
              <a:t>Osmotic diarrhea usually resolves with fasting</a:t>
            </a:r>
          </a:p>
        </p:txBody>
      </p:sp>
    </p:spTree>
    <p:extLst>
      <p:ext uri="{BB962C8B-B14F-4D97-AF65-F5344CB8AC3E}">
        <p14:creationId xmlns:p14="http://schemas.microsoft.com/office/powerpoint/2010/main" val="6017225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History</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Relationship of defecation to meals or fasting – can differentiate osmotic</a:t>
            </a:r>
          </a:p>
          <a:p>
            <a:r>
              <a:rPr lang="en-US" dirty="0"/>
              <a:t>Passage of stool during the day versus the night </a:t>
            </a:r>
          </a:p>
          <a:p>
            <a:pPr marL="0" indent="0" algn="ctr">
              <a:buNone/>
            </a:pPr>
            <a:r>
              <a:rPr lang="en-US" b="1" dirty="0"/>
              <a:t>What’s the significance of having nocturnal symptoms?</a:t>
            </a:r>
          </a:p>
        </p:txBody>
      </p:sp>
    </p:spTree>
    <p:extLst>
      <p:ext uri="{BB962C8B-B14F-4D97-AF65-F5344CB8AC3E}">
        <p14:creationId xmlns:p14="http://schemas.microsoft.com/office/powerpoint/2010/main" val="2557850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History</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Relationship of defecation to meals or fasting – can differentiate osmotic</a:t>
            </a:r>
          </a:p>
          <a:p>
            <a:r>
              <a:rPr lang="en-US" dirty="0"/>
              <a:t>Passage of stool during the day versus the night </a:t>
            </a:r>
          </a:p>
          <a:p>
            <a:pPr lvl="1"/>
            <a:r>
              <a:rPr lang="en-US" b="1" dirty="0"/>
              <a:t>Night symptoms suggest an organic cause rather than a functional problem</a:t>
            </a:r>
          </a:p>
          <a:p>
            <a:pPr marL="457200" lvl="1" indent="0">
              <a:buNone/>
            </a:pPr>
            <a:endParaRPr lang="en-US" b="1" dirty="0"/>
          </a:p>
        </p:txBody>
      </p:sp>
    </p:spTree>
    <p:extLst>
      <p:ext uri="{BB962C8B-B14F-4D97-AF65-F5344CB8AC3E}">
        <p14:creationId xmlns:p14="http://schemas.microsoft.com/office/powerpoint/2010/main" val="4123493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History</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normAutofit lnSpcReduction="10000"/>
          </a:bodyPr>
          <a:lstStyle/>
          <a:p>
            <a:r>
              <a:rPr lang="en-US" dirty="0"/>
              <a:t>Relationship of defecation to meals or fasting – can differentiate osmotic</a:t>
            </a:r>
          </a:p>
          <a:p>
            <a:r>
              <a:rPr lang="en-US" dirty="0"/>
              <a:t>Passage of stool during the day versus the night </a:t>
            </a:r>
          </a:p>
          <a:p>
            <a:pPr lvl="1"/>
            <a:r>
              <a:rPr lang="en-US" b="1" dirty="0"/>
              <a:t>Night symptoms suggest an organic cause rather than a functional problem</a:t>
            </a:r>
          </a:p>
          <a:p>
            <a:pPr marL="457200" lvl="1" indent="0">
              <a:buNone/>
            </a:pPr>
            <a:endParaRPr lang="en-US" b="1" dirty="0"/>
          </a:p>
          <a:p>
            <a:r>
              <a:rPr lang="en-US" dirty="0">
                <a:highlight>
                  <a:srgbClr val="FFFF00"/>
                </a:highlight>
              </a:rPr>
              <a:t>Be aware! </a:t>
            </a:r>
            <a:r>
              <a:rPr lang="en-US" b="1" dirty="0"/>
              <a:t>urgency and incontinence </a:t>
            </a:r>
            <a:r>
              <a:rPr lang="en-US" dirty="0"/>
              <a:t>reflect a rectal problem rather than severe diarrhea</a:t>
            </a:r>
          </a:p>
          <a:p>
            <a:endParaRPr lang="en-US" dirty="0"/>
          </a:p>
          <a:p>
            <a:r>
              <a:rPr lang="en-US" dirty="0"/>
              <a:t>Associated symptoms: abdominal pain, flatulence, bloating, or gaseous distention, cramps, fever, and weight loss</a:t>
            </a:r>
          </a:p>
          <a:p>
            <a:r>
              <a:rPr lang="en-US" dirty="0"/>
              <a:t>Explore patient’s diet in detail (breakfast, lunch, dinner, snacks, etc.)</a:t>
            </a:r>
          </a:p>
          <a:p>
            <a:pPr lvl="1"/>
            <a:r>
              <a:rPr lang="en-US" b="1" dirty="0"/>
              <a:t>Check for FODMAPs!</a:t>
            </a:r>
          </a:p>
          <a:p>
            <a:endParaRPr lang="en-US" dirty="0"/>
          </a:p>
        </p:txBody>
      </p:sp>
    </p:spTree>
    <p:extLst>
      <p:ext uri="{BB962C8B-B14F-4D97-AF65-F5344CB8AC3E}">
        <p14:creationId xmlns:p14="http://schemas.microsoft.com/office/powerpoint/2010/main" val="23851200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History</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nchor="ctr">
            <a:normAutofit/>
          </a:bodyPr>
          <a:lstStyle/>
          <a:p>
            <a:pPr marL="0" indent="0" algn="ctr">
              <a:buNone/>
            </a:pPr>
            <a:r>
              <a:rPr lang="en-US" sz="4000" b="1" dirty="0"/>
              <a:t>What kind of diarrhea do FODMAPs cause?</a:t>
            </a:r>
          </a:p>
        </p:txBody>
      </p:sp>
    </p:spTree>
    <p:extLst>
      <p:ext uri="{BB962C8B-B14F-4D97-AF65-F5344CB8AC3E}">
        <p14:creationId xmlns:p14="http://schemas.microsoft.com/office/powerpoint/2010/main" val="19015412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History</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nchor="ctr">
            <a:normAutofit/>
          </a:bodyPr>
          <a:lstStyle/>
          <a:p>
            <a:pPr marL="0" indent="0" algn="ctr">
              <a:buNone/>
            </a:pPr>
            <a:r>
              <a:rPr lang="en-US" sz="4000" b="1" dirty="0"/>
              <a:t>What kind of diarrhea do FODMAPs cause?</a:t>
            </a:r>
          </a:p>
          <a:p>
            <a:pPr marL="0" indent="0" algn="ctr">
              <a:buNone/>
            </a:pPr>
            <a:r>
              <a:rPr lang="en-US" sz="4000" dirty="0"/>
              <a:t>Osmotic diarrhea</a:t>
            </a:r>
          </a:p>
        </p:txBody>
      </p:sp>
    </p:spTree>
    <p:extLst>
      <p:ext uri="{BB962C8B-B14F-4D97-AF65-F5344CB8AC3E}">
        <p14:creationId xmlns:p14="http://schemas.microsoft.com/office/powerpoint/2010/main" val="21122455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FODMAPs</a:t>
            </a:r>
          </a:p>
        </p:txBody>
      </p:sp>
      <p:pic>
        <p:nvPicPr>
          <p:cNvPr id="2050" name="Picture 2">
            <a:extLst>
              <a:ext uri="{FF2B5EF4-FFF2-40B4-BE49-F238E27FC236}">
                <a16:creationId xmlns:a16="http://schemas.microsoft.com/office/drawing/2014/main" id="{64EDDE7E-0CC8-694F-A05C-73209D0107E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92893" y="2109828"/>
            <a:ext cx="6747868" cy="306803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77C8611-E481-CF4B-AE90-461068CDB06F}"/>
              </a:ext>
            </a:extLst>
          </p:cNvPr>
          <p:cNvPicPr>
            <a:picLocks noChangeAspect="1"/>
          </p:cNvPicPr>
          <p:nvPr/>
        </p:nvPicPr>
        <p:blipFill>
          <a:blip r:embed="rId3"/>
          <a:stretch>
            <a:fillRect/>
          </a:stretch>
        </p:blipFill>
        <p:spPr>
          <a:xfrm>
            <a:off x="160497" y="523511"/>
            <a:ext cx="4371963" cy="6334489"/>
          </a:xfrm>
          <a:prstGeom prst="rect">
            <a:avLst/>
          </a:prstGeom>
        </p:spPr>
      </p:pic>
      <p:sp>
        <p:nvSpPr>
          <p:cNvPr id="10" name="TextBox 9">
            <a:extLst>
              <a:ext uri="{FF2B5EF4-FFF2-40B4-BE49-F238E27FC236}">
                <a16:creationId xmlns:a16="http://schemas.microsoft.com/office/drawing/2014/main" id="{2A8160C2-A48A-6541-AE01-2555925E3192}"/>
              </a:ext>
            </a:extLst>
          </p:cNvPr>
          <p:cNvSpPr txBox="1"/>
          <p:nvPr/>
        </p:nvSpPr>
        <p:spPr>
          <a:xfrm>
            <a:off x="1" y="6421740"/>
            <a:ext cx="12192000" cy="369332"/>
          </a:xfrm>
          <a:prstGeom prst="rect">
            <a:avLst/>
          </a:prstGeom>
          <a:noFill/>
        </p:spPr>
        <p:txBody>
          <a:bodyPr wrap="square" rtlCol="0">
            <a:spAutoFit/>
          </a:bodyPr>
          <a:lstStyle/>
          <a:p>
            <a:pPr algn="r"/>
            <a:r>
              <a:rPr lang="en-US" dirty="0">
                <a:latin typeface="Quadraat" panose="02000503060000090004" pitchFamily="2" charset="0"/>
              </a:rPr>
              <a:t>DOI: 10.5056/jnm15111</a:t>
            </a:r>
          </a:p>
        </p:txBody>
      </p:sp>
    </p:spTree>
    <p:extLst>
      <p:ext uri="{BB962C8B-B14F-4D97-AF65-F5344CB8AC3E}">
        <p14:creationId xmlns:p14="http://schemas.microsoft.com/office/powerpoint/2010/main" val="42212177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3A6EA7-3611-7E43-B739-67A534C82FBB}"/>
              </a:ext>
            </a:extLst>
          </p:cNvPr>
          <p:cNvPicPr>
            <a:picLocks noChangeAspect="1"/>
          </p:cNvPicPr>
          <p:nvPr/>
        </p:nvPicPr>
        <p:blipFill>
          <a:blip r:embed="rId2"/>
          <a:stretch>
            <a:fillRect/>
          </a:stretch>
        </p:blipFill>
        <p:spPr>
          <a:xfrm>
            <a:off x="2368598" y="137358"/>
            <a:ext cx="7454804" cy="6090080"/>
          </a:xfrm>
          <a:prstGeom prst="rect">
            <a:avLst/>
          </a:prstGeom>
        </p:spPr>
      </p:pic>
      <p:sp>
        <p:nvSpPr>
          <p:cNvPr id="9" name="TextBox 8">
            <a:extLst>
              <a:ext uri="{FF2B5EF4-FFF2-40B4-BE49-F238E27FC236}">
                <a16:creationId xmlns:a16="http://schemas.microsoft.com/office/drawing/2014/main" id="{794B8589-F5ED-0942-AD68-E47073D05644}"/>
              </a:ext>
            </a:extLst>
          </p:cNvPr>
          <p:cNvSpPr txBox="1"/>
          <p:nvPr/>
        </p:nvSpPr>
        <p:spPr>
          <a:xfrm>
            <a:off x="1" y="6421740"/>
            <a:ext cx="12192000" cy="369332"/>
          </a:xfrm>
          <a:prstGeom prst="rect">
            <a:avLst/>
          </a:prstGeom>
          <a:noFill/>
        </p:spPr>
        <p:txBody>
          <a:bodyPr wrap="square" rtlCol="0">
            <a:spAutoFit/>
          </a:bodyPr>
          <a:lstStyle/>
          <a:p>
            <a:pPr algn="r"/>
            <a:r>
              <a:rPr lang="en-US" dirty="0">
                <a:latin typeface="Quadraat" panose="02000503060000090004" pitchFamily="2" charset="0"/>
              </a:rPr>
              <a:t>http://</a:t>
            </a:r>
            <a:r>
              <a:rPr lang="en-US" dirty="0" err="1">
                <a:latin typeface="Quadraat" panose="02000503060000090004" pitchFamily="2" charset="0"/>
              </a:rPr>
              <a:t>dx.doi.org</a:t>
            </a:r>
            <a:r>
              <a:rPr lang="en-US" dirty="0">
                <a:latin typeface="Quadraat" panose="02000503060000090004" pitchFamily="2" charset="0"/>
              </a:rPr>
              <a:t>/10.1053/j.gastro.2015.02.005</a:t>
            </a:r>
          </a:p>
        </p:txBody>
      </p:sp>
    </p:spTree>
    <p:extLst>
      <p:ext uri="{BB962C8B-B14F-4D97-AF65-F5344CB8AC3E}">
        <p14:creationId xmlns:p14="http://schemas.microsoft.com/office/powerpoint/2010/main" val="2690596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FODMAPs</a:t>
            </a:r>
          </a:p>
        </p:txBody>
      </p:sp>
      <p:pic>
        <p:nvPicPr>
          <p:cNvPr id="3" name="Picture 2">
            <a:extLst>
              <a:ext uri="{FF2B5EF4-FFF2-40B4-BE49-F238E27FC236}">
                <a16:creationId xmlns:a16="http://schemas.microsoft.com/office/drawing/2014/main" id="{BAEEE9C0-D227-3C45-838F-E74CA7AEE0E6}"/>
              </a:ext>
            </a:extLst>
          </p:cNvPr>
          <p:cNvPicPr>
            <a:picLocks noChangeAspect="1"/>
          </p:cNvPicPr>
          <p:nvPr/>
        </p:nvPicPr>
        <p:blipFill>
          <a:blip r:embed="rId2"/>
          <a:stretch>
            <a:fillRect/>
          </a:stretch>
        </p:blipFill>
        <p:spPr>
          <a:xfrm>
            <a:off x="871355" y="1249031"/>
            <a:ext cx="10449289" cy="5081830"/>
          </a:xfrm>
          <a:prstGeom prst="rect">
            <a:avLst/>
          </a:prstGeom>
        </p:spPr>
      </p:pic>
      <p:sp>
        <p:nvSpPr>
          <p:cNvPr id="4" name="TextBox 3">
            <a:extLst>
              <a:ext uri="{FF2B5EF4-FFF2-40B4-BE49-F238E27FC236}">
                <a16:creationId xmlns:a16="http://schemas.microsoft.com/office/drawing/2014/main" id="{1F4D0FAF-F8E0-5248-9C27-DA89CF9CB1AC}"/>
              </a:ext>
            </a:extLst>
          </p:cNvPr>
          <p:cNvSpPr txBox="1"/>
          <p:nvPr/>
        </p:nvSpPr>
        <p:spPr>
          <a:xfrm>
            <a:off x="1" y="6421740"/>
            <a:ext cx="12192000" cy="369332"/>
          </a:xfrm>
          <a:prstGeom prst="rect">
            <a:avLst/>
          </a:prstGeom>
          <a:noFill/>
        </p:spPr>
        <p:txBody>
          <a:bodyPr wrap="square" rtlCol="0">
            <a:spAutoFit/>
          </a:bodyPr>
          <a:lstStyle/>
          <a:p>
            <a:pPr algn="r"/>
            <a:r>
              <a:rPr lang="en-US" dirty="0">
                <a:latin typeface="Quadraat" panose="02000503060000090004" pitchFamily="2" charset="0"/>
              </a:rPr>
              <a:t>https://</a:t>
            </a:r>
            <a:r>
              <a:rPr lang="en-US" dirty="0" err="1">
                <a:latin typeface="Quadraat" panose="02000503060000090004" pitchFamily="2" charset="0"/>
              </a:rPr>
              <a:t>doi.org</a:t>
            </a:r>
            <a:r>
              <a:rPr lang="en-US" dirty="0">
                <a:latin typeface="Quadraat" panose="02000503060000090004" pitchFamily="2" charset="0"/>
              </a:rPr>
              <a:t>/10.1038/ s41575-020-0270-3</a:t>
            </a:r>
          </a:p>
        </p:txBody>
      </p:sp>
    </p:spTree>
    <p:extLst>
      <p:ext uri="{BB962C8B-B14F-4D97-AF65-F5344CB8AC3E}">
        <p14:creationId xmlns:p14="http://schemas.microsoft.com/office/powerpoint/2010/main" val="33097377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History</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a:xfrm>
            <a:off x="462844" y="1603022"/>
            <a:ext cx="4810196" cy="4573941"/>
          </a:xfrm>
        </p:spPr>
        <p:txBody>
          <a:bodyPr/>
          <a:lstStyle/>
          <a:p>
            <a:r>
              <a:rPr lang="en-US" dirty="0"/>
              <a:t>Ask about specific risk factors (medical/epidemiologic/etc.)</a:t>
            </a:r>
          </a:p>
        </p:txBody>
      </p:sp>
      <p:pic>
        <p:nvPicPr>
          <p:cNvPr id="4" name="Picture 3">
            <a:extLst>
              <a:ext uri="{FF2B5EF4-FFF2-40B4-BE49-F238E27FC236}">
                <a16:creationId xmlns:a16="http://schemas.microsoft.com/office/drawing/2014/main" id="{899661BB-D1CE-4047-9952-43F0B966553E}"/>
              </a:ext>
            </a:extLst>
          </p:cNvPr>
          <p:cNvPicPr>
            <a:picLocks noChangeAspect="1"/>
          </p:cNvPicPr>
          <p:nvPr/>
        </p:nvPicPr>
        <p:blipFill>
          <a:blip r:embed="rId2"/>
          <a:stretch>
            <a:fillRect/>
          </a:stretch>
        </p:blipFill>
        <p:spPr>
          <a:xfrm>
            <a:off x="6840549" y="1462088"/>
            <a:ext cx="5284859" cy="5102322"/>
          </a:xfrm>
          <a:prstGeom prst="rect">
            <a:avLst/>
          </a:prstGeom>
        </p:spPr>
      </p:pic>
      <p:pic>
        <p:nvPicPr>
          <p:cNvPr id="5" name="Picture 4">
            <a:extLst>
              <a:ext uri="{FF2B5EF4-FFF2-40B4-BE49-F238E27FC236}">
                <a16:creationId xmlns:a16="http://schemas.microsoft.com/office/drawing/2014/main" id="{3289F965-61F1-734C-8EA2-EF4FF248C524}"/>
              </a:ext>
            </a:extLst>
          </p:cNvPr>
          <p:cNvPicPr>
            <a:picLocks noChangeAspect="1"/>
          </p:cNvPicPr>
          <p:nvPr/>
        </p:nvPicPr>
        <p:blipFill>
          <a:blip r:embed="rId3"/>
          <a:stretch>
            <a:fillRect/>
          </a:stretch>
        </p:blipFill>
        <p:spPr>
          <a:xfrm>
            <a:off x="462844" y="3011820"/>
            <a:ext cx="5602702" cy="3144203"/>
          </a:xfrm>
          <a:prstGeom prst="rect">
            <a:avLst/>
          </a:prstGeom>
        </p:spPr>
      </p:pic>
    </p:spTree>
    <p:extLst>
      <p:ext uri="{BB962C8B-B14F-4D97-AF65-F5344CB8AC3E}">
        <p14:creationId xmlns:p14="http://schemas.microsoft.com/office/powerpoint/2010/main" val="24746408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History</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Place of residence (rural vs city) as may affect source of drinking water</a:t>
            </a:r>
          </a:p>
          <a:p>
            <a:r>
              <a:rPr lang="en-US" dirty="0"/>
              <a:t>Explore the patient’s occupation, sexual preference and activity, exposure to farm or pet animals, and use of illicit drugs or alcohol </a:t>
            </a:r>
          </a:p>
          <a:p>
            <a:endParaRPr lang="en-US" dirty="0"/>
          </a:p>
          <a:p>
            <a:r>
              <a:rPr lang="en-US" dirty="0"/>
              <a:t>Always consider potential secondary gains from illness or a history of attempted weight loss or fixation on body image should raise the possibility of laxative abuse </a:t>
            </a:r>
          </a:p>
          <a:p>
            <a:endParaRPr lang="en-US" dirty="0"/>
          </a:p>
        </p:txBody>
      </p:sp>
    </p:spTree>
    <p:extLst>
      <p:ext uri="{BB962C8B-B14F-4D97-AF65-F5344CB8AC3E}">
        <p14:creationId xmlns:p14="http://schemas.microsoft.com/office/powerpoint/2010/main" val="21395852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Physical examination</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normAutofit lnSpcReduction="10000"/>
          </a:bodyPr>
          <a:lstStyle/>
          <a:p>
            <a:r>
              <a:rPr lang="en-US" dirty="0"/>
              <a:t>Physical signs are more helpful to determine the severity of diarrhea, rather than its cause </a:t>
            </a:r>
          </a:p>
          <a:p>
            <a:r>
              <a:rPr lang="en-US" dirty="0"/>
              <a:t>Assess volume status!</a:t>
            </a:r>
          </a:p>
          <a:p>
            <a:pPr lvl="1"/>
            <a:r>
              <a:rPr lang="en-US" dirty="0"/>
              <a:t>orthostatic changes in blood pressure and pulse</a:t>
            </a:r>
          </a:p>
          <a:p>
            <a:pPr lvl="1"/>
            <a:endParaRPr lang="en-US" dirty="0"/>
          </a:p>
          <a:p>
            <a:r>
              <a:rPr lang="en-US" dirty="0"/>
              <a:t>Abdominal exam including auscultating for bowel sounds</a:t>
            </a:r>
          </a:p>
          <a:p>
            <a:pPr lvl="1"/>
            <a:r>
              <a:rPr lang="en-US" dirty="0"/>
              <a:t>Frequency</a:t>
            </a:r>
          </a:p>
          <a:p>
            <a:pPr lvl="1"/>
            <a:r>
              <a:rPr lang="en-US" dirty="0"/>
              <a:t>Intensity</a:t>
            </a:r>
          </a:p>
          <a:p>
            <a:pPr lvl="1"/>
            <a:r>
              <a:rPr lang="en-US" dirty="0"/>
              <a:t>Location</a:t>
            </a:r>
          </a:p>
          <a:p>
            <a:pPr lvl="1"/>
            <a:r>
              <a:rPr lang="en-US" dirty="0"/>
              <a:t>Pitch</a:t>
            </a:r>
          </a:p>
          <a:p>
            <a:pPr lvl="1"/>
            <a:r>
              <a:rPr lang="en-US" dirty="0"/>
              <a:t>Pattern</a:t>
            </a:r>
          </a:p>
          <a:p>
            <a:pPr lvl="1"/>
            <a:endParaRPr lang="en-US" dirty="0"/>
          </a:p>
        </p:txBody>
      </p:sp>
    </p:spTree>
    <p:extLst>
      <p:ext uri="{BB962C8B-B14F-4D97-AF65-F5344CB8AC3E}">
        <p14:creationId xmlns:p14="http://schemas.microsoft.com/office/powerpoint/2010/main" val="2868285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Physical examination</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normAutofit lnSpcReduction="10000"/>
          </a:bodyPr>
          <a:lstStyle/>
          <a:p>
            <a:r>
              <a:rPr lang="en-US" dirty="0"/>
              <a:t>Physical signs are more helpful to determine the severity of diarrhea, rather than its cause </a:t>
            </a:r>
          </a:p>
          <a:p>
            <a:r>
              <a:rPr lang="en-US" dirty="0"/>
              <a:t>Assess volume status!</a:t>
            </a:r>
          </a:p>
          <a:p>
            <a:pPr lvl="1"/>
            <a:r>
              <a:rPr lang="en-US" dirty="0"/>
              <a:t>orthostatic changes in blood pressure and pulse</a:t>
            </a:r>
          </a:p>
          <a:p>
            <a:pPr lvl="1"/>
            <a:endParaRPr lang="en-US" dirty="0"/>
          </a:p>
          <a:p>
            <a:r>
              <a:rPr lang="en-US" dirty="0"/>
              <a:t>Abdominal exam including auscultating for bowel sounds</a:t>
            </a:r>
          </a:p>
          <a:p>
            <a:pPr lvl="1"/>
            <a:r>
              <a:rPr lang="en-US" dirty="0"/>
              <a:t>Frequency– </a:t>
            </a:r>
            <a:r>
              <a:rPr lang="en-US" b="1" dirty="0"/>
              <a:t>What’s normal frequency?</a:t>
            </a:r>
          </a:p>
          <a:p>
            <a:pPr lvl="1"/>
            <a:r>
              <a:rPr lang="en-US" dirty="0"/>
              <a:t>Intensity</a:t>
            </a:r>
          </a:p>
          <a:p>
            <a:pPr lvl="1"/>
            <a:r>
              <a:rPr lang="en-US" dirty="0"/>
              <a:t>Location</a:t>
            </a:r>
          </a:p>
          <a:p>
            <a:pPr lvl="1"/>
            <a:r>
              <a:rPr lang="en-US" dirty="0"/>
              <a:t>Pitch</a:t>
            </a:r>
          </a:p>
          <a:p>
            <a:pPr lvl="1"/>
            <a:r>
              <a:rPr lang="en-US" dirty="0"/>
              <a:t>Pattern</a:t>
            </a:r>
          </a:p>
          <a:p>
            <a:pPr lvl="1"/>
            <a:endParaRPr lang="en-US" dirty="0"/>
          </a:p>
        </p:txBody>
      </p:sp>
    </p:spTree>
    <p:extLst>
      <p:ext uri="{BB962C8B-B14F-4D97-AF65-F5344CB8AC3E}">
        <p14:creationId xmlns:p14="http://schemas.microsoft.com/office/powerpoint/2010/main" val="21296551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Physical examination</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a:xfrm>
            <a:off x="462844" y="1603022"/>
            <a:ext cx="11266312" cy="5118453"/>
          </a:xfrm>
        </p:spPr>
        <p:txBody>
          <a:bodyPr>
            <a:normAutofit lnSpcReduction="10000"/>
          </a:bodyPr>
          <a:lstStyle/>
          <a:p>
            <a:r>
              <a:rPr lang="en-US" dirty="0"/>
              <a:t>Physical signs are more helpful to determine the severity of diarrhea, rather than its cause </a:t>
            </a:r>
          </a:p>
          <a:p>
            <a:r>
              <a:rPr lang="en-US" dirty="0"/>
              <a:t>Assess volume status!</a:t>
            </a:r>
          </a:p>
          <a:p>
            <a:pPr lvl="1"/>
            <a:r>
              <a:rPr lang="en-US" dirty="0"/>
              <a:t>orthostatic changes in blood pressure and pulse</a:t>
            </a:r>
          </a:p>
          <a:p>
            <a:pPr lvl="1"/>
            <a:endParaRPr lang="en-US" dirty="0"/>
          </a:p>
          <a:p>
            <a:r>
              <a:rPr lang="en-US" dirty="0"/>
              <a:t>Abdominal exam including auscultating for bowel sounds</a:t>
            </a:r>
          </a:p>
          <a:p>
            <a:pPr lvl="1"/>
            <a:r>
              <a:rPr lang="en-US" dirty="0"/>
              <a:t>Frequency– </a:t>
            </a:r>
            <a:r>
              <a:rPr lang="en-US" b="1" dirty="0">
                <a:highlight>
                  <a:srgbClr val="FFFF00"/>
                </a:highlight>
              </a:rPr>
              <a:t>5-34/minute</a:t>
            </a:r>
          </a:p>
          <a:p>
            <a:pPr lvl="1"/>
            <a:r>
              <a:rPr lang="en-US" dirty="0"/>
              <a:t>Intensity</a:t>
            </a:r>
          </a:p>
          <a:p>
            <a:pPr lvl="1"/>
            <a:r>
              <a:rPr lang="en-US" dirty="0"/>
              <a:t>Location</a:t>
            </a:r>
          </a:p>
          <a:p>
            <a:pPr lvl="1"/>
            <a:r>
              <a:rPr lang="en-US" dirty="0"/>
              <a:t>Pitch</a:t>
            </a:r>
          </a:p>
          <a:p>
            <a:pPr lvl="1"/>
            <a:r>
              <a:rPr lang="en-US" dirty="0"/>
              <a:t>Pattern</a:t>
            </a:r>
          </a:p>
          <a:p>
            <a:r>
              <a:rPr lang="en-US" dirty="0"/>
              <a:t>Assess the presence or absence of abdominal distention and tenderness </a:t>
            </a:r>
          </a:p>
        </p:txBody>
      </p:sp>
    </p:spTree>
    <p:extLst>
      <p:ext uri="{BB962C8B-B14F-4D97-AF65-F5344CB8AC3E}">
        <p14:creationId xmlns:p14="http://schemas.microsoft.com/office/powerpoint/2010/main" val="18568816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Physical examination</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a:xfrm>
            <a:off x="600004" y="1603022"/>
            <a:ext cx="11266312" cy="947673"/>
          </a:xfrm>
        </p:spPr>
        <p:txBody>
          <a:bodyPr/>
          <a:lstStyle/>
          <a:p>
            <a:r>
              <a:rPr lang="en-US" dirty="0"/>
              <a:t>On rare occasions, the physical examination may provide more direct evidence of the cause of diarrhea such as characteristic rashes</a:t>
            </a:r>
          </a:p>
        </p:txBody>
      </p:sp>
      <p:pic>
        <p:nvPicPr>
          <p:cNvPr id="1026" name="Picture 2" descr="Visual Guide to Celiac Disease: Rash Pictures &amp; More">
            <a:extLst>
              <a:ext uri="{FF2B5EF4-FFF2-40B4-BE49-F238E27FC236}">
                <a16:creationId xmlns:a16="http://schemas.microsoft.com/office/drawing/2014/main" id="{080E2652-0DAB-4A44-BE12-AE931997D4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867" y="2860561"/>
            <a:ext cx="4523477" cy="307376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ddison's Disease Picture Image on MedicineNet.com">
            <a:extLst>
              <a:ext uri="{FF2B5EF4-FFF2-40B4-BE49-F238E27FC236}">
                <a16:creationId xmlns:a16="http://schemas.microsoft.com/office/drawing/2014/main" id="{F3852FDD-F129-9147-BEA5-7FABC83DA0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1634" y="2860559"/>
            <a:ext cx="4523480" cy="307376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euroendocrine Symptoms and Diseases Associated with Carcinoid">
            <a:extLst>
              <a:ext uri="{FF2B5EF4-FFF2-40B4-BE49-F238E27FC236}">
                <a16:creationId xmlns:a16="http://schemas.microsoft.com/office/drawing/2014/main" id="{8E88B551-B3D5-BB41-8342-D10E2C28A6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64404" y="2860559"/>
            <a:ext cx="2101912" cy="3073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95987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Physical examination</a:t>
            </a:r>
          </a:p>
        </p:txBody>
      </p:sp>
      <p:pic>
        <p:nvPicPr>
          <p:cNvPr id="1026" name="Picture 2" descr="Visual Guide to Celiac Disease: Rash Pictures &amp; More">
            <a:extLst>
              <a:ext uri="{FF2B5EF4-FFF2-40B4-BE49-F238E27FC236}">
                <a16:creationId xmlns:a16="http://schemas.microsoft.com/office/drawing/2014/main" id="{080E2652-0DAB-4A44-BE12-AE931997D4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867" y="2860561"/>
            <a:ext cx="4523477" cy="307376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ddison's Disease Picture Image on MedicineNet.com">
            <a:extLst>
              <a:ext uri="{FF2B5EF4-FFF2-40B4-BE49-F238E27FC236}">
                <a16:creationId xmlns:a16="http://schemas.microsoft.com/office/drawing/2014/main" id="{F3852FDD-F129-9147-BEA5-7FABC83DA0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1634" y="2860559"/>
            <a:ext cx="4523480" cy="307376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euroendocrine Symptoms and Diseases Associated with Carcinoid">
            <a:extLst>
              <a:ext uri="{FF2B5EF4-FFF2-40B4-BE49-F238E27FC236}">
                <a16:creationId xmlns:a16="http://schemas.microsoft.com/office/drawing/2014/main" id="{8E88B551-B3D5-BB41-8342-D10E2C28A6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64404" y="2860559"/>
            <a:ext cx="2101912" cy="3073764"/>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543C527C-42A1-DC4F-B9CE-6A353675457B}"/>
              </a:ext>
            </a:extLst>
          </p:cNvPr>
          <p:cNvSpPr txBox="1">
            <a:spLocks/>
          </p:cNvSpPr>
          <p:nvPr/>
        </p:nvSpPr>
        <p:spPr>
          <a:xfrm>
            <a:off x="378867" y="5934323"/>
            <a:ext cx="4523477" cy="787152"/>
          </a:xfrm>
          <a:prstGeom prst="rect">
            <a:avLst/>
          </a:prstGeom>
        </p:spPr>
        <p:txBody>
          <a:bodyPr vert="horz" lIns="91440" tIns="45720" rIns="91440" bIns="45720" rtlCol="0" anchor="ctr">
            <a:normAutofit fontScale="85000" lnSpcReduction="20000"/>
          </a:bodyPr>
          <a:lstStyle>
            <a:lvl1pPr marL="228600" indent="-228600" algn="l" defTabSz="914400" rtl="0" eaLnBrk="1" latinLnBrk="0" hangingPunct="1">
              <a:lnSpc>
                <a:spcPct val="90000"/>
              </a:lnSpc>
              <a:spcBef>
                <a:spcPts val="1000"/>
              </a:spcBef>
              <a:buFont typeface="System Font Regular"/>
              <a:buChar char="-"/>
              <a:defRPr sz="2800" kern="1200">
                <a:solidFill>
                  <a:schemeClr val="tx1"/>
                </a:solidFill>
                <a:latin typeface="Quadraat" panose="02000503060000090004" pitchFamily="2" charset="0"/>
                <a:ea typeface="+mn-ea"/>
                <a:cs typeface="+mn-cs"/>
              </a:defRPr>
            </a:lvl1pPr>
            <a:lvl2pPr marL="685800" indent="-228600" algn="l" defTabSz="914400" rtl="0" eaLnBrk="1" latinLnBrk="0" hangingPunct="1">
              <a:lnSpc>
                <a:spcPct val="90000"/>
              </a:lnSpc>
              <a:spcBef>
                <a:spcPts val="500"/>
              </a:spcBef>
              <a:buFont typeface="System Font Regular"/>
              <a:buChar char="-"/>
              <a:defRPr sz="2400" kern="1200">
                <a:solidFill>
                  <a:schemeClr val="tx1"/>
                </a:solidFill>
                <a:latin typeface="Quadraat" panose="02000503060000090004" pitchFamily="2" charset="0"/>
                <a:ea typeface="+mn-ea"/>
                <a:cs typeface="+mn-cs"/>
              </a:defRPr>
            </a:lvl2pPr>
            <a:lvl3pPr marL="1143000" indent="-228600" algn="l" defTabSz="914400" rtl="0" eaLnBrk="1" latinLnBrk="0" hangingPunct="1">
              <a:lnSpc>
                <a:spcPct val="90000"/>
              </a:lnSpc>
              <a:spcBef>
                <a:spcPts val="500"/>
              </a:spcBef>
              <a:buFont typeface="System Font Regular"/>
              <a:buChar char="-"/>
              <a:defRPr sz="2000" kern="1200">
                <a:solidFill>
                  <a:schemeClr val="tx1"/>
                </a:solidFill>
                <a:latin typeface="Quadraat" panose="02000503060000090004" pitchFamily="2" charset="0"/>
                <a:ea typeface="+mn-ea"/>
                <a:cs typeface="+mn-cs"/>
              </a:defRPr>
            </a:lvl3pPr>
            <a:lvl4pPr marL="1600200" indent="-228600" algn="l" defTabSz="914400" rtl="0" eaLnBrk="1" latinLnBrk="0" hangingPunct="1">
              <a:lnSpc>
                <a:spcPct val="90000"/>
              </a:lnSpc>
              <a:spcBef>
                <a:spcPts val="500"/>
              </a:spcBef>
              <a:buFont typeface="System Font Regular"/>
              <a:buChar char="-"/>
              <a:defRPr sz="1800" kern="1200">
                <a:solidFill>
                  <a:schemeClr val="tx1"/>
                </a:solidFill>
                <a:latin typeface="Quadraat" panose="02000503060000090004" pitchFamily="2" charset="0"/>
                <a:ea typeface="+mn-ea"/>
                <a:cs typeface="+mn-cs"/>
              </a:defRPr>
            </a:lvl4pPr>
            <a:lvl5pPr marL="2057400" indent="-228600" algn="l" defTabSz="914400" rtl="0" eaLnBrk="1" latinLnBrk="0" hangingPunct="1">
              <a:lnSpc>
                <a:spcPct val="90000"/>
              </a:lnSpc>
              <a:spcBef>
                <a:spcPts val="500"/>
              </a:spcBef>
              <a:buFont typeface="System Font Regular"/>
              <a:buChar char="-"/>
              <a:defRPr sz="1800" kern="1200">
                <a:solidFill>
                  <a:schemeClr val="tx1"/>
                </a:solidFill>
                <a:latin typeface="Quadraat" panose="0200050306000009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Dermatitis herpetiform</a:t>
            </a:r>
          </a:p>
          <a:p>
            <a:pPr marL="0" indent="0" algn="ctr">
              <a:buNone/>
            </a:pPr>
            <a:r>
              <a:rPr lang="en-US" dirty="0"/>
              <a:t>Celiac disease</a:t>
            </a:r>
          </a:p>
        </p:txBody>
      </p:sp>
      <p:sp>
        <p:nvSpPr>
          <p:cNvPr id="8" name="Content Placeholder 2">
            <a:extLst>
              <a:ext uri="{FF2B5EF4-FFF2-40B4-BE49-F238E27FC236}">
                <a16:creationId xmlns:a16="http://schemas.microsoft.com/office/drawing/2014/main" id="{4FC220E3-4B8A-2B4B-99E2-D7F147548FD5}"/>
              </a:ext>
            </a:extLst>
          </p:cNvPr>
          <p:cNvSpPr txBox="1">
            <a:spLocks/>
          </p:cNvSpPr>
          <p:nvPr/>
        </p:nvSpPr>
        <p:spPr>
          <a:xfrm>
            <a:off x="4902344" y="5934323"/>
            <a:ext cx="4692770" cy="787152"/>
          </a:xfrm>
          <a:prstGeom prst="rect">
            <a:avLst/>
          </a:prstGeom>
        </p:spPr>
        <p:txBody>
          <a:bodyPr vert="horz" lIns="91440" tIns="45720" rIns="91440" bIns="45720" rtlCol="0" anchor="ctr">
            <a:normAutofit fontScale="85000" lnSpcReduction="20000"/>
          </a:bodyPr>
          <a:lstStyle>
            <a:lvl1pPr marL="228600" indent="-228600" algn="l" defTabSz="914400" rtl="0" eaLnBrk="1" latinLnBrk="0" hangingPunct="1">
              <a:lnSpc>
                <a:spcPct val="90000"/>
              </a:lnSpc>
              <a:spcBef>
                <a:spcPts val="1000"/>
              </a:spcBef>
              <a:buFont typeface="System Font Regular"/>
              <a:buChar char="-"/>
              <a:defRPr sz="2800" kern="1200">
                <a:solidFill>
                  <a:schemeClr val="tx1"/>
                </a:solidFill>
                <a:latin typeface="Quadraat" panose="02000503060000090004" pitchFamily="2" charset="0"/>
                <a:ea typeface="+mn-ea"/>
                <a:cs typeface="+mn-cs"/>
              </a:defRPr>
            </a:lvl1pPr>
            <a:lvl2pPr marL="685800" indent="-228600" algn="l" defTabSz="914400" rtl="0" eaLnBrk="1" latinLnBrk="0" hangingPunct="1">
              <a:lnSpc>
                <a:spcPct val="90000"/>
              </a:lnSpc>
              <a:spcBef>
                <a:spcPts val="500"/>
              </a:spcBef>
              <a:buFont typeface="System Font Regular"/>
              <a:buChar char="-"/>
              <a:defRPr sz="2400" kern="1200">
                <a:solidFill>
                  <a:schemeClr val="tx1"/>
                </a:solidFill>
                <a:latin typeface="Quadraat" panose="02000503060000090004" pitchFamily="2" charset="0"/>
                <a:ea typeface="+mn-ea"/>
                <a:cs typeface="+mn-cs"/>
              </a:defRPr>
            </a:lvl2pPr>
            <a:lvl3pPr marL="1143000" indent="-228600" algn="l" defTabSz="914400" rtl="0" eaLnBrk="1" latinLnBrk="0" hangingPunct="1">
              <a:lnSpc>
                <a:spcPct val="90000"/>
              </a:lnSpc>
              <a:spcBef>
                <a:spcPts val="500"/>
              </a:spcBef>
              <a:buFont typeface="System Font Regular"/>
              <a:buChar char="-"/>
              <a:defRPr sz="2000" kern="1200">
                <a:solidFill>
                  <a:schemeClr val="tx1"/>
                </a:solidFill>
                <a:latin typeface="Quadraat" panose="02000503060000090004" pitchFamily="2" charset="0"/>
                <a:ea typeface="+mn-ea"/>
                <a:cs typeface="+mn-cs"/>
              </a:defRPr>
            </a:lvl3pPr>
            <a:lvl4pPr marL="1600200" indent="-228600" algn="l" defTabSz="914400" rtl="0" eaLnBrk="1" latinLnBrk="0" hangingPunct="1">
              <a:lnSpc>
                <a:spcPct val="90000"/>
              </a:lnSpc>
              <a:spcBef>
                <a:spcPts val="500"/>
              </a:spcBef>
              <a:buFont typeface="System Font Regular"/>
              <a:buChar char="-"/>
              <a:defRPr sz="1800" kern="1200">
                <a:solidFill>
                  <a:schemeClr val="tx1"/>
                </a:solidFill>
                <a:latin typeface="Quadraat" panose="02000503060000090004" pitchFamily="2" charset="0"/>
                <a:ea typeface="+mn-ea"/>
                <a:cs typeface="+mn-cs"/>
              </a:defRPr>
            </a:lvl4pPr>
            <a:lvl5pPr marL="2057400" indent="-228600" algn="l" defTabSz="914400" rtl="0" eaLnBrk="1" latinLnBrk="0" hangingPunct="1">
              <a:lnSpc>
                <a:spcPct val="90000"/>
              </a:lnSpc>
              <a:spcBef>
                <a:spcPts val="500"/>
              </a:spcBef>
              <a:buFont typeface="System Font Regular"/>
              <a:buChar char="-"/>
              <a:defRPr sz="1800" kern="1200">
                <a:solidFill>
                  <a:schemeClr val="tx1"/>
                </a:solidFill>
                <a:latin typeface="Quadraat" panose="0200050306000009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Hyperpigmentation</a:t>
            </a:r>
          </a:p>
          <a:p>
            <a:pPr marL="0" indent="0" algn="ctr">
              <a:buNone/>
            </a:pPr>
            <a:r>
              <a:rPr lang="en-US" dirty="0"/>
              <a:t>Addison’s disease</a:t>
            </a:r>
          </a:p>
        </p:txBody>
      </p:sp>
      <p:sp>
        <p:nvSpPr>
          <p:cNvPr id="9" name="Content Placeholder 2">
            <a:extLst>
              <a:ext uri="{FF2B5EF4-FFF2-40B4-BE49-F238E27FC236}">
                <a16:creationId xmlns:a16="http://schemas.microsoft.com/office/drawing/2014/main" id="{D2AB2D8D-B972-1B4A-BB3A-E9FD4B1A001E}"/>
              </a:ext>
            </a:extLst>
          </p:cNvPr>
          <p:cNvSpPr txBox="1">
            <a:spLocks/>
          </p:cNvSpPr>
          <p:nvPr/>
        </p:nvSpPr>
        <p:spPr>
          <a:xfrm>
            <a:off x="9764404" y="5934323"/>
            <a:ext cx="2101912" cy="787152"/>
          </a:xfrm>
          <a:prstGeom prst="rect">
            <a:avLst/>
          </a:prstGeom>
        </p:spPr>
        <p:txBody>
          <a:bodyPr vert="horz" lIns="91440" tIns="45720" rIns="91440" bIns="45720" rtlCol="0" anchor="ctr">
            <a:normAutofit fontScale="85000" lnSpcReduction="20000"/>
          </a:bodyPr>
          <a:lstStyle>
            <a:lvl1pPr marL="228600" indent="-228600" algn="l" defTabSz="914400" rtl="0" eaLnBrk="1" latinLnBrk="0" hangingPunct="1">
              <a:lnSpc>
                <a:spcPct val="90000"/>
              </a:lnSpc>
              <a:spcBef>
                <a:spcPts val="1000"/>
              </a:spcBef>
              <a:buFont typeface="System Font Regular"/>
              <a:buChar char="-"/>
              <a:defRPr sz="2800" kern="1200">
                <a:solidFill>
                  <a:schemeClr val="tx1"/>
                </a:solidFill>
                <a:latin typeface="Quadraat" panose="02000503060000090004" pitchFamily="2" charset="0"/>
                <a:ea typeface="+mn-ea"/>
                <a:cs typeface="+mn-cs"/>
              </a:defRPr>
            </a:lvl1pPr>
            <a:lvl2pPr marL="685800" indent="-228600" algn="l" defTabSz="914400" rtl="0" eaLnBrk="1" latinLnBrk="0" hangingPunct="1">
              <a:lnSpc>
                <a:spcPct val="90000"/>
              </a:lnSpc>
              <a:spcBef>
                <a:spcPts val="500"/>
              </a:spcBef>
              <a:buFont typeface="System Font Regular"/>
              <a:buChar char="-"/>
              <a:defRPr sz="2400" kern="1200">
                <a:solidFill>
                  <a:schemeClr val="tx1"/>
                </a:solidFill>
                <a:latin typeface="Quadraat" panose="02000503060000090004" pitchFamily="2" charset="0"/>
                <a:ea typeface="+mn-ea"/>
                <a:cs typeface="+mn-cs"/>
              </a:defRPr>
            </a:lvl2pPr>
            <a:lvl3pPr marL="1143000" indent="-228600" algn="l" defTabSz="914400" rtl="0" eaLnBrk="1" latinLnBrk="0" hangingPunct="1">
              <a:lnSpc>
                <a:spcPct val="90000"/>
              </a:lnSpc>
              <a:spcBef>
                <a:spcPts val="500"/>
              </a:spcBef>
              <a:buFont typeface="System Font Regular"/>
              <a:buChar char="-"/>
              <a:defRPr sz="2000" kern="1200">
                <a:solidFill>
                  <a:schemeClr val="tx1"/>
                </a:solidFill>
                <a:latin typeface="Quadraat" panose="02000503060000090004" pitchFamily="2" charset="0"/>
                <a:ea typeface="+mn-ea"/>
                <a:cs typeface="+mn-cs"/>
              </a:defRPr>
            </a:lvl3pPr>
            <a:lvl4pPr marL="1600200" indent="-228600" algn="l" defTabSz="914400" rtl="0" eaLnBrk="1" latinLnBrk="0" hangingPunct="1">
              <a:lnSpc>
                <a:spcPct val="90000"/>
              </a:lnSpc>
              <a:spcBef>
                <a:spcPts val="500"/>
              </a:spcBef>
              <a:buFont typeface="System Font Regular"/>
              <a:buChar char="-"/>
              <a:defRPr sz="1800" kern="1200">
                <a:solidFill>
                  <a:schemeClr val="tx1"/>
                </a:solidFill>
                <a:latin typeface="Quadraat" panose="02000503060000090004" pitchFamily="2" charset="0"/>
                <a:ea typeface="+mn-ea"/>
                <a:cs typeface="+mn-cs"/>
              </a:defRPr>
            </a:lvl4pPr>
            <a:lvl5pPr marL="2057400" indent="-228600" algn="l" defTabSz="914400" rtl="0" eaLnBrk="1" latinLnBrk="0" hangingPunct="1">
              <a:lnSpc>
                <a:spcPct val="90000"/>
              </a:lnSpc>
              <a:spcBef>
                <a:spcPts val="500"/>
              </a:spcBef>
              <a:buFont typeface="System Font Regular"/>
              <a:buChar char="-"/>
              <a:defRPr sz="1800" kern="1200">
                <a:solidFill>
                  <a:schemeClr val="tx1"/>
                </a:solidFill>
                <a:latin typeface="Quadraat" panose="0200050306000009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Facial flushing</a:t>
            </a:r>
          </a:p>
          <a:p>
            <a:pPr marL="0" indent="0" algn="ctr">
              <a:buNone/>
            </a:pPr>
            <a:r>
              <a:rPr lang="en-US" dirty="0"/>
              <a:t>Carcinoid</a:t>
            </a:r>
          </a:p>
        </p:txBody>
      </p:sp>
      <p:sp>
        <p:nvSpPr>
          <p:cNvPr id="12" name="Content Placeholder 2">
            <a:extLst>
              <a:ext uri="{FF2B5EF4-FFF2-40B4-BE49-F238E27FC236}">
                <a16:creationId xmlns:a16="http://schemas.microsoft.com/office/drawing/2014/main" id="{E860223A-30C8-C24D-A9F4-9438786E5053}"/>
              </a:ext>
            </a:extLst>
          </p:cNvPr>
          <p:cNvSpPr>
            <a:spLocks noGrp="1"/>
          </p:cNvSpPr>
          <p:nvPr>
            <p:ph idx="1"/>
          </p:nvPr>
        </p:nvSpPr>
        <p:spPr>
          <a:xfrm>
            <a:off x="600004" y="1603022"/>
            <a:ext cx="11266312" cy="947673"/>
          </a:xfrm>
        </p:spPr>
        <p:txBody>
          <a:bodyPr/>
          <a:lstStyle/>
          <a:p>
            <a:r>
              <a:rPr lang="en-US" dirty="0"/>
              <a:t>On rare occasions, the physical examination may provide more direct evidence of the cause of diarrhea such as characteristic rashes</a:t>
            </a:r>
          </a:p>
        </p:txBody>
      </p:sp>
    </p:spTree>
    <p:extLst>
      <p:ext uri="{BB962C8B-B14F-4D97-AF65-F5344CB8AC3E}">
        <p14:creationId xmlns:p14="http://schemas.microsoft.com/office/powerpoint/2010/main" val="39077917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Physical examination</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normAutofit/>
          </a:bodyPr>
          <a:lstStyle/>
          <a:p>
            <a:r>
              <a:rPr lang="en-US" dirty="0"/>
              <a:t>Palpate the abdomen for organomegaly</a:t>
            </a:r>
          </a:p>
          <a:p>
            <a:pPr lvl="1"/>
            <a:r>
              <a:rPr lang="en-US" dirty="0"/>
              <a:t>Hepatosplenomegaly can be seen in infiltrative diseases such as amyloidosis</a:t>
            </a:r>
          </a:p>
          <a:p>
            <a:pPr lvl="1"/>
            <a:endParaRPr lang="en-US" dirty="0"/>
          </a:p>
          <a:p>
            <a:r>
              <a:rPr lang="en-US" dirty="0"/>
              <a:t>Don’t forget to examine the thyroid, check for nodules and goiter</a:t>
            </a:r>
          </a:p>
          <a:p>
            <a:r>
              <a:rPr lang="en-US" dirty="0"/>
              <a:t>Auscultate the heart: tricuspid regurgitation could indicate carcinoid</a:t>
            </a:r>
          </a:p>
          <a:p>
            <a:endParaRPr lang="en-US" dirty="0"/>
          </a:p>
        </p:txBody>
      </p:sp>
    </p:spTree>
    <p:extLst>
      <p:ext uri="{BB962C8B-B14F-4D97-AF65-F5344CB8AC3E}">
        <p14:creationId xmlns:p14="http://schemas.microsoft.com/office/powerpoint/2010/main" val="12461922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Physical examination</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normAutofit/>
          </a:bodyPr>
          <a:lstStyle/>
          <a:p>
            <a:r>
              <a:rPr lang="en-US" dirty="0"/>
              <a:t>Palpate the abdomen for organomegaly</a:t>
            </a:r>
          </a:p>
          <a:p>
            <a:pPr lvl="1"/>
            <a:r>
              <a:rPr lang="en-US" dirty="0"/>
              <a:t>Hepatosplenomegaly can be seen in infiltrative diseases such as amyloidosis</a:t>
            </a:r>
          </a:p>
          <a:p>
            <a:pPr lvl="1"/>
            <a:endParaRPr lang="en-US" dirty="0"/>
          </a:p>
          <a:p>
            <a:r>
              <a:rPr lang="en-US" dirty="0"/>
              <a:t>Don’t forget to examine the thyroid, check for nodules and goiter</a:t>
            </a:r>
          </a:p>
          <a:p>
            <a:r>
              <a:rPr lang="en-US" dirty="0"/>
              <a:t>Auscultate the heart: tricuspid regurgitation could indicate carcinoid</a:t>
            </a:r>
          </a:p>
          <a:p>
            <a:endParaRPr lang="en-US" dirty="0"/>
          </a:p>
          <a:p>
            <a:pPr marL="0" indent="0" algn="ctr">
              <a:buNone/>
            </a:pPr>
            <a:r>
              <a:rPr lang="en-US" sz="3600" b="1" dirty="0">
                <a:highlight>
                  <a:srgbClr val="FFFF00"/>
                </a:highlight>
              </a:rPr>
              <a:t>Most importantly, don’t forget a digital rectal exam!</a:t>
            </a:r>
          </a:p>
        </p:txBody>
      </p:sp>
    </p:spTree>
    <p:extLst>
      <p:ext uri="{BB962C8B-B14F-4D97-AF65-F5344CB8AC3E}">
        <p14:creationId xmlns:p14="http://schemas.microsoft.com/office/powerpoint/2010/main" val="3797137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Physical examination</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normAutofit/>
          </a:bodyPr>
          <a:lstStyle/>
          <a:p>
            <a:pPr marL="0" indent="0" algn="ctr">
              <a:buNone/>
            </a:pPr>
            <a:r>
              <a:rPr lang="en-US" b="1" dirty="0"/>
              <a:t>Digital rectal exam</a:t>
            </a:r>
          </a:p>
          <a:p>
            <a:endParaRPr lang="en-US" dirty="0"/>
          </a:p>
          <a:p>
            <a:r>
              <a:rPr lang="en-US" dirty="0"/>
              <a:t>Carefully examine the external anal sphincter for any defects</a:t>
            </a:r>
          </a:p>
          <a:p>
            <a:r>
              <a:rPr lang="en-US" dirty="0"/>
              <a:t>Assess the tone of the anal sphincter during the exam</a:t>
            </a:r>
          </a:p>
          <a:p>
            <a:pPr lvl="1"/>
            <a:r>
              <a:rPr lang="en-US" dirty="0"/>
              <a:t>Make sure “diarrhea” is not incontinence</a:t>
            </a:r>
          </a:p>
          <a:p>
            <a:pPr lvl="1"/>
            <a:endParaRPr lang="en-US" dirty="0"/>
          </a:p>
          <a:p>
            <a:r>
              <a:rPr lang="en-US" dirty="0"/>
              <a:t>Check for any masses or stool impaction</a:t>
            </a:r>
          </a:p>
          <a:p>
            <a:pPr lvl="1"/>
            <a:r>
              <a:rPr lang="en-US" dirty="0"/>
              <a:t>Can be the cause of overflow diarrhea in bedbound patients</a:t>
            </a:r>
          </a:p>
        </p:txBody>
      </p:sp>
    </p:spTree>
    <p:extLst>
      <p:ext uri="{BB962C8B-B14F-4D97-AF65-F5344CB8AC3E}">
        <p14:creationId xmlns:p14="http://schemas.microsoft.com/office/powerpoint/2010/main" val="25570390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5EA35-F522-1841-8E05-F61DCB0BEFC7}"/>
              </a:ext>
            </a:extLst>
          </p:cNvPr>
          <p:cNvSpPr>
            <a:spLocks noGrp="1"/>
          </p:cNvSpPr>
          <p:nvPr>
            <p:ph type="title"/>
          </p:nvPr>
        </p:nvSpPr>
        <p:spPr/>
        <p:txBody>
          <a:bodyPr/>
          <a:lstStyle/>
          <a:p>
            <a:r>
              <a:rPr lang="en-US" dirty="0"/>
              <a:t>Further evaluation of chronic diarrhea</a:t>
            </a:r>
          </a:p>
        </p:txBody>
      </p:sp>
      <p:sp>
        <p:nvSpPr>
          <p:cNvPr id="3" name="Text Placeholder 2">
            <a:extLst>
              <a:ext uri="{FF2B5EF4-FFF2-40B4-BE49-F238E27FC236}">
                <a16:creationId xmlns:a16="http://schemas.microsoft.com/office/drawing/2014/main" id="{C2CB74EA-340A-A142-92C4-B57356D3B4B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975731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Further evaluation of chronic diarrhea</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CBC, CMP, CRP, IgA anti TTG (and total IgA)</a:t>
            </a:r>
          </a:p>
          <a:p>
            <a:r>
              <a:rPr lang="en-US" dirty="0"/>
              <a:t>Fecal lactoferrin or leukocytes</a:t>
            </a:r>
          </a:p>
          <a:p>
            <a:r>
              <a:rPr lang="en-US" dirty="0"/>
              <a:t>Stool culture</a:t>
            </a:r>
          </a:p>
          <a:p>
            <a:r>
              <a:rPr lang="en-US" dirty="0"/>
              <a:t>Stool C. difficile screen</a:t>
            </a:r>
          </a:p>
          <a:p>
            <a:r>
              <a:rPr lang="en-US" dirty="0"/>
              <a:t>Ova and parasite exam and fecal antigens</a:t>
            </a:r>
          </a:p>
          <a:p>
            <a:r>
              <a:rPr lang="en-US" dirty="0"/>
              <a:t>If available, stool multiplex PCR testing</a:t>
            </a:r>
          </a:p>
          <a:p>
            <a:endParaRPr lang="en-US" dirty="0"/>
          </a:p>
          <a:p>
            <a:r>
              <a:rPr lang="en-US" dirty="0"/>
              <a:t>If history, physical exam and lab tests reveal the problem, you can start empiric therapy</a:t>
            </a:r>
          </a:p>
        </p:txBody>
      </p:sp>
    </p:spTree>
    <p:extLst>
      <p:ext uri="{BB962C8B-B14F-4D97-AF65-F5344CB8AC3E}">
        <p14:creationId xmlns:p14="http://schemas.microsoft.com/office/powerpoint/2010/main" val="34066505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Further evaluation of chronic diarrhea</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When no diagnosis is suggested by the initial evaluation, the clinician first should consider four possibilities: </a:t>
            </a:r>
          </a:p>
          <a:p>
            <a:endParaRPr lang="en-US" dirty="0"/>
          </a:p>
          <a:p>
            <a:pPr marL="514350" indent="-514350">
              <a:buAutoNum type="arabicPeriod"/>
            </a:pPr>
            <a:r>
              <a:rPr lang="en-US" b="1" dirty="0"/>
              <a:t>Fecal incontinence masquerading as chronic diarrhea </a:t>
            </a:r>
          </a:p>
          <a:p>
            <a:pPr marL="514350" indent="-514350">
              <a:buFont typeface="System Font Regular"/>
              <a:buAutoNum type="arabicPeriod"/>
            </a:pPr>
            <a:r>
              <a:rPr lang="en-US" b="1" dirty="0"/>
              <a:t>Iatrogenic diarrhea due to drugs, surgery or radiation therapy </a:t>
            </a:r>
          </a:p>
          <a:p>
            <a:pPr marL="514350" indent="-514350">
              <a:buFont typeface="System Font Regular"/>
              <a:buAutoNum type="arabicPeriod"/>
            </a:pPr>
            <a:r>
              <a:rPr lang="en-US" b="1" dirty="0"/>
              <a:t>Chronic infection </a:t>
            </a:r>
          </a:p>
          <a:p>
            <a:pPr marL="514350" indent="-514350">
              <a:buFont typeface="System Font Regular"/>
              <a:buAutoNum type="arabicPeriod"/>
            </a:pPr>
            <a:r>
              <a:rPr lang="en-US" b="1" dirty="0"/>
              <a:t>IBS with diarrhea </a:t>
            </a:r>
          </a:p>
          <a:p>
            <a:pPr marL="514350" indent="-514350">
              <a:buAutoNum type="arabicPeriod"/>
            </a:pPr>
            <a:endParaRPr lang="en-US" dirty="0"/>
          </a:p>
        </p:txBody>
      </p:sp>
    </p:spTree>
    <p:extLst>
      <p:ext uri="{BB962C8B-B14F-4D97-AF65-F5344CB8AC3E}">
        <p14:creationId xmlns:p14="http://schemas.microsoft.com/office/powerpoint/2010/main" val="23661333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5EA35-F522-1841-8E05-F61DCB0BEFC7}"/>
              </a:ext>
            </a:extLst>
          </p:cNvPr>
          <p:cNvSpPr>
            <a:spLocks noGrp="1"/>
          </p:cNvSpPr>
          <p:nvPr>
            <p:ph type="title"/>
          </p:nvPr>
        </p:nvSpPr>
        <p:spPr/>
        <p:txBody>
          <a:bodyPr/>
          <a:lstStyle/>
          <a:p>
            <a:r>
              <a:rPr lang="en-US" dirty="0"/>
              <a:t>Chronic watery diarrhea</a:t>
            </a:r>
          </a:p>
        </p:txBody>
      </p:sp>
      <p:sp>
        <p:nvSpPr>
          <p:cNvPr id="3" name="Text Placeholder 2">
            <a:extLst>
              <a:ext uri="{FF2B5EF4-FFF2-40B4-BE49-F238E27FC236}">
                <a16:creationId xmlns:a16="http://schemas.microsoft.com/office/drawing/2014/main" id="{C2CB74EA-340A-A142-92C4-B57356D3B4B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013343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Chronic watery diarrhea</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Secretory diarrhea has a broad differential diagnosis (see next slide)</a:t>
            </a:r>
          </a:p>
          <a:p>
            <a:r>
              <a:rPr lang="en-US" dirty="0"/>
              <a:t>The common thread among these conditions is that salt and water absorption is impaired</a:t>
            </a:r>
          </a:p>
          <a:p>
            <a:r>
              <a:rPr lang="en-US" dirty="0"/>
              <a:t>Infection should be excluded (if not previously evaluated) by PCR multiplex assay</a:t>
            </a:r>
          </a:p>
          <a:p>
            <a:r>
              <a:rPr lang="en-US" dirty="0"/>
              <a:t>Peptide-secreting tumors are very rare, and screening all patients might produce more false positives than true positives</a:t>
            </a:r>
          </a:p>
          <a:p>
            <a:pPr lvl="1"/>
            <a:r>
              <a:rPr lang="en-US" dirty="0"/>
              <a:t>Test when there is extra-intestinal tumor-related symptoms, such as flushing in carcinoid</a:t>
            </a:r>
          </a:p>
        </p:txBody>
      </p:sp>
    </p:spTree>
    <p:extLst>
      <p:ext uri="{BB962C8B-B14F-4D97-AF65-F5344CB8AC3E}">
        <p14:creationId xmlns:p14="http://schemas.microsoft.com/office/powerpoint/2010/main" val="13681556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5EA35-F522-1841-8E05-F61DCB0BEFC7}"/>
              </a:ext>
            </a:extLst>
          </p:cNvPr>
          <p:cNvSpPr>
            <a:spLocks noGrp="1"/>
          </p:cNvSpPr>
          <p:nvPr>
            <p:ph type="title"/>
          </p:nvPr>
        </p:nvSpPr>
        <p:spPr/>
        <p:txBody>
          <a:bodyPr/>
          <a:lstStyle/>
          <a:p>
            <a:r>
              <a:rPr lang="en-US" dirty="0"/>
              <a:t>BAM!!</a:t>
            </a:r>
          </a:p>
        </p:txBody>
      </p:sp>
      <p:sp>
        <p:nvSpPr>
          <p:cNvPr id="3" name="Text Placeholder 2">
            <a:extLst>
              <a:ext uri="{FF2B5EF4-FFF2-40B4-BE49-F238E27FC236}">
                <a16:creationId xmlns:a16="http://schemas.microsoft.com/office/drawing/2014/main" id="{C2CB74EA-340A-A142-92C4-B57356D3B4B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852716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5EA35-F522-1841-8E05-F61DCB0BEFC7}"/>
              </a:ext>
            </a:extLst>
          </p:cNvPr>
          <p:cNvSpPr>
            <a:spLocks noGrp="1"/>
          </p:cNvSpPr>
          <p:nvPr>
            <p:ph type="title"/>
          </p:nvPr>
        </p:nvSpPr>
        <p:spPr/>
        <p:txBody>
          <a:bodyPr/>
          <a:lstStyle/>
          <a:p>
            <a:r>
              <a:rPr lang="en-US" dirty="0"/>
              <a:t>Bile acid malabsorption (BAM)</a:t>
            </a:r>
          </a:p>
        </p:txBody>
      </p:sp>
      <p:sp>
        <p:nvSpPr>
          <p:cNvPr id="3" name="Text Placeholder 2">
            <a:extLst>
              <a:ext uri="{FF2B5EF4-FFF2-40B4-BE49-F238E27FC236}">
                <a16:creationId xmlns:a16="http://schemas.microsoft.com/office/drawing/2014/main" id="{C2CB74EA-340A-A142-92C4-B57356D3B4B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099729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Bile Acid Malabsorption (BAM)</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One important differential of chronic diarrhea (bile acid diarrhea – BAD)</a:t>
            </a:r>
          </a:p>
          <a:p>
            <a:r>
              <a:rPr lang="en-US" dirty="0"/>
              <a:t>Ileal disease or resection allows excessive amounts of conjugated bile acid to enter the colon</a:t>
            </a:r>
          </a:p>
          <a:p>
            <a:r>
              <a:rPr lang="en-US" dirty="0"/>
              <a:t>If the concentration of bile acid in colon contents exceeds 3–5 mmol/L, electrolyte absorption by the colon mucosa is inhibited and a secretory diarrhea may result</a:t>
            </a:r>
          </a:p>
          <a:p>
            <a:r>
              <a:rPr lang="en-US" dirty="0"/>
              <a:t>Three distinct types exist</a:t>
            </a:r>
          </a:p>
          <a:p>
            <a:r>
              <a:rPr lang="en-US" dirty="0"/>
              <a:t>Diagnosis is somewhat controversial</a:t>
            </a:r>
          </a:p>
        </p:txBody>
      </p:sp>
    </p:spTree>
    <p:extLst>
      <p:ext uri="{BB962C8B-B14F-4D97-AF65-F5344CB8AC3E}">
        <p14:creationId xmlns:p14="http://schemas.microsoft.com/office/powerpoint/2010/main" val="3875948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Bile Acid Malabsorption (BAM)</a:t>
            </a:r>
          </a:p>
        </p:txBody>
      </p:sp>
      <p:pic>
        <p:nvPicPr>
          <p:cNvPr id="4" name="Content Placeholder 3">
            <a:extLst>
              <a:ext uri="{FF2B5EF4-FFF2-40B4-BE49-F238E27FC236}">
                <a16:creationId xmlns:a16="http://schemas.microsoft.com/office/drawing/2014/main" id="{C3FD4522-1378-4247-9FC0-A1EF2491B1A2}"/>
              </a:ext>
            </a:extLst>
          </p:cNvPr>
          <p:cNvPicPr>
            <a:picLocks noGrp="1" noChangeAspect="1"/>
          </p:cNvPicPr>
          <p:nvPr>
            <p:ph idx="1"/>
          </p:nvPr>
        </p:nvPicPr>
        <p:blipFill>
          <a:blip r:embed="rId3"/>
          <a:stretch>
            <a:fillRect/>
          </a:stretch>
        </p:blipFill>
        <p:spPr>
          <a:xfrm>
            <a:off x="2556837" y="1603375"/>
            <a:ext cx="7078326" cy="4573588"/>
          </a:xfrm>
          <a:prstGeom prst="rect">
            <a:avLst/>
          </a:prstGeom>
        </p:spPr>
      </p:pic>
      <p:sp>
        <p:nvSpPr>
          <p:cNvPr id="5" name="TextBox 4">
            <a:extLst>
              <a:ext uri="{FF2B5EF4-FFF2-40B4-BE49-F238E27FC236}">
                <a16:creationId xmlns:a16="http://schemas.microsoft.com/office/drawing/2014/main" id="{ED1007F0-AFAC-2142-876F-4D0F035D82E1}"/>
              </a:ext>
            </a:extLst>
          </p:cNvPr>
          <p:cNvSpPr txBox="1"/>
          <p:nvPr/>
        </p:nvSpPr>
        <p:spPr>
          <a:xfrm>
            <a:off x="1" y="6421740"/>
            <a:ext cx="12192000" cy="369332"/>
          </a:xfrm>
          <a:prstGeom prst="rect">
            <a:avLst/>
          </a:prstGeom>
          <a:noFill/>
        </p:spPr>
        <p:txBody>
          <a:bodyPr wrap="square" rtlCol="0">
            <a:spAutoFit/>
          </a:bodyPr>
          <a:lstStyle/>
          <a:p>
            <a:pPr algn="r"/>
            <a:r>
              <a:rPr lang="en-US" dirty="0">
                <a:latin typeface="Quadraat" panose="02000503060000090004" pitchFamily="2" charset="0"/>
              </a:rPr>
              <a:t>http://</a:t>
            </a:r>
            <a:r>
              <a:rPr lang="en-US" dirty="0" err="1">
                <a:latin typeface="Quadraat" panose="02000503060000090004" pitchFamily="2" charset="0"/>
              </a:rPr>
              <a:t>dx.doi.org</a:t>
            </a:r>
            <a:r>
              <a:rPr lang="en-US" dirty="0">
                <a:latin typeface="Quadraat" panose="02000503060000090004" pitchFamily="2" charset="0"/>
              </a:rPr>
              <a:t>/10.5009/gnl14397</a:t>
            </a:r>
          </a:p>
        </p:txBody>
      </p:sp>
      <p:cxnSp>
        <p:nvCxnSpPr>
          <p:cNvPr id="6" name="Straight Connector 5">
            <a:extLst>
              <a:ext uri="{FF2B5EF4-FFF2-40B4-BE49-F238E27FC236}">
                <a16:creationId xmlns:a16="http://schemas.microsoft.com/office/drawing/2014/main" id="{3EB4C65D-C4CD-0143-BC42-6893C0CE036A}"/>
              </a:ext>
            </a:extLst>
          </p:cNvPr>
          <p:cNvCxnSpPr>
            <a:cxnSpLocks/>
          </p:cNvCxnSpPr>
          <p:nvPr/>
        </p:nvCxnSpPr>
        <p:spPr>
          <a:xfrm>
            <a:off x="5849369" y="1549594"/>
            <a:ext cx="0" cy="4627369"/>
          </a:xfrm>
          <a:prstGeom prst="line">
            <a:avLst/>
          </a:prstGeom>
          <a:ln w="38100">
            <a:solidFill>
              <a:schemeClr val="tx1">
                <a:alpha val="45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85928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Bile Acid Malabsorption (BAM)</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Diagnosing BAM can be made in different ways</a:t>
            </a:r>
          </a:p>
          <a:p>
            <a:pPr marL="514350" indent="-514350">
              <a:buAutoNum type="arabicPeriod"/>
            </a:pPr>
            <a:r>
              <a:rPr lang="en-US" baseline="30000" dirty="0"/>
              <a:t>75</a:t>
            </a:r>
            <a:r>
              <a:rPr lang="en-US" dirty="0"/>
              <a:t>Selenium </a:t>
            </a:r>
            <a:r>
              <a:rPr lang="en-US" dirty="0" err="1"/>
              <a:t>homotaurocholic</a:t>
            </a:r>
            <a:r>
              <a:rPr lang="en-US" dirty="0"/>
              <a:t> acid seven-day retention test (</a:t>
            </a:r>
            <a:r>
              <a:rPr lang="en-US" dirty="0" err="1"/>
              <a:t>SeHCAT</a:t>
            </a:r>
            <a:r>
              <a:rPr lang="en-US" dirty="0"/>
              <a:t>)</a:t>
            </a:r>
          </a:p>
          <a:p>
            <a:pPr lvl="1">
              <a:buFontTx/>
              <a:buChar char="-"/>
            </a:pPr>
            <a:r>
              <a:rPr lang="en-US" dirty="0"/>
              <a:t>Validated and used in most European countries, is not available in the USA</a:t>
            </a:r>
          </a:p>
          <a:p>
            <a:pPr marL="514350" indent="-514350">
              <a:buAutoNum type="arabicPeriod"/>
            </a:pPr>
            <a:r>
              <a:rPr lang="en-US" dirty="0"/>
              <a:t>Fecal bile acid test</a:t>
            </a:r>
          </a:p>
          <a:p>
            <a:pPr lvl="1">
              <a:buFontTx/>
              <a:buChar char="-"/>
            </a:pPr>
            <a:r>
              <a:rPr lang="en-US" dirty="0"/>
              <a:t>quantifies individual and total bile acids in a 48-hour stool collection</a:t>
            </a:r>
          </a:p>
          <a:p>
            <a:pPr marL="514350" indent="-514350">
              <a:buAutoNum type="arabicPeriod"/>
            </a:pPr>
            <a:r>
              <a:rPr lang="el-GR" dirty="0"/>
              <a:t>7α-</a:t>
            </a:r>
            <a:r>
              <a:rPr lang="en-US" dirty="0"/>
              <a:t>hydroxy-4-cholesten-3-one (</a:t>
            </a:r>
            <a:r>
              <a:rPr lang="el-GR" dirty="0"/>
              <a:t>7α</a:t>
            </a:r>
            <a:r>
              <a:rPr lang="en-US" dirty="0"/>
              <a:t>C4 or C4 for brief)</a:t>
            </a:r>
          </a:p>
          <a:p>
            <a:pPr lvl="1">
              <a:buFontTx/>
              <a:buChar char="-"/>
            </a:pPr>
            <a:r>
              <a:rPr lang="en-US" dirty="0"/>
              <a:t>A downstream product of CYP7A1</a:t>
            </a:r>
          </a:p>
          <a:p>
            <a:pPr lvl="1">
              <a:buFontTx/>
              <a:buChar char="-"/>
            </a:pPr>
            <a:r>
              <a:rPr lang="en-US" dirty="0"/>
              <a:t>Fasting serum C4 levels increase when bile acid synthesis increases, elevated in BAM</a:t>
            </a:r>
          </a:p>
          <a:p>
            <a:pPr lvl="1">
              <a:buFontTx/>
              <a:buChar char="-"/>
            </a:pPr>
            <a:r>
              <a:rPr lang="en-US" dirty="0"/>
              <a:t>False-positives and false-negatives in patients who have liver disease or are taking statins</a:t>
            </a:r>
          </a:p>
          <a:p>
            <a:pPr>
              <a:buFontTx/>
              <a:buChar char="-"/>
            </a:pPr>
            <a:endParaRPr lang="en-US" dirty="0"/>
          </a:p>
          <a:p>
            <a:pPr marL="0" indent="0">
              <a:buNone/>
            </a:pPr>
            <a:endParaRPr lang="en-US" dirty="0"/>
          </a:p>
          <a:p>
            <a:pPr marL="514350" indent="-514350">
              <a:buAutoNum type="arabicPeriod"/>
            </a:pPr>
            <a:endParaRPr lang="en-US" dirty="0"/>
          </a:p>
          <a:p>
            <a:pPr lvl="2">
              <a:buFontTx/>
              <a:buChar char="-"/>
            </a:pPr>
            <a:endParaRPr lang="en-US" dirty="0"/>
          </a:p>
          <a:p>
            <a:pPr marL="0" indent="0">
              <a:buNone/>
            </a:pPr>
            <a:endParaRPr lang="en-US" dirty="0"/>
          </a:p>
        </p:txBody>
      </p:sp>
    </p:spTree>
    <p:extLst>
      <p:ext uri="{BB962C8B-B14F-4D97-AF65-F5344CB8AC3E}">
        <p14:creationId xmlns:p14="http://schemas.microsoft.com/office/powerpoint/2010/main" val="12426439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Differentials for Secretory Chronic Diarrhea</a:t>
            </a:r>
          </a:p>
        </p:txBody>
      </p:sp>
      <p:pic>
        <p:nvPicPr>
          <p:cNvPr id="3" name="Picture 2">
            <a:extLst>
              <a:ext uri="{FF2B5EF4-FFF2-40B4-BE49-F238E27FC236}">
                <a16:creationId xmlns:a16="http://schemas.microsoft.com/office/drawing/2014/main" id="{ED888398-D028-9647-A387-3EB362602306}"/>
              </a:ext>
            </a:extLst>
          </p:cNvPr>
          <p:cNvPicPr>
            <a:picLocks noChangeAspect="1"/>
          </p:cNvPicPr>
          <p:nvPr/>
        </p:nvPicPr>
        <p:blipFill>
          <a:blip r:embed="rId2"/>
          <a:stretch>
            <a:fillRect/>
          </a:stretch>
        </p:blipFill>
        <p:spPr>
          <a:xfrm>
            <a:off x="1376680" y="1766888"/>
            <a:ext cx="4368800" cy="4343400"/>
          </a:xfrm>
          <a:prstGeom prst="rect">
            <a:avLst/>
          </a:prstGeom>
        </p:spPr>
      </p:pic>
      <p:pic>
        <p:nvPicPr>
          <p:cNvPr id="5" name="Picture 4">
            <a:extLst>
              <a:ext uri="{FF2B5EF4-FFF2-40B4-BE49-F238E27FC236}">
                <a16:creationId xmlns:a16="http://schemas.microsoft.com/office/drawing/2014/main" id="{48D28813-A883-BB49-B4E5-4209A1D22F17}"/>
              </a:ext>
            </a:extLst>
          </p:cNvPr>
          <p:cNvPicPr>
            <a:picLocks noChangeAspect="1"/>
          </p:cNvPicPr>
          <p:nvPr/>
        </p:nvPicPr>
        <p:blipFill>
          <a:blip r:embed="rId3"/>
          <a:stretch>
            <a:fillRect/>
          </a:stretch>
        </p:blipFill>
        <p:spPr>
          <a:xfrm>
            <a:off x="6294120" y="1766888"/>
            <a:ext cx="4406900" cy="3898900"/>
          </a:xfrm>
          <a:prstGeom prst="rect">
            <a:avLst/>
          </a:prstGeom>
        </p:spPr>
      </p:pic>
    </p:spTree>
    <p:extLst>
      <p:ext uri="{BB962C8B-B14F-4D97-AF65-F5344CB8AC3E}">
        <p14:creationId xmlns:p14="http://schemas.microsoft.com/office/powerpoint/2010/main" val="24784439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5EA35-F522-1841-8E05-F61DCB0BEFC7}"/>
              </a:ext>
            </a:extLst>
          </p:cNvPr>
          <p:cNvSpPr>
            <a:spLocks noGrp="1"/>
          </p:cNvSpPr>
          <p:nvPr>
            <p:ph type="title"/>
          </p:nvPr>
        </p:nvSpPr>
        <p:spPr/>
        <p:txBody>
          <a:bodyPr/>
          <a:lstStyle/>
          <a:p>
            <a:r>
              <a:rPr lang="en-US" dirty="0"/>
              <a:t>Chronic fatty diarrhea</a:t>
            </a:r>
          </a:p>
        </p:txBody>
      </p:sp>
      <p:sp>
        <p:nvSpPr>
          <p:cNvPr id="3" name="Text Placeholder 2">
            <a:extLst>
              <a:ext uri="{FF2B5EF4-FFF2-40B4-BE49-F238E27FC236}">
                <a16:creationId xmlns:a16="http://schemas.microsoft.com/office/drawing/2014/main" id="{C2CB74EA-340A-A142-92C4-B57356D3B4B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782140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44F5E5C-68B3-1C43-9C08-F35525AE1344}"/>
              </a:ext>
            </a:extLst>
          </p:cNvPr>
          <p:cNvPicPr>
            <a:picLocks noGrp="1" noChangeAspect="1"/>
          </p:cNvPicPr>
          <p:nvPr>
            <p:ph idx="1"/>
          </p:nvPr>
        </p:nvPicPr>
        <p:blipFill>
          <a:blip r:embed="rId2"/>
          <a:stretch>
            <a:fillRect/>
          </a:stretch>
        </p:blipFill>
        <p:spPr>
          <a:xfrm>
            <a:off x="3410762" y="1357200"/>
            <a:ext cx="5370476" cy="4143600"/>
          </a:xfrm>
          <a:prstGeom prst="rect">
            <a:avLst/>
          </a:prstGeom>
        </p:spPr>
      </p:pic>
    </p:spTree>
    <p:extLst>
      <p:ext uri="{BB962C8B-B14F-4D97-AF65-F5344CB8AC3E}">
        <p14:creationId xmlns:p14="http://schemas.microsoft.com/office/powerpoint/2010/main" val="11028885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Chronic fatty diarrhea</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lstStyle/>
          <a:p>
            <a:r>
              <a:rPr lang="en-US" dirty="0"/>
              <a:t>The presence of </a:t>
            </a:r>
            <a:r>
              <a:rPr lang="en-US" b="1" dirty="0">
                <a:highlight>
                  <a:srgbClr val="FFFF00"/>
                </a:highlight>
              </a:rPr>
              <a:t>steatorrhea</a:t>
            </a:r>
            <a:r>
              <a:rPr lang="en-US" dirty="0"/>
              <a:t> implies a disruption of fat solubilization, digestion, or absorption in the small intestine</a:t>
            </a:r>
          </a:p>
          <a:p>
            <a:r>
              <a:rPr lang="en-US" dirty="0"/>
              <a:t> Fecal fat content can be measured quantitatively, </a:t>
            </a:r>
            <a:r>
              <a:rPr lang="en-US" dirty="0" err="1"/>
              <a:t>semiquantitatively</a:t>
            </a:r>
            <a:r>
              <a:rPr lang="en-US" dirty="0"/>
              <a:t> or qualitatively </a:t>
            </a:r>
          </a:p>
          <a:p>
            <a:r>
              <a:rPr lang="en-US" dirty="0"/>
              <a:t>Major causes include</a:t>
            </a:r>
          </a:p>
          <a:p>
            <a:pPr lvl="1"/>
            <a:r>
              <a:rPr lang="en-US" dirty="0"/>
              <a:t>mucosal disease (e.g., celiac disease)</a:t>
            </a:r>
          </a:p>
          <a:p>
            <a:pPr lvl="1"/>
            <a:r>
              <a:rPr lang="en-US" dirty="0"/>
              <a:t>pancreatic exocrine insufficiency (e.g., chronic pancreatitis)</a:t>
            </a:r>
          </a:p>
          <a:p>
            <a:pPr lvl="1"/>
            <a:r>
              <a:rPr lang="en-US" dirty="0"/>
              <a:t>lack of bile (e.g., advanced primary biliary cholangitis)</a:t>
            </a:r>
          </a:p>
        </p:txBody>
      </p:sp>
    </p:spTree>
    <p:extLst>
      <p:ext uri="{BB962C8B-B14F-4D97-AF65-F5344CB8AC3E}">
        <p14:creationId xmlns:p14="http://schemas.microsoft.com/office/powerpoint/2010/main" val="41929156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Chronic fatty diarrhea</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normAutofit lnSpcReduction="10000"/>
          </a:bodyPr>
          <a:lstStyle/>
          <a:p>
            <a:r>
              <a:rPr lang="en-US" dirty="0"/>
              <a:t>Initial step would be to measure fecal fat concentration</a:t>
            </a:r>
          </a:p>
          <a:p>
            <a:r>
              <a:rPr lang="en-US" dirty="0"/>
              <a:t>A fecal fat concentration </a:t>
            </a:r>
            <a:r>
              <a:rPr lang="en-US" b="1" dirty="0"/>
              <a:t>greater than 9.5 g/100 g </a:t>
            </a:r>
            <a:r>
              <a:rPr lang="en-US" dirty="0"/>
              <a:t>strongly suggests the presence of pancreatic or biliary steatorrhea</a:t>
            </a:r>
          </a:p>
          <a:p>
            <a:endParaRPr lang="en-US" dirty="0"/>
          </a:p>
          <a:p>
            <a:r>
              <a:rPr lang="en-US" dirty="0"/>
              <a:t>The cause is usually suspected from the clinical presentation and history</a:t>
            </a:r>
          </a:p>
          <a:p>
            <a:endParaRPr lang="en-US" dirty="0"/>
          </a:p>
          <a:p>
            <a:r>
              <a:rPr lang="en-US" dirty="0"/>
              <a:t>Testing include celiac serologies, upper endoscopy with biopsies, </a:t>
            </a:r>
            <a:r>
              <a:rPr lang="en-US" dirty="0" err="1"/>
              <a:t>enteroscopy</a:t>
            </a:r>
            <a:r>
              <a:rPr lang="en-US" dirty="0"/>
              <a:t> (push, balloon, capsule, etc.) or </a:t>
            </a:r>
            <a:r>
              <a:rPr lang="en-US" dirty="0" err="1"/>
              <a:t>enterography</a:t>
            </a:r>
            <a:r>
              <a:rPr lang="en-US" dirty="0"/>
              <a:t> (CT/MRI) to check for small bowel disease</a:t>
            </a:r>
          </a:p>
          <a:p>
            <a:r>
              <a:rPr lang="en-US" dirty="0"/>
              <a:t>Testing for exocrine pancreatic insufficiency</a:t>
            </a:r>
          </a:p>
        </p:txBody>
      </p:sp>
    </p:spTree>
    <p:extLst>
      <p:ext uri="{BB962C8B-B14F-4D97-AF65-F5344CB8AC3E}">
        <p14:creationId xmlns:p14="http://schemas.microsoft.com/office/powerpoint/2010/main" val="42355998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Chronic fatty diarrhea</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normAutofit/>
          </a:bodyPr>
          <a:lstStyle/>
          <a:p>
            <a:r>
              <a:rPr lang="en-US" dirty="0"/>
              <a:t>Exocrine pancreatic insufficiency steatorrhea</a:t>
            </a:r>
          </a:p>
          <a:p>
            <a:pPr lvl="1"/>
            <a:r>
              <a:rPr lang="en-US" dirty="0"/>
              <a:t>Stool </a:t>
            </a:r>
            <a:r>
              <a:rPr lang="en-US" dirty="0" err="1"/>
              <a:t>chemotrypsin</a:t>
            </a:r>
            <a:r>
              <a:rPr lang="en-US" dirty="0"/>
              <a:t> is used in pediatric population, but has limited sensitivity and specificity in patients with chronic diarrhea</a:t>
            </a:r>
          </a:p>
          <a:p>
            <a:pPr lvl="1"/>
            <a:r>
              <a:rPr lang="en-US" dirty="0"/>
              <a:t>Imaging (CT/MRI/EUS) showing abnormal pancreatic ductal anatomy may provide extra support for the diagnosis</a:t>
            </a:r>
          </a:p>
          <a:p>
            <a:pPr lvl="1"/>
            <a:r>
              <a:rPr lang="en-US" dirty="0"/>
              <a:t>CCK/Secretin stimulation then endoscopic collection of pancreatic secretion </a:t>
            </a:r>
          </a:p>
        </p:txBody>
      </p:sp>
    </p:spTree>
    <p:extLst>
      <p:ext uri="{BB962C8B-B14F-4D97-AF65-F5344CB8AC3E}">
        <p14:creationId xmlns:p14="http://schemas.microsoft.com/office/powerpoint/2010/main" val="40288368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Chronic fatty diarrhea</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normAutofit/>
          </a:bodyPr>
          <a:lstStyle/>
          <a:p>
            <a:r>
              <a:rPr lang="en-US" dirty="0"/>
              <a:t>Exocrine pancreatic insufficiency steatorrhea</a:t>
            </a:r>
          </a:p>
          <a:p>
            <a:pPr lvl="1"/>
            <a:r>
              <a:rPr lang="en-US" dirty="0"/>
              <a:t>Stool </a:t>
            </a:r>
            <a:r>
              <a:rPr lang="en-US" dirty="0" err="1"/>
              <a:t>chemotrypsin</a:t>
            </a:r>
            <a:r>
              <a:rPr lang="en-US" dirty="0"/>
              <a:t> is used in pediatric population, but has limited sensitivity and specificity in patients with chronic diarrhea</a:t>
            </a:r>
          </a:p>
          <a:p>
            <a:pPr lvl="1"/>
            <a:r>
              <a:rPr lang="en-US" dirty="0"/>
              <a:t>Imaging (CT/MRI/EUS) showing abnormal pancreatic ductal anatomy may provide extra support for the diagnosis</a:t>
            </a:r>
          </a:p>
          <a:p>
            <a:pPr lvl="1"/>
            <a:r>
              <a:rPr lang="en-US" dirty="0"/>
              <a:t>CCK/Secretin stimulation then endoscopic collection of pancreatic secretion </a:t>
            </a:r>
          </a:p>
          <a:p>
            <a:pPr lvl="1"/>
            <a:r>
              <a:rPr lang="en-US" dirty="0"/>
              <a:t>Fecal elastase-1 can also be used, however false positive (low levels) in watery diarrhea may occur</a:t>
            </a:r>
          </a:p>
        </p:txBody>
      </p:sp>
    </p:spTree>
    <p:extLst>
      <p:ext uri="{BB962C8B-B14F-4D97-AF65-F5344CB8AC3E}">
        <p14:creationId xmlns:p14="http://schemas.microsoft.com/office/powerpoint/2010/main" val="39677154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Chronic fatty diarrhea</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p:txBody>
          <a:bodyPr>
            <a:normAutofit/>
          </a:bodyPr>
          <a:lstStyle/>
          <a:p>
            <a:r>
              <a:rPr lang="en-US" dirty="0"/>
              <a:t>Exocrine pancreatic insufficiency steatorrhea</a:t>
            </a:r>
          </a:p>
          <a:p>
            <a:pPr lvl="1"/>
            <a:r>
              <a:rPr lang="en-US" dirty="0"/>
              <a:t>Stool </a:t>
            </a:r>
            <a:r>
              <a:rPr lang="en-US" dirty="0" err="1"/>
              <a:t>chemotrypsin</a:t>
            </a:r>
            <a:r>
              <a:rPr lang="en-US" dirty="0"/>
              <a:t> is used in pediatric population, but has limited sensitivity and specificity in patients with chronic diarrhea</a:t>
            </a:r>
          </a:p>
          <a:p>
            <a:pPr lvl="1"/>
            <a:r>
              <a:rPr lang="en-US" dirty="0"/>
              <a:t>Imaging (CT/MRI/EUS) showing abnormal pancreatic ductal anatomy may provide extra support for the diagnosis</a:t>
            </a:r>
          </a:p>
          <a:p>
            <a:pPr lvl="1"/>
            <a:r>
              <a:rPr lang="en-US" dirty="0"/>
              <a:t>CCK/Secretin stimulation then endoscopic collection of pancreatic secretion </a:t>
            </a:r>
          </a:p>
          <a:p>
            <a:pPr lvl="1"/>
            <a:r>
              <a:rPr lang="en-US" dirty="0"/>
              <a:t>Fecal elastase-1 can also be used, however false positive (low levels) in watery diarrhea may occur</a:t>
            </a:r>
          </a:p>
          <a:p>
            <a:pPr lvl="1"/>
            <a:endParaRPr lang="en-US" dirty="0"/>
          </a:p>
          <a:p>
            <a:pPr marL="0" indent="0" algn="ctr">
              <a:buNone/>
            </a:pPr>
            <a:r>
              <a:rPr lang="en-US" b="1" dirty="0"/>
              <a:t>What is the most available and practical method that is used clinically?</a:t>
            </a:r>
          </a:p>
        </p:txBody>
      </p:sp>
    </p:spTree>
    <p:extLst>
      <p:ext uri="{BB962C8B-B14F-4D97-AF65-F5344CB8AC3E}">
        <p14:creationId xmlns:p14="http://schemas.microsoft.com/office/powerpoint/2010/main" val="5673937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Chronic fatty diarrhea</a:t>
            </a:r>
          </a:p>
        </p:txBody>
      </p:sp>
      <p:sp>
        <p:nvSpPr>
          <p:cNvPr id="3" name="Content Placeholder 2">
            <a:extLst>
              <a:ext uri="{FF2B5EF4-FFF2-40B4-BE49-F238E27FC236}">
                <a16:creationId xmlns:a16="http://schemas.microsoft.com/office/drawing/2014/main" id="{5E8102E3-4CC6-914D-967C-6C9873938EB1}"/>
              </a:ext>
            </a:extLst>
          </p:cNvPr>
          <p:cNvSpPr>
            <a:spLocks noGrp="1"/>
          </p:cNvSpPr>
          <p:nvPr>
            <p:ph idx="1"/>
          </p:nvPr>
        </p:nvSpPr>
        <p:spPr>
          <a:xfrm>
            <a:off x="462844" y="1603022"/>
            <a:ext cx="11266312" cy="5118453"/>
          </a:xfrm>
        </p:spPr>
        <p:txBody>
          <a:bodyPr>
            <a:normAutofit/>
          </a:bodyPr>
          <a:lstStyle/>
          <a:p>
            <a:r>
              <a:rPr lang="en-US" dirty="0"/>
              <a:t>Exocrine pancreatic insufficiency steatorrhea</a:t>
            </a:r>
          </a:p>
          <a:p>
            <a:pPr lvl="1"/>
            <a:r>
              <a:rPr lang="en-US" dirty="0"/>
              <a:t>Stool </a:t>
            </a:r>
            <a:r>
              <a:rPr lang="en-US" dirty="0" err="1"/>
              <a:t>chemotrypsin</a:t>
            </a:r>
            <a:r>
              <a:rPr lang="en-US" dirty="0"/>
              <a:t> is used in pediatric population, but has limited sensitivity and specificity in patients with chronic diarrhea</a:t>
            </a:r>
          </a:p>
          <a:p>
            <a:pPr lvl="1"/>
            <a:r>
              <a:rPr lang="en-US" dirty="0"/>
              <a:t>Imaging (CT/MRI/EUS) showing abnormal pancreatic ductal anatomy may provide extra support for the diagnosis</a:t>
            </a:r>
          </a:p>
          <a:p>
            <a:pPr lvl="1"/>
            <a:r>
              <a:rPr lang="en-US" dirty="0"/>
              <a:t>CCK/Secretin stimulation then endoscopic collection of pancreatic secretion </a:t>
            </a:r>
          </a:p>
          <a:p>
            <a:pPr lvl="1"/>
            <a:r>
              <a:rPr lang="en-US" dirty="0"/>
              <a:t>Fecal elastase-1 can also be used, however false positive (low levels) in watery diarrhea may occur</a:t>
            </a:r>
          </a:p>
          <a:p>
            <a:pPr lvl="1"/>
            <a:endParaRPr lang="en-US" dirty="0"/>
          </a:p>
          <a:p>
            <a:pPr marL="0" indent="0" algn="ctr">
              <a:buNone/>
            </a:pPr>
            <a:r>
              <a:rPr lang="en-US" b="1" dirty="0"/>
              <a:t>What is the most available and practical method that is used clinically?</a:t>
            </a:r>
          </a:p>
          <a:p>
            <a:pPr marL="0" indent="0" algn="ctr">
              <a:buNone/>
            </a:pPr>
            <a:r>
              <a:rPr lang="en-US" dirty="0"/>
              <a:t>Therapeutic trial of pancreatic enzyme supplementation with either symptomatic follow up, or objective measures such as fecal fat excretion</a:t>
            </a:r>
          </a:p>
        </p:txBody>
      </p:sp>
    </p:spTree>
    <p:extLst>
      <p:ext uri="{BB962C8B-B14F-4D97-AF65-F5344CB8AC3E}">
        <p14:creationId xmlns:p14="http://schemas.microsoft.com/office/powerpoint/2010/main" val="28479538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Differentials for Fatty Chronic Diarrhea</a:t>
            </a:r>
          </a:p>
        </p:txBody>
      </p:sp>
      <p:pic>
        <p:nvPicPr>
          <p:cNvPr id="4" name="Picture 3">
            <a:extLst>
              <a:ext uri="{FF2B5EF4-FFF2-40B4-BE49-F238E27FC236}">
                <a16:creationId xmlns:a16="http://schemas.microsoft.com/office/drawing/2014/main" id="{DD578EE7-5772-A748-A4A5-91A22B90A529}"/>
              </a:ext>
            </a:extLst>
          </p:cNvPr>
          <p:cNvPicPr>
            <a:picLocks noChangeAspect="1"/>
          </p:cNvPicPr>
          <p:nvPr/>
        </p:nvPicPr>
        <p:blipFill>
          <a:blip r:embed="rId2"/>
          <a:stretch>
            <a:fillRect/>
          </a:stretch>
        </p:blipFill>
        <p:spPr>
          <a:xfrm>
            <a:off x="1750191" y="2341018"/>
            <a:ext cx="8691617" cy="2832100"/>
          </a:xfrm>
          <a:prstGeom prst="rect">
            <a:avLst/>
          </a:prstGeom>
        </p:spPr>
      </p:pic>
    </p:spTree>
    <p:extLst>
      <p:ext uri="{BB962C8B-B14F-4D97-AF65-F5344CB8AC3E}">
        <p14:creationId xmlns:p14="http://schemas.microsoft.com/office/powerpoint/2010/main" val="7234468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5EA35-F522-1841-8E05-F61DCB0BEFC7}"/>
              </a:ext>
            </a:extLst>
          </p:cNvPr>
          <p:cNvSpPr>
            <a:spLocks noGrp="1"/>
          </p:cNvSpPr>
          <p:nvPr>
            <p:ph type="title"/>
          </p:nvPr>
        </p:nvSpPr>
        <p:spPr/>
        <p:txBody>
          <a:bodyPr/>
          <a:lstStyle/>
          <a:p>
            <a:r>
              <a:rPr lang="en-US" dirty="0"/>
              <a:t>Can you just give us an algorithm for chronic diarrhea?</a:t>
            </a:r>
          </a:p>
        </p:txBody>
      </p:sp>
      <p:sp>
        <p:nvSpPr>
          <p:cNvPr id="3" name="Text Placeholder 2">
            <a:extLst>
              <a:ext uri="{FF2B5EF4-FFF2-40B4-BE49-F238E27FC236}">
                <a16:creationId xmlns:a16="http://schemas.microsoft.com/office/drawing/2014/main" id="{C2CB74EA-340A-A142-92C4-B57356D3B4B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895201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Further evaluation of chronic diarrhea</a:t>
            </a:r>
          </a:p>
        </p:txBody>
      </p:sp>
      <p:pic>
        <p:nvPicPr>
          <p:cNvPr id="4" name="Picture 3">
            <a:extLst>
              <a:ext uri="{FF2B5EF4-FFF2-40B4-BE49-F238E27FC236}">
                <a16:creationId xmlns:a16="http://schemas.microsoft.com/office/drawing/2014/main" id="{E200A9C0-FA14-5048-8133-CD8574EB05BA}"/>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182424" y="1392287"/>
            <a:ext cx="7827151" cy="5220734"/>
          </a:xfrm>
          <a:prstGeom prst="rect">
            <a:avLst/>
          </a:prstGeom>
        </p:spPr>
      </p:pic>
    </p:spTree>
    <p:extLst>
      <p:ext uri="{BB962C8B-B14F-4D97-AF65-F5344CB8AC3E}">
        <p14:creationId xmlns:p14="http://schemas.microsoft.com/office/powerpoint/2010/main" val="33118791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Further evaluation of chronic diarrhea</a:t>
            </a:r>
          </a:p>
        </p:txBody>
      </p:sp>
      <p:pic>
        <p:nvPicPr>
          <p:cNvPr id="4" name="Picture 3">
            <a:extLst>
              <a:ext uri="{FF2B5EF4-FFF2-40B4-BE49-F238E27FC236}">
                <a16:creationId xmlns:a16="http://schemas.microsoft.com/office/drawing/2014/main" id="{E200A9C0-FA14-5048-8133-CD8574EB05BA}"/>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182424" y="1392287"/>
            <a:ext cx="7827151" cy="5220734"/>
          </a:xfrm>
          <a:prstGeom prst="rect">
            <a:avLst/>
          </a:prstGeom>
        </p:spPr>
      </p:pic>
      <p:sp>
        <p:nvSpPr>
          <p:cNvPr id="3" name="Rectangle 2">
            <a:extLst>
              <a:ext uri="{FF2B5EF4-FFF2-40B4-BE49-F238E27FC236}">
                <a16:creationId xmlns:a16="http://schemas.microsoft.com/office/drawing/2014/main" id="{A0D7768F-EDE6-3E4B-AA75-E0F8F8201AC6}"/>
              </a:ext>
            </a:extLst>
          </p:cNvPr>
          <p:cNvSpPr/>
          <p:nvPr/>
        </p:nvSpPr>
        <p:spPr>
          <a:xfrm>
            <a:off x="7315200" y="3103200"/>
            <a:ext cx="1879200" cy="1389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31369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Further evaluation of chronic diarrhea</a:t>
            </a:r>
          </a:p>
        </p:txBody>
      </p:sp>
      <p:pic>
        <p:nvPicPr>
          <p:cNvPr id="3" name="Picture 2">
            <a:extLst>
              <a:ext uri="{FF2B5EF4-FFF2-40B4-BE49-F238E27FC236}">
                <a16:creationId xmlns:a16="http://schemas.microsoft.com/office/drawing/2014/main" id="{B7FBAE08-FDFF-264C-B4FE-C45806DBF185}"/>
              </a:ext>
            </a:extLst>
          </p:cNvPr>
          <p:cNvPicPr>
            <a:picLocks noChangeAspect="1"/>
          </p:cNvPicPr>
          <p:nvPr/>
        </p:nvPicPr>
        <p:blipFill>
          <a:blip r:embed="rId2"/>
          <a:stretch>
            <a:fillRect/>
          </a:stretch>
        </p:blipFill>
        <p:spPr>
          <a:xfrm>
            <a:off x="2105891" y="1266764"/>
            <a:ext cx="7980218" cy="5591236"/>
          </a:xfrm>
          <a:prstGeom prst="rect">
            <a:avLst/>
          </a:prstGeom>
        </p:spPr>
      </p:pic>
    </p:spTree>
    <p:extLst>
      <p:ext uri="{BB962C8B-B14F-4D97-AF65-F5344CB8AC3E}">
        <p14:creationId xmlns:p14="http://schemas.microsoft.com/office/powerpoint/2010/main" val="11016371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852-4796-B940-802A-31A262CCD54C}"/>
              </a:ext>
            </a:extLst>
          </p:cNvPr>
          <p:cNvSpPr>
            <a:spLocks noGrp="1"/>
          </p:cNvSpPr>
          <p:nvPr>
            <p:ph type="title"/>
          </p:nvPr>
        </p:nvSpPr>
        <p:spPr/>
        <p:txBody>
          <a:bodyPr/>
          <a:lstStyle/>
          <a:p>
            <a:r>
              <a:rPr lang="en-US" dirty="0"/>
              <a:t>Further evaluation of chronic diarrhea</a:t>
            </a:r>
          </a:p>
        </p:txBody>
      </p:sp>
      <p:pic>
        <p:nvPicPr>
          <p:cNvPr id="4" name="Picture 3">
            <a:extLst>
              <a:ext uri="{FF2B5EF4-FFF2-40B4-BE49-F238E27FC236}">
                <a16:creationId xmlns:a16="http://schemas.microsoft.com/office/drawing/2014/main" id="{C3DD75C0-EDB4-DD4A-B5C3-C0329576F168}"/>
              </a:ext>
            </a:extLst>
          </p:cNvPr>
          <p:cNvPicPr>
            <a:picLocks noChangeAspect="1"/>
          </p:cNvPicPr>
          <p:nvPr/>
        </p:nvPicPr>
        <p:blipFill rotWithShape="1">
          <a:blip r:embed="rId2"/>
          <a:srcRect r="18269"/>
          <a:stretch/>
        </p:blipFill>
        <p:spPr>
          <a:xfrm>
            <a:off x="2700522" y="1229775"/>
            <a:ext cx="6790956" cy="5491700"/>
          </a:xfrm>
          <a:prstGeom prst="rect">
            <a:avLst/>
          </a:prstGeom>
        </p:spPr>
      </p:pic>
    </p:spTree>
    <p:extLst>
      <p:ext uri="{BB962C8B-B14F-4D97-AF65-F5344CB8AC3E}">
        <p14:creationId xmlns:p14="http://schemas.microsoft.com/office/powerpoint/2010/main" val="31532441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87C7FF-B56E-2E4C-AE0D-401DD00DD885}"/>
              </a:ext>
            </a:extLst>
          </p:cNvPr>
          <p:cNvSpPr>
            <a:spLocks noGrp="1"/>
          </p:cNvSpPr>
          <p:nvPr>
            <p:ph type="title"/>
          </p:nvPr>
        </p:nvSpPr>
        <p:spPr/>
        <p:txBody>
          <a:bodyPr/>
          <a:lstStyle/>
          <a:p>
            <a:r>
              <a:rPr lang="en-US" dirty="0"/>
              <a:t>Specific Small Bowel Diseases</a:t>
            </a:r>
          </a:p>
        </p:txBody>
      </p:sp>
      <p:sp>
        <p:nvSpPr>
          <p:cNvPr id="5" name="Text Placeholder 4">
            <a:extLst>
              <a:ext uri="{FF2B5EF4-FFF2-40B4-BE49-F238E27FC236}">
                <a16:creationId xmlns:a16="http://schemas.microsoft.com/office/drawing/2014/main" id="{59E384E1-4BDE-3B44-85C7-36FBA511091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824430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73271C-1539-AA4C-A528-6A3E9D0F997A}"/>
              </a:ext>
            </a:extLst>
          </p:cNvPr>
          <p:cNvSpPr>
            <a:spLocks noGrp="1"/>
          </p:cNvSpPr>
          <p:nvPr>
            <p:ph type="title"/>
          </p:nvPr>
        </p:nvSpPr>
        <p:spPr/>
        <p:txBody>
          <a:bodyPr/>
          <a:lstStyle/>
          <a:p>
            <a:r>
              <a:rPr lang="en-US" dirty="0"/>
              <a:t>Specific Small Bowel Diseases</a:t>
            </a:r>
          </a:p>
        </p:txBody>
      </p:sp>
      <p:sp>
        <p:nvSpPr>
          <p:cNvPr id="5" name="Content Placeholder 4">
            <a:extLst>
              <a:ext uri="{FF2B5EF4-FFF2-40B4-BE49-F238E27FC236}">
                <a16:creationId xmlns:a16="http://schemas.microsoft.com/office/drawing/2014/main" id="{2DB58265-D273-D448-B038-FFEDB61ACD38}"/>
              </a:ext>
            </a:extLst>
          </p:cNvPr>
          <p:cNvSpPr>
            <a:spLocks noGrp="1"/>
          </p:cNvSpPr>
          <p:nvPr>
            <p:ph idx="1"/>
          </p:nvPr>
        </p:nvSpPr>
        <p:spPr/>
        <p:txBody>
          <a:bodyPr numCol="2" spcCol="457200">
            <a:normAutofit lnSpcReduction="10000"/>
          </a:bodyPr>
          <a:lstStyle/>
          <a:p>
            <a:r>
              <a:rPr lang="en-US" dirty="0"/>
              <a:t>Celiac disease</a:t>
            </a:r>
          </a:p>
          <a:p>
            <a:r>
              <a:rPr lang="en-US" dirty="0"/>
              <a:t>Collagenous sprue</a:t>
            </a:r>
          </a:p>
          <a:p>
            <a:r>
              <a:rPr lang="en-US" dirty="0"/>
              <a:t>Tropical sprue</a:t>
            </a:r>
          </a:p>
          <a:p>
            <a:endParaRPr lang="en-US" dirty="0"/>
          </a:p>
          <a:p>
            <a:r>
              <a:rPr lang="en-US" dirty="0"/>
              <a:t>Whipple’s disease</a:t>
            </a:r>
          </a:p>
          <a:p>
            <a:endParaRPr lang="en-US" dirty="0"/>
          </a:p>
          <a:p>
            <a:r>
              <a:rPr lang="en-US" dirty="0">
                <a:highlight>
                  <a:srgbClr val="FFFF00"/>
                </a:highlight>
              </a:rPr>
              <a:t>Medication-induced enteropathy</a:t>
            </a:r>
          </a:p>
          <a:p>
            <a:r>
              <a:rPr lang="en-US" dirty="0">
                <a:highlight>
                  <a:srgbClr val="FFFF00"/>
                </a:highlight>
              </a:rPr>
              <a:t>Autoimmune enteropathy</a:t>
            </a:r>
          </a:p>
          <a:p>
            <a:r>
              <a:rPr lang="en-US" dirty="0">
                <a:highlight>
                  <a:srgbClr val="FFFF00"/>
                </a:highlight>
              </a:rPr>
              <a:t>Small intestinal bacterial overgrowth (SIBO)</a:t>
            </a:r>
          </a:p>
          <a:p>
            <a:r>
              <a:rPr lang="en-US" dirty="0"/>
              <a:t>Eosinophilic enteritis</a:t>
            </a:r>
          </a:p>
          <a:p>
            <a:r>
              <a:rPr lang="en-US" dirty="0" err="1"/>
              <a:t>Mastocytosis</a:t>
            </a:r>
            <a:endParaRPr lang="en-US" dirty="0"/>
          </a:p>
          <a:p>
            <a:r>
              <a:rPr lang="en-US" dirty="0"/>
              <a:t>Amyloidosis</a:t>
            </a:r>
          </a:p>
          <a:p>
            <a:r>
              <a:rPr lang="en-US" dirty="0"/>
              <a:t>Lymphangiectasia</a:t>
            </a:r>
          </a:p>
          <a:p>
            <a:r>
              <a:rPr lang="en-US" dirty="0"/>
              <a:t>Radiation enteritis</a:t>
            </a:r>
          </a:p>
          <a:p>
            <a:r>
              <a:rPr lang="en-US" dirty="0"/>
              <a:t>Gastrointestinal vasculitis</a:t>
            </a:r>
          </a:p>
          <a:p>
            <a:r>
              <a:rPr lang="en-US" dirty="0"/>
              <a:t>Ischemic small bowel disease</a:t>
            </a:r>
          </a:p>
          <a:p>
            <a:r>
              <a:rPr lang="en-US" dirty="0"/>
              <a:t>Short bowel syndrome</a:t>
            </a:r>
          </a:p>
          <a:p>
            <a:r>
              <a:rPr lang="en-US" dirty="0"/>
              <a:t>GIST</a:t>
            </a:r>
          </a:p>
        </p:txBody>
      </p:sp>
    </p:spTree>
    <p:extLst>
      <p:ext uri="{BB962C8B-B14F-4D97-AF65-F5344CB8AC3E}">
        <p14:creationId xmlns:p14="http://schemas.microsoft.com/office/powerpoint/2010/main" val="31692372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87C7FF-B56E-2E4C-AE0D-401DD00DD885}"/>
              </a:ext>
            </a:extLst>
          </p:cNvPr>
          <p:cNvSpPr>
            <a:spLocks noGrp="1"/>
          </p:cNvSpPr>
          <p:nvPr>
            <p:ph type="title"/>
          </p:nvPr>
        </p:nvSpPr>
        <p:spPr/>
        <p:txBody>
          <a:bodyPr/>
          <a:lstStyle/>
          <a:p>
            <a:r>
              <a:rPr lang="en-US" dirty="0"/>
              <a:t>Medication-induced enteropathy</a:t>
            </a:r>
          </a:p>
        </p:txBody>
      </p:sp>
      <p:sp>
        <p:nvSpPr>
          <p:cNvPr id="5" name="Text Placeholder 4">
            <a:extLst>
              <a:ext uri="{FF2B5EF4-FFF2-40B4-BE49-F238E27FC236}">
                <a16:creationId xmlns:a16="http://schemas.microsoft.com/office/drawing/2014/main" id="{59E384E1-4BDE-3B44-85C7-36FBA511091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824963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73271C-1539-AA4C-A528-6A3E9D0F997A}"/>
              </a:ext>
            </a:extLst>
          </p:cNvPr>
          <p:cNvSpPr>
            <a:spLocks noGrp="1"/>
          </p:cNvSpPr>
          <p:nvPr>
            <p:ph type="title"/>
          </p:nvPr>
        </p:nvSpPr>
        <p:spPr/>
        <p:txBody>
          <a:bodyPr/>
          <a:lstStyle/>
          <a:p>
            <a:r>
              <a:rPr lang="en-US" dirty="0"/>
              <a:t>Medication-induced enteropathy</a:t>
            </a:r>
          </a:p>
        </p:txBody>
      </p:sp>
      <p:sp>
        <p:nvSpPr>
          <p:cNvPr id="3" name="Content Placeholder 2">
            <a:extLst>
              <a:ext uri="{FF2B5EF4-FFF2-40B4-BE49-F238E27FC236}">
                <a16:creationId xmlns:a16="http://schemas.microsoft.com/office/drawing/2014/main" id="{07EEB350-1104-CF43-BE77-8147EE95712D}"/>
              </a:ext>
            </a:extLst>
          </p:cNvPr>
          <p:cNvSpPr>
            <a:spLocks noGrp="1"/>
          </p:cNvSpPr>
          <p:nvPr>
            <p:ph idx="1"/>
          </p:nvPr>
        </p:nvSpPr>
        <p:spPr/>
        <p:txBody>
          <a:bodyPr/>
          <a:lstStyle/>
          <a:p>
            <a:r>
              <a:rPr lang="en-US" dirty="0"/>
              <a:t>This entity had been increasingly recognized</a:t>
            </a:r>
          </a:p>
          <a:p>
            <a:endParaRPr lang="en-US" dirty="0"/>
          </a:p>
          <a:p>
            <a:pPr marL="0" indent="0" algn="ctr">
              <a:buNone/>
            </a:pPr>
            <a:r>
              <a:rPr lang="en-US" b="1" dirty="0"/>
              <a:t>What medications you should think of when you hear about this?</a:t>
            </a:r>
          </a:p>
        </p:txBody>
      </p:sp>
    </p:spTree>
    <p:extLst>
      <p:ext uri="{BB962C8B-B14F-4D97-AF65-F5344CB8AC3E}">
        <p14:creationId xmlns:p14="http://schemas.microsoft.com/office/powerpoint/2010/main" val="12467035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73271C-1539-AA4C-A528-6A3E9D0F997A}"/>
              </a:ext>
            </a:extLst>
          </p:cNvPr>
          <p:cNvSpPr>
            <a:spLocks noGrp="1"/>
          </p:cNvSpPr>
          <p:nvPr>
            <p:ph type="title"/>
          </p:nvPr>
        </p:nvSpPr>
        <p:spPr/>
        <p:txBody>
          <a:bodyPr/>
          <a:lstStyle/>
          <a:p>
            <a:r>
              <a:rPr lang="en-US" dirty="0"/>
              <a:t>Medication-induced enteropathy</a:t>
            </a:r>
          </a:p>
        </p:txBody>
      </p:sp>
      <p:sp>
        <p:nvSpPr>
          <p:cNvPr id="3" name="Content Placeholder 2">
            <a:extLst>
              <a:ext uri="{FF2B5EF4-FFF2-40B4-BE49-F238E27FC236}">
                <a16:creationId xmlns:a16="http://schemas.microsoft.com/office/drawing/2014/main" id="{07EEB350-1104-CF43-BE77-8147EE95712D}"/>
              </a:ext>
            </a:extLst>
          </p:cNvPr>
          <p:cNvSpPr>
            <a:spLocks noGrp="1"/>
          </p:cNvSpPr>
          <p:nvPr>
            <p:ph idx="1"/>
          </p:nvPr>
        </p:nvSpPr>
        <p:spPr/>
        <p:txBody>
          <a:bodyPr/>
          <a:lstStyle/>
          <a:p>
            <a:r>
              <a:rPr lang="en-US" dirty="0"/>
              <a:t>This entity had been increasingly recognized</a:t>
            </a:r>
          </a:p>
          <a:p>
            <a:endParaRPr lang="en-US" dirty="0"/>
          </a:p>
          <a:p>
            <a:pPr marL="0" indent="0" algn="ctr">
              <a:buNone/>
            </a:pPr>
            <a:r>
              <a:rPr lang="en-US" dirty="0"/>
              <a:t>What medications you should think of when you hear about this?</a:t>
            </a:r>
          </a:p>
          <a:p>
            <a:pPr marL="514350" indent="-514350" algn="ctr">
              <a:buAutoNum type="arabicPeriod"/>
            </a:pPr>
            <a:r>
              <a:rPr lang="en-US" b="1" dirty="0"/>
              <a:t>NSAIDs</a:t>
            </a:r>
          </a:p>
          <a:p>
            <a:pPr marL="514350" indent="-514350" algn="ctr">
              <a:buAutoNum type="arabicPeriod"/>
            </a:pPr>
            <a:r>
              <a:rPr lang="en-US" b="1" dirty="0"/>
              <a:t>Olmesartan</a:t>
            </a:r>
          </a:p>
        </p:txBody>
      </p:sp>
    </p:spTree>
    <p:extLst>
      <p:ext uri="{BB962C8B-B14F-4D97-AF65-F5344CB8AC3E}">
        <p14:creationId xmlns:p14="http://schemas.microsoft.com/office/powerpoint/2010/main" val="6631220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73271C-1539-AA4C-A528-6A3E9D0F997A}"/>
              </a:ext>
            </a:extLst>
          </p:cNvPr>
          <p:cNvSpPr>
            <a:spLocks noGrp="1"/>
          </p:cNvSpPr>
          <p:nvPr>
            <p:ph type="title"/>
          </p:nvPr>
        </p:nvSpPr>
        <p:spPr/>
        <p:txBody>
          <a:bodyPr/>
          <a:lstStyle/>
          <a:p>
            <a:r>
              <a:rPr lang="en-US" dirty="0"/>
              <a:t>Medication-induced enteropathy</a:t>
            </a:r>
          </a:p>
        </p:txBody>
      </p:sp>
      <p:sp>
        <p:nvSpPr>
          <p:cNvPr id="3" name="Content Placeholder 2">
            <a:extLst>
              <a:ext uri="{FF2B5EF4-FFF2-40B4-BE49-F238E27FC236}">
                <a16:creationId xmlns:a16="http://schemas.microsoft.com/office/drawing/2014/main" id="{07EEB350-1104-CF43-BE77-8147EE95712D}"/>
              </a:ext>
            </a:extLst>
          </p:cNvPr>
          <p:cNvSpPr>
            <a:spLocks noGrp="1"/>
          </p:cNvSpPr>
          <p:nvPr>
            <p:ph idx="1"/>
          </p:nvPr>
        </p:nvSpPr>
        <p:spPr>
          <a:xfrm>
            <a:off x="462844" y="1603022"/>
            <a:ext cx="7182578" cy="4573941"/>
          </a:xfrm>
        </p:spPr>
        <p:txBody>
          <a:bodyPr/>
          <a:lstStyle/>
          <a:p>
            <a:r>
              <a:rPr lang="en-US" dirty="0"/>
              <a:t>This entity had been increasingly recognized</a:t>
            </a:r>
          </a:p>
          <a:p>
            <a:r>
              <a:rPr lang="en-US" dirty="0"/>
              <a:t>Can be caused by NSAIDs and ARBs (specifically Olmesartan)</a:t>
            </a:r>
          </a:p>
          <a:p>
            <a:r>
              <a:rPr lang="en-US" dirty="0"/>
              <a:t>NSAIDs can induce small intestinal ulcers</a:t>
            </a:r>
          </a:p>
          <a:p>
            <a:r>
              <a:rPr lang="en-US" dirty="0"/>
              <a:t>Olmesartan may produce varying degrees of enteropathy that histologically cause villous atrophy and inflammation</a:t>
            </a:r>
          </a:p>
          <a:p>
            <a:endParaRPr lang="en-US" dirty="0"/>
          </a:p>
          <a:p>
            <a:r>
              <a:rPr lang="en-US" dirty="0"/>
              <a:t>Treatment is to avoid the medication!</a:t>
            </a:r>
          </a:p>
        </p:txBody>
      </p:sp>
      <p:pic>
        <p:nvPicPr>
          <p:cNvPr id="5121" name="Picture 1" descr="page7image113241696">
            <a:extLst>
              <a:ext uri="{FF2B5EF4-FFF2-40B4-BE49-F238E27FC236}">
                <a16:creationId xmlns:a16="http://schemas.microsoft.com/office/drawing/2014/main" id="{ACFFEA0C-06F8-994F-992B-AAB4BFD10B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0468" y="2114924"/>
            <a:ext cx="4030173" cy="341570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A691DFA-16C5-0D49-92BE-E7172CCFF1ED}"/>
              </a:ext>
            </a:extLst>
          </p:cNvPr>
          <p:cNvSpPr txBox="1"/>
          <p:nvPr/>
        </p:nvSpPr>
        <p:spPr>
          <a:xfrm>
            <a:off x="7980468" y="5530632"/>
            <a:ext cx="4030173" cy="707886"/>
          </a:xfrm>
          <a:prstGeom prst="rect">
            <a:avLst/>
          </a:prstGeom>
          <a:noFill/>
        </p:spPr>
        <p:txBody>
          <a:bodyPr wrap="square" rtlCol="0">
            <a:spAutoFit/>
          </a:bodyPr>
          <a:lstStyle/>
          <a:p>
            <a:pPr algn="ctr"/>
            <a:r>
              <a:rPr lang="en-US" sz="2000" i="1" dirty="0">
                <a:latin typeface="Quadraat" panose="02000503060000090004" pitchFamily="2" charset="0"/>
              </a:rPr>
              <a:t>NSAID-induced small intestinal diaphragm-like stricture</a:t>
            </a:r>
          </a:p>
        </p:txBody>
      </p:sp>
    </p:spTree>
    <p:extLst>
      <p:ext uri="{BB962C8B-B14F-4D97-AF65-F5344CB8AC3E}">
        <p14:creationId xmlns:p14="http://schemas.microsoft.com/office/powerpoint/2010/main" val="17940348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87C7FF-B56E-2E4C-AE0D-401DD00DD885}"/>
              </a:ext>
            </a:extLst>
          </p:cNvPr>
          <p:cNvSpPr>
            <a:spLocks noGrp="1"/>
          </p:cNvSpPr>
          <p:nvPr>
            <p:ph type="title"/>
          </p:nvPr>
        </p:nvSpPr>
        <p:spPr/>
        <p:txBody>
          <a:bodyPr/>
          <a:lstStyle/>
          <a:p>
            <a:r>
              <a:rPr lang="en-US" dirty="0"/>
              <a:t>Autoimmune enteropathy (AIE)</a:t>
            </a:r>
          </a:p>
        </p:txBody>
      </p:sp>
      <p:sp>
        <p:nvSpPr>
          <p:cNvPr id="5" name="Text Placeholder 4">
            <a:extLst>
              <a:ext uri="{FF2B5EF4-FFF2-40B4-BE49-F238E27FC236}">
                <a16:creationId xmlns:a16="http://schemas.microsoft.com/office/drawing/2014/main" id="{59E384E1-4BDE-3B44-85C7-36FBA511091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480280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73271C-1539-AA4C-A528-6A3E9D0F997A}"/>
              </a:ext>
            </a:extLst>
          </p:cNvPr>
          <p:cNvSpPr>
            <a:spLocks noGrp="1"/>
          </p:cNvSpPr>
          <p:nvPr>
            <p:ph type="title"/>
          </p:nvPr>
        </p:nvSpPr>
        <p:spPr/>
        <p:txBody>
          <a:bodyPr/>
          <a:lstStyle/>
          <a:p>
            <a:r>
              <a:rPr lang="en-US" dirty="0"/>
              <a:t>Autoimmune enteropathy (AIE)</a:t>
            </a:r>
          </a:p>
        </p:txBody>
      </p:sp>
      <p:sp>
        <p:nvSpPr>
          <p:cNvPr id="3" name="Content Placeholder 2">
            <a:extLst>
              <a:ext uri="{FF2B5EF4-FFF2-40B4-BE49-F238E27FC236}">
                <a16:creationId xmlns:a16="http://schemas.microsoft.com/office/drawing/2014/main" id="{07EEB350-1104-CF43-BE77-8147EE95712D}"/>
              </a:ext>
            </a:extLst>
          </p:cNvPr>
          <p:cNvSpPr>
            <a:spLocks noGrp="1"/>
          </p:cNvSpPr>
          <p:nvPr>
            <p:ph idx="1"/>
          </p:nvPr>
        </p:nvSpPr>
        <p:spPr/>
        <p:txBody>
          <a:bodyPr/>
          <a:lstStyle/>
          <a:p>
            <a:r>
              <a:rPr lang="en-US" dirty="0"/>
              <a:t>Characterized by severe diarrhea, weight loss secondary to malabsorption, villous atrophy</a:t>
            </a:r>
          </a:p>
          <a:p>
            <a:r>
              <a:rPr lang="en-US" dirty="0"/>
              <a:t>Antibodies include</a:t>
            </a:r>
          </a:p>
          <a:p>
            <a:pPr lvl="1"/>
            <a:r>
              <a:rPr lang="en-US" dirty="0"/>
              <a:t>Anti-enterocyte antibodies</a:t>
            </a:r>
          </a:p>
          <a:p>
            <a:pPr lvl="1"/>
            <a:r>
              <a:rPr lang="en-US" dirty="0"/>
              <a:t>Anti-goblet cell antibodies</a:t>
            </a:r>
          </a:p>
          <a:p>
            <a:r>
              <a:rPr lang="en-US" dirty="0"/>
              <a:t>Typically, a pediatric condition, but may present in adults</a:t>
            </a:r>
          </a:p>
          <a:p>
            <a:r>
              <a:rPr lang="en-US" dirty="0"/>
              <a:t>Diagnosis of adult AIE can be based on proposed criteria that require endoscopic biopsies</a:t>
            </a:r>
          </a:p>
        </p:txBody>
      </p:sp>
    </p:spTree>
    <p:extLst>
      <p:ext uri="{BB962C8B-B14F-4D97-AF65-F5344CB8AC3E}">
        <p14:creationId xmlns:p14="http://schemas.microsoft.com/office/powerpoint/2010/main" val="34736867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73271C-1539-AA4C-A528-6A3E9D0F997A}"/>
              </a:ext>
            </a:extLst>
          </p:cNvPr>
          <p:cNvSpPr>
            <a:spLocks noGrp="1"/>
          </p:cNvSpPr>
          <p:nvPr>
            <p:ph type="title"/>
          </p:nvPr>
        </p:nvSpPr>
        <p:spPr/>
        <p:txBody>
          <a:bodyPr/>
          <a:lstStyle/>
          <a:p>
            <a:r>
              <a:rPr lang="en-US" dirty="0"/>
              <a:t>Autoimmune enteropathy (AIE)</a:t>
            </a:r>
          </a:p>
        </p:txBody>
      </p:sp>
      <p:pic>
        <p:nvPicPr>
          <p:cNvPr id="2" name="Content Placeholder 1">
            <a:extLst>
              <a:ext uri="{FF2B5EF4-FFF2-40B4-BE49-F238E27FC236}">
                <a16:creationId xmlns:a16="http://schemas.microsoft.com/office/drawing/2014/main" id="{5F40BFEA-B7E8-DC4F-A084-5A73C2E803EC}"/>
              </a:ext>
            </a:extLst>
          </p:cNvPr>
          <p:cNvPicPr>
            <a:picLocks noGrp="1" noChangeAspect="1"/>
          </p:cNvPicPr>
          <p:nvPr>
            <p:ph idx="1"/>
          </p:nvPr>
        </p:nvPicPr>
        <p:blipFill>
          <a:blip r:embed="rId2"/>
          <a:stretch>
            <a:fillRect/>
          </a:stretch>
        </p:blipFill>
        <p:spPr>
          <a:xfrm>
            <a:off x="3584615" y="1240407"/>
            <a:ext cx="5022769" cy="5122340"/>
          </a:xfrm>
          <a:prstGeom prst="rect">
            <a:avLst/>
          </a:prstGeom>
        </p:spPr>
      </p:pic>
      <p:sp>
        <p:nvSpPr>
          <p:cNvPr id="5" name="TextBox 4">
            <a:extLst>
              <a:ext uri="{FF2B5EF4-FFF2-40B4-BE49-F238E27FC236}">
                <a16:creationId xmlns:a16="http://schemas.microsoft.com/office/drawing/2014/main" id="{59AC7C57-C063-3E4F-AA62-D4C938C819BE}"/>
              </a:ext>
            </a:extLst>
          </p:cNvPr>
          <p:cNvSpPr txBox="1"/>
          <p:nvPr/>
        </p:nvSpPr>
        <p:spPr>
          <a:xfrm>
            <a:off x="1" y="6421740"/>
            <a:ext cx="12192000" cy="369332"/>
          </a:xfrm>
          <a:prstGeom prst="rect">
            <a:avLst/>
          </a:prstGeom>
          <a:noFill/>
        </p:spPr>
        <p:txBody>
          <a:bodyPr wrap="square" rtlCol="0">
            <a:spAutoFit/>
          </a:bodyPr>
          <a:lstStyle/>
          <a:p>
            <a:pPr algn="r"/>
            <a:r>
              <a:rPr lang="en-US" dirty="0" err="1">
                <a:latin typeface="Quadraat" panose="02000503060000090004" pitchFamily="2" charset="0"/>
              </a:rPr>
              <a:t>Akram</a:t>
            </a:r>
            <a:r>
              <a:rPr lang="en-US" dirty="0">
                <a:latin typeface="Quadraat" panose="02000503060000090004" pitchFamily="2" charset="0"/>
              </a:rPr>
              <a:t> et al. Clin Gastroenterol Hepatol. 2007;5:1282-1290</a:t>
            </a:r>
          </a:p>
        </p:txBody>
      </p:sp>
    </p:spTree>
    <p:extLst>
      <p:ext uri="{BB962C8B-B14F-4D97-AF65-F5344CB8AC3E}">
        <p14:creationId xmlns:p14="http://schemas.microsoft.com/office/powerpoint/2010/main" val="2642992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73271C-1539-AA4C-A528-6A3E9D0F997A}"/>
              </a:ext>
            </a:extLst>
          </p:cNvPr>
          <p:cNvSpPr>
            <a:spLocks noGrp="1"/>
          </p:cNvSpPr>
          <p:nvPr>
            <p:ph type="title"/>
          </p:nvPr>
        </p:nvSpPr>
        <p:spPr/>
        <p:txBody>
          <a:bodyPr/>
          <a:lstStyle/>
          <a:p>
            <a:r>
              <a:rPr lang="en-US" dirty="0"/>
              <a:t>Autoimmune enteropathy (AIE)</a:t>
            </a:r>
          </a:p>
        </p:txBody>
      </p:sp>
      <p:sp>
        <p:nvSpPr>
          <p:cNvPr id="5" name="TextBox 4">
            <a:extLst>
              <a:ext uri="{FF2B5EF4-FFF2-40B4-BE49-F238E27FC236}">
                <a16:creationId xmlns:a16="http://schemas.microsoft.com/office/drawing/2014/main" id="{59AC7C57-C063-3E4F-AA62-D4C938C819BE}"/>
              </a:ext>
            </a:extLst>
          </p:cNvPr>
          <p:cNvSpPr txBox="1"/>
          <p:nvPr/>
        </p:nvSpPr>
        <p:spPr>
          <a:xfrm>
            <a:off x="1" y="6421740"/>
            <a:ext cx="12192000" cy="369332"/>
          </a:xfrm>
          <a:prstGeom prst="rect">
            <a:avLst/>
          </a:prstGeom>
          <a:noFill/>
        </p:spPr>
        <p:txBody>
          <a:bodyPr wrap="square" rtlCol="0">
            <a:spAutoFit/>
          </a:bodyPr>
          <a:lstStyle/>
          <a:p>
            <a:pPr algn="r"/>
            <a:r>
              <a:rPr lang="en-US" dirty="0" err="1">
                <a:latin typeface="Quadraat" panose="02000503060000090004" pitchFamily="2" charset="0"/>
              </a:rPr>
              <a:t>doi</a:t>
            </a:r>
            <a:r>
              <a:rPr lang="en-US" dirty="0">
                <a:latin typeface="Quadraat" panose="02000503060000090004" pitchFamily="2" charset="0"/>
              </a:rPr>
              <a:t>: 10.1016/j.cgh.2007.05.013</a:t>
            </a:r>
          </a:p>
        </p:txBody>
      </p:sp>
      <p:sp>
        <p:nvSpPr>
          <p:cNvPr id="6" name="Content Placeholder 5">
            <a:extLst>
              <a:ext uri="{FF2B5EF4-FFF2-40B4-BE49-F238E27FC236}">
                <a16:creationId xmlns:a16="http://schemas.microsoft.com/office/drawing/2014/main" id="{4AEA70F5-7184-2A4B-B7D3-E8E13123B60E}"/>
              </a:ext>
            </a:extLst>
          </p:cNvPr>
          <p:cNvSpPr>
            <a:spLocks noGrp="1"/>
          </p:cNvSpPr>
          <p:nvPr>
            <p:ph idx="1"/>
          </p:nvPr>
        </p:nvSpPr>
        <p:spPr/>
        <p:txBody>
          <a:bodyPr/>
          <a:lstStyle/>
          <a:p>
            <a:r>
              <a:rPr lang="en-US" dirty="0"/>
              <a:t>AIE can be a part of a multisystem involvement, previously described in scattered case reports</a:t>
            </a:r>
          </a:p>
          <a:p>
            <a:r>
              <a:rPr lang="en-US" dirty="0"/>
              <a:t>Other associated autoimmune conditions may include atrophic gastritis, autoimmune hepatitis, primary biliary cholangitis, and Sicca syndrome</a:t>
            </a:r>
          </a:p>
        </p:txBody>
      </p:sp>
    </p:spTree>
    <p:extLst>
      <p:ext uri="{BB962C8B-B14F-4D97-AF65-F5344CB8AC3E}">
        <p14:creationId xmlns:p14="http://schemas.microsoft.com/office/powerpoint/2010/main" val="27895908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73271C-1539-AA4C-A528-6A3E9D0F997A}"/>
              </a:ext>
            </a:extLst>
          </p:cNvPr>
          <p:cNvSpPr>
            <a:spLocks noGrp="1"/>
          </p:cNvSpPr>
          <p:nvPr>
            <p:ph type="title"/>
          </p:nvPr>
        </p:nvSpPr>
        <p:spPr/>
        <p:txBody>
          <a:bodyPr/>
          <a:lstStyle/>
          <a:p>
            <a:r>
              <a:rPr lang="en-US" dirty="0"/>
              <a:t>Autoimmune enteropathy (AIE)</a:t>
            </a:r>
          </a:p>
        </p:txBody>
      </p:sp>
      <p:sp>
        <p:nvSpPr>
          <p:cNvPr id="3" name="Content Placeholder 2">
            <a:extLst>
              <a:ext uri="{FF2B5EF4-FFF2-40B4-BE49-F238E27FC236}">
                <a16:creationId xmlns:a16="http://schemas.microsoft.com/office/drawing/2014/main" id="{07EEB350-1104-CF43-BE77-8147EE95712D}"/>
              </a:ext>
            </a:extLst>
          </p:cNvPr>
          <p:cNvSpPr>
            <a:spLocks noGrp="1"/>
          </p:cNvSpPr>
          <p:nvPr>
            <p:ph idx="1"/>
          </p:nvPr>
        </p:nvSpPr>
        <p:spPr/>
        <p:txBody>
          <a:bodyPr/>
          <a:lstStyle/>
          <a:p>
            <a:r>
              <a:rPr lang="en-US" dirty="0"/>
              <a:t>Treatment is supportive care with adequate hydration and nutritional support </a:t>
            </a:r>
          </a:p>
          <a:p>
            <a:r>
              <a:rPr lang="en-US" dirty="0"/>
              <a:t>For severe cases corticosteroids (budesonide and prednisone) is typically first line therapy </a:t>
            </a:r>
          </a:p>
          <a:p>
            <a:r>
              <a:rPr lang="en-US" dirty="0"/>
              <a:t>Steroid-refractory patients, other immunosuppressive agents such as cyclosporine, tacrolimus, mycophenolate mofetil and azathioprine/6-MP have been used successfully</a:t>
            </a:r>
          </a:p>
        </p:txBody>
      </p:sp>
    </p:spTree>
    <p:extLst>
      <p:ext uri="{BB962C8B-B14F-4D97-AF65-F5344CB8AC3E}">
        <p14:creationId xmlns:p14="http://schemas.microsoft.com/office/powerpoint/2010/main" val="14290788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87C7FF-B56E-2E4C-AE0D-401DD00DD885}"/>
              </a:ext>
            </a:extLst>
          </p:cNvPr>
          <p:cNvSpPr>
            <a:spLocks noGrp="1"/>
          </p:cNvSpPr>
          <p:nvPr>
            <p:ph type="title"/>
          </p:nvPr>
        </p:nvSpPr>
        <p:spPr/>
        <p:txBody>
          <a:bodyPr/>
          <a:lstStyle/>
          <a:p>
            <a:r>
              <a:rPr lang="en-US" dirty="0"/>
              <a:t>Small intestinal bacterial overgrowth (SIBO)</a:t>
            </a:r>
          </a:p>
        </p:txBody>
      </p:sp>
      <p:sp>
        <p:nvSpPr>
          <p:cNvPr id="5" name="Text Placeholder 4">
            <a:extLst>
              <a:ext uri="{FF2B5EF4-FFF2-40B4-BE49-F238E27FC236}">
                <a16:creationId xmlns:a16="http://schemas.microsoft.com/office/drawing/2014/main" id="{59E384E1-4BDE-3B44-85C7-36FBA511091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3855790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73271C-1539-AA4C-A528-6A3E9D0F997A}"/>
              </a:ext>
            </a:extLst>
          </p:cNvPr>
          <p:cNvSpPr>
            <a:spLocks noGrp="1"/>
          </p:cNvSpPr>
          <p:nvPr>
            <p:ph type="title"/>
          </p:nvPr>
        </p:nvSpPr>
        <p:spPr/>
        <p:txBody>
          <a:bodyPr/>
          <a:lstStyle/>
          <a:p>
            <a:r>
              <a:rPr lang="en-US" dirty="0"/>
              <a:t>Small intestinal bacterial overgrowth (SIBO)</a:t>
            </a:r>
          </a:p>
        </p:txBody>
      </p:sp>
      <p:sp>
        <p:nvSpPr>
          <p:cNvPr id="3" name="Content Placeholder 2">
            <a:extLst>
              <a:ext uri="{FF2B5EF4-FFF2-40B4-BE49-F238E27FC236}">
                <a16:creationId xmlns:a16="http://schemas.microsoft.com/office/drawing/2014/main" id="{07EEB350-1104-CF43-BE77-8147EE95712D}"/>
              </a:ext>
            </a:extLst>
          </p:cNvPr>
          <p:cNvSpPr>
            <a:spLocks noGrp="1"/>
          </p:cNvSpPr>
          <p:nvPr>
            <p:ph idx="1"/>
          </p:nvPr>
        </p:nvSpPr>
        <p:spPr/>
        <p:txBody>
          <a:bodyPr/>
          <a:lstStyle/>
          <a:p>
            <a:r>
              <a:rPr lang="en-US" dirty="0"/>
              <a:t>Usually occurs when there is abnormal anatomy (i.e. post surgery) or altered motility</a:t>
            </a:r>
          </a:p>
          <a:p>
            <a:r>
              <a:rPr lang="en-US" dirty="0"/>
              <a:t>Most common etiologies include </a:t>
            </a:r>
          </a:p>
          <a:p>
            <a:pPr lvl="1"/>
            <a:r>
              <a:rPr lang="en-US" dirty="0"/>
              <a:t>Diabetes</a:t>
            </a:r>
          </a:p>
          <a:p>
            <a:pPr lvl="1"/>
            <a:r>
              <a:rPr lang="en-US" dirty="0"/>
              <a:t>Celiac disease</a:t>
            </a:r>
          </a:p>
          <a:p>
            <a:pPr lvl="1"/>
            <a:r>
              <a:rPr lang="en-US" dirty="0"/>
              <a:t>Irritable bowel syndrome</a:t>
            </a:r>
          </a:p>
          <a:p>
            <a:pPr lvl="1"/>
            <a:r>
              <a:rPr lang="en-US" dirty="0"/>
              <a:t>Scleroderma</a:t>
            </a:r>
          </a:p>
          <a:p>
            <a:pPr lvl="1"/>
            <a:r>
              <a:rPr lang="en-US" dirty="0"/>
              <a:t>Intestinal diverticulosis</a:t>
            </a:r>
          </a:p>
          <a:p>
            <a:pPr lvl="1"/>
            <a:r>
              <a:rPr lang="en-US" dirty="0"/>
              <a:t>Afferent loop following a </a:t>
            </a:r>
            <a:r>
              <a:rPr lang="en-US" dirty="0" err="1"/>
              <a:t>billroth</a:t>
            </a:r>
            <a:r>
              <a:rPr lang="en-US" dirty="0"/>
              <a:t> II gastrojejunostomy</a:t>
            </a:r>
          </a:p>
          <a:p>
            <a:pPr lvl="1"/>
            <a:r>
              <a:rPr lang="en-US" dirty="0"/>
              <a:t>Intestinal obstruction caused by strictures, adhesions, or cancer</a:t>
            </a:r>
          </a:p>
          <a:p>
            <a:endParaRPr lang="en-US" dirty="0"/>
          </a:p>
          <a:p>
            <a:endParaRPr lang="en-US" dirty="0"/>
          </a:p>
        </p:txBody>
      </p:sp>
    </p:spTree>
    <p:extLst>
      <p:ext uri="{BB962C8B-B14F-4D97-AF65-F5344CB8AC3E}">
        <p14:creationId xmlns:p14="http://schemas.microsoft.com/office/powerpoint/2010/main" val="32566061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73271C-1539-AA4C-A528-6A3E9D0F997A}"/>
              </a:ext>
            </a:extLst>
          </p:cNvPr>
          <p:cNvSpPr>
            <a:spLocks noGrp="1"/>
          </p:cNvSpPr>
          <p:nvPr>
            <p:ph type="title"/>
          </p:nvPr>
        </p:nvSpPr>
        <p:spPr/>
        <p:txBody>
          <a:bodyPr/>
          <a:lstStyle/>
          <a:p>
            <a:r>
              <a:rPr lang="en-US" dirty="0"/>
              <a:t>Small intestinal bacterial overgrowth (SIBO)</a:t>
            </a:r>
          </a:p>
        </p:txBody>
      </p:sp>
      <p:sp>
        <p:nvSpPr>
          <p:cNvPr id="3" name="Content Placeholder 2">
            <a:extLst>
              <a:ext uri="{FF2B5EF4-FFF2-40B4-BE49-F238E27FC236}">
                <a16:creationId xmlns:a16="http://schemas.microsoft.com/office/drawing/2014/main" id="{07EEB350-1104-CF43-BE77-8147EE95712D}"/>
              </a:ext>
            </a:extLst>
          </p:cNvPr>
          <p:cNvSpPr>
            <a:spLocks noGrp="1"/>
          </p:cNvSpPr>
          <p:nvPr>
            <p:ph idx="1"/>
          </p:nvPr>
        </p:nvSpPr>
        <p:spPr/>
        <p:txBody>
          <a:bodyPr/>
          <a:lstStyle/>
          <a:p>
            <a:r>
              <a:rPr lang="en-US" dirty="0"/>
              <a:t>Clinically can present with </a:t>
            </a:r>
            <a:r>
              <a:rPr lang="en-US" b="1" dirty="0"/>
              <a:t>diarrhea</a:t>
            </a:r>
            <a:r>
              <a:rPr lang="en-US" dirty="0"/>
              <a:t>, occasionally constipation, steatorrhea, </a:t>
            </a:r>
            <a:r>
              <a:rPr lang="en-US" b="1" dirty="0"/>
              <a:t>gas</a:t>
            </a:r>
            <a:r>
              <a:rPr lang="en-US" dirty="0"/>
              <a:t>, bloating and abdominal pain with resultant weight loss and anemia</a:t>
            </a:r>
          </a:p>
          <a:p>
            <a:r>
              <a:rPr lang="en-US" dirty="0"/>
              <a:t>Vitamin deficiency, particularly vitamin B12 deficiency</a:t>
            </a:r>
          </a:p>
          <a:p>
            <a:pPr marL="0" indent="0" algn="ctr">
              <a:buNone/>
            </a:pPr>
            <a:r>
              <a:rPr lang="en-US" b="1" dirty="0"/>
              <a:t>Why does SIBO cause B12 deficiency?</a:t>
            </a:r>
            <a:endParaRPr lang="en-US" dirty="0"/>
          </a:p>
        </p:txBody>
      </p:sp>
    </p:spTree>
    <p:extLst>
      <p:ext uri="{BB962C8B-B14F-4D97-AF65-F5344CB8AC3E}">
        <p14:creationId xmlns:p14="http://schemas.microsoft.com/office/powerpoint/2010/main" val="4246000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73271C-1539-AA4C-A528-6A3E9D0F997A}"/>
              </a:ext>
            </a:extLst>
          </p:cNvPr>
          <p:cNvSpPr>
            <a:spLocks noGrp="1"/>
          </p:cNvSpPr>
          <p:nvPr>
            <p:ph type="title"/>
          </p:nvPr>
        </p:nvSpPr>
        <p:spPr/>
        <p:txBody>
          <a:bodyPr/>
          <a:lstStyle/>
          <a:p>
            <a:r>
              <a:rPr lang="en-US" dirty="0"/>
              <a:t>Small intestinal bacterial overgrowth (SIBO)</a:t>
            </a:r>
          </a:p>
        </p:txBody>
      </p:sp>
      <p:sp>
        <p:nvSpPr>
          <p:cNvPr id="3" name="Content Placeholder 2">
            <a:extLst>
              <a:ext uri="{FF2B5EF4-FFF2-40B4-BE49-F238E27FC236}">
                <a16:creationId xmlns:a16="http://schemas.microsoft.com/office/drawing/2014/main" id="{07EEB350-1104-CF43-BE77-8147EE95712D}"/>
              </a:ext>
            </a:extLst>
          </p:cNvPr>
          <p:cNvSpPr>
            <a:spLocks noGrp="1"/>
          </p:cNvSpPr>
          <p:nvPr>
            <p:ph idx="1"/>
          </p:nvPr>
        </p:nvSpPr>
        <p:spPr/>
        <p:txBody>
          <a:bodyPr/>
          <a:lstStyle/>
          <a:p>
            <a:r>
              <a:rPr lang="en-US" dirty="0"/>
              <a:t>Clinically can present with </a:t>
            </a:r>
            <a:r>
              <a:rPr lang="en-US" b="1" dirty="0"/>
              <a:t>diarrhea</a:t>
            </a:r>
            <a:r>
              <a:rPr lang="en-US" dirty="0"/>
              <a:t>, occasionally constipation, steatorrhea, </a:t>
            </a:r>
            <a:r>
              <a:rPr lang="en-US" b="1" dirty="0"/>
              <a:t>gas</a:t>
            </a:r>
            <a:r>
              <a:rPr lang="en-US" dirty="0"/>
              <a:t>, bloating and abdominal pain with resultant weight loss and anemia</a:t>
            </a:r>
          </a:p>
          <a:p>
            <a:r>
              <a:rPr lang="en-US" dirty="0"/>
              <a:t>Vitamin deficiency, particularly vitamin B12 deficiency</a:t>
            </a:r>
          </a:p>
          <a:p>
            <a:pPr marL="0" indent="0" algn="ctr">
              <a:buNone/>
            </a:pPr>
            <a:r>
              <a:rPr lang="en-US" b="1" dirty="0"/>
              <a:t>Why does SIBO cause B12 deficiency?</a:t>
            </a:r>
          </a:p>
          <a:p>
            <a:pPr marL="0" indent="0" algn="ctr">
              <a:buNone/>
            </a:pPr>
            <a:r>
              <a:rPr lang="en-US" dirty="0"/>
              <a:t>Due to overgrown bacterial metabolism of the vitamin to metabolically ineffective metabolites and internalization of the B12 by the bacteria for their own metabolic uses</a:t>
            </a:r>
          </a:p>
        </p:txBody>
      </p:sp>
    </p:spTree>
    <p:extLst>
      <p:ext uri="{BB962C8B-B14F-4D97-AF65-F5344CB8AC3E}">
        <p14:creationId xmlns:p14="http://schemas.microsoft.com/office/powerpoint/2010/main" val="31229362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73271C-1539-AA4C-A528-6A3E9D0F997A}"/>
              </a:ext>
            </a:extLst>
          </p:cNvPr>
          <p:cNvSpPr>
            <a:spLocks noGrp="1"/>
          </p:cNvSpPr>
          <p:nvPr>
            <p:ph type="title"/>
          </p:nvPr>
        </p:nvSpPr>
        <p:spPr/>
        <p:txBody>
          <a:bodyPr/>
          <a:lstStyle/>
          <a:p>
            <a:r>
              <a:rPr lang="en-US" dirty="0"/>
              <a:t>Small intestinal bacterial overgrowth (SIBO)</a:t>
            </a:r>
          </a:p>
        </p:txBody>
      </p:sp>
      <p:sp>
        <p:nvSpPr>
          <p:cNvPr id="3" name="Content Placeholder 2">
            <a:extLst>
              <a:ext uri="{FF2B5EF4-FFF2-40B4-BE49-F238E27FC236}">
                <a16:creationId xmlns:a16="http://schemas.microsoft.com/office/drawing/2014/main" id="{07EEB350-1104-CF43-BE77-8147EE95712D}"/>
              </a:ext>
            </a:extLst>
          </p:cNvPr>
          <p:cNvSpPr>
            <a:spLocks noGrp="1"/>
          </p:cNvSpPr>
          <p:nvPr>
            <p:ph idx="1"/>
          </p:nvPr>
        </p:nvSpPr>
        <p:spPr/>
        <p:txBody>
          <a:bodyPr/>
          <a:lstStyle/>
          <a:p>
            <a:r>
              <a:rPr lang="en-US" dirty="0"/>
              <a:t>Clinically can present with </a:t>
            </a:r>
            <a:r>
              <a:rPr lang="en-US" b="1" dirty="0"/>
              <a:t>diarrhea</a:t>
            </a:r>
            <a:r>
              <a:rPr lang="en-US" dirty="0"/>
              <a:t>, occasionally constipation, steatorrhea, </a:t>
            </a:r>
            <a:r>
              <a:rPr lang="en-US" b="1" dirty="0"/>
              <a:t>gas</a:t>
            </a:r>
            <a:r>
              <a:rPr lang="en-US" dirty="0"/>
              <a:t>, bloating and abdominal pain with resultant weight loss and anemia</a:t>
            </a:r>
          </a:p>
          <a:p>
            <a:r>
              <a:rPr lang="en-US" dirty="0"/>
              <a:t>Vitamin deficiency, particularly vitamin B12 deficiency </a:t>
            </a:r>
            <a:r>
              <a:rPr lang="en-US" b="1" dirty="0"/>
              <a:t>due to bacterial use</a:t>
            </a:r>
          </a:p>
          <a:p>
            <a:endParaRPr lang="en-US" b="1" dirty="0"/>
          </a:p>
          <a:p>
            <a:r>
              <a:rPr lang="en-US" dirty="0"/>
              <a:t>Gold standard for diagnosis is obtaining jejunal aspirates</a:t>
            </a:r>
          </a:p>
          <a:p>
            <a:pPr lvl="1"/>
            <a:r>
              <a:rPr lang="en-US" b="1" dirty="0"/>
              <a:t>Jejunal culture &gt; 103 or 105 </a:t>
            </a:r>
            <a:r>
              <a:rPr lang="en-US" dirty="0"/>
              <a:t>colony-forming units per milliliter (CFU/ml) of bacteria</a:t>
            </a:r>
          </a:p>
          <a:p>
            <a:r>
              <a:rPr lang="en-US" dirty="0"/>
              <a:t>Alternative more practical test is hydrogen/methane breath test</a:t>
            </a:r>
          </a:p>
          <a:p>
            <a:pPr lvl="1"/>
            <a:r>
              <a:rPr lang="en-US" dirty="0"/>
              <a:t>This test is not standardized, and has variable sensitivity </a:t>
            </a:r>
          </a:p>
          <a:p>
            <a:r>
              <a:rPr lang="en-US" dirty="0"/>
              <a:t>Some advocate for treatment response as a diagnostic tool</a:t>
            </a:r>
          </a:p>
        </p:txBody>
      </p:sp>
    </p:spTree>
    <p:extLst>
      <p:ext uri="{BB962C8B-B14F-4D97-AF65-F5344CB8AC3E}">
        <p14:creationId xmlns:p14="http://schemas.microsoft.com/office/powerpoint/2010/main" val="250026460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A3D8E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73271C-1539-AA4C-A528-6A3E9D0F997A}"/>
              </a:ext>
            </a:extLst>
          </p:cNvPr>
          <p:cNvSpPr>
            <a:spLocks noGrp="1"/>
          </p:cNvSpPr>
          <p:nvPr>
            <p:ph type="title"/>
          </p:nvPr>
        </p:nvSpPr>
        <p:spPr/>
        <p:txBody>
          <a:bodyPr/>
          <a:lstStyle/>
          <a:p>
            <a:r>
              <a:rPr lang="en-US" dirty="0"/>
              <a:t>Small intestinal bacterial overgrowth (SIBO)</a:t>
            </a:r>
          </a:p>
        </p:txBody>
      </p:sp>
      <p:pic>
        <p:nvPicPr>
          <p:cNvPr id="7" name="Picture 6">
            <a:extLst>
              <a:ext uri="{FF2B5EF4-FFF2-40B4-BE49-F238E27FC236}">
                <a16:creationId xmlns:a16="http://schemas.microsoft.com/office/drawing/2014/main" id="{2B9D9855-EB81-0A4C-A33F-51A9B1760D30}"/>
              </a:ext>
            </a:extLst>
          </p:cNvPr>
          <p:cNvPicPr>
            <a:picLocks noChangeAspect="1"/>
          </p:cNvPicPr>
          <p:nvPr/>
        </p:nvPicPr>
        <p:blipFill rotWithShape="1">
          <a:blip r:embed="rId2"/>
          <a:srcRect l="9361" r="8934"/>
          <a:stretch/>
        </p:blipFill>
        <p:spPr>
          <a:xfrm>
            <a:off x="0" y="1308671"/>
            <a:ext cx="12192000" cy="5549329"/>
          </a:xfrm>
          <a:prstGeom prst="rect">
            <a:avLst/>
          </a:prstGeom>
        </p:spPr>
      </p:pic>
    </p:spTree>
    <p:extLst>
      <p:ext uri="{BB962C8B-B14F-4D97-AF65-F5344CB8AC3E}">
        <p14:creationId xmlns:p14="http://schemas.microsoft.com/office/powerpoint/2010/main" val="228777760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149BB3"/>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73271C-1539-AA4C-A528-6A3E9D0F997A}"/>
              </a:ext>
            </a:extLst>
          </p:cNvPr>
          <p:cNvSpPr>
            <a:spLocks noGrp="1"/>
          </p:cNvSpPr>
          <p:nvPr>
            <p:ph type="title"/>
          </p:nvPr>
        </p:nvSpPr>
        <p:spPr/>
        <p:txBody>
          <a:bodyPr/>
          <a:lstStyle/>
          <a:p>
            <a:r>
              <a:rPr lang="en-US" dirty="0"/>
              <a:t>Small intestinal bacterial overgrowth (SIBO)</a:t>
            </a:r>
          </a:p>
        </p:txBody>
      </p:sp>
      <p:pic>
        <p:nvPicPr>
          <p:cNvPr id="2" name="Picture 1">
            <a:extLst>
              <a:ext uri="{FF2B5EF4-FFF2-40B4-BE49-F238E27FC236}">
                <a16:creationId xmlns:a16="http://schemas.microsoft.com/office/drawing/2014/main" id="{E0FE0528-CC75-8043-B8F2-69F0C9B3A673}"/>
              </a:ext>
            </a:extLst>
          </p:cNvPr>
          <p:cNvPicPr>
            <a:picLocks noChangeAspect="1"/>
          </p:cNvPicPr>
          <p:nvPr/>
        </p:nvPicPr>
        <p:blipFill>
          <a:blip r:embed="rId2"/>
          <a:stretch>
            <a:fillRect/>
          </a:stretch>
        </p:blipFill>
        <p:spPr>
          <a:xfrm>
            <a:off x="2653200" y="1413825"/>
            <a:ext cx="6885600" cy="5307650"/>
          </a:xfrm>
          <a:prstGeom prst="rect">
            <a:avLst/>
          </a:prstGeom>
        </p:spPr>
      </p:pic>
    </p:spTree>
    <p:extLst>
      <p:ext uri="{BB962C8B-B14F-4D97-AF65-F5344CB8AC3E}">
        <p14:creationId xmlns:p14="http://schemas.microsoft.com/office/powerpoint/2010/main" val="4774980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73271C-1539-AA4C-A528-6A3E9D0F997A}"/>
              </a:ext>
            </a:extLst>
          </p:cNvPr>
          <p:cNvSpPr>
            <a:spLocks noGrp="1"/>
          </p:cNvSpPr>
          <p:nvPr>
            <p:ph type="title"/>
          </p:nvPr>
        </p:nvSpPr>
        <p:spPr/>
        <p:txBody>
          <a:bodyPr/>
          <a:lstStyle/>
          <a:p>
            <a:r>
              <a:rPr lang="en-US" dirty="0"/>
              <a:t>Small intestinal bacterial overgrowth (SIBO)</a:t>
            </a:r>
          </a:p>
        </p:txBody>
      </p:sp>
      <p:sp>
        <p:nvSpPr>
          <p:cNvPr id="3" name="Content Placeholder 2">
            <a:extLst>
              <a:ext uri="{FF2B5EF4-FFF2-40B4-BE49-F238E27FC236}">
                <a16:creationId xmlns:a16="http://schemas.microsoft.com/office/drawing/2014/main" id="{07EEB350-1104-CF43-BE77-8147EE95712D}"/>
              </a:ext>
            </a:extLst>
          </p:cNvPr>
          <p:cNvSpPr>
            <a:spLocks noGrp="1"/>
          </p:cNvSpPr>
          <p:nvPr>
            <p:ph idx="1"/>
          </p:nvPr>
        </p:nvSpPr>
        <p:spPr/>
        <p:txBody>
          <a:bodyPr/>
          <a:lstStyle/>
          <a:p>
            <a:r>
              <a:rPr lang="en-US" dirty="0"/>
              <a:t>Treatment first includes correcting anatomy if possible (such as dilated a stricture)</a:t>
            </a:r>
          </a:p>
          <a:p>
            <a:r>
              <a:rPr lang="en-US" b="1" dirty="0"/>
              <a:t>The goal of therapy is to reduce but not completely eradicate the burden of bacteria to achieve symptomatic improvement </a:t>
            </a:r>
          </a:p>
          <a:p>
            <a:r>
              <a:rPr lang="en-US" dirty="0"/>
              <a:t>7-10 days of Rifaximin therapy is usually the first line</a:t>
            </a:r>
          </a:p>
          <a:p>
            <a:r>
              <a:rPr lang="en-US" dirty="0"/>
              <a:t>Other antibiotics such as metronidazole have been used</a:t>
            </a:r>
          </a:p>
          <a:p>
            <a:r>
              <a:rPr lang="en-US" dirty="0"/>
              <a:t>Probiotics are not recommended (conflicting evidence)</a:t>
            </a:r>
          </a:p>
        </p:txBody>
      </p:sp>
    </p:spTree>
    <p:extLst>
      <p:ext uri="{BB962C8B-B14F-4D97-AF65-F5344CB8AC3E}">
        <p14:creationId xmlns:p14="http://schemas.microsoft.com/office/powerpoint/2010/main" val="341867197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338E32-C1AA-E842-BEBF-6452870930CA}"/>
              </a:ext>
            </a:extLst>
          </p:cNvPr>
          <p:cNvSpPr>
            <a:spLocks noGrp="1"/>
          </p:cNvSpPr>
          <p:nvPr>
            <p:ph type="title"/>
          </p:nvPr>
        </p:nvSpPr>
        <p:spPr/>
        <p:txBody>
          <a:bodyPr/>
          <a:lstStyle/>
          <a:p>
            <a:r>
              <a:rPr lang="en-US" dirty="0"/>
              <a:t>Treatment of diarrhea</a:t>
            </a:r>
          </a:p>
        </p:txBody>
      </p:sp>
      <p:sp>
        <p:nvSpPr>
          <p:cNvPr id="5" name="Text Placeholder 4">
            <a:extLst>
              <a:ext uri="{FF2B5EF4-FFF2-40B4-BE49-F238E27FC236}">
                <a16:creationId xmlns:a16="http://schemas.microsoft.com/office/drawing/2014/main" id="{02592E19-D915-F043-9F75-2ECB34EE212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651517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19B06-B2DC-8F4A-BDA4-8F7E3A0C9F08}"/>
              </a:ext>
            </a:extLst>
          </p:cNvPr>
          <p:cNvSpPr>
            <a:spLocks noGrp="1"/>
          </p:cNvSpPr>
          <p:nvPr>
            <p:ph type="title"/>
          </p:nvPr>
        </p:nvSpPr>
        <p:spPr/>
        <p:txBody>
          <a:bodyPr/>
          <a:lstStyle/>
          <a:p>
            <a:r>
              <a:rPr lang="en-US" dirty="0"/>
              <a:t>Treatment of diarrhea</a:t>
            </a:r>
          </a:p>
        </p:txBody>
      </p:sp>
      <p:sp>
        <p:nvSpPr>
          <p:cNvPr id="3" name="Content Placeholder 2">
            <a:extLst>
              <a:ext uri="{FF2B5EF4-FFF2-40B4-BE49-F238E27FC236}">
                <a16:creationId xmlns:a16="http://schemas.microsoft.com/office/drawing/2014/main" id="{FCF32F56-ADCD-864E-B393-12F1949FD490}"/>
              </a:ext>
            </a:extLst>
          </p:cNvPr>
          <p:cNvSpPr>
            <a:spLocks noGrp="1"/>
          </p:cNvSpPr>
          <p:nvPr>
            <p:ph idx="1"/>
          </p:nvPr>
        </p:nvSpPr>
        <p:spPr/>
        <p:txBody>
          <a:bodyPr/>
          <a:lstStyle/>
          <a:p>
            <a:r>
              <a:rPr lang="en-US" dirty="0"/>
              <a:t>The most important therapy for diarrhea is to ensure that any fluid and electrolyte deficits are repaired </a:t>
            </a:r>
          </a:p>
          <a:p>
            <a:r>
              <a:rPr lang="en-US" dirty="0"/>
              <a:t>Most sports drinks (e.g., Gatorade) are designed to replenish fluid and electrolyte losses from exercise (mostly free water and the limited sodium chloride losses in sweat); </a:t>
            </a:r>
            <a:r>
              <a:rPr lang="en-US" b="1" dirty="0"/>
              <a:t>they do not have enough sodium to replace stool losses in diarrhea effectively </a:t>
            </a:r>
          </a:p>
          <a:p>
            <a:r>
              <a:rPr lang="en-US" dirty="0"/>
              <a:t>Solutions that more closely approximate World Health Organization rehydration solution are now commercially available (e.g., </a:t>
            </a:r>
            <a:r>
              <a:rPr lang="en-US" dirty="0" err="1"/>
              <a:t>Rehydralyte</a:t>
            </a:r>
            <a:r>
              <a:rPr lang="en-US" dirty="0"/>
              <a:t>, </a:t>
            </a:r>
            <a:r>
              <a:rPr lang="en-US" dirty="0" err="1"/>
              <a:t>Ceralyte</a:t>
            </a:r>
            <a:r>
              <a:rPr lang="en-US" dirty="0"/>
              <a:t>, Pedialyte), typically used in acute diarrhea rather than chronic when volume depletion is a concern</a:t>
            </a:r>
          </a:p>
        </p:txBody>
      </p:sp>
    </p:spTree>
    <p:extLst>
      <p:ext uri="{BB962C8B-B14F-4D97-AF65-F5344CB8AC3E}">
        <p14:creationId xmlns:p14="http://schemas.microsoft.com/office/powerpoint/2010/main" val="366337480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19B06-B2DC-8F4A-BDA4-8F7E3A0C9F08}"/>
              </a:ext>
            </a:extLst>
          </p:cNvPr>
          <p:cNvSpPr>
            <a:spLocks noGrp="1"/>
          </p:cNvSpPr>
          <p:nvPr>
            <p:ph type="title"/>
          </p:nvPr>
        </p:nvSpPr>
        <p:spPr/>
        <p:txBody>
          <a:bodyPr/>
          <a:lstStyle/>
          <a:p>
            <a:r>
              <a:rPr lang="en-US" dirty="0"/>
              <a:t>Empirical therapy for chronic diarrhea</a:t>
            </a:r>
          </a:p>
        </p:txBody>
      </p:sp>
      <p:sp>
        <p:nvSpPr>
          <p:cNvPr id="3" name="Content Placeholder 2">
            <a:extLst>
              <a:ext uri="{FF2B5EF4-FFF2-40B4-BE49-F238E27FC236}">
                <a16:creationId xmlns:a16="http://schemas.microsoft.com/office/drawing/2014/main" id="{FCF32F56-ADCD-864E-B393-12F1949FD490}"/>
              </a:ext>
            </a:extLst>
          </p:cNvPr>
          <p:cNvSpPr>
            <a:spLocks noGrp="1"/>
          </p:cNvSpPr>
          <p:nvPr>
            <p:ph idx="1"/>
          </p:nvPr>
        </p:nvSpPr>
        <p:spPr/>
        <p:txBody>
          <a:bodyPr>
            <a:normAutofit fontScale="92500"/>
          </a:bodyPr>
          <a:lstStyle/>
          <a:p>
            <a:r>
              <a:rPr lang="en-US" dirty="0"/>
              <a:t>Empirical therapy is used in patients with chronic diarrhea in three situations </a:t>
            </a:r>
          </a:p>
          <a:p>
            <a:pPr marL="514350" indent="-514350">
              <a:buAutoNum type="arabicPeriod"/>
            </a:pPr>
            <a:r>
              <a:rPr lang="en-US" dirty="0"/>
              <a:t>Temporizing or initial treatment before diagnostic testing </a:t>
            </a:r>
          </a:p>
          <a:p>
            <a:pPr marL="514350" indent="-514350">
              <a:buFont typeface="System Font Regular"/>
              <a:buAutoNum type="arabicPeriod"/>
            </a:pPr>
            <a:r>
              <a:rPr lang="en-US" dirty="0"/>
              <a:t>After diagnostic testing has failed to confirm a diagnosis </a:t>
            </a:r>
          </a:p>
          <a:p>
            <a:pPr marL="514350" indent="-514350">
              <a:buFont typeface="System Font Regular"/>
              <a:buAutoNum type="arabicPeriod"/>
            </a:pPr>
            <a:r>
              <a:rPr lang="en-US" dirty="0"/>
              <a:t>When a diagnosis has been made, but no specific treatment is available </a:t>
            </a:r>
          </a:p>
          <a:p>
            <a:pPr marL="514350" indent="-514350">
              <a:buFont typeface="System Font Regular"/>
              <a:buAutoNum type="arabicPeriod"/>
            </a:pPr>
            <a:endParaRPr lang="en-US" dirty="0"/>
          </a:p>
          <a:p>
            <a:pPr>
              <a:buFontTx/>
              <a:buChar char="-"/>
            </a:pPr>
            <a:r>
              <a:rPr lang="en-US" dirty="0"/>
              <a:t>Therapeutic trials of </a:t>
            </a:r>
            <a:r>
              <a:rPr lang="en-US" b="1" dirty="0"/>
              <a:t>bile acid-binding resins </a:t>
            </a:r>
            <a:r>
              <a:rPr lang="en-US" dirty="0"/>
              <a:t>in secretory diarrhea and </a:t>
            </a:r>
            <a:r>
              <a:rPr lang="en-US" b="1" dirty="0"/>
              <a:t>pancreatic enzyme replacement</a:t>
            </a:r>
            <a:r>
              <a:rPr lang="en-US" dirty="0"/>
              <a:t> in unexplained steatorrhea have been used previously </a:t>
            </a:r>
          </a:p>
          <a:p>
            <a:pPr>
              <a:buFontTx/>
              <a:buChar char="-"/>
            </a:pPr>
            <a:r>
              <a:rPr lang="en-US" dirty="0"/>
              <a:t>Finally, symptomatic treatment with opiates and other agents often is necessary after evaluation in patients with chronic diarrhea, since specific treatment may not be available</a:t>
            </a:r>
          </a:p>
        </p:txBody>
      </p:sp>
    </p:spTree>
    <p:extLst>
      <p:ext uri="{BB962C8B-B14F-4D97-AF65-F5344CB8AC3E}">
        <p14:creationId xmlns:p14="http://schemas.microsoft.com/office/powerpoint/2010/main" val="191278267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19B06-B2DC-8F4A-BDA4-8F7E3A0C9F08}"/>
              </a:ext>
            </a:extLst>
          </p:cNvPr>
          <p:cNvSpPr>
            <a:spLocks noGrp="1"/>
          </p:cNvSpPr>
          <p:nvPr>
            <p:ph type="title"/>
          </p:nvPr>
        </p:nvSpPr>
        <p:spPr/>
        <p:txBody>
          <a:bodyPr/>
          <a:lstStyle/>
          <a:p>
            <a:r>
              <a:rPr lang="en-US" dirty="0"/>
              <a:t>Nonspecific antidiarrheal agents</a:t>
            </a:r>
          </a:p>
        </p:txBody>
      </p:sp>
      <p:pic>
        <p:nvPicPr>
          <p:cNvPr id="4" name="Content Placeholder 3">
            <a:extLst>
              <a:ext uri="{FF2B5EF4-FFF2-40B4-BE49-F238E27FC236}">
                <a16:creationId xmlns:a16="http://schemas.microsoft.com/office/drawing/2014/main" id="{B08A1543-4FE5-704C-839E-3B408B8D9EE4}"/>
              </a:ext>
            </a:extLst>
          </p:cNvPr>
          <p:cNvPicPr>
            <a:picLocks noGrp="1" noChangeAspect="1"/>
          </p:cNvPicPr>
          <p:nvPr>
            <p:ph idx="1"/>
          </p:nvPr>
        </p:nvPicPr>
        <p:blipFill>
          <a:blip r:embed="rId2"/>
          <a:stretch>
            <a:fillRect/>
          </a:stretch>
        </p:blipFill>
        <p:spPr>
          <a:xfrm>
            <a:off x="1224489" y="1305661"/>
            <a:ext cx="9743021" cy="5415814"/>
          </a:xfrm>
          <a:prstGeom prst="rect">
            <a:avLst/>
          </a:prstGeom>
        </p:spPr>
      </p:pic>
    </p:spTree>
    <p:extLst>
      <p:ext uri="{BB962C8B-B14F-4D97-AF65-F5344CB8AC3E}">
        <p14:creationId xmlns:p14="http://schemas.microsoft.com/office/powerpoint/2010/main" val="71125446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D6971-7020-444C-9E28-88E2E7CC631E}"/>
              </a:ext>
            </a:extLst>
          </p:cNvPr>
          <p:cNvSpPr>
            <a:spLocks noGrp="1"/>
          </p:cNvSpPr>
          <p:nvPr>
            <p:ph type="title"/>
          </p:nvPr>
        </p:nvSpPr>
        <p:spPr/>
        <p:txBody>
          <a:bodyPr/>
          <a:lstStyle/>
          <a:p>
            <a:r>
              <a:rPr lang="en-US" dirty="0"/>
              <a:t>Take-home points</a:t>
            </a:r>
          </a:p>
        </p:txBody>
      </p:sp>
      <p:sp>
        <p:nvSpPr>
          <p:cNvPr id="3" name="Content Placeholder 2">
            <a:extLst>
              <a:ext uri="{FF2B5EF4-FFF2-40B4-BE49-F238E27FC236}">
                <a16:creationId xmlns:a16="http://schemas.microsoft.com/office/drawing/2014/main" id="{D85D74D1-413B-FC44-BE89-FDF9689DE1AE}"/>
              </a:ext>
            </a:extLst>
          </p:cNvPr>
          <p:cNvSpPr>
            <a:spLocks noGrp="1"/>
          </p:cNvSpPr>
          <p:nvPr>
            <p:ph idx="1"/>
          </p:nvPr>
        </p:nvSpPr>
        <p:spPr>
          <a:xfrm>
            <a:off x="462844" y="1603022"/>
            <a:ext cx="11266312" cy="5013778"/>
          </a:xfrm>
        </p:spPr>
        <p:txBody>
          <a:bodyPr>
            <a:normAutofit fontScale="92500" lnSpcReduction="20000"/>
          </a:bodyPr>
          <a:lstStyle/>
          <a:p>
            <a:r>
              <a:rPr lang="en-US" dirty="0"/>
              <a:t>Normal bowel movements once/3days -&gt; 3 times/day</a:t>
            </a:r>
          </a:p>
          <a:p>
            <a:r>
              <a:rPr lang="en-US" dirty="0"/>
              <a:t>Chronic diarrhea &gt; 4-week duration</a:t>
            </a:r>
          </a:p>
          <a:p>
            <a:r>
              <a:rPr lang="en-US" dirty="0"/>
              <a:t>Fecal osmotic gap is a great tool</a:t>
            </a:r>
          </a:p>
          <a:p>
            <a:pPr lvl="1"/>
            <a:r>
              <a:rPr lang="en-US" dirty="0"/>
              <a:t>Osmotic diarrhea-&gt; simple differential</a:t>
            </a:r>
          </a:p>
          <a:p>
            <a:pPr lvl="1"/>
            <a:r>
              <a:rPr lang="en-US" dirty="0"/>
              <a:t>Secretory diarrhea -&gt; wide differential</a:t>
            </a:r>
          </a:p>
          <a:p>
            <a:r>
              <a:rPr lang="en-US" dirty="0"/>
              <a:t>Taking a </a:t>
            </a:r>
            <a:r>
              <a:rPr lang="en-US" b="1" dirty="0">
                <a:highlight>
                  <a:srgbClr val="FFFF00"/>
                </a:highlight>
              </a:rPr>
              <a:t>thorough history </a:t>
            </a:r>
            <a:r>
              <a:rPr lang="en-US" dirty="0"/>
              <a:t>is the most important step in figuring out chronic diarrhea etiology</a:t>
            </a:r>
          </a:p>
          <a:p>
            <a:r>
              <a:rPr lang="en-US" dirty="0"/>
              <a:t>Don’t forget a DRE during physical exam</a:t>
            </a:r>
          </a:p>
          <a:p>
            <a:r>
              <a:rPr lang="en-US" dirty="0"/>
              <a:t>Escalate appropriately in terms of tests, imaging, and scopes</a:t>
            </a:r>
          </a:p>
          <a:p>
            <a:r>
              <a:rPr lang="en-US" dirty="0"/>
              <a:t>Extra-intestinal manifestations and related conditions might be the only clue to the diagnosis (i.e. celiac, AIE, amyloidosis, etc.</a:t>
            </a:r>
          </a:p>
          <a:p>
            <a:r>
              <a:rPr lang="en-US" dirty="0"/>
              <a:t>Sometimes empiric therapy (i.e. exocrine pancreatic insufficiency) can be diagnostic</a:t>
            </a:r>
          </a:p>
        </p:txBody>
      </p:sp>
    </p:spTree>
    <p:extLst>
      <p:ext uri="{BB962C8B-B14F-4D97-AF65-F5344CB8AC3E}">
        <p14:creationId xmlns:p14="http://schemas.microsoft.com/office/powerpoint/2010/main" val="200164204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0AAB23-46A8-2D4A-BFD2-77EA8083A794}"/>
              </a:ext>
            </a:extLst>
          </p:cNvPr>
          <p:cNvSpPr>
            <a:spLocks noGrp="1"/>
          </p:cNvSpPr>
          <p:nvPr>
            <p:ph type="title"/>
          </p:nvPr>
        </p:nvSpPr>
        <p:spPr/>
        <p:txBody>
          <a:bodyPr>
            <a:normAutofit fontScale="90000"/>
          </a:bodyPr>
          <a:lstStyle/>
          <a:p>
            <a:r>
              <a:rPr lang="en-US" dirty="0"/>
              <a:t>Thank you</a:t>
            </a:r>
            <a:br>
              <a:rPr lang="en-US" dirty="0"/>
            </a:br>
            <a:br>
              <a:rPr lang="en-US" dirty="0"/>
            </a:br>
            <a:r>
              <a:rPr lang="en-US" dirty="0"/>
              <a:t>Questions?</a:t>
            </a:r>
            <a:br>
              <a:rPr lang="en-US" dirty="0"/>
            </a:br>
            <a:endParaRPr lang="en-US" dirty="0"/>
          </a:p>
        </p:txBody>
      </p:sp>
      <p:sp>
        <p:nvSpPr>
          <p:cNvPr id="5" name="Text Placeholder 4">
            <a:extLst>
              <a:ext uri="{FF2B5EF4-FFF2-40B4-BE49-F238E27FC236}">
                <a16:creationId xmlns:a16="http://schemas.microsoft.com/office/drawing/2014/main" id="{AA9F5290-2CEA-B64C-B8B4-9582F6D04A32}"/>
              </a:ext>
            </a:extLst>
          </p:cNvPr>
          <p:cNvSpPr>
            <a:spLocks noGrp="1"/>
          </p:cNvSpPr>
          <p:nvPr>
            <p:ph type="body" idx="1"/>
          </p:nvPr>
        </p:nvSpPr>
        <p:spPr/>
        <p:txBody>
          <a:bodyPr/>
          <a:lstStyle/>
          <a:p>
            <a:pPr algn="ctr"/>
            <a:r>
              <a:rPr lang="en-US" dirty="0"/>
              <a:t>Thanks to Dr. </a:t>
            </a:r>
            <a:r>
              <a:rPr lang="en-US" dirty="0" err="1"/>
              <a:t>Ferstenberg</a:t>
            </a:r>
            <a:r>
              <a:rPr lang="en-US" dirty="0"/>
              <a:t> for supervising the talk</a:t>
            </a:r>
          </a:p>
        </p:txBody>
      </p:sp>
    </p:spTree>
    <p:extLst>
      <p:ext uri="{BB962C8B-B14F-4D97-AF65-F5344CB8AC3E}">
        <p14:creationId xmlns:p14="http://schemas.microsoft.com/office/powerpoint/2010/main" val="584749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9545</TotalTime>
  <Words>3477</Words>
  <Application>Microsoft Macintosh PowerPoint</Application>
  <PresentationFormat>Widescreen</PresentationFormat>
  <Paragraphs>452</Paragraphs>
  <Slides>97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97</vt:i4>
      </vt:variant>
    </vt:vector>
  </HeadingPairs>
  <TitlesOfParts>
    <vt:vector size="103" baseType="lpstr">
      <vt:lpstr>Arial</vt:lpstr>
      <vt:lpstr>Calibri</vt:lpstr>
      <vt:lpstr>Cambria Math</vt:lpstr>
      <vt:lpstr>Quadraat</vt:lpstr>
      <vt:lpstr>System Font Regular</vt:lpstr>
      <vt:lpstr>Office Theme</vt:lpstr>
      <vt:lpstr>Chronic Diarrhea</vt:lpstr>
      <vt:lpstr>Outline</vt:lpstr>
      <vt:lpstr>Normal Bowel Movements</vt:lpstr>
      <vt:lpstr>Normal Bowel Movements</vt:lpstr>
      <vt:lpstr>What is diarrhea?</vt:lpstr>
      <vt:lpstr>What is diarrhea?</vt:lpstr>
      <vt:lpstr>Clinical classification of diarrhea</vt:lpstr>
      <vt:lpstr>Pathophysiology of diarrhea</vt:lpstr>
      <vt:lpstr>Pathophysiology of diarrhea</vt:lpstr>
      <vt:lpstr>Pathophysiology of diarrhea</vt:lpstr>
      <vt:lpstr>Pathophysiology of diarrhea</vt:lpstr>
      <vt:lpstr>Pathophysiology of diarrhea</vt:lpstr>
      <vt:lpstr>Pathophysiology of diarrhea</vt:lpstr>
      <vt:lpstr>Fecal osmotic gap</vt:lpstr>
      <vt:lpstr>Fecal osmotic gap</vt:lpstr>
      <vt:lpstr>Osmotic diarrhea</vt:lpstr>
      <vt:lpstr>Secretory diarrhea</vt:lpstr>
      <vt:lpstr>Secretory diarrhea</vt:lpstr>
      <vt:lpstr>Infections</vt:lpstr>
      <vt:lpstr>Reduction of mucosal surface area</vt:lpstr>
      <vt:lpstr>Absence of ion transport mechanism</vt:lpstr>
      <vt:lpstr>Inflammation</vt:lpstr>
      <vt:lpstr>Dysregulation</vt:lpstr>
      <vt:lpstr>Circulating secretagogues</vt:lpstr>
      <vt:lpstr>Evaluating a patient with diarrhea</vt:lpstr>
      <vt:lpstr>History</vt:lpstr>
      <vt:lpstr>History</vt:lpstr>
      <vt:lpstr>History</vt:lpstr>
      <vt:lpstr>History</vt:lpstr>
      <vt:lpstr>History</vt:lpstr>
      <vt:lpstr>History</vt:lpstr>
      <vt:lpstr>History</vt:lpstr>
      <vt:lpstr>History</vt:lpstr>
      <vt:lpstr>History</vt:lpstr>
      <vt:lpstr>FODMAPs</vt:lpstr>
      <vt:lpstr>PowerPoint Presentation</vt:lpstr>
      <vt:lpstr>FODMAPs</vt:lpstr>
      <vt:lpstr>History</vt:lpstr>
      <vt:lpstr>History</vt:lpstr>
      <vt:lpstr>Physical examination</vt:lpstr>
      <vt:lpstr>Physical examination</vt:lpstr>
      <vt:lpstr>Physical examination</vt:lpstr>
      <vt:lpstr>Physical examination</vt:lpstr>
      <vt:lpstr>Physical examination</vt:lpstr>
      <vt:lpstr>Physical examination</vt:lpstr>
      <vt:lpstr>Physical examination</vt:lpstr>
      <vt:lpstr>Physical examination</vt:lpstr>
      <vt:lpstr>Further evaluation of chronic diarrhea</vt:lpstr>
      <vt:lpstr>Further evaluation of chronic diarrhea</vt:lpstr>
      <vt:lpstr>Further evaluation of chronic diarrhea</vt:lpstr>
      <vt:lpstr>Chronic watery diarrhea</vt:lpstr>
      <vt:lpstr>Chronic watery diarrhea</vt:lpstr>
      <vt:lpstr>BAM!!</vt:lpstr>
      <vt:lpstr>Bile acid malabsorption (BAM)</vt:lpstr>
      <vt:lpstr>Bile Acid Malabsorption (BAM)</vt:lpstr>
      <vt:lpstr>Bile Acid Malabsorption (BAM)</vt:lpstr>
      <vt:lpstr>Bile Acid Malabsorption (BAM)</vt:lpstr>
      <vt:lpstr>Differentials for Secretory Chronic Diarrhea</vt:lpstr>
      <vt:lpstr>Chronic fatty diarrhea</vt:lpstr>
      <vt:lpstr>PowerPoint Presentation</vt:lpstr>
      <vt:lpstr>Chronic fatty diarrhea</vt:lpstr>
      <vt:lpstr>Chronic fatty diarrhea</vt:lpstr>
      <vt:lpstr>Chronic fatty diarrhea</vt:lpstr>
      <vt:lpstr>Chronic fatty diarrhea</vt:lpstr>
      <vt:lpstr>Chronic fatty diarrhea</vt:lpstr>
      <vt:lpstr>Chronic fatty diarrhea</vt:lpstr>
      <vt:lpstr>Differentials for Fatty Chronic Diarrhea</vt:lpstr>
      <vt:lpstr>Can you just give us an algorithm for chronic diarrhea?</vt:lpstr>
      <vt:lpstr>Further evaluation of chronic diarrhea</vt:lpstr>
      <vt:lpstr>Further evaluation of chronic diarrhea</vt:lpstr>
      <vt:lpstr>Further evaluation of chronic diarrhea</vt:lpstr>
      <vt:lpstr>Further evaluation of chronic diarrhea</vt:lpstr>
      <vt:lpstr>Specific Small Bowel Diseases</vt:lpstr>
      <vt:lpstr>Specific Small Bowel Diseases</vt:lpstr>
      <vt:lpstr>Medication-induced enteropathy</vt:lpstr>
      <vt:lpstr>Medication-induced enteropathy</vt:lpstr>
      <vt:lpstr>Medication-induced enteropathy</vt:lpstr>
      <vt:lpstr>Medication-induced enteropathy</vt:lpstr>
      <vt:lpstr>Autoimmune enteropathy (AIE)</vt:lpstr>
      <vt:lpstr>Autoimmune enteropathy (AIE)</vt:lpstr>
      <vt:lpstr>Autoimmune enteropathy (AIE)</vt:lpstr>
      <vt:lpstr>Autoimmune enteropathy (AIE)</vt:lpstr>
      <vt:lpstr>Autoimmune enteropathy (AIE)</vt:lpstr>
      <vt:lpstr>Small intestinal bacterial overgrowth (SIBO)</vt:lpstr>
      <vt:lpstr>Small intestinal bacterial overgrowth (SIBO)</vt:lpstr>
      <vt:lpstr>Small intestinal bacterial overgrowth (SIBO)</vt:lpstr>
      <vt:lpstr>Small intestinal bacterial overgrowth (SIBO)</vt:lpstr>
      <vt:lpstr>Small intestinal bacterial overgrowth (SIBO)</vt:lpstr>
      <vt:lpstr>Small intestinal bacterial overgrowth (SIBO)</vt:lpstr>
      <vt:lpstr>Small intestinal bacterial overgrowth (SIBO)</vt:lpstr>
      <vt:lpstr>Small intestinal bacterial overgrowth (SIBO)</vt:lpstr>
      <vt:lpstr>Treatment of diarrhea</vt:lpstr>
      <vt:lpstr>Treatment of diarrhea</vt:lpstr>
      <vt:lpstr>Empirical therapy for chronic diarrhea</vt:lpstr>
      <vt:lpstr>Nonspecific antidiarrheal agents</vt:lpstr>
      <vt:lpstr>Take-home points</vt:lpstr>
      <vt:lpstr>Thank you  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Mohammad Almeqdadi</dc:creator>
  <cp:lastModifiedBy>Mohammad Almeqdadi</cp:lastModifiedBy>
  <cp:revision>418</cp:revision>
  <dcterms:created xsi:type="dcterms:W3CDTF">2020-12-05T13:27:14Z</dcterms:created>
  <dcterms:modified xsi:type="dcterms:W3CDTF">2020-12-15T01:42:08Z</dcterms:modified>
</cp:coreProperties>
</file>