
<file path=[Content_Types].xml><?xml version="1.0" encoding="utf-8"?>
<Types xmlns="http://schemas.openxmlformats.org/package/2006/content-types">
  <Default Extension="gif" ContentType="image/gif"/>
  <Default Extension="jpeg" ContentType="image/jpeg"/>
  <Default Extension="mp3" ContentType="audio/m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3" r:id="rId17"/>
    <p:sldId id="272" r:id="rId18"/>
    <p:sldId id="274" r:id="rId19"/>
    <p:sldId id="354" r:id="rId20"/>
    <p:sldId id="271" r:id="rId21"/>
    <p:sldId id="275" r:id="rId22"/>
    <p:sldId id="276" r:id="rId23"/>
    <p:sldId id="277" r:id="rId24"/>
    <p:sldId id="331" r:id="rId25"/>
    <p:sldId id="352" r:id="rId26"/>
    <p:sldId id="353" r:id="rId27"/>
    <p:sldId id="332" r:id="rId28"/>
    <p:sldId id="350" r:id="rId29"/>
    <p:sldId id="351" r:id="rId30"/>
    <p:sldId id="282" r:id="rId31"/>
    <p:sldId id="283" r:id="rId32"/>
    <p:sldId id="335" r:id="rId33"/>
    <p:sldId id="278" r:id="rId34"/>
    <p:sldId id="355" r:id="rId35"/>
    <p:sldId id="356" r:id="rId36"/>
    <p:sldId id="357" r:id="rId37"/>
    <p:sldId id="364" r:id="rId38"/>
    <p:sldId id="358" r:id="rId39"/>
    <p:sldId id="365" r:id="rId40"/>
    <p:sldId id="360" r:id="rId41"/>
    <p:sldId id="359" r:id="rId42"/>
    <p:sldId id="361" r:id="rId43"/>
    <p:sldId id="362" r:id="rId44"/>
    <p:sldId id="36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BEC1"/>
    <a:srgbClr val="0041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81"/>
  </p:normalViewPr>
  <p:slideViewPr>
    <p:cSldViewPr snapToGrid="0">
      <p:cViewPr>
        <p:scale>
          <a:sx n="92" d="100"/>
          <a:sy n="92" d="100"/>
        </p:scale>
        <p:origin x="-96"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7B8E26-A625-EE4B-AC9F-A1111F52EBF7}" type="datetimeFigureOut">
              <a:rPr lang="en-US" smtClean="0"/>
              <a:t>5/13/25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756B70-87E0-9A40-963E-7B54DD4543BA}" type="slidenum">
              <a:rPr lang="en-US" smtClean="0"/>
              <a:t>‹#›</a:t>
            </a:fld>
            <a:endParaRPr lang="en-US"/>
          </a:p>
        </p:txBody>
      </p:sp>
    </p:spTree>
    <p:extLst>
      <p:ext uri="{BB962C8B-B14F-4D97-AF65-F5344CB8AC3E}">
        <p14:creationId xmlns:p14="http://schemas.microsoft.com/office/powerpoint/2010/main" val="2869264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E7736-D2E5-B19C-43C3-BA6199775E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D69F72-CF06-892C-1109-A9AA06200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395200-FF67-933E-43ED-260EDE7C7060}"/>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5" name="Footer Placeholder 4">
            <a:extLst>
              <a:ext uri="{FF2B5EF4-FFF2-40B4-BE49-F238E27FC236}">
                <a16:creationId xmlns:a16="http://schemas.microsoft.com/office/drawing/2014/main" id="{4AF05163-FD94-EB2A-E69D-9D63D7371D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5A493-DA68-8C3B-445A-D0E4D05E5794}"/>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3652006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716DF-5F01-E2D8-0E14-AD1A93D46C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5B2905-3482-6568-EA3D-3B43056908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022D2E-9B8B-BE7B-F72C-2847BA72E40E}"/>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5" name="Footer Placeholder 4">
            <a:extLst>
              <a:ext uri="{FF2B5EF4-FFF2-40B4-BE49-F238E27FC236}">
                <a16:creationId xmlns:a16="http://schemas.microsoft.com/office/drawing/2014/main" id="{A3C52B2D-C1F1-9EC6-C833-6AB508A6B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50D094-C766-3F51-E4CA-A01CCC9D5C20}"/>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390368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7EB04-C97B-BF1B-C28D-0D33526DEB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7B0C55-9BB2-C0FC-F880-2476F19F82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A55AB3-5C2B-CE83-BDDB-7A10F9E9AD64}"/>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5" name="Footer Placeholder 4">
            <a:extLst>
              <a:ext uri="{FF2B5EF4-FFF2-40B4-BE49-F238E27FC236}">
                <a16:creationId xmlns:a16="http://schemas.microsoft.com/office/drawing/2014/main" id="{E618BBB8-CDA9-2F9E-F1E9-89E26F52A4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9CE382-F1A4-11F2-6FAC-361EEE917DBB}"/>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383771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04B18-FB46-8989-F0AD-79CD35AA56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3AA2F-639D-D8D4-9BDF-A93A8632E1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CF1FCA-0050-5FE6-113D-B895DB1647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DCDBE8-2566-F9CD-E57B-59B0C58E6558}"/>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6" name="Footer Placeholder 5">
            <a:extLst>
              <a:ext uri="{FF2B5EF4-FFF2-40B4-BE49-F238E27FC236}">
                <a16:creationId xmlns:a16="http://schemas.microsoft.com/office/drawing/2014/main" id="{AD6E435B-82D1-2D4D-B18C-C318400F4C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8118DD-C1C8-44E7-1F0F-BFFDAC1E4E6A}"/>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3419424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D94AE-9FEB-DC93-BF27-28A7644565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804D0D-2CAB-FDDF-D328-31E08EE6C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47A93E-7AFE-90F6-DF13-A64DD4A097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A040B6-B876-A726-8C17-BE433FDB90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F70117-4DF9-A8E2-4057-9D68F733FC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9E7377-82BA-1840-E84A-BDAF527D5B37}"/>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8" name="Footer Placeholder 7">
            <a:extLst>
              <a:ext uri="{FF2B5EF4-FFF2-40B4-BE49-F238E27FC236}">
                <a16:creationId xmlns:a16="http://schemas.microsoft.com/office/drawing/2014/main" id="{F7718BBF-973B-D325-038E-BBD1B9F921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1F335D-2112-C60B-9A9B-50E7A478CC37}"/>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2899903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9EE8-A4FF-6177-5ADE-4E7D580154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2B2C19-4BAB-C666-4D77-C884A6BEECDD}"/>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4" name="Footer Placeholder 3">
            <a:extLst>
              <a:ext uri="{FF2B5EF4-FFF2-40B4-BE49-F238E27FC236}">
                <a16:creationId xmlns:a16="http://schemas.microsoft.com/office/drawing/2014/main" id="{85E7AF93-BF89-6602-C747-E4C026C87D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B3D323-5205-7EE9-694A-C4AF1C7FC68C}"/>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3416964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BFC2DA-A7C4-1EAC-60C0-A4098E0877AA}"/>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3" name="Footer Placeholder 2">
            <a:extLst>
              <a:ext uri="{FF2B5EF4-FFF2-40B4-BE49-F238E27FC236}">
                <a16:creationId xmlns:a16="http://schemas.microsoft.com/office/drawing/2014/main" id="{FA1BB1C2-E626-0D03-6E29-5D57F503C5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23E932-B8DB-507A-DF9D-14C73CD92FFA}"/>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379457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3EBA7-18C6-FE4D-D787-91B5169728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FCAECC-DA67-95E1-982A-DD118D27D4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409C76-3246-A58F-5E56-0A87C134A7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BF1F38-6437-98C2-4FCE-B2769A0597EC}"/>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6" name="Footer Placeholder 5">
            <a:extLst>
              <a:ext uri="{FF2B5EF4-FFF2-40B4-BE49-F238E27FC236}">
                <a16:creationId xmlns:a16="http://schemas.microsoft.com/office/drawing/2014/main" id="{F851AE2C-D985-0C22-8320-E5174D43EB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351F7-AB69-00C6-3794-351CF5D45E89}"/>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2972600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F369B-A0FA-892C-610F-52E15A8F77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04FB3F-6EAA-F2A4-4051-E780E19A6D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250947-57F6-5C13-7CB1-E8D16B4FF2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0B42F3-CC8A-E8BA-F063-C9FD3538022A}"/>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6" name="Footer Placeholder 5">
            <a:extLst>
              <a:ext uri="{FF2B5EF4-FFF2-40B4-BE49-F238E27FC236}">
                <a16:creationId xmlns:a16="http://schemas.microsoft.com/office/drawing/2014/main" id="{9D78A374-89E9-5FE6-8FBE-E9F441708F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43D499-DFAA-390E-01BA-989728F0F42F}"/>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248879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7F133-BF9C-A0A9-6165-0CDD8E3EAC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3173D3-5484-EAAB-3E5B-CD4ED8E6A0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814C8A-B985-66D7-5925-D36B3D643509}"/>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5" name="Footer Placeholder 4">
            <a:extLst>
              <a:ext uri="{FF2B5EF4-FFF2-40B4-BE49-F238E27FC236}">
                <a16:creationId xmlns:a16="http://schemas.microsoft.com/office/drawing/2014/main" id="{3341BFFC-A326-6005-3A1B-306FCF44F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1BC38-7107-D577-F989-EE3008086FA7}"/>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1343125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E7E398-F8A6-D523-496C-7AB9BEF962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4F3460-692C-FE47-7A46-2E06ADA554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2BCC7-C6D2-D96C-D616-C9A8F8E9192D}"/>
              </a:ext>
            </a:extLst>
          </p:cNvPr>
          <p:cNvSpPr>
            <a:spLocks noGrp="1"/>
          </p:cNvSpPr>
          <p:nvPr>
            <p:ph type="dt" sz="half" idx="10"/>
          </p:nvPr>
        </p:nvSpPr>
        <p:spPr/>
        <p:txBody>
          <a:bodyPr/>
          <a:lstStyle/>
          <a:p>
            <a:fld id="{DD7FC736-2651-4640-8589-F3849B4B961C}" type="datetimeFigureOut">
              <a:rPr lang="en-US" smtClean="0"/>
              <a:t>5/13/25</a:t>
            </a:fld>
            <a:endParaRPr lang="en-US"/>
          </a:p>
        </p:txBody>
      </p:sp>
      <p:sp>
        <p:nvSpPr>
          <p:cNvPr id="5" name="Footer Placeholder 4">
            <a:extLst>
              <a:ext uri="{FF2B5EF4-FFF2-40B4-BE49-F238E27FC236}">
                <a16:creationId xmlns:a16="http://schemas.microsoft.com/office/drawing/2014/main" id="{F68FD828-222B-5E66-0CFF-0B121B62F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D171AA-7ADF-57BF-FEEF-4B8687E52169}"/>
              </a:ext>
            </a:extLst>
          </p:cNvPr>
          <p:cNvSpPr>
            <a:spLocks noGrp="1"/>
          </p:cNvSpPr>
          <p:nvPr>
            <p:ph type="sldNum" sz="quarter" idx="12"/>
          </p:nvPr>
        </p:nvSpPr>
        <p:spPr/>
        <p:txBody>
          <a:bodyPr/>
          <a:lstStyle/>
          <a:p>
            <a:fld id="{E6B78FEC-B996-6843-B87D-E8A41702CE61}" type="slidenum">
              <a:rPr lang="en-US" smtClean="0"/>
              <a:t>‹#›</a:t>
            </a:fld>
            <a:endParaRPr lang="en-US"/>
          </a:p>
        </p:txBody>
      </p:sp>
    </p:spTree>
    <p:extLst>
      <p:ext uri="{BB962C8B-B14F-4D97-AF65-F5344CB8AC3E}">
        <p14:creationId xmlns:p14="http://schemas.microsoft.com/office/powerpoint/2010/main" val="3490299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3B7A14-F0F7-9809-E15E-B4177820E7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EF98AA-B56B-8D9E-0E50-630A9D813B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607E8-BDAE-40EC-DEAC-3B39214DFA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7FC736-2651-4640-8589-F3849B4B961C}" type="datetimeFigureOut">
              <a:rPr lang="en-US" smtClean="0"/>
              <a:t>5/13/25</a:t>
            </a:fld>
            <a:endParaRPr lang="en-US"/>
          </a:p>
        </p:txBody>
      </p:sp>
      <p:sp>
        <p:nvSpPr>
          <p:cNvPr id="5" name="Footer Placeholder 4">
            <a:extLst>
              <a:ext uri="{FF2B5EF4-FFF2-40B4-BE49-F238E27FC236}">
                <a16:creationId xmlns:a16="http://schemas.microsoft.com/office/drawing/2014/main" id="{11821F13-B33C-C897-9AC3-19330B6E68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8540BB-DE58-E087-A847-B32569A692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B78FEC-B996-6843-B87D-E8A41702CE61}" type="slidenum">
              <a:rPr lang="en-US" smtClean="0"/>
              <a:t>‹#›</a:t>
            </a:fld>
            <a:endParaRPr lang="en-US"/>
          </a:p>
        </p:txBody>
      </p:sp>
    </p:spTree>
    <p:extLst>
      <p:ext uri="{BB962C8B-B14F-4D97-AF65-F5344CB8AC3E}">
        <p14:creationId xmlns:p14="http://schemas.microsoft.com/office/powerpoint/2010/main" val="186481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E6FF-A258-14FB-ADE4-3E1056842AE5}"/>
              </a:ext>
            </a:extLst>
          </p:cNvPr>
          <p:cNvSpPr>
            <a:spLocks noGrp="1"/>
          </p:cNvSpPr>
          <p:nvPr>
            <p:ph type="ctrTitle"/>
          </p:nvPr>
        </p:nvSpPr>
        <p:spPr/>
        <p:txBody>
          <a:bodyPr/>
          <a:lstStyle/>
          <a:p>
            <a:r>
              <a:rPr lang="en-US" dirty="0"/>
              <a:t>GI Board Review</a:t>
            </a:r>
          </a:p>
        </p:txBody>
      </p:sp>
      <p:sp>
        <p:nvSpPr>
          <p:cNvPr id="3" name="Subtitle 2">
            <a:extLst>
              <a:ext uri="{FF2B5EF4-FFF2-40B4-BE49-F238E27FC236}">
                <a16:creationId xmlns:a16="http://schemas.microsoft.com/office/drawing/2014/main" id="{FA7F7A3D-B8BE-847D-00C2-AB8B8F00C5CD}"/>
              </a:ext>
            </a:extLst>
          </p:cNvPr>
          <p:cNvSpPr>
            <a:spLocks noGrp="1"/>
          </p:cNvSpPr>
          <p:nvPr>
            <p:ph type="subTitle" idx="1"/>
          </p:nvPr>
        </p:nvSpPr>
        <p:spPr/>
        <p:txBody>
          <a:bodyPr/>
          <a:lstStyle/>
          <a:p>
            <a:r>
              <a:rPr lang="en-US" dirty="0"/>
              <a:t>5/13/2025</a:t>
            </a:r>
          </a:p>
          <a:p>
            <a:r>
              <a:rPr lang="en-US" dirty="0"/>
              <a:t>Mohammad Almeqdadi, MD</a:t>
            </a:r>
          </a:p>
        </p:txBody>
      </p:sp>
    </p:spTree>
    <p:extLst>
      <p:ext uri="{BB962C8B-B14F-4D97-AF65-F5344CB8AC3E}">
        <p14:creationId xmlns:p14="http://schemas.microsoft.com/office/powerpoint/2010/main" val="4196007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F9C529-3BAA-7400-EE48-457B811F1EAA}"/>
              </a:ext>
            </a:extLst>
          </p:cNvPr>
          <p:cNvPicPr>
            <a:picLocks noChangeAspect="1"/>
          </p:cNvPicPr>
          <p:nvPr/>
        </p:nvPicPr>
        <p:blipFill>
          <a:blip r:embed="rId2"/>
          <a:stretch>
            <a:fillRect/>
          </a:stretch>
        </p:blipFill>
        <p:spPr>
          <a:xfrm>
            <a:off x="2209800" y="356093"/>
            <a:ext cx="7772400" cy="6145813"/>
          </a:xfrm>
          <a:prstGeom prst="rect">
            <a:avLst/>
          </a:prstGeom>
        </p:spPr>
      </p:pic>
    </p:spTree>
    <p:extLst>
      <p:ext uri="{BB962C8B-B14F-4D97-AF65-F5344CB8AC3E}">
        <p14:creationId xmlns:p14="http://schemas.microsoft.com/office/powerpoint/2010/main" val="2343561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0C6204-5156-2706-45DB-D895B365DF9B}"/>
              </a:ext>
            </a:extLst>
          </p:cNvPr>
          <p:cNvPicPr>
            <a:picLocks noChangeAspect="1"/>
          </p:cNvPicPr>
          <p:nvPr/>
        </p:nvPicPr>
        <p:blipFill>
          <a:blip r:embed="rId2"/>
          <a:stretch>
            <a:fillRect/>
          </a:stretch>
        </p:blipFill>
        <p:spPr>
          <a:xfrm>
            <a:off x="2209800" y="62521"/>
            <a:ext cx="7772400" cy="6732958"/>
          </a:xfrm>
          <a:prstGeom prst="rect">
            <a:avLst/>
          </a:prstGeom>
        </p:spPr>
      </p:pic>
    </p:spTree>
    <p:extLst>
      <p:ext uri="{BB962C8B-B14F-4D97-AF65-F5344CB8AC3E}">
        <p14:creationId xmlns:p14="http://schemas.microsoft.com/office/powerpoint/2010/main" val="1504871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76972D-E1B9-9485-82D7-E05D730D61FE}"/>
              </a:ext>
            </a:extLst>
          </p:cNvPr>
          <p:cNvPicPr>
            <a:picLocks noChangeAspect="1"/>
          </p:cNvPicPr>
          <p:nvPr/>
        </p:nvPicPr>
        <p:blipFill>
          <a:blip r:embed="rId2"/>
          <a:stretch>
            <a:fillRect/>
          </a:stretch>
        </p:blipFill>
        <p:spPr>
          <a:xfrm>
            <a:off x="992918" y="994229"/>
            <a:ext cx="10206164" cy="4869542"/>
          </a:xfrm>
          <a:prstGeom prst="rect">
            <a:avLst/>
          </a:prstGeom>
        </p:spPr>
      </p:pic>
    </p:spTree>
    <p:extLst>
      <p:ext uri="{BB962C8B-B14F-4D97-AF65-F5344CB8AC3E}">
        <p14:creationId xmlns:p14="http://schemas.microsoft.com/office/powerpoint/2010/main" val="1351829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brovascular polyp of the hypopharynx | Annals of Saudi Medicine">
            <a:extLst>
              <a:ext uri="{FF2B5EF4-FFF2-40B4-BE49-F238E27FC236}">
                <a16:creationId xmlns:a16="http://schemas.microsoft.com/office/drawing/2014/main" id="{9DF9CAC1-4E94-F09F-FF50-5090225CA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95160"/>
            <a:ext cx="5488549" cy="446767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66C9628-9508-5667-E555-04DDAC442B7A}"/>
              </a:ext>
            </a:extLst>
          </p:cNvPr>
          <p:cNvPicPr>
            <a:picLocks noChangeAspect="1"/>
          </p:cNvPicPr>
          <p:nvPr/>
        </p:nvPicPr>
        <p:blipFill>
          <a:blip r:embed="rId3"/>
          <a:stretch>
            <a:fillRect/>
          </a:stretch>
        </p:blipFill>
        <p:spPr>
          <a:xfrm>
            <a:off x="4419600" y="492663"/>
            <a:ext cx="7772400" cy="5872672"/>
          </a:xfrm>
          <a:prstGeom prst="rect">
            <a:avLst/>
          </a:prstGeom>
        </p:spPr>
      </p:pic>
    </p:spTree>
    <p:extLst>
      <p:ext uri="{BB962C8B-B14F-4D97-AF65-F5344CB8AC3E}">
        <p14:creationId xmlns:p14="http://schemas.microsoft.com/office/powerpoint/2010/main" val="708714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113FD1-33B8-49DE-366D-563124B78049}"/>
              </a:ext>
            </a:extLst>
          </p:cNvPr>
          <p:cNvPicPr>
            <a:picLocks noChangeAspect="1"/>
          </p:cNvPicPr>
          <p:nvPr/>
        </p:nvPicPr>
        <p:blipFill>
          <a:blip r:embed="rId2"/>
          <a:stretch>
            <a:fillRect/>
          </a:stretch>
        </p:blipFill>
        <p:spPr>
          <a:xfrm>
            <a:off x="438809" y="805542"/>
            <a:ext cx="11314382" cy="5246916"/>
          </a:xfrm>
          <a:prstGeom prst="rect">
            <a:avLst/>
          </a:prstGeom>
        </p:spPr>
      </p:pic>
    </p:spTree>
    <p:extLst>
      <p:ext uri="{BB962C8B-B14F-4D97-AF65-F5344CB8AC3E}">
        <p14:creationId xmlns:p14="http://schemas.microsoft.com/office/powerpoint/2010/main" val="383034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BE3072-8C45-69DE-2022-64D6BEAFBFEC}"/>
              </a:ext>
            </a:extLst>
          </p:cNvPr>
          <p:cNvPicPr>
            <a:picLocks noChangeAspect="1"/>
          </p:cNvPicPr>
          <p:nvPr/>
        </p:nvPicPr>
        <p:blipFill>
          <a:blip r:embed="rId2"/>
          <a:stretch>
            <a:fillRect/>
          </a:stretch>
        </p:blipFill>
        <p:spPr>
          <a:xfrm>
            <a:off x="2295612" y="121255"/>
            <a:ext cx="7600776" cy="6615490"/>
          </a:xfrm>
          <a:prstGeom prst="rect">
            <a:avLst/>
          </a:prstGeom>
        </p:spPr>
      </p:pic>
    </p:spTree>
    <p:extLst>
      <p:ext uri="{BB962C8B-B14F-4D97-AF65-F5344CB8AC3E}">
        <p14:creationId xmlns:p14="http://schemas.microsoft.com/office/powerpoint/2010/main" val="195743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25535C-0800-D14D-B9D9-F0A7FC24F3AC}"/>
              </a:ext>
            </a:extLst>
          </p:cNvPr>
          <p:cNvPicPr>
            <a:picLocks noChangeAspect="1"/>
          </p:cNvPicPr>
          <p:nvPr/>
        </p:nvPicPr>
        <p:blipFill>
          <a:blip r:embed="rId2"/>
          <a:stretch>
            <a:fillRect/>
          </a:stretch>
        </p:blipFill>
        <p:spPr>
          <a:xfrm>
            <a:off x="1190228" y="450158"/>
            <a:ext cx="9811543" cy="4296014"/>
          </a:xfrm>
          <a:prstGeom prst="rect">
            <a:avLst/>
          </a:prstGeom>
        </p:spPr>
      </p:pic>
      <p:pic>
        <p:nvPicPr>
          <p:cNvPr id="3" name="Picture 2">
            <a:extLst>
              <a:ext uri="{FF2B5EF4-FFF2-40B4-BE49-F238E27FC236}">
                <a16:creationId xmlns:a16="http://schemas.microsoft.com/office/drawing/2014/main" id="{9A411D9B-C2C8-5EEB-703B-D85807F1B6A4}"/>
              </a:ext>
            </a:extLst>
          </p:cNvPr>
          <p:cNvPicPr>
            <a:picLocks noChangeAspect="1"/>
          </p:cNvPicPr>
          <p:nvPr/>
        </p:nvPicPr>
        <p:blipFill>
          <a:blip r:embed="rId3"/>
          <a:stretch>
            <a:fillRect/>
          </a:stretch>
        </p:blipFill>
        <p:spPr>
          <a:xfrm>
            <a:off x="7319736" y="1926772"/>
            <a:ext cx="4025900" cy="3759200"/>
          </a:xfrm>
          <a:prstGeom prst="rect">
            <a:avLst/>
          </a:prstGeom>
        </p:spPr>
      </p:pic>
    </p:spTree>
    <p:extLst>
      <p:ext uri="{BB962C8B-B14F-4D97-AF65-F5344CB8AC3E}">
        <p14:creationId xmlns:p14="http://schemas.microsoft.com/office/powerpoint/2010/main" val="4255159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7F9C9F-CC86-D6E6-030A-803A37DB0917}"/>
              </a:ext>
            </a:extLst>
          </p:cNvPr>
          <p:cNvPicPr>
            <a:picLocks noChangeAspect="1"/>
          </p:cNvPicPr>
          <p:nvPr/>
        </p:nvPicPr>
        <p:blipFill>
          <a:blip r:embed="rId2"/>
          <a:stretch>
            <a:fillRect/>
          </a:stretch>
        </p:blipFill>
        <p:spPr>
          <a:xfrm>
            <a:off x="2209800" y="101137"/>
            <a:ext cx="7772400" cy="6655726"/>
          </a:xfrm>
          <a:prstGeom prst="rect">
            <a:avLst/>
          </a:prstGeom>
        </p:spPr>
      </p:pic>
    </p:spTree>
    <p:extLst>
      <p:ext uri="{BB962C8B-B14F-4D97-AF65-F5344CB8AC3E}">
        <p14:creationId xmlns:p14="http://schemas.microsoft.com/office/powerpoint/2010/main" val="2709691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1F0ADD-AF87-D804-AF10-DE1F69BCF5D4}"/>
              </a:ext>
            </a:extLst>
          </p:cNvPr>
          <p:cNvPicPr>
            <a:picLocks noChangeAspect="1"/>
          </p:cNvPicPr>
          <p:nvPr/>
        </p:nvPicPr>
        <p:blipFill>
          <a:blip r:embed="rId2"/>
          <a:stretch>
            <a:fillRect/>
          </a:stretch>
        </p:blipFill>
        <p:spPr>
          <a:xfrm>
            <a:off x="1785257" y="231497"/>
            <a:ext cx="8621486" cy="6395006"/>
          </a:xfrm>
          <a:prstGeom prst="rect">
            <a:avLst/>
          </a:prstGeom>
        </p:spPr>
      </p:pic>
    </p:spTree>
    <p:extLst>
      <p:ext uri="{BB962C8B-B14F-4D97-AF65-F5344CB8AC3E}">
        <p14:creationId xmlns:p14="http://schemas.microsoft.com/office/powerpoint/2010/main" val="530704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A32E9C-F1FD-FD0A-35DB-C2D2E692D035}"/>
              </a:ext>
            </a:extLst>
          </p:cNvPr>
          <p:cNvPicPr>
            <a:picLocks noChangeAspect="1"/>
          </p:cNvPicPr>
          <p:nvPr/>
        </p:nvPicPr>
        <p:blipFill>
          <a:blip r:embed="rId2"/>
          <a:stretch>
            <a:fillRect/>
          </a:stretch>
        </p:blipFill>
        <p:spPr>
          <a:xfrm>
            <a:off x="1159886" y="341085"/>
            <a:ext cx="9872228" cy="6175830"/>
          </a:xfrm>
          <a:prstGeom prst="rect">
            <a:avLst/>
          </a:prstGeom>
        </p:spPr>
      </p:pic>
    </p:spTree>
    <p:extLst>
      <p:ext uri="{BB962C8B-B14F-4D97-AF65-F5344CB8AC3E}">
        <p14:creationId xmlns:p14="http://schemas.microsoft.com/office/powerpoint/2010/main" val="1777503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7EB2D5-9B22-230E-4AB8-E431973BED01}"/>
              </a:ext>
            </a:extLst>
          </p:cNvPr>
          <p:cNvPicPr>
            <a:picLocks noChangeAspect="1"/>
          </p:cNvPicPr>
          <p:nvPr/>
        </p:nvPicPr>
        <p:blipFill>
          <a:blip r:embed="rId2"/>
          <a:stretch>
            <a:fillRect/>
          </a:stretch>
        </p:blipFill>
        <p:spPr>
          <a:xfrm>
            <a:off x="1892909" y="210457"/>
            <a:ext cx="8406182" cy="6437086"/>
          </a:xfrm>
          <a:prstGeom prst="rect">
            <a:avLst/>
          </a:prstGeom>
        </p:spPr>
      </p:pic>
    </p:spTree>
    <p:extLst>
      <p:ext uri="{BB962C8B-B14F-4D97-AF65-F5344CB8AC3E}">
        <p14:creationId xmlns:p14="http://schemas.microsoft.com/office/powerpoint/2010/main" val="248236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108D2F-645E-A43B-0069-882C7B19C535}"/>
              </a:ext>
            </a:extLst>
          </p:cNvPr>
          <p:cNvPicPr>
            <a:picLocks noChangeAspect="1"/>
          </p:cNvPicPr>
          <p:nvPr/>
        </p:nvPicPr>
        <p:blipFill>
          <a:blip r:embed="rId2"/>
          <a:stretch>
            <a:fillRect/>
          </a:stretch>
        </p:blipFill>
        <p:spPr>
          <a:xfrm>
            <a:off x="2209800" y="446453"/>
            <a:ext cx="7772400" cy="5965094"/>
          </a:xfrm>
          <a:prstGeom prst="rect">
            <a:avLst/>
          </a:prstGeom>
        </p:spPr>
      </p:pic>
    </p:spTree>
    <p:extLst>
      <p:ext uri="{BB962C8B-B14F-4D97-AF65-F5344CB8AC3E}">
        <p14:creationId xmlns:p14="http://schemas.microsoft.com/office/powerpoint/2010/main" val="1750171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D7E304C-F48C-D760-6360-0806395235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77"/>
            <a:ext cx="12192000" cy="6862354"/>
          </a:xfrm>
          <a:prstGeom prst="rect">
            <a:avLst/>
          </a:prstGeom>
          <a:noFill/>
          <a:extLst>
            <a:ext uri="{909E8E84-426E-40DD-AFC4-6F175D3DCCD1}">
              <a14:hiddenFill xmlns:a14="http://schemas.microsoft.com/office/drawing/2010/main">
                <a:solidFill>
                  <a:srgbClr val="FFFFFF"/>
                </a:solidFill>
              </a14:hiddenFill>
            </a:ext>
          </a:extLst>
        </p:spPr>
      </p:pic>
      <p:pic>
        <p:nvPicPr>
          <p:cNvPr id="2" name="jeopardy-daily-double-sound-effect-from-youtube_76mCCAq">
            <a:hlinkClick r:id="" action="ppaction://media"/>
            <a:extLst>
              <a:ext uri="{FF2B5EF4-FFF2-40B4-BE49-F238E27FC236}">
                <a16:creationId xmlns:a16="http://schemas.microsoft.com/office/drawing/2014/main" id="{447EA8DF-1476-7DB0-DD10-A74C0F0BA7E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938" y="6350"/>
            <a:ext cx="812800" cy="812800"/>
          </a:xfrm>
          <a:prstGeom prst="rect">
            <a:avLst/>
          </a:prstGeom>
        </p:spPr>
      </p:pic>
    </p:spTree>
    <p:extLst>
      <p:ext uri="{BB962C8B-B14F-4D97-AF65-F5344CB8AC3E}">
        <p14:creationId xmlns:p14="http://schemas.microsoft.com/office/powerpoint/2010/main" val="234096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0143B"/>
            </a:gs>
            <a:gs pos="0">
              <a:srgbClr val="0041C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Google Shape;277;p18">
            <a:extLst>
              <a:ext uri="{FF2B5EF4-FFF2-40B4-BE49-F238E27FC236}">
                <a16:creationId xmlns:a16="http://schemas.microsoft.com/office/drawing/2014/main" id="{57B1FD34-BAF1-C3E5-90C1-2BB357FF0623}"/>
              </a:ext>
            </a:extLst>
          </p:cNvPr>
          <p:cNvSpPr txBox="1">
            <a:spLocks/>
          </p:cNvSpPr>
          <p:nvPr/>
        </p:nvSpPr>
        <p:spPr>
          <a:xfrm>
            <a:off x="1032075" y="966325"/>
            <a:ext cx="10458518" cy="5269222"/>
          </a:xfrm>
          <a:prstGeom prst="rect">
            <a:avLst/>
          </a:prstGeom>
          <a:noFill/>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chemeClr val="bg1"/>
                </a:solidFill>
                <a:effectLst>
                  <a:outerShdw blurRad="344355" dist="38100" dir="2700000" algn="tl" rotWithShape="0">
                    <a:prstClr val="black"/>
                  </a:outerShdw>
                </a:effectLst>
                <a:latin typeface="Della Respira" panose="02000603000000000000" pitchFamily="2" charset="0"/>
              </a:rPr>
              <a:t>AN AUTOSOMAL DOMINANT DISORDER, FEATURING HAMARTOMATOUS POLYPS THROUGHOUT THE GI TRACT AND MUCOCUTANEOUS LESIONS (HANDS, FEET, FACE) IN 90% OF PATIENTS.</a:t>
            </a:r>
          </a:p>
        </p:txBody>
      </p:sp>
    </p:spTree>
    <p:extLst>
      <p:ext uri="{BB962C8B-B14F-4D97-AF65-F5344CB8AC3E}">
        <p14:creationId xmlns:p14="http://schemas.microsoft.com/office/powerpoint/2010/main" val="337346277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0143B"/>
            </a:gs>
            <a:gs pos="0">
              <a:srgbClr val="0041C4"/>
            </a:gs>
          </a:gsLst>
          <a:path path="circle">
            <a:fillToRect l="50000" t="50000" r="50000" b="50000"/>
          </a:path>
          <a:tileRect/>
        </a:gradFill>
        <a:effectLst/>
      </p:bgPr>
    </p:bg>
    <p:spTree>
      <p:nvGrpSpPr>
        <p:cNvPr id="1" name="">
          <a:extLst>
            <a:ext uri="{FF2B5EF4-FFF2-40B4-BE49-F238E27FC236}">
              <a16:creationId xmlns:a16="http://schemas.microsoft.com/office/drawing/2014/main" id="{536B1E4A-8EFE-1DED-5789-F67C7D9242F2}"/>
            </a:ext>
          </a:extLst>
        </p:cNvPr>
        <p:cNvGrpSpPr/>
        <p:nvPr/>
      </p:nvGrpSpPr>
      <p:grpSpPr>
        <a:xfrm>
          <a:off x="0" y="0"/>
          <a:ext cx="0" cy="0"/>
          <a:chOff x="0" y="0"/>
          <a:chExt cx="0" cy="0"/>
        </a:xfrm>
      </p:grpSpPr>
      <p:sp>
        <p:nvSpPr>
          <p:cNvPr id="2" name="Google Shape;277;p18">
            <a:extLst>
              <a:ext uri="{FF2B5EF4-FFF2-40B4-BE49-F238E27FC236}">
                <a16:creationId xmlns:a16="http://schemas.microsoft.com/office/drawing/2014/main" id="{D4B6BE35-2C19-2A89-8D64-63388F910CD7}"/>
              </a:ext>
            </a:extLst>
          </p:cNvPr>
          <p:cNvSpPr txBox="1">
            <a:spLocks/>
          </p:cNvSpPr>
          <p:nvPr/>
        </p:nvSpPr>
        <p:spPr>
          <a:xfrm>
            <a:off x="1032075" y="966325"/>
            <a:ext cx="10458518" cy="5269222"/>
          </a:xfrm>
          <a:prstGeom prst="rect">
            <a:avLst/>
          </a:prstGeom>
          <a:noFill/>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chemeClr val="bg1"/>
                </a:solidFill>
                <a:effectLst>
                  <a:outerShdw blurRad="344355" dist="38100" dir="2700000" algn="tl" rotWithShape="0">
                    <a:prstClr val="black"/>
                  </a:outerShdw>
                </a:effectLst>
                <a:latin typeface="Della Respira" panose="02000603000000000000" pitchFamily="2" charset="0"/>
              </a:rPr>
              <a:t>WHAT IS COWDEN’S SYNDROME?</a:t>
            </a:r>
          </a:p>
        </p:txBody>
      </p:sp>
    </p:spTree>
    <p:extLst>
      <p:ext uri="{BB962C8B-B14F-4D97-AF65-F5344CB8AC3E}">
        <p14:creationId xmlns:p14="http://schemas.microsoft.com/office/powerpoint/2010/main" val="798719821"/>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0143B"/>
            </a:gs>
            <a:gs pos="0">
              <a:srgbClr val="0041C4"/>
            </a:gs>
          </a:gsLst>
          <a:path path="circle">
            <a:fillToRect l="50000" t="50000" r="50000" b="50000"/>
          </a:path>
          <a:tileRect/>
        </a:gradFill>
        <a:effectLst/>
      </p:bgPr>
    </p:bg>
    <p:spTree>
      <p:nvGrpSpPr>
        <p:cNvPr id="1" name="">
          <a:extLst>
            <a:ext uri="{FF2B5EF4-FFF2-40B4-BE49-F238E27FC236}">
              <a16:creationId xmlns:a16="http://schemas.microsoft.com/office/drawing/2014/main" id="{DA4F68DF-13EE-1400-0410-1DD4313EE149}"/>
            </a:ext>
          </a:extLst>
        </p:cNvPr>
        <p:cNvGrpSpPr/>
        <p:nvPr/>
      </p:nvGrpSpPr>
      <p:grpSpPr>
        <a:xfrm>
          <a:off x="0" y="0"/>
          <a:ext cx="0" cy="0"/>
          <a:chOff x="0" y="0"/>
          <a:chExt cx="0" cy="0"/>
        </a:xfrm>
      </p:grpSpPr>
      <p:sp>
        <p:nvSpPr>
          <p:cNvPr id="2" name="Google Shape;277;p18">
            <a:extLst>
              <a:ext uri="{FF2B5EF4-FFF2-40B4-BE49-F238E27FC236}">
                <a16:creationId xmlns:a16="http://schemas.microsoft.com/office/drawing/2014/main" id="{BBBE369D-F35B-BF9E-CEFB-5C31B6F53446}"/>
              </a:ext>
            </a:extLst>
          </p:cNvPr>
          <p:cNvSpPr txBox="1">
            <a:spLocks/>
          </p:cNvSpPr>
          <p:nvPr/>
        </p:nvSpPr>
        <p:spPr>
          <a:xfrm>
            <a:off x="1032075" y="966325"/>
            <a:ext cx="10458518" cy="5269222"/>
          </a:xfrm>
          <a:prstGeom prst="rect">
            <a:avLst/>
          </a:prstGeom>
          <a:noFill/>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chemeClr val="bg1"/>
                </a:solidFill>
                <a:effectLst>
                  <a:outerShdw blurRad="344355" dist="38100" dir="2700000" algn="tl" rotWithShape="0">
                    <a:prstClr val="black"/>
                  </a:outerShdw>
                </a:effectLst>
                <a:latin typeface="Della Respira" panose="02000603000000000000" pitchFamily="2" charset="0"/>
              </a:rPr>
              <a:t>THESE BENIGN FOLLICULAR TUMORS—OFTEN SEEN AS SMALL PAPULES ON THE FACE, HANDS, AND FEET—ARE THE SIGNATURE MUCOCUTANEOUS BUMPS IN COWDEN’S SYNDROME.</a:t>
            </a:r>
          </a:p>
        </p:txBody>
      </p:sp>
    </p:spTree>
    <p:extLst>
      <p:ext uri="{BB962C8B-B14F-4D97-AF65-F5344CB8AC3E}">
        <p14:creationId xmlns:p14="http://schemas.microsoft.com/office/powerpoint/2010/main" val="397805658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0143B"/>
            </a:gs>
            <a:gs pos="0">
              <a:srgbClr val="0041C4"/>
            </a:gs>
          </a:gsLst>
          <a:path path="circle">
            <a:fillToRect l="50000" t="50000" r="50000" b="50000"/>
          </a:path>
          <a:tileRect/>
        </a:gradFill>
        <a:effectLst/>
      </p:bgPr>
    </p:bg>
    <p:spTree>
      <p:nvGrpSpPr>
        <p:cNvPr id="1" name="">
          <a:extLst>
            <a:ext uri="{FF2B5EF4-FFF2-40B4-BE49-F238E27FC236}">
              <a16:creationId xmlns:a16="http://schemas.microsoft.com/office/drawing/2014/main" id="{FF9AA6BB-EB42-E2B1-067F-CA0BC22E5CEB}"/>
            </a:ext>
          </a:extLst>
        </p:cNvPr>
        <p:cNvGrpSpPr/>
        <p:nvPr/>
      </p:nvGrpSpPr>
      <p:grpSpPr>
        <a:xfrm>
          <a:off x="0" y="0"/>
          <a:ext cx="0" cy="0"/>
          <a:chOff x="0" y="0"/>
          <a:chExt cx="0" cy="0"/>
        </a:xfrm>
      </p:grpSpPr>
      <p:sp>
        <p:nvSpPr>
          <p:cNvPr id="2" name="Google Shape;277;p18">
            <a:extLst>
              <a:ext uri="{FF2B5EF4-FFF2-40B4-BE49-F238E27FC236}">
                <a16:creationId xmlns:a16="http://schemas.microsoft.com/office/drawing/2014/main" id="{EB283AFE-07C4-3B3C-F2A2-CE4F39106F8E}"/>
              </a:ext>
            </a:extLst>
          </p:cNvPr>
          <p:cNvSpPr txBox="1">
            <a:spLocks/>
          </p:cNvSpPr>
          <p:nvPr/>
        </p:nvSpPr>
        <p:spPr>
          <a:xfrm>
            <a:off x="1032075" y="966325"/>
            <a:ext cx="10458518" cy="5269222"/>
          </a:xfrm>
          <a:prstGeom prst="rect">
            <a:avLst/>
          </a:prstGeom>
          <a:noFill/>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chemeClr val="bg1"/>
                </a:solidFill>
                <a:effectLst>
                  <a:outerShdw blurRad="344355" dist="38100" dir="2700000" algn="tl" rotWithShape="0">
                    <a:prstClr val="black"/>
                  </a:outerShdw>
                </a:effectLst>
                <a:latin typeface="Della Respira" panose="02000603000000000000" pitchFamily="2" charset="0"/>
              </a:rPr>
              <a:t>WHAT ARE TRICHILEMMOMAS?</a:t>
            </a:r>
          </a:p>
        </p:txBody>
      </p:sp>
    </p:spTree>
    <p:extLst>
      <p:ext uri="{BB962C8B-B14F-4D97-AF65-F5344CB8AC3E}">
        <p14:creationId xmlns:p14="http://schemas.microsoft.com/office/powerpoint/2010/main" val="3699116917"/>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rontiers | PTEN Hamartoma Tumor Syndrome: Skin Manifestations and Insights  Into Their Molecular Pathogenesis">
            <a:extLst>
              <a:ext uri="{FF2B5EF4-FFF2-40B4-BE49-F238E27FC236}">
                <a16:creationId xmlns:a16="http://schemas.microsoft.com/office/drawing/2014/main" id="{F1617EFC-747D-0072-1F77-4AB3797BE5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37" y="0"/>
            <a:ext cx="1225787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522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A38D53-BDB6-0DDF-6F77-7E7BE8669786}"/>
              </a:ext>
            </a:extLst>
          </p:cNvPr>
          <p:cNvPicPr>
            <a:picLocks noChangeAspect="1"/>
          </p:cNvPicPr>
          <p:nvPr/>
        </p:nvPicPr>
        <p:blipFill>
          <a:blip r:embed="rId2"/>
          <a:stretch>
            <a:fillRect/>
          </a:stretch>
        </p:blipFill>
        <p:spPr>
          <a:xfrm>
            <a:off x="341918" y="1236689"/>
            <a:ext cx="11508164" cy="4384622"/>
          </a:xfrm>
          <a:prstGeom prst="rect">
            <a:avLst/>
          </a:prstGeom>
        </p:spPr>
      </p:pic>
    </p:spTree>
    <p:extLst>
      <p:ext uri="{BB962C8B-B14F-4D97-AF65-F5344CB8AC3E}">
        <p14:creationId xmlns:p14="http://schemas.microsoft.com/office/powerpoint/2010/main" val="1997503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48107E-E288-1619-D12C-47CF1719895A}"/>
              </a:ext>
            </a:extLst>
          </p:cNvPr>
          <p:cNvPicPr>
            <a:picLocks noChangeAspect="1"/>
          </p:cNvPicPr>
          <p:nvPr/>
        </p:nvPicPr>
        <p:blipFill>
          <a:blip r:embed="rId2"/>
          <a:stretch>
            <a:fillRect/>
          </a:stretch>
        </p:blipFill>
        <p:spPr>
          <a:xfrm>
            <a:off x="300647" y="1176728"/>
            <a:ext cx="11590706" cy="4504544"/>
          </a:xfrm>
          <a:prstGeom prst="rect">
            <a:avLst/>
          </a:prstGeom>
        </p:spPr>
      </p:pic>
    </p:spTree>
    <p:extLst>
      <p:ext uri="{BB962C8B-B14F-4D97-AF65-F5344CB8AC3E}">
        <p14:creationId xmlns:p14="http://schemas.microsoft.com/office/powerpoint/2010/main" val="1386923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518EDA-2989-D006-A91B-D4B71EC5D748}"/>
              </a:ext>
            </a:extLst>
          </p:cNvPr>
          <p:cNvPicPr>
            <a:picLocks noChangeAspect="1"/>
          </p:cNvPicPr>
          <p:nvPr/>
        </p:nvPicPr>
        <p:blipFill>
          <a:blip r:embed="rId2"/>
          <a:stretch>
            <a:fillRect/>
          </a:stretch>
        </p:blipFill>
        <p:spPr>
          <a:xfrm>
            <a:off x="96659" y="547141"/>
            <a:ext cx="11998682" cy="5763718"/>
          </a:xfrm>
          <a:prstGeom prst="rect">
            <a:avLst/>
          </a:prstGeom>
        </p:spPr>
      </p:pic>
    </p:spTree>
    <p:extLst>
      <p:ext uri="{BB962C8B-B14F-4D97-AF65-F5344CB8AC3E}">
        <p14:creationId xmlns:p14="http://schemas.microsoft.com/office/powerpoint/2010/main" val="3505840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93DE4C-8D0F-4B56-FB37-CEF0BE34BC9E}"/>
              </a:ext>
            </a:extLst>
          </p:cNvPr>
          <p:cNvPicPr>
            <a:picLocks noChangeAspect="1"/>
          </p:cNvPicPr>
          <p:nvPr/>
        </p:nvPicPr>
        <p:blipFill>
          <a:blip r:embed="rId2"/>
          <a:stretch>
            <a:fillRect/>
          </a:stretch>
        </p:blipFill>
        <p:spPr>
          <a:xfrm>
            <a:off x="358098" y="2211049"/>
            <a:ext cx="11475804" cy="2435902"/>
          </a:xfrm>
          <a:prstGeom prst="rect">
            <a:avLst/>
          </a:prstGeom>
        </p:spPr>
      </p:pic>
    </p:spTree>
    <p:extLst>
      <p:ext uri="{BB962C8B-B14F-4D97-AF65-F5344CB8AC3E}">
        <p14:creationId xmlns:p14="http://schemas.microsoft.com/office/powerpoint/2010/main" val="3526325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39979-EB05-4BF8-B7DE-EF28567A2A60}"/>
              </a:ext>
            </a:extLst>
          </p:cNvPr>
          <p:cNvSpPr>
            <a:spLocks noGrp="1"/>
          </p:cNvSpPr>
          <p:nvPr>
            <p:ph idx="1"/>
          </p:nvPr>
        </p:nvSpPr>
        <p:spPr>
          <a:xfrm>
            <a:off x="1028700" y="1348086"/>
            <a:ext cx="10108992" cy="4161827"/>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 54-year-old man presents to your clinic with a 6-month history of chronic diarrhea, abdominal pain, and weight loss. He reports intermittent cognitive impairment, difficulty with balance and coordination, and recent seizures.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On neurological examination, the patient is alert but disoriented to time and place. He has a mild-moderate dysmetria and dysdiadochokinesia in both upper and lower extremities. His deep tendon reflexes are brisk, and he displays a positive Romberg sign. Sensory examination is unremarkable, and there are no signs of peripheral neuropathy. Cranial nerve examination reveals vertical gaze palsy but no other abnormalities. Muscle strength is preserved throughout, and no signs of spasticity or rigidity are noted.</a:t>
            </a:r>
          </a:p>
        </p:txBody>
      </p:sp>
    </p:spTree>
    <p:extLst>
      <p:ext uri="{BB962C8B-B14F-4D97-AF65-F5344CB8AC3E}">
        <p14:creationId xmlns:p14="http://schemas.microsoft.com/office/powerpoint/2010/main" val="580117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culomasticatory myorhythmia">
            <a:hlinkClick r:id="" action="ppaction://media"/>
            <a:extLst>
              <a:ext uri="{FF2B5EF4-FFF2-40B4-BE49-F238E27FC236}">
                <a16:creationId xmlns:a16="http://schemas.microsoft.com/office/drawing/2014/main" id="{9A944B69-00C3-403A-BE19-F6799F440B1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0"/>
            <a:ext cx="9144000" cy="6858000"/>
          </a:xfrm>
          <a:prstGeom prst="rect">
            <a:avLst/>
          </a:prstGeom>
        </p:spPr>
      </p:pic>
    </p:spTree>
    <p:extLst>
      <p:ext uri="{BB962C8B-B14F-4D97-AF65-F5344CB8AC3E}">
        <p14:creationId xmlns:p14="http://schemas.microsoft.com/office/powerpoint/2010/main" val="69966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26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39979-EB05-4BF8-B7DE-EF28567A2A60}"/>
              </a:ext>
            </a:extLst>
          </p:cNvPr>
          <p:cNvSpPr>
            <a:spLocks noGrp="1"/>
          </p:cNvSpPr>
          <p:nvPr>
            <p:ph idx="1"/>
          </p:nvPr>
        </p:nvSpPr>
        <p:spPr>
          <a:xfrm>
            <a:off x="2356683" y="790367"/>
            <a:ext cx="7478634" cy="5130599"/>
          </a:xfrm>
        </p:spPr>
        <p:txBody>
          <a:bodyPr anchor="ctr">
            <a:normAutofit/>
          </a:bodyPr>
          <a:lstStyle/>
          <a:p>
            <a:pPr marL="0" indent="0">
              <a:buNone/>
            </a:pPr>
            <a:r>
              <a:rPr lang="en-US" dirty="0">
                <a:latin typeface="Times New Roman" panose="02020603050405020304" pitchFamily="18" charset="0"/>
                <a:cs typeface="Times New Roman" panose="02020603050405020304" pitchFamily="18" charset="0"/>
              </a:rPr>
              <a:t>Which of the following investigations is the most appropriate next step to confirm the diagnosis?</a:t>
            </a:r>
          </a:p>
          <a:p>
            <a:pPr marL="0" indent="0">
              <a:buNone/>
            </a:pP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A) Brain MRI</a:t>
            </a:r>
          </a:p>
          <a:p>
            <a:pPr marL="457200" lvl="1" indent="0">
              <a:buNone/>
            </a:pPr>
            <a:r>
              <a:rPr lang="en-US" dirty="0">
                <a:latin typeface="Times New Roman" panose="02020603050405020304" pitchFamily="18" charset="0"/>
                <a:cs typeface="Times New Roman" panose="02020603050405020304" pitchFamily="18" charset="0"/>
              </a:rPr>
              <a:t>B) Cerebrospinal fluid analysis</a:t>
            </a:r>
          </a:p>
          <a:p>
            <a:pPr marL="457200" lvl="1" indent="0">
              <a:buNone/>
            </a:pPr>
            <a:r>
              <a:rPr lang="en-US" dirty="0">
                <a:latin typeface="Times New Roman" panose="02020603050405020304" pitchFamily="18" charset="0"/>
                <a:cs typeface="Times New Roman" panose="02020603050405020304" pitchFamily="18" charset="0"/>
              </a:rPr>
              <a:t>C) Upper endoscopy (EGD)</a:t>
            </a:r>
          </a:p>
          <a:p>
            <a:pPr marL="457200" lvl="1" indent="0">
              <a:buNone/>
            </a:pPr>
            <a:r>
              <a:rPr lang="en-US" dirty="0">
                <a:latin typeface="Times New Roman" panose="02020603050405020304" pitchFamily="18" charset="0"/>
                <a:cs typeface="Times New Roman" panose="02020603050405020304" pitchFamily="18" charset="0"/>
              </a:rPr>
              <a:t>D) Electroencephalogram (EEG)</a:t>
            </a:r>
          </a:p>
          <a:p>
            <a:pPr marL="457200" lvl="1" indent="0">
              <a:buNone/>
            </a:pPr>
            <a:r>
              <a:rPr lang="en-US" dirty="0">
                <a:latin typeface="Times New Roman" panose="02020603050405020304" pitchFamily="18" charset="0"/>
                <a:cs typeface="Times New Roman" panose="02020603050405020304" pitchFamily="18" charset="0"/>
              </a:rPr>
              <a:t>E) Serum anti-neuronal antibodies</a:t>
            </a:r>
          </a:p>
        </p:txBody>
      </p:sp>
    </p:spTree>
    <p:extLst>
      <p:ext uri="{BB962C8B-B14F-4D97-AF65-F5344CB8AC3E}">
        <p14:creationId xmlns:p14="http://schemas.microsoft.com/office/powerpoint/2010/main" val="2574339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D8DA95-28BB-4ACB-83C7-FF79C55C68FF}"/>
              </a:ext>
            </a:extLst>
          </p:cNvPr>
          <p:cNvPicPr>
            <a:picLocks noChangeAspect="1"/>
          </p:cNvPicPr>
          <p:nvPr/>
        </p:nvPicPr>
        <p:blipFill>
          <a:blip r:embed="rId2"/>
          <a:stretch>
            <a:fillRect/>
          </a:stretch>
        </p:blipFill>
        <p:spPr>
          <a:xfrm>
            <a:off x="933244" y="904523"/>
            <a:ext cx="2936420" cy="5048954"/>
          </a:xfrm>
          <a:prstGeom prst="rect">
            <a:avLst/>
          </a:prstGeom>
        </p:spPr>
      </p:pic>
      <p:pic>
        <p:nvPicPr>
          <p:cNvPr id="5" name="Picture 4">
            <a:extLst>
              <a:ext uri="{FF2B5EF4-FFF2-40B4-BE49-F238E27FC236}">
                <a16:creationId xmlns:a16="http://schemas.microsoft.com/office/drawing/2014/main" id="{E4D0542E-1ACE-46E1-85D1-D065E821B428}"/>
              </a:ext>
            </a:extLst>
          </p:cNvPr>
          <p:cNvPicPr>
            <a:picLocks noChangeAspect="1"/>
          </p:cNvPicPr>
          <p:nvPr/>
        </p:nvPicPr>
        <p:blipFill>
          <a:blip r:embed="rId3"/>
          <a:stretch>
            <a:fillRect/>
          </a:stretch>
        </p:blipFill>
        <p:spPr>
          <a:xfrm>
            <a:off x="5146507" y="904524"/>
            <a:ext cx="6554114" cy="5048954"/>
          </a:xfrm>
          <a:prstGeom prst="rect">
            <a:avLst/>
          </a:prstGeom>
        </p:spPr>
      </p:pic>
      <p:sp>
        <p:nvSpPr>
          <p:cNvPr id="2" name="TextBox 1">
            <a:extLst>
              <a:ext uri="{FF2B5EF4-FFF2-40B4-BE49-F238E27FC236}">
                <a16:creationId xmlns:a16="http://schemas.microsoft.com/office/drawing/2014/main" id="{98465674-FC3C-46B8-B227-AD26F11D634B}"/>
              </a:ext>
            </a:extLst>
          </p:cNvPr>
          <p:cNvSpPr txBox="1"/>
          <p:nvPr/>
        </p:nvSpPr>
        <p:spPr>
          <a:xfrm>
            <a:off x="4564971" y="95250"/>
            <a:ext cx="3062057" cy="584775"/>
          </a:xfrm>
          <a:prstGeom prst="rect">
            <a:avLst/>
          </a:prstGeom>
          <a:noFill/>
        </p:spPr>
        <p:txBody>
          <a:bodyPr wrap="none" rtlCol="0">
            <a:spAutoFit/>
          </a:bodyPr>
          <a:lstStyle/>
          <a:p>
            <a:pPr algn="ctr"/>
            <a:r>
              <a:rPr lang="en-US" sz="3200" i="1" dirty="0">
                <a:solidFill>
                  <a:schemeClr val="bg1"/>
                </a:solidFill>
                <a:latin typeface="Georgia" panose="02040502050405020303" pitchFamily="18" charset="0"/>
              </a:rPr>
              <a:t>Who’s this guy?</a:t>
            </a:r>
          </a:p>
        </p:txBody>
      </p:sp>
    </p:spTree>
    <p:extLst>
      <p:ext uri="{BB962C8B-B14F-4D97-AF65-F5344CB8AC3E}">
        <p14:creationId xmlns:p14="http://schemas.microsoft.com/office/powerpoint/2010/main" val="4136263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D8DA95-28BB-4ACB-83C7-FF79C55C68FF}"/>
              </a:ext>
            </a:extLst>
          </p:cNvPr>
          <p:cNvPicPr>
            <a:picLocks noChangeAspect="1"/>
          </p:cNvPicPr>
          <p:nvPr/>
        </p:nvPicPr>
        <p:blipFill>
          <a:blip r:embed="rId2"/>
          <a:stretch>
            <a:fillRect/>
          </a:stretch>
        </p:blipFill>
        <p:spPr>
          <a:xfrm>
            <a:off x="933244" y="904523"/>
            <a:ext cx="2936420" cy="5048954"/>
          </a:xfrm>
          <a:prstGeom prst="rect">
            <a:avLst/>
          </a:prstGeom>
        </p:spPr>
      </p:pic>
      <p:pic>
        <p:nvPicPr>
          <p:cNvPr id="5" name="Picture 4">
            <a:extLst>
              <a:ext uri="{FF2B5EF4-FFF2-40B4-BE49-F238E27FC236}">
                <a16:creationId xmlns:a16="http://schemas.microsoft.com/office/drawing/2014/main" id="{E4D0542E-1ACE-46E1-85D1-D065E821B428}"/>
              </a:ext>
            </a:extLst>
          </p:cNvPr>
          <p:cNvPicPr>
            <a:picLocks noChangeAspect="1"/>
          </p:cNvPicPr>
          <p:nvPr/>
        </p:nvPicPr>
        <p:blipFill>
          <a:blip r:embed="rId3"/>
          <a:stretch>
            <a:fillRect/>
          </a:stretch>
        </p:blipFill>
        <p:spPr>
          <a:xfrm>
            <a:off x="5146507" y="904524"/>
            <a:ext cx="6554114" cy="5048954"/>
          </a:xfrm>
          <a:prstGeom prst="rect">
            <a:avLst/>
          </a:prstGeom>
        </p:spPr>
      </p:pic>
      <p:sp>
        <p:nvSpPr>
          <p:cNvPr id="2" name="TextBox 1">
            <a:extLst>
              <a:ext uri="{FF2B5EF4-FFF2-40B4-BE49-F238E27FC236}">
                <a16:creationId xmlns:a16="http://schemas.microsoft.com/office/drawing/2014/main" id="{98465674-FC3C-46B8-B227-AD26F11D634B}"/>
              </a:ext>
            </a:extLst>
          </p:cNvPr>
          <p:cNvSpPr txBox="1"/>
          <p:nvPr/>
        </p:nvSpPr>
        <p:spPr>
          <a:xfrm>
            <a:off x="4039988" y="95250"/>
            <a:ext cx="4344459" cy="584775"/>
          </a:xfrm>
          <a:prstGeom prst="rect">
            <a:avLst/>
          </a:prstGeom>
          <a:noFill/>
        </p:spPr>
        <p:txBody>
          <a:bodyPr wrap="none" rtlCol="0">
            <a:spAutoFit/>
          </a:bodyPr>
          <a:lstStyle/>
          <a:p>
            <a:r>
              <a:rPr lang="en-US" sz="3200" i="1" dirty="0" err="1">
                <a:solidFill>
                  <a:schemeClr val="bg1"/>
                </a:solidFill>
                <a:latin typeface="Georgia" panose="02040502050405020303" pitchFamily="18" charset="0"/>
              </a:rPr>
              <a:t>Tropheryma</a:t>
            </a:r>
            <a:r>
              <a:rPr lang="en-US" sz="3200" i="1" dirty="0">
                <a:solidFill>
                  <a:schemeClr val="bg1"/>
                </a:solidFill>
                <a:latin typeface="Georgia" panose="02040502050405020303" pitchFamily="18" charset="0"/>
              </a:rPr>
              <a:t> </a:t>
            </a:r>
            <a:r>
              <a:rPr lang="en-US" sz="3200" i="1" dirty="0" err="1">
                <a:solidFill>
                  <a:schemeClr val="bg1"/>
                </a:solidFill>
                <a:latin typeface="Georgia" panose="02040502050405020303" pitchFamily="18" charset="0"/>
              </a:rPr>
              <a:t>whipplei</a:t>
            </a:r>
            <a:endParaRPr lang="en-US" sz="3200" i="1" dirty="0">
              <a:solidFill>
                <a:schemeClr val="bg1"/>
              </a:solidFill>
              <a:latin typeface="Georgia" panose="02040502050405020303" pitchFamily="18" charset="0"/>
            </a:endParaRPr>
          </a:p>
        </p:txBody>
      </p:sp>
    </p:spTree>
    <p:extLst>
      <p:ext uri="{BB962C8B-B14F-4D97-AF65-F5344CB8AC3E}">
        <p14:creationId xmlns:p14="http://schemas.microsoft.com/office/powerpoint/2010/main" val="2088349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B9B3-9203-4745-9BC5-6CD1915338D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Whipple Disease</a:t>
            </a:r>
          </a:p>
        </p:txBody>
      </p:sp>
      <p:sp>
        <p:nvSpPr>
          <p:cNvPr id="3" name="Content Placeholder 2">
            <a:extLst>
              <a:ext uri="{FF2B5EF4-FFF2-40B4-BE49-F238E27FC236}">
                <a16:creationId xmlns:a16="http://schemas.microsoft.com/office/drawing/2014/main" id="{CCBEBFA1-2989-4086-8131-0C72F3035F1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Systemic infectious disease, mainly of the gut</a:t>
            </a:r>
          </a:p>
          <a:p>
            <a:r>
              <a:rPr lang="en-US" dirty="0">
                <a:latin typeface="Times New Roman" panose="02020603050405020304" pitchFamily="18" charset="0"/>
                <a:cs typeface="Times New Roman" panose="02020603050405020304" pitchFamily="18" charset="0"/>
              </a:rPr>
              <a:t>Most common in </a:t>
            </a:r>
            <a:r>
              <a:rPr lang="en-US" b="1" dirty="0">
                <a:latin typeface="Times New Roman" panose="02020603050405020304" pitchFamily="18" charset="0"/>
                <a:cs typeface="Times New Roman" panose="02020603050405020304" pitchFamily="18" charset="0"/>
              </a:rPr>
              <a:t>middle-aged white men</a:t>
            </a:r>
          </a:p>
          <a:p>
            <a:r>
              <a:rPr lang="en-US" dirty="0">
                <a:latin typeface="Times New Roman" panose="02020603050405020304" pitchFamily="18" charset="0"/>
                <a:cs typeface="Times New Roman" panose="02020603050405020304" pitchFamily="18" charset="0"/>
              </a:rPr>
              <a:t>GI symptoms can be severe -&gt; chronic diarrhea, weight loss, malabsorption</a:t>
            </a:r>
          </a:p>
          <a:p>
            <a:r>
              <a:rPr lang="en-US" dirty="0">
                <a:latin typeface="Times New Roman" panose="02020603050405020304" pitchFamily="18" charset="0"/>
                <a:cs typeface="Times New Roman" panose="02020603050405020304" pitchFamily="18" charset="0"/>
              </a:rPr>
              <a:t>Arthralgia and arthritis is usually present in association </a:t>
            </a:r>
          </a:p>
          <a:p>
            <a:r>
              <a:rPr lang="en-US" dirty="0">
                <a:latin typeface="Times New Roman" panose="02020603050405020304" pitchFamily="18" charset="0"/>
                <a:cs typeface="Times New Roman" panose="02020603050405020304" pitchFamily="18" charset="0"/>
              </a:rPr>
              <a:t>May be one of the causes of culture-negative endocarditis</a:t>
            </a:r>
          </a:p>
        </p:txBody>
      </p:sp>
    </p:spTree>
    <p:extLst>
      <p:ext uri="{BB962C8B-B14F-4D97-AF65-F5344CB8AC3E}">
        <p14:creationId xmlns:p14="http://schemas.microsoft.com/office/powerpoint/2010/main" val="1480272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7D235C-2777-4CB1-9510-1CA698573077}"/>
              </a:ext>
            </a:extLst>
          </p:cNvPr>
          <p:cNvPicPr>
            <a:picLocks noChangeAspect="1"/>
          </p:cNvPicPr>
          <p:nvPr/>
        </p:nvPicPr>
        <p:blipFill>
          <a:blip r:embed="rId2"/>
          <a:stretch>
            <a:fillRect/>
          </a:stretch>
        </p:blipFill>
        <p:spPr>
          <a:xfrm>
            <a:off x="5329382" y="525583"/>
            <a:ext cx="5391902" cy="5887272"/>
          </a:xfrm>
          <a:prstGeom prst="rect">
            <a:avLst/>
          </a:prstGeom>
        </p:spPr>
      </p:pic>
      <p:pic>
        <p:nvPicPr>
          <p:cNvPr id="7" name="Picture 6">
            <a:extLst>
              <a:ext uri="{FF2B5EF4-FFF2-40B4-BE49-F238E27FC236}">
                <a16:creationId xmlns:a16="http://schemas.microsoft.com/office/drawing/2014/main" id="{3D0EAB21-FFA3-4C5C-99C2-841509FB21A9}"/>
              </a:ext>
            </a:extLst>
          </p:cNvPr>
          <p:cNvPicPr>
            <a:picLocks noChangeAspect="1"/>
          </p:cNvPicPr>
          <p:nvPr/>
        </p:nvPicPr>
        <p:blipFill>
          <a:blip r:embed="rId3"/>
          <a:stretch>
            <a:fillRect/>
          </a:stretch>
        </p:blipFill>
        <p:spPr>
          <a:xfrm>
            <a:off x="1213436" y="565802"/>
            <a:ext cx="3441691" cy="5806834"/>
          </a:xfrm>
          <a:prstGeom prst="rect">
            <a:avLst/>
          </a:prstGeom>
        </p:spPr>
      </p:pic>
    </p:spTree>
    <p:extLst>
      <p:ext uri="{BB962C8B-B14F-4D97-AF65-F5344CB8AC3E}">
        <p14:creationId xmlns:p14="http://schemas.microsoft.com/office/powerpoint/2010/main" val="1216857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5CA108-AA9E-4252-8303-44A63E5E8D82}"/>
              </a:ext>
            </a:extLst>
          </p:cNvPr>
          <p:cNvPicPr>
            <a:picLocks noChangeAspect="1"/>
          </p:cNvPicPr>
          <p:nvPr/>
        </p:nvPicPr>
        <p:blipFill rotWithShape="1">
          <a:blip r:embed="rId2"/>
          <a:srcRect l="2056" t="2056" r="2056" b="2056"/>
          <a:stretch/>
        </p:blipFill>
        <p:spPr>
          <a:xfrm>
            <a:off x="2691232" y="0"/>
            <a:ext cx="6809536" cy="6858000"/>
          </a:xfrm>
          <a:prstGeom prst="rect">
            <a:avLst/>
          </a:prstGeom>
        </p:spPr>
      </p:pic>
    </p:spTree>
    <p:extLst>
      <p:ext uri="{BB962C8B-B14F-4D97-AF65-F5344CB8AC3E}">
        <p14:creationId xmlns:p14="http://schemas.microsoft.com/office/powerpoint/2010/main" val="5657057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F3D5-56DC-4F2B-8911-0C8EC1D60C85}"/>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Oculomasticatory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Myorrhythmia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E1935A-5C93-47D1-89BE-63B3EDE525A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Pendular convergence nystagmus with concurrent slow, rhythmic synchronous contractions of the masticatory muscles + supranuclear vertical gaze paresis</a:t>
            </a:r>
          </a:p>
          <a:p>
            <a:r>
              <a:rPr lang="en-US" dirty="0">
                <a:latin typeface="Times New Roman" panose="02020603050405020304" pitchFamily="18" charset="0"/>
                <a:cs typeface="Times New Roman" panose="02020603050405020304" pitchFamily="18" charset="0"/>
              </a:rPr>
              <a:t>Extremities may be involved -&gt;</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oculofacioskeletal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myorrhythmia</a:t>
            </a:r>
            <a:endParaRPr lang="en-US" dirty="0">
              <a:latin typeface="Times New Roman" panose="02020603050405020304" pitchFamily="18" charset="0"/>
              <a:cs typeface="Times New Roman" panose="02020603050405020304" pitchFamily="18" charset="0"/>
            </a:endParaRPr>
          </a:p>
          <a:p>
            <a:r>
              <a:rPr lang="en-US" b="1" dirty="0">
                <a:highlight>
                  <a:srgbClr val="FFFF00"/>
                </a:highlight>
                <a:latin typeface="Times New Roman" panose="02020603050405020304" pitchFamily="18" charset="0"/>
                <a:cs typeface="Times New Roman" panose="02020603050405020304" pitchFamily="18" charset="0"/>
              </a:rPr>
              <a:t>No other neurologic syndrome or disease can cause this</a:t>
            </a:r>
          </a:p>
          <a:p>
            <a:r>
              <a:rPr lang="en-US" b="1" dirty="0">
                <a:latin typeface="Times New Roman" panose="02020603050405020304" pitchFamily="18" charset="0"/>
                <a:cs typeface="Times New Roman" panose="02020603050405020304" pitchFamily="18" charset="0"/>
              </a:rPr>
              <a:t>Highly specific to Whipple disease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775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AF3FDC-40C6-98DF-E879-8116971A1324}"/>
              </a:ext>
            </a:extLst>
          </p:cNvPr>
          <p:cNvPicPr>
            <a:picLocks noChangeAspect="1"/>
          </p:cNvPicPr>
          <p:nvPr/>
        </p:nvPicPr>
        <p:blipFill>
          <a:blip r:embed="rId2"/>
          <a:stretch>
            <a:fillRect/>
          </a:stretch>
        </p:blipFill>
        <p:spPr>
          <a:xfrm>
            <a:off x="270078" y="1116766"/>
            <a:ext cx="11651844" cy="4624468"/>
          </a:xfrm>
          <a:prstGeom prst="rect">
            <a:avLst/>
          </a:prstGeom>
        </p:spPr>
      </p:pic>
    </p:spTree>
    <p:extLst>
      <p:ext uri="{BB962C8B-B14F-4D97-AF65-F5344CB8AC3E}">
        <p14:creationId xmlns:p14="http://schemas.microsoft.com/office/powerpoint/2010/main" val="3267278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B37AB7-8582-161F-1AE0-43681B6EC817}"/>
              </a:ext>
            </a:extLst>
          </p:cNvPr>
          <p:cNvPicPr>
            <a:picLocks noChangeAspect="1"/>
          </p:cNvPicPr>
          <p:nvPr/>
        </p:nvPicPr>
        <p:blipFill>
          <a:blip r:embed="rId2"/>
          <a:stretch>
            <a:fillRect/>
          </a:stretch>
        </p:blipFill>
        <p:spPr>
          <a:xfrm>
            <a:off x="2209800" y="128621"/>
            <a:ext cx="7772400" cy="5311604"/>
          </a:xfrm>
          <a:prstGeom prst="rect">
            <a:avLst/>
          </a:prstGeom>
        </p:spPr>
      </p:pic>
      <p:pic>
        <p:nvPicPr>
          <p:cNvPr id="3" name="Picture 2">
            <a:extLst>
              <a:ext uri="{FF2B5EF4-FFF2-40B4-BE49-F238E27FC236}">
                <a16:creationId xmlns:a16="http://schemas.microsoft.com/office/drawing/2014/main" id="{DF25F457-556F-9530-CD99-E2C881D3DC2A}"/>
              </a:ext>
            </a:extLst>
          </p:cNvPr>
          <p:cNvPicPr>
            <a:picLocks noChangeAspect="1"/>
          </p:cNvPicPr>
          <p:nvPr/>
        </p:nvPicPr>
        <p:blipFill>
          <a:blip r:embed="rId3"/>
          <a:stretch>
            <a:fillRect/>
          </a:stretch>
        </p:blipFill>
        <p:spPr>
          <a:xfrm>
            <a:off x="2891228" y="5544359"/>
            <a:ext cx="6409544" cy="1185020"/>
          </a:xfrm>
          <a:prstGeom prst="rect">
            <a:avLst/>
          </a:prstGeom>
        </p:spPr>
      </p:pic>
    </p:spTree>
    <p:extLst>
      <p:ext uri="{BB962C8B-B14F-4D97-AF65-F5344CB8AC3E}">
        <p14:creationId xmlns:p14="http://schemas.microsoft.com/office/powerpoint/2010/main" val="27483481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C63734-EEBE-EA8F-17EB-89D891CC4535}"/>
              </a:ext>
            </a:extLst>
          </p:cNvPr>
          <p:cNvPicPr>
            <a:picLocks noChangeAspect="1"/>
          </p:cNvPicPr>
          <p:nvPr/>
        </p:nvPicPr>
        <p:blipFill>
          <a:blip r:embed="rId2"/>
          <a:stretch>
            <a:fillRect/>
          </a:stretch>
        </p:blipFill>
        <p:spPr>
          <a:xfrm>
            <a:off x="1036717" y="742012"/>
            <a:ext cx="10118566" cy="5373976"/>
          </a:xfrm>
          <a:prstGeom prst="rect">
            <a:avLst/>
          </a:prstGeom>
        </p:spPr>
      </p:pic>
    </p:spTree>
    <p:extLst>
      <p:ext uri="{BB962C8B-B14F-4D97-AF65-F5344CB8AC3E}">
        <p14:creationId xmlns:p14="http://schemas.microsoft.com/office/powerpoint/2010/main" val="11899126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E6E728-5B7F-50F5-53AC-5F1442989CD7}"/>
              </a:ext>
            </a:extLst>
          </p:cNvPr>
          <p:cNvPicPr>
            <a:picLocks noChangeAspect="1"/>
          </p:cNvPicPr>
          <p:nvPr/>
        </p:nvPicPr>
        <p:blipFill>
          <a:blip r:embed="rId2"/>
          <a:stretch>
            <a:fillRect/>
          </a:stretch>
        </p:blipFill>
        <p:spPr>
          <a:xfrm>
            <a:off x="2764331" y="236596"/>
            <a:ext cx="7863694" cy="6384808"/>
          </a:xfrm>
          <a:prstGeom prst="rect">
            <a:avLst/>
          </a:prstGeom>
        </p:spPr>
      </p:pic>
      <p:sp>
        <p:nvSpPr>
          <p:cNvPr id="3" name="Rectangle 2">
            <a:extLst>
              <a:ext uri="{FF2B5EF4-FFF2-40B4-BE49-F238E27FC236}">
                <a16:creationId xmlns:a16="http://schemas.microsoft.com/office/drawing/2014/main" id="{1A7DFB1B-8F46-0A64-52DC-424DE2EDB03F}"/>
              </a:ext>
            </a:extLst>
          </p:cNvPr>
          <p:cNvSpPr/>
          <p:nvPr/>
        </p:nvSpPr>
        <p:spPr>
          <a:xfrm>
            <a:off x="6216316" y="1588958"/>
            <a:ext cx="4283242" cy="4964242"/>
          </a:xfrm>
          <a:prstGeom prst="rect">
            <a:avLst/>
          </a:prstGeom>
          <a:solidFill>
            <a:srgbClr val="D9BE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2518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88F16-F612-C3E6-0046-8FC06858866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1A0E8F8-BA51-879B-FFDB-F4A981795768}"/>
              </a:ext>
            </a:extLst>
          </p:cNvPr>
          <p:cNvPicPr>
            <a:picLocks noChangeAspect="1"/>
          </p:cNvPicPr>
          <p:nvPr/>
        </p:nvPicPr>
        <p:blipFill>
          <a:blip r:embed="rId2"/>
          <a:stretch>
            <a:fillRect/>
          </a:stretch>
        </p:blipFill>
        <p:spPr>
          <a:xfrm>
            <a:off x="2764331" y="236596"/>
            <a:ext cx="7863694" cy="6384808"/>
          </a:xfrm>
          <a:prstGeom prst="rect">
            <a:avLst/>
          </a:prstGeom>
        </p:spPr>
      </p:pic>
      <p:sp>
        <p:nvSpPr>
          <p:cNvPr id="4" name="TextBox 3">
            <a:extLst>
              <a:ext uri="{FF2B5EF4-FFF2-40B4-BE49-F238E27FC236}">
                <a16:creationId xmlns:a16="http://schemas.microsoft.com/office/drawing/2014/main" id="{621F8772-74A0-AF1C-A86C-A79AD991DEC9}"/>
              </a:ext>
            </a:extLst>
          </p:cNvPr>
          <p:cNvSpPr txBox="1"/>
          <p:nvPr/>
        </p:nvSpPr>
        <p:spPr>
          <a:xfrm>
            <a:off x="7883236" y="3327463"/>
            <a:ext cx="568232" cy="369332"/>
          </a:xfrm>
          <a:prstGeom prst="rect">
            <a:avLst/>
          </a:prstGeom>
          <a:noFill/>
        </p:spPr>
        <p:txBody>
          <a:bodyPr wrap="none" rtlCol="0">
            <a:spAutoFit/>
          </a:bodyPr>
          <a:lstStyle/>
          <a:p>
            <a:r>
              <a:rPr lang="en-US" dirty="0"/>
              <a:t>FAP</a:t>
            </a:r>
          </a:p>
        </p:txBody>
      </p:sp>
      <p:cxnSp>
        <p:nvCxnSpPr>
          <p:cNvPr id="6" name="Straight Connector 5">
            <a:extLst>
              <a:ext uri="{FF2B5EF4-FFF2-40B4-BE49-F238E27FC236}">
                <a16:creationId xmlns:a16="http://schemas.microsoft.com/office/drawing/2014/main" id="{5AF5B37E-62AB-9495-06A0-6E7C944C7CA0}"/>
              </a:ext>
            </a:extLst>
          </p:cNvPr>
          <p:cNvCxnSpPr/>
          <p:nvPr/>
        </p:nvCxnSpPr>
        <p:spPr>
          <a:xfrm>
            <a:off x="6289963" y="3498274"/>
            <a:ext cx="146858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12356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47C0B8F-035B-5BBA-61AE-10DC5EE93B98}"/>
              </a:ext>
            </a:extLst>
          </p:cNvPr>
          <p:cNvGrpSpPr/>
          <p:nvPr/>
        </p:nvGrpSpPr>
        <p:grpSpPr>
          <a:xfrm>
            <a:off x="2172877" y="374753"/>
            <a:ext cx="8680001" cy="6333641"/>
            <a:chOff x="2501900" y="857563"/>
            <a:chExt cx="7188200" cy="5245100"/>
          </a:xfrm>
        </p:grpSpPr>
        <p:pic>
          <p:nvPicPr>
            <p:cNvPr id="2" name="Picture 1">
              <a:extLst>
                <a:ext uri="{FF2B5EF4-FFF2-40B4-BE49-F238E27FC236}">
                  <a16:creationId xmlns:a16="http://schemas.microsoft.com/office/drawing/2014/main" id="{059FD583-1B1B-91C8-2E62-4ECB00A29294}"/>
                </a:ext>
              </a:extLst>
            </p:cNvPr>
            <p:cNvPicPr>
              <a:picLocks noChangeAspect="1"/>
            </p:cNvPicPr>
            <p:nvPr/>
          </p:nvPicPr>
          <p:blipFill>
            <a:blip r:embed="rId2"/>
            <a:stretch>
              <a:fillRect/>
            </a:stretch>
          </p:blipFill>
          <p:spPr>
            <a:xfrm>
              <a:off x="2546350" y="2368863"/>
              <a:ext cx="7099300" cy="3733800"/>
            </a:xfrm>
            <a:prstGeom prst="rect">
              <a:avLst/>
            </a:prstGeom>
          </p:spPr>
        </p:pic>
        <p:pic>
          <p:nvPicPr>
            <p:cNvPr id="3" name="Picture 2">
              <a:extLst>
                <a:ext uri="{FF2B5EF4-FFF2-40B4-BE49-F238E27FC236}">
                  <a16:creationId xmlns:a16="http://schemas.microsoft.com/office/drawing/2014/main" id="{039394DD-BAC1-F322-3D57-2F214F643752}"/>
                </a:ext>
              </a:extLst>
            </p:cNvPr>
            <p:cNvPicPr>
              <a:picLocks noChangeAspect="1"/>
            </p:cNvPicPr>
            <p:nvPr/>
          </p:nvPicPr>
          <p:blipFill>
            <a:blip r:embed="rId3"/>
            <a:stretch>
              <a:fillRect/>
            </a:stretch>
          </p:blipFill>
          <p:spPr>
            <a:xfrm>
              <a:off x="2501900" y="857563"/>
              <a:ext cx="7188200" cy="1511300"/>
            </a:xfrm>
            <a:prstGeom prst="rect">
              <a:avLst/>
            </a:prstGeom>
          </p:spPr>
        </p:pic>
      </p:grpSp>
      <p:sp>
        <p:nvSpPr>
          <p:cNvPr id="5" name="Rectangle 4">
            <a:extLst>
              <a:ext uri="{FF2B5EF4-FFF2-40B4-BE49-F238E27FC236}">
                <a16:creationId xmlns:a16="http://schemas.microsoft.com/office/drawing/2014/main" id="{8E6C5C1B-B0D7-C442-FC16-C3101B794051}"/>
              </a:ext>
            </a:extLst>
          </p:cNvPr>
          <p:cNvSpPr/>
          <p:nvPr/>
        </p:nvSpPr>
        <p:spPr>
          <a:xfrm>
            <a:off x="6023811" y="1893758"/>
            <a:ext cx="4604084" cy="4589489"/>
          </a:xfrm>
          <a:prstGeom prst="rect">
            <a:avLst/>
          </a:prstGeom>
          <a:solidFill>
            <a:srgbClr val="D9BE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265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9E484-1136-6EE7-20A6-B3C2B636A59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6997B99-976A-D83C-5B15-0A54D56CFC5A}"/>
              </a:ext>
            </a:extLst>
          </p:cNvPr>
          <p:cNvGrpSpPr/>
          <p:nvPr/>
        </p:nvGrpSpPr>
        <p:grpSpPr>
          <a:xfrm>
            <a:off x="2172877" y="374753"/>
            <a:ext cx="8680001" cy="6333641"/>
            <a:chOff x="2501900" y="857563"/>
            <a:chExt cx="7188200" cy="5245100"/>
          </a:xfrm>
        </p:grpSpPr>
        <p:pic>
          <p:nvPicPr>
            <p:cNvPr id="2" name="Picture 1">
              <a:extLst>
                <a:ext uri="{FF2B5EF4-FFF2-40B4-BE49-F238E27FC236}">
                  <a16:creationId xmlns:a16="http://schemas.microsoft.com/office/drawing/2014/main" id="{ED7EAE46-2C64-971A-525D-940950A2ABC7}"/>
                </a:ext>
              </a:extLst>
            </p:cNvPr>
            <p:cNvPicPr>
              <a:picLocks noChangeAspect="1"/>
            </p:cNvPicPr>
            <p:nvPr/>
          </p:nvPicPr>
          <p:blipFill>
            <a:blip r:embed="rId2"/>
            <a:stretch>
              <a:fillRect/>
            </a:stretch>
          </p:blipFill>
          <p:spPr>
            <a:xfrm>
              <a:off x="2546350" y="2368863"/>
              <a:ext cx="7099300" cy="3733800"/>
            </a:xfrm>
            <a:prstGeom prst="rect">
              <a:avLst/>
            </a:prstGeom>
          </p:spPr>
        </p:pic>
        <p:pic>
          <p:nvPicPr>
            <p:cNvPr id="3" name="Picture 2">
              <a:extLst>
                <a:ext uri="{FF2B5EF4-FFF2-40B4-BE49-F238E27FC236}">
                  <a16:creationId xmlns:a16="http://schemas.microsoft.com/office/drawing/2014/main" id="{96DBD53D-7AC7-BBDB-9DCB-2AB5908F7313}"/>
                </a:ext>
              </a:extLst>
            </p:cNvPr>
            <p:cNvPicPr>
              <a:picLocks noChangeAspect="1"/>
            </p:cNvPicPr>
            <p:nvPr/>
          </p:nvPicPr>
          <p:blipFill>
            <a:blip r:embed="rId3"/>
            <a:stretch>
              <a:fillRect/>
            </a:stretch>
          </p:blipFill>
          <p:spPr>
            <a:xfrm>
              <a:off x="2501900" y="857563"/>
              <a:ext cx="7188200" cy="1511300"/>
            </a:xfrm>
            <a:prstGeom prst="rect">
              <a:avLst/>
            </a:prstGeom>
          </p:spPr>
        </p:pic>
      </p:grpSp>
    </p:spTree>
    <p:extLst>
      <p:ext uri="{BB962C8B-B14F-4D97-AF65-F5344CB8AC3E}">
        <p14:creationId xmlns:p14="http://schemas.microsoft.com/office/powerpoint/2010/main" val="1970613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B5F295-7A28-E567-726F-E5F54158C20C}"/>
              </a:ext>
            </a:extLst>
          </p:cNvPr>
          <p:cNvSpPr txBox="1"/>
          <p:nvPr/>
        </p:nvSpPr>
        <p:spPr>
          <a:xfrm>
            <a:off x="742013" y="1443841"/>
            <a:ext cx="11040256" cy="3970318"/>
          </a:xfrm>
          <a:prstGeom prst="rect">
            <a:avLst/>
          </a:prstGeom>
          <a:noFill/>
        </p:spPr>
        <p:txBody>
          <a:bodyPr wrap="square">
            <a:spAutoFit/>
          </a:bodyPr>
          <a:lstStyle/>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A 62-year-old man undergoes ERCP for evaluation of a pancreatic cyst. During the procedure, a string of mucin is seen extruding from the ampulla of Vater. Which of the following is the most likely diagnosis?</a:t>
            </a:r>
          </a:p>
          <a:p>
            <a:br>
              <a:rPr lang="en-US" sz="2800" dirty="0">
                <a:latin typeface="Times New Roman" panose="02020603050405020304" pitchFamily="18" charset="0"/>
                <a:cs typeface="Times New Roman" panose="02020603050405020304" pitchFamily="18" charset="0"/>
              </a:rPr>
            </a:br>
            <a:r>
              <a:rPr lang="en-US" sz="2800" b="0" i="0" u="none" strike="noStrike" dirty="0">
                <a:solidFill>
                  <a:srgbClr val="000000"/>
                </a:solidFill>
                <a:effectLst/>
                <a:latin typeface="Times New Roman" panose="02020603050405020304" pitchFamily="18" charset="0"/>
                <a:cs typeface="Times New Roman" panose="02020603050405020304" pitchFamily="18" charset="0"/>
              </a:rPr>
              <a:t>A. Serous cystadenoma</a:t>
            </a:r>
            <a:br>
              <a:rPr lang="en-US" sz="2800" dirty="0">
                <a:latin typeface="Times New Roman" panose="02020603050405020304" pitchFamily="18" charset="0"/>
                <a:cs typeface="Times New Roman" panose="02020603050405020304" pitchFamily="18" charset="0"/>
              </a:rPr>
            </a:br>
            <a:r>
              <a:rPr lang="en-US" sz="2800" b="0" i="0" u="none" strike="noStrike" dirty="0">
                <a:solidFill>
                  <a:srgbClr val="000000"/>
                </a:solidFill>
                <a:effectLst/>
                <a:latin typeface="Times New Roman" panose="02020603050405020304" pitchFamily="18" charset="0"/>
                <a:cs typeface="Times New Roman" panose="02020603050405020304" pitchFamily="18" charset="0"/>
              </a:rPr>
              <a:t>B. Mucinous cystic neoplasm</a:t>
            </a:r>
            <a:br>
              <a:rPr lang="en-US" sz="2800" dirty="0">
                <a:latin typeface="Times New Roman" panose="02020603050405020304" pitchFamily="18" charset="0"/>
                <a:cs typeface="Times New Roman" panose="02020603050405020304" pitchFamily="18" charset="0"/>
              </a:rPr>
            </a:br>
            <a:r>
              <a:rPr lang="en-US" sz="2800" b="0" i="0" u="none" strike="noStrike" dirty="0">
                <a:solidFill>
                  <a:srgbClr val="000000"/>
                </a:solidFill>
                <a:effectLst/>
                <a:latin typeface="Times New Roman" panose="02020603050405020304" pitchFamily="18" charset="0"/>
                <a:cs typeface="Times New Roman" panose="02020603050405020304" pitchFamily="18" charset="0"/>
              </a:rPr>
              <a:t>C. Intraductal papillary mucinous neoplasm</a:t>
            </a:r>
            <a:br>
              <a:rPr lang="en-US" sz="2800" dirty="0">
                <a:latin typeface="Times New Roman" panose="02020603050405020304" pitchFamily="18" charset="0"/>
                <a:cs typeface="Times New Roman" panose="02020603050405020304" pitchFamily="18" charset="0"/>
              </a:rPr>
            </a:br>
            <a:r>
              <a:rPr lang="en-US" sz="2800" b="0" i="0" u="none" strike="noStrike" dirty="0">
                <a:solidFill>
                  <a:srgbClr val="000000"/>
                </a:solidFill>
                <a:effectLst/>
                <a:latin typeface="Times New Roman" panose="02020603050405020304" pitchFamily="18" charset="0"/>
                <a:cs typeface="Times New Roman" panose="02020603050405020304" pitchFamily="18" charset="0"/>
              </a:rPr>
              <a:t>D. Pancreatic pseudocyst</a:t>
            </a:r>
            <a:br>
              <a:rPr lang="en-US" sz="2800" dirty="0">
                <a:latin typeface="Times New Roman" panose="02020603050405020304" pitchFamily="18" charset="0"/>
                <a:cs typeface="Times New Roman" panose="02020603050405020304" pitchFamily="18" charset="0"/>
              </a:rPr>
            </a:br>
            <a:r>
              <a:rPr lang="en-US" sz="2800" b="0" i="0" u="none" strike="noStrike" dirty="0">
                <a:solidFill>
                  <a:srgbClr val="000000"/>
                </a:solidFill>
                <a:effectLst/>
                <a:latin typeface="Times New Roman" panose="02020603050405020304" pitchFamily="18" charset="0"/>
                <a:cs typeface="Times New Roman" panose="02020603050405020304" pitchFamily="18" charset="0"/>
              </a:rPr>
              <a:t>E. Solid pseudopapillary tumor</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567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B) Endoscopic retrograde cholangiopancreatography (ERCP) and... |  Download Scientific Diagram">
            <a:extLst>
              <a:ext uri="{FF2B5EF4-FFF2-40B4-BE49-F238E27FC236}">
                <a16:creationId xmlns:a16="http://schemas.microsoft.com/office/drawing/2014/main" id="{A8FAEAA7-27D5-E757-C0CF-72130C23E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335" y="1146748"/>
            <a:ext cx="10923330" cy="4564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57930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4703-89ED-497C-19C1-B425200540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BFE61D-9C0F-59D4-A51D-BEB3FDE6895E}"/>
              </a:ext>
            </a:extLst>
          </p:cNvPr>
          <p:cNvSpPr txBox="1"/>
          <p:nvPr/>
        </p:nvSpPr>
        <p:spPr>
          <a:xfrm>
            <a:off x="742013" y="1443841"/>
            <a:ext cx="11040256" cy="3539430"/>
          </a:xfrm>
          <a:prstGeom prst="rect">
            <a:avLst/>
          </a:prstGeom>
          <a:noFill/>
        </p:spPr>
        <p:txBody>
          <a:bodyPr wrap="square">
            <a:spAutoFit/>
          </a:bodyPr>
          <a:lstStyle/>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In patients with Barrett’s esophagus without dysplasia, the annual risk of progression to adenocarcinoma is closest to:</a:t>
            </a:r>
          </a:p>
          <a:p>
            <a:endParaRPr lang="en-US" sz="2800" b="0" i="0" u="none" strike="noStrike" dirty="0">
              <a:solidFill>
                <a:srgbClr val="000000"/>
              </a:solidFill>
              <a:effectLst/>
              <a:latin typeface="Times New Roman" panose="02020603050405020304" pitchFamily="18" charset="0"/>
              <a:cs typeface="Times New Roman" panose="02020603050405020304" pitchFamily="18" charset="0"/>
            </a:endParaRP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A. 0.01%</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B. 0.1%</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C. 1%</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D. 5%</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E. 10%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4255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935F8-6A98-A8B6-34E9-4C17A6CBF7F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63D85A-DE7F-9167-6C85-1060A782EEFA}"/>
              </a:ext>
            </a:extLst>
          </p:cNvPr>
          <p:cNvSpPr txBox="1"/>
          <p:nvPr/>
        </p:nvSpPr>
        <p:spPr>
          <a:xfrm>
            <a:off x="742013" y="1443841"/>
            <a:ext cx="11040256" cy="3539430"/>
          </a:xfrm>
          <a:prstGeom prst="rect">
            <a:avLst/>
          </a:prstGeom>
          <a:noFill/>
        </p:spPr>
        <p:txBody>
          <a:bodyPr wrap="square">
            <a:spAutoFit/>
          </a:bodyPr>
          <a:lstStyle/>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A 28-year-old pregnant woman in her first trimester presents with gallstone pancreatitis. When is cholecystectomy safest?</a:t>
            </a:r>
          </a:p>
          <a:p>
            <a:endParaRPr lang="en-US" sz="2800" b="0" i="0" u="none" strike="noStrike" dirty="0">
              <a:solidFill>
                <a:srgbClr val="000000"/>
              </a:solidFill>
              <a:effectLst/>
              <a:latin typeface="Times New Roman" panose="02020603050405020304" pitchFamily="18" charset="0"/>
              <a:cs typeface="Times New Roman" panose="02020603050405020304" pitchFamily="18" charset="0"/>
            </a:endParaRP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A. Immediately, regardless of trimester</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B. During the first trimester</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C. During the second trimester</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D. Only after delivery</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E. During the third trimester</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52279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A444F-6221-C7FB-33A3-A73228DE4F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E59733-0448-FEA6-B4BE-C37B4756A2E5}"/>
              </a:ext>
            </a:extLst>
          </p:cNvPr>
          <p:cNvSpPr txBox="1"/>
          <p:nvPr/>
        </p:nvSpPr>
        <p:spPr>
          <a:xfrm>
            <a:off x="742013" y="1443841"/>
            <a:ext cx="11040256" cy="3539430"/>
          </a:xfrm>
          <a:prstGeom prst="rect">
            <a:avLst/>
          </a:prstGeom>
          <a:noFill/>
        </p:spPr>
        <p:txBody>
          <a:bodyPr wrap="square">
            <a:spAutoFit/>
          </a:bodyPr>
          <a:lstStyle/>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A 28-year-old pregnant woman in her first trimester presents with gallstone pancreatitis. When is cholecystectomy safest?</a:t>
            </a:r>
          </a:p>
          <a:p>
            <a:endParaRPr lang="en-US" sz="2800" b="0" i="0" u="none" strike="noStrike" dirty="0">
              <a:solidFill>
                <a:srgbClr val="000000"/>
              </a:solidFill>
              <a:effectLst/>
              <a:latin typeface="Times New Roman" panose="02020603050405020304" pitchFamily="18" charset="0"/>
              <a:cs typeface="Times New Roman" panose="02020603050405020304" pitchFamily="18" charset="0"/>
            </a:endParaRP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A. Immediately, regardless of trimester</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B. During the first trimester</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C. During the second trimester</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D. Only after delivery</a:t>
            </a:r>
          </a:p>
          <a:p>
            <a:r>
              <a:rPr lang="en-US" sz="2800" b="0" i="0" u="none" strike="noStrike" dirty="0">
                <a:solidFill>
                  <a:srgbClr val="000000"/>
                </a:solidFill>
                <a:effectLst/>
                <a:latin typeface="Times New Roman" panose="02020603050405020304" pitchFamily="18" charset="0"/>
                <a:cs typeface="Times New Roman" panose="02020603050405020304" pitchFamily="18" charset="0"/>
              </a:rPr>
              <a:t>E. During the third trimester</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869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318</TotalTime>
  <Words>538</Words>
  <Application>Microsoft Macintosh PowerPoint</Application>
  <PresentationFormat>Widescreen</PresentationFormat>
  <Paragraphs>54</Paragraphs>
  <Slides>44</Slides>
  <Notes>0</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Aptos</vt:lpstr>
      <vt:lpstr>Aptos Display</vt:lpstr>
      <vt:lpstr>Arial</vt:lpstr>
      <vt:lpstr>Della Respira</vt:lpstr>
      <vt:lpstr>Georgia</vt:lpstr>
      <vt:lpstr>Times New Roman</vt:lpstr>
      <vt:lpstr>Office Theme</vt:lpstr>
      <vt:lpstr>GI Board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Whipple Disease</vt:lpstr>
      <vt:lpstr>PowerPoint Presentation</vt:lpstr>
      <vt:lpstr>PowerPoint Presentation</vt:lpstr>
      <vt:lpstr>Oculomasticatory Myorrhythmia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Almeqdadi, Mohammad</dc:creator>
  <cp:lastModifiedBy>Almeqdadi, Mohammad</cp:lastModifiedBy>
  <cp:revision>42</cp:revision>
  <dcterms:created xsi:type="dcterms:W3CDTF">2025-05-13T12:29:29Z</dcterms:created>
  <dcterms:modified xsi:type="dcterms:W3CDTF">2025-05-13T17:48:39Z</dcterms:modified>
</cp:coreProperties>
</file>