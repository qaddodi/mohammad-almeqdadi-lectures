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9" r:id="rId9"/>
    <p:sldId id="266" r:id="rId10"/>
    <p:sldId id="271" r:id="rId11"/>
    <p:sldId id="289" r:id="rId12"/>
    <p:sldId id="316" r:id="rId13"/>
    <p:sldId id="291" r:id="rId14"/>
    <p:sldId id="290" r:id="rId15"/>
    <p:sldId id="270" r:id="rId16"/>
    <p:sldId id="292" r:id="rId17"/>
    <p:sldId id="263" r:id="rId18"/>
    <p:sldId id="265" r:id="rId19"/>
    <p:sldId id="372" r:id="rId20"/>
    <p:sldId id="272" r:id="rId21"/>
    <p:sldId id="275" r:id="rId22"/>
    <p:sldId id="373" r:id="rId23"/>
    <p:sldId id="268" r:id="rId24"/>
    <p:sldId id="276" r:id="rId25"/>
    <p:sldId id="277" r:id="rId26"/>
    <p:sldId id="384" r:id="rId27"/>
    <p:sldId id="293" r:id="rId28"/>
    <p:sldId id="294" r:id="rId29"/>
    <p:sldId id="278" r:id="rId30"/>
    <p:sldId id="371" r:id="rId31"/>
    <p:sldId id="286" r:id="rId32"/>
    <p:sldId id="315" r:id="rId33"/>
    <p:sldId id="295" r:id="rId34"/>
    <p:sldId id="296" r:id="rId35"/>
    <p:sldId id="287" r:id="rId36"/>
    <p:sldId id="319" r:id="rId37"/>
    <p:sldId id="320" r:id="rId38"/>
    <p:sldId id="321" r:id="rId39"/>
    <p:sldId id="322" r:id="rId40"/>
    <p:sldId id="297" r:id="rId41"/>
    <p:sldId id="323" r:id="rId42"/>
    <p:sldId id="325" r:id="rId43"/>
    <p:sldId id="324" r:id="rId44"/>
    <p:sldId id="298" r:id="rId45"/>
    <p:sldId id="326" r:id="rId46"/>
    <p:sldId id="299" r:id="rId47"/>
    <p:sldId id="327" r:id="rId48"/>
    <p:sldId id="332" r:id="rId49"/>
    <p:sldId id="387" r:id="rId50"/>
    <p:sldId id="301" r:id="rId51"/>
    <p:sldId id="374" r:id="rId52"/>
    <p:sldId id="333" r:id="rId53"/>
    <p:sldId id="334" r:id="rId54"/>
    <p:sldId id="336" r:id="rId55"/>
    <p:sldId id="386" r:id="rId56"/>
    <p:sldId id="303" r:id="rId57"/>
    <p:sldId id="339" r:id="rId58"/>
    <p:sldId id="338" r:id="rId59"/>
    <p:sldId id="304" r:id="rId60"/>
    <p:sldId id="305" r:id="rId61"/>
    <p:sldId id="340" r:id="rId62"/>
    <p:sldId id="341" r:id="rId63"/>
    <p:sldId id="342" r:id="rId64"/>
    <p:sldId id="306" r:id="rId65"/>
    <p:sldId id="343" r:id="rId66"/>
    <p:sldId id="344" r:id="rId67"/>
    <p:sldId id="345" r:id="rId68"/>
    <p:sldId id="346" r:id="rId69"/>
    <p:sldId id="347" r:id="rId70"/>
    <p:sldId id="348" r:id="rId71"/>
    <p:sldId id="349" r:id="rId72"/>
    <p:sldId id="350" r:id="rId73"/>
    <p:sldId id="351" r:id="rId74"/>
    <p:sldId id="352" r:id="rId75"/>
    <p:sldId id="375" r:id="rId76"/>
    <p:sldId id="377" r:id="rId77"/>
    <p:sldId id="307" r:id="rId78"/>
    <p:sldId id="354" r:id="rId79"/>
    <p:sldId id="309" r:id="rId80"/>
    <p:sldId id="355" r:id="rId81"/>
    <p:sldId id="310" r:id="rId82"/>
    <p:sldId id="356" r:id="rId83"/>
    <p:sldId id="308" r:id="rId84"/>
    <p:sldId id="311" r:id="rId85"/>
    <p:sldId id="357" r:id="rId86"/>
    <p:sldId id="358" r:id="rId87"/>
    <p:sldId id="360" r:id="rId88"/>
    <p:sldId id="359" r:id="rId89"/>
    <p:sldId id="312" r:id="rId90"/>
    <p:sldId id="379" r:id="rId91"/>
    <p:sldId id="380" r:id="rId92"/>
    <p:sldId id="381" r:id="rId93"/>
    <p:sldId id="382" r:id="rId94"/>
    <p:sldId id="383" r:id="rId95"/>
    <p:sldId id="378" r:id="rId96"/>
    <p:sldId id="361" r:id="rId97"/>
    <p:sldId id="362" r:id="rId98"/>
    <p:sldId id="363" r:id="rId99"/>
    <p:sldId id="364" r:id="rId100"/>
    <p:sldId id="365" r:id="rId101"/>
    <p:sldId id="366" r:id="rId102"/>
    <p:sldId id="367" r:id="rId103"/>
    <p:sldId id="313" r:id="rId104"/>
    <p:sldId id="368" r:id="rId105"/>
    <p:sldId id="370" r:id="rId106"/>
    <p:sldId id="314" r:id="rId107"/>
    <p:sldId id="388" r:id="rId108"/>
    <p:sldId id="317" r:id="rId109"/>
    <p:sldId id="318" r:id="rId1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93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176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presProps" Target="presProps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viewProps" Target="viewProp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meqdadi, Mohammad" userId="fe58b89e-5934-4b2c-a8d1-d2d0479db931" providerId="ADAL" clId="{2F9CF532-5EEB-49EB-9ADF-36114B3768BE}"/>
    <pc:docChg chg="undo custSel addSld delSld modSld">
      <pc:chgData name="Almeqdadi, Mohammad" userId="fe58b89e-5934-4b2c-a8d1-d2d0479db931" providerId="ADAL" clId="{2F9CF532-5EEB-49EB-9ADF-36114B3768BE}" dt="2023-12-22T17:42:17.520" v="1321" actId="14100"/>
      <pc:docMkLst>
        <pc:docMk/>
      </pc:docMkLst>
      <pc:sldChg chg="addSp delSp modSp mod">
        <pc:chgData name="Almeqdadi, Mohammad" userId="fe58b89e-5934-4b2c-a8d1-d2d0479db931" providerId="ADAL" clId="{2F9CF532-5EEB-49EB-9ADF-36114B3768BE}" dt="2023-12-22T17:40:30.366" v="1315" actId="478"/>
        <pc:sldMkLst>
          <pc:docMk/>
          <pc:sldMk cId="2293897787" sldId="256"/>
        </pc:sldMkLst>
        <pc:spChg chg="mod">
          <ac:chgData name="Almeqdadi, Mohammad" userId="fe58b89e-5934-4b2c-a8d1-d2d0479db931" providerId="ADAL" clId="{2F9CF532-5EEB-49EB-9ADF-36114B3768BE}" dt="2023-12-20T14:26:15.818" v="243" actId="14838"/>
          <ac:spMkLst>
            <pc:docMk/>
            <pc:sldMk cId="2293897787" sldId="256"/>
            <ac:spMk id="2" creationId="{97877D46-3FF3-4CA3-94D5-45FA79FE9C1E}"/>
          </ac:spMkLst>
        </pc:spChg>
        <pc:spChg chg="mod">
          <ac:chgData name="Almeqdadi, Mohammad" userId="fe58b89e-5934-4b2c-a8d1-d2d0479db931" providerId="ADAL" clId="{2F9CF532-5EEB-49EB-9ADF-36114B3768BE}" dt="2023-12-22T17:29:12.936" v="1189" actId="14838"/>
          <ac:spMkLst>
            <pc:docMk/>
            <pc:sldMk cId="2293897787" sldId="256"/>
            <ac:spMk id="3" creationId="{7A9F8220-2FC4-442E-80BF-7CFC5B25D0D6}"/>
          </ac:spMkLst>
        </pc:spChg>
        <pc:spChg chg="del">
          <ac:chgData name="Almeqdadi, Mohammad" userId="fe58b89e-5934-4b2c-a8d1-d2d0479db931" providerId="ADAL" clId="{2F9CF532-5EEB-49EB-9ADF-36114B3768BE}" dt="2023-12-22T17:40:30.366" v="1315" actId="478"/>
          <ac:spMkLst>
            <pc:docMk/>
            <pc:sldMk cId="2293897787" sldId="256"/>
            <ac:spMk id="8" creationId="{31F9EBD6-A3A2-4608-BFE7-A0A51FE32EC6}"/>
          </ac:spMkLst>
        </pc:spChg>
        <pc:picChg chg="add mod">
          <ac:chgData name="Almeqdadi, Mohammad" userId="fe58b89e-5934-4b2c-a8d1-d2d0479db931" providerId="ADAL" clId="{2F9CF532-5EEB-49EB-9ADF-36114B3768BE}" dt="2023-12-22T17:27:46.394" v="1129" actId="1076"/>
          <ac:picMkLst>
            <pc:docMk/>
            <pc:sldMk cId="2293897787" sldId="256"/>
            <ac:picMk id="5" creationId="{C89C8B87-388A-4AFD-A5E0-7926E3614A55}"/>
          </ac:picMkLst>
        </pc:picChg>
        <pc:picChg chg="add mod ord modCrop">
          <ac:chgData name="Almeqdadi, Mohammad" userId="fe58b89e-5934-4b2c-a8d1-d2d0479db931" providerId="ADAL" clId="{2F9CF532-5EEB-49EB-9ADF-36114B3768BE}" dt="2023-12-22T17:28:20.695" v="1134" actId="1076"/>
          <ac:picMkLst>
            <pc:docMk/>
            <pc:sldMk cId="2293897787" sldId="256"/>
            <ac:picMk id="7" creationId="{A8583F7F-CE8E-4E17-A9BE-D780526153EF}"/>
          </ac:picMkLst>
        </pc:picChg>
      </pc:sldChg>
      <pc:sldChg chg="addSp delSp modSp mod">
        <pc:chgData name="Almeqdadi, Mohammad" userId="fe58b89e-5934-4b2c-a8d1-d2d0479db931" providerId="ADAL" clId="{2F9CF532-5EEB-49EB-9ADF-36114B3768BE}" dt="2023-12-22T17:41:42.103" v="1317" actId="1076"/>
        <pc:sldMkLst>
          <pc:docMk/>
          <pc:sldMk cId="3684652631" sldId="258"/>
        </pc:sldMkLst>
        <pc:grpChg chg="add mod">
          <ac:chgData name="Almeqdadi, Mohammad" userId="fe58b89e-5934-4b2c-a8d1-d2d0479db931" providerId="ADAL" clId="{2F9CF532-5EEB-49EB-9ADF-36114B3768BE}" dt="2023-12-22T17:41:42.103" v="1317" actId="1076"/>
          <ac:grpSpMkLst>
            <pc:docMk/>
            <pc:sldMk cId="3684652631" sldId="258"/>
            <ac:grpSpMk id="6" creationId="{B742FB42-2031-4C6E-8A1D-CAE6C93454FF}"/>
          </ac:grpSpMkLst>
        </pc:grpChg>
        <pc:picChg chg="mod">
          <ac:chgData name="Almeqdadi, Mohammad" userId="fe58b89e-5934-4b2c-a8d1-d2d0479db931" providerId="ADAL" clId="{2F9CF532-5EEB-49EB-9ADF-36114B3768BE}" dt="2023-12-22T17:32:08.495" v="1219" actId="1076"/>
          <ac:picMkLst>
            <pc:docMk/>
            <pc:sldMk cId="3684652631" sldId="258"/>
            <ac:picMk id="4" creationId="{4247EEF6-2ED3-4F6D-971B-AE4601F3EE1B}"/>
          </ac:picMkLst>
        </pc:picChg>
        <pc:picChg chg="add mod modCrop">
          <ac:chgData name="Almeqdadi, Mohammad" userId="fe58b89e-5934-4b2c-a8d1-d2d0479db931" providerId="ADAL" clId="{2F9CF532-5EEB-49EB-9ADF-36114B3768BE}" dt="2023-12-22T17:31:41.692" v="1210" actId="164"/>
          <ac:picMkLst>
            <pc:docMk/>
            <pc:sldMk cId="3684652631" sldId="258"/>
            <ac:picMk id="5" creationId="{77BA8E88-EE0A-4DB1-AF70-42A074E1DD59}"/>
          </ac:picMkLst>
        </pc:picChg>
        <pc:picChg chg="add mod modCrop">
          <ac:chgData name="Almeqdadi, Mohammad" userId="fe58b89e-5934-4b2c-a8d1-d2d0479db931" providerId="ADAL" clId="{2F9CF532-5EEB-49EB-9ADF-36114B3768BE}" dt="2023-12-22T17:31:41.692" v="1210" actId="164"/>
          <ac:picMkLst>
            <pc:docMk/>
            <pc:sldMk cId="3684652631" sldId="258"/>
            <ac:picMk id="8" creationId="{AA7F6373-4D4E-4327-8BD1-4CDAA67430E0}"/>
          </ac:picMkLst>
        </pc:picChg>
        <pc:picChg chg="mod">
          <ac:chgData name="Almeqdadi, Mohammad" userId="fe58b89e-5934-4b2c-a8d1-d2d0479db931" providerId="ADAL" clId="{2F9CF532-5EEB-49EB-9ADF-36114B3768BE}" dt="2023-12-22T17:32:01.290" v="1218" actId="1076"/>
          <ac:picMkLst>
            <pc:docMk/>
            <pc:sldMk cId="3684652631" sldId="258"/>
            <ac:picMk id="1026" creationId="{15A9763C-B577-46A7-9EB4-0E935FE54539}"/>
          </ac:picMkLst>
        </pc:picChg>
        <pc:picChg chg="del">
          <ac:chgData name="Almeqdadi, Mohammad" userId="fe58b89e-5934-4b2c-a8d1-d2d0479db931" providerId="ADAL" clId="{2F9CF532-5EEB-49EB-9ADF-36114B3768BE}" dt="2023-12-22T17:30:23.096" v="1190" actId="478"/>
          <ac:picMkLst>
            <pc:docMk/>
            <pc:sldMk cId="3684652631" sldId="258"/>
            <ac:picMk id="1028" creationId="{B28A6511-8F06-4F39-9552-DE43FB3EB017}"/>
          </ac:picMkLst>
        </pc:picChg>
      </pc:sldChg>
      <pc:sldChg chg="addSp delSp modSp mod">
        <pc:chgData name="Almeqdadi, Mohammad" userId="fe58b89e-5934-4b2c-a8d1-d2d0479db931" providerId="ADAL" clId="{2F9CF532-5EEB-49EB-9ADF-36114B3768BE}" dt="2023-12-20T14:28:10.084" v="299" actId="1076"/>
        <pc:sldMkLst>
          <pc:docMk/>
          <pc:sldMk cId="3370746384" sldId="259"/>
        </pc:sldMkLst>
        <pc:spChg chg="mod">
          <ac:chgData name="Almeqdadi, Mohammad" userId="fe58b89e-5934-4b2c-a8d1-d2d0479db931" providerId="ADAL" clId="{2F9CF532-5EEB-49EB-9ADF-36114B3768BE}" dt="2023-12-20T14:28:10.084" v="299" actId="1076"/>
          <ac:spMkLst>
            <pc:docMk/>
            <pc:sldMk cId="3370746384" sldId="259"/>
            <ac:spMk id="2" creationId="{69A8D3FA-7DDC-492B-ACAF-A550CCC0328A}"/>
          </ac:spMkLst>
        </pc:spChg>
        <pc:picChg chg="add del">
          <ac:chgData name="Almeqdadi, Mohammad" userId="fe58b89e-5934-4b2c-a8d1-d2d0479db931" providerId="ADAL" clId="{2F9CF532-5EEB-49EB-9ADF-36114B3768BE}" dt="2023-12-20T14:27:58.383" v="293" actId="478"/>
          <ac:picMkLst>
            <pc:docMk/>
            <pc:sldMk cId="3370746384" sldId="259"/>
            <ac:picMk id="4" creationId="{A13BAD13-282C-4FBE-B752-ECC6D9115122}"/>
          </ac:picMkLst>
        </pc:picChg>
        <pc:picChg chg="add mod">
          <ac:chgData name="Almeqdadi, Mohammad" userId="fe58b89e-5934-4b2c-a8d1-d2d0479db931" providerId="ADAL" clId="{2F9CF532-5EEB-49EB-9ADF-36114B3768BE}" dt="2023-12-20T14:28:07.604" v="298" actId="1076"/>
          <ac:picMkLst>
            <pc:docMk/>
            <pc:sldMk cId="3370746384" sldId="259"/>
            <ac:picMk id="6" creationId="{227F8B6B-848C-4901-B214-4D44EAC00358}"/>
          </ac:picMkLst>
        </pc:picChg>
        <pc:picChg chg="del">
          <ac:chgData name="Almeqdadi, Mohammad" userId="fe58b89e-5934-4b2c-a8d1-d2d0479db931" providerId="ADAL" clId="{2F9CF532-5EEB-49EB-9ADF-36114B3768BE}" dt="2023-12-20T14:27:56.373" v="291" actId="478"/>
          <ac:picMkLst>
            <pc:docMk/>
            <pc:sldMk cId="3370746384" sldId="259"/>
            <ac:picMk id="2050" creationId="{7DAB3077-A9BC-44F5-9DCD-D8DC378AFC3B}"/>
          </ac:picMkLst>
        </pc:picChg>
      </pc:sldChg>
      <pc:sldChg chg="modSp mod">
        <pc:chgData name="Almeqdadi, Mohammad" userId="fe58b89e-5934-4b2c-a8d1-d2d0479db931" providerId="ADAL" clId="{2F9CF532-5EEB-49EB-9ADF-36114B3768BE}" dt="2023-12-22T17:41:55.664" v="1319" actId="1076"/>
        <pc:sldMkLst>
          <pc:docMk/>
          <pc:sldMk cId="1739278403" sldId="262"/>
        </pc:sldMkLst>
        <pc:picChg chg="mod">
          <ac:chgData name="Almeqdadi, Mohammad" userId="fe58b89e-5934-4b2c-a8d1-d2d0479db931" providerId="ADAL" clId="{2F9CF532-5EEB-49EB-9ADF-36114B3768BE}" dt="2023-12-22T17:41:55.664" v="1319" actId="1076"/>
          <ac:picMkLst>
            <pc:docMk/>
            <pc:sldMk cId="1739278403" sldId="262"/>
            <ac:picMk id="6" creationId="{CAC1D6D2-0E8F-994F-ABD5-EC662B0A59BE}"/>
          </ac:picMkLst>
        </pc:picChg>
        <pc:picChg chg="mod">
          <ac:chgData name="Almeqdadi, Mohammad" userId="fe58b89e-5934-4b2c-a8d1-d2d0479db931" providerId="ADAL" clId="{2F9CF532-5EEB-49EB-9ADF-36114B3768BE}" dt="2023-12-22T17:41:50.923" v="1318" actId="1076"/>
          <ac:picMkLst>
            <pc:docMk/>
            <pc:sldMk cId="1739278403" sldId="262"/>
            <ac:picMk id="7" creationId="{E922E3F7-543D-574B-A9A0-B620192F4008}"/>
          </ac:picMkLst>
        </pc:picChg>
      </pc:sldChg>
      <pc:sldChg chg="modSp mod">
        <pc:chgData name="Almeqdadi, Mohammad" userId="fe58b89e-5934-4b2c-a8d1-d2d0479db931" providerId="ADAL" clId="{2F9CF532-5EEB-49EB-9ADF-36114B3768BE}" dt="2023-12-20T14:30:18.508" v="479" actId="20577"/>
        <pc:sldMkLst>
          <pc:docMk/>
          <pc:sldMk cId="967210919" sldId="263"/>
        </pc:sldMkLst>
        <pc:spChg chg="mod">
          <ac:chgData name="Almeqdadi, Mohammad" userId="fe58b89e-5934-4b2c-a8d1-d2d0479db931" providerId="ADAL" clId="{2F9CF532-5EEB-49EB-9ADF-36114B3768BE}" dt="2023-12-20T14:30:18.508" v="479" actId="20577"/>
          <ac:spMkLst>
            <pc:docMk/>
            <pc:sldMk cId="967210919" sldId="263"/>
            <ac:spMk id="3" creationId="{FC44A124-7E7D-4327-8CF3-7535E746646E}"/>
          </ac:spMkLst>
        </pc:spChg>
      </pc:sldChg>
      <pc:sldChg chg="modSp mod">
        <pc:chgData name="Almeqdadi, Mohammad" userId="fe58b89e-5934-4b2c-a8d1-d2d0479db931" providerId="ADAL" clId="{2F9CF532-5EEB-49EB-9ADF-36114B3768BE}" dt="2023-12-20T14:30:42.845" v="492" actId="20577"/>
        <pc:sldMkLst>
          <pc:docMk/>
          <pc:sldMk cId="1354569347" sldId="275"/>
        </pc:sldMkLst>
        <pc:spChg chg="mod">
          <ac:chgData name="Almeqdadi, Mohammad" userId="fe58b89e-5934-4b2c-a8d1-d2d0479db931" providerId="ADAL" clId="{2F9CF532-5EEB-49EB-9ADF-36114B3768BE}" dt="2023-12-20T14:30:42.845" v="492" actId="20577"/>
          <ac:spMkLst>
            <pc:docMk/>
            <pc:sldMk cId="1354569347" sldId="275"/>
            <ac:spMk id="5" creationId="{80CB4135-8974-4B19-9D42-D78DD9EB06E5}"/>
          </ac:spMkLst>
        </pc:spChg>
      </pc:sldChg>
      <pc:sldChg chg="modSp">
        <pc:chgData name="Almeqdadi, Mohammad" userId="fe58b89e-5934-4b2c-a8d1-d2d0479db931" providerId="ADAL" clId="{2F9CF532-5EEB-49EB-9ADF-36114B3768BE}" dt="2023-12-20T14:34:00.373" v="502" actId="1076"/>
        <pc:sldMkLst>
          <pc:docMk/>
          <pc:sldMk cId="2706134570" sldId="277"/>
        </pc:sldMkLst>
        <pc:picChg chg="mod">
          <ac:chgData name="Almeqdadi, Mohammad" userId="fe58b89e-5934-4b2c-a8d1-d2d0479db931" providerId="ADAL" clId="{2F9CF532-5EEB-49EB-9ADF-36114B3768BE}" dt="2023-12-20T14:34:00.373" v="502" actId="1076"/>
          <ac:picMkLst>
            <pc:docMk/>
            <pc:sldMk cId="2706134570" sldId="277"/>
            <ac:picMk id="4" creationId="{22DDA1D5-AAE1-8D4C-994C-16D21641A3EC}"/>
          </ac:picMkLst>
        </pc:picChg>
      </pc:sldChg>
      <pc:sldChg chg="del">
        <pc:chgData name="Almeqdadi, Mohammad" userId="fe58b89e-5934-4b2c-a8d1-d2d0479db931" providerId="ADAL" clId="{2F9CF532-5EEB-49EB-9ADF-36114B3768BE}" dt="2023-12-20T15:20:20.744" v="537" actId="47"/>
        <pc:sldMkLst>
          <pc:docMk/>
          <pc:sldMk cId="2860049531" sldId="300"/>
        </pc:sldMkLst>
      </pc:sldChg>
      <pc:sldChg chg="modSp mod">
        <pc:chgData name="Almeqdadi, Mohammad" userId="fe58b89e-5934-4b2c-a8d1-d2d0479db931" providerId="ADAL" clId="{2F9CF532-5EEB-49EB-9ADF-36114B3768BE}" dt="2023-12-22T13:49:00.167" v="598" actId="20577"/>
        <pc:sldMkLst>
          <pc:docMk/>
          <pc:sldMk cId="2558032246" sldId="305"/>
        </pc:sldMkLst>
        <pc:spChg chg="mod">
          <ac:chgData name="Almeqdadi, Mohammad" userId="fe58b89e-5934-4b2c-a8d1-d2d0479db931" providerId="ADAL" clId="{2F9CF532-5EEB-49EB-9ADF-36114B3768BE}" dt="2023-12-22T13:49:00.167" v="598" actId="20577"/>
          <ac:spMkLst>
            <pc:docMk/>
            <pc:sldMk cId="2558032246" sldId="305"/>
            <ac:spMk id="3" creationId="{AB5B84A9-968D-CA4B-B951-AAAD73B04797}"/>
          </ac:spMkLst>
        </pc:spChg>
      </pc:sldChg>
      <pc:sldChg chg="modSp mod">
        <pc:chgData name="Almeqdadi, Mohammad" userId="fe58b89e-5934-4b2c-a8d1-d2d0479db931" providerId="ADAL" clId="{2F9CF532-5EEB-49EB-9ADF-36114B3768BE}" dt="2023-12-22T17:19:02.262" v="736" actId="20577"/>
        <pc:sldMkLst>
          <pc:docMk/>
          <pc:sldMk cId="1647263433" sldId="308"/>
        </pc:sldMkLst>
        <pc:spChg chg="mod">
          <ac:chgData name="Almeqdadi, Mohammad" userId="fe58b89e-5934-4b2c-a8d1-d2d0479db931" providerId="ADAL" clId="{2F9CF532-5EEB-49EB-9ADF-36114B3768BE}" dt="2023-12-22T17:19:02.262" v="736" actId="20577"/>
          <ac:spMkLst>
            <pc:docMk/>
            <pc:sldMk cId="1647263433" sldId="308"/>
            <ac:spMk id="3" creationId="{41900F5F-3B59-D646-BFD8-6BDBB32C12A9}"/>
          </ac:spMkLst>
        </pc:spChg>
      </pc:sldChg>
      <pc:sldChg chg="modSp mod">
        <pc:chgData name="Almeqdadi, Mohammad" userId="fe58b89e-5934-4b2c-a8d1-d2d0479db931" providerId="ADAL" clId="{2F9CF532-5EEB-49EB-9ADF-36114B3768BE}" dt="2023-12-20T15:27:19.632" v="540" actId="27636"/>
        <pc:sldMkLst>
          <pc:docMk/>
          <pc:sldMk cId="592421266" sldId="327"/>
        </pc:sldMkLst>
        <pc:spChg chg="mod">
          <ac:chgData name="Almeqdadi, Mohammad" userId="fe58b89e-5934-4b2c-a8d1-d2d0479db931" providerId="ADAL" clId="{2F9CF532-5EEB-49EB-9ADF-36114B3768BE}" dt="2023-12-20T15:27:19.632" v="540" actId="27636"/>
          <ac:spMkLst>
            <pc:docMk/>
            <pc:sldMk cId="592421266" sldId="327"/>
            <ac:spMk id="3" creationId="{69AA22A2-E6F0-3542-A702-E54E37253B2D}"/>
          </ac:spMkLst>
        </pc:spChg>
      </pc:sldChg>
      <pc:sldChg chg="del">
        <pc:chgData name="Almeqdadi, Mohammad" userId="fe58b89e-5934-4b2c-a8d1-d2d0479db931" providerId="ADAL" clId="{2F9CF532-5EEB-49EB-9ADF-36114B3768BE}" dt="2023-12-20T15:20:20.744" v="537" actId="47"/>
        <pc:sldMkLst>
          <pc:docMk/>
          <pc:sldMk cId="398424354" sldId="328"/>
        </pc:sldMkLst>
      </pc:sldChg>
      <pc:sldChg chg="del">
        <pc:chgData name="Almeqdadi, Mohammad" userId="fe58b89e-5934-4b2c-a8d1-d2d0479db931" providerId="ADAL" clId="{2F9CF532-5EEB-49EB-9ADF-36114B3768BE}" dt="2023-12-20T15:20:20.744" v="537" actId="47"/>
        <pc:sldMkLst>
          <pc:docMk/>
          <pc:sldMk cId="3201451926" sldId="329"/>
        </pc:sldMkLst>
      </pc:sldChg>
      <pc:sldChg chg="del">
        <pc:chgData name="Almeqdadi, Mohammad" userId="fe58b89e-5934-4b2c-a8d1-d2d0479db931" providerId="ADAL" clId="{2F9CF532-5EEB-49EB-9ADF-36114B3768BE}" dt="2023-12-20T15:20:20.744" v="537" actId="47"/>
        <pc:sldMkLst>
          <pc:docMk/>
          <pc:sldMk cId="1516460717" sldId="330"/>
        </pc:sldMkLst>
      </pc:sldChg>
      <pc:sldChg chg="del">
        <pc:chgData name="Almeqdadi, Mohammad" userId="fe58b89e-5934-4b2c-a8d1-d2d0479db931" providerId="ADAL" clId="{2F9CF532-5EEB-49EB-9ADF-36114B3768BE}" dt="2023-12-20T15:20:20.744" v="537" actId="47"/>
        <pc:sldMkLst>
          <pc:docMk/>
          <pc:sldMk cId="4124990689" sldId="331"/>
        </pc:sldMkLst>
      </pc:sldChg>
      <pc:sldChg chg="delSp modSp mod">
        <pc:chgData name="Almeqdadi, Mohammad" userId="fe58b89e-5934-4b2c-a8d1-d2d0479db931" providerId="ADAL" clId="{2F9CF532-5EEB-49EB-9ADF-36114B3768BE}" dt="2023-12-20T15:32:22.894" v="554" actId="20577"/>
        <pc:sldMkLst>
          <pc:docMk/>
          <pc:sldMk cId="278931782" sldId="332"/>
        </pc:sldMkLst>
        <pc:spChg chg="mod">
          <ac:chgData name="Almeqdadi, Mohammad" userId="fe58b89e-5934-4b2c-a8d1-d2d0479db931" providerId="ADAL" clId="{2F9CF532-5EEB-49EB-9ADF-36114B3768BE}" dt="2023-12-20T15:32:22.894" v="554" actId="20577"/>
          <ac:spMkLst>
            <pc:docMk/>
            <pc:sldMk cId="278931782" sldId="332"/>
            <ac:spMk id="3" creationId="{72E72A4C-7663-FA47-9538-52C9F54B4CC5}"/>
          </ac:spMkLst>
        </pc:spChg>
        <pc:graphicFrameChg chg="del">
          <ac:chgData name="Almeqdadi, Mohammad" userId="fe58b89e-5934-4b2c-a8d1-d2d0479db931" providerId="ADAL" clId="{2F9CF532-5EEB-49EB-9ADF-36114B3768BE}" dt="2023-12-20T15:32:19.221" v="541" actId="478"/>
          <ac:graphicFrameMkLst>
            <pc:docMk/>
            <pc:sldMk cId="278931782" sldId="332"/>
            <ac:graphicFrameMk id="5" creationId="{D20B631A-972E-1849-BACF-30880275DD03}"/>
          </ac:graphicFrameMkLst>
        </pc:graphicFrameChg>
      </pc:sldChg>
      <pc:sldChg chg="modSp del mod">
        <pc:chgData name="Almeqdadi, Mohammad" userId="fe58b89e-5934-4b2c-a8d1-d2d0479db931" providerId="ADAL" clId="{2F9CF532-5EEB-49EB-9ADF-36114B3768BE}" dt="2023-12-22T17:19:29.517" v="767" actId="47"/>
        <pc:sldMkLst>
          <pc:docMk/>
          <pc:sldMk cId="2350854861" sldId="335"/>
        </pc:sldMkLst>
        <pc:spChg chg="mod">
          <ac:chgData name="Almeqdadi, Mohammad" userId="fe58b89e-5934-4b2c-a8d1-d2d0479db931" providerId="ADAL" clId="{2F9CF532-5EEB-49EB-9ADF-36114B3768BE}" dt="2023-12-20T15:39:23.266" v="595" actId="20577"/>
          <ac:spMkLst>
            <pc:docMk/>
            <pc:sldMk cId="2350854861" sldId="335"/>
            <ac:spMk id="3" creationId="{81725602-FF30-2C48-8F07-8E790A0CD539}"/>
          </ac:spMkLst>
        </pc:spChg>
      </pc:sldChg>
      <pc:sldChg chg="modSp mod">
        <pc:chgData name="Almeqdadi, Mohammad" userId="fe58b89e-5934-4b2c-a8d1-d2d0479db931" providerId="ADAL" clId="{2F9CF532-5EEB-49EB-9ADF-36114B3768BE}" dt="2023-12-22T17:19:24.718" v="766" actId="20577"/>
        <pc:sldMkLst>
          <pc:docMk/>
          <pc:sldMk cId="2039774268" sldId="336"/>
        </pc:sldMkLst>
        <pc:spChg chg="mod">
          <ac:chgData name="Almeqdadi, Mohammad" userId="fe58b89e-5934-4b2c-a8d1-d2d0479db931" providerId="ADAL" clId="{2F9CF532-5EEB-49EB-9ADF-36114B3768BE}" dt="2023-12-22T17:19:24.718" v="766" actId="20577"/>
          <ac:spMkLst>
            <pc:docMk/>
            <pc:sldMk cId="2039774268" sldId="336"/>
            <ac:spMk id="3" creationId="{81725602-FF30-2C48-8F07-8E790A0CD539}"/>
          </ac:spMkLst>
        </pc:spChg>
      </pc:sldChg>
      <pc:sldChg chg="del">
        <pc:chgData name="Almeqdadi, Mohammad" userId="fe58b89e-5934-4b2c-a8d1-d2d0479db931" providerId="ADAL" clId="{2F9CF532-5EEB-49EB-9ADF-36114B3768BE}" dt="2023-12-20T15:39:12.821" v="555" actId="47"/>
        <pc:sldMkLst>
          <pc:docMk/>
          <pc:sldMk cId="1767171119" sldId="337"/>
        </pc:sldMkLst>
      </pc:sldChg>
      <pc:sldChg chg="modSp mod">
        <pc:chgData name="Almeqdadi, Mohammad" userId="fe58b89e-5934-4b2c-a8d1-d2d0479db931" providerId="ADAL" clId="{2F9CF532-5EEB-49EB-9ADF-36114B3768BE}" dt="2023-12-22T13:48:52.925" v="597" actId="20577"/>
        <pc:sldMkLst>
          <pc:docMk/>
          <pc:sldMk cId="3685642015" sldId="338"/>
        </pc:sldMkLst>
        <pc:spChg chg="mod">
          <ac:chgData name="Almeqdadi, Mohammad" userId="fe58b89e-5934-4b2c-a8d1-d2d0479db931" providerId="ADAL" clId="{2F9CF532-5EEB-49EB-9ADF-36114B3768BE}" dt="2023-12-22T13:48:52.925" v="597" actId="20577"/>
          <ac:spMkLst>
            <pc:docMk/>
            <pc:sldMk cId="3685642015" sldId="338"/>
            <ac:spMk id="3" creationId="{AB5B84A9-968D-CA4B-B951-AAAD73B04797}"/>
          </ac:spMkLst>
        </pc:spChg>
      </pc:sldChg>
      <pc:sldChg chg="modSp mod">
        <pc:chgData name="Almeqdadi, Mohammad" userId="fe58b89e-5934-4b2c-a8d1-d2d0479db931" providerId="ADAL" clId="{2F9CF532-5EEB-49EB-9ADF-36114B3768BE}" dt="2023-12-22T13:48:49.953" v="596" actId="20577"/>
        <pc:sldMkLst>
          <pc:docMk/>
          <pc:sldMk cId="1814278325" sldId="339"/>
        </pc:sldMkLst>
        <pc:spChg chg="mod">
          <ac:chgData name="Almeqdadi, Mohammad" userId="fe58b89e-5934-4b2c-a8d1-d2d0479db931" providerId="ADAL" clId="{2F9CF532-5EEB-49EB-9ADF-36114B3768BE}" dt="2023-12-22T13:48:49.953" v="596" actId="20577"/>
          <ac:spMkLst>
            <pc:docMk/>
            <pc:sldMk cId="1814278325" sldId="339"/>
            <ac:spMk id="3" creationId="{AB5B84A9-968D-CA4B-B951-AAAD73B04797}"/>
          </ac:spMkLst>
        </pc:spChg>
      </pc:sldChg>
      <pc:sldChg chg="modSp mod">
        <pc:chgData name="Almeqdadi, Mohammad" userId="fe58b89e-5934-4b2c-a8d1-d2d0479db931" providerId="ADAL" clId="{2F9CF532-5EEB-49EB-9ADF-36114B3768BE}" dt="2023-12-22T13:49:04.632" v="599" actId="20577"/>
        <pc:sldMkLst>
          <pc:docMk/>
          <pc:sldMk cId="1076923291" sldId="340"/>
        </pc:sldMkLst>
        <pc:spChg chg="mod">
          <ac:chgData name="Almeqdadi, Mohammad" userId="fe58b89e-5934-4b2c-a8d1-d2d0479db931" providerId="ADAL" clId="{2F9CF532-5EEB-49EB-9ADF-36114B3768BE}" dt="2023-12-22T13:49:04.632" v="599" actId="20577"/>
          <ac:spMkLst>
            <pc:docMk/>
            <pc:sldMk cId="1076923291" sldId="340"/>
            <ac:spMk id="3" creationId="{AB5B84A9-968D-CA4B-B951-AAAD73B04797}"/>
          </ac:spMkLst>
        </pc:spChg>
      </pc:sldChg>
      <pc:sldChg chg="modSp mod">
        <pc:chgData name="Almeqdadi, Mohammad" userId="fe58b89e-5934-4b2c-a8d1-d2d0479db931" providerId="ADAL" clId="{2F9CF532-5EEB-49EB-9ADF-36114B3768BE}" dt="2023-12-22T13:49:07.273" v="600" actId="20577"/>
        <pc:sldMkLst>
          <pc:docMk/>
          <pc:sldMk cId="4278678793" sldId="341"/>
        </pc:sldMkLst>
        <pc:spChg chg="mod">
          <ac:chgData name="Almeqdadi, Mohammad" userId="fe58b89e-5934-4b2c-a8d1-d2d0479db931" providerId="ADAL" clId="{2F9CF532-5EEB-49EB-9ADF-36114B3768BE}" dt="2023-12-22T13:49:07.273" v="600" actId="20577"/>
          <ac:spMkLst>
            <pc:docMk/>
            <pc:sldMk cId="4278678793" sldId="341"/>
            <ac:spMk id="3" creationId="{AB5B84A9-968D-CA4B-B951-AAAD73B04797}"/>
          </ac:spMkLst>
        </pc:spChg>
      </pc:sldChg>
      <pc:sldChg chg="modSp mod">
        <pc:chgData name="Almeqdadi, Mohammad" userId="fe58b89e-5934-4b2c-a8d1-d2d0479db931" providerId="ADAL" clId="{2F9CF532-5EEB-49EB-9ADF-36114B3768BE}" dt="2023-12-22T13:50:02.797" v="712" actId="14734"/>
        <pc:sldMkLst>
          <pc:docMk/>
          <pc:sldMk cId="2769312028" sldId="342"/>
        </pc:sldMkLst>
        <pc:spChg chg="mod">
          <ac:chgData name="Almeqdadi, Mohammad" userId="fe58b89e-5934-4b2c-a8d1-d2d0479db931" providerId="ADAL" clId="{2F9CF532-5EEB-49EB-9ADF-36114B3768BE}" dt="2023-12-22T13:49:45.105" v="710" actId="20577"/>
          <ac:spMkLst>
            <pc:docMk/>
            <pc:sldMk cId="2769312028" sldId="342"/>
            <ac:spMk id="3" creationId="{AB5B84A9-968D-CA4B-B951-AAAD73B04797}"/>
          </ac:spMkLst>
        </pc:spChg>
        <pc:graphicFrameChg chg="modGraphic">
          <ac:chgData name="Almeqdadi, Mohammad" userId="fe58b89e-5934-4b2c-a8d1-d2d0479db931" providerId="ADAL" clId="{2F9CF532-5EEB-49EB-9ADF-36114B3768BE}" dt="2023-12-22T13:50:02.797" v="712" actId="14734"/>
          <ac:graphicFrameMkLst>
            <pc:docMk/>
            <pc:sldMk cId="2769312028" sldId="342"/>
            <ac:graphicFrameMk id="5" creationId="{C7046EFD-2618-0944-A32B-6B12B50C4078}"/>
          </ac:graphicFrameMkLst>
        </pc:graphicFrameChg>
      </pc:sldChg>
      <pc:sldChg chg="del">
        <pc:chgData name="Almeqdadi, Mohammad" userId="fe58b89e-5934-4b2c-a8d1-d2d0479db931" providerId="ADAL" clId="{2F9CF532-5EEB-49EB-9ADF-36114B3768BE}" dt="2023-12-22T13:50:46.160" v="713" actId="47"/>
        <pc:sldMkLst>
          <pc:docMk/>
          <pc:sldMk cId="2556776527" sldId="353"/>
        </pc:sldMkLst>
      </pc:sldChg>
      <pc:sldChg chg="modSp mod">
        <pc:chgData name="Almeqdadi, Mohammad" userId="fe58b89e-5934-4b2c-a8d1-d2d0479db931" providerId="ADAL" clId="{2F9CF532-5EEB-49EB-9ADF-36114B3768BE}" dt="2023-12-22T13:50:52.677" v="726" actId="20577"/>
        <pc:sldMkLst>
          <pc:docMk/>
          <pc:sldMk cId="2019497485" sldId="354"/>
        </pc:sldMkLst>
        <pc:spChg chg="mod">
          <ac:chgData name="Almeqdadi, Mohammad" userId="fe58b89e-5934-4b2c-a8d1-d2d0479db931" providerId="ADAL" clId="{2F9CF532-5EEB-49EB-9ADF-36114B3768BE}" dt="2023-12-22T13:50:52.677" v="726" actId="20577"/>
          <ac:spMkLst>
            <pc:docMk/>
            <pc:sldMk cId="2019497485" sldId="354"/>
            <ac:spMk id="3" creationId="{41900F5F-3B59-D646-BFD8-6BDBB32C12A9}"/>
          </ac:spMkLst>
        </pc:spChg>
      </pc:sldChg>
      <pc:sldChg chg="del">
        <pc:chgData name="Almeqdadi, Mohammad" userId="fe58b89e-5934-4b2c-a8d1-d2d0479db931" providerId="ADAL" clId="{2F9CF532-5EEB-49EB-9ADF-36114B3768BE}" dt="2023-12-22T17:25:07.352" v="904" actId="47"/>
        <pc:sldMkLst>
          <pc:docMk/>
          <pc:sldMk cId="3303424866" sldId="369"/>
        </pc:sldMkLst>
      </pc:sldChg>
      <pc:sldChg chg="modSp mod">
        <pc:chgData name="Almeqdadi, Mohammad" userId="fe58b89e-5934-4b2c-a8d1-d2d0479db931" providerId="ADAL" clId="{2F9CF532-5EEB-49EB-9ADF-36114B3768BE}" dt="2023-12-22T17:26:41.326" v="1121" actId="20577"/>
        <pc:sldMkLst>
          <pc:docMk/>
          <pc:sldMk cId="3070791975" sldId="370"/>
        </pc:sldMkLst>
        <pc:spChg chg="mod">
          <ac:chgData name="Almeqdadi, Mohammad" userId="fe58b89e-5934-4b2c-a8d1-d2d0479db931" providerId="ADAL" clId="{2F9CF532-5EEB-49EB-9ADF-36114B3768BE}" dt="2023-12-22T17:26:41.326" v="1121" actId="20577"/>
          <ac:spMkLst>
            <pc:docMk/>
            <pc:sldMk cId="3070791975" sldId="370"/>
            <ac:spMk id="3" creationId="{E37B129F-8B49-584A-A89D-56550958FD31}"/>
          </ac:spMkLst>
        </pc:spChg>
      </pc:sldChg>
      <pc:sldChg chg="modSp">
        <pc:chgData name="Almeqdadi, Mohammad" userId="fe58b89e-5934-4b2c-a8d1-d2d0479db931" providerId="ADAL" clId="{2F9CF532-5EEB-49EB-9ADF-36114B3768BE}" dt="2023-12-22T17:42:17.520" v="1321" actId="14100"/>
        <pc:sldMkLst>
          <pc:docMk/>
          <pc:sldMk cId="555817404" sldId="375"/>
        </pc:sldMkLst>
        <pc:picChg chg="mod">
          <ac:chgData name="Almeqdadi, Mohammad" userId="fe58b89e-5934-4b2c-a8d1-d2d0479db931" providerId="ADAL" clId="{2F9CF532-5EEB-49EB-9ADF-36114B3768BE}" dt="2023-12-22T17:42:17.520" v="1321" actId="14100"/>
          <ac:picMkLst>
            <pc:docMk/>
            <pc:sldMk cId="555817404" sldId="375"/>
            <ac:picMk id="1026" creationId="{647FAD08-C85D-A667-8328-74FF947CF27D}"/>
          </ac:picMkLst>
        </pc:picChg>
      </pc:sldChg>
      <pc:sldChg chg="addSp delSp modSp new mod modClrScheme chgLayout">
        <pc:chgData name="Almeqdadi, Mohammad" userId="fe58b89e-5934-4b2c-a8d1-d2d0479db931" providerId="ADAL" clId="{2F9CF532-5EEB-49EB-9ADF-36114B3768BE}" dt="2023-12-22T17:42:07.321" v="1320" actId="120"/>
        <pc:sldMkLst>
          <pc:docMk/>
          <pc:sldMk cId="4073207356" sldId="384"/>
        </pc:sldMkLst>
        <pc:spChg chg="del">
          <ac:chgData name="Almeqdadi, Mohammad" userId="fe58b89e-5934-4b2c-a8d1-d2d0479db931" providerId="ADAL" clId="{2F9CF532-5EEB-49EB-9ADF-36114B3768BE}" dt="2023-12-20T14:33:52.315" v="494" actId="700"/>
          <ac:spMkLst>
            <pc:docMk/>
            <pc:sldMk cId="4073207356" sldId="384"/>
            <ac:spMk id="2" creationId="{49B80CBB-6712-41DB-84BF-5FEB3BC8C9DA}"/>
          </ac:spMkLst>
        </pc:spChg>
        <pc:spChg chg="del">
          <ac:chgData name="Almeqdadi, Mohammad" userId="fe58b89e-5934-4b2c-a8d1-d2d0479db931" providerId="ADAL" clId="{2F9CF532-5EEB-49EB-9ADF-36114B3768BE}" dt="2023-12-20T14:33:52.315" v="494" actId="700"/>
          <ac:spMkLst>
            <pc:docMk/>
            <pc:sldMk cId="4073207356" sldId="384"/>
            <ac:spMk id="3" creationId="{F6F04C14-9CF6-40C1-AC4A-A5DA527A783A}"/>
          </ac:spMkLst>
        </pc:spChg>
        <pc:spChg chg="add mod">
          <ac:chgData name="Almeqdadi, Mohammad" userId="fe58b89e-5934-4b2c-a8d1-d2d0479db931" providerId="ADAL" clId="{2F9CF532-5EEB-49EB-9ADF-36114B3768BE}" dt="2023-12-22T17:42:07.321" v="1320" actId="120"/>
          <ac:spMkLst>
            <pc:docMk/>
            <pc:sldMk cId="4073207356" sldId="384"/>
            <ac:spMk id="8" creationId="{9D0B153C-F76B-41B4-89CE-5B0F340F0185}"/>
          </ac:spMkLst>
        </pc:spChg>
        <pc:picChg chg="add mod">
          <ac:chgData name="Almeqdadi, Mohammad" userId="fe58b89e-5934-4b2c-a8d1-d2d0479db931" providerId="ADAL" clId="{2F9CF532-5EEB-49EB-9ADF-36114B3768BE}" dt="2023-12-20T14:34:01.936" v="503" actId="1076"/>
          <ac:picMkLst>
            <pc:docMk/>
            <pc:sldMk cId="4073207356" sldId="384"/>
            <ac:picMk id="5" creationId="{FA67E16D-CB58-4F54-B5C9-84DCE19F47A8}"/>
          </ac:picMkLst>
        </pc:picChg>
        <pc:picChg chg="add del mod">
          <ac:chgData name="Almeqdadi, Mohammad" userId="fe58b89e-5934-4b2c-a8d1-d2d0479db931" providerId="ADAL" clId="{2F9CF532-5EEB-49EB-9ADF-36114B3768BE}" dt="2023-12-20T14:33:58.432" v="500" actId="478"/>
          <ac:picMkLst>
            <pc:docMk/>
            <pc:sldMk cId="4073207356" sldId="384"/>
            <ac:picMk id="6" creationId="{26AD012D-4E6D-4791-9B7A-E6161BFBA90F}"/>
          </ac:picMkLst>
        </pc:picChg>
      </pc:sldChg>
      <pc:sldChg chg="addSp delSp modSp new mod modClrScheme chgLayout">
        <pc:chgData name="Almeqdadi, Mohammad" userId="fe58b89e-5934-4b2c-a8d1-d2d0479db931" providerId="ADAL" clId="{2F9CF532-5EEB-49EB-9ADF-36114B3768BE}" dt="2023-12-22T17:33:57.628" v="1220" actId="1076"/>
        <pc:sldMkLst>
          <pc:docMk/>
          <pc:sldMk cId="2971283311" sldId="385"/>
        </pc:sldMkLst>
        <pc:spChg chg="del">
          <ac:chgData name="Almeqdadi, Mohammad" userId="fe58b89e-5934-4b2c-a8d1-d2d0479db931" providerId="ADAL" clId="{2F9CF532-5EEB-49EB-9ADF-36114B3768BE}" dt="2023-12-20T15:14:53.317" v="516" actId="700"/>
          <ac:spMkLst>
            <pc:docMk/>
            <pc:sldMk cId="2971283311" sldId="385"/>
            <ac:spMk id="2" creationId="{A6BBC95E-D835-4761-81AC-860E49E085DD}"/>
          </ac:spMkLst>
        </pc:spChg>
        <pc:spChg chg="del">
          <ac:chgData name="Almeqdadi, Mohammad" userId="fe58b89e-5934-4b2c-a8d1-d2d0479db931" providerId="ADAL" clId="{2F9CF532-5EEB-49EB-9ADF-36114B3768BE}" dt="2023-12-20T15:14:53.317" v="516" actId="700"/>
          <ac:spMkLst>
            <pc:docMk/>
            <pc:sldMk cId="2971283311" sldId="385"/>
            <ac:spMk id="3" creationId="{247EF766-C0FB-452D-BD4E-90F87FC5EE16}"/>
          </ac:spMkLst>
        </pc:spChg>
        <pc:picChg chg="add del mod">
          <ac:chgData name="Almeqdadi, Mohammad" userId="fe58b89e-5934-4b2c-a8d1-d2d0479db931" providerId="ADAL" clId="{2F9CF532-5EEB-49EB-9ADF-36114B3768BE}" dt="2023-12-20T15:15:02.951" v="522" actId="478"/>
          <ac:picMkLst>
            <pc:docMk/>
            <pc:sldMk cId="2971283311" sldId="385"/>
            <ac:picMk id="5" creationId="{BFAEC294-7083-4B19-B7E0-299956B48A6F}"/>
          </ac:picMkLst>
        </pc:picChg>
        <pc:picChg chg="add del mod">
          <ac:chgData name="Almeqdadi, Mohammad" userId="fe58b89e-5934-4b2c-a8d1-d2d0479db931" providerId="ADAL" clId="{2F9CF532-5EEB-49EB-9ADF-36114B3768BE}" dt="2023-12-22T17:22:02.384" v="898" actId="478"/>
          <ac:picMkLst>
            <pc:docMk/>
            <pc:sldMk cId="2971283311" sldId="385"/>
            <ac:picMk id="7" creationId="{43C3F1C7-BBB5-4F5F-A121-C985BF8D590D}"/>
          </ac:picMkLst>
        </pc:picChg>
        <pc:picChg chg="add mod">
          <ac:chgData name="Almeqdadi, Mohammad" userId="fe58b89e-5934-4b2c-a8d1-d2d0479db931" providerId="ADAL" clId="{2F9CF532-5EEB-49EB-9ADF-36114B3768BE}" dt="2023-12-22T17:33:57.628" v="1220" actId="1076"/>
          <ac:picMkLst>
            <pc:docMk/>
            <pc:sldMk cId="2971283311" sldId="385"/>
            <ac:picMk id="9" creationId="{B4A2E23E-1300-4753-A164-67381BF5B2C7}"/>
          </ac:picMkLst>
        </pc:picChg>
      </pc:sldChg>
      <pc:sldChg chg="modSp add mod">
        <pc:chgData name="Almeqdadi, Mohammad" userId="fe58b89e-5934-4b2c-a8d1-d2d0479db931" providerId="ADAL" clId="{2F9CF532-5EEB-49EB-9ADF-36114B3768BE}" dt="2023-12-22T17:20:00.778" v="897" actId="20577"/>
        <pc:sldMkLst>
          <pc:docMk/>
          <pc:sldMk cId="320972203" sldId="386"/>
        </pc:sldMkLst>
        <pc:spChg chg="mod">
          <ac:chgData name="Almeqdadi, Mohammad" userId="fe58b89e-5934-4b2c-a8d1-d2d0479db931" providerId="ADAL" clId="{2F9CF532-5EEB-49EB-9ADF-36114B3768BE}" dt="2023-12-22T17:20:00.778" v="897" actId="20577"/>
          <ac:spMkLst>
            <pc:docMk/>
            <pc:sldMk cId="320972203" sldId="386"/>
            <ac:spMk id="3" creationId="{81725602-FF30-2C48-8F07-8E790A0CD539}"/>
          </ac:spMkLst>
        </pc:spChg>
      </pc:sldChg>
      <pc:sldChg chg="new del">
        <pc:chgData name="Almeqdadi, Mohammad" userId="fe58b89e-5934-4b2c-a8d1-d2d0479db931" providerId="ADAL" clId="{2F9CF532-5EEB-49EB-9ADF-36114B3768BE}" dt="2023-12-22T17:19:32.531" v="769" actId="680"/>
        <pc:sldMkLst>
          <pc:docMk/>
          <pc:sldMk cId="4154309989" sldId="386"/>
        </pc:sldMkLst>
      </pc:sldChg>
      <pc:sldChg chg="modSp add mod">
        <pc:chgData name="Almeqdadi, Mohammad" userId="fe58b89e-5934-4b2c-a8d1-d2d0479db931" providerId="ADAL" clId="{2F9CF532-5EEB-49EB-9ADF-36114B3768BE}" dt="2023-12-22T17:35:24.158" v="1314" actId="313"/>
        <pc:sldMkLst>
          <pc:docMk/>
          <pc:sldMk cId="2652426623" sldId="387"/>
        </pc:sldMkLst>
        <pc:spChg chg="mod">
          <ac:chgData name="Almeqdadi, Mohammad" userId="fe58b89e-5934-4b2c-a8d1-d2d0479db931" providerId="ADAL" clId="{2F9CF532-5EEB-49EB-9ADF-36114B3768BE}" dt="2023-12-22T17:35:24.158" v="1314" actId="313"/>
          <ac:spMkLst>
            <pc:docMk/>
            <pc:sldMk cId="2652426623" sldId="387"/>
            <ac:spMk id="3" creationId="{72E72A4C-7663-FA47-9538-52C9F54B4CC5}"/>
          </ac:spMkLst>
        </pc:spChg>
      </pc:sldChg>
    </pc:docChg>
  </pc:docChgLst>
  <pc:docChgLst>
    <pc:chgData name="Almeqdadi, Mohammad" userId="fe58b89e-5934-4b2c-a8d1-d2d0479db931" providerId="ADAL" clId="{22E044F6-3115-4D4D-96DB-A69E8AB0205A}"/>
    <pc:docChg chg="undo custSel modSld sldOrd">
      <pc:chgData name="Almeqdadi, Mohammad" userId="fe58b89e-5934-4b2c-a8d1-d2d0479db931" providerId="ADAL" clId="{22E044F6-3115-4D4D-96DB-A69E8AB0205A}" dt="2024-01-29T19:12:21.201" v="11" actId="14100"/>
      <pc:docMkLst>
        <pc:docMk/>
      </pc:docMkLst>
      <pc:sldChg chg="addSp delSp modSp mod ord setBg">
        <pc:chgData name="Almeqdadi, Mohammad" userId="fe58b89e-5934-4b2c-a8d1-d2d0479db931" providerId="ADAL" clId="{22E044F6-3115-4D4D-96DB-A69E8AB0205A}" dt="2024-01-29T19:12:21.201" v="11" actId="14100"/>
        <pc:sldMkLst>
          <pc:docMk/>
          <pc:sldMk cId="4227224816" sldId="388"/>
        </pc:sldMkLst>
        <pc:spChg chg="mod ord">
          <ac:chgData name="Almeqdadi, Mohammad" userId="fe58b89e-5934-4b2c-a8d1-d2d0479db931" providerId="ADAL" clId="{22E044F6-3115-4D4D-96DB-A69E8AB0205A}" dt="2024-01-29T19:11:58.997" v="8" actId="26606"/>
          <ac:spMkLst>
            <pc:docMk/>
            <pc:sldMk cId="4227224816" sldId="388"/>
            <ac:spMk id="2" creationId="{C4CFB6E9-3C19-4C13-9765-E8B9152C3E69}"/>
          </ac:spMkLst>
        </pc:spChg>
        <pc:spChg chg="add del">
          <ac:chgData name="Almeqdadi, Mohammad" userId="fe58b89e-5934-4b2c-a8d1-d2d0479db931" providerId="ADAL" clId="{22E044F6-3115-4D4D-96DB-A69E8AB0205A}" dt="2024-01-29T19:11:58.997" v="8" actId="26606"/>
          <ac:spMkLst>
            <pc:docMk/>
            <pc:sldMk cId="4227224816" sldId="388"/>
            <ac:spMk id="11" creationId="{42A4FC2C-047E-45A5-965D-8E1E3BF09BC6}"/>
          </ac:spMkLst>
        </pc:spChg>
        <pc:picChg chg="del">
          <ac:chgData name="Almeqdadi, Mohammad" userId="fe58b89e-5934-4b2c-a8d1-d2d0479db931" providerId="ADAL" clId="{22E044F6-3115-4D4D-96DB-A69E8AB0205A}" dt="2024-01-29T19:11:26.929" v="4" actId="478"/>
          <ac:picMkLst>
            <pc:docMk/>
            <pc:sldMk cId="4227224816" sldId="388"/>
            <ac:picMk id="5" creationId="{40FC6A5B-D1FA-4E29-A6AD-73E7DDF7AB6D}"/>
          </ac:picMkLst>
        </pc:picChg>
        <pc:picChg chg="add mod modCrop">
          <ac:chgData name="Almeqdadi, Mohammad" userId="fe58b89e-5934-4b2c-a8d1-d2d0479db931" providerId="ADAL" clId="{22E044F6-3115-4D4D-96DB-A69E8AB0205A}" dt="2024-01-29T19:12:21.201" v="11" actId="14100"/>
          <ac:picMkLst>
            <pc:docMk/>
            <pc:sldMk cId="4227224816" sldId="388"/>
            <ac:picMk id="6" creationId="{6EEF0DB1-2115-4868-8ED4-E24D25933269}"/>
          </ac:picMkLst>
        </pc:picChg>
      </pc:sldChg>
    </pc:docChg>
  </pc:docChgLst>
  <pc:docChgLst>
    <pc:chgData name="Almeqdadi, Mohammad" userId="fe58b89e-5934-4b2c-a8d1-d2d0479db931" providerId="ADAL" clId="{D5A66AEA-02C4-4A15-A8F6-E206D3627806}"/>
    <pc:docChg chg="custSel addSld delSld modSld">
      <pc:chgData name="Almeqdadi, Mohammad" userId="fe58b89e-5934-4b2c-a8d1-d2d0479db931" providerId="ADAL" clId="{D5A66AEA-02C4-4A15-A8F6-E206D3627806}" dt="2024-01-04T17:54:23.223" v="51" actId="20577"/>
      <pc:docMkLst>
        <pc:docMk/>
      </pc:docMkLst>
      <pc:sldChg chg="modSp mod">
        <pc:chgData name="Almeqdadi, Mohammad" userId="fe58b89e-5934-4b2c-a8d1-d2d0479db931" providerId="ADAL" clId="{D5A66AEA-02C4-4A15-A8F6-E206D3627806}" dt="2024-01-04T17:41:54.463" v="33" actId="20577"/>
        <pc:sldMkLst>
          <pc:docMk/>
          <pc:sldMk cId="3542030182" sldId="272"/>
        </pc:sldMkLst>
        <pc:spChg chg="mod">
          <ac:chgData name="Almeqdadi, Mohammad" userId="fe58b89e-5934-4b2c-a8d1-d2d0479db931" providerId="ADAL" clId="{D5A66AEA-02C4-4A15-A8F6-E206D3627806}" dt="2024-01-04T17:41:54.463" v="33" actId="20577"/>
          <ac:spMkLst>
            <pc:docMk/>
            <pc:sldMk cId="3542030182" sldId="272"/>
            <ac:spMk id="5" creationId="{80CB4135-8974-4B19-9D42-D78DD9EB06E5}"/>
          </ac:spMkLst>
        </pc:spChg>
      </pc:sldChg>
      <pc:sldChg chg="modSp mod">
        <pc:chgData name="Almeqdadi, Mohammad" userId="fe58b89e-5934-4b2c-a8d1-d2d0479db931" providerId="ADAL" clId="{D5A66AEA-02C4-4A15-A8F6-E206D3627806}" dt="2024-01-04T17:54:23.223" v="51" actId="20577"/>
        <pc:sldMkLst>
          <pc:docMk/>
          <pc:sldMk cId="1641448770" sldId="296"/>
        </pc:sldMkLst>
        <pc:spChg chg="mod">
          <ac:chgData name="Almeqdadi, Mohammad" userId="fe58b89e-5934-4b2c-a8d1-d2d0479db931" providerId="ADAL" clId="{D5A66AEA-02C4-4A15-A8F6-E206D3627806}" dt="2024-01-04T17:54:23.223" v="51" actId="20577"/>
          <ac:spMkLst>
            <pc:docMk/>
            <pc:sldMk cId="1641448770" sldId="296"/>
            <ac:spMk id="3" creationId="{C2CE44D4-10E5-4EB7-95A7-37CD17B824BD}"/>
          </ac:spMkLst>
        </pc:spChg>
      </pc:sldChg>
      <pc:sldChg chg="del">
        <pc:chgData name="Almeqdadi, Mohammad" userId="fe58b89e-5934-4b2c-a8d1-d2d0479db931" providerId="ADAL" clId="{D5A66AEA-02C4-4A15-A8F6-E206D3627806}" dt="2024-01-04T17:24:35.188" v="10" actId="47"/>
        <pc:sldMkLst>
          <pc:docMk/>
          <pc:sldMk cId="2971283311" sldId="385"/>
        </pc:sldMkLst>
      </pc:sldChg>
      <pc:sldChg chg="addSp delSp modSp new mod">
        <pc:chgData name="Almeqdadi, Mohammad" userId="fe58b89e-5934-4b2c-a8d1-d2d0479db931" providerId="ADAL" clId="{D5A66AEA-02C4-4A15-A8F6-E206D3627806}" dt="2024-01-04T17:24:37.435" v="11" actId="1076"/>
        <pc:sldMkLst>
          <pc:docMk/>
          <pc:sldMk cId="4227224816" sldId="388"/>
        </pc:sldMkLst>
        <pc:graphicFrameChg chg="add del mod">
          <ac:chgData name="Almeqdadi, Mohammad" userId="fe58b89e-5934-4b2c-a8d1-d2d0479db931" providerId="ADAL" clId="{D5A66AEA-02C4-4A15-A8F6-E206D3627806}" dt="2024-01-04T17:24:04.230" v="4" actId="478"/>
          <ac:graphicFrameMkLst>
            <pc:docMk/>
            <pc:sldMk cId="4227224816" sldId="388"/>
            <ac:graphicFrameMk id="3" creationId="{AC31CA27-525E-4CDF-B140-083139E060FC}"/>
          </ac:graphicFrameMkLst>
        </pc:graphicFrameChg>
        <pc:picChg chg="add mod modCrop">
          <ac:chgData name="Almeqdadi, Mohammad" userId="fe58b89e-5934-4b2c-a8d1-d2d0479db931" providerId="ADAL" clId="{D5A66AEA-02C4-4A15-A8F6-E206D3627806}" dt="2024-01-04T17:24:37.435" v="11" actId="1076"/>
          <ac:picMkLst>
            <pc:docMk/>
            <pc:sldMk cId="4227224816" sldId="388"/>
            <ac:picMk id="5" creationId="{40FC6A5B-D1FA-4E29-A6AD-73E7DDF7AB6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E25B15-44F8-41D5-A8B0-80EF817BA48C}" type="datetimeFigureOut">
              <a:rPr lang="en-US" smtClean="0"/>
              <a:t>2/13/24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53909-B530-42D6-A929-A235F908ED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0636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B18D6-9932-4515-AA62-ED27F8A9A1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01EB37-5961-4331-800B-A765CABEA2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CA8B4A-936B-4D26-B9E0-65E064785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AF12E-4C8E-4229-9B35-3FE4E2000190}" type="datetime1">
              <a:rPr lang="en-US" smtClean="0"/>
              <a:t>2/13/24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CEF4E5-BC28-4A5F-AF7F-A4026F8DA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33E52-1D35-44D6-9340-9C10DCC08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66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8B0D6-F588-46A3-93AD-64DE7C9C5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A6F1B3-2597-4168-9F4D-6B6E5F4121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2BE8BC-A2C5-475F-8FF6-84BCF751A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EB80B-91F2-45C9-A79B-51FAFF8DFB87}" type="datetime1">
              <a:rPr lang="en-US" smtClean="0"/>
              <a:t>2/13/24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BBDDAD-7D32-4D64-9E8E-D181E3628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A3366E-D72F-43A3-AB8B-B30093621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003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15853-9E05-41EB-B2D3-69779E631F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FF53CC-CCAF-4785-A8F8-6219F67E2F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5B4211-FD35-4490-A550-DE76C2FFE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94C41-CE3D-44C5-996F-BAE0A956E89F}" type="datetime1">
              <a:rPr lang="en-US" smtClean="0"/>
              <a:t>2/13/24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B9F44A-EF51-44AB-9E8D-C4956BF48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7C7B81-4FD9-4C5A-8314-67FE1D9D3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934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CBCF7-6C82-403A-B35C-C9FC3DEB2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8AAC61-A871-4E23-A24A-6B6348E95C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DD7B89-E8EF-4225-9923-B8B904C97B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6C0943-31BE-4B42-9884-C178DE5A1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D1504-6E4E-449A-BB45-EF9858B1875E}" type="datetime1">
              <a:rPr lang="en-US" smtClean="0"/>
              <a:t>2/13/24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5F568C-8B52-42C9-BE96-B42157BBF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29C271-2DCA-4020-99C1-C6E363826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455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AEC3A-ACC4-4B20-8E1E-E248803E5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87B750-FD10-484D-9C25-40B53FD9E1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43CEC2-AB0C-441E-B930-7E4AD52003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3829FE-0B4E-4D0D-B1AD-725E3118E2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C7AA95-CCEC-4B63-B74C-1584A8D532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D98317-1BEE-47B2-A7E8-1144A669E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174F7-CD7D-445F-B476-8E0FE6E00930}" type="datetime1">
              <a:rPr lang="en-US" smtClean="0"/>
              <a:t>2/13/24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1662DF-1F5A-4023-B0BB-8052DFB8B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813531-0C5B-47A1-AD6B-70E855D3A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986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B75C2-0DE9-47DA-B084-AF4784A52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28FCE6-5E0A-4369-88E9-0A1BE6ECB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A9888-6CB8-4EC7-82BA-30ED34729754}" type="datetime1">
              <a:rPr lang="en-US" smtClean="0"/>
              <a:t>2/13/24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091601-960C-467B-9864-5D1AD06EC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EB7203-D9C4-431F-B604-7B6724B26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544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029BB2-3CC1-4163-8AE9-E7C02B1D2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AAE4F-C26C-49BA-A972-41F0F4DE0ADB}" type="datetime1">
              <a:rPr lang="en-US" smtClean="0"/>
              <a:t>2/13/24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9110DE-945B-4BC2-930A-A038DF40E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628B53-98C9-4C9E-86D1-BB42860A4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9520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A02A9-44EB-4196-B852-A1BBDB0A6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74D168-05A6-4B1D-A09F-A8E42D86A3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80ED2F-F224-44F8-AEF9-4DFB961DA6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DB7ABD-5D25-439E-BB1D-07E951C44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0BFD2-BBA4-4FD1-987F-FD3BC9CFB921}" type="datetime1">
              <a:rPr lang="en-US" smtClean="0"/>
              <a:t>2/13/24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9643C6-DE8C-4CD6-A7FC-73713ABC3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5A79E7-A1DB-4EB0-B5F0-77C338EF9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679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C811B-5550-4269-A855-B077151F6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3C91AB-09CA-42A0-AF74-5CBB8FCEA1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4042FC-E327-43C7-9919-FF2CD30F29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590B91-CBB9-4560-9FF6-CE0A0F6F6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FBA8A-A258-4176-BEE7-483C6D157506}" type="datetime1">
              <a:rPr lang="en-US" smtClean="0"/>
              <a:t>2/13/24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09022C-ABCB-4E1D-9E84-89972C60F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70A5CD-9E31-49CA-9E27-ACB4B422A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3630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3E9B7-3E6B-4B51-B624-80FBB2404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D0215B-8F07-475C-884A-663126D688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B933D5-FA98-4D2D-BF13-F74A33172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5E2A0-D009-45B5-A77A-89FFD3F574AE}" type="datetime1">
              <a:rPr lang="en-US" smtClean="0"/>
              <a:t>2/13/24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717793-B7DE-43D7-8C80-567700AD3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894AB8-3AC9-4053-AED3-FFDA49ED9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1553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60B3DF-3141-40DE-87E0-A243E72275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3DE693-590D-4F2A-8F97-73CDE24828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1F31AE-0C77-4D01-970E-76F9D86E0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B4705-CCE0-4099-8131-24FAC5A17374}" type="datetime1">
              <a:rPr lang="en-US" smtClean="0"/>
              <a:t>2/13/24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4552EB-E9E6-4607-957E-CA68F8107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D7C5FE-74EB-4D92-8D4D-C6ADA1D96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3774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86F341-3F4A-4D42-AF72-497EDDE61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9565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C4EDEF-221B-4D60-9880-6F2E530FD9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03283"/>
            <a:ext cx="10515600" cy="48211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45B8BE-5541-4560-AD32-BF9143BA7B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Georgia" panose="02040502050405020303" pitchFamily="18" charset="0"/>
              </a:defRPr>
            </a:lvl1pPr>
          </a:lstStyle>
          <a:p>
            <a:fld id="{95962A45-9260-4F76-827E-708840933AD2}" type="datetime1">
              <a:rPr lang="en-US" smtClean="0"/>
              <a:t>2/13/24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BDDABD-BA19-4FF9-A7DB-37C61A8DFE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Georgia" panose="02040502050405020303" pitchFamily="18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BCB88A-8308-4DC1-A509-010D2FEA6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Georgia" panose="02040502050405020303" pitchFamily="18" charset="0"/>
              </a:defRPr>
            </a:lvl1pPr>
          </a:lstStyle>
          <a:p>
            <a:fld id="{50BFB731-EAC1-4F99-8029-BA601A1AB7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0464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Georgia" panose="02040502050405020303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System Font Regular"/>
        <a:buChar char="-"/>
        <a:defRPr sz="2800" kern="1200">
          <a:solidFill>
            <a:schemeClr val="tx1"/>
          </a:solidFill>
          <a:latin typeface="Georgia" panose="02040502050405020303" pitchFamily="18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System Font Regular"/>
        <a:buChar char="-"/>
        <a:defRPr sz="2400" kern="1200">
          <a:solidFill>
            <a:schemeClr val="tx1"/>
          </a:solidFill>
          <a:latin typeface="Georgia" panose="02040502050405020303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System Font Regular"/>
        <a:buChar char="-"/>
        <a:defRPr sz="2000" kern="1200">
          <a:solidFill>
            <a:schemeClr val="tx1"/>
          </a:solidFill>
          <a:latin typeface="Georgia" panose="02040502050405020303" pitchFamily="18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System Font Regular"/>
        <a:buChar char="-"/>
        <a:defRPr sz="1800" kern="1200">
          <a:solidFill>
            <a:schemeClr val="tx1"/>
          </a:solidFill>
          <a:latin typeface="Georgia" panose="02040502050405020303" pitchFamily="18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System Font Regular"/>
        <a:buChar char="-"/>
        <a:defRPr sz="1800" kern="1200">
          <a:solidFill>
            <a:schemeClr val="tx1"/>
          </a:solidFill>
          <a:latin typeface="Georgia" panose="02040502050405020303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gif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jpeg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8583F7F-CE8E-4E17-A9BE-D780526153E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85000"/>
          </a:blip>
          <a:srcRect l="2753" t="1114"/>
          <a:stretch/>
        </p:blipFill>
        <p:spPr>
          <a:xfrm>
            <a:off x="1246705" y="35090"/>
            <a:ext cx="9698590" cy="682291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7877D46-3FF3-4CA3-94D5-45FA79FE9C1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8000" b="1" dirty="0">
                <a:effectLst>
                  <a:glow rad="165100">
                    <a:schemeClr val="bg1">
                      <a:alpha val="74000"/>
                    </a:schemeClr>
                  </a:glow>
                </a:effectLst>
              </a:rPr>
              <a:t>Cirrhosis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9F8220-2FC4-442E-80BF-7CFC5B25D0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857486"/>
          </a:xfrm>
        </p:spPr>
        <p:txBody>
          <a:bodyPr>
            <a:normAutofit/>
          </a:bodyPr>
          <a:lstStyle/>
          <a:p>
            <a:r>
              <a:rPr lang="en-US" i="1" dirty="0">
                <a:effectLst>
                  <a:glow rad="127000">
                    <a:schemeClr val="bg1">
                      <a:alpha val="82000"/>
                    </a:schemeClr>
                  </a:glow>
                </a:effectLst>
              </a:rPr>
              <a:t>A beginners guide</a:t>
            </a:r>
          </a:p>
          <a:p>
            <a:endParaRPr lang="en-US" dirty="0">
              <a:effectLst>
                <a:glow rad="127000">
                  <a:schemeClr val="bg1">
                    <a:alpha val="82000"/>
                  </a:schemeClr>
                </a:glow>
              </a:effectLst>
            </a:endParaRPr>
          </a:p>
          <a:p>
            <a:r>
              <a:rPr lang="en-US" b="1" dirty="0">
                <a:effectLst>
                  <a:glow rad="127000">
                    <a:schemeClr val="bg1">
                      <a:alpha val="82000"/>
                    </a:schemeClr>
                  </a:glow>
                </a:effectLst>
              </a:rPr>
              <a:t>Mohammad Almeqdadi, MD</a:t>
            </a:r>
          </a:p>
          <a:p>
            <a:r>
              <a:rPr lang="en-US" sz="1600" i="1" dirty="0">
                <a:effectLst>
                  <a:glow rad="127000">
                    <a:schemeClr val="bg1">
                      <a:alpha val="82000"/>
                    </a:schemeClr>
                  </a:glow>
                </a:effectLst>
              </a:rPr>
              <a:t>Transplant Hepatologist and Gastroenterologist</a:t>
            </a:r>
          </a:p>
          <a:p>
            <a:r>
              <a:rPr lang="en-US" sz="1600" i="1" dirty="0">
                <a:effectLst>
                  <a:glow rad="127000">
                    <a:schemeClr val="bg1">
                      <a:alpha val="82000"/>
                    </a:schemeClr>
                  </a:glow>
                </a:effectLst>
              </a:rPr>
              <a:t>Assistant Professor of Medicine and Surgery</a:t>
            </a:r>
          </a:p>
          <a:p>
            <a:endParaRPr lang="en-US" i="1" dirty="0">
              <a:effectLst>
                <a:glow rad="127000">
                  <a:schemeClr val="bg1">
                    <a:alpha val="82000"/>
                  </a:schemeClr>
                </a:glow>
              </a:effectLst>
            </a:endParaRPr>
          </a:p>
        </p:txBody>
      </p:sp>
      <p:pic>
        <p:nvPicPr>
          <p:cNvPr id="5" name="Picture 4" descr="A blue and black logo&#10;&#10;Description automatically generated">
            <a:extLst>
              <a:ext uri="{FF2B5EF4-FFF2-40B4-BE49-F238E27FC236}">
                <a16:creationId xmlns:a16="http://schemas.microsoft.com/office/drawing/2014/main" id="{C89C8B87-388A-4AFD-A5E0-7926E3614A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3647" y="5983110"/>
            <a:ext cx="3464706" cy="702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8977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3B64A-8BF6-4268-9F0D-BE08ED53A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52473D-55B7-433E-A9F7-24BD2D2B2E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Definition</a:t>
            </a:r>
          </a:p>
          <a:p>
            <a:r>
              <a:rPr lang="en-US" dirty="0"/>
              <a:t>Pathophysiology</a:t>
            </a:r>
          </a:p>
          <a:p>
            <a:r>
              <a:rPr lang="en-US" dirty="0"/>
              <a:t>Diagnosis</a:t>
            </a:r>
          </a:p>
          <a:p>
            <a:r>
              <a:rPr lang="en-US" dirty="0"/>
              <a:t>Etiology</a:t>
            </a:r>
          </a:p>
          <a:p>
            <a:r>
              <a:rPr lang="en-US" dirty="0"/>
              <a:t>Prognosis</a:t>
            </a:r>
          </a:p>
          <a:p>
            <a:r>
              <a:rPr lang="en-US" dirty="0"/>
              <a:t>Case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EE480E-0ACD-4069-9B73-4C03B70EE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3932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C3286-38BF-469C-BF59-8AFEDE655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5A9763C-B577-46A7-9EB4-0E935FE545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5030" y="1411509"/>
            <a:ext cx="2856674" cy="644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247EEF6-2ED3-4F6D-971B-AE4601F3EE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7501" y="127410"/>
            <a:ext cx="1524000" cy="2351435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B742FB42-2031-4C6E-8A1D-CAE6C93454FF}"/>
              </a:ext>
            </a:extLst>
          </p:cNvPr>
          <p:cNvGrpSpPr/>
          <p:nvPr/>
        </p:nvGrpSpPr>
        <p:grpSpPr>
          <a:xfrm>
            <a:off x="413947" y="2392742"/>
            <a:ext cx="11364106" cy="3987485"/>
            <a:chOff x="333703" y="2265361"/>
            <a:chExt cx="8109419" cy="2909893"/>
          </a:xfrm>
        </p:grpSpPr>
        <p:pic>
          <p:nvPicPr>
            <p:cNvPr id="5" name="Picture 4" descr="A collage of images of organs&#10;&#10;Description automatically generated">
              <a:extLst>
                <a:ext uri="{FF2B5EF4-FFF2-40B4-BE49-F238E27FC236}">
                  <a16:creationId xmlns:a16="http://schemas.microsoft.com/office/drawing/2014/main" id="{77BA8E88-EE0A-4DB1-AF70-42A074E1DD5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014" b="49945"/>
            <a:stretch/>
          </p:blipFill>
          <p:spPr>
            <a:xfrm>
              <a:off x="333703" y="2265361"/>
              <a:ext cx="4054709" cy="2909893"/>
            </a:xfrm>
            <a:prstGeom prst="rect">
              <a:avLst/>
            </a:prstGeom>
          </p:spPr>
        </p:pic>
        <p:pic>
          <p:nvPicPr>
            <p:cNvPr id="8" name="Picture 7" descr="A collage of images of organs&#10;&#10;Description automatically generated">
              <a:extLst>
                <a:ext uri="{FF2B5EF4-FFF2-40B4-BE49-F238E27FC236}">
                  <a16:creationId xmlns:a16="http://schemas.microsoft.com/office/drawing/2014/main" id="{AA7F6373-4D4E-4327-8BD1-4CDAA67430E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0054" r="50014"/>
            <a:stretch/>
          </p:blipFill>
          <p:spPr>
            <a:xfrm>
              <a:off x="4388412" y="2265361"/>
              <a:ext cx="4054710" cy="2903538"/>
            </a:xfrm>
            <a:prstGeom prst="rect">
              <a:avLst/>
            </a:prstGeom>
          </p:spPr>
        </p:pic>
      </p:grp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7B3AB4-68A4-4D68-87AC-FFFC4606E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6526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8D3FA-7DDC-492B-ACAF-A550CCC03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-14768"/>
            <a:ext cx="10515600" cy="956551"/>
          </a:xfrm>
        </p:spPr>
        <p:txBody>
          <a:bodyPr/>
          <a:lstStyle/>
          <a:p>
            <a:r>
              <a:rPr lang="en-US" dirty="0"/>
              <a:t>Histologically</a:t>
            </a:r>
          </a:p>
        </p:txBody>
      </p:sp>
      <p:pic>
        <p:nvPicPr>
          <p:cNvPr id="6" name="Picture 5" descr="A collage of images of fibrosis&#10;&#10;Description automatically generated">
            <a:extLst>
              <a:ext uri="{FF2B5EF4-FFF2-40B4-BE49-F238E27FC236}">
                <a16:creationId xmlns:a16="http://schemas.microsoft.com/office/drawing/2014/main" id="{227F8B6B-848C-4901-B214-4D44EAC003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753" y="941783"/>
            <a:ext cx="7458493" cy="5779692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DE2299-537C-49C6-AB33-79FFD735D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7463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9C5F-278A-4281-8C28-7A4959215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Pathophysiology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1123FF-74FE-4F53-8AAC-AB99308403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Disruption of hepatic function</a:t>
            </a:r>
          </a:p>
          <a:p>
            <a:pPr lvl="1"/>
            <a:r>
              <a:rPr lang="en-US" dirty="0"/>
              <a:t>What is the hepatocyte function?</a:t>
            </a:r>
          </a:p>
          <a:p>
            <a:pPr lvl="1"/>
            <a:endParaRPr lang="en-US" dirty="0"/>
          </a:p>
          <a:p>
            <a:r>
              <a:rPr lang="en-US" dirty="0"/>
              <a:t>Disruption of portal blood flow</a:t>
            </a:r>
          </a:p>
          <a:p>
            <a:pPr lvl="1"/>
            <a:r>
              <a:rPr lang="en-US" dirty="0"/>
              <a:t>What is a portal vein?</a:t>
            </a:r>
          </a:p>
          <a:p>
            <a:pPr lvl="1"/>
            <a:r>
              <a:rPr lang="en-US" dirty="0"/>
              <a:t>Do you know of other portal veins in the body?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298ABC-46D1-4D9A-80C1-F86C5E40E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3211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35B44-2972-4473-AFD2-C90A42431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Hepatocyte function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36BA753-96E9-7248-9F33-182B062B74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3283"/>
            <a:ext cx="5369570" cy="4821128"/>
          </a:xfrm>
        </p:spPr>
        <p:txBody>
          <a:bodyPr/>
          <a:lstStyle/>
          <a:p>
            <a:r>
              <a:rPr lang="en-US" dirty="0"/>
              <a:t>Most bodily metabolism and detoxification of blood happens in the liver</a:t>
            </a:r>
          </a:p>
          <a:p>
            <a:endParaRPr lang="en-US" dirty="0"/>
          </a:p>
          <a:p>
            <a:r>
              <a:rPr lang="en-US" dirty="0"/>
              <a:t>Important functions include</a:t>
            </a:r>
          </a:p>
          <a:p>
            <a:pPr lvl="1"/>
            <a:r>
              <a:rPr lang="en-US" dirty="0"/>
              <a:t>Conjugation of bilirubin</a:t>
            </a:r>
          </a:p>
          <a:p>
            <a:pPr lvl="1"/>
            <a:r>
              <a:rPr lang="en-US" dirty="0"/>
              <a:t>Excretion of bilirubin in bile</a:t>
            </a:r>
          </a:p>
          <a:p>
            <a:pPr lvl="1"/>
            <a:r>
              <a:rPr lang="en-US" dirty="0"/>
              <a:t>Production of coagulation factors</a:t>
            </a:r>
          </a:p>
          <a:p>
            <a:pPr lvl="1"/>
            <a:r>
              <a:rPr lang="en-US" dirty="0"/>
              <a:t>Urea cycle</a:t>
            </a:r>
          </a:p>
        </p:txBody>
      </p:sp>
      <p:pic>
        <p:nvPicPr>
          <p:cNvPr id="1030" name="Picture 6" descr="Liver - ScienceDirect">
            <a:extLst>
              <a:ext uri="{FF2B5EF4-FFF2-40B4-BE49-F238E27FC236}">
                <a16:creationId xmlns:a16="http://schemas.microsoft.com/office/drawing/2014/main" id="{D136B47E-6686-5B48-854C-B3503D7C13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0018" y="1303283"/>
            <a:ext cx="5146030" cy="4821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3116C96-72E7-4CF7-9F7F-DDCAA3478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0868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5B429-331D-4E35-A106-5F0B30D043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9254" y="136525"/>
            <a:ext cx="6737131" cy="956551"/>
          </a:xfrm>
        </p:spPr>
        <p:txBody>
          <a:bodyPr/>
          <a:lstStyle/>
          <a:p>
            <a:r>
              <a:rPr lang="en-US" dirty="0"/>
              <a:t>Portal venous system</a:t>
            </a:r>
          </a:p>
        </p:txBody>
      </p:sp>
      <p:pic>
        <p:nvPicPr>
          <p:cNvPr id="4098" name="Picture 2" descr="Full size image for 'Anatomy of the Liver'">
            <a:extLst>
              <a:ext uri="{FF2B5EF4-FFF2-40B4-BE49-F238E27FC236}">
                <a16:creationId xmlns:a16="http://schemas.microsoft.com/office/drawing/2014/main" id="{D98867DC-25BB-4978-8927-5D626F3796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899" y="294289"/>
            <a:ext cx="4591770" cy="6269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76A123E-6F49-194B-8C82-4BA5CAC171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1752" y="1093076"/>
            <a:ext cx="3369762" cy="219010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AC1D6D2-0E8F-994F-ABD5-EC662B0A59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7870" y="2338551"/>
            <a:ext cx="5296940" cy="342637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922E3F7-543D-574B-A9A0-B620192F40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32589" y="4343792"/>
            <a:ext cx="3043796" cy="208500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6043E0F-A23F-4CEB-AD73-C743ECCE1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2784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8E8E0-5792-49EF-A460-8A1F89ED3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Portal hypertension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C63A06F-60AF-9F4A-9D6B-F5E9C1226F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3283"/>
            <a:ext cx="5257800" cy="4821128"/>
          </a:xfrm>
        </p:spPr>
        <p:txBody>
          <a:bodyPr/>
          <a:lstStyle/>
          <a:p>
            <a:r>
              <a:rPr lang="en-US" dirty="0"/>
              <a:t>Multiple portosystemic anastomotic sites exist</a:t>
            </a:r>
          </a:p>
          <a:p>
            <a:r>
              <a:rPr lang="en-US" dirty="0"/>
              <a:t>When the portal pressure is high, these sites will be engorged with blood as shunted paths to the systemic circulation</a:t>
            </a:r>
          </a:p>
        </p:txBody>
      </p:sp>
      <p:pic>
        <p:nvPicPr>
          <p:cNvPr id="9" name="Picture 1" descr="page1image931906064">
            <a:extLst>
              <a:ext uri="{FF2B5EF4-FFF2-40B4-BE49-F238E27FC236}">
                <a16:creationId xmlns:a16="http://schemas.microsoft.com/office/drawing/2014/main" id="{07CA5385-A717-A24A-96BB-329E5F5B13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01966" y="1303338"/>
            <a:ext cx="4951834" cy="4821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FC804EA-BAB9-4115-8271-5E05335CC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5528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FDE7B-E036-492A-86AE-9AAE8175C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Reticuloendothelial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23397D-16BF-C84B-96CB-277EA07551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3283"/>
            <a:ext cx="5415455" cy="4821128"/>
          </a:xfrm>
        </p:spPr>
        <p:txBody>
          <a:bodyPr/>
          <a:lstStyle/>
          <a:p>
            <a:r>
              <a:rPr lang="en-US" dirty="0"/>
              <a:t>The RES is the system of monocyte-macrophage axes that engulf pathogens</a:t>
            </a:r>
          </a:p>
          <a:p>
            <a:r>
              <a:rPr lang="en-US" dirty="0"/>
              <a:t>Main organs are the bone marrow -&gt; spleen -&gt; liver</a:t>
            </a:r>
          </a:p>
          <a:p>
            <a:r>
              <a:rPr lang="en-US" b="1" dirty="0"/>
              <a:t>In adults, 90% of RES is processed in the liver</a:t>
            </a:r>
          </a:p>
        </p:txBody>
      </p:sp>
      <p:pic>
        <p:nvPicPr>
          <p:cNvPr id="3078" name="Picture 6" descr="Reticuloendothelial system | definition of reticuloendothelial system by  Medical dictionary">
            <a:extLst>
              <a:ext uri="{FF2B5EF4-FFF2-40B4-BE49-F238E27FC236}">
                <a16:creationId xmlns:a16="http://schemas.microsoft.com/office/drawing/2014/main" id="{589812DA-4115-4451-BAC0-DB9A7188E4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520746"/>
            <a:ext cx="5677930" cy="4386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E531EA-768A-42DB-B637-52333C6EA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3836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00E47-5E57-42AC-9D34-AE80B6648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Splenomegaly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E42458-DD74-4573-B0E0-9298681052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Why does the spleen increase in size in cirrhosis?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2E2DEC-856D-4795-BF71-9DC342F87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351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00E47-5E57-42AC-9D34-AE80B6648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Splenomegaly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E42458-DD74-4573-B0E0-9298681052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 does the spleen increase in size in cirrhosis?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AutoNum type="arabicPeriod"/>
            </a:pPr>
            <a:r>
              <a:rPr lang="en-US" dirty="0"/>
              <a:t>Compensatory mechanism for RES function</a:t>
            </a:r>
          </a:p>
          <a:p>
            <a:pPr marL="514350" indent="-514350">
              <a:buAutoNum type="arabicPeriod"/>
            </a:pPr>
            <a:r>
              <a:rPr lang="en-US" dirty="0"/>
              <a:t>Portal hypertension causes splenic venous congestion</a:t>
            </a:r>
          </a:p>
          <a:p>
            <a:pPr marL="514350" indent="-514350"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8CFB1C-C3C3-4D8D-B5D3-A01C2AE84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65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00E47-5E57-42AC-9D34-AE80B6648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Splenomegaly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E42458-DD74-4573-B0E0-9298681052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 does the spleen increase in size in cirrhosis?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AutoNum type="arabicPeriod"/>
            </a:pPr>
            <a:r>
              <a:rPr lang="en-US" dirty="0"/>
              <a:t>Compensatory mechanism for RES function</a:t>
            </a:r>
          </a:p>
          <a:p>
            <a:pPr marL="514350" indent="-514350">
              <a:buAutoNum type="arabicPeriod"/>
            </a:pPr>
            <a:r>
              <a:rPr lang="en-US" dirty="0"/>
              <a:t>Portal hypertension causes splenic venous congestion</a:t>
            </a:r>
          </a:p>
          <a:p>
            <a:pPr marL="514350" indent="-514350">
              <a:buAutoNum type="arabicPeriod"/>
            </a:pPr>
            <a:endParaRPr lang="en-US" dirty="0"/>
          </a:p>
          <a:p>
            <a:pPr marL="0" indent="0" algn="ctr">
              <a:buNone/>
            </a:pPr>
            <a:r>
              <a:rPr lang="en-US" b="1" dirty="0"/>
              <a:t>If you were to give a tagged colloid that the macrophages uptake to process, and capture a nuclear image of the body, what will you see?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790082-0232-4ED5-9226-0EC7862A9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2802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371E1BA-4DDC-4008-90D4-399B0F111D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3154" y="1093076"/>
            <a:ext cx="6166090" cy="31601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282F432-79F4-4D74-AF6B-EBA7D70E1A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3153" y="4231481"/>
            <a:ext cx="6166091" cy="240731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AE010DA-1827-6041-BC53-AC5DF671E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Liver Spleen Scan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5A4D83-58E3-8449-9C3B-B225A58B3871}"/>
              </a:ext>
            </a:extLst>
          </p:cNvPr>
          <p:cNvSpPr txBox="1"/>
          <p:nvPr/>
        </p:nvSpPr>
        <p:spPr>
          <a:xfrm>
            <a:off x="5791773" y="2309794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Georgia" panose="02040502050405020303" pitchFamily="18" charset="0"/>
              </a:rPr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59DAD1-073F-3F4E-9444-9EBCC0BFA2EE}"/>
              </a:ext>
            </a:extLst>
          </p:cNvPr>
          <p:cNvSpPr txBox="1"/>
          <p:nvPr/>
        </p:nvSpPr>
        <p:spPr>
          <a:xfrm>
            <a:off x="5791773" y="5741421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Georgia" panose="02040502050405020303" pitchFamily="18" charset="0"/>
              </a:rPr>
              <a:t>B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70C853E-519E-4F60-87A9-663363E32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8018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371E1BA-4DDC-4008-90D4-399B0F111D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3154" y="1093076"/>
            <a:ext cx="6166090" cy="31601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282F432-79F4-4D74-AF6B-EBA7D70E1A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3153" y="4231481"/>
            <a:ext cx="6166091" cy="240731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AE010DA-1827-6041-BC53-AC5DF671E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Liver Spleen Scan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5A4D83-58E3-8449-9C3B-B225A58B3871}"/>
              </a:ext>
            </a:extLst>
          </p:cNvPr>
          <p:cNvSpPr txBox="1"/>
          <p:nvPr/>
        </p:nvSpPr>
        <p:spPr>
          <a:xfrm>
            <a:off x="5231524" y="2309794"/>
            <a:ext cx="1479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eorgia" panose="02040502050405020303" pitchFamily="18" charset="0"/>
              </a:rPr>
              <a:t>Normal scan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59DAD1-073F-3F4E-9444-9EBCC0BFA2EE}"/>
              </a:ext>
            </a:extLst>
          </p:cNvPr>
          <p:cNvSpPr txBox="1"/>
          <p:nvPr/>
        </p:nvSpPr>
        <p:spPr>
          <a:xfrm>
            <a:off x="5414266" y="5741421"/>
            <a:ext cx="1114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eorgia" panose="02040502050405020303" pitchFamily="18" charset="0"/>
              </a:rPr>
              <a:t>Cirrhosis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1C2137E-11E2-42A1-9A83-B39885AFB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2329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CC6F8-0CF2-4BC6-B0A4-D915C6019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Thrombocytopenia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33D1F1-B339-4F9F-8322-BE63606F0A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Thrombocytopenia results due to three reasons</a:t>
            </a:r>
          </a:p>
          <a:p>
            <a:pPr marL="514350" indent="-514350">
              <a:buAutoNum type="arabicPeriod"/>
            </a:pPr>
            <a:r>
              <a:rPr lang="en-US" dirty="0"/>
              <a:t>Sequestration in the, now enlarged, spleen</a:t>
            </a:r>
          </a:p>
          <a:p>
            <a:pPr marL="514350" indent="-514350">
              <a:buAutoNum type="arabicPeriod"/>
            </a:pPr>
            <a:r>
              <a:rPr lang="en-US" dirty="0"/>
              <a:t>Myelosuppression (bone marrow also takes role for RES)</a:t>
            </a:r>
          </a:p>
          <a:p>
            <a:pPr marL="514350" indent="-514350">
              <a:buAutoNum type="arabicPeriod"/>
            </a:pPr>
            <a:r>
              <a:rPr lang="en-US" dirty="0"/>
              <a:t>Low levels of thrombopoietin (TPO) produced in the liver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B75AAF-CF58-41B9-BA16-399878312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9038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CC6F8-0CF2-4BC6-B0A4-D915C6019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Thrombocytopenia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33D1F1-B339-4F9F-8322-BE63606F0A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Thrombocytopenia results due to three reasons</a:t>
            </a:r>
          </a:p>
          <a:p>
            <a:pPr marL="514350" indent="-514350">
              <a:buAutoNum type="arabicPeriod"/>
            </a:pPr>
            <a:r>
              <a:rPr lang="en-US" dirty="0"/>
              <a:t>Sequestration in the, now enlarged, spleen</a:t>
            </a:r>
          </a:p>
          <a:p>
            <a:pPr marL="514350" indent="-514350">
              <a:buAutoNum type="arabicPeriod"/>
            </a:pPr>
            <a:r>
              <a:rPr lang="en-US" dirty="0"/>
              <a:t>Myelosuppression (bone marrow also takes role for RES)</a:t>
            </a:r>
          </a:p>
          <a:p>
            <a:pPr marL="514350" indent="-514350">
              <a:buAutoNum type="arabicPeriod"/>
            </a:pPr>
            <a:r>
              <a:rPr lang="en-US" dirty="0"/>
              <a:t>Low levels of thrombopoietin (TPO) produced in the liver</a:t>
            </a:r>
          </a:p>
          <a:p>
            <a:pPr marL="514350" indent="-514350">
              <a:buAutoNum type="arabicPeriod"/>
            </a:pPr>
            <a:endParaRPr lang="en-US" dirty="0"/>
          </a:p>
          <a:p>
            <a:pPr marL="514350" indent="-514350">
              <a:buAutoNum type="arabicPeriod"/>
            </a:pPr>
            <a:endParaRPr lang="en-US" dirty="0"/>
          </a:p>
          <a:p>
            <a:pPr marL="0" indent="0" algn="ctr">
              <a:buNone/>
            </a:pPr>
            <a:r>
              <a:rPr lang="en-US" sz="3600" b="1" dirty="0">
                <a:highlight>
                  <a:srgbClr val="FFFF00"/>
                </a:highlight>
              </a:rPr>
              <a:t>Thrombocytopenia is a sign of chronic liver disease or cirrhosis until proven otherwise!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1EF465-1EC8-4347-9AE1-18ECD6AD8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9389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2DD3B-99A6-4DE1-B20A-F5E170E4C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Diagnosis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44A124-7E7D-4327-8CF3-7535E74664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Varying accuracy compared to the Gold Standard.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Labs (AST, PLT, </a:t>
            </a:r>
            <a:r>
              <a:rPr lang="en-US" dirty="0" err="1"/>
              <a:t>Tbili</a:t>
            </a:r>
            <a:r>
              <a:rPr lang="en-US" dirty="0"/>
              <a:t>, Alb, INR)</a:t>
            </a:r>
          </a:p>
          <a:p>
            <a:r>
              <a:rPr lang="en-US" dirty="0"/>
              <a:t>Scoring systems (FIB4, APRI, </a:t>
            </a:r>
            <a:r>
              <a:rPr lang="en-US" dirty="0" err="1"/>
              <a:t>Fibrosure</a:t>
            </a:r>
            <a:r>
              <a:rPr lang="en-US" dirty="0"/>
              <a:t>, ELF, etc.)</a:t>
            </a:r>
          </a:p>
          <a:p>
            <a:r>
              <a:rPr lang="en-US" dirty="0"/>
              <a:t>Noninvasive Elastography (</a:t>
            </a:r>
            <a:r>
              <a:rPr lang="en-US" dirty="0" err="1"/>
              <a:t>Fibroscan</a:t>
            </a:r>
            <a:r>
              <a:rPr lang="en-US" dirty="0"/>
              <a:t>, USE, MRE, etc.)</a:t>
            </a:r>
          </a:p>
          <a:p>
            <a:r>
              <a:rPr lang="en-US" dirty="0"/>
              <a:t>Imaging (US, CT, MRI, LS scan)</a:t>
            </a:r>
          </a:p>
          <a:p>
            <a:r>
              <a:rPr lang="en-US" b="1" dirty="0"/>
              <a:t>Biopsy (Gold standard)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45BF7B-148C-428D-86A7-69A935D5C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2109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7B6E9-A8DA-4D72-9420-39F3B0552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CT Imaging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0E917E-663C-7C4F-851D-29A6B54DB9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303283"/>
            <a:ext cx="5740400" cy="4821128"/>
          </a:xfrm>
        </p:spPr>
        <p:txBody>
          <a:bodyPr/>
          <a:lstStyle/>
          <a:p>
            <a:r>
              <a:rPr lang="en-US" dirty="0"/>
              <a:t>Nodular contour (can be very subtle)</a:t>
            </a:r>
          </a:p>
          <a:p>
            <a:r>
              <a:rPr lang="en-US" dirty="0"/>
              <a:t>Caudate lobe hypertrophy</a:t>
            </a:r>
          </a:p>
          <a:p>
            <a:endParaRPr lang="en-US" dirty="0"/>
          </a:p>
          <a:p>
            <a:r>
              <a:rPr lang="en-US" dirty="0"/>
              <a:t>Sequalae of portal hypertension</a:t>
            </a:r>
          </a:p>
          <a:p>
            <a:pPr lvl="1"/>
            <a:r>
              <a:rPr lang="en-US" dirty="0"/>
              <a:t>Recanalization of the umbilical vein</a:t>
            </a:r>
          </a:p>
          <a:p>
            <a:pPr lvl="1"/>
            <a:r>
              <a:rPr lang="en-US" dirty="0"/>
              <a:t>Varices</a:t>
            </a:r>
          </a:p>
          <a:p>
            <a:pPr lvl="1"/>
            <a:endParaRPr lang="en-US" dirty="0"/>
          </a:p>
          <a:p>
            <a:r>
              <a:rPr lang="en-US" dirty="0"/>
              <a:t>Splenomegaly</a:t>
            </a:r>
          </a:p>
        </p:txBody>
      </p:sp>
      <p:pic>
        <p:nvPicPr>
          <p:cNvPr id="3074" name="Picture 2" descr="Cirrhosis | Radiology Reference Article | Radiopaedia.org">
            <a:extLst>
              <a:ext uri="{FF2B5EF4-FFF2-40B4-BE49-F238E27FC236}">
                <a16:creationId xmlns:a16="http://schemas.microsoft.com/office/drawing/2014/main" id="{73F18589-C07E-F14C-A28F-030FD41D1C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8600" y="1303283"/>
            <a:ext cx="5613400" cy="4838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3891059-CE9A-4BB8-98EA-3862AEB37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4917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D331E-76B4-A642-A24A-8329F075D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 what causes cirrhosis?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44693F-0995-C64E-8503-D95B47FD62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EC2B98-1481-44E8-A339-878398AF9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9462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B16FE-9DCF-4BDE-A196-2893E9B64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082566"/>
          </a:xfrm>
        </p:spPr>
        <p:txBody>
          <a:bodyPr/>
          <a:lstStyle/>
          <a:p>
            <a:r>
              <a:rPr lang="en-US" dirty="0"/>
              <a:t>What causes cirrhosis?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0CB4135-8974-4B19-9D42-D78DD9EB06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/>
          </a:bodyPr>
          <a:lstStyle/>
          <a:p>
            <a:r>
              <a:rPr lang="en-US" dirty="0"/>
              <a:t>Hepatotoxicity</a:t>
            </a:r>
          </a:p>
          <a:p>
            <a:pPr lvl="1"/>
            <a:r>
              <a:rPr lang="en-US" dirty="0"/>
              <a:t>Alcohol</a:t>
            </a:r>
          </a:p>
          <a:p>
            <a:pPr lvl="1"/>
            <a:r>
              <a:rPr lang="en-US" dirty="0"/>
              <a:t>Medications</a:t>
            </a:r>
          </a:p>
          <a:p>
            <a:pPr lvl="1"/>
            <a:r>
              <a:rPr lang="en-US" dirty="0"/>
              <a:t>Other hepatotoxins (e.g. aflatoxin)</a:t>
            </a:r>
          </a:p>
          <a:p>
            <a:r>
              <a:rPr lang="en-US" dirty="0"/>
              <a:t>Inflammation</a:t>
            </a:r>
          </a:p>
          <a:p>
            <a:pPr lvl="1"/>
            <a:r>
              <a:rPr lang="en-US" dirty="0"/>
              <a:t>Viral hepatitis</a:t>
            </a:r>
          </a:p>
          <a:p>
            <a:pPr lvl="1"/>
            <a:r>
              <a:rPr lang="en-US" dirty="0"/>
              <a:t>Autoimmune hepatitis</a:t>
            </a:r>
          </a:p>
          <a:p>
            <a:pPr lvl="1"/>
            <a:r>
              <a:rPr lang="en-US" dirty="0"/>
              <a:t>PBC</a:t>
            </a:r>
          </a:p>
          <a:p>
            <a:pPr lvl="1"/>
            <a:r>
              <a:rPr lang="en-US" dirty="0"/>
              <a:t>PSC</a:t>
            </a:r>
          </a:p>
          <a:p>
            <a:pPr lvl="1"/>
            <a:r>
              <a:rPr lang="en-US" dirty="0"/>
              <a:t>Parasitic infections</a:t>
            </a:r>
          </a:p>
          <a:p>
            <a:r>
              <a:rPr lang="en-US" dirty="0"/>
              <a:t>Metabolic disease</a:t>
            </a:r>
          </a:p>
          <a:p>
            <a:pPr lvl="1"/>
            <a:r>
              <a:rPr lang="en-US" dirty="0"/>
              <a:t>MASLD (formerly NAFLD)</a:t>
            </a:r>
          </a:p>
          <a:p>
            <a:pPr lvl="1"/>
            <a:r>
              <a:rPr lang="en-US" dirty="0"/>
              <a:t>Hemochromatosis</a:t>
            </a:r>
          </a:p>
          <a:p>
            <a:pPr lvl="1"/>
            <a:r>
              <a:rPr lang="en-US" dirty="0"/>
              <a:t>Wilson disease</a:t>
            </a:r>
          </a:p>
          <a:p>
            <a:pPr lvl="1"/>
            <a:r>
              <a:rPr lang="en-US" dirty="0"/>
              <a:t>Alpha-1 antitrypsin deficiency</a:t>
            </a:r>
          </a:p>
          <a:p>
            <a:r>
              <a:rPr lang="en-US" dirty="0"/>
              <a:t>Vascular causes</a:t>
            </a:r>
          </a:p>
          <a:p>
            <a:pPr lvl="1"/>
            <a:r>
              <a:rPr lang="en-US" dirty="0"/>
              <a:t>Budd-Chiari syndrome</a:t>
            </a:r>
          </a:p>
          <a:p>
            <a:pPr lvl="1"/>
            <a:r>
              <a:rPr lang="en-US" dirty="0"/>
              <a:t>Cardiac cirrhosis (nutmeg)</a:t>
            </a:r>
          </a:p>
          <a:p>
            <a:r>
              <a:rPr lang="en-US" dirty="0"/>
              <a:t>Cryptogenic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E4D4CC2-F506-4AAF-BC93-5CCA14254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0301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B16FE-9DCF-4BDE-A196-2893E9B64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2552"/>
            <a:ext cx="10515600" cy="884128"/>
          </a:xfrm>
        </p:spPr>
        <p:txBody>
          <a:bodyPr>
            <a:normAutofit/>
          </a:bodyPr>
          <a:lstStyle/>
          <a:p>
            <a:r>
              <a:rPr lang="en-US" sz="3600" dirty="0"/>
              <a:t>How to investigate the etiology of cirrhosis?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0CB4135-8974-4B19-9D42-D78DD9EB06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0145"/>
            <a:ext cx="10515600" cy="4277710"/>
          </a:xfrm>
        </p:spPr>
        <p:txBody>
          <a:bodyPr numCol="2">
            <a:normAutofit/>
          </a:bodyPr>
          <a:lstStyle/>
          <a:p>
            <a:r>
              <a:rPr lang="en-US" dirty="0"/>
              <a:t>Hepatotoxicity</a:t>
            </a:r>
          </a:p>
          <a:p>
            <a:pPr lvl="1"/>
            <a:r>
              <a:rPr lang="en-US" dirty="0"/>
              <a:t>History and physical exam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Inflammation</a:t>
            </a:r>
          </a:p>
          <a:p>
            <a:pPr lvl="1"/>
            <a:r>
              <a:rPr lang="en-US" dirty="0"/>
              <a:t>HBV and HCV serologies</a:t>
            </a:r>
          </a:p>
          <a:p>
            <a:pPr lvl="1"/>
            <a:r>
              <a:rPr lang="en-US" dirty="0"/>
              <a:t>ANA, ASMA, AMA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Metabolic disease</a:t>
            </a:r>
          </a:p>
          <a:p>
            <a:pPr lvl="1"/>
            <a:r>
              <a:rPr lang="en-US" dirty="0"/>
              <a:t>Iron panel and ferritin</a:t>
            </a:r>
          </a:p>
          <a:p>
            <a:pPr lvl="1"/>
            <a:r>
              <a:rPr lang="en-US" dirty="0"/>
              <a:t>Ceruloplasmin (if age &lt; 40)</a:t>
            </a:r>
          </a:p>
          <a:p>
            <a:pPr lvl="1"/>
            <a:r>
              <a:rPr lang="en-US" dirty="0"/>
              <a:t>A1AT level + Phenotype</a:t>
            </a:r>
          </a:p>
          <a:p>
            <a:pPr lvl="1"/>
            <a:endParaRPr lang="en-US" dirty="0"/>
          </a:p>
          <a:p>
            <a:r>
              <a:rPr lang="en-US" dirty="0"/>
              <a:t>Vascular causes</a:t>
            </a:r>
          </a:p>
          <a:p>
            <a:pPr lvl="1"/>
            <a:r>
              <a:rPr lang="en-US" dirty="0"/>
              <a:t>U/S with dopplers</a:t>
            </a:r>
          </a:p>
          <a:p>
            <a:pPr lvl="1"/>
            <a:endParaRPr lang="en-US" dirty="0"/>
          </a:p>
          <a:p>
            <a:r>
              <a:rPr lang="en-US" dirty="0"/>
              <a:t>Cryptogenic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7E5988F-9245-4007-B08F-13E9358C5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5693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818BC-7034-B74F-8F5C-5F445E44B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Management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292EEA-0ACC-3145-B16C-8AC40029BF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875332-9F22-476D-9ED2-E95CF1BB2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4565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A1B86-335B-4C87-AD37-082A05927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69D13A-89C5-4E93-8F57-738F355AA2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Prognostication</a:t>
            </a:r>
          </a:p>
          <a:p>
            <a:r>
              <a:rPr lang="en-US" dirty="0"/>
              <a:t>Compensated vs Decompensated</a:t>
            </a:r>
          </a:p>
          <a:p>
            <a:r>
              <a:rPr lang="en-US" dirty="0"/>
              <a:t>Is cirrhosis reversible? No -&gt; </a:t>
            </a:r>
            <a:r>
              <a:rPr lang="en-US" i="1" dirty="0"/>
              <a:t>once cirrhotic, always cirrhotic</a:t>
            </a:r>
          </a:p>
          <a:p>
            <a:r>
              <a:rPr lang="en-US" dirty="0"/>
              <a:t>Manage the complications of cirrhosis</a:t>
            </a:r>
          </a:p>
          <a:p>
            <a:r>
              <a:rPr lang="en-US" dirty="0"/>
              <a:t>Transplant evaluation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1906E7-4D3B-4703-8890-045E9753A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4469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E5FFA-87D1-4573-A42F-4F3D01C9E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MELD and Child-Pugh Score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4E86A9F-AA2E-429E-A315-47F8E88BA4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1768840"/>
              </p:ext>
            </p:extLst>
          </p:nvPr>
        </p:nvGraphicFramePr>
        <p:xfrm>
          <a:off x="7796545" y="1690688"/>
          <a:ext cx="4184709" cy="4718344"/>
        </p:xfrm>
        <a:graphic>
          <a:graphicData uri="http://schemas.openxmlformats.org/drawingml/2006/table">
            <a:tbl>
              <a:tblPr/>
              <a:tblGrid>
                <a:gridCol w="259671">
                  <a:extLst>
                    <a:ext uri="{9D8B030D-6E8A-4147-A177-3AD203B41FA5}">
                      <a16:colId xmlns:a16="http://schemas.microsoft.com/office/drawing/2014/main" val="4000729034"/>
                    </a:ext>
                  </a:extLst>
                </a:gridCol>
                <a:gridCol w="289634">
                  <a:extLst>
                    <a:ext uri="{9D8B030D-6E8A-4147-A177-3AD203B41FA5}">
                      <a16:colId xmlns:a16="http://schemas.microsoft.com/office/drawing/2014/main" val="3284872308"/>
                    </a:ext>
                  </a:extLst>
                </a:gridCol>
                <a:gridCol w="339571">
                  <a:extLst>
                    <a:ext uri="{9D8B030D-6E8A-4147-A177-3AD203B41FA5}">
                      <a16:colId xmlns:a16="http://schemas.microsoft.com/office/drawing/2014/main" val="758547979"/>
                    </a:ext>
                  </a:extLst>
                </a:gridCol>
                <a:gridCol w="339571">
                  <a:extLst>
                    <a:ext uri="{9D8B030D-6E8A-4147-A177-3AD203B41FA5}">
                      <a16:colId xmlns:a16="http://schemas.microsoft.com/office/drawing/2014/main" val="1243813452"/>
                    </a:ext>
                  </a:extLst>
                </a:gridCol>
                <a:gridCol w="339571">
                  <a:extLst>
                    <a:ext uri="{9D8B030D-6E8A-4147-A177-3AD203B41FA5}">
                      <a16:colId xmlns:a16="http://schemas.microsoft.com/office/drawing/2014/main" val="3076517161"/>
                    </a:ext>
                  </a:extLst>
                </a:gridCol>
                <a:gridCol w="339571">
                  <a:extLst>
                    <a:ext uri="{9D8B030D-6E8A-4147-A177-3AD203B41FA5}">
                      <a16:colId xmlns:a16="http://schemas.microsoft.com/office/drawing/2014/main" val="2893982215"/>
                    </a:ext>
                  </a:extLst>
                </a:gridCol>
                <a:gridCol w="159798">
                  <a:extLst>
                    <a:ext uri="{9D8B030D-6E8A-4147-A177-3AD203B41FA5}">
                      <a16:colId xmlns:a16="http://schemas.microsoft.com/office/drawing/2014/main" val="2148249845"/>
                    </a:ext>
                  </a:extLst>
                </a:gridCol>
                <a:gridCol w="545976">
                  <a:extLst>
                    <a:ext uri="{9D8B030D-6E8A-4147-A177-3AD203B41FA5}">
                      <a16:colId xmlns:a16="http://schemas.microsoft.com/office/drawing/2014/main" val="2665581934"/>
                    </a:ext>
                  </a:extLst>
                </a:gridCol>
                <a:gridCol w="545976">
                  <a:extLst>
                    <a:ext uri="{9D8B030D-6E8A-4147-A177-3AD203B41FA5}">
                      <a16:colId xmlns:a16="http://schemas.microsoft.com/office/drawing/2014/main" val="1520350092"/>
                    </a:ext>
                  </a:extLst>
                </a:gridCol>
                <a:gridCol w="545976">
                  <a:extLst>
                    <a:ext uri="{9D8B030D-6E8A-4147-A177-3AD203B41FA5}">
                      <a16:colId xmlns:a16="http://schemas.microsoft.com/office/drawing/2014/main" val="2623423565"/>
                    </a:ext>
                  </a:extLst>
                </a:gridCol>
                <a:gridCol w="479394">
                  <a:extLst>
                    <a:ext uri="{9D8B030D-6E8A-4147-A177-3AD203B41FA5}">
                      <a16:colId xmlns:a16="http://schemas.microsoft.com/office/drawing/2014/main" val="3521649104"/>
                    </a:ext>
                  </a:extLst>
                </a:gridCol>
              </a:tblGrid>
              <a:tr h="453928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MELD </a:t>
                      </a:r>
                    </a:p>
                  </a:txBody>
                  <a:tcPr marL="82679" marR="82679" marT="41340" marB="4134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bilirubin</a:t>
                      </a:r>
                    </a:p>
                  </a:txBody>
                  <a:tcPr marL="82679" marR="82679" marT="41340" marB="413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Points</a:t>
                      </a:r>
                    </a:p>
                  </a:txBody>
                  <a:tcPr marL="9963" marR="9963" marT="99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963" marR="9963" marT="99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4093573"/>
                  </a:ext>
                </a:extLst>
              </a:tr>
              <a:tr h="20923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963" marR="9963" marT="99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sCr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Tbili</a:t>
                      </a:r>
                    </a:p>
                  </a:txBody>
                  <a:tcPr marL="9963" marR="9963" marT="99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202122"/>
                          </a:solidFill>
                          <a:effectLst/>
                          <a:latin typeface="Calibri" panose="020F0502020204030204" pitchFamily="34" charset="0"/>
                        </a:rPr>
                        <a:t>&lt; 2</a:t>
                      </a:r>
                    </a:p>
                  </a:txBody>
                  <a:tcPr marL="9963" marR="9963" marT="99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202122"/>
                          </a:solidFill>
                          <a:effectLst/>
                          <a:latin typeface="Calibri" panose="020F0502020204030204" pitchFamily="34" charset="0"/>
                        </a:rPr>
                        <a:t>2-3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202122"/>
                          </a:solidFill>
                          <a:effectLst/>
                          <a:latin typeface="Calibri" panose="020F0502020204030204" pitchFamily="34" charset="0"/>
                        </a:rPr>
                        <a:t>&gt;3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4381863"/>
                  </a:ext>
                </a:extLst>
              </a:tr>
              <a:tr h="199272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INR = 1</a:t>
                      </a:r>
                    </a:p>
                  </a:txBody>
                  <a:tcPr marL="82679" marR="82679" marT="41340" marB="4134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E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5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0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Alb</a:t>
                      </a:r>
                    </a:p>
                  </a:txBody>
                  <a:tcPr marL="9963" marR="9963" marT="99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202122"/>
                          </a:solidFill>
                          <a:effectLst/>
                          <a:latin typeface="Calibri" panose="020F0502020204030204" pitchFamily="34" charset="0"/>
                        </a:rPr>
                        <a:t>&gt; 3.5</a:t>
                      </a:r>
                    </a:p>
                  </a:txBody>
                  <a:tcPr marL="9963" marR="9963" marT="99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202122"/>
                          </a:solidFill>
                          <a:effectLst/>
                          <a:latin typeface="Calibri" panose="020F0502020204030204" pitchFamily="34" charset="0"/>
                        </a:rPr>
                        <a:t>2.8–3.5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202122"/>
                          </a:solidFill>
                          <a:effectLst/>
                          <a:latin typeface="Calibri" panose="020F0502020204030204" pitchFamily="34" charset="0"/>
                        </a:rPr>
                        <a:t>&lt; 2.8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9019313"/>
                  </a:ext>
                </a:extLst>
              </a:tr>
              <a:tr h="19927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1.5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BD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7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CD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INR</a:t>
                      </a:r>
                    </a:p>
                  </a:txBody>
                  <a:tcPr marL="9963" marR="9963" marT="99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202122"/>
                          </a:solidFill>
                          <a:effectLst/>
                          <a:latin typeface="Calibri" panose="020F0502020204030204" pitchFamily="34" charset="0"/>
                        </a:rPr>
                        <a:t>&lt; 1.7</a:t>
                      </a:r>
                    </a:p>
                  </a:txBody>
                  <a:tcPr marL="9963" marR="9963" marT="99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202122"/>
                          </a:solidFill>
                          <a:effectLst/>
                          <a:latin typeface="Calibri" panose="020F0502020204030204" pitchFamily="34" charset="0"/>
                        </a:rPr>
                        <a:t>1.7–2.3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202122"/>
                          </a:solidFill>
                          <a:effectLst/>
                          <a:latin typeface="Calibri" panose="020F0502020204030204" pitchFamily="34" charset="0"/>
                        </a:rPr>
                        <a:t>&gt; 2.3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9636778"/>
                  </a:ext>
                </a:extLst>
              </a:tr>
              <a:tr h="19927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BD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CD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C8C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C4C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Ascites</a:t>
                      </a:r>
                    </a:p>
                  </a:txBody>
                  <a:tcPr marL="9963" marR="9963" marT="99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202122"/>
                          </a:solidFill>
                          <a:effectLst/>
                          <a:latin typeface="Calibri" panose="020F0502020204030204" pitchFamily="34" charset="0"/>
                        </a:rPr>
                        <a:t>None</a:t>
                      </a:r>
                    </a:p>
                  </a:txBody>
                  <a:tcPr marL="9963" marR="9963" marT="99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202122"/>
                          </a:solidFill>
                          <a:effectLst/>
                          <a:latin typeface="Calibri" panose="020F0502020204030204" pitchFamily="34" charset="0"/>
                        </a:rPr>
                        <a:t>Mild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202122"/>
                          </a:solidFill>
                          <a:effectLst/>
                          <a:latin typeface="Calibri" panose="020F0502020204030204" pitchFamily="34" charset="0"/>
                        </a:rPr>
                        <a:t>Mod+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5222195"/>
                  </a:ext>
                </a:extLst>
              </a:tr>
              <a:tr h="20923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C8C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AB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5B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1B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Enceph</a:t>
                      </a:r>
                    </a:p>
                  </a:txBody>
                  <a:tcPr marL="9963" marR="9963" marT="99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202122"/>
                          </a:solidFill>
                          <a:effectLst/>
                          <a:latin typeface="Calibri" panose="020F0502020204030204" pitchFamily="34" charset="0"/>
                        </a:rPr>
                        <a:t>None</a:t>
                      </a:r>
                    </a:p>
                  </a:txBody>
                  <a:tcPr marL="9963" marR="9963" marT="99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202122"/>
                          </a:solidFill>
                          <a:effectLst/>
                          <a:latin typeface="Calibri" panose="020F0502020204030204" pitchFamily="34" charset="0"/>
                        </a:rPr>
                        <a:t>I-II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202122"/>
                          </a:solidFill>
                          <a:effectLst/>
                          <a:latin typeface="Calibri" panose="020F0502020204030204" pitchFamily="34" charset="0"/>
                        </a:rPr>
                        <a:t>III-IV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706133"/>
                  </a:ext>
                </a:extLst>
              </a:tr>
              <a:tr h="20923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AB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1B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7A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2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9963" marR="9963" marT="99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5-6</a:t>
                      </a:r>
                    </a:p>
                  </a:txBody>
                  <a:tcPr marL="9963" marR="9963" marT="99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7-9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10-15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1204928"/>
                  </a:ext>
                </a:extLst>
              </a:tr>
              <a:tr h="209235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INR = 1.5</a:t>
                      </a:r>
                    </a:p>
                  </a:txBody>
                  <a:tcPr marL="82679" marR="82679" marT="41340" marB="4134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CD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CTP</a:t>
                      </a:r>
                    </a:p>
                  </a:txBody>
                  <a:tcPr marL="9963" marR="9963" marT="99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</a:t>
                      </a:r>
                    </a:p>
                  </a:txBody>
                  <a:tcPr marL="9963" marR="9963" marT="99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6908221"/>
                  </a:ext>
                </a:extLst>
              </a:tr>
              <a:tr h="19927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1.5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CD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CB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BB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3B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7643168"/>
                  </a:ext>
                </a:extLst>
              </a:tr>
              <a:tr h="19927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C3C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3B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3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A9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4889266"/>
                  </a:ext>
                </a:extLst>
              </a:tr>
              <a:tr h="19927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29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2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A7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9152751"/>
                  </a:ext>
                </a:extLst>
              </a:tr>
              <a:tr h="20923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29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A7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27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6242104"/>
                  </a:ext>
                </a:extLst>
              </a:tr>
              <a:tr h="209235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INR = 2</a:t>
                      </a:r>
                    </a:p>
                  </a:txBody>
                  <a:tcPr marL="82679" marR="82679" marT="41340" marB="4134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7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C8C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C4C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FC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946338"/>
                  </a:ext>
                </a:extLst>
              </a:tr>
              <a:tr h="19927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1.5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C4C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5B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1B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CA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6420024"/>
                  </a:ext>
                </a:extLst>
              </a:tr>
              <a:tr h="19927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5B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CA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2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E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045439"/>
                  </a:ext>
                </a:extLst>
              </a:tr>
              <a:tr h="19927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2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99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8F9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B8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5450964"/>
                  </a:ext>
                </a:extLst>
              </a:tr>
              <a:tr h="20923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99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B8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1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C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7129138"/>
                  </a:ext>
                </a:extLst>
              </a:tr>
              <a:tr h="199272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INR = 3</a:t>
                      </a:r>
                    </a:p>
                  </a:txBody>
                  <a:tcPr marL="82679" marR="82679" marT="41340" marB="4134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FC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5B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CA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7A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383433"/>
                  </a:ext>
                </a:extLst>
              </a:tr>
              <a:tr h="19927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1.5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CA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2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99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49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6986934"/>
                  </a:ext>
                </a:extLst>
              </a:tr>
              <a:tr h="19927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2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49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B8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68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3363924"/>
                  </a:ext>
                </a:extLst>
              </a:tr>
              <a:tr h="19927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8F9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1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C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87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2319112"/>
                  </a:ext>
                </a:extLst>
              </a:tr>
              <a:tr h="20923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1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7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6E7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6008778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52A13586-EAD9-EC41-B256-C66972AB4B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45011"/>
            <a:ext cx="6215724" cy="4009697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4661F55-5F92-4AD6-AB83-66D7DA410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8500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CD970-2812-4073-84FE-1D2ACE070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04" y="136525"/>
            <a:ext cx="5825358" cy="956551"/>
          </a:xfrm>
        </p:spPr>
        <p:txBody>
          <a:bodyPr>
            <a:noAutofit/>
          </a:bodyPr>
          <a:lstStyle/>
          <a:p>
            <a:r>
              <a:rPr lang="en-US" sz="2800" b="1" dirty="0"/>
              <a:t>Decompensated cirrhosis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5173E-566C-41C4-8F35-CDD88B57B7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Jaundice</a:t>
            </a:r>
          </a:p>
          <a:p>
            <a:r>
              <a:rPr lang="en-US" dirty="0"/>
              <a:t>Hepatic encephalopathy</a:t>
            </a:r>
          </a:p>
          <a:p>
            <a:r>
              <a:rPr lang="en-US" dirty="0"/>
              <a:t>GI bleed</a:t>
            </a:r>
          </a:p>
          <a:p>
            <a:r>
              <a:rPr lang="en-US" dirty="0"/>
              <a:t>Ascites</a:t>
            </a:r>
          </a:p>
          <a:p>
            <a:r>
              <a:rPr lang="en-US" dirty="0"/>
              <a:t>Hepatocellular carcinoma</a:t>
            </a:r>
          </a:p>
          <a:p>
            <a:r>
              <a:rPr lang="en-US" dirty="0"/>
              <a:t>…</a:t>
            </a:r>
          </a:p>
        </p:txBody>
      </p:sp>
      <p:pic>
        <p:nvPicPr>
          <p:cNvPr id="4" name="Picture 2" descr="https://d1niluoi1dd30v.cloudfront.net/C20170002574/B9780323596244001475/f147-001-9780323596244.jpg?Signature=dmCqHQmdV5JVkhFQVm%7EWU4WRFfopoAjl%7EypyIkVv9nFEGnL9Q7cP81-tSjBgfuQqBKUAf%7EkW4xXtlWV32gvmSXXojKXjkiLegGSV9TYWDiEBk6RitW-jY1vuBK6H%7EESLybBoCPZSRCAz9tJOfJZcJC8sxRQNvU7s7ngHPdMyq38_&amp;Expires=1635356054&amp;Key-Pair-Id=APKAICLNFGBCWWYGVIZQ">
            <a:extLst>
              <a:ext uri="{FF2B5EF4-FFF2-40B4-BE49-F238E27FC236}">
                <a16:creationId xmlns:a16="http://schemas.microsoft.com/office/drawing/2014/main" id="{22DDA1D5-AAE1-8D4C-994C-16D21641A3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1517" y="136524"/>
            <a:ext cx="5570483" cy="6699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043133-F3EC-45CE-A73E-82A277325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1345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A67E16D-CB58-4F54-B5C9-84DCE19F47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067" y="195943"/>
            <a:ext cx="10135866" cy="603068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D0B153C-F76B-41B4-89CE-5B0F340F0185}"/>
              </a:ext>
            </a:extLst>
          </p:cNvPr>
          <p:cNvSpPr txBox="1"/>
          <p:nvPr/>
        </p:nvSpPr>
        <p:spPr>
          <a:xfrm>
            <a:off x="0" y="6431224"/>
            <a:ext cx="121951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Georgia" panose="02040502050405020303" pitchFamily="18" charset="0"/>
              </a:rPr>
              <a:t>Kaplan DE, Bosch J, Ripoll C, Thiele M, Fortune BE, </a:t>
            </a:r>
            <a:r>
              <a:rPr lang="en-US" sz="1200" dirty="0" err="1">
                <a:latin typeface="Georgia" panose="02040502050405020303" pitchFamily="18" charset="0"/>
              </a:rPr>
              <a:t>Simonetto</a:t>
            </a:r>
            <a:r>
              <a:rPr lang="en-US" sz="1200" dirty="0">
                <a:latin typeface="Georgia" panose="02040502050405020303" pitchFamily="18" charset="0"/>
              </a:rPr>
              <a:t> DA, Garcia-Tsao G. </a:t>
            </a:r>
          </a:p>
          <a:p>
            <a:r>
              <a:rPr lang="en-US" sz="1200" dirty="0">
                <a:latin typeface="Georgia" panose="02040502050405020303" pitchFamily="18" charset="0"/>
              </a:rPr>
              <a:t>AASLD practice guidance on risk stratification and management of portal hypertension and varices in cirrhosis. Hepatology. 2023 Oct 23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873A16E-61EC-41EA-96E4-4CA1B957B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2073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02C29-D48C-EE47-A7F9-60A4453BB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Management of Cirrhosis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05637-2020-6F41-9428-63265BDA63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 cure for cirrhosis apart from liver transplant</a:t>
            </a:r>
          </a:p>
          <a:p>
            <a:r>
              <a:rPr lang="en-US" dirty="0" err="1"/>
              <a:t>Cirrhotics</a:t>
            </a:r>
            <a:r>
              <a:rPr lang="en-US" dirty="0"/>
              <a:t> mortality stems from </a:t>
            </a:r>
            <a:r>
              <a:rPr lang="en-US" b="1" dirty="0"/>
              <a:t>infections</a:t>
            </a:r>
            <a:r>
              <a:rPr lang="en-US" dirty="0"/>
              <a:t> and </a:t>
            </a:r>
            <a:r>
              <a:rPr lang="en-US" b="1" dirty="0"/>
              <a:t>HCC</a:t>
            </a:r>
            <a:endParaRPr lang="en-US" dirty="0"/>
          </a:p>
          <a:p>
            <a:r>
              <a:rPr lang="en-US" dirty="0"/>
              <a:t>Focus is to prevent complications of cirrhosis and portal hypertension</a:t>
            </a:r>
          </a:p>
          <a:p>
            <a:endParaRPr lang="en-US" dirty="0"/>
          </a:p>
          <a:p>
            <a:pPr marL="0" indent="0" algn="ctr">
              <a:buNone/>
            </a:pPr>
            <a:r>
              <a:rPr lang="en-US" b="1" dirty="0"/>
              <a:t>What is the most important factor in </a:t>
            </a:r>
            <a:r>
              <a:rPr lang="en-US" b="1" dirty="0" err="1"/>
              <a:t>cirrhotics</a:t>
            </a:r>
            <a:r>
              <a:rPr lang="en-US" b="1" dirty="0"/>
              <a:t> management?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85D6F4-6E79-4F67-96E1-4DDFCF89F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5136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02C29-D48C-EE47-A7F9-60A4453BB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Management of Cirrhosis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05637-2020-6F41-9428-63265BDA63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 cure for cirrhosis apart from liver transplant</a:t>
            </a:r>
          </a:p>
          <a:p>
            <a:r>
              <a:rPr lang="en-US" dirty="0" err="1"/>
              <a:t>Cirrhotics</a:t>
            </a:r>
            <a:r>
              <a:rPr lang="en-US" dirty="0"/>
              <a:t> mortality stems from </a:t>
            </a:r>
            <a:r>
              <a:rPr lang="en-US" b="1" dirty="0"/>
              <a:t>infections</a:t>
            </a:r>
            <a:r>
              <a:rPr lang="en-US" dirty="0"/>
              <a:t> and </a:t>
            </a:r>
            <a:r>
              <a:rPr lang="en-US" b="1" dirty="0"/>
              <a:t>HCC</a:t>
            </a:r>
            <a:endParaRPr lang="en-US" dirty="0"/>
          </a:p>
          <a:p>
            <a:r>
              <a:rPr lang="en-US" dirty="0"/>
              <a:t>Focus is to prevent complications of cirrhosis and portal hypertension</a:t>
            </a:r>
          </a:p>
          <a:p>
            <a:endParaRPr lang="en-US" dirty="0"/>
          </a:p>
          <a:p>
            <a:pPr marL="0" indent="0" algn="ctr">
              <a:buNone/>
            </a:pPr>
            <a:r>
              <a:rPr lang="en-US" b="1" dirty="0"/>
              <a:t>What is the most important factor in </a:t>
            </a:r>
            <a:r>
              <a:rPr lang="en-US" b="1" dirty="0" err="1"/>
              <a:t>cirrhotics</a:t>
            </a:r>
            <a:r>
              <a:rPr lang="en-US" b="1" dirty="0"/>
              <a:t> management?</a:t>
            </a:r>
          </a:p>
          <a:p>
            <a:pPr marL="0" indent="0" algn="ctr">
              <a:buNone/>
            </a:pPr>
            <a:r>
              <a:rPr lang="en-US" sz="2400" b="1" dirty="0">
                <a:highlight>
                  <a:srgbClr val="FFFF00"/>
                </a:highlight>
              </a:rPr>
              <a:t>Prevent further damage by stopping the offending agent (Alcohol) or treating the underlying cause (AIH, NASH, etc.)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B0DD08-FFFA-4D73-A9F6-76D625E40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0364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7A959-4696-4AEE-A1A6-B00D053EE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Management of complications of cirrhosis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00A2E6-96BB-40CC-8E4A-343F803540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1861"/>
            <a:ext cx="10515600" cy="4232549"/>
          </a:xfrm>
        </p:spPr>
        <p:txBody>
          <a:bodyPr numCol="2">
            <a:normAutofit/>
          </a:bodyPr>
          <a:lstStyle/>
          <a:p>
            <a:r>
              <a:rPr lang="en-US" dirty="0"/>
              <a:t>Portal hypertension</a:t>
            </a:r>
          </a:p>
          <a:p>
            <a:pPr lvl="1"/>
            <a:r>
              <a:rPr lang="en-US" dirty="0"/>
              <a:t>Gastroesophageal varices</a:t>
            </a:r>
          </a:p>
          <a:p>
            <a:pPr lvl="1"/>
            <a:r>
              <a:rPr lang="en-US" dirty="0"/>
              <a:t>Portal hypertensive gastropathy</a:t>
            </a:r>
          </a:p>
          <a:p>
            <a:pPr lvl="1"/>
            <a:r>
              <a:rPr lang="en-US" dirty="0"/>
              <a:t>Hypersplenism</a:t>
            </a:r>
          </a:p>
          <a:p>
            <a:pPr lvl="1"/>
            <a:r>
              <a:rPr lang="en-US" dirty="0"/>
              <a:t>Ascites -&gt; SBP</a:t>
            </a:r>
          </a:p>
          <a:p>
            <a:pPr lvl="1"/>
            <a:r>
              <a:rPr lang="en-US" dirty="0"/>
              <a:t>Hepatorenal syndrome</a:t>
            </a:r>
          </a:p>
          <a:p>
            <a:pPr lvl="1"/>
            <a:r>
              <a:rPr lang="en-US" dirty="0"/>
              <a:t>?Hepatopulmonary syndrome</a:t>
            </a:r>
          </a:p>
          <a:p>
            <a:pPr lvl="1"/>
            <a:r>
              <a:rPr lang="en-US" dirty="0" err="1"/>
              <a:t>Portopulmonary</a:t>
            </a:r>
            <a:r>
              <a:rPr lang="en-US" dirty="0"/>
              <a:t> syndrome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Immune dysfunction</a:t>
            </a:r>
          </a:p>
          <a:p>
            <a:r>
              <a:rPr lang="en-US" dirty="0"/>
              <a:t>Coagulopathy</a:t>
            </a:r>
          </a:p>
          <a:p>
            <a:pPr lvl="1"/>
            <a:r>
              <a:rPr lang="en-US" dirty="0"/>
              <a:t>Increased risk of bleeding</a:t>
            </a:r>
          </a:p>
          <a:p>
            <a:pPr lvl="1"/>
            <a:r>
              <a:rPr lang="en-US" dirty="0"/>
              <a:t>Portal venous thrombosis</a:t>
            </a:r>
          </a:p>
          <a:p>
            <a:r>
              <a:rPr lang="en-US" dirty="0"/>
              <a:t>Hepatic encephalopathy</a:t>
            </a:r>
          </a:p>
          <a:p>
            <a:r>
              <a:rPr lang="en-US" dirty="0"/>
              <a:t>Hepatocellular carcinoma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825187-6B1D-44F0-B827-5985B2158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64938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935FB46-83D3-B54E-92C4-C90670061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Presentation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BB78CB8-BC68-3647-87AF-5AB5D58223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F154677-24F8-4BAB-B23F-D45402012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54685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EF4A2-56E5-4816-BB4A-47EA78944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CE44D4-10E5-4EB7-95A7-37CD17B824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88213"/>
          </a:xfrm>
        </p:spPr>
        <p:txBody>
          <a:bodyPr>
            <a:normAutofit/>
          </a:bodyPr>
          <a:lstStyle/>
          <a:p>
            <a:r>
              <a:rPr lang="en-US" dirty="0"/>
              <a:t>Patient is a 54-year-old man with history of alcohol use disorder who is being seen by you in the office to review his labs.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34A939-A570-4E8F-9418-EDEBB3CDC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93944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EF4A2-56E5-4816-BB4A-47EA78944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CE44D4-10E5-4EB7-95A7-37CD17B824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88213"/>
          </a:xfrm>
        </p:spPr>
        <p:txBody>
          <a:bodyPr>
            <a:normAutofit/>
          </a:bodyPr>
          <a:lstStyle/>
          <a:p>
            <a:r>
              <a:rPr lang="en-US" dirty="0"/>
              <a:t>Patient is a 54-year-old man with history of alcohol use disorder who is being seen by you in the office to review his labs.</a:t>
            </a:r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B34F3F1-FEF1-471C-ADB7-32B7BBE996CF}"/>
              </a:ext>
            </a:extLst>
          </p:cNvPr>
          <p:cNvGraphicFramePr>
            <a:graphicFrameLocks noGrp="1"/>
          </p:cNvGraphicFramePr>
          <p:nvPr/>
        </p:nvGraphicFramePr>
        <p:xfrm>
          <a:off x="8641492" y="2980492"/>
          <a:ext cx="2441146" cy="333756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1220573">
                  <a:extLst>
                    <a:ext uri="{9D8B030D-6E8A-4147-A177-3AD203B41FA5}">
                      <a16:colId xmlns:a16="http://schemas.microsoft.com/office/drawing/2014/main" val="3564034845"/>
                    </a:ext>
                  </a:extLst>
                </a:gridCol>
                <a:gridCol w="1220573">
                  <a:extLst>
                    <a:ext uri="{9D8B030D-6E8A-4147-A177-3AD203B41FA5}">
                      <a16:colId xmlns:a16="http://schemas.microsoft.com/office/drawing/2014/main" val="2255976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50457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ALT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75963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ALP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6251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GGT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300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89563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err="1">
                          <a:solidFill>
                            <a:srgbClr val="FF0000"/>
                          </a:solidFill>
                        </a:rPr>
                        <a:t>Tbili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9959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INR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91867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Albumin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3.0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4942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Platelets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04556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MCV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0637791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0FD0D3-0CEE-46EB-B25A-C3D57222E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57877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EF4A2-56E5-4816-BB4A-47EA78944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CE44D4-10E5-4EB7-95A7-37CD17B824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88213"/>
          </a:xfrm>
        </p:spPr>
        <p:txBody>
          <a:bodyPr>
            <a:normAutofit/>
          </a:bodyPr>
          <a:lstStyle/>
          <a:p>
            <a:r>
              <a:rPr lang="en-US" dirty="0"/>
              <a:t>Patient is a 54-year-old man with history of alcohol use disorder who is being seen by you in the office to review his labs.</a:t>
            </a:r>
          </a:p>
          <a:p>
            <a:endParaRPr lang="en-US" dirty="0"/>
          </a:p>
          <a:p>
            <a:r>
              <a:rPr lang="en-US" dirty="0"/>
              <a:t>What’s the next step in management?</a:t>
            </a: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B34F3F1-FEF1-471C-ADB7-32B7BBE996CF}"/>
              </a:ext>
            </a:extLst>
          </p:cNvPr>
          <p:cNvGraphicFramePr>
            <a:graphicFrameLocks noGrp="1"/>
          </p:cNvGraphicFramePr>
          <p:nvPr/>
        </p:nvGraphicFramePr>
        <p:xfrm>
          <a:off x="8641492" y="2980492"/>
          <a:ext cx="2441146" cy="333756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1220573">
                  <a:extLst>
                    <a:ext uri="{9D8B030D-6E8A-4147-A177-3AD203B41FA5}">
                      <a16:colId xmlns:a16="http://schemas.microsoft.com/office/drawing/2014/main" val="3564034845"/>
                    </a:ext>
                  </a:extLst>
                </a:gridCol>
                <a:gridCol w="1220573">
                  <a:extLst>
                    <a:ext uri="{9D8B030D-6E8A-4147-A177-3AD203B41FA5}">
                      <a16:colId xmlns:a16="http://schemas.microsoft.com/office/drawing/2014/main" val="2255976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50457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ALT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75963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ALP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6251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GGT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300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89563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err="1">
                          <a:solidFill>
                            <a:srgbClr val="FF0000"/>
                          </a:solidFill>
                        </a:rPr>
                        <a:t>Tbili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9959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INR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91867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Albumin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3.0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4942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Platelets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04556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MCV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0637791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3BFB49-D3D9-49A9-9B5D-C3487119C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23658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EF4A2-56E5-4816-BB4A-47EA78944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CE44D4-10E5-4EB7-95A7-37CD17B824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88213"/>
          </a:xfrm>
        </p:spPr>
        <p:txBody>
          <a:bodyPr>
            <a:normAutofit/>
          </a:bodyPr>
          <a:lstStyle/>
          <a:p>
            <a:r>
              <a:rPr lang="en-US" dirty="0"/>
              <a:t>Patient is a 54-year-old man with history of alcohol use disorder who is being seen by you in the office to review his labs.</a:t>
            </a:r>
          </a:p>
          <a:p>
            <a:endParaRPr lang="en-US" dirty="0"/>
          </a:p>
          <a:p>
            <a:r>
              <a:rPr lang="en-US" dirty="0"/>
              <a:t>What’s the next step in management?</a:t>
            </a:r>
          </a:p>
          <a:p>
            <a:pPr>
              <a:buFontTx/>
              <a:buChar char="-"/>
            </a:pPr>
            <a:r>
              <a:rPr lang="en-US" dirty="0"/>
              <a:t>Alcohol cessation</a:t>
            </a:r>
          </a:p>
          <a:p>
            <a:pPr>
              <a:buFontTx/>
              <a:buChar char="-"/>
            </a:pPr>
            <a:r>
              <a:rPr lang="en-US" dirty="0"/>
              <a:t>Chronic liver disease work up</a:t>
            </a:r>
          </a:p>
          <a:p>
            <a:pPr lvl="1">
              <a:buFontTx/>
              <a:buChar char="-"/>
            </a:pPr>
            <a:r>
              <a:rPr lang="en-US" dirty="0"/>
              <a:t>HBV, HCV serologies</a:t>
            </a:r>
          </a:p>
          <a:p>
            <a:pPr lvl="1">
              <a:buFontTx/>
              <a:buChar char="-"/>
            </a:pPr>
            <a:r>
              <a:rPr lang="en-US" dirty="0"/>
              <a:t>ANA, ASMA, AMA, SPEP</a:t>
            </a:r>
          </a:p>
          <a:p>
            <a:pPr lvl="1">
              <a:buFontTx/>
              <a:buChar char="-"/>
            </a:pPr>
            <a:r>
              <a:rPr lang="en-US" dirty="0"/>
              <a:t>Iron panel and ferritin</a:t>
            </a:r>
          </a:p>
          <a:p>
            <a:pPr lvl="1">
              <a:buFontTx/>
              <a:buChar char="-"/>
            </a:pPr>
            <a:r>
              <a:rPr lang="en-US" dirty="0"/>
              <a:t>Ceruloplasmin, A1AT phenotype + levels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B34F3F1-FEF1-471C-ADB7-32B7BBE996CF}"/>
              </a:ext>
            </a:extLst>
          </p:cNvPr>
          <p:cNvGraphicFramePr>
            <a:graphicFrameLocks noGrp="1"/>
          </p:cNvGraphicFramePr>
          <p:nvPr/>
        </p:nvGraphicFramePr>
        <p:xfrm>
          <a:off x="8641492" y="2980492"/>
          <a:ext cx="2441146" cy="333756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1220573">
                  <a:extLst>
                    <a:ext uri="{9D8B030D-6E8A-4147-A177-3AD203B41FA5}">
                      <a16:colId xmlns:a16="http://schemas.microsoft.com/office/drawing/2014/main" val="3564034845"/>
                    </a:ext>
                  </a:extLst>
                </a:gridCol>
                <a:gridCol w="1220573">
                  <a:extLst>
                    <a:ext uri="{9D8B030D-6E8A-4147-A177-3AD203B41FA5}">
                      <a16:colId xmlns:a16="http://schemas.microsoft.com/office/drawing/2014/main" val="2255976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50457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ALT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75963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ALP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6251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GGT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300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89563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err="1">
                          <a:solidFill>
                            <a:srgbClr val="FF0000"/>
                          </a:solidFill>
                        </a:rPr>
                        <a:t>Tbili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9959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INR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91867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Albumin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3.0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4942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Platelets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04556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MCV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0637791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D8A2AD-A950-461C-A6FD-FC416DFBA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44877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EF4A2-56E5-4816-BB4A-47EA78944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54-year-old man with alcohol use disorder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CE44D4-10E5-4EB7-95A7-37CD17B824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7291860" cy="4888213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endParaRPr lang="en-US" b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B34F3F1-FEF1-471C-ADB7-32B7BBE996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3013847"/>
              </p:ext>
            </p:extLst>
          </p:nvPr>
        </p:nvGraphicFramePr>
        <p:xfrm>
          <a:off x="8130060" y="1825624"/>
          <a:ext cx="3223740" cy="370840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1611870">
                  <a:extLst>
                    <a:ext uri="{9D8B030D-6E8A-4147-A177-3AD203B41FA5}">
                      <a16:colId xmlns:a16="http://schemas.microsoft.com/office/drawing/2014/main" val="3564034845"/>
                    </a:ext>
                  </a:extLst>
                </a:gridCol>
                <a:gridCol w="1611870">
                  <a:extLst>
                    <a:ext uri="{9D8B030D-6E8A-4147-A177-3AD203B41FA5}">
                      <a16:colId xmlns:a16="http://schemas.microsoft.com/office/drawing/2014/main" val="2255976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HBV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Negative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50457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HCV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Negative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75963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ANA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Negative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6251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ASMA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Negative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89563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AMA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Negative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9959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Ceruloplasmin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Normal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91867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A1AT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Normal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4942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TIBC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04556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Iron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06377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Ferritin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4000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612697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F5BA70-0ACF-4563-8F95-0C881296D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25908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EF4A2-56E5-4816-BB4A-47EA78944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54-year-old man with alcohol use disorder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CE44D4-10E5-4EB7-95A7-37CD17B824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7291860" cy="4888213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en-US" dirty="0"/>
              <a:t>Does this patient have hemochromatosis?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B34F3F1-FEF1-471C-ADB7-32B7BBE996CF}"/>
              </a:ext>
            </a:extLst>
          </p:cNvPr>
          <p:cNvGraphicFramePr>
            <a:graphicFrameLocks noGrp="1"/>
          </p:cNvGraphicFramePr>
          <p:nvPr/>
        </p:nvGraphicFramePr>
        <p:xfrm>
          <a:off x="8130060" y="1825624"/>
          <a:ext cx="3223740" cy="370840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1611870">
                  <a:extLst>
                    <a:ext uri="{9D8B030D-6E8A-4147-A177-3AD203B41FA5}">
                      <a16:colId xmlns:a16="http://schemas.microsoft.com/office/drawing/2014/main" val="3564034845"/>
                    </a:ext>
                  </a:extLst>
                </a:gridCol>
                <a:gridCol w="1611870">
                  <a:extLst>
                    <a:ext uri="{9D8B030D-6E8A-4147-A177-3AD203B41FA5}">
                      <a16:colId xmlns:a16="http://schemas.microsoft.com/office/drawing/2014/main" val="2255976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HBV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Negative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50457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HCV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Negative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75963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ANA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Negative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6251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ASMA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Negative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89563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AMA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Negative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9959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Ceruloplasmin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Normal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91867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A1AT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Normal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4942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TIBC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04556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Iron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06377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Ferritin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4000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612697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8C3D04-6616-4B61-B5C8-5DA5DAC48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59151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EF4A2-56E5-4816-BB4A-47EA78944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54-year-old man with alcohol use disorder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CE44D4-10E5-4EB7-95A7-37CD17B824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7291860" cy="4888213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en-US" dirty="0"/>
              <a:t>Does this patient have hemochromatosis?</a:t>
            </a:r>
          </a:p>
          <a:p>
            <a:pPr lvl="1">
              <a:buFontTx/>
              <a:buChar char="-"/>
            </a:pPr>
            <a:r>
              <a:rPr lang="en-US" dirty="0"/>
              <a:t>No, transferrin sat is 33% (require &gt; 45-55%)</a:t>
            </a:r>
          </a:p>
          <a:p>
            <a:pPr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r>
              <a:rPr lang="en-US" dirty="0"/>
              <a:t>What is the etiology of his cirrhosis?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B34F3F1-FEF1-471C-ADB7-32B7BBE996CF}"/>
              </a:ext>
            </a:extLst>
          </p:cNvPr>
          <p:cNvGraphicFramePr>
            <a:graphicFrameLocks noGrp="1"/>
          </p:cNvGraphicFramePr>
          <p:nvPr/>
        </p:nvGraphicFramePr>
        <p:xfrm>
          <a:off x="8130060" y="1825624"/>
          <a:ext cx="3223740" cy="370840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1611870">
                  <a:extLst>
                    <a:ext uri="{9D8B030D-6E8A-4147-A177-3AD203B41FA5}">
                      <a16:colId xmlns:a16="http://schemas.microsoft.com/office/drawing/2014/main" val="3564034845"/>
                    </a:ext>
                  </a:extLst>
                </a:gridCol>
                <a:gridCol w="1611870">
                  <a:extLst>
                    <a:ext uri="{9D8B030D-6E8A-4147-A177-3AD203B41FA5}">
                      <a16:colId xmlns:a16="http://schemas.microsoft.com/office/drawing/2014/main" val="2255976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HBV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Negative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50457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HCV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Negative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75963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ANA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Negative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6251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ASMA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Negative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89563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AMA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Negative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9959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Ceruloplasmin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Normal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91867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A1AT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Normal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4942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TIBC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04556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Iron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06377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Ferritin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4000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612697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C517D0-474D-41B0-AEAA-542E78222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9526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EF4A2-56E5-4816-BB4A-47EA78944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54-year-old man with alcohol use disorder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CE44D4-10E5-4EB7-95A7-37CD17B824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7291860" cy="4888213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en-US" dirty="0"/>
              <a:t>Does this patient have hemochromatosis?</a:t>
            </a:r>
          </a:p>
          <a:p>
            <a:pPr lvl="1">
              <a:buFontTx/>
              <a:buChar char="-"/>
            </a:pPr>
            <a:r>
              <a:rPr lang="en-US" dirty="0"/>
              <a:t>No, transferrin sat is 33% (require &gt; 45-55%)</a:t>
            </a:r>
          </a:p>
          <a:p>
            <a:pPr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r>
              <a:rPr lang="en-US" dirty="0"/>
              <a:t>What is the etiology of his cirrhosis?</a:t>
            </a:r>
          </a:p>
          <a:p>
            <a:pPr lvl="1">
              <a:buFontTx/>
              <a:buChar char="-"/>
            </a:pPr>
            <a:r>
              <a:rPr lang="en-US" dirty="0"/>
              <a:t>Alcohol</a:t>
            </a:r>
          </a:p>
          <a:p>
            <a:pPr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r>
              <a:rPr lang="en-US" dirty="0"/>
              <a:t>What’s your next step?</a:t>
            </a:r>
          </a:p>
          <a:p>
            <a:pPr lvl="1">
              <a:buFontTx/>
              <a:buChar char="-"/>
            </a:pPr>
            <a:r>
              <a:rPr lang="en-US" b="1" dirty="0"/>
              <a:t>We never proved that he even has cirrhosis!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B34F3F1-FEF1-471C-ADB7-32B7BBE996CF}"/>
              </a:ext>
            </a:extLst>
          </p:cNvPr>
          <p:cNvGraphicFramePr>
            <a:graphicFrameLocks noGrp="1"/>
          </p:cNvGraphicFramePr>
          <p:nvPr/>
        </p:nvGraphicFramePr>
        <p:xfrm>
          <a:off x="8130060" y="1825624"/>
          <a:ext cx="3223740" cy="370840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1611870">
                  <a:extLst>
                    <a:ext uri="{9D8B030D-6E8A-4147-A177-3AD203B41FA5}">
                      <a16:colId xmlns:a16="http://schemas.microsoft.com/office/drawing/2014/main" val="3564034845"/>
                    </a:ext>
                  </a:extLst>
                </a:gridCol>
                <a:gridCol w="1611870">
                  <a:extLst>
                    <a:ext uri="{9D8B030D-6E8A-4147-A177-3AD203B41FA5}">
                      <a16:colId xmlns:a16="http://schemas.microsoft.com/office/drawing/2014/main" val="2255976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HBV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Negative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50457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HCV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Negative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75963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ANA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Negative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6251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ASMA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Negative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89563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AMA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Negative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9959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Ceruloplasmin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Normal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91867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A1AT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Normal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4942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TIBC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04556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Iron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06377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Ferritin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4000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612697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B17A49-1C28-4011-812C-7A2CEE613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50667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AA22A2-E6F0-3542-A702-E54E37253B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Checking for cirrhosis:</a:t>
            </a:r>
          </a:p>
          <a:p>
            <a:r>
              <a:rPr lang="en-US" dirty="0"/>
              <a:t>Calculations: Fib-4 = 4.02</a:t>
            </a:r>
          </a:p>
          <a:p>
            <a:pPr lvl="1"/>
            <a:r>
              <a:rPr lang="en-US" b="1" dirty="0"/>
              <a:t>Fib-4&gt;3.25 </a:t>
            </a:r>
            <a:r>
              <a:rPr lang="en-US" dirty="0"/>
              <a:t>= 97% specificity and 65% PPV for cirrhosis</a:t>
            </a:r>
          </a:p>
          <a:p>
            <a:pPr marL="514350" indent="-514350">
              <a:buAutoNum type="arabicPeriod"/>
            </a:pP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07C5AE1-ECA0-5542-B83C-A4EFC5247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54-year-old man with alcohol use disorder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3783A95-A7AE-4ABC-B2E6-C7E3DC03F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38124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AA22A2-E6F0-3542-A702-E54E37253B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Checking for cirrhosis:</a:t>
            </a:r>
          </a:p>
          <a:p>
            <a:r>
              <a:rPr lang="en-US" dirty="0"/>
              <a:t>Calculations: Fib-4 = 4.02</a:t>
            </a:r>
          </a:p>
          <a:p>
            <a:pPr lvl="1"/>
            <a:r>
              <a:rPr lang="en-US" b="1" dirty="0"/>
              <a:t>Fib-4&gt;3.25 </a:t>
            </a:r>
            <a:r>
              <a:rPr lang="en-US" dirty="0"/>
              <a:t>= 97% specificity and 65% PPV for cirrhosis</a:t>
            </a:r>
          </a:p>
          <a:p>
            <a:r>
              <a:rPr lang="en-US" dirty="0"/>
              <a:t>RUQ U/S: no cirrhosis</a:t>
            </a:r>
          </a:p>
          <a:p>
            <a:pPr marL="514350" indent="-514350">
              <a:buAutoNum type="arabicPeriod"/>
            </a:pP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07C5AE1-ECA0-5542-B83C-A4EFC5247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54-year-old man with alcohol use disorder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03406BF-6A53-4127-8A2B-D8679692A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87254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AA22A2-E6F0-3542-A702-E54E37253B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Checking for cirrhosis:</a:t>
            </a:r>
          </a:p>
          <a:p>
            <a:r>
              <a:rPr lang="en-US" dirty="0"/>
              <a:t>Calculations: Fib-4 = 4.02</a:t>
            </a:r>
          </a:p>
          <a:p>
            <a:pPr lvl="1"/>
            <a:r>
              <a:rPr lang="en-US" b="1" dirty="0"/>
              <a:t>Fib-4&gt;3.25 </a:t>
            </a:r>
            <a:r>
              <a:rPr lang="en-US" dirty="0"/>
              <a:t>= 97% specificity and 65% PPV for cirrhosis</a:t>
            </a:r>
          </a:p>
          <a:p>
            <a:r>
              <a:rPr lang="en-US" dirty="0"/>
              <a:t>RUQ U/S: no cirrhosis</a:t>
            </a:r>
          </a:p>
          <a:p>
            <a:r>
              <a:rPr lang="en-US" dirty="0"/>
              <a:t>CT A/P: no cirrhosis, no </a:t>
            </a:r>
            <a:r>
              <a:rPr lang="en-US" dirty="0" err="1"/>
              <a:t>pHTN</a:t>
            </a:r>
            <a:endParaRPr lang="en-US" dirty="0"/>
          </a:p>
          <a:p>
            <a:pPr marL="514350" indent="-514350">
              <a:buAutoNum type="arabicPeriod"/>
            </a:pP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07C5AE1-ECA0-5542-B83C-A4EFC5247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54-year-old man with alcohol use disorder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0825B38-B640-45D2-AA50-09DD80675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70039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AA22A2-E6F0-3542-A702-E54E37253B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Checking for cirrhosis:</a:t>
            </a:r>
          </a:p>
          <a:p>
            <a:r>
              <a:rPr lang="en-US" dirty="0"/>
              <a:t>Calculations: Fib-4 = 4.02</a:t>
            </a:r>
          </a:p>
          <a:p>
            <a:pPr lvl="1"/>
            <a:r>
              <a:rPr lang="en-US" b="1" dirty="0"/>
              <a:t>Fib-4&gt;3.25 </a:t>
            </a:r>
            <a:r>
              <a:rPr lang="en-US" dirty="0"/>
              <a:t>= 97% specificity and 65% PPV for cirrhosis</a:t>
            </a:r>
          </a:p>
          <a:p>
            <a:r>
              <a:rPr lang="en-US" dirty="0"/>
              <a:t>RUQ U/S: no cirrhosis</a:t>
            </a:r>
          </a:p>
          <a:p>
            <a:r>
              <a:rPr lang="en-US" dirty="0"/>
              <a:t>CT A/P: no cirrhosis, no </a:t>
            </a:r>
            <a:r>
              <a:rPr lang="en-US" dirty="0" err="1"/>
              <a:t>pHTN</a:t>
            </a:r>
            <a:endParaRPr lang="en-US" dirty="0"/>
          </a:p>
          <a:p>
            <a:r>
              <a:rPr lang="en-US" dirty="0"/>
              <a:t>Elastography: F2-3 (cirrhosis is F4)</a:t>
            </a:r>
          </a:p>
          <a:p>
            <a:pPr marL="514350" indent="-514350">
              <a:buAutoNum type="arabicPeriod"/>
            </a:pP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07C5AE1-ECA0-5542-B83C-A4EFC5247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54-year-old man with alcohol use disorder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099BB30-B202-4F5C-A8EB-65BCFCBB0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95402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AA22A2-E6F0-3542-A702-E54E37253B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Checking for cirrhosis:</a:t>
            </a:r>
          </a:p>
          <a:p>
            <a:r>
              <a:rPr lang="en-US" dirty="0"/>
              <a:t>Calculations: Fib-4 = 4.02</a:t>
            </a:r>
          </a:p>
          <a:p>
            <a:pPr lvl="1"/>
            <a:r>
              <a:rPr lang="en-US" b="1" dirty="0"/>
              <a:t>Fib-4&gt;3.25 </a:t>
            </a:r>
            <a:r>
              <a:rPr lang="en-US" dirty="0"/>
              <a:t>= 97% specificity and 65% PPV for cirrhosis</a:t>
            </a:r>
          </a:p>
          <a:p>
            <a:r>
              <a:rPr lang="en-US" dirty="0"/>
              <a:t>RUQ U/S: no cirrhosis</a:t>
            </a:r>
          </a:p>
          <a:p>
            <a:r>
              <a:rPr lang="en-US" dirty="0"/>
              <a:t>CT A/P: no cirrhosis, no </a:t>
            </a:r>
            <a:r>
              <a:rPr lang="en-US" dirty="0" err="1"/>
              <a:t>pHTN</a:t>
            </a:r>
            <a:endParaRPr lang="en-US" dirty="0"/>
          </a:p>
          <a:p>
            <a:r>
              <a:rPr lang="en-US" dirty="0"/>
              <a:t>Elastography: F2-3 (cirrhosis is F4)</a:t>
            </a:r>
          </a:p>
          <a:p>
            <a:pPr algn="ctr"/>
            <a:r>
              <a:rPr lang="en-US" b="1" dirty="0"/>
              <a:t>Do you dig more or do you stop?</a:t>
            </a:r>
          </a:p>
          <a:p>
            <a:pPr marL="514350" indent="-514350">
              <a:buAutoNum type="arabicPeriod"/>
            </a:pP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07C5AE1-ECA0-5542-B83C-A4EFC5247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54-year-old man with alcohol use disorder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E1CFBFA-0148-48AE-B075-47DB5B163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03042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AA22A2-E6F0-3542-A702-E54E37253B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3282"/>
            <a:ext cx="10515600" cy="5554717"/>
          </a:xfrm>
        </p:spPr>
        <p:txBody>
          <a:bodyPr/>
          <a:lstStyle/>
          <a:p>
            <a:pPr marL="0" indent="0">
              <a:buNone/>
            </a:pPr>
            <a:r>
              <a:rPr lang="en-US" u="sng" dirty="0"/>
              <a:t>Checking for cirrhosis:</a:t>
            </a:r>
          </a:p>
          <a:p>
            <a:r>
              <a:rPr lang="en-US" dirty="0"/>
              <a:t>Calculations: Fib-4 = 4.02</a:t>
            </a:r>
          </a:p>
          <a:p>
            <a:pPr lvl="1"/>
            <a:r>
              <a:rPr lang="en-US" b="1" dirty="0"/>
              <a:t>Fib-4&gt;3.25 </a:t>
            </a:r>
            <a:r>
              <a:rPr lang="en-US" dirty="0"/>
              <a:t>= 97% specificity and 65% PPV for cirrhosis</a:t>
            </a:r>
          </a:p>
          <a:p>
            <a:r>
              <a:rPr lang="en-US" dirty="0"/>
              <a:t>RUQ U/S: no cirrhosis</a:t>
            </a:r>
          </a:p>
          <a:p>
            <a:r>
              <a:rPr lang="en-US" dirty="0"/>
              <a:t>CT A/P: no cirrhosis, no </a:t>
            </a:r>
            <a:r>
              <a:rPr lang="en-US" dirty="0" err="1"/>
              <a:t>pHTN</a:t>
            </a:r>
            <a:endParaRPr lang="en-US" dirty="0"/>
          </a:p>
          <a:p>
            <a:r>
              <a:rPr lang="en-US" dirty="0"/>
              <a:t>Elastography: F2-3 (cirrhosis is F4)</a:t>
            </a:r>
          </a:p>
          <a:p>
            <a:r>
              <a:rPr lang="en-US" b="1" dirty="0"/>
              <a:t>Liver spleen scan: findings suggestive of cirrhosis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07C5AE1-ECA0-5542-B83C-A4EFC5247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54-year-old man with alcohol use disorder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D6B0A1D-5326-45A8-889B-7BFA4B809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77315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AA22A2-E6F0-3542-A702-E54E37253B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3282"/>
            <a:ext cx="10515600" cy="5554717"/>
          </a:xfrm>
        </p:spPr>
        <p:txBody>
          <a:bodyPr/>
          <a:lstStyle/>
          <a:p>
            <a:pPr marL="0" indent="0">
              <a:buNone/>
            </a:pPr>
            <a:r>
              <a:rPr lang="en-US" u="sng" dirty="0"/>
              <a:t>Checking for cirrhosis:</a:t>
            </a:r>
          </a:p>
          <a:p>
            <a:r>
              <a:rPr lang="en-US" dirty="0"/>
              <a:t>Calculations: Fib-4 = 4.02</a:t>
            </a:r>
          </a:p>
          <a:p>
            <a:pPr lvl="1"/>
            <a:r>
              <a:rPr lang="en-US" b="1" dirty="0"/>
              <a:t>Fib-4&gt;3.25 </a:t>
            </a:r>
            <a:r>
              <a:rPr lang="en-US" dirty="0"/>
              <a:t>= 97% specificity and 65% PPV for cirrhosis</a:t>
            </a:r>
          </a:p>
          <a:p>
            <a:r>
              <a:rPr lang="en-US" dirty="0"/>
              <a:t>RUQ U/S: no cirrhosis</a:t>
            </a:r>
          </a:p>
          <a:p>
            <a:r>
              <a:rPr lang="en-US" dirty="0"/>
              <a:t>CT A/P: no cirrhosis, no </a:t>
            </a:r>
            <a:r>
              <a:rPr lang="en-US" dirty="0" err="1"/>
              <a:t>pHTN</a:t>
            </a:r>
            <a:endParaRPr lang="en-US" dirty="0"/>
          </a:p>
          <a:p>
            <a:r>
              <a:rPr lang="en-US" dirty="0"/>
              <a:t>Elastography: F2-3 (cirrhosis is F4)</a:t>
            </a:r>
          </a:p>
          <a:p>
            <a:r>
              <a:rPr lang="en-US" b="1" dirty="0"/>
              <a:t>Liver spleen scan: findings suggestive of cirrhosis</a:t>
            </a:r>
          </a:p>
          <a:p>
            <a:r>
              <a:rPr lang="en-US" b="1" dirty="0"/>
              <a:t>Liver biopsy: F4 bridging fibrosis and cirrhosis</a:t>
            </a:r>
          </a:p>
          <a:p>
            <a:pPr lvl="1"/>
            <a:r>
              <a:rPr lang="en-US" i="1" dirty="0"/>
              <a:t>Iron stain negative (Prussian blue)</a:t>
            </a:r>
          </a:p>
          <a:p>
            <a:pPr lvl="1"/>
            <a:r>
              <a:rPr lang="en-US" i="1" dirty="0"/>
              <a:t>Copper stain negative (Rhodamine)</a:t>
            </a:r>
          </a:p>
          <a:p>
            <a:pPr lvl="1"/>
            <a:r>
              <a:rPr lang="en-US" i="1" dirty="0"/>
              <a:t>A1AT stain negative (PAS diastase resistant)</a:t>
            </a:r>
          </a:p>
          <a:p>
            <a:pPr lvl="1"/>
            <a:r>
              <a:rPr lang="en-US" b="1" i="1" dirty="0"/>
              <a:t>Mallory bodies and </a:t>
            </a:r>
            <a:r>
              <a:rPr lang="en-US" b="1" i="1" dirty="0" err="1"/>
              <a:t>macrovesicular</a:t>
            </a:r>
            <a:r>
              <a:rPr lang="en-US" b="1" i="1" dirty="0"/>
              <a:t> steatosis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07C5AE1-ECA0-5542-B83C-A4EFC5247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54-year-old man with alcohol use disorder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CAB0381-C1D1-47B7-BDBF-28A86D025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95629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AA22A2-E6F0-3542-A702-E54E37253B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2979"/>
            <a:ext cx="10515600" cy="5355020"/>
          </a:xfrm>
        </p:spPr>
        <p:txBody>
          <a:bodyPr>
            <a:normAutofit lnSpcReduction="10000"/>
          </a:bodyPr>
          <a:lstStyle/>
          <a:p>
            <a:pPr marL="457200" lvl="1" indent="0">
              <a:buNone/>
            </a:pPr>
            <a:endParaRPr lang="en-US" b="1" dirty="0"/>
          </a:p>
          <a:p>
            <a:pPr marL="0" indent="0" algn="ctr">
              <a:buNone/>
            </a:pPr>
            <a:r>
              <a:rPr lang="en-US" b="1" dirty="0"/>
              <a:t>What’s your diagnosis?</a:t>
            </a:r>
          </a:p>
          <a:p>
            <a:pPr marL="0" indent="0" algn="ctr">
              <a:buNone/>
            </a:pPr>
            <a:endParaRPr lang="en-US" b="1" dirty="0">
              <a:highlight>
                <a:srgbClr val="FFFF00"/>
              </a:highlight>
            </a:endParaRP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r>
              <a:rPr lang="en-US" dirty="0"/>
              <a:t>Elastography: F2-3 (cirrhosis is F4)</a:t>
            </a:r>
          </a:p>
          <a:p>
            <a:r>
              <a:rPr lang="en-US" b="1" dirty="0"/>
              <a:t>Liver spleen scan: findings suggestive of cirrhosis</a:t>
            </a:r>
          </a:p>
          <a:p>
            <a:r>
              <a:rPr lang="en-US" b="1" dirty="0"/>
              <a:t>Liver biopsy: F4 bridging fibrosis and cirrhosis</a:t>
            </a:r>
          </a:p>
          <a:p>
            <a:pPr lvl="1"/>
            <a:r>
              <a:rPr lang="en-US" i="1" dirty="0"/>
              <a:t>Iron stain negative (Prussian blue)</a:t>
            </a:r>
          </a:p>
          <a:p>
            <a:pPr lvl="1"/>
            <a:r>
              <a:rPr lang="en-US" i="1" dirty="0"/>
              <a:t>Copper stain negative (Rhodamine)</a:t>
            </a:r>
          </a:p>
          <a:p>
            <a:pPr lvl="1"/>
            <a:r>
              <a:rPr lang="en-US" i="1" dirty="0"/>
              <a:t>A1AT stain negative (PAS diastase resistant)</a:t>
            </a:r>
          </a:p>
          <a:p>
            <a:pPr lvl="1"/>
            <a:r>
              <a:rPr lang="en-US" b="1" i="1" dirty="0"/>
              <a:t>Mallory bodies and </a:t>
            </a:r>
            <a:r>
              <a:rPr lang="en-US" b="1" i="1" dirty="0" err="1"/>
              <a:t>macrovesicular</a:t>
            </a:r>
            <a:r>
              <a:rPr lang="en-US" b="1" i="1" dirty="0"/>
              <a:t> steatosis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07C5AE1-ECA0-5542-B83C-A4EFC5247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54-year-old man with alcohol use disorder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A873A19-3F5D-418E-A4D1-45BC45C79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54923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AA22A2-E6F0-3542-A702-E54E37253B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3282"/>
            <a:ext cx="10515600" cy="5554717"/>
          </a:xfrm>
        </p:spPr>
        <p:txBody>
          <a:bodyPr>
            <a:normAutofit lnSpcReduction="10000"/>
          </a:bodyPr>
          <a:lstStyle/>
          <a:p>
            <a:pPr marL="457200" lvl="1" indent="0">
              <a:buNone/>
            </a:pPr>
            <a:endParaRPr lang="en-US" b="1" dirty="0"/>
          </a:p>
          <a:p>
            <a:pPr marL="0" indent="0" algn="ctr">
              <a:buNone/>
            </a:pPr>
            <a:r>
              <a:rPr lang="en-US" b="1" dirty="0"/>
              <a:t>What’s your diagnosis?</a:t>
            </a:r>
          </a:p>
          <a:p>
            <a:pPr marL="0" indent="0" algn="ctr">
              <a:buNone/>
            </a:pPr>
            <a:r>
              <a:rPr lang="en-US" b="1" dirty="0">
                <a:highlight>
                  <a:srgbClr val="FFFF00"/>
                </a:highlight>
              </a:rPr>
              <a:t>Alcohol-related cirrhosis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r>
              <a:rPr lang="en-US" dirty="0"/>
              <a:t>Elastography: F2-3 (cirrhosis is F4)</a:t>
            </a:r>
          </a:p>
          <a:p>
            <a:r>
              <a:rPr lang="en-US" b="1" dirty="0"/>
              <a:t>Liver spleen scan: findings suggestive of cirrhosis</a:t>
            </a:r>
          </a:p>
          <a:p>
            <a:r>
              <a:rPr lang="en-US" b="1" dirty="0"/>
              <a:t>Liver biopsy: F4 bridging fibrosis and cirrhosis</a:t>
            </a:r>
          </a:p>
          <a:p>
            <a:pPr lvl="1"/>
            <a:r>
              <a:rPr lang="en-US" i="1" dirty="0"/>
              <a:t>Iron stain negative (Prussian blue)</a:t>
            </a:r>
          </a:p>
          <a:p>
            <a:pPr lvl="1"/>
            <a:r>
              <a:rPr lang="en-US" i="1" dirty="0"/>
              <a:t>Copper stain negative (Rhodamine)</a:t>
            </a:r>
          </a:p>
          <a:p>
            <a:pPr lvl="1"/>
            <a:r>
              <a:rPr lang="en-US" i="1" dirty="0"/>
              <a:t>A1AT stain negative (PAS diastase resistant)</a:t>
            </a:r>
          </a:p>
          <a:p>
            <a:pPr lvl="1"/>
            <a:r>
              <a:rPr lang="en-US" b="1" i="1" dirty="0"/>
              <a:t>Mallory bodies and </a:t>
            </a:r>
            <a:r>
              <a:rPr lang="en-US" b="1" i="1" dirty="0" err="1"/>
              <a:t>macrovesicular</a:t>
            </a:r>
            <a:r>
              <a:rPr lang="en-US" b="1" i="1" dirty="0"/>
              <a:t> steatosis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07C5AE1-ECA0-5542-B83C-A4EFC5247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54-year-old man with alcohol use disorder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8EEB0A7-1DC0-4CF1-A3B6-218DE3E97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42126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E72A4C-7663-FA47-9538-52C9F54B4C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3283"/>
            <a:ext cx="10515600" cy="5418192"/>
          </a:xfrm>
        </p:spPr>
        <p:txBody>
          <a:bodyPr>
            <a:normAutofit/>
          </a:bodyPr>
          <a:lstStyle/>
          <a:p>
            <a:r>
              <a:rPr lang="en-US" dirty="0"/>
              <a:t>What’s next?</a:t>
            </a:r>
          </a:p>
          <a:p>
            <a:pPr lvl="1"/>
            <a:r>
              <a:rPr lang="en-US" b="1" dirty="0"/>
              <a:t>MELD = 15</a:t>
            </a:r>
          </a:p>
          <a:p>
            <a:pPr lvl="1"/>
            <a:r>
              <a:rPr lang="en-US" dirty="0"/>
              <a:t>Continue to advise him to stop drinking</a:t>
            </a:r>
          </a:p>
          <a:p>
            <a:pPr lvl="1"/>
            <a:r>
              <a:rPr lang="en-US" dirty="0"/>
              <a:t>You send the patient for transplant evaluation</a:t>
            </a:r>
          </a:p>
          <a:p>
            <a:pPr lvl="1"/>
            <a:r>
              <a:rPr lang="en-US" dirty="0"/>
              <a:t>Since he was </a:t>
            </a:r>
            <a:r>
              <a:rPr lang="en-US" b="1" dirty="0"/>
              <a:t>unwilling to stop drinking </a:t>
            </a:r>
            <a:r>
              <a:rPr lang="en-US" dirty="0"/>
              <a:t>and had </a:t>
            </a:r>
            <a:r>
              <a:rPr lang="en-US" b="1" dirty="0"/>
              <a:t>poor social support</a:t>
            </a:r>
            <a:r>
              <a:rPr lang="en-US" dirty="0"/>
              <a:t>, he was denied a liver transplant</a:t>
            </a:r>
          </a:p>
          <a:p>
            <a:pPr lvl="1"/>
            <a:endParaRPr lang="en-US" dirty="0"/>
          </a:p>
          <a:p>
            <a:r>
              <a:rPr lang="en-US" dirty="0"/>
              <a:t>You continue management by </a:t>
            </a:r>
          </a:p>
          <a:p>
            <a:pPr lvl="1"/>
            <a:r>
              <a:rPr lang="en-US" b="1" dirty="0"/>
              <a:t>Continue to advise him to stop drinking</a:t>
            </a:r>
          </a:p>
          <a:p>
            <a:pPr lvl="1"/>
            <a:r>
              <a:rPr lang="en-US" dirty="0"/>
              <a:t>Q6months HCC screening with AFP and RUS U/S</a:t>
            </a:r>
          </a:p>
          <a:p>
            <a:pPr lvl="1"/>
            <a:r>
              <a:rPr lang="en-US" b="1" dirty="0"/>
              <a:t>What else could you do?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338CD28-B2BB-7A47-8090-7FC700BEE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>
                <a:highlight>
                  <a:srgbClr val="FFFF00"/>
                </a:highlight>
              </a:rPr>
              <a:t>54-year-old man with alcohol-related cirrhosis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6D98CFA-28A1-4AD0-9A9E-71D12F34E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3178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E72A4C-7663-FA47-9538-52C9F54B4C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3283"/>
            <a:ext cx="10515600" cy="5418192"/>
          </a:xfrm>
        </p:spPr>
        <p:txBody>
          <a:bodyPr>
            <a:normAutofit/>
          </a:bodyPr>
          <a:lstStyle/>
          <a:p>
            <a:r>
              <a:rPr lang="en-US" dirty="0"/>
              <a:t>What’s next?</a:t>
            </a:r>
          </a:p>
          <a:p>
            <a:pPr lvl="1"/>
            <a:r>
              <a:rPr lang="en-US" b="1" dirty="0"/>
              <a:t>MELD = 15</a:t>
            </a:r>
          </a:p>
          <a:p>
            <a:pPr lvl="1"/>
            <a:r>
              <a:rPr lang="en-US" dirty="0"/>
              <a:t>Continue to advise him to stop drinking</a:t>
            </a:r>
          </a:p>
          <a:p>
            <a:pPr lvl="1"/>
            <a:r>
              <a:rPr lang="en-US" dirty="0"/>
              <a:t>You send the patient for transplant evaluation</a:t>
            </a:r>
          </a:p>
          <a:p>
            <a:pPr lvl="1"/>
            <a:r>
              <a:rPr lang="en-US" dirty="0"/>
              <a:t>Since he was </a:t>
            </a:r>
            <a:r>
              <a:rPr lang="en-US" b="1" dirty="0"/>
              <a:t>unwilling to stop drinking </a:t>
            </a:r>
            <a:r>
              <a:rPr lang="en-US" dirty="0"/>
              <a:t>and had </a:t>
            </a:r>
            <a:r>
              <a:rPr lang="en-US" b="1" dirty="0"/>
              <a:t>poor social support</a:t>
            </a:r>
            <a:r>
              <a:rPr lang="en-US" dirty="0"/>
              <a:t>, he was denied a liver transplant</a:t>
            </a:r>
          </a:p>
          <a:p>
            <a:pPr lvl="1"/>
            <a:endParaRPr lang="en-US" dirty="0"/>
          </a:p>
          <a:p>
            <a:r>
              <a:rPr lang="en-US" dirty="0"/>
              <a:t>You continue management by </a:t>
            </a:r>
          </a:p>
          <a:p>
            <a:pPr lvl="1"/>
            <a:r>
              <a:rPr lang="en-US" b="1" dirty="0"/>
              <a:t>Continue to advise him to stop drinking</a:t>
            </a:r>
          </a:p>
          <a:p>
            <a:pPr lvl="1"/>
            <a:r>
              <a:rPr lang="en-US" dirty="0"/>
              <a:t>Q6months HCC screening with AFP and RUS U/S</a:t>
            </a:r>
          </a:p>
          <a:p>
            <a:pPr lvl="1"/>
            <a:r>
              <a:rPr lang="en-US" b="1" dirty="0"/>
              <a:t>What else could you do?</a:t>
            </a:r>
            <a:endParaRPr lang="en-US" dirty="0"/>
          </a:p>
          <a:p>
            <a:pPr lvl="2"/>
            <a:r>
              <a:rPr lang="en-US" dirty="0"/>
              <a:t>Consider starting nonselective beta blockers -&gt; </a:t>
            </a:r>
            <a:r>
              <a:rPr lang="en-US" b="1" dirty="0"/>
              <a:t>Carvedilol</a:t>
            </a: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338CD28-B2BB-7A47-8090-7FC700BEE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>
                <a:highlight>
                  <a:srgbClr val="FFFF00"/>
                </a:highlight>
              </a:rPr>
              <a:t>54-year-old man with alcohol-related cirrhosis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D0202B5-BA37-4A6E-BE2A-149425348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42662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725602-FF30-2C48-8F07-8E790A0CD5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3282"/>
            <a:ext cx="10515600" cy="5299129"/>
          </a:xfrm>
        </p:spPr>
        <p:txBody>
          <a:bodyPr/>
          <a:lstStyle/>
          <a:p>
            <a:r>
              <a:rPr lang="en-US" dirty="0"/>
              <a:t>One month later he presents with </a:t>
            </a:r>
            <a:r>
              <a:rPr lang="en-US" b="1" dirty="0"/>
              <a:t>hematemesis</a:t>
            </a:r>
            <a:r>
              <a:rPr lang="en-US" dirty="0"/>
              <a:t> and </a:t>
            </a:r>
            <a:r>
              <a:rPr lang="en-US" b="1" dirty="0"/>
              <a:t>tachycardia</a:t>
            </a:r>
          </a:p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4D0208C-AA09-8249-B530-A4F75F9A5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5588"/>
            <a:ext cx="10515600" cy="955675"/>
          </a:xfrm>
        </p:spPr>
        <p:txBody>
          <a:bodyPr>
            <a:noAutofit/>
          </a:bodyPr>
          <a:lstStyle/>
          <a:p>
            <a:r>
              <a:rPr lang="en-US" sz="3600" b="1" dirty="0"/>
              <a:t>54-year-old man with alcohol-related cirrhosis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9F2EA56-04A6-4244-9CC0-41776E930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56620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032FA-49A9-BE0D-BD45-2142D6C61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0FDA05-82D8-8AA6-F1BD-2482F0A702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Which of the following therapies provide the most significant improvement in mortality in a cirrhotic patient presenting with an acute esophageal variceal bleeding?</a:t>
            </a:r>
          </a:p>
          <a:p>
            <a:endParaRPr lang="en-US" dirty="0"/>
          </a:p>
          <a:p>
            <a:pPr marL="514350" indent="-514350">
              <a:buAutoNum type="alphaUcParenR"/>
            </a:pPr>
            <a:r>
              <a:rPr lang="en-US" dirty="0"/>
              <a:t>Octreotide</a:t>
            </a:r>
          </a:p>
          <a:p>
            <a:pPr marL="514350" indent="-514350">
              <a:buAutoNum type="alphaUcParenR"/>
            </a:pPr>
            <a:r>
              <a:rPr lang="en-US" dirty="0"/>
              <a:t>EGD within 24 hours</a:t>
            </a:r>
          </a:p>
          <a:p>
            <a:pPr marL="514350" indent="-514350">
              <a:buAutoNum type="alphaUcParenR"/>
            </a:pPr>
            <a:r>
              <a:rPr lang="en-US" dirty="0"/>
              <a:t>EGD within 6 hours</a:t>
            </a:r>
          </a:p>
          <a:p>
            <a:pPr marL="514350" indent="-514350">
              <a:buAutoNum type="alphaUcParenR"/>
            </a:pPr>
            <a:r>
              <a:rPr lang="en-US" dirty="0"/>
              <a:t>PPI</a:t>
            </a:r>
          </a:p>
          <a:p>
            <a:pPr marL="514350" indent="-514350">
              <a:buAutoNum type="alphaUcParenR"/>
            </a:pPr>
            <a:r>
              <a:rPr lang="en-US" dirty="0"/>
              <a:t>Ceftriaxone</a:t>
            </a:r>
          </a:p>
          <a:p>
            <a:pPr marL="514350" indent="-514350">
              <a:buAutoNum type="alphaUcParenR"/>
            </a:pPr>
            <a:r>
              <a:rPr lang="en-US" dirty="0"/>
              <a:t>Albumin</a:t>
            </a:r>
          </a:p>
          <a:p>
            <a:pPr marL="514350" indent="-514350">
              <a:buAutoNum type="alphaUcParenR"/>
            </a:pPr>
            <a:r>
              <a:rPr lang="en-US" dirty="0"/>
              <a:t>Transfusion to a goal of Hgb &gt;9</a:t>
            </a:r>
          </a:p>
          <a:p>
            <a:pPr marL="514350" indent="-514350">
              <a:buAutoNum type="alphaUcParenR"/>
            </a:pPr>
            <a:r>
              <a:rPr lang="en-US" dirty="0"/>
              <a:t>TIPS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FCA647-421A-4DF5-BB02-FCC53B46A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22703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725602-FF30-2C48-8F07-8E790A0CD5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3282"/>
            <a:ext cx="10515600" cy="5299129"/>
          </a:xfrm>
        </p:spPr>
        <p:txBody>
          <a:bodyPr/>
          <a:lstStyle/>
          <a:p>
            <a:r>
              <a:rPr lang="en-US" dirty="0"/>
              <a:t>One month later he presents with </a:t>
            </a:r>
            <a:r>
              <a:rPr lang="en-US" b="1" dirty="0"/>
              <a:t>hematemesis</a:t>
            </a:r>
            <a:r>
              <a:rPr lang="en-US" dirty="0"/>
              <a:t> and </a:t>
            </a:r>
            <a:r>
              <a:rPr lang="en-US" b="1" dirty="0"/>
              <a:t>tachycardia</a:t>
            </a:r>
          </a:p>
          <a:p>
            <a:r>
              <a:rPr lang="en-US" b="1" dirty="0"/>
              <a:t>What’s the immediate management after resuscitation?</a:t>
            </a:r>
          </a:p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4D0208C-AA09-8249-B530-A4F75F9A5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5588"/>
            <a:ext cx="10515600" cy="955675"/>
          </a:xfrm>
        </p:spPr>
        <p:txBody>
          <a:bodyPr>
            <a:noAutofit/>
          </a:bodyPr>
          <a:lstStyle/>
          <a:p>
            <a:r>
              <a:rPr lang="en-US" sz="3600" b="1" dirty="0"/>
              <a:t>54-year-old man with alcohol-related cirrhosis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4A88523-C159-414C-A63C-EDF315A13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78870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725602-FF30-2C48-8F07-8E790A0CD5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3282"/>
            <a:ext cx="10515600" cy="5299129"/>
          </a:xfrm>
        </p:spPr>
        <p:txBody>
          <a:bodyPr/>
          <a:lstStyle/>
          <a:p>
            <a:r>
              <a:rPr lang="en-US" dirty="0"/>
              <a:t>One month later he presents with </a:t>
            </a:r>
            <a:r>
              <a:rPr lang="en-US" b="1" dirty="0"/>
              <a:t>hematemesis</a:t>
            </a:r>
            <a:r>
              <a:rPr lang="en-US" dirty="0"/>
              <a:t> and </a:t>
            </a:r>
            <a:r>
              <a:rPr lang="en-US" b="1" dirty="0"/>
              <a:t>tachycardia</a:t>
            </a:r>
          </a:p>
          <a:p>
            <a:r>
              <a:rPr lang="en-US" b="1" dirty="0"/>
              <a:t>What’s the immediate management after resuscitation?</a:t>
            </a:r>
          </a:p>
          <a:p>
            <a:pPr lvl="1"/>
            <a:r>
              <a:rPr lang="en-US" dirty="0" err="1">
                <a:highlight>
                  <a:srgbClr val="FFFF00"/>
                </a:highlight>
              </a:rPr>
              <a:t>Octeriotide</a:t>
            </a:r>
            <a:endParaRPr lang="en-US" dirty="0">
              <a:highlight>
                <a:srgbClr val="FFFF00"/>
              </a:highlight>
            </a:endParaRPr>
          </a:p>
          <a:p>
            <a:pPr lvl="1"/>
            <a:r>
              <a:rPr lang="en-US" dirty="0">
                <a:highlight>
                  <a:srgbClr val="FFFF00"/>
                </a:highlight>
              </a:rPr>
              <a:t>Ceftriaxone (or cefotaxime) -&gt; 7 days only</a:t>
            </a:r>
          </a:p>
          <a:p>
            <a:pPr lvl="1"/>
            <a:r>
              <a:rPr lang="en-US" dirty="0"/>
              <a:t>Urgent EGD</a:t>
            </a:r>
          </a:p>
          <a:p>
            <a:r>
              <a:rPr lang="en-US" dirty="0"/>
              <a:t>EGD showed medium-sized varix with stigmata of recent bleed, now s/p banding</a:t>
            </a:r>
          </a:p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4D0208C-AA09-8249-B530-A4F75F9A5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5588"/>
            <a:ext cx="10515600" cy="955675"/>
          </a:xfrm>
        </p:spPr>
        <p:txBody>
          <a:bodyPr>
            <a:noAutofit/>
          </a:bodyPr>
          <a:lstStyle/>
          <a:p>
            <a:r>
              <a:rPr lang="en-US" sz="3600" b="1" dirty="0"/>
              <a:t>54-year-old man with alcohol-related cirrhosis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98F204-CE30-4F62-AA65-8810D6C5B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52296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725602-FF30-2C48-8F07-8E790A0CD5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3282"/>
            <a:ext cx="10515600" cy="5299129"/>
          </a:xfrm>
        </p:spPr>
        <p:txBody>
          <a:bodyPr/>
          <a:lstStyle/>
          <a:p>
            <a:r>
              <a:rPr lang="en-US" dirty="0"/>
              <a:t>One month later he presents with </a:t>
            </a:r>
            <a:r>
              <a:rPr lang="en-US" b="1" dirty="0"/>
              <a:t>hematemesis</a:t>
            </a:r>
            <a:r>
              <a:rPr lang="en-US" dirty="0"/>
              <a:t> and </a:t>
            </a:r>
            <a:r>
              <a:rPr lang="en-US" b="1" dirty="0"/>
              <a:t>tachycardia</a:t>
            </a:r>
          </a:p>
          <a:p>
            <a:r>
              <a:rPr lang="en-US" b="1" dirty="0"/>
              <a:t>What’s the immediate management after resuscitation?</a:t>
            </a:r>
          </a:p>
          <a:p>
            <a:pPr lvl="1"/>
            <a:r>
              <a:rPr lang="en-US" dirty="0" err="1">
                <a:highlight>
                  <a:srgbClr val="FFFF00"/>
                </a:highlight>
              </a:rPr>
              <a:t>Octeriotide</a:t>
            </a:r>
            <a:endParaRPr lang="en-US" dirty="0">
              <a:highlight>
                <a:srgbClr val="FFFF00"/>
              </a:highlight>
            </a:endParaRPr>
          </a:p>
          <a:p>
            <a:pPr lvl="1"/>
            <a:r>
              <a:rPr lang="en-US" dirty="0">
                <a:highlight>
                  <a:srgbClr val="FFFF00"/>
                </a:highlight>
              </a:rPr>
              <a:t>Ceftriaxone (or cefotaxime) -&gt; 7 days only</a:t>
            </a:r>
          </a:p>
          <a:p>
            <a:pPr lvl="1"/>
            <a:r>
              <a:rPr lang="en-US" dirty="0"/>
              <a:t>Urgent EGD</a:t>
            </a:r>
          </a:p>
          <a:p>
            <a:r>
              <a:rPr lang="en-US" dirty="0"/>
              <a:t>EGD showed medium-sized varix with stigmata of recent bleed, now s/p banding</a:t>
            </a:r>
          </a:p>
          <a:p>
            <a:r>
              <a:rPr lang="en-US" b="1" dirty="0"/>
              <a:t>What else might you consider?</a:t>
            </a:r>
            <a:endParaRPr lang="en-US" dirty="0"/>
          </a:p>
          <a:p>
            <a:endParaRPr lang="en-US" b="1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4D0208C-AA09-8249-B530-A4F75F9A5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5588"/>
            <a:ext cx="10515600" cy="955675"/>
          </a:xfrm>
        </p:spPr>
        <p:txBody>
          <a:bodyPr>
            <a:noAutofit/>
          </a:bodyPr>
          <a:lstStyle/>
          <a:p>
            <a:r>
              <a:rPr lang="en-US" sz="3600" b="1" dirty="0"/>
              <a:t>54-year-old man with alcohol-related cirrhosis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3C88B6C-A5EB-4D2E-9B91-610C362BA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77426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725602-FF30-2C48-8F07-8E790A0CD5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3282"/>
            <a:ext cx="10515600" cy="5299129"/>
          </a:xfrm>
        </p:spPr>
        <p:txBody>
          <a:bodyPr/>
          <a:lstStyle/>
          <a:p>
            <a:r>
              <a:rPr lang="en-US" dirty="0"/>
              <a:t>One month later he presents with </a:t>
            </a:r>
            <a:r>
              <a:rPr lang="en-US" b="1" dirty="0"/>
              <a:t>hematemesis</a:t>
            </a:r>
            <a:r>
              <a:rPr lang="en-US" dirty="0"/>
              <a:t> and </a:t>
            </a:r>
            <a:r>
              <a:rPr lang="en-US" b="1" dirty="0"/>
              <a:t>tachycardia</a:t>
            </a:r>
          </a:p>
          <a:p>
            <a:r>
              <a:rPr lang="en-US" b="1" dirty="0"/>
              <a:t>What’s the immediate management after resuscitation?</a:t>
            </a:r>
          </a:p>
          <a:p>
            <a:pPr lvl="1"/>
            <a:r>
              <a:rPr lang="en-US" dirty="0" err="1">
                <a:highlight>
                  <a:srgbClr val="FFFF00"/>
                </a:highlight>
              </a:rPr>
              <a:t>Octeriotide</a:t>
            </a:r>
            <a:endParaRPr lang="en-US" dirty="0">
              <a:highlight>
                <a:srgbClr val="FFFF00"/>
              </a:highlight>
            </a:endParaRPr>
          </a:p>
          <a:p>
            <a:pPr lvl="1"/>
            <a:r>
              <a:rPr lang="en-US" dirty="0">
                <a:highlight>
                  <a:srgbClr val="FFFF00"/>
                </a:highlight>
              </a:rPr>
              <a:t>Ceftriaxone (or cefotaxime) -&gt; 7 days only</a:t>
            </a:r>
          </a:p>
          <a:p>
            <a:pPr lvl="1"/>
            <a:r>
              <a:rPr lang="en-US" dirty="0"/>
              <a:t>Urgent EGD</a:t>
            </a:r>
          </a:p>
          <a:p>
            <a:r>
              <a:rPr lang="en-US" dirty="0"/>
              <a:t>EGD showed medium-sized varix with stigmata of recent bleed, now s/p banding</a:t>
            </a:r>
          </a:p>
          <a:p>
            <a:r>
              <a:rPr lang="en-US" b="1" dirty="0"/>
              <a:t>What else might you consider? -&gt; TIPS</a:t>
            </a:r>
          </a:p>
          <a:p>
            <a:pPr lvl="1"/>
            <a:r>
              <a:rPr lang="en-US" b="1" dirty="0"/>
              <a:t>Especially for patients with CTP B7+ or CTP C, early TIPS (within 72 hours) is indicated after index bleed</a:t>
            </a:r>
            <a:endParaRPr lang="en-US" dirty="0"/>
          </a:p>
          <a:p>
            <a:endParaRPr lang="en-US" b="1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4D0208C-AA09-8249-B530-A4F75F9A5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5588"/>
            <a:ext cx="10515600" cy="955675"/>
          </a:xfrm>
        </p:spPr>
        <p:txBody>
          <a:bodyPr>
            <a:noAutofit/>
          </a:bodyPr>
          <a:lstStyle/>
          <a:p>
            <a:r>
              <a:rPr lang="en-US" sz="3600" b="1" dirty="0"/>
              <a:t>54-year-old man with alcohol-related cirrhosis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8C72C61-C3A9-4C04-AF81-4333B0C5E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7220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5B84A9-968D-CA4B-B951-AAAD73B047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Patient comes to your clinic 4 months later with severe abdominal distension and 10lbs weight gain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47D1CED-1B9B-3F41-9FC6-685720012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54-year-old man with alcohol-related cirrhosis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7B6CE63-0F89-4A38-9EC2-8C9404065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3009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5B84A9-968D-CA4B-B951-AAAD73B047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Patient comes to your clinic 4 months later with severe abdominal distension and 10lbs weight gain</a:t>
            </a:r>
          </a:p>
          <a:p>
            <a:r>
              <a:rPr lang="en-US" dirty="0"/>
              <a:t>Large volume paracentesis done in the office, 5L removed</a:t>
            </a:r>
          </a:p>
          <a:p>
            <a:r>
              <a:rPr lang="en-US" dirty="0"/>
              <a:t>What will you send?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47D1CED-1B9B-3F41-9FC6-685720012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54-year-old man with alcohol-related cirrhosis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7DC8EAB-0B38-4805-AAB7-95EE8A6F5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27832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5B84A9-968D-CA4B-B951-AAAD73B047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Patient comes to your clinic 4 months later with severe abdominal distension and 10lbs weight gain</a:t>
            </a:r>
          </a:p>
          <a:p>
            <a:r>
              <a:rPr lang="en-US" dirty="0"/>
              <a:t>Large volume paracentesis done in the office, 5L removed</a:t>
            </a:r>
          </a:p>
          <a:p>
            <a:r>
              <a:rPr lang="en-US" dirty="0"/>
              <a:t>What will you send?</a:t>
            </a:r>
          </a:p>
          <a:p>
            <a:pPr lvl="1"/>
            <a:r>
              <a:rPr lang="en-US" dirty="0"/>
              <a:t>Albumin, total protein, and cell count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47D1CED-1B9B-3F41-9FC6-685720012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54-year-old man with alcohol-related cirrhosis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7046EFD-2618-0944-A32B-6B12B50C4078}"/>
              </a:ext>
            </a:extLst>
          </p:cNvPr>
          <p:cNvGraphicFramePr>
            <a:graphicFrameLocks noGrp="1"/>
          </p:cNvGraphicFramePr>
          <p:nvPr/>
        </p:nvGraphicFramePr>
        <p:xfrm>
          <a:off x="8292661" y="2998076"/>
          <a:ext cx="3268717" cy="185420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2039008">
                  <a:extLst>
                    <a:ext uri="{9D8B030D-6E8A-4147-A177-3AD203B41FA5}">
                      <a16:colId xmlns:a16="http://schemas.microsoft.com/office/drawing/2014/main" val="3564034845"/>
                    </a:ext>
                  </a:extLst>
                </a:gridCol>
                <a:gridCol w="1229709">
                  <a:extLst>
                    <a:ext uri="{9D8B030D-6E8A-4147-A177-3AD203B41FA5}">
                      <a16:colId xmlns:a16="http://schemas.microsoft.com/office/drawing/2014/main" val="2255976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i="1" dirty="0">
                          <a:solidFill>
                            <a:schemeClr val="tx1"/>
                          </a:solidFill>
                        </a:rPr>
                        <a:t>Albumin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50457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Fluid albumin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75963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Fluid total protein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6251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Fluid PMNs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89563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Fluid culture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Negative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9959248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8B5FD86-2FFE-435B-ACD3-22198094A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64201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47D1CED-1B9B-3F41-9FC6-685720012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54-year-old man with alcohol-related cirrhosis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7046EFD-2618-0944-A32B-6B12B50C4078}"/>
              </a:ext>
            </a:extLst>
          </p:cNvPr>
          <p:cNvGraphicFramePr>
            <a:graphicFrameLocks noGrp="1"/>
          </p:cNvGraphicFramePr>
          <p:nvPr/>
        </p:nvGraphicFramePr>
        <p:xfrm>
          <a:off x="8292661" y="2998076"/>
          <a:ext cx="3268717" cy="185420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2039008">
                  <a:extLst>
                    <a:ext uri="{9D8B030D-6E8A-4147-A177-3AD203B41FA5}">
                      <a16:colId xmlns:a16="http://schemas.microsoft.com/office/drawing/2014/main" val="3564034845"/>
                    </a:ext>
                  </a:extLst>
                </a:gridCol>
                <a:gridCol w="1229709">
                  <a:extLst>
                    <a:ext uri="{9D8B030D-6E8A-4147-A177-3AD203B41FA5}">
                      <a16:colId xmlns:a16="http://schemas.microsoft.com/office/drawing/2014/main" val="2255976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i="1" dirty="0">
                          <a:solidFill>
                            <a:schemeClr val="tx1"/>
                          </a:solidFill>
                        </a:rPr>
                        <a:t>Albumin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50457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Fluid albumin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75963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Fluid total protein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6251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Fluid PMNs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89563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Fluid culture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Negative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9959248"/>
                  </a:ext>
                </a:extLst>
              </a:tr>
            </a:tbl>
          </a:graphicData>
        </a:graphic>
      </p:graphicFrame>
      <p:pic>
        <p:nvPicPr>
          <p:cNvPr id="4098" name="Picture 2" descr="Algorithm for the differential diagnosis of ascites. SAAG,... | Download  Scientific Diagram">
            <a:extLst>
              <a:ext uri="{FF2B5EF4-FFF2-40B4-BE49-F238E27FC236}">
                <a16:creationId xmlns:a16="http://schemas.microsoft.com/office/drawing/2014/main" id="{E2EB1691-A349-7A46-A673-4C4B2781D1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4466" y="1997951"/>
            <a:ext cx="6102167" cy="3854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8A50627-8E6A-4876-A621-2676A157B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97400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5B84A9-968D-CA4B-B951-AAAD73B047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Patient comes to your clinic 4 months later with severe abdominal distension and 10lbs weight gain</a:t>
            </a:r>
          </a:p>
          <a:p>
            <a:r>
              <a:rPr lang="en-US" dirty="0"/>
              <a:t>Large volume paracentesis done in the office, 5L removed</a:t>
            </a:r>
          </a:p>
          <a:p>
            <a:r>
              <a:rPr lang="en-US" dirty="0"/>
              <a:t>No SBP, consistent with cirrhotic ascites</a:t>
            </a:r>
          </a:p>
          <a:p>
            <a:endParaRPr lang="en-US" dirty="0"/>
          </a:p>
          <a:p>
            <a:r>
              <a:rPr lang="en-US" b="1" dirty="0"/>
              <a:t>What’s your next step?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47D1CED-1B9B-3F41-9FC6-685720012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54-year-old man with alcohol-related cirrhosis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7046EFD-2618-0944-A32B-6B12B50C4078}"/>
              </a:ext>
            </a:extLst>
          </p:cNvPr>
          <p:cNvGraphicFramePr>
            <a:graphicFrameLocks noGrp="1"/>
          </p:cNvGraphicFramePr>
          <p:nvPr/>
        </p:nvGraphicFramePr>
        <p:xfrm>
          <a:off x="8292661" y="2998076"/>
          <a:ext cx="3268717" cy="185420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2039008">
                  <a:extLst>
                    <a:ext uri="{9D8B030D-6E8A-4147-A177-3AD203B41FA5}">
                      <a16:colId xmlns:a16="http://schemas.microsoft.com/office/drawing/2014/main" val="3564034845"/>
                    </a:ext>
                  </a:extLst>
                </a:gridCol>
                <a:gridCol w="1229709">
                  <a:extLst>
                    <a:ext uri="{9D8B030D-6E8A-4147-A177-3AD203B41FA5}">
                      <a16:colId xmlns:a16="http://schemas.microsoft.com/office/drawing/2014/main" val="2255976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i="1" dirty="0">
                          <a:solidFill>
                            <a:schemeClr val="tx1"/>
                          </a:solidFill>
                        </a:rPr>
                        <a:t>Albumin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50457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Fluid albumin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75963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Fluid total protein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6251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Fluid PMNs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89563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Fluid culture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Negative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9959248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8B0548E-ED67-47AA-989B-0718206F3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03224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5B84A9-968D-CA4B-B951-AAAD73B047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Patient comes to your clinic 4 months later with severe abdominal distension and 10lbs weight gain</a:t>
            </a:r>
          </a:p>
          <a:p>
            <a:r>
              <a:rPr lang="en-US" dirty="0"/>
              <a:t>Large volume paracentesis done in the office, 5L removed</a:t>
            </a:r>
          </a:p>
          <a:p>
            <a:r>
              <a:rPr lang="en-US" dirty="0"/>
              <a:t>No SBP, consistent with cirrhotic ascites</a:t>
            </a:r>
          </a:p>
          <a:p>
            <a:endParaRPr lang="en-US" dirty="0"/>
          </a:p>
          <a:p>
            <a:r>
              <a:rPr lang="en-US" b="1" dirty="0"/>
              <a:t>What’s your next step?</a:t>
            </a:r>
          </a:p>
          <a:p>
            <a:r>
              <a:rPr lang="en-US" dirty="0"/>
              <a:t>Start Spironolactone and Lasix 5:2 ratio</a:t>
            </a:r>
          </a:p>
          <a:p>
            <a:pPr lvl="1"/>
            <a:r>
              <a:rPr lang="en-US" dirty="0"/>
              <a:t>Max dose is 400mg:160mg daily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47D1CED-1B9B-3F41-9FC6-685720012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54-year-old man with alcohol-related cirrhosis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7046EFD-2618-0944-A32B-6B12B50C4078}"/>
              </a:ext>
            </a:extLst>
          </p:cNvPr>
          <p:cNvGraphicFramePr>
            <a:graphicFrameLocks noGrp="1"/>
          </p:cNvGraphicFramePr>
          <p:nvPr/>
        </p:nvGraphicFramePr>
        <p:xfrm>
          <a:off x="8292661" y="2998076"/>
          <a:ext cx="3268717" cy="185420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2039008">
                  <a:extLst>
                    <a:ext uri="{9D8B030D-6E8A-4147-A177-3AD203B41FA5}">
                      <a16:colId xmlns:a16="http://schemas.microsoft.com/office/drawing/2014/main" val="3564034845"/>
                    </a:ext>
                  </a:extLst>
                </a:gridCol>
                <a:gridCol w="1229709">
                  <a:extLst>
                    <a:ext uri="{9D8B030D-6E8A-4147-A177-3AD203B41FA5}">
                      <a16:colId xmlns:a16="http://schemas.microsoft.com/office/drawing/2014/main" val="2255976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i="1" dirty="0">
                          <a:solidFill>
                            <a:schemeClr val="tx1"/>
                          </a:solidFill>
                        </a:rPr>
                        <a:t>Albumin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50457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Fluid albumin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75963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Fluid total protein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6251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Fluid PMNs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89563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Fluid culture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Negative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9959248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5EFEA02-A8E4-4B85-9D59-486FA82C3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92329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5B84A9-968D-CA4B-B951-AAAD73B047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Patient comes to your clinic 4 months later with severe abdominal distension and 10lbs weight gain</a:t>
            </a:r>
          </a:p>
          <a:p>
            <a:r>
              <a:rPr lang="en-US" dirty="0"/>
              <a:t>Large volume paracentesis done in the office, 5L removed</a:t>
            </a:r>
          </a:p>
          <a:p>
            <a:r>
              <a:rPr lang="en-US" dirty="0"/>
              <a:t>No SBP, consistent with cirrhotic ascites</a:t>
            </a:r>
          </a:p>
          <a:p>
            <a:endParaRPr lang="en-US" dirty="0"/>
          </a:p>
          <a:p>
            <a:r>
              <a:rPr lang="en-US" b="1" dirty="0"/>
              <a:t>What’s your next step?</a:t>
            </a:r>
          </a:p>
          <a:p>
            <a:r>
              <a:rPr lang="en-US" dirty="0"/>
              <a:t>Start Spironolactone and Lasix 5:2 ratio</a:t>
            </a:r>
          </a:p>
          <a:p>
            <a:pPr lvl="1"/>
            <a:r>
              <a:rPr lang="en-US" dirty="0"/>
              <a:t>Max dose is 400mg:160mg daily</a:t>
            </a:r>
          </a:p>
          <a:p>
            <a:r>
              <a:rPr lang="en-US" b="1" dirty="0"/>
              <a:t>Anything else?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47D1CED-1B9B-3F41-9FC6-685720012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54-year-old man with alcohol-related cirrhosis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7046EFD-2618-0944-A32B-6B12B50C40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8119214"/>
              </p:ext>
            </p:extLst>
          </p:nvPr>
        </p:nvGraphicFramePr>
        <p:xfrm>
          <a:off x="8292661" y="2998076"/>
          <a:ext cx="3268717" cy="185420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2039008">
                  <a:extLst>
                    <a:ext uri="{9D8B030D-6E8A-4147-A177-3AD203B41FA5}">
                      <a16:colId xmlns:a16="http://schemas.microsoft.com/office/drawing/2014/main" val="3564034845"/>
                    </a:ext>
                  </a:extLst>
                </a:gridCol>
                <a:gridCol w="1229709">
                  <a:extLst>
                    <a:ext uri="{9D8B030D-6E8A-4147-A177-3AD203B41FA5}">
                      <a16:colId xmlns:a16="http://schemas.microsoft.com/office/drawing/2014/main" val="2255976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i="1" dirty="0">
                          <a:solidFill>
                            <a:schemeClr val="tx1"/>
                          </a:solidFill>
                        </a:rPr>
                        <a:t>Albumin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50457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Fluid albumin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75963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Fluid total protein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0.9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6251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Fluid PMNs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89563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Fluid culture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Negative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9959248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42D2A36-78CF-4460-A98C-CF90A3CDF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67879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5B84A9-968D-CA4B-B951-AAAD73B047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3282"/>
            <a:ext cx="10515600" cy="5162831"/>
          </a:xfrm>
        </p:spPr>
        <p:txBody>
          <a:bodyPr>
            <a:normAutofit/>
          </a:bodyPr>
          <a:lstStyle/>
          <a:p>
            <a:r>
              <a:rPr lang="en-US" dirty="0"/>
              <a:t>Patient comes to your clinic 4 months later with severe abdominal distension and 10lbs weight gain</a:t>
            </a:r>
          </a:p>
          <a:p>
            <a:r>
              <a:rPr lang="en-US" dirty="0"/>
              <a:t>Large volume paracentesis done in the office, 5L removed</a:t>
            </a:r>
          </a:p>
          <a:p>
            <a:r>
              <a:rPr lang="en-US" dirty="0"/>
              <a:t>No SBP, consistent with cirrhotic ascites</a:t>
            </a:r>
          </a:p>
          <a:p>
            <a:endParaRPr lang="en-US" dirty="0"/>
          </a:p>
          <a:p>
            <a:r>
              <a:rPr lang="en-US" b="1" dirty="0"/>
              <a:t>What’s your next step?</a:t>
            </a:r>
          </a:p>
          <a:p>
            <a:r>
              <a:rPr lang="en-US" dirty="0"/>
              <a:t>Start Spironolactone and Lasix 5:2 ratio</a:t>
            </a:r>
          </a:p>
          <a:p>
            <a:pPr lvl="1"/>
            <a:r>
              <a:rPr lang="en-US" dirty="0"/>
              <a:t>Max dose is 400mg:160mg daily</a:t>
            </a:r>
          </a:p>
          <a:p>
            <a:r>
              <a:rPr lang="en-US" b="1" dirty="0"/>
              <a:t>Anything else?</a:t>
            </a:r>
          </a:p>
          <a:p>
            <a:pPr lvl="1"/>
            <a:r>
              <a:rPr lang="en-US" dirty="0"/>
              <a:t>You </a:t>
            </a:r>
            <a:r>
              <a:rPr lang="en-US" u="sng" dirty="0"/>
              <a:t>could</a:t>
            </a:r>
            <a:r>
              <a:rPr lang="en-US" dirty="0"/>
              <a:t> start SBP </a:t>
            </a:r>
            <a:r>
              <a:rPr lang="en-US" b="1" dirty="0"/>
              <a:t>primary </a:t>
            </a:r>
            <a:r>
              <a:rPr lang="en-US" dirty="0"/>
              <a:t>prophylaxis with </a:t>
            </a:r>
            <a:r>
              <a:rPr lang="en-US" b="1" dirty="0"/>
              <a:t>Bactrim </a:t>
            </a:r>
            <a:r>
              <a:rPr lang="en-US" dirty="0"/>
              <a:t>(or cipro)</a:t>
            </a:r>
          </a:p>
          <a:p>
            <a:pPr lvl="2"/>
            <a:r>
              <a:rPr lang="en-US" dirty="0"/>
              <a:t>This remains a little controversial, and most hepatologists will not do it.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47D1CED-1B9B-3F41-9FC6-685720012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54-year-old man with alcohol-related cirrhosis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7046EFD-2618-0944-A32B-6B12B50C40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1054039"/>
              </p:ext>
            </p:extLst>
          </p:nvPr>
        </p:nvGraphicFramePr>
        <p:xfrm>
          <a:off x="8292661" y="2998076"/>
          <a:ext cx="3268717" cy="185420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2039008">
                  <a:extLst>
                    <a:ext uri="{9D8B030D-6E8A-4147-A177-3AD203B41FA5}">
                      <a16:colId xmlns:a16="http://schemas.microsoft.com/office/drawing/2014/main" val="3564034845"/>
                    </a:ext>
                  </a:extLst>
                </a:gridCol>
                <a:gridCol w="1229709">
                  <a:extLst>
                    <a:ext uri="{9D8B030D-6E8A-4147-A177-3AD203B41FA5}">
                      <a16:colId xmlns:a16="http://schemas.microsoft.com/office/drawing/2014/main" val="2255976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i="1" dirty="0">
                          <a:solidFill>
                            <a:schemeClr val="tx1"/>
                          </a:solidFill>
                        </a:rPr>
                        <a:t>Albumin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50457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Fluid albumin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75963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Fluid total protein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0.9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6251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Fluid PMNs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89563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Fluid culture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Negative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9959248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5CEDD89-4968-4B14-914B-E3A8B01AB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31202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900F5F-3B59-D646-BFD8-6BDBB32C12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Patient comes to your clinic 2 months later with shortness of breath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2564A5A-5558-7444-8CCF-E4B95936C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54-year-old man with alcohol-related cirrhosis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E9B49AF-7C5F-4F59-9F6E-030E8EF63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35574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900F5F-3B59-D646-BFD8-6BDBB32C12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Patient comes to your clinic 2 months later with shortness of breath</a:t>
            </a:r>
          </a:p>
          <a:p>
            <a:pPr lvl="1"/>
            <a:r>
              <a:rPr lang="en-US" dirty="0"/>
              <a:t>His symptoms </a:t>
            </a:r>
            <a:r>
              <a:rPr lang="en-US" b="1" dirty="0"/>
              <a:t>improve when he lays down</a:t>
            </a: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2564A5A-5558-7444-8CCF-E4B95936C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54-year-old man with alcohol-related cirrhosis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C8E0D63-5463-41B8-A709-E4B4768C9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530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900F5F-3B59-D646-BFD8-6BDBB32C12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Patient comes to your clinic 2 months later with shortness of breath</a:t>
            </a:r>
          </a:p>
          <a:p>
            <a:pPr lvl="1"/>
            <a:r>
              <a:rPr lang="en-US" dirty="0"/>
              <a:t>His symptoms </a:t>
            </a:r>
            <a:r>
              <a:rPr lang="en-US" b="1" dirty="0"/>
              <a:t>improve when he lays down</a:t>
            </a:r>
            <a:endParaRPr lang="en-US" dirty="0"/>
          </a:p>
          <a:p>
            <a:pPr lvl="1"/>
            <a:r>
              <a:rPr lang="en-US" b="1" dirty="0"/>
              <a:t>What is this called?</a:t>
            </a:r>
            <a:r>
              <a:rPr lang="en-US" dirty="0"/>
              <a:t>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2564A5A-5558-7444-8CCF-E4B95936C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54-year-old man with alcohol-related cirrhosis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31A48F8-EB4B-43C1-A374-B9123C184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00390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900F5F-3B59-D646-BFD8-6BDBB32C12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Patient comes to your clinic 2 months later with shortness of breath</a:t>
            </a:r>
          </a:p>
          <a:p>
            <a:pPr lvl="1"/>
            <a:r>
              <a:rPr lang="en-US" dirty="0"/>
              <a:t>His symptoms </a:t>
            </a:r>
            <a:r>
              <a:rPr lang="en-US" b="1" dirty="0"/>
              <a:t>improve when he lays down</a:t>
            </a:r>
            <a:endParaRPr lang="en-US" dirty="0"/>
          </a:p>
          <a:p>
            <a:pPr lvl="1"/>
            <a:r>
              <a:rPr lang="en-US" b="1" dirty="0"/>
              <a:t>What is this called?</a:t>
            </a:r>
            <a:r>
              <a:rPr lang="en-US" dirty="0"/>
              <a:t> </a:t>
            </a:r>
            <a:r>
              <a:rPr lang="en-US" dirty="0" err="1"/>
              <a:t>Platypnea</a:t>
            </a: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2564A5A-5558-7444-8CCF-E4B95936C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54-year-old man with alcohol-related cirrhosis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ED7F87-19BB-494F-B835-B63E6AC68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17059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900F5F-3B59-D646-BFD8-6BDBB32C12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Patient comes to your clinic 2 months later with shortness of breath</a:t>
            </a:r>
          </a:p>
          <a:p>
            <a:pPr lvl="1"/>
            <a:r>
              <a:rPr lang="en-US" dirty="0"/>
              <a:t>His symptoms </a:t>
            </a:r>
            <a:r>
              <a:rPr lang="en-US" b="1" dirty="0"/>
              <a:t>improve when he lays down</a:t>
            </a:r>
            <a:endParaRPr lang="en-US" dirty="0"/>
          </a:p>
          <a:p>
            <a:pPr lvl="1"/>
            <a:r>
              <a:rPr lang="en-US" b="1" dirty="0"/>
              <a:t>What is this called?</a:t>
            </a:r>
            <a:r>
              <a:rPr lang="en-US" dirty="0"/>
              <a:t> </a:t>
            </a:r>
            <a:r>
              <a:rPr lang="en-US" dirty="0" err="1"/>
              <a:t>Platypnea</a:t>
            </a:r>
            <a:endParaRPr lang="en-US" dirty="0"/>
          </a:p>
          <a:p>
            <a:pPr lvl="1"/>
            <a:r>
              <a:rPr lang="en-US" dirty="0"/>
              <a:t>You measure his pulse ox and it worsens when he </a:t>
            </a:r>
            <a:r>
              <a:rPr lang="en-US" b="1" dirty="0"/>
              <a:t>sits up</a:t>
            </a:r>
          </a:p>
          <a:p>
            <a:pPr lvl="1"/>
            <a:r>
              <a:rPr lang="en-US" b="1" dirty="0"/>
              <a:t>What is this called?</a:t>
            </a:r>
            <a:r>
              <a:rPr lang="en-US" dirty="0"/>
              <a:t>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2564A5A-5558-7444-8CCF-E4B95936C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54-year-old man with alcohol-related cirrhosis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96AA2AE-787A-4EE1-AA7A-1764A3249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37401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900F5F-3B59-D646-BFD8-6BDBB32C12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Patient comes to your clinic 2 months later with shortness of breath</a:t>
            </a:r>
          </a:p>
          <a:p>
            <a:pPr lvl="1"/>
            <a:r>
              <a:rPr lang="en-US" dirty="0"/>
              <a:t>His symptoms </a:t>
            </a:r>
            <a:r>
              <a:rPr lang="en-US" b="1" dirty="0"/>
              <a:t>improve when he lays down</a:t>
            </a:r>
            <a:endParaRPr lang="en-US" dirty="0"/>
          </a:p>
          <a:p>
            <a:pPr lvl="1"/>
            <a:r>
              <a:rPr lang="en-US" b="1" dirty="0"/>
              <a:t>What is this called?</a:t>
            </a:r>
            <a:r>
              <a:rPr lang="en-US" dirty="0"/>
              <a:t> </a:t>
            </a:r>
            <a:r>
              <a:rPr lang="en-US" dirty="0" err="1"/>
              <a:t>Platypnea</a:t>
            </a:r>
            <a:endParaRPr lang="en-US" dirty="0"/>
          </a:p>
          <a:p>
            <a:pPr lvl="1"/>
            <a:r>
              <a:rPr lang="en-US" dirty="0"/>
              <a:t>You measure his pulse ox and it worsens when he </a:t>
            </a:r>
            <a:r>
              <a:rPr lang="en-US" b="1" dirty="0"/>
              <a:t>sits up</a:t>
            </a:r>
          </a:p>
          <a:p>
            <a:pPr lvl="1"/>
            <a:r>
              <a:rPr lang="en-US" b="1" dirty="0"/>
              <a:t>What is this called?</a:t>
            </a:r>
            <a:r>
              <a:rPr lang="en-US" dirty="0"/>
              <a:t> Orthodeoxia</a:t>
            </a:r>
            <a:endParaRPr lang="en-US" b="1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2564A5A-5558-7444-8CCF-E4B95936C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54-year-old man with alcohol-related cirrhosis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F364480-0784-4730-9A44-7CDFA3920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89201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900F5F-3B59-D646-BFD8-6BDBB32C12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Patient comes to your clinic 2 months later with shortness of breath</a:t>
            </a:r>
          </a:p>
          <a:p>
            <a:pPr lvl="1"/>
            <a:r>
              <a:rPr lang="en-US" dirty="0"/>
              <a:t>His symptoms </a:t>
            </a:r>
            <a:r>
              <a:rPr lang="en-US" b="1" dirty="0"/>
              <a:t>improve when he lays down</a:t>
            </a:r>
            <a:endParaRPr lang="en-US" dirty="0"/>
          </a:p>
          <a:p>
            <a:pPr lvl="1"/>
            <a:r>
              <a:rPr lang="en-US" b="1" dirty="0"/>
              <a:t>What is this called?</a:t>
            </a:r>
            <a:r>
              <a:rPr lang="en-US" dirty="0"/>
              <a:t> </a:t>
            </a:r>
            <a:r>
              <a:rPr lang="en-US" dirty="0" err="1"/>
              <a:t>Platypnea</a:t>
            </a:r>
            <a:endParaRPr lang="en-US" dirty="0"/>
          </a:p>
          <a:p>
            <a:pPr lvl="1"/>
            <a:r>
              <a:rPr lang="en-US" dirty="0"/>
              <a:t>You measure his pulse ox and </a:t>
            </a:r>
            <a:r>
              <a:rPr lang="en-US" b="1" dirty="0"/>
              <a:t>it worsens when he sits up</a:t>
            </a:r>
          </a:p>
          <a:p>
            <a:pPr lvl="1"/>
            <a:r>
              <a:rPr lang="en-US" b="1" dirty="0"/>
              <a:t>What is this called?</a:t>
            </a:r>
            <a:r>
              <a:rPr lang="en-US" dirty="0"/>
              <a:t> Orthodeoxia</a:t>
            </a:r>
            <a:endParaRPr lang="en-US" b="1" dirty="0"/>
          </a:p>
          <a:p>
            <a:r>
              <a:rPr lang="en-US" b="1" dirty="0"/>
              <a:t>What’s going on?</a:t>
            </a: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2564A5A-5558-7444-8CCF-E4B95936C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54-year-old man with alcohol-related cirrhosis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FBF4075-C421-4834-BB59-CC8F0C246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40730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900F5F-3B59-D646-BFD8-6BDBB32C12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Patient comes to your clinic 2 months later with shortness of breath</a:t>
            </a:r>
          </a:p>
          <a:p>
            <a:pPr lvl="1"/>
            <a:r>
              <a:rPr lang="en-US" dirty="0"/>
              <a:t>His symptoms </a:t>
            </a:r>
            <a:r>
              <a:rPr lang="en-US" b="1" dirty="0"/>
              <a:t>improve when he lays down</a:t>
            </a:r>
            <a:endParaRPr lang="en-US" dirty="0"/>
          </a:p>
          <a:p>
            <a:pPr lvl="1"/>
            <a:r>
              <a:rPr lang="en-US" b="1" dirty="0"/>
              <a:t>What is this called?</a:t>
            </a:r>
            <a:r>
              <a:rPr lang="en-US" dirty="0"/>
              <a:t> </a:t>
            </a:r>
            <a:r>
              <a:rPr lang="en-US" dirty="0" err="1"/>
              <a:t>Platypnea</a:t>
            </a:r>
            <a:endParaRPr lang="en-US" dirty="0"/>
          </a:p>
          <a:p>
            <a:pPr lvl="1"/>
            <a:r>
              <a:rPr lang="en-US" dirty="0"/>
              <a:t>You measure his pulse ox and it worsens when he </a:t>
            </a:r>
            <a:r>
              <a:rPr lang="en-US" b="1" dirty="0"/>
              <a:t>sits up</a:t>
            </a:r>
          </a:p>
          <a:p>
            <a:pPr lvl="1"/>
            <a:r>
              <a:rPr lang="en-US" b="1" dirty="0"/>
              <a:t>What is this called?</a:t>
            </a:r>
            <a:r>
              <a:rPr lang="en-US" dirty="0"/>
              <a:t> Orthodeoxia</a:t>
            </a:r>
            <a:endParaRPr lang="en-US" b="1" dirty="0"/>
          </a:p>
          <a:p>
            <a:r>
              <a:rPr lang="en-US" b="1" dirty="0"/>
              <a:t>What’s going on? – hepatopulmonary syndrome</a:t>
            </a:r>
          </a:p>
          <a:p>
            <a:endParaRPr lang="en-US" b="1" dirty="0"/>
          </a:p>
          <a:p>
            <a:r>
              <a:rPr lang="en-US" b="1" dirty="0"/>
              <a:t>What’s your next step?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2564A5A-5558-7444-8CCF-E4B95936C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54-year-old man with alcohol-related cirrhosis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5551B8-5D27-4C3A-A453-FB2C1E129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49277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900F5F-3B59-D646-BFD8-6BDBB32C12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Patient comes to your clinic 2 months later with shortness of breath</a:t>
            </a:r>
          </a:p>
          <a:p>
            <a:pPr lvl="1"/>
            <a:r>
              <a:rPr lang="en-US" dirty="0"/>
              <a:t>His symptoms </a:t>
            </a:r>
            <a:r>
              <a:rPr lang="en-US" b="1" dirty="0"/>
              <a:t>improve when he lays down</a:t>
            </a:r>
            <a:endParaRPr lang="en-US" dirty="0"/>
          </a:p>
          <a:p>
            <a:pPr lvl="1"/>
            <a:r>
              <a:rPr lang="en-US" b="1" dirty="0"/>
              <a:t>What is this called?</a:t>
            </a:r>
            <a:r>
              <a:rPr lang="en-US" dirty="0"/>
              <a:t> </a:t>
            </a:r>
            <a:r>
              <a:rPr lang="en-US" dirty="0" err="1"/>
              <a:t>Platypnea</a:t>
            </a:r>
            <a:endParaRPr lang="en-US" dirty="0"/>
          </a:p>
          <a:p>
            <a:pPr lvl="1"/>
            <a:r>
              <a:rPr lang="en-US" dirty="0"/>
              <a:t>You measure his pulse ox and it worsens when he </a:t>
            </a:r>
            <a:r>
              <a:rPr lang="en-US" b="1" dirty="0"/>
              <a:t>sits up</a:t>
            </a:r>
          </a:p>
          <a:p>
            <a:pPr lvl="1"/>
            <a:r>
              <a:rPr lang="en-US" b="1" dirty="0"/>
              <a:t>What is this called?</a:t>
            </a:r>
            <a:r>
              <a:rPr lang="en-US" dirty="0"/>
              <a:t> Orthodeoxia</a:t>
            </a:r>
            <a:endParaRPr lang="en-US" b="1" dirty="0"/>
          </a:p>
          <a:p>
            <a:r>
              <a:rPr lang="en-US" b="1" dirty="0"/>
              <a:t>What’s going on? – hepatopulmonary syndrome</a:t>
            </a:r>
          </a:p>
          <a:p>
            <a:endParaRPr lang="en-US" b="1" dirty="0"/>
          </a:p>
          <a:p>
            <a:r>
              <a:rPr lang="en-US" b="1" dirty="0"/>
              <a:t>What’s your next step?</a:t>
            </a:r>
          </a:p>
          <a:p>
            <a:r>
              <a:rPr lang="en-US" dirty="0"/>
              <a:t>TTE with bubble study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2564A5A-5558-7444-8CCF-E4B95936C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54-year-old man with alcohol-related cirrhosis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267BC74-1BA4-4CE3-8AEE-0C7255AE4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42778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2564A5A-5558-7444-8CCF-E4B95936C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54-year-old man with alcohol-related cirrhosis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420F110-41CE-9A45-9776-1D9715096A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4442" y="1639613"/>
            <a:ext cx="6535682" cy="4138667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1E00F35-BFE8-4EB0-8D74-7173DF03E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48078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2564A5A-5558-7444-8CCF-E4B95936C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54-year-old man with alcohol-related cirrhosis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54E0D4-AEEA-E34B-B3FE-BA0298A9AE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3770" y="1414406"/>
            <a:ext cx="8549734" cy="4801004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F0A7568-BA7E-48FF-A64C-1E4CDEE04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49731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647FAD08-C85D-A667-8328-74FF947CF27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3125"/>
          <a:stretch/>
        </p:blipFill>
        <p:spPr bwMode="auto">
          <a:xfrm>
            <a:off x="557213" y="264202"/>
            <a:ext cx="10821452" cy="6183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9D79D28-F48E-4179-A616-807502D06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81740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647FAD08-C85D-A667-8328-74FF947CF27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884" b="1270"/>
          <a:stretch/>
        </p:blipFill>
        <p:spPr bwMode="auto">
          <a:xfrm>
            <a:off x="1123950" y="286732"/>
            <a:ext cx="9944100" cy="6284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3A85128-81F2-4B68-8407-3C5D4BA68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63261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900F5F-3B59-D646-BFD8-6BDBB32C12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diagnose him with hepatopulmonary syndrome</a:t>
            </a:r>
          </a:p>
          <a:p>
            <a:r>
              <a:rPr lang="en-US" b="1" dirty="0"/>
              <a:t>What’s your next step?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2564A5A-5558-7444-8CCF-E4B95936C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54-year-old man with alcohol-related cirrhosis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FB2F379-4A87-4BC7-86A4-D44D639D3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574998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900F5F-3B59-D646-BFD8-6BDBB32C12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diagnose him with hepatopulmonary syndrome</a:t>
            </a:r>
          </a:p>
          <a:p>
            <a:r>
              <a:rPr lang="en-US" b="1" dirty="0"/>
              <a:t>What’s your next step?</a:t>
            </a:r>
          </a:p>
          <a:p>
            <a:r>
              <a:rPr lang="en-US" dirty="0"/>
              <a:t>ABG (on RA), Home O2, </a:t>
            </a:r>
            <a:r>
              <a:rPr lang="en-US" b="1" dirty="0"/>
              <a:t>and referral to transplant</a:t>
            </a:r>
          </a:p>
          <a:p>
            <a:pPr lvl="1"/>
            <a:r>
              <a:rPr lang="en-US" dirty="0"/>
              <a:t>(remember initial work up was when he didn’t have any of those complications)</a:t>
            </a:r>
          </a:p>
          <a:p>
            <a:pPr lvl="1"/>
            <a:endParaRPr lang="en-US" dirty="0"/>
          </a:p>
          <a:p>
            <a:r>
              <a:rPr lang="en-US" dirty="0"/>
              <a:t>Patient agrees to see addiction medicine and decides to stop drinking</a:t>
            </a:r>
          </a:p>
          <a:p>
            <a:r>
              <a:rPr lang="en-US" dirty="0"/>
              <a:t>Transplant evaluation begins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2564A5A-5558-7444-8CCF-E4B95936C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54-year-old man with alcohol-related cirrhosis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5EDAB17-8436-41E7-A17C-F8862CBB8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497485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6668A3-E211-F841-8356-DB6EEF3234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Patient presents to your office 1 month later saying he had been </a:t>
            </a:r>
            <a:r>
              <a:rPr lang="en-US" b="1" dirty="0"/>
              <a:t>losing track</a:t>
            </a:r>
            <a:r>
              <a:rPr lang="en-US" dirty="0"/>
              <a:t> of his car keys often, and </a:t>
            </a:r>
            <a:r>
              <a:rPr lang="en-US" b="1" dirty="0"/>
              <a:t>displacing objects </a:t>
            </a:r>
            <a:r>
              <a:rPr lang="en-US" dirty="0"/>
              <a:t>around the house</a:t>
            </a:r>
          </a:p>
          <a:p>
            <a:r>
              <a:rPr lang="en-US" b="1" dirty="0"/>
              <a:t>How do you confirm your suspicion?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ABA1B5D-C9E4-6C42-91DF-D3D908947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54-year-old man with alcohol-related cirrhosis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CA96209-6202-4785-A4F6-1EF7F1AC2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88434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6668A3-E211-F841-8356-DB6EEF3234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Patient presents to your office 1 month later saying he had been </a:t>
            </a:r>
            <a:r>
              <a:rPr lang="en-US" b="1" dirty="0"/>
              <a:t>losing track</a:t>
            </a:r>
            <a:r>
              <a:rPr lang="en-US" dirty="0"/>
              <a:t> of his car keys often, and </a:t>
            </a:r>
            <a:r>
              <a:rPr lang="en-US" b="1" dirty="0"/>
              <a:t>displacing objects </a:t>
            </a:r>
            <a:r>
              <a:rPr lang="en-US" dirty="0"/>
              <a:t>around the house</a:t>
            </a:r>
          </a:p>
          <a:p>
            <a:r>
              <a:rPr lang="en-US" b="1" dirty="0"/>
              <a:t>How do you confirm your suspicion?</a:t>
            </a:r>
          </a:p>
          <a:p>
            <a:r>
              <a:rPr lang="en-US" b="1" dirty="0"/>
              <a:t>You can use the Stroop test App!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ABA1B5D-C9E4-6C42-91DF-D3D908947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54-year-old man with alcohol-related cirrhosis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9B4BAC8-7369-3A4A-BCAA-AA15676D48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605" y="3613532"/>
            <a:ext cx="1509001" cy="3107943"/>
          </a:xfrm>
          <a:prstGeom prst="rect">
            <a:avLst/>
          </a:prstGeom>
        </p:spPr>
      </p:pic>
      <p:pic>
        <p:nvPicPr>
          <p:cNvPr id="9" name="Picture 8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AFF78D4D-017A-CB49-B3CE-F985C775FB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8967" y="3900488"/>
            <a:ext cx="3561693" cy="237446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ACE68E0-139F-FA49-AE54-498CBD49FA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3021" y="2268537"/>
            <a:ext cx="3719377" cy="415695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5873D6A-9C81-4BB0-846F-E0EE34975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66243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6668A3-E211-F841-8356-DB6EEF3234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Patient presents to your office 1 month later saying he had been losing track of his car keys often, and displacing objects around the house</a:t>
            </a:r>
          </a:p>
          <a:p>
            <a:r>
              <a:rPr lang="en-US" b="1" dirty="0"/>
              <a:t>You diagnose with HE grade 1</a:t>
            </a:r>
            <a:endParaRPr lang="en-US" dirty="0"/>
          </a:p>
          <a:p>
            <a:endParaRPr lang="en-US" b="1" dirty="0"/>
          </a:p>
          <a:p>
            <a:r>
              <a:rPr lang="en-US" dirty="0"/>
              <a:t>What will you do next?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ABA1B5D-C9E4-6C42-91DF-D3D908947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54-year-old man with alcohol-related cirrhosis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ACE68E0-139F-FA49-AE54-498CBD49FA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3021" y="2268537"/>
            <a:ext cx="3719377" cy="415695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CFDBADF-153D-4840-9008-4255206F2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66687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6668A3-E211-F841-8356-DB6EEF3234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Patient presents to your office 1 month later saying he had been losing track of his car keys often, and displacing objects around the house</a:t>
            </a:r>
          </a:p>
          <a:p>
            <a:r>
              <a:rPr lang="en-US" b="1" dirty="0"/>
              <a:t>You diagnose with HE grade 1</a:t>
            </a:r>
            <a:endParaRPr lang="en-US" dirty="0"/>
          </a:p>
          <a:p>
            <a:endParaRPr lang="en-US" b="1" dirty="0"/>
          </a:p>
          <a:p>
            <a:r>
              <a:rPr lang="en-US" dirty="0"/>
              <a:t>What will you do next?</a:t>
            </a:r>
          </a:p>
          <a:p>
            <a:r>
              <a:rPr lang="en-US" b="1" dirty="0"/>
              <a:t>Start lactulose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ABA1B5D-C9E4-6C42-91DF-D3D908947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54-year-old man with alcohol-related cirrhosis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ACE68E0-139F-FA49-AE54-498CBD49FA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3021" y="2268537"/>
            <a:ext cx="3719377" cy="415695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555EE92-180A-4598-8A11-6C4929811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538634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900F5F-3B59-D646-BFD8-6BDBB32C12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Let’s recap</a:t>
            </a:r>
          </a:p>
          <a:p>
            <a:r>
              <a:rPr lang="en-US" dirty="0"/>
              <a:t>He is a 54M w/ alcohol-related cirrhosis c/b </a:t>
            </a:r>
            <a:r>
              <a:rPr lang="en-US" dirty="0">
                <a:solidFill>
                  <a:srgbClr val="7030A0"/>
                </a:solidFill>
              </a:rPr>
              <a:t>ascites</a:t>
            </a:r>
            <a:r>
              <a:rPr lang="en-US" dirty="0"/>
              <a:t>, </a:t>
            </a:r>
            <a:r>
              <a:rPr lang="en-US" dirty="0">
                <a:solidFill>
                  <a:srgbClr val="FF0000"/>
                </a:solidFill>
              </a:rPr>
              <a:t>variceal bleed</a:t>
            </a:r>
            <a:r>
              <a:rPr lang="en-US" dirty="0"/>
              <a:t>,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hepatic encephalopathy</a:t>
            </a:r>
            <a:r>
              <a:rPr lang="en-US" dirty="0"/>
              <a:t>, and </a:t>
            </a:r>
            <a:r>
              <a:rPr lang="en-US" dirty="0">
                <a:solidFill>
                  <a:srgbClr val="00B0F0"/>
                </a:solidFill>
              </a:rPr>
              <a:t>hepatopulmonary syndrome</a:t>
            </a:r>
            <a:r>
              <a:rPr lang="en-US" dirty="0"/>
              <a:t>.</a:t>
            </a:r>
          </a:p>
          <a:p>
            <a:r>
              <a:rPr lang="en-US" b="1" dirty="0"/>
              <a:t>Meds: </a:t>
            </a:r>
          </a:p>
          <a:p>
            <a:pPr lvl="1"/>
            <a:r>
              <a:rPr lang="en-US" dirty="0">
                <a:solidFill>
                  <a:srgbClr val="7030A0"/>
                </a:solidFill>
              </a:rPr>
              <a:t>Spironolactone</a:t>
            </a:r>
          </a:p>
          <a:p>
            <a:pPr lvl="1"/>
            <a:r>
              <a:rPr lang="en-US" dirty="0">
                <a:solidFill>
                  <a:srgbClr val="7030A0"/>
                </a:solidFill>
              </a:rPr>
              <a:t>Lasix</a:t>
            </a:r>
          </a:p>
          <a:p>
            <a:pPr lvl="1"/>
            <a:r>
              <a:rPr lang="en-US" dirty="0">
                <a:solidFill>
                  <a:srgbClr val="7030A0"/>
                </a:solidFill>
              </a:rPr>
              <a:t>Bactrim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Carvedilol</a:t>
            </a:r>
          </a:p>
          <a:p>
            <a:pPr lvl="1"/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Lactulose</a:t>
            </a:r>
          </a:p>
          <a:p>
            <a:pPr lvl="1"/>
            <a:r>
              <a:rPr lang="en-US" dirty="0">
                <a:solidFill>
                  <a:srgbClr val="00B0F0"/>
                </a:solidFill>
              </a:rPr>
              <a:t>Home O2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2564A5A-5558-7444-8CCF-E4B95936C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54-year-old man with alcohol-related cirrhosis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9C75505-F628-47DF-8542-EBED7B3F0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263433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C9BAB6-3897-AF41-9CFA-6CF1E9AA07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3282"/>
            <a:ext cx="10515600" cy="5554717"/>
          </a:xfrm>
        </p:spPr>
        <p:txBody>
          <a:bodyPr/>
          <a:lstStyle/>
          <a:p>
            <a:r>
              <a:rPr lang="en-US" dirty="0"/>
              <a:t>Patient presents to the hospital 2 months later with severe abdominal pain</a:t>
            </a:r>
          </a:p>
          <a:p>
            <a:r>
              <a:rPr lang="en-US" b="1" dirty="0"/>
              <a:t>What’s the next step?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1A97575-2F1C-CB41-A2F8-B6ACCC8C2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54-year-old man with alcohol-related cirrhosis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AE681C9-2527-43A9-90BB-132EC8830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435342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C9BAB6-3897-AF41-9CFA-6CF1E9AA07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3282"/>
            <a:ext cx="10515600" cy="5554717"/>
          </a:xfrm>
        </p:spPr>
        <p:txBody>
          <a:bodyPr/>
          <a:lstStyle/>
          <a:p>
            <a:r>
              <a:rPr lang="en-US" dirty="0"/>
              <a:t>Patient presents to the hospital 2 months later with severe abdominal pain</a:t>
            </a:r>
          </a:p>
          <a:p>
            <a:r>
              <a:rPr lang="en-US" b="1" dirty="0"/>
              <a:t>What’s the next step?</a:t>
            </a:r>
          </a:p>
          <a:p>
            <a:r>
              <a:rPr lang="en-US" dirty="0"/>
              <a:t>Paracentesis!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1A97575-2F1C-CB41-A2F8-B6ACCC8C2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54-year-old man with alcohol-related cirrhosis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19D1885-E2DC-D44C-AC9D-04403C2B6005}"/>
              </a:ext>
            </a:extLst>
          </p:cNvPr>
          <p:cNvGraphicFramePr>
            <a:graphicFrameLocks noGrp="1"/>
          </p:cNvGraphicFramePr>
          <p:nvPr/>
        </p:nvGraphicFramePr>
        <p:xfrm>
          <a:off x="5549460" y="2377966"/>
          <a:ext cx="3268717" cy="74168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2039008">
                  <a:extLst>
                    <a:ext uri="{9D8B030D-6E8A-4147-A177-3AD203B41FA5}">
                      <a16:colId xmlns:a16="http://schemas.microsoft.com/office/drawing/2014/main" val="3564034845"/>
                    </a:ext>
                  </a:extLst>
                </a:gridCol>
                <a:gridCol w="1229709">
                  <a:extLst>
                    <a:ext uri="{9D8B030D-6E8A-4147-A177-3AD203B41FA5}">
                      <a16:colId xmlns:a16="http://schemas.microsoft.com/office/drawing/2014/main" val="2255976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Fluid PMNs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50457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Fluid culture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PENDING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7596346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DC620D9-EF74-473C-ABAD-9B374A694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251110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C9BAB6-3897-AF41-9CFA-6CF1E9AA07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3282"/>
            <a:ext cx="10515600" cy="5554717"/>
          </a:xfrm>
        </p:spPr>
        <p:txBody>
          <a:bodyPr/>
          <a:lstStyle/>
          <a:p>
            <a:r>
              <a:rPr lang="en-US" dirty="0"/>
              <a:t>Patient presents to the hospital 2 months later with severe abdominal pain</a:t>
            </a:r>
          </a:p>
          <a:p>
            <a:r>
              <a:rPr lang="en-US" b="1" dirty="0"/>
              <a:t>What’s the next step?</a:t>
            </a:r>
          </a:p>
          <a:p>
            <a:r>
              <a:rPr lang="en-US" dirty="0"/>
              <a:t>Paracentesis!</a:t>
            </a:r>
          </a:p>
          <a:p>
            <a:endParaRPr lang="en-US" b="1" dirty="0"/>
          </a:p>
          <a:p>
            <a:r>
              <a:rPr lang="en-US" b="1" dirty="0"/>
              <a:t>How do you treat?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1A97575-2F1C-CB41-A2F8-B6ACCC8C2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54-year-old man with alcohol-related cirrhosis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19D1885-E2DC-D44C-AC9D-04403C2B6005}"/>
              </a:ext>
            </a:extLst>
          </p:cNvPr>
          <p:cNvGraphicFramePr>
            <a:graphicFrameLocks noGrp="1"/>
          </p:cNvGraphicFramePr>
          <p:nvPr/>
        </p:nvGraphicFramePr>
        <p:xfrm>
          <a:off x="5549460" y="2377966"/>
          <a:ext cx="3268717" cy="74168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2039008">
                  <a:extLst>
                    <a:ext uri="{9D8B030D-6E8A-4147-A177-3AD203B41FA5}">
                      <a16:colId xmlns:a16="http://schemas.microsoft.com/office/drawing/2014/main" val="3564034845"/>
                    </a:ext>
                  </a:extLst>
                </a:gridCol>
                <a:gridCol w="1229709">
                  <a:extLst>
                    <a:ext uri="{9D8B030D-6E8A-4147-A177-3AD203B41FA5}">
                      <a16:colId xmlns:a16="http://schemas.microsoft.com/office/drawing/2014/main" val="2255976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Fluid PMNs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50457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Fluid culture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PENDING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7596346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6AF7AE2-A0DB-4A8F-A3BC-140E744E1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814827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C9BAB6-3897-AF41-9CFA-6CF1E9AA07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3282"/>
            <a:ext cx="10515600" cy="5554717"/>
          </a:xfrm>
        </p:spPr>
        <p:txBody>
          <a:bodyPr/>
          <a:lstStyle/>
          <a:p>
            <a:r>
              <a:rPr lang="en-US" dirty="0"/>
              <a:t>Patient presents to the hospital 2 months later with severe abdominal pain</a:t>
            </a:r>
          </a:p>
          <a:p>
            <a:r>
              <a:rPr lang="en-US" b="1" dirty="0"/>
              <a:t>What’s the next step?</a:t>
            </a:r>
          </a:p>
          <a:p>
            <a:r>
              <a:rPr lang="en-US" dirty="0"/>
              <a:t>Paracentesis!</a:t>
            </a:r>
          </a:p>
          <a:p>
            <a:endParaRPr lang="en-US" b="1" dirty="0"/>
          </a:p>
          <a:p>
            <a:r>
              <a:rPr lang="en-US" b="1" dirty="0"/>
              <a:t>How do you treat?</a:t>
            </a:r>
          </a:p>
          <a:p>
            <a:pPr lvl="1"/>
            <a:r>
              <a:rPr lang="en-US" dirty="0"/>
              <a:t>Ceftriaxone 2 gm daily </a:t>
            </a:r>
          </a:p>
          <a:p>
            <a:pPr lvl="1"/>
            <a:r>
              <a:rPr lang="en-US" dirty="0"/>
              <a:t>Albumin 1.5g/kg day 1, 1g/kg day 3</a:t>
            </a:r>
          </a:p>
          <a:p>
            <a:endParaRPr lang="en-US" b="1" dirty="0"/>
          </a:p>
          <a:p>
            <a:r>
              <a:rPr lang="en-US" b="1" dirty="0"/>
              <a:t>Any medication he takes you are concerned about?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1A97575-2F1C-CB41-A2F8-B6ACCC8C2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54-year-old man with alcohol-related cirrhosis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19D1885-E2DC-D44C-AC9D-04403C2B6005}"/>
              </a:ext>
            </a:extLst>
          </p:cNvPr>
          <p:cNvGraphicFramePr>
            <a:graphicFrameLocks noGrp="1"/>
          </p:cNvGraphicFramePr>
          <p:nvPr/>
        </p:nvGraphicFramePr>
        <p:xfrm>
          <a:off x="5549460" y="2377966"/>
          <a:ext cx="3268717" cy="74168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2039008">
                  <a:extLst>
                    <a:ext uri="{9D8B030D-6E8A-4147-A177-3AD203B41FA5}">
                      <a16:colId xmlns:a16="http://schemas.microsoft.com/office/drawing/2014/main" val="3564034845"/>
                    </a:ext>
                  </a:extLst>
                </a:gridCol>
                <a:gridCol w="1229709">
                  <a:extLst>
                    <a:ext uri="{9D8B030D-6E8A-4147-A177-3AD203B41FA5}">
                      <a16:colId xmlns:a16="http://schemas.microsoft.com/office/drawing/2014/main" val="2255976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Fluid PMNs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50457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Fluid culture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PENDING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7596346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BD184C7-1B67-43B0-98A1-9C9A6CA73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972171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C9BAB6-3897-AF41-9CFA-6CF1E9AA07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3282"/>
            <a:ext cx="10515600" cy="5554717"/>
          </a:xfrm>
        </p:spPr>
        <p:txBody>
          <a:bodyPr/>
          <a:lstStyle/>
          <a:p>
            <a:r>
              <a:rPr lang="en-US" dirty="0"/>
              <a:t>Patient presents to the hospital 2 months later with severe abdominal pain</a:t>
            </a:r>
          </a:p>
          <a:p>
            <a:r>
              <a:rPr lang="en-US" b="1" dirty="0"/>
              <a:t>What’s the next step?</a:t>
            </a:r>
          </a:p>
          <a:p>
            <a:r>
              <a:rPr lang="en-US" dirty="0"/>
              <a:t>Paracentesis!</a:t>
            </a:r>
          </a:p>
          <a:p>
            <a:endParaRPr lang="en-US" b="1" dirty="0"/>
          </a:p>
          <a:p>
            <a:r>
              <a:rPr lang="en-US" b="1" dirty="0"/>
              <a:t>How do you treat?</a:t>
            </a:r>
          </a:p>
          <a:p>
            <a:pPr lvl="1"/>
            <a:r>
              <a:rPr lang="en-US" dirty="0"/>
              <a:t>Ceftriaxone 2 gm daily </a:t>
            </a:r>
          </a:p>
          <a:p>
            <a:pPr lvl="1"/>
            <a:r>
              <a:rPr lang="en-US" dirty="0"/>
              <a:t>Albumin 1.5g/kg day 1, 1g/kg day 3</a:t>
            </a:r>
          </a:p>
          <a:p>
            <a:endParaRPr lang="en-US" b="1" dirty="0"/>
          </a:p>
          <a:p>
            <a:r>
              <a:rPr lang="en-US" b="1" dirty="0"/>
              <a:t>Any medication he takes you are concerned about?</a:t>
            </a:r>
          </a:p>
          <a:p>
            <a:r>
              <a:rPr lang="en-US" dirty="0">
                <a:highlight>
                  <a:srgbClr val="FFFF00"/>
                </a:highlight>
              </a:rPr>
              <a:t>STOP THE BETA BLOCKER!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1A97575-2F1C-CB41-A2F8-B6ACCC8C2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54-year-old man with alcohol-related cirrhosis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19D1885-E2DC-D44C-AC9D-04403C2B6005}"/>
              </a:ext>
            </a:extLst>
          </p:cNvPr>
          <p:cNvGraphicFramePr>
            <a:graphicFrameLocks noGrp="1"/>
          </p:cNvGraphicFramePr>
          <p:nvPr/>
        </p:nvGraphicFramePr>
        <p:xfrm>
          <a:off x="5549460" y="2377966"/>
          <a:ext cx="3268717" cy="74168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2039008">
                  <a:extLst>
                    <a:ext uri="{9D8B030D-6E8A-4147-A177-3AD203B41FA5}">
                      <a16:colId xmlns:a16="http://schemas.microsoft.com/office/drawing/2014/main" val="3564034845"/>
                    </a:ext>
                  </a:extLst>
                </a:gridCol>
                <a:gridCol w="1229709">
                  <a:extLst>
                    <a:ext uri="{9D8B030D-6E8A-4147-A177-3AD203B41FA5}">
                      <a16:colId xmlns:a16="http://schemas.microsoft.com/office/drawing/2014/main" val="2255976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Fluid PMNs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50457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Fluid culture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PENDING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7596346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A42F613-06F4-4BCE-A905-AB3D17F8E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118617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7B129F-8B49-584A-A89D-56550958FD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3283"/>
            <a:ext cx="10515600" cy="5181600"/>
          </a:xfrm>
        </p:spPr>
        <p:txBody>
          <a:bodyPr>
            <a:normAutofit/>
          </a:bodyPr>
          <a:lstStyle/>
          <a:p>
            <a:r>
              <a:rPr lang="en-US" dirty="0"/>
              <a:t>He still has mild abdominal pain on day 3 as he is getting the albumin</a:t>
            </a:r>
          </a:p>
          <a:p>
            <a:endParaRPr lang="en-US" dirty="0"/>
          </a:p>
          <a:p>
            <a:r>
              <a:rPr lang="en-US" dirty="0"/>
              <a:t>What do you do next?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181D98F-8A4C-9741-9798-A7A2C0C7E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54-year-old man with alcohol-related cirrhosis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74807CA-EB1C-4D77-BC62-84CD5E564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776104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7B129F-8B49-584A-A89D-56550958FD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3283"/>
            <a:ext cx="10515600" cy="5181600"/>
          </a:xfrm>
        </p:spPr>
        <p:txBody>
          <a:bodyPr>
            <a:normAutofit/>
          </a:bodyPr>
          <a:lstStyle/>
          <a:p>
            <a:r>
              <a:rPr lang="en-US" dirty="0"/>
              <a:t>He still has mild abdominal pain on day 3 as he is getting the albumin</a:t>
            </a:r>
          </a:p>
          <a:p>
            <a:endParaRPr lang="en-US" dirty="0"/>
          </a:p>
          <a:p>
            <a:r>
              <a:rPr lang="en-US" dirty="0"/>
              <a:t>What do you do next? </a:t>
            </a:r>
            <a:r>
              <a:rPr lang="en-US" b="1" dirty="0"/>
              <a:t>RETAP</a:t>
            </a:r>
            <a:r>
              <a:rPr lang="en-US" dirty="0"/>
              <a:t>!</a:t>
            </a:r>
          </a:p>
          <a:p>
            <a:r>
              <a:rPr lang="en-US" dirty="0"/>
              <a:t>What do you expect/hope for?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181D98F-8A4C-9741-9798-A7A2C0C7E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54-year-old man with alcohol-related cirrhosis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FCAEA10-ADD9-4973-B890-99F63A1F0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066236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7B129F-8B49-584A-A89D-56550958FD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3283"/>
            <a:ext cx="10515600" cy="5181600"/>
          </a:xfrm>
        </p:spPr>
        <p:txBody>
          <a:bodyPr>
            <a:normAutofit/>
          </a:bodyPr>
          <a:lstStyle/>
          <a:p>
            <a:r>
              <a:rPr lang="en-US" dirty="0"/>
              <a:t>He still has mild abdominal pain on day 3 as he is getting the albumin</a:t>
            </a:r>
          </a:p>
          <a:p>
            <a:endParaRPr lang="en-US" dirty="0"/>
          </a:p>
          <a:p>
            <a:r>
              <a:rPr lang="en-US" dirty="0"/>
              <a:t>What do you do next? </a:t>
            </a:r>
            <a:r>
              <a:rPr lang="en-US" b="1" dirty="0"/>
              <a:t>RETAP</a:t>
            </a:r>
            <a:r>
              <a:rPr lang="en-US" dirty="0"/>
              <a:t>!</a:t>
            </a:r>
          </a:p>
          <a:p>
            <a:r>
              <a:rPr lang="en-US" dirty="0"/>
              <a:t>What do you expect/hope for? </a:t>
            </a:r>
            <a:r>
              <a:rPr lang="en-US" b="1" dirty="0"/>
              <a:t>Improvement of &gt;20% of PMNs</a:t>
            </a: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181D98F-8A4C-9741-9798-A7A2C0C7E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54-year-old man with alcohol-related cirrhosis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A71BB63-1909-1C7F-A6E9-2B02199338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1804754"/>
              </p:ext>
            </p:extLst>
          </p:nvPr>
        </p:nvGraphicFramePr>
        <p:xfrm>
          <a:off x="3762948" y="4442197"/>
          <a:ext cx="4666104" cy="111252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2115012">
                  <a:extLst>
                    <a:ext uri="{9D8B030D-6E8A-4147-A177-3AD203B41FA5}">
                      <a16:colId xmlns:a16="http://schemas.microsoft.com/office/drawing/2014/main" val="3564034845"/>
                    </a:ext>
                  </a:extLst>
                </a:gridCol>
                <a:gridCol w="1275546">
                  <a:extLst>
                    <a:ext uri="{9D8B030D-6E8A-4147-A177-3AD203B41FA5}">
                      <a16:colId xmlns:a16="http://schemas.microsoft.com/office/drawing/2014/main" val="225597631"/>
                    </a:ext>
                  </a:extLst>
                </a:gridCol>
                <a:gridCol w="1275546">
                  <a:extLst>
                    <a:ext uri="{9D8B030D-6E8A-4147-A177-3AD203B41FA5}">
                      <a16:colId xmlns:a16="http://schemas.microsoft.com/office/drawing/2014/main" val="30354565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Day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Day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50830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Fluid PMNs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380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50457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Fluid culture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NEGATIVE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N/A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7596346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F62E41-0CE8-4A03-99EF-A79D38931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574789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7B129F-8B49-584A-A89D-56550958FD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3283"/>
            <a:ext cx="10515600" cy="5181600"/>
          </a:xfrm>
        </p:spPr>
        <p:txBody>
          <a:bodyPr>
            <a:normAutofit/>
          </a:bodyPr>
          <a:lstStyle/>
          <a:p>
            <a:r>
              <a:rPr lang="en-US" dirty="0"/>
              <a:t>He still has mild abdominal pain on day 3 as he is getting the albumin</a:t>
            </a:r>
          </a:p>
          <a:p>
            <a:endParaRPr lang="en-US" dirty="0"/>
          </a:p>
          <a:p>
            <a:r>
              <a:rPr lang="en-US" dirty="0"/>
              <a:t>What do you do next? </a:t>
            </a:r>
            <a:r>
              <a:rPr lang="en-US" b="1" dirty="0"/>
              <a:t>RETAP</a:t>
            </a:r>
            <a:r>
              <a:rPr lang="en-US" dirty="0"/>
              <a:t>!</a:t>
            </a:r>
          </a:p>
          <a:p>
            <a:r>
              <a:rPr lang="en-US" dirty="0"/>
              <a:t>What do you expect/hope for? </a:t>
            </a:r>
            <a:r>
              <a:rPr lang="en-US" b="1" dirty="0"/>
              <a:t>Improvement of &gt;20% of PMNs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What do we call this?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181D98F-8A4C-9741-9798-A7A2C0C7E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54-year-old man with alcohol-related cirrhosis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A71BB63-1909-1C7F-A6E9-2B02199338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4439965"/>
              </p:ext>
            </p:extLst>
          </p:nvPr>
        </p:nvGraphicFramePr>
        <p:xfrm>
          <a:off x="3762948" y="4256459"/>
          <a:ext cx="4666104" cy="111252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2115012">
                  <a:extLst>
                    <a:ext uri="{9D8B030D-6E8A-4147-A177-3AD203B41FA5}">
                      <a16:colId xmlns:a16="http://schemas.microsoft.com/office/drawing/2014/main" val="3564034845"/>
                    </a:ext>
                  </a:extLst>
                </a:gridCol>
                <a:gridCol w="1275546">
                  <a:extLst>
                    <a:ext uri="{9D8B030D-6E8A-4147-A177-3AD203B41FA5}">
                      <a16:colId xmlns:a16="http://schemas.microsoft.com/office/drawing/2014/main" val="225597631"/>
                    </a:ext>
                  </a:extLst>
                </a:gridCol>
                <a:gridCol w="1275546">
                  <a:extLst>
                    <a:ext uri="{9D8B030D-6E8A-4147-A177-3AD203B41FA5}">
                      <a16:colId xmlns:a16="http://schemas.microsoft.com/office/drawing/2014/main" val="30354565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Day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Day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50830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Fluid PMNs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380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50457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Fluid culture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NEGATIVE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N/A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7596346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769FF6-95FA-4229-A7A8-7916661A2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971852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2CF1C1A7-75B0-8DD4-4673-6ECF49D3AF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58706095"/>
              </p:ext>
            </p:extLst>
          </p:nvPr>
        </p:nvGraphicFramePr>
        <p:xfrm>
          <a:off x="838200" y="1303338"/>
          <a:ext cx="10515597" cy="469741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566145173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685768673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311197664"/>
                    </a:ext>
                  </a:extLst>
                </a:gridCol>
              </a:tblGrid>
              <a:tr h="1565804"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5400" b="1" baseline="30000" dirty="0"/>
                        <a:t>PMNs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sz="5400" b="1" baseline="30000" dirty="0"/>
                        <a:t>Culture</a:t>
                      </a:r>
                    </a:p>
                  </a:txBody>
                  <a:tcPr anchor="ctr"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&lt;250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&gt;= 250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48039239"/>
                  </a:ext>
                </a:extLst>
              </a:tr>
              <a:tr h="1565804"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Negative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3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3600" b="1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3287955"/>
                  </a:ext>
                </a:extLst>
              </a:tr>
              <a:tr h="1565804"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Positive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3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36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8501533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F6B6AE9-F8FF-41FB-B382-CA6071FF4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508775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2CF1C1A7-75B0-8DD4-4673-6ECF49D3AF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95341482"/>
              </p:ext>
            </p:extLst>
          </p:nvPr>
        </p:nvGraphicFramePr>
        <p:xfrm>
          <a:off x="838200" y="1303338"/>
          <a:ext cx="10515597" cy="469741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566145173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685768673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311197664"/>
                    </a:ext>
                  </a:extLst>
                </a:gridCol>
              </a:tblGrid>
              <a:tr h="1565804"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5400" b="1" baseline="30000" dirty="0"/>
                        <a:t>PMNs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sz="5400" b="1" baseline="30000" dirty="0"/>
                        <a:t>Culture</a:t>
                      </a:r>
                    </a:p>
                  </a:txBody>
                  <a:tcPr anchor="ctr"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&lt;250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&gt;= 250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48039239"/>
                  </a:ext>
                </a:extLst>
              </a:tr>
              <a:tr h="1565804"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Negative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Normal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CNNA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3287955"/>
                  </a:ext>
                </a:extLst>
              </a:tr>
              <a:tr h="1565804"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Positive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NNBA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SBP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8501533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A3135E-25BE-492F-A919-430419AA3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201628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7B129F-8B49-584A-A89D-56550958FD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3283"/>
            <a:ext cx="10515600" cy="5181600"/>
          </a:xfrm>
        </p:spPr>
        <p:txBody>
          <a:bodyPr>
            <a:normAutofit/>
          </a:bodyPr>
          <a:lstStyle/>
          <a:p>
            <a:r>
              <a:rPr lang="en-US" dirty="0"/>
              <a:t>Abdominal symptoms continue to improve on day 4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181D98F-8A4C-9741-9798-A7A2C0C7E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54-year-old man with alcohol-related cirrhosis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DCF069-2400-4C28-A818-205C02834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157089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7B129F-8B49-584A-A89D-56550958FD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3283"/>
            <a:ext cx="10515600" cy="5181600"/>
          </a:xfrm>
        </p:spPr>
        <p:txBody>
          <a:bodyPr>
            <a:normAutofit/>
          </a:bodyPr>
          <a:lstStyle/>
          <a:p>
            <a:r>
              <a:rPr lang="en-US" dirty="0"/>
              <a:t>Abdominal symptoms continue to improve on day 4</a:t>
            </a:r>
          </a:p>
          <a:p>
            <a:r>
              <a:rPr lang="en-US" dirty="0"/>
              <a:t>Noted to have developed AKI</a:t>
            </a:r>
          </a:p>
          <a:p>
            <a:r>
              <a:rPr lang="en-US" b="1" dirty="0"/>
              <a:t>What do you do next?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181D98F-8A4C-9741-9798-A7A2C0C7E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54-year-old man with alcohol-related cirrhosis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7EBE4DC-CFAE-0E40-BD4E-B28A55A987E6}"/>
              </a:ext>
            </a:extLst>
          </p:cNvPr>
          <p:cNvGraphicFramePr>
            <a:graphicFrameLocks noGrp="1"/>
          </p:cNvGraphicFramePr>
          <p:nvPr/>
        </p:nvGraphicFramePr>
        <p:xfrm>
          <a:off x="6779170" y="1978573"/>
          <a:ext cx="3268717" cy="74168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2039008">
                  <a:extLst>
                    <a:ext uri="{9D8B030D-6E8A-4147-A177-3AD203B41FA5}">
                      <a16:colId xmlns:a16="http://schemas.microsoft.com/office/drawing/2014/main" val="3564034845"/>
                    </a:ext>
                  </a:extLst>
                </a:gridCol>
                <a:gridCol w="1229709">
                  <a:extLst>
                    <a:ext uri="{9D8B030D-6E8A-4147-A177-3AD203B41FA5}">
                      <a16:colId xmlns:a16="http://schemas.microsoft.com/office/drawing/2014/main" val="2255976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Admission 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Creat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50457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Day 4 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Creat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1.8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7596346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1E3A6EA-1A9D-444A-AA66-044BF32B4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440137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7B129F-8B49-584A-A89D-56550958FD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3283"/>
            <a:ext cx="10515600" cy="5181600"/>
          </a:xfrm>
        </p:spPr>
        <p:txBody>
          <a:bodyPr>
            <a:normAutofit/>
          </a:bodyPr>
          <a:lstStyle/>
          <a:p>
            <a:r>
              <a:rPr lang="en-US" dirty="0"/>
              <a:t>Abdominal symptoms continue to improve on day 4</a:t>
            </a:r>
          </a:p>
          <a:p>
            <a:r>
              <a:rPr lang="en-US" dirty="0"/>
              <a:t>Noted to have developed AKI</a:t>
            </a:r>
          </a:p>
          <a:p>
            <a:r>
              <a:rPr lang="en-US" b="1" dirty="0"/>
              <a:t>What do you do next?</a:t>
            </a:r>
          </a:p>
          <a:p>
            <a:r>
              <a:rPr lang="en-US" b="1" dirty="0"/>
              <a:t>Check criteria for HRS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181D98F-8A4C-9741-9798-A7A2C0C7E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54-year-old man with alcohol-related cirrhosis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7EBE4DC-CFAE-0E40-BD4E-B28A55A987E6}"/>
              </a:ext>
            </a:extLst>
          </p:cNvPr>
          <p:cNvGraphicFramePr>
            <a:graphicFrameLocks noGrp="1"/>
          </p:cNvGraphicFramePr>
          <p:nvPr/>
        </p:nvGraphicFramePr>
        <p:xfrm>
          <a:off x="6779170" y="1978573"/>
          <a:ext cx="3268717" cy="74168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2039008">
                  <a:extLst>
                    <a:ext uri="{9D8B030D-6E8A-4147-A177-3AD203B41FA5}">
                      <a16:colId xmlns:a16="http://schemas.microsoft.com/office/drawing/2014/main" val="3564034845"/>
                    </a:ext>
                  </a:extLst>
                </a:gridCol>
                <a:gridCol w="1229709">
                  <a:extLst>
                    <a:ext uri="{9D8B030D-6E8A-4147-A177-3AD203B41FA5}">
                      <a16:colId xmlns:a16="http://schemas.microsoft.com/office/drawing/2014/main" val="2255976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Admission 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Creat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50457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Day 4 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Creat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1.8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7596346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8C10D25-45A5-42E9-AD23-4257D4FBC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789087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7B129F-8B49-584A-A89D-56550958FD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3283"/>
            <a:ext cx="10515600" cy="5181600"/>
          </a:xfrm>
        </p:spPr>
        <p:txBody>
          <a:bodyPr>
            <a:normAutofit/>
          </a:bodyPr>
          <a:lstStyle/>
          <a:p>
            <a:r>
              <a:rPr lang="en-US" dirty="0"/>
              <a:t>Abdominal symptoms continue to improve on day 4</a:t>
            </a:r>
          </a:p>
          <a:p>
            <a:r>
              <a:rPr lang="en-US" dirty="0"/>
              <a:t>Noted to have developed AKI</a:t>
            </a:r>
          </a:p>
          <a:p>
            <a:r>
              <a:rPr lang="en-US" b="1" dirty="0"/>
              <a:t>What do you do next?</a:t>
            </a:r>
          </a:p>
          <a:p>
            <a:r>
              <a:rPr lang="en-US" b="1" dirty="0"/>
              <a:t>Check criteria for HRS</a:t>
            </a:r>
          </a:p>
          <a:p>
            <a:pPr lvl="1"/>
            <a:r>
              <a:rPr lang="en-US" dirty="0"/>
              <a:t>✅ Cirrhosis and ascites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181D98F-8A4C-9741-9798-A7A2C0C7E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54-year-old man with alcohol-related cirrhosis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7EBE4DC-CFAE-0E40-BD4E-B28A55A987E6}"/>
              </a:ext>
            </a:extLst>
          </p:cNvPr>
          <p:cNvGraphicFramePr>
            <a:graphicFrameLocks noGrp="1"/>
          </p:cNvGraphicFramePr>
          <p:nvPr/>
        </p:nvGraphicFramePr>
        <p:xfrm>
          <a:off x="6779170" y="1978573"/>
          <a:ext cx="3268717" cy="74168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2039008">
                  <a:extLst>
                    <a:ext uri="{9D8B030D-6E8A-4147-A177-3AD203B41FA5}">
                      <a16:colId xmlns:a16="http://schemas.microsoft.com/office/drawing/2014/main" val="3564034845"/>
                    </a:ext>
                  </a:extLst>
                </a:gridCol>
                <a:gridCol w="1229709">
                  <a:extLst>
                    <a:ext uri="{9D8B030D-6E8A-4147-A177-3AD203B41FA5}">
                      <a16:colId xmlns:a16="http://schemas.microsoft.com/office/drawing/2014/main" val="2255976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Admission 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Creat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50457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Day 4 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Creat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1.8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7596346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6C97CE9-AC18-4376-BFF6-D57EF89A0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684987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7B129F-8B49-584A-A89D-56550958FD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3283"/>
            <a:ext cx="10515600" cy="5181600"/>
          </a:xfrm>
        </p:spPr>
        <p:txBody>
          <a:bodyPr>
            <a:normAutofit/>
          </a:bodyPr>
          <a:lstStyle/>
          <a:p>
            <a:r>
              <a:rPr lang="en-US" dirty="0"/>
              <a:t>Abdominal symptoms continue to improve on day 4</a:t>
            </a:r>
          </a:p>
          <a:p>
            <a:r>
              <a:rPr lang="en-US" dirty="0"/>
              <a:t>Noted to have developed AKI</a:t>
            </a:r>
          </a:p>
          <a:p>
            <a:r>
              <a:rPr lang="en-US" b="1" dirty="0"/>
              <a:t>What do you do next?</a:t>
            </a:r>
          </a:p>
          <a:p>
            <a:r>
              <a:rPr lang="en-US" b="1" dirty="0"/>
              <a:t>Check criteria for HRS</a:t>
            </a:r>
          </a:p>
          <a:p>
            <a:pPr lvl="1"/>
            <a:r>
              <a:rPr lang="en-US" dirty="0"/>
              <a:t>✅ Cirrhosis and ascites </a:t>
            </a:r>
          </a:p>
          <a:p>
            <a:pPr lvl="1"/>
            <a:r>
              <a:rPr lang="en-US" dirty="0"/>
              <a:t>✅ No shock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181D98F-8A4C-9741-9798-A7A2C0C7E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54-year-old man with alcohol-related cirrhosis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7EBE4DC-CFAE-0E40-BD4E-B28A55A987E6}"/>
              </a:ext>
            </a:extLst>
          </p:cNvPr>
          <p:cNvGraphicFramePr>
            <a:graphicFrameLocks noGrp="1"/>
          </p:cNvGraphicFramePr>
          <p:nvPr/>
        </p:nvGraphicFramePr>
        <p:xfrm>
          <a:off x="6779170" y="1978573"/>
          <a:ext cx="3268717" cy="74168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2039008">
                  <a:extLst>
                    <a:ext uri="{9D8B030D-6E8A-4147-A177-3AD203B41FA5}">
                      <a16:colId xmlns:a16="http://schemas.microsoft.com/office/drawing/2014/main" val="3564034845"/>
                    </a:ext>
                  </a:extLst>
                </a:gridCol>
                <a:gridCol w="1229709">
                  <a:extLst>
                    <a:ext uri="{9D8B030D-6E8A-4147-A177-3AD203B41FA5}">
                      <a16:colId xmlns:a16="http://schemas.microsoft.com/office/drawing/2014/main" val="2255976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Admission 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Creat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50457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Day 4 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Creat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1.8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7596346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7A55E5-6A05-4E1B-80CF-8F13394B7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1212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7B129F-8B49-584A-A89D-56550958FD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3283"/>
            <a:ext cx="10515600" cy="5181600"/>
          </a:xfrm>
        </p:spPr>
        <p:txBody>
          <a:bodyPr>
            <a:normAutofit/>
          </a:bodyPr>
          <a:lstStyle/>
          <a:p>
            <a:r>
              <a:rPr lang="en-US" dirty="0"/>
              <a:t>Abdominal symptoms continue to improve on day 4</a:t>
            </a:r>
          </a:p>
          <a:p>
            <a:r>
              <a:rPr lang="en-US" dirty="0"/>
              <a:t>Noted to have developed AKI</a:t>
            </a:r>
          </a:p>
          <a:p>
            <a:r>
              <a:rPr lang="en-US" b="1" dirty="0"/>
              <a:t>What do you do next?</a:t>
            </a:r>
          </a:p>
          <a:p>
            <a:r>
              <a:rPr lang="en-US" b="1" dirty="0"/>
              <a:t>Check criteria for HRS</a:t>
            </a:r>
          </a:p>
          <a:p>
            <a:pPr lvl="1"/>
            <a:r>
              <a:rPr lang="en-US" dirty="0"/>
              <a:t>✅ Cirrhosis and ascites </a:t>
            </a:r>
          </a:p>
          <a:p>
            <a:pPr lvl="1"/>
            <a:r>
              <a:rPr lang="en-US" dirty="0"/>
              <a:t>✅ No shock </a:t>
            </a:r>
          </a:p>
          <a:p>
            <a:pPr lvl="1"/>
            <a:r>
              <a:rPr lang="en-US" dirty="0"/>
              <a:t>✅ No recent nephrotoxic drugs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181D98F-8A4C-9741-9798-A7A2C0C7E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54-year-old man with alcohol-related cirrhosis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7EBE4DC-CFAE-0E40-BD4E-B28A55A987E6}"/>
              </a:ext>
            </a:extLst>
          </p:cNvPr>
          <p:cNvGraphicFramePr>
            <a:graphicFrameLocks noGrp="1"/>
          </p:cNvGraphicFramePr>
          <p:nvPr/>
        </p:nvGraphicFramePr>
        <p:xfrm>
          <a:off x="6779170" y="1978573"/>
          <a:ext cx="3268717" cy="74168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2039008">
                  <a:extLst>
                    <a:ext uri="{9D8B030D-6E8A-4147-A177-3AD203B41FA5}">
                      <a16:colId xmlns:a16="http://schemas.microsoft.com/office/drawing/2014/main" val="3564034845"/>
                    </a:ext>
                  </a:extLst>
                </a:gridCol>
                <a:gridCol w="1229709">
                  <a:extLst>
                    <a:ext uri="{9D8B030D-6E8A-4147-A177-3AD203B41FA5}">
                      <a16:colId xmlns:a16="http://schemas.microsoft.com/office/drawing/2014/main" val="2255976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Admission 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Creat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50457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Day 4 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Creat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1.8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7596346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2473596-E31D-4F84-A2A8-E84DCC8E4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936255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7B129F-8B49-584A-A89D-56550958FD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3283"/>
            <a:ext cx="10515600" cy="5181600"/>
          </a:xfrm>
        </p:spPr>
        <p:txBody>
          <a:bodyPr>
            <a:normAutofit/>
          </a:bodyPr>
          <a:lstStyle/>
          <a:p>
            <a:r>
              <a:rPr lang="en-US" dirty="0"/>
              <a:t>Abdominal symptoms continue to improve on day 4</a:t>
            </a:r>
          </a:p>
          <a:p>
            <a:r>
              <a:rPr lang="en-US" dirty="0"/>
              <a:t>Noted to have developed AKI</a:t>
            </a:r>
          </a:p>
          <a:p>
            <a:r>
              <a:rPr lang="en-US" b="1" dirty="0"/>
              <a:t>What do you do next?</a:t>
            </a:r>
          </a:p>
          <a:p>
            <a:r>
              <a:rPr lang="en-US" b="1" dirty="0"/>
              <a:t>Check criteria for HRS</a:t>
            </a:r>
          </a:p>
          <a:p>
            <a:pPr lvl="1"/>
            <a:r>
              <a:rPr lang="en-US" dirty="0"/>
              <a:t>✅ Cirrhosis and ascites </a:t>
            </a:r>
          </a:p>
          <a:p>
            <a:pPr lvl="1"/>
            <a:r>
              <a:rPr lang="en-US" dirty="0"/>
              <a:t>✅ No shock </a:t>
            </a:r>
          </a:p>
          <a:p>
            <a:pPr lvl="1"/>
            <a:r>
              <a:rPr lang="en-US" dirty="0"/>
              <a:t>✅ No recent nephrotoxic drugs</a:t>
            </a:r>
          </a:p>
          <a:p>
            <a:pPr lvl="1"/>
            <a:r>
              <a:rPr lang="en-US" dirty="0"/>
              <a:t>✅ No signs of structural kidney injury (&lt;500 mg/day proteinuria, &lt;50 RBCs/HPF, normal renal US, inactive sediment)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181D98F-8A4C-9741-9798-A7A2C0C7E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54-year-old man with alcohol-related cirrhosis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7EBE4DC-CFAE-0E40-BD4E-B28A55A987E6}"/>
              </a:ext>
            </a:extLst>
          </p:cNvPr>
          <p:cNvGraphicFramePr>
            <a:graphicFrameLocks noGrp="1"/>
          </p:cNvGraphicFramePr>
          <p:nvPr/>
        </p:nvGraphicFramePr>
        <p:xfrm>
          <a:off x="6779170" y="1978573"/>
          <a:ext cx="3268717" cy="74168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2039008">
                  <a:extLst>
                    <a:ext uri="{9D8B030D-6E8A-4147-A177-3AD203B41FA5}">
                      <a16:colId xmlns:a16="http://schemas.microsoft.com/office/drawing/2014/main" val="3564034845"/>
                    </a:ext>
                  </a:extLst>
                </a:gridCol>
                <a:gridCol w="1229709">
                  <a:extLst>
                    <a:ext uri="{9D8B030D-6E8A-4147-A177-3AD203B41FA5}">
                      <a16:colId xmlns:a16="http://schemas.microsoft.com/office/drawing/2014/main" val="2255976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Admission 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Creat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50457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Day 4 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Creat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1.8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7596346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D8AE058-60F2-418B-8C3B-343CB9AE0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499532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7B129F-8B49-584A-A89D-56550958FD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3283"/>
            <a:ext cx="10515600" cy="5181600"/>
          </a:xfrm>
        </p:spPr>
        <p:txBody>
          <a:bodyPr>
            <a:normAutofit/>
          </a:bodyPr>
          <a:lstStyle/>
          <a:p>
            <a:r>
              <a:rPr lang="en-US" dirty="0"/>
              <a:t>Abdominal symptoms continue to improve on day 4</a:t>
            </a:r>
          </a:p>
          <a:p>
            <a:r>
              <a:rPr lang="en-US" dirty="0"/>
              <a:t>Noted to have developed AKI</a:t>
            </a:r>
          </a:p>
          <a:p>
            <a:r>
              <a:rPr lang="en-US" b="1" dirty="0"/>
              <a:t>What do you do next?</a:t>
            </a:r>
          </a:p>
          <a:p>
            <a:r>
              <a:rPr lang="en-US" b="1" dirty="0"/>
              <a:t>Check criteria for HRS</a:t>
            </a:r>
          </a:p>
          <a:p>
            <a:pPr lvl="1"/>
            <a:r>
              <a:rPr lang="en-US" dirty="0"/>
              <a:t>✅ Cirrhosis and ascites </a:t>
            </a:r>
          </a:p>
          <a:p>
            <a:pPr lvl="1"/>
            <a:r>
              <a:rPr lang="en-US" dirty="0"/>
              <a:t>✅ No shock </a:t>
            </a:r>
          </a:p>
          <a:p>
            <a:pPr lvl="1"/>
            <a:r>
              <a:rPr lang="en-US" dirty="0"/>
              <a:t>✅ No recent nephrotoxic drugs</a:t>
            </a:r>
          </a:p>
          <a:p>
            <a:pPr lvl="1"/>
            <a:r>
              <a:rPr lang="en-US" dirty="0"/>
              <a:t>✅ No signs of structural kidney injury (&lt;500 mg/day proteinuria, &lt;50 RBCs/HPF, normal renal US, inactive sediment) </a:t>
            </a:r>
          </a:p>
          <a:p>
            <a:pPr lvl="1"/>
            <a:r>
              <a:rPr lang="en-US" dirty="0"/>
              <a:t>✅ No improvement after stopping diuretics and volume expansion with albumin (1g/kg albumin x2d, max 100g/d)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181D98F-8A4C-9741-9798-A7A2C0C7E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54-year-old man with alcohol-related cirrhosis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7EBE4DC-CFAE-0E40-BD4E-B28A55A987E6}"/>
              </a:ext>
            </a:extLst>
          </p:cNvPr>
          <p:cNvGraphicFramePr>
            <a:graphicFrameLocks noGrp="1"/>
          </p:cNvGraphicFramePr>
          <p:nvPr/>
        </p:nvGraphicFramePr>
        <p:xfrm>
          <a:off x="6779170" y="1978573"/>
          <a:ext cx="3268717" cy="74168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2039008">
                  <a:extLst>
                    <a:ext uri="{9D8B030D-6E8A-4147-A177-3AD203B41FA5}">
                      <a16:colId xmlns:a16="http://schemas.microsoft.com/office/drawing/2014/main" val="3564034845"/>
                    </a:ext>
                  </a:extLst>
                </a:gridCol>
                <a:gridCol w="1229709">
                  <a:extLst>
                    <a:ext uri="{9D8B030D-6E8A-4147-A177-3AD203B41FA5}">
                      <a16:colId xmlns:a16="http://schemas.microsoft.com/office/drawing/2014/main" val="2255976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Admission 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Creat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50457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Day 4 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Creat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1.8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7596346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F8FA51B-3913-4623-BF46-42822BBA3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587551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7B129F-8B49-584A-A89D-56550958FD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3283"/>
            <a:ext cx="10515600" cy="5181600"/>
          </a:xfrm>
        </p:spPr>
        <p:txBody>
          <a:bodyPr>
            <a:normAutofit/>
          </a:bodyPr>
          <a:lstStyle/>
          <a:p>
            <a:r>
              <a:rPr lang="en-US" dirty="0"/>
              <a:t>You diagnose the patient with hepatorenal syndrome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181D98F-8A4C-9741-9798-A7A2C0C7E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54-year-old man with alcohol-related cirrhosis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149AD08-4EB1-4B6C-BA58-35BF7E683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50419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7B129F-8B49-584A-A89D-56550958FD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3283"/>
            <a:ext cx="10515600" cy="5181600"/>
          </a:xfrm>
        </p:spPr>
        <p:txBody>
          <a:bodyPr>
            <a:normAutofit/>
          </a:bodyPr>
          <a:lstStyle/>
          <a:p>
            <a:r>
              <a:rPr lang="en-US" dirty="0"/>
              <a:t>You diagnose the patient with hepatorenal syndrome</a:t>
            </a:r>
          </a:p>
          <a:p>
            <a:r>
              <a:rPr lang="en-US" b="1" dirty="0"/>
              <a:t>What do you do now?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181D98F-8A4C-9741-9798-A7A2C0C7E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54-year-old man with alcohol-related cirrhosis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131F0F7-875F-46B6-8338-7C123A09B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878421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7B129F-8B49-584A-A89D-56550958FD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3283"/>
            <a:ext cx="10515600" cy="5181600"/>
          </a:xfrm>
        </p:spPr>
        <p:txBody>
          <a:bodyPr>
            <a:normAutofit/>
          </a:bodyPr>
          <a:lstStyle/>
          <a:p>
            <a:r>
              <a:rPr lang="en-US" dirty="0"/>
              <a:t>You diagnose the patient with hepatorenal syndrome</a:t>
            </a:r>
          </a:p>
          <a:p>
            <a:r>
              <a:rPr lang="en-US" b="1" dirty="0"/>
              <a:t>What do you do now?</a:t>
            </a:r>
          </a:p>
          <a:p>
            <a:pPr lvl="1"/>
            <a:r>
              <a:rPr lang="en-US" dirty="0"/>
              <a:t>Midodrine and Octreotide </a:t>
            </a:r>
            <a:r>
              <a:rPr lang="en-US" b="1" i="1" dirty="0"/>
              <a:t>do not really work</a:t>
            </a:r>
            <a:endParaRPr lang="en-US" dirty="0"/>
          </a:p>
          <a:p>
            <a:pPr lvl="1"/>
            <a:r>
              <a:rPr lang="en-US" b="1" dirty="0" err="1"/>
              <a:t>Terlipressin</a:t>
            </a:r>
            <a:r>
              <a:rPr lang="en-US" b="1" dirty="0"/>
              <a:t> </a:t>
            </a:r>
            <a:r>
              <a:rPr lang="en-US" dirty="0"/>
              <a:t>is the treatment of choice if CLIF-ACLF &lt; 3</a:t>
            </a:r>
            <a:endParaRPr lang="en-US" b="1" dirty="0"/>
          </a:p>
          <a:p>
            <a:pPr lvl="1"/>
            <a:r>
              <a:rPr lang="en-US" dirty="0"/>
              <a:t>Norepinephrine if CLIF-ACLF &gt;= 3</a:t>
            </a:r>
          </a:p>
          <a:p>
            <a:pPr lvl="1"/>
            <a:r>
              <a:rPr lang="en-US" dirty="0"/>
              <a:t>Vasopressin adjunct therapy</a:t>
            </a:r>
          </a:p>
          <a:p>
            <a:r>
              <a:rPr lang="en-US" dirty="0"/>
              <a:t>Goal is to increase MAP by &gt; 10 from baseline</a:t>
            </a:r>
          </a:p>
          <a:p>
            <a:endParaRPr lang="en-US" dirty="0"/>
          </a:p>
          <a:p>
            <a:r>
              <a:rPr lang="en-US" dirty="0">
                <a:highlight>
                  <a:srgbClr val="FFFF00"/>
                </a:highlight>
              </a:rPr>
              <a:t>Use RRT only if transplant candidate</a:t>
            </a:r>
          </a:p>
          <a:p>
            <a:r>
              <a:rPr lang="en-US" b="1" dirty="0">
                <a:highlight>
                  <a:srgbClr val="FFFF00"/>
                </a:highlight>
              </a:rPr>
              <a:t>Urgent transplant evaluation!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181D98F-8A4C-9741-9798-A7A2C0C7E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54-year-old man with alcohol-related cirrhosis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D9B5B9D-8B0B-492D-9563-ECF98BF5A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791975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9A49BD-5702-2746-AC67-8818D48187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Patient improves and creatinine goes back to baseline</a:t>
            </a:r>
          </a:p>
          <a:p>
            <a:r>
              <a:rPr lang="en-US" dirty="0"/>
              <a:t>Discharged from the hospital to follow up with you in 2 weeks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9024546-6E1B-DB4F-B4B2-35E4CC8E6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54-year-old man with alcohol-related cirrhosis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A171BF7-46F0-4D3A-9DBD-D8CE85F8D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950264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FB6E9-3C19-4C13-9765-E8B9152C3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107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EEF0DB1-2115-4868-8ED4-E24D2593326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81"/>
          <a:stretch/>
        </p:blipFill>
        <p:spPr>
          <a:xfrm>
            <a:off x="1901290" y="209549"/>
            <a:ext cx="6236770" cy="6438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224816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9024546-6E1B-DB4F-B4B2-35E4CC8E6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54-year-old man with alcohol-related cirrhosis</a:t>
            </a:r>
          </a:p>
        </p:txBody>
      </p:sp>
      <p:pic>
        <p:nvPicPr>
          <p:cNvPr id="5" name="Content Placeholder 3">
            <a:extLst>
              <a:ext uri="{FF2B5EF4-FFF2-40B4-BE49-F238E27FC236}">
                <a16:creationId xmlns:a16="http://schemas.microsoft.com/office/drawing/2014/main" id="{0CE69729-005A-5448-8C86-0988330D63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7445" y="1215925"/>
            <a:ext cx="9197109" cy="5090282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9407449-070D-4A36-814C-E7CD9558D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991314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4B5C5-F427-504A-A9ED-CEF7A5ADC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tricks of the trade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25F2EE-4B5F-0845-8807-C9670212CD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AST:ALT ratio (even </a:t>
            </a:r>
            <a:r>
              <a:rPr lang="en-US" dirty="0" err="1"/>
              <a:t>wnl</a:t>
            </a:r>
            <a:r>
              <a:rPr lang="en-US" dirty="0"/>
              <a:t>) mean something</a:t>
            </a:r>
          </a:p>
          <a:p>
            <a:pPr lvl="1"/>
            <a:r>
              <a:rPr lang="en-US" dirty="0"/>
              <a:t>AST&gt;ALT is almost always abnormal</a:t>
            </a:r>
          </a:p>
          <a:p>
            <a:r>
              <a:rPr lang="en-US" dirty="0"/>
              <a:t>Thrombocytopenia? You’re cirrhotic until proven otherwise</a:t>
            </a:r>
          </a:p>
          <a:p>
            <a:r>
              <a:rPr lang="en-US" dirty="0"/>
              <a:t>HRS is difficult to diagnose and dx of exclusion, don’t forget the UA, renal US and 1g/kg albumin for 2 days</a:t>
            </a:r>
          </a:p>
          <a:p>
            <a:r>
              <a:rPr lang="en-US" dirty="0"/>
              <a:t>BB are great, but know when to stop them (i.e., SBP, HRS)</a:t>
            </a:r>
          </a:p>
          <a:p>
            <a:r>
              <a:rPr lang="en-US" dirty="0"/>
              <a:t>Always think of transplant candidacy for any cirrhotic</a:t>
            </a:r>
          </a:p>
          <a:p>
            <a:pPr lvl="1"/>
            <a:r>
              <a:rPr lang="en-US" dirty="0"/>
              <a:t>DO NOT DISMISS THEM JUST BECAUSE THEY DRINK ALCOHOL as things are more dynamic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21A347-637B-47F0-807B-43E991179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637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3805</TotalTime>
  <Words>4399</Words>
  <Application>Microsoft Macintosh PowerPoint</Application>
  <PresentationFormat>Widescreen</PresentationFormat>
  <Paragraphs>1147</Paragraphs>
  <Slides>109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109</vt:i4>
      </vt:variant>
    </vt:vector>
  </HeadingPairs>
  <TitlesOfParts>
    <vt:vector size="114" baseType="lpstr">
      <vt:lpstr>Arial</vt:lpstr>
      <vt:lpstr>Calibri</vt:lpstr>
      <vt:lpstr>Georgia</vt:lpstr>
      <vt:lpstr>System Font Regular</vt:lpstr>
      <vt:lpstr>Office Theme</vt:lpstr>
      <vt:lpstr>Cirrhosis</vt:lpstr>
      <vt:lpstr>Outline</vt:lpstr>
      <vt:lpstr>Definition</vt:lpstr>
      <vt:lpstr>Histologically</vt:lpstr>
      <vt:lpstr>Pathophysiology</vt:lpstr>
      <vt:lpstr>Hepatocyte function</vt:lpstr>
      <vt:lpstr>Portal venous system</vt:lpstr>
      <vt:lpstr>Portal hypertension</vt:lpstr>
      <vt:lpstr>Reticuloendothelial system</vt:lpstr>
      <vt:lpstr>Splenomegaly</vt:lpstr>
      <vt:lpstr>Splenomegaly</vt:lpstr>
      <vt:lpstr>Splenomegaly</vt:lpstr>
      <vt:lpstr>Liver Spleen Scan</vt:lpstr>
      <vt:lpstr>Liver Spleen Scan</vt:lpstr>
      <vt:lpstr>Thrombocytopenia</vt:lpstr>
      <vt:lpstr>Thrombocytopenia</vt:lpstr>
      <vt:lpstr>Diagnosis</vt:lpstr>
      <vt:lpstr>CT Imaging</vt:lpstr>
      <vt:lpstr>So what causes cirrhosis?</vt:lpstr>
      <vt:lpstr>What causes cirrhosis?</vt:lpstr>
      <vt:lpstr>How to investigate the etiology of cirrhosis?</vt:lpstr>
      <vt:lpstr>Management</vt:lpstr>
      <vt:lpstr>Management</vt:lpstr>
      <vt:lpstr>MELD and Child-Pugh Score</vt:lpstr>
      <vt:lpstr>Decompensated cirrhosis</vt:lpstr>
      <vt:lpstr>PowerPoint Presentation</vt:lpstr>
      <vt:lpstr>Management of Cirrhosis</vt:lpstr>
      <vt:lpstr>Management of Cirrhosis</vt:lpstr>
      <vt:lpstr>Management of complications of cirrhosis</vt:lpstr>
      <vt:lpstr>Case Presentation</vt:lpstr>
      <vt:lpstr>Case</vt:lpstr>
      <vt:lpstr>Case</vt:lpstr>
      <vt:lpstr>Case</vt:lpstr>
      <vt:lpstr>Case</vt:lpstr>
      <vt:lpstr>54-year-old man with alcohol use disorder</vt:lpstr>
      <vt:lpstr>54-year-old man with alcohol use disorder</vt:lpstr>
      <vt:lpstr>54-year-old man with alcohol use disorder</vt:lpstr>
      <vt:lpstr>54-year-old man with alcohol use disorder</vt:lpstr>
      <vt:lpstr>54-year-old man with alcohol use disorder</vt:lpstr>
      <vt:lpstr>54-year-old man with alcohol use disorder</vt:lpstr>
      <vt:lpstr>54-year-old man with alcohol use disorder</vt:lpstr>
      <vt:lpstr>54-year-old man with alcohol use disorder</vt:lpstr>
      <vt:lpstr>54-year-old man with alcohol use disorder</vt:lpstr>
      <vt:lpstr>54-year-old man with alcohol use disorder</vt:lpstr>
      <vt:lpstr>54-year-old man with alcohol use disorder</vt:lpstr>
      <vt:lpstr>54-year-old man with alcohol use disorder</vt:lpstr>
      <vt:lpstr>54-year-old man with alcohol use disorder</vt:lpstr>
      <vt:lpstr>54-year-old man with alcohol-related cirrhosis</vt:lpstr>
      <vt:lpstr>54-year-old man with alcohol-related cirrhosis</vt:lpstr>
      <vt:lpstr>54-year-old man with alcohol-related cirrhosis</vt:lpstr>
      <vt:lpstr>Question</vt:lpstr>
      <vt:lpstr>54-year-old man with alcohol-related cirrhosis</vt:lpstr>
      <vt:lpstr>54-year-old man with alcohol-related cirrhosis</vt:lpstr>
      <vt:lpstr>54-year-old man with alcohol-related cirrhosis</vt:lpstr>
      <vt:lpstr>54-year-old man with alcohol-related cirrhosis</vt:lpstr>
      <vt:lpstr>54-year-old man with alcohol-related cirrhosis</vt:lpstr>
      <vt:lpstr>54-year-old man with alcohol-related cirrhosis</vt:lpstr>
      <vt:lpstr>54-year-old man with alcohol-related cirrhosis</vt:lpstr>
      <vt:lpstr>54-year-old man with alcohol-related cirrhosis</vt:lpstr>
      <vt:lpstr>54-year-old man with alcohol-related cirrhosis</vt:lpstr>
      <vt:lpstr>54-year-old man with alcohol-related cirrhosis</vt:lpstr>
      <vt:lpstr>54-year-old man with alcohol-related cirrhosis</vt:lpstr>
      <vt:lpstr>54-year-old man with alcohol-related cirrhosis</vt:lpstr>
      <vt:lpstr>54-year-old man with alcohol-related cirrhosis</vt:lpstr>
      <vt:lpstr>54-year-old man with alcohol-related cirrhosis</vt:lpstr>
      <vt:lpstr>54-year-old man with alcohol-related cirrhosis</vt:lpstr>
      <vt:lpstr>54-year-old man with alcohol-related cirrhosis</vt:lpstr>
      <vt:lpstr>54-year-old man with alcohol-related cirrhosis</vt:lpstr>
      <vt:lpstr>54-year-old man with alcohol-related cirrhosis</vt:lpstr>
      <vt:lpstr>54-year-old man with alcohol-related cirrhosis</vt:lpstr>
      <vt:lpstr>54-year-old man with alcohol-related cirrhosis</vt:lpstr>
      <vt:lpstr>54-year-old man with alcohol-related cirrhosis</vt:lpstr>
      <vt:lpstr>54-year-old man with alcohol-related cirrhosis</vt:lpstr>
      <vt:lpstr>54-year-old man with alcohol-related cirrhosis</vt:lpstr>
      <vt:lpstr>PowerPoint Presentation</vt:lpstr>
      <vt:lpstr>PowerPoint Presentation</vt:lpstr>
      <vt:lpstr>54-year-old man with alcohol-related cirrhosis</vt:lpstr>
      <vt:lpstr>54-year-old man with alcohol-related cirrhosis</vt:lpstr>
      <vt:lpstr>54-year-old man with alcohol-related cirrhosis</vt:lpstr>
      <vt:lpstr>54-year-old man with alcohol-related cirrhosis</vt:lpstr>
      <vt:lpstr>54-year-old man with alcohol-related cirrhosis</vt:lpstr>
      <vt:lpstr>54-year-old man with alcohol-related cirrhosis</vt:lpstr>
      <vt:lpstr>54-year-old man with alcohol-related cirrhosis</vt:lpstr>
      <vt:lpstr>54-year-old man with alcohol-related cirrhosis</vt:lpstr>
      <vt:lpstr>54-year-old man with alcohol-related cirrhosis</vt:lpstr>
      <vt:lpstr>54-year-old man with alcohol-related cirrhosis</vt:lpstr>
      <vt:lpstr>54-year-old man with alcohol-related cirrhosis</vt:lpstr>
      <vt:lpstr>54-year-old man with alcohol-related cirrhosis</vt:lpstr>
      <vt:lpstr>54-year-old man with alcohol-related cirrhosis</vt:lpstr>
      <vt:lpstr>54-year-old man with alcohol-related cirrhosis</vt:lpstr>
      <vt:lpstr>54-year-old man with alcohol-related cirrhosis</vt:lpstr>
      <vt:lpstr>54-year-old man with alcohol-related cirrhosis</vt:lpstr>
      <vt:lpstr>PowerPoint Presentation</vt:lpstr>
      <vt:lpstr>PowerPoint Presentation</vt:lpstr>
      <vt:lpstr>54-year-old man with alcohol-related cirrhosis</vt:lpstr>
      <vt:lpstr>54-year-old man with alcohol-related cirrhosis</vt:lpstr>
      <vt:lpstr>54-year-old man with alcohol-related cirrhosis</vt:lpstr>
      <vt:lpstr>54-year-old man with alcohol-related cirrhosis</vt:lpstr>
      <vt:lpstr>54-year-old man with alcohol-related cirrhosis</vt:lpstr>
      <vt:lpstr>54-year-old man with alcohol-related cirrhosis</vt:lpstr>
      <vt:lpstr>54-year-old man with alcohol-related cirrhosis</vt:lpstr>
      <vt:lpstr>54-year-old man with alcohol-related cirrhosis</vt:lpstr>
      <vt:lpstr>54-year-old man with alcohol-related cirrhosis</vt:lpstr>
      <vt:lpstr>54-year-old man with alcohol-related cirrhosis</vt:lpstr>
      <vt:lpstr>54-year-old man with alcohol-related cirrhosis</vt:lpstr>
      <vt:lpstr>54-year-old man with alcohol-related cirrhosis</vt:lpstr>
      <vt:lpstr>PowerPoint Presentation</vt:lpstr>
      <vt:lpstr>54-year-old man with alcohol-related cirrhosis</vt:lpstr>
      <vt:lpstr>Some tricks of the trade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Cirrhosis</dc:title>
  <dc:creator>CBKPWS</dc:creator>
  <cp:lastModifiedBy>Almeqdadi, Mohammad</cp:lastModifiedBy>
  <cp:revision>319</cp:revision>
  <dcterms:created xsi:type="dcterms:W3CDTF">2021-10-27T13:25:35Z</dcterms:created>
  <dcterms:modified xsi:type="dcterms:W3CDTF">2024-02-13T16:47:46Z</dcterms:modified>
</cp:coreProperties>
</file>