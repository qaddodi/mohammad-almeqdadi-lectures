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ink/ink3.xml" ContentType="application/inkml+xml"/>
  <Override PartName="/ppt/ink/ink4.xml" ContentType="application/inkml+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0"/>
  </p:notesMasterIdLst>
  <p:sldIdLst>
    <p:sldId id="289" r:id="rId2"/>
    <p:sldId id="352" r:id="rId3"/>
    <p:sldId id="355" r:id="rId4"/>
    <p:sldId id="356" r:id="rId5"/>
    <p:sldId id="357" r:id="rId6"/>
    <p:sldId id="358" r:id="rId7"/>
    <p:sldId id="353" r:id="rId8"/>
    <p:sldId id="354" r:id="rId9"/>
    <p:sldId id="359" r:id="rId10"/>
    <p:sldId id="360" r:id="rId11"/>
    <p:sldId id="361" r:id="rId12"/>
    <p:sldId id="391" r:id="rId13"/>
    <p:sldId id="286" r:id="rId14"/>
    <p:sldId id="270" r:id="rId15"/>
    <p:sldId id="261" r:id="rId16"/>
    <p:sldId id="271" r:id="rId17"/>
    <p:sldId id="362" r:id="rId18"/>
    <p:sldId id="336" r:id="rId19"/>
    <p:sldId id="337" r:id="rId20"/>
    <p:sldId id="335" r:id="rId21"/>
    <p:sldId id="290" r:id="rId22"/>
    <p:sldId id="291" r:id="rId23"/>
    <p:sldId id="292" r:id="rId24"/>
    <p:sldId id="304" r:id="rId25"/>
    <p:sldId id="282" r:id="rId26"/>
    <p:sldId id="281" r:id="rId27"/>
    <p:sldId id="260" r:id="rId28"/>
    <p:sldId id="363" r:id="rId29"/>
    <p:sldId id="365" r:id="rId30"/>
    <p:sldId id="274" r:id="rId31"/>
    <p:sldId id="273" r:id="rId32"/>
    <p:sldId id="366" r:id="rId33"/>
    <p:sldId id="278" r:id="rId34"/>
    <p:sldId id="367" r:id="rId35"/>
    <p:sldId id="364" r:id="rId36"/>
    <p:sldId id="280" r:id="rId37"/>
    <p:sldId id="288" r:id="rId38"/>
    <p:sldId id="368" r:id="rId39"/>
    <p:sldId id="293" r:id="rId40"/>
    <p:sldId id="294" r:id="rId41"/>
    <p:sldId id="305" r:id="rId42"/>
    <p:sldId id="296" r:id="rId43"/>
    <p:sldId id="299" r:id="rId44"/>
    <p:sldId id="297" r:id="rId45"/>
    <p:sldId id="298" r:id="rId46"/>
    <p:sldId id="306" r:id="rId47"/>
    <p:sldId id="300" r:id="rId48"/>
    <p:sldId id="301" r:id="rId49"/>
    <p:sldId id="302" r:id="rId50"/>
    <p:sldId id="303" r:id="rId51"/>
    <p:sldId id="284" r:id="rId52"/>
    <p:sldId id="285" r:id="rId53"/>
    <p:sldId id="310" r:id="rId54"/>
    <p:sldId id="343" r:id="rId55"/>
    <p:sldId id="272" r:id="rId56"/>
    <p:sldId id="287" r:id="rId57"/>
    <p:sldId id="344" r:id="rId58"/>
    <p:sldId id="345" r:id="rId59"/>
    <p:sldId id="369" r:id="rId60"/>
    <p:sldId id="370" r:id="rId61"/>
    <p:sldId id="276" r:id="rId62"/>
    <p:sldId id="371" r:id="rId63"/>
    <p:sldId id="372" r:id="rId64"/>
    <p:sldId id="373" r:id="rId65"/>
    <p:sldId id="277" r:id="rId66"/>
    <p:sldId id="279" r:id="rId67"/>
    <p:sldId id="387" r:id="rId68"/>
    <p:sldId id="257" r:id="rId69"/>
    <p:sldId id="346" r:id="rId70"/>
    <p:sldId id="389" r:id="rId71"/>
    <p:sldId id="390" r:id="rId72"/>
    <p:sldId id="339" r:id="rId73"/>
    <p:sldId id="388" r:id="rId74"/>
    <p:sldId id="340" r:id="rId75"/>
    <p:sldId id="275" r:id="rId76"/>
    <p:sldId id="258" r:id="rId77"/>
    <p:sldId id="338" r:id="rId78"/>
    <p:sldId id="262" r:id="rId79"/>
    <p:sldId id="350" r:id="rId80"/>
    <p:sldId id="348" r:id="rId81"/>
    <p:sldId id="349" r:id="rId82"/>
    <p:sldId id="351" r:id="rId83"/>
    <p:sldId id="375" r:id="rId84"/>
    <p:sldId id="376" r:id="rId85"/>
    <p:sldId id="374" r:id="rId86"/>
    <p:sldId id="377" r:id="rId87"/>
    <p:sldId id="347" r:id="rId88"/>
    <p:sldId id="311" r:id="rId89"/>
    <p:sldId id="312" r:id="rId90"/>
    <p:sldId id="313" r:id="rId91"/>
    <p:sldId id="314" r:id="rId92"/>
    <p:sldId id="315" r:id="rId93"/>
    <p:sldId id="316" r:id="rId94"/>
    <p:sldId id="317" r:id="rId95"/>
    <p:sldId id="318" r:id="rId96"/>
    <p:sldId id="320" r:id="rId97"/>
    <p:sldId id="321" r:id="rId98"/>
    <p:sldId id="322" r:id="rId99"/>
    <p:sldId id="323" r:id="rId100"/>
    <p:sldId id="324" r:id="rId101"/>
    <p:sldId id="325" r:id="rId102"/>
    <p:sldId id="326" r:id="rId103"/>
    <p:sldId id="327" r:id="rId104"/>
    <p:sldId id="268" r:id="rId105"/>
    <p:sldId id="269" r:id="rId106"/>
    <p:sldId id="267" r:id="rId107"/>
    <p:sldId id="329" r:id="rId108"/>
    <p:sldId id="330" r:id="rId109"/>
    <p:sldId id="332" r:id="rId110"/>
    <p:sldId id="333" r:id="rId111"/>
    <p:sldId id="328" r:id="rId112"/>
    <p:sldId id="342" r:id="rId113"/>
    <p:sldId id="331" r:id="rId114"/>
    <p:sldId id="341" r:id="rId115"/>
    <p:sldId id="263" r:id="rId116"/>
    <p:sldId id="265" r:id="rId117"/>
    <p:sldId id="334" r:id="rId118"/>
    <p:sldId id="266" r:id="rId119"/>
    <p:sldId id="264" r:id="rId120"/>
    <p:sldId id="382" r:id="rId121"/>
    <p:sldId id="381" r:id="rId122"/>
    <p:sldId id="378" r:id="rId123"/>
    <p:sldId id="380" r:id="rId124"/>
    <p:sldId id="386" r:id="rId125"/>
    <p:sldId id="383" r:id="rId126"/>
    <p:sldId id="379" r:id="rId127"/>
    <p:sldId id="385" r:id="rId128"/>
    <p:sldId id="384" r:id="rId1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3E8F8"/>
    <a:srgbClr val="E97161"/>
    <a:srgbClr val="941100"/>
    <a:srgbClr val="BAE1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0"/>
    <p:restoredTop sz="94648"/>
  </p:normalViewPr>
  <p:slideViewPr>
    <p:cSldViewPr snapToGrid="0" snapToObjects="1">
      <p:cViewPr varScale="1">
        <p:scale>
          <a:sx n="117" d="100"/>
          <a:sy n="117" d="100"/>
        </p:scale>
        <p:origin x="36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AST-to-ALT Ratio</c:v>
                </c:pt>
              </c:strCache>
            </c:strRef>
          </c:tx>
          <c:spPr>
            <a:ln w="19050" cap="rnd">
              <a:noFill/>
              <a:round/>
            </a:ln>
            <a:effectLst/>
          </c:spPr>
          <c:marker>
            <c:symbol val="circle"/>
            <c:size val="5"/>
            <c:spPr>
              <a:noFill/>
              <a:ln w="9525">
                <a:noFill/>
              </a:ln>
              <a:effectLst/>
            </c:spPr>
          </c:marker>
          <c:xVal>
            <c:numRef>
              <c:f>Sheet1!$A$2:$A$7</c:f>
              <c:numCache>
                <c:formatCode>General</c:formatCode>
                <c:ptCount val="6"/>
                <c:pt idx="0">
                  <c:v>0</c:v>
                </c:pt>
                <c:pt idx="1">
                  <c:v>10</c:v>
                </c:pt>
                <c:pt idx="2">
                  <c:v>100</c:v>
                </c:pt>
                <c:pt idx="3">
                  <c:v>1000</c:v>
                </c:pt>
                <c:pt idx="4">
                  <c:v>10000</c:v>
                </c:pt>
              </c:numCache>
            </c:numRef>
          </c:xVal>
          <c:yVal>
            <c:numRef>
              <c:f>Sheet1!$B$2:$B$7</c:f>
              <c:numCache>
                <c:formatCode>General</c:formatCode>
                <c:ptCount val="6"/>
                <c:pt idx="0">
                  <c:v>0</c:v>
                </c:pt>
                <c:pt idx="1">
                  <c:v>0.5</c:v>
                </c:pt>
                <c:pt idx="2">
                  <c:v>1</c:v>
                </c:pt>
                <c:pt idx="3">
                  <c:v>1.5</c:v>
                </c:pt>
                <c:pt idx="4">
                  <c:v>2</c:v>
                </c:pt>
              </c:numCache>
            </c:numRef>
          </c:yVal>
          <c:smooth val="0"/>
          <c:extLst>
            <c:ext xmlns:c16="http://schemas.microsoft.com/office/drawing/2014/chart" uri="{C3380CC4-5D6E-409C-BE32-E72D297353CC}">
              <c16:uniqueId val="{00000000-0000-2D4A-ADA8-16713622B7AE}"/>
            </c:ext>
          </c:extLst>
        </c:ser>
        <c:dLbls>
          <c:showLegendKey val="0"/>
          <c:showVal val="0"/>
          <c:showCatName val="0"/>
          <c:showSerName val="0"/>
          <c:showPercent val="0"/>
          <c:showBubbleSize val="0"/>
        </c:dLbls>
        <c:axId val="1011197567"/>
        <c:axId val="1011296479"/>
      </c:scatterChart>
      <c:valAx>
        <c:axId val="1011197567"/>
        <c:scaling>
          <c:logBase val="10"/>
          <c:orientation val="minMax"/>
        </c:scaling>
        <c:delete val="0"/>
        <c:axPos val="b"/>
        <c:title>
          <c:tx>
            <c:rich>
              <a:bodyPr rot="0" spcFirstLastPara="1" vertOverflow="ellipsis" vert="horz" wrap="square" anchor="ctr" anchorCtr="1"/>
              <a:lstStyle/>
              <a:p>
                <a:pPr>
                  <a:defRPr sz="2400" b="1" i="0" u="none" strike="noStrike" kern="1200" baseline="0">
                    <a:solidFill>
                      <a:schemeClr val="tx1"/>
                    </a:solidFill>
                    <a:latin typeface="Quadraat" panose="02000503060000090004" pitchFamily="2" charset="0"/>
                    <a:ea typeface="+mn-ea"/>
                    <a:cs typeface="+mn-cs"/>
                  </a:defRPr>
                </a:pPr>
                <a:r>
                  <a:rPr lang="en-US" sz="2400" b="1" dirty="0">
                    <a:solidFill>
                      <a:schemeClr val="tx1"/>
                    </a:solidFill>
                    <a:latin typeface="Quadraat" panose="02000503060000090004" pitchFamily="2" charset="0"/>
                  </a:rPr>
                  <a:t>Transaminases Elevation</a:t>
                </a:r>
              </a:p>
            </c:rich>
          </c:tx>
          <c:overlay val="0"/>
          <c:spPr>
            <a:noFill/>
            <a:ln>
              <a:noFill/>
            </a:ln>
            <a:effectLst/>
          </c:spPr>
          <c:txPr>
            <a:bodyPr rot="0" spcFirstLastPara="1" vertOverflow="ellipsis" vert="horz" wrap="square" anchor="ctr" anchorCtr="1"/>
            <a:lstStyle/>
            <a:p>
              <a:pPr>
                <a:defRPr sz="2400" b="1" i="0" u="none" strike="noStrike" kern="1200" baseline="0">
                  <a:solidFill>
                    <a:schemeClr val="tx1"/>
                  </a:solidFill>
                  <a:latin typeface="Quadraat" panose="02000503060000090004" pitchFamily="2" charset="0"/>
                  <a:ea typeface="+mn-ea"/>
                  <a:cs typeface="+mn-cs"/>
                </a:defRPr>
              </a:pPr>
              <a:endParaRPr lang="en-US"/>
            </a:p>
          </c:txPr>
        </c:title>
        <c:numFmt formatCode="General" sourceLinked="1"/>
        <c:majorTickMark val="none"/>
        <c:minorTickMark val="none"/>
        <c:tickLblPos val="nextTo"/>
        <c:spPr>
          <a:noFill/>
          <a:ln w="38100" cap="flat" cmpd="sng" algn="ctr">
            <a:solidFill>
              <a:schemeClr val="tx1"/>
            </a:solidFill>
            <a:round/>
            <a:tailEnd type="stealth" w="lg" len="lg"/>
          </a:ln>
          <a:effectLst/>
        </c:spPr>
        <c:txPr>
          <a:bodyPr rot="-60000000" spcFirstLastPara="1" vertOverflow="ellipsis" vert="horz" wrap="square" anchor="ctr" anchorCtr="1"/>
          <a:lstStyle/>
          <a:p>
            <a:pPr>
              <a:defRPr sz="2000" b="1" i="0" u="none" strike="noStrike" kern="1200" baseline="0">
                <a:solidFill>
                  <a:schemeClr val="tx1"/>
                </a:solidFill>
                <a:latin typeface="Quadraat" panose="02000503060000090004" pitchFamily="2" charset="0"/>
                <a:ea typeface="+mn-ea"/>
                <a:cs typeface="+mn-cs"/>
              </a:defRPr>
            </a:pPr>
            <a:endParaRPr lang="en-US"/>
          </a:p>
        </c:txPr>
        <c:crossAx val="1011296479"/>
        <c:crosses val="autoZero"/>
        <c:crossBetween val="midCat"/>
      </c:valAx>
      <c:valAx>
        <c:axId val="1011296479"/>
        <c:scaling>
          <c:orientation val="minMax"/>
          <c:max val="2.5"/>
        </c:scaling>
        <c:delete val="0"/>
        <c:axPos val="l"/>
        <c:title>
          <c:tx>
            <c:rich>
              <a:bodyPr rot="-5400000" spcFirstLastPara="1" vertOverflow="ellipsis" vert="horz" wrap="square" anchor="ctr" anchorCtr="1"/>
              <a:lstStyle/>
              <a:p>
                <a:pPr>
                  <a:defRPr sz="2400" b="1" i="0" u="none" strike="noStrike" kern="1200" baseline="0">
                    <a:solidFill>
                      <a:schemeClr val="tx1"/>
                    </a:solidFill>
                    <a:latin typeface="Quadraat" panose="02000503060000090004" pitchFamily="2" charset="0"/>
                    <a:ea typeface="+mn-ea"/>
                    <a:cs typeface="+mn-cs"/>
                  </a:defRPr>
                </a:pPr>
                <a:r>
                  <a:rPr lang="en-US" sz="2400" b="1" dirty="0">
                    <a:solidFill>
                      <a:schemeClr val="tx1"/>
                    </a:solidFill>
                    <a:latin typeface="Quadraat" panose="02000503060000090004" pitchFamily="2" charset="0"/>
                  </a:rPr>
                  <a:t>AST-to-ALT Ratio</a:t>
                </a:r>
              </a:p>
            </c:rich>
          </c:tx>
          <c:overlay val="0"/>
          <c:spPr>
            <a:noFill/>
            <a:ln>
              <a:noFill/>
            </a:ln>
            <a:effectLst/>
          </c:spPr>
          <c:txPr>
            <a:bodyPr rot="-5400000" spcFirstLastPara="1" vertOverflow="ellipsis" vert="horz" wrap="square" anchor="ctr" anchorCtr="1"/>
            <a:lstStyle/>
            <a:p>
              <a:pPr>
                <a:defRPr sz="2400" b="1" i="0" u="none" strike="noStrike" kern="1200" baseline="0">
                  <a:solidFill>
                    <a:schemeClr val="tx1"/>
                  </a:solidFill>
                  <a:latin typeface="Quadraat" panose="02000503060000090004" pitchFamily="2" charset="0"/>
                  <a:ea typeface="+mn-ea"/>
                  <a:cs typeface="+mn-cs"/>
                </a:defRPr>
              </a:pPr>
              <a:endParaRPr lang="en-US"/>
            </a:p>
          </c:txPr>
        </c:title>
        <c:numFmt formatCode="General" sourceLinked="1"/>
        <c:majorTickMark val="none"/>
        <c:minorTickMark val="none"/>
        <c:tickLblPos val="nextTo"/>
        <c:spPr>
          <a:noFill/>
          <a:ln w="38100" cap="flat" cmpd="sng" algn="ctr">
            <a:solidFill>
              <a:schemeClr val="tx1"/>
            </a:solidFill>
            <a:round/>
            <a:tailEnd type="stealth" w="lg" len="lg"/>
          </a:ln>
          <a:effectLst/>
        </c:spPr>
        <c:txPr>
          <a:bodyPr rot="-60000000" spcFirstLastPara="1" vertOverflow="ellipsis" vert="horz" wrap="square" anchor="ctr" anchorCtr="1"/>
          <a:lstStyle/>
          <a:p>
            <a:pPr>
              <a:defRPr sz="2000" b="0" i="0" u="none" strike="noStrike" kern="1200" baseline="0">
                <a:solidFill>
                  <a:schemeClr val="tx1"/>
                </a:solidFill>
                <a:latin typeface="Quadraat" panose="02000503060000090004" pitchFamily="2" charset="0"/>
                <a:ea typeface="+mn-ea"/>
                <a:cs typeface="+mn-cs"/>
              </a:defRPr>
            </a:pPr>
            <a:endParaRPr lang="en-US"/>
          </a:p>
        </c:txPr>
        <c:crossAx val="1011197567"/>
        <c:crosses val="autoZero"/>
        <c:crossBetween val="midCat"/>
        <c:majorUnit val="0.5"/>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AST-to-ALT Ratio</c:v>
                </c:pt>
              </c:strCache>
            </c:strRef>
          </c:tx>
          <c:spPr>
            <a:ln w="19050" cap="rnd">
              <a:noFill/>
              <a:round/>
            </a:ln>
            <a:effectLst/>
          </c:spPr>
          <c:marker>
            <c:symbol val="circle"/>
            <c:size val="5"/>
            <c:spPr>
              <a:noFill/>
              <a:ln w="9525">
                <a:noFill/>
              </a:ln>
              <a:effectLst/>
            </c:spPr>
          </c:marker>
          <c:xVal>
            <c:numRef>
              <c:f>Sheet1!$A$2:$A$7</c:f>
              <c:numCache>
                <c:formatCode>General</c:formatCode>
                <c:ptCount val="6"/>
                <c:pt idx="0">
                  <c:v>0</c:v>
                </c:pt>
                <c:pt idx="1">
                  <c:v>10</c:v>
                </c:pt>
                <c:pt idx="2">
                  <c:v>100</c:v>
                </c:pt>
                <c:pt idx="3">
                  <c:v>1000</c:v>
                </c:pt>
                <c:pt idx="4">
                  <c:v>10000</c:v>
                </c:pt>
              </c:numCache>
            </c:numRef>
          </c:xVal>
          <c:yVal>
            <c:numRef>
              <c:f>Sheet1!$B$2:$B$7</c:f>
              <c:numCache>
                <c:formatCode>General</c:formatCode>
                <c:ptCount val="6"/>
                <c:pt idx="0">
                  <c:v>0</c:v>
                </c:pt>
                <c:pt idx="1">
                  <c:v>0.5</c:v>
                </c:pt>
                <c:pt idx="2">
                  <c:v>1</c:v>
                </c:pt>
                <c:pt idx="3">
                  <c:v>1.5</c:v>
                </c:pt>
                <c:pt idx="4">
                  <c:v>2</c:v>
                </c:pt>
              </c:numCache>
            </c:numRef>
          </c:yVal>
          <c:smooth val="0"/>
          <c:extLst>
            <c:ext xmlns:c16="http://schemas.microsoft.com/office/drawing/2014/chart" uri="{C3380CC4-5D6E-409C-BE32-E72D297353CC}">
              <c16:uniqueId val="{00000000-0000-2D4A-ADA8-16713622B7AE}"/>
            </c:ext>
          </c:extLst>
        </c:ser>
        <c:dLbls>
          <c:showLegendKey val="0"/>
          <c:showVal val="0"/>
          <c:showCatName val="0"/>
          <c:showSerName val="0"/>
          <c:showPercent val="0"/>
          <c:showBubbleSize val="0"/>
        </c:dLbls>
        <c:axId val="1011197567"/>
        <c:axId val="1011296479"/>
      </c:scatterChart>
      <c:valAx>
        <c:axId val="1011197567"/>
        <c:scaling>
          <c:logBase val="10"/>
          <c:orientation val="minMax"/>
        </c:scaling>
        <c:delete val="0"/>
        <c:axPos val="b"/>
        <c:title>
          <c:tx>
            <c:rich>
              <a:bodyPr rot="0" spcFirstLastPara="1" vertOverflow="ellipsis" vert="horz" wrap="square" anchor="ctr" anchorCtr="1"/>
              <a:lstStyle/>
              <a:p>
                <a:pPr>
                  <a:defRPr sz="2400" b="1" i="0" u="none" strike="noStrike" kern="1200" baseline="0">
                    <a:solidFill>
                      <a:schemeClr val="tx1"/>
                    </a:solidFill>
                    <a:latin typeface="Quadraat" panose="02000503060000090004" pitchFamily="2" charset="0"/>
                    <a:ea typeface="+mn-ea"/>
                    <a:cs typeface="+mn-cs"/>
                  </a:defRPr>
                </a:pPr>
                <a:r>
                  <a:rPr lang="en-US" sz="2400" b="1" dirty="0">
                    <a:solidFill>
                      <a:schemeClr val="tx1"/>
                    </a:solidFill>
                    <a:latin typeface="Quadraat" panose="02000503060000090004" pitchFamily="2" charset="0"/>
                  </a:rPr>
                  <a:t>Transaminases Elevation</a:t>
                </a:r>
              </a:p>
            </c:rich>
          </c:tx>
          <c:overlay val="0"/>
          <c:spPr>
            <a:noFill/>
            <a:ln>
              <a:noFill/>
            </a:ln>
            <a:effectLst/>
          </c:spPr>
          <c:txPr>
            <a:bodyPr rot="0" spcFirstLastPara="1" vertOverflow="ellipsis" vert="horz" wrap="square" anchor="ctr" anchorCtr="1"/>
            <a:lstStyle/>
            <a:p>
              <a:pPr>
                <a:defRPr sz="2400" b="1" i="0" u="none" strike="noStrike" kern="1200" baseline="0">
                  <a:solidFill>
                    <a:schemeClr val="tx1"/>
                  </a:solidFill>
                  <a:latin typeface="Quadraat" panose="02000503060000090004" pitchFamily="2" charset="0"/>
                  <a:ea typeface="+mn-ea"/>
                  <a:cs typeface="+mn-cs"/>
                </a:defRPr>
              </a:pPr>
              <a:endParaRPr lang="en-US"/>
            </a:p>
          </c:txPr>
        </c:title>
        <c:numFmt formatCode="General" sourceLinked="1"/>
        <c:majorTickMark val="none"/>
        <c:minorTickMark val="none"/>
        <c:tickLblPos val="nextTo"/>
        <c:spPr>
          <a:noFill/>
          <a:ln w="38100" cap="flat" cmpd="sng" algn="ctr">
            <a:solidFill>
              <a:schemeClr val="tx1"/>
            </a:solidFill>
            <a:round/>
            <a:tailEnd type="stealth" w="lg" len="lg"/>
          </a:ln>
          <a:effectLst/>
        </c:spPr>
        <c:txPr>
          <a:bodyPr rot="-60000000" spcFirstLastPara="1" vertOverflow="ellipsis" vert="horz" wrap="square" anchor="ctr" anchorCtr="1"/>
          <a:lstStyle/>
          <a:p>
            <a:pPr>
              <a:defRPr sz="2000" b="1" i="0" u="none" strike="noStrike" kern="1200" baseline="0">
                <a:solidFill>
                  <a:schemeClr val="tx1"/>
                </a:solidFill>
                <a:latin typeface="Quadraat" panose="02000503060000090004" pitchFamily="2" charset="0"/>
                <a:ea typeface="+mn-ea"/>
                <a:cs typeface="+mn-cs"/>
              </a:defRPr>
            </a:pPr>
            <a:endParaRPr lang="en-US"/>
          </a:p>
        </c:txPr>
        <c:crossAx val="1011296479"/>
        <c:crosses val="autoZero"/>
        <c:crossBetween val="midCat"/>
      </c:valAx>
      <c:valAx>
        <c:axId val="1011296479"/>
        <c:scaling>
          <c:orientation val="minMax"/>
          <c:max val="2.5"/>
        </c:scaling>
        <c:delete val="0"/>
        <c:axPos val="l"/>
        <c:title>
          <c:tx>
            <c:rich>
              <a:bodyPr rot="-5400000" spcFirstLastPara="1" vertOverflow="ellipsis" vert="horz" wrap="square" anchor="ctr" anchorCtr="1"/>
              <a:lstStyle/>
              <a:p>
                <a:pPr>
                  <a:defRPr sz="2400" b="1" i="0" u="none" strike="noStrike" kern="1200" baseline="0">
                    <a:solidFill>
                      <a:schemeClr val="tx1"/>
                    </a:solidFill>
                    <a:latin typeface="Quadraat" panose="02000503060000090004" pitchFamily="2" charset="0"/>
                    <a:ea typeface="+mn-ea"/>
                    <a:cs typeface="+mn-cs"/>
                  </a:defRPr>
                </a:pPr>
                <a:r>
                  <a:rPr lang="en-US" sz="2400" b="1" dirty="0">
                    <a:solidFill>
                      <a:schemeClr val="tx1"/>
                    </a:solidFill>
                    <a:latin typeface="Quadraat" panose="02000503060000090004" pitchFamily="2" charset="0"/>
                  </a:rPr>
                  <a:t>AST-to-ALT Ratio</a:t>
                </a:r>
              </a:p>
            </c:rich>
          </c:tx>
          <c:overlay val="0"/>
          <c:spPr>
            <a:noFill/>
            <a:ln>
              <a:noFill/>
            </a:ln>
            <a:effectLst/>
          </c:spPr>
          <c:txPr>
            <a:bodyPr rot="-5400000" spcFirstLastPara="1" vertOverflow="ellipsis" vert="horz" wrap="square" anchor="ctr" anchorCtr="1"/>
            <a:lstStyle/>
            <a:p>
              <a:pPr>
                <a:defRPr sz="2400" b="1" i="0" u="none" strike="noStrike" kern="1200" baseline="0">
                  <a:solidFill>
                    <a:schemeClr val="tx1"/>
                  </a:solidFill>
                  <a:latin typeface="Quadraat" panose="02000503060000090004" pitchFamily="2" charset="0"/>
                  <a:ea typeface="+mn-ea"/>
                  <a:cs typeface="+mn-cs"/>
                </a:defRPr>
              </a:pPr>
              <a:endParaRPr lang="en-US"/>
            </a:p>
          </c:txPr>
        </c:title>
        <c:numFmt formatCode="General" sourceLinked="1"/>
        <c:majorTickMark val="none"/>
        <c:minorTickMark val="none"/>
        <c:tickLblPos val="nextTo"/>
        <c:spPr>
          <a:noFill/>
          <a:ln w="38100" cap="flat" cmpd="sng" algn="ctr">
            <a:solidFill>
              <a:schemeClr val="tx1"/>
            </a:solidFill>
            <a:round/>
            <a:tailEnd type="stealth" w="lg" len="lg"/>
          </a:ln>
          <a:effectLst/>
        </c:spPr>
        <c:txPr>
          <a:bodyPr rot="-60000000" spcFirstLastPara="1" vertOverflow="ellipsis" vert="horz" wrap="square" anchor="ctr" anchorCtr="1"/>
          <a:lstStyle/>
          <a:p>
            <a:pPr>
              <a:defRPr sz="2000" b="0" i="0" u="none" strike="noStrike" kern="1200" baseline="0">
                <a:solidFill>
                  <a:schemeClr val="tx1"/>
                </a:solidFill>
                <a:latin typeface="Quadraat" panose="02000503060000090004" pitchFamily="2" charset="0"/>
                <a:ea typeface="+mn-ea"/>
                <a:cs typeface="+mn-cs"/>
              </a:defRPr>
            </a:pPr>
            <a:endParaRPr lang="en-US"/>
          </a:p>
        </c:txPr>
        <c:crossAx val="1011197567"/>
        <c:crosses val="autoZero"/>
        <c:crossBetween val="midCat"/>
        <c:majorUnit val="0.5"/>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1-19T20:13:02.494"/>
    </inkml:context>
    <inkml:brush xml:id="br0">
      <inkml:brushProperty name="width" value="0.07056" units="cm"/>
      <inkml:brushProperty name="height" value="0.07056" units="cm"/>
    </inkml:brush>
  </inkml:definitions>
  <inkml:trace contextRef="#ctx0" brushRef="#br0">1 0 8027,'0'0'0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1-19T20:13:03.111"/>
    </inkml:context>
    <inkml:brush xml:id="br0">
      <inkml:brushProperty name="width" value="0.08571" units="cm"/>
      <inkml:brushProperty name="height" value="0.08571" units="cm"/>
    </inkml:brush>
  </inkml:definitions>
  <inkml:trace contextRef="#ctx0" brushRef="#br0">0 0 8027,'0'0'0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1-19T20:13:02.494"/>
    </inkml:context>
    <inkml:brush xml:id="br0">
      <inkml:brushProperty name="width" value="0.07056" units="cm"/>
      <inkml:brushProperty name="height" value="0.07056" units="cm"/>
    </inkml:brush>
  </inkml:definitions>
  <inkml:trace contextRef="#ctx0" brushRef="#br0">1 0 8027,'0'0'0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1-19T20:13:03.111"/>
    </inkml:context>
    <inkml:brush xml:id="br0">
      <inkml:brushProperty name="width" value="0.08571" units="cm"/>
      <inkml:brushProperty name="height" value="0.08571" units="cm"/>
    </inkml:brush>
  </inkml:definitions>
  <inkml:trace contextRef="#ctx0" brushRef="#br0">0 0 8027,'0'0'0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6E4233-D239-1349-86F8-00534022ECAA}" type="datetimeFigureOut">
              <a:rPr lang="en-US" smtClean="0"/>
              <a:t>9/11/20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38397A-EADC-CC4C-8A40-B52A0B722FA5}" type="slidenum">
              <a:rPr lang="en-US" smtClean="0"/>
              <a:t>‹#›</a:t>
            </a:fld>
            <a:endParaRPr lang="en-US"/>
          </a:p>
        </p:txBody>
      </p:sp>
    </p:spTree>
    <p:extLst>
      <p:ext uri="{BB962C8B-B14F-4D97-AF65-F5344CB8AC3E}">
        <p14:creationId xmlns:p14="http://schemas.microsoft.com/office/powerpoint/2010/main" val="244577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38397A-EADC-CC4C-8A40-B52A0B722FA5}" type="slidenum">
              <a:rPr lang="en-US" smtClean="0"/>
              <a:t>55</a:t>
            </a:fld>
            <a:endParaRPr lang="en-US"/>
          </a:p>
        </p:txBody>
      </p:sp>
    </p:spTree>
    <p:extLst>
      <p:ext uri="{BB962C8B-B14F-4D97-AF65-F5344CB8AC3E}">
        <p14:creationId xmlns:p14="http://schemas.microsoft.com/office/powerpoint/2010/main" val="3010516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38397A-EADC-CC4C-8A40-B52A0B722FA5}" type="slidenum">
              <a:rPr lang="en-US" smtClean="0"/>
              <a:t>68</a:t>
            </a:fld>
            <a:endParaRPr lang="en-US"/>
          </a:p>
        </p:txBody>
      </p:sp>
    </p:spTree>
    <p:extLst>
      <p:ext uri="{BB962C8B-B14F-4D97-AF65-F5344CB8AC3E}">
        <p14:creationId xmlns:p14="http://schemas.microsoft.com/office/powerpoint/2010/main" val="1687264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38397A-EADC-CC4C-8A40-B52A0B722FA5}" type="slidenum">
              <a:rPr lang="en-US" smtClean="0"/>
              <a:t>69</a:t>
            </a:fld>
            <a:endParaRPr lang="en-US"/>
          </a:p>
        </p:txBody>
      </p:sp>
    </p:spTree>
    <p:extLst>
      <p:ext uri="{BB962C8B-B14F-4D97-AF65-F5344CB8AC3E}">
        <p14:creationId xmlns:p14="http://schemas.microsoft.com/office/powerpoint/2010/main" val="3163851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38397A-EADC-CC4C-8A40-B52A0B722FA5}" type="slidenum">
              <a:rPr lang="en-US" smtClean="0"/>
              <a:t>113</a:t>
            </a:fld>
            <a:endParaRPr lang="en-US"/>
          </a:p>
        </p:txBody>
      </p:sp>
    </p:spTree>
    <p:extLst>
      <p:ext uri="{BB962C8B-B14F-4D97-AF65-F5344CB8AC3E}">
        <p14:creationId xmlns:p14="http://schemas.microsoft.com/office/powerpoint/2010/main" val="1520952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38397A-EADC-CC4C-8A40-B52A0B722FA5}" type="slidenum">
              <a:rPr lang="en-US" smtClean="0"/>
              <a:t>114</a:t>
            </a:fld>
            <a:endParaRPr lang="en-US"/>
          </a:p>
        </p:txBody>
      </p:sp>
    </p:spTree>
    <p:extLst>
      <p:ext uri="{BB962C8B-B14F-4D97-AF65-F5344CB8AC3E}">
        <p14:creationId xmlns:p14="http://schemas.microsoft.com/office/powerpoint/2010/main" val="4286773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A5CC0-FBE8-5342-A23C-14DE0BEB49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D56E3C-B7F4-CC49-8AB9-70C0A0D04F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13ADBA-925F-8C42-BB80-E25D051F48E8}"/>
              </a:ext>
            </a:extLst>
          </p:cNvPr>
          <p:cNvSpPr>
            <a:spLocks noGrp="1"/>
          </p:cNvSpPr>
          <p:nvPr>
            <p:ph type="dt" sz="half" idx="10"/>
          </p:nvPr>
        </p:nvSpPr>
        <p:spPr>
          <a:xfrm>
            <a:off x="838200" y="6356350"/>
            <a:ext cx="2743200" cy="365125"/>
          </a:xfrm>
          <a:prstGeom prst="rect">
            <a:avLst/>
          </a:prstGeom>
        </p:spPr>
        <p:txBody>
          <a:bodyPr/>
          <a:lstStyle/>
          <a:p>
            <a:fld id="{D50748D5-2F95-F446-A6AA-87110C98D733}" type="datetimeFigureOut">
              <a:rPr lang="en-US" smtClean="0"/>
              <a:t>9/11/20</a:t>
            </a:fld>
            <a:endParaRPr lang="en-US"/>
          </a:p>
        </p:txBody>
      </p:sp>
      <p:sp>
        <p:nvSpPr>
          <p:cNvPr id="5" name="Footer Placeholder 4">
            <a:extLst>
              <a:ext uri="{FF2B5EF4-FFF2-40B4-BE49-F238E27FC236}">
                <a16:creationId xmlns:a16="http://schemas.microsoft.com/office/drawing/2014/main" id="{1AF28C3D-6BCE-1441-B568-22A9E174223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82220AC-CF6D-D647-8396-EDC70D12CE23}"/>
              </a:ext>
            </a:extLst>
          </p:cNvPr>
          <p:cNvSpPr>
            <a:spLocks noGrp="1"/>
          </p:cNvSpPr>
          <p:nvPr>
            <p:ph type="sldNum" sz="quarter" idx="12"/>
          </p:nvPr>
        </p:nvSpPr>
        <p:spPr>
          <a:xfrm>
            <a:off x="8610600" y="6356350"/>
            <a:ext cx="2743200" cy="365125"/>
          </a:xfrm>
          <a:prstGeom prst="rect">
            <a:avLst/>
          </a:prstGeom>
        </p:spPr>
        <p:txBody>
          <a:bodyPr/>
          <a:lstStyle/>
          <a:p>
            <a:fld id="{EA9177E2-CF53-5C4E-B885-B480379504FD}" type="slidenum">
              <a:rPr lang="en-US" smtClean="0"/>
              <a:t>‹#›</a:t>
            </a:fld>
            <a:endParaRPr lang="en-US"/>
          </a:p>
        </p:txBody>
      </p:sp>
    </p:spTree>
    <p:extLst>
      <p:ext uri="{BB962C8B-B14F-4D97-AF65-F5344CB8AC3E}">
        <p14:creationId xmlns:p14="http://schemas.microsoft.com/office/powerpoint/2010/main" val="3697384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ACEC-CAE2-9244-96E8-85F8D14681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259261-17FC-7345-BC5E-93BD9F42657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06479D1-D6EB-C949-8F5C-684D78099FC5}"/>
              </a:ext>
            </a:extLst>
          </p:cNvPr>
          <p:cNvSpPr>
            <a:spLocks noGrp="1"/>
          </p:cNvSpPr>
          <p:nvPr>
            <p:ph type="dt" sz="half" idx="10"/>
          </p:nvPr>
        </p:nvSpPr>
        <p:spPr>
          <a:xfrm>
            <a:off x="838200" y="6356350"/>
            <a:ext cx="2743200" cy="365125"/>
          </a:xfrm>
          <a:prstGeom prst="rect">
            <a:avLst/>
          </a:prstGeom>
        </p:spPr>
        <p:txBody>
          <a:bodyPr/>
          <a:lstStyle/>
          <a:p>
            <a:fld id="{D50748D5-2F95-F446-A6AA-87110C98D733}" type="datetimeFigureOut">
              <a:rPr lang="en-US" smtClean="0"/>
              <a:t>9/11/20</a:t>
            </a:fld>
            <a:endParaRPr lang="en-US"/>
          </a:p>
        </p:txBody>
      </p:sp>
      <p:sp>
        <p:nvSpPr>
          <p:cNvPr id="5" name="Footer Placeholder 4">
            <a:extLst>
              <a:ext uri="{FF2B5EF4-FFF2-40B4-BE49-F238E27FC236}">
                <a16:creationId xmlns:a16="http://schemas.microsoft.com/office/drawing/2014/main" id="{87A1E630-9318-9546-96C2-FC46F95C7B9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8E37681-2DCF-EA4E-821A-6C91F8B04807}"/>
              </a:ext>
            </a:extLst>
          </p:cNvPr>
          <p:cNvSpPr>
            <a:spLocks noGrp="1"/>
          </p:cNvSpPr>
          <p:nvPr>
            <p:ph type="sldNum" sz="quarter" idx="12"/>
          </p:nvPr>
        </p:nvSpPr>
        <p:spPr>
          <a:xfrm>
            <a:off x="8610600" y="6356350"/>
            <a:ext cx="2743200" cy="365125"/>
          </a:xfrm>
          <a:prstGeom prst="rect">
            <a:avLst/>
          </a:prstGeom>
        </p:spPr>
        <p:txBody>
          <a:bodyPr/>
          <a:lstStyle/>
          <a:p>
            <a:fld id="{EA9177E2-CF53-5C4E-B885-B480379504FD}" type="slidenum">
              <a:rPr lang="en-US" smtClean="0"/>
              <a:t>‹#›</a:t>
            </a:fld>
            <a:endParaRPr lang="en-US"/>
          </a:p>
        </p:txBody>
      </p:sp>
    </p:spTree>
    <p:extLst>
      <p:ext uri="{BB962C8B-B14F-4D97-AF65-F5344CB8AC3E}">
        <p14:creationId xmlns:p14="http://schemas.microsoft.com/office/powerpoint/2010/main" val="1108024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391FD-C831-3C4C-ACB4-B5BC7B2327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2050DA-4E79-534F-95E2-6AC07C6F8D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64AC1C-9572-5D47-B886-34E198B6C04A}"/>
              </a:ext>
            </a:extLst>
          </p:cNvPr>
          <p:cNvSpPr>
            <a:spLocks noGrp="1"/>
          </p:cNvSpPr>
          <p:nvPr>
            <p:ph type="dt" sz="half" idx="10"/>
          </p:nvPr>
        </p:nvSpPr>
        <p:spPr>
          <a:xfrm>
            <a:off x="838200" y="6356350"/>
            <a:ext cx="2743200" cy="365125"/>
          </a:xfrm>
          <a:prstGeom prst="rect">
            <a:avLst/>
          </a:prstGeom>
        </p:spPr>
        <p:txBody>
          <a:bodyPr/>
          <a:lstStyle/>
          <a:p>
            <a:fld id="{D50748D5-2F95-F446-A6AA-87110C98D733}" type="datetimeFigureOut">
              <a:rPr lang="en-US" smtClean="0"/>
              <a:t>9/11/20</a:t>
            </a:fld>
            <a:endParaRPr lang="en-US"/>
          </a:p>
        </p:txBody>
      </p:sp>
      <p:sp>
        <p:nvSpPr>
          <p:cNvPr id="5" name="Footer Placeholder 4">
            <a:extLst>
              <a:ext uri="{FF2B5EF4-FFF2-40B4-BE49-F238E27FC236}">
                <a16:creationId xmlns:a16="http://schemas.microsoft.com/office/drawing/2014/main" id="{3C89C098-A719-4640-A3C7-1582F262CA2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7454274-C6BD-DC4C-A2B1-D3C33BCD4403}"/>
              </a:ext>
            </a:extLst>
          </p:cNvPr>
          <p:cNvSpPr>
            <a:spLocks noGrp="1"/>
          </p:cNvSpPr>
          <p:nvPr>
            <p:ph type="sldNum" sz="quarter" idx="12"/>
          </p:nvPr>
        </p:nvSpPr>
        <p:spPr>
          <a:xfrm>
            <a:off x="8610600" y="6356350"/>
            <a:ext cx="2743200" cy="365125"/>
          </a:xfrm>
          <a:prstGeom prst="rect">
            <a:avLst/>
          </a:prstGeom>
        </p:spPr>
        <p:txBody>
          <a:bodyPr/>
          <a:lstStyle/>
          <a:p>
            <a:fld id="{EA9177E2-CF53-5C4E-B885-B480379504FD}" type="slidenum">
              <a:rPr lang="en-US" smtClean="0"/>
              <a:t>‹#›</a:t>
            </a:fld>
            <a:endParaRPr lang="en-US"/>
          </a:p>
        </p:txBody>
      </p:sp>
    </p:spTree>
    <p:extLst>
      <p:ext uri="{BB962C8B-B14F-4D97-AF65-F5344CB8AC3E}">
        <p14:creationId xmlns:p14="http://schemas.microsoft.com/office/powerpoint/2010/main" val="4024983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0AFD8-59E3-3B41-A221-5E1C5EACE4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DFC150-D8C0-B94D-AB80-425659854D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6AB42D-970A-0847-B267-DBCF28B9F9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25C0AE-BE41-084F-B319-CCE2A6B464F9}"/>
              </a:ext>
            </a:extLst>
          </p:cNvPr>
          <p:cNvSpPr>
            <a:spLocks noGrp="1"/>
          </p:cNvSpPr>
          <p:nvPr>
            <p:ph type="dt" sz="half" idx="10"/>
          </p:nvPr>
        </p:nvSpPr>
        <p:spPr>
          <a:xfrm>
            <a:off x="838200" y="6356350"/>
            <a:ext cx="2743200" cy="365125"/>
          </a:xfrm>
          <a:prstGeom prst="rect">
            <a:avLst/>
          </a:prstGeom>
        </p:spPr>
        <p:txBody>
          <a:bodyPr/>
          <a:lstStyle/>
          <a:p>
            <a:fld id="{D50748D5-2F95-F446-A6AA-87110C98D733}" type="datetimeFigureOut">
              <a:rPr lang="en-US" smtClean="0"/>
              <a:t>9/11/20</a:t>
            </a:fld>
            <a:endParaRPr lang="en-US"/>
          </a:p>
        </p:txBody>
      </p:sp>
      <p:sp>
        <p:nvSpPr>
          <p:cNvPr id="6" name="Footer Placeholder 5">
            <a:extLst>
              <a:ext uri="{FF2B5EF4-FFF2-40B4-BE49-F238E27FC236}">
                <a16:creationId xmlns:a16="http://schemas.microsoft.com/office/drawing/2014/main" id="{FE7F35F7-0875-EA4C-9054-F019DE6F41D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18C3F45-BA63-D442-AFC0-F466CA27F510}"/>
              </a:ext>
            </a:extLst>
          </p:cNvPr>
          <p:cNvSpPr>
            <a:spLocks noGrp="1"/>
          </p:cNvSpPr>
          <p:nvPr>
            <p:ph type="sldNum" sz="quarter" idx="12"/>
          </p:nvPr>
        </p:nvSpPr>
        <p:spPr>
          <a:xfrm>
            <a:off x="8610600" y="6356350"/>
            <a:ext cx="2743200" cy="365125"/>
          </a:xfrm>
          <a:prstGeom prst="rect">
            <a:avLst/>
          </a:prstGeom>
        </p:spPr>
        <p:txBody>
          <a:bodyPr/>
          <a:lstStyle/>
          <a:p>
            <a:fld id="{EA9177E2-CF53-5C4E-B885-B480379504FD}" type="slidenum">
              <a:rPr lang="en-US" smtClean="0"/>
              <a:t>‹#›</a:t>
            </a:fld>
            <a:endParaRPr lang="en-US"/>
          </a:p>
        </p:txBody>
      </p:sp>
    </p:spTree>
    <p:extLst>
      <p:ext uri="{BB962C8B-B14F-4D97-AF65-F5344CB8AC3E}">
        <p14:creationId xmlns:p14="http://schemas.microsoft.com/office/powerpoint/2010/main" val="4217464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7AE75-6E7B-CB4D-8B3E-D0631E4974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BEBE8C-B8F3-344E-95E5-75E4597D95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B6B537-515E-2444-AA05-24D819AEC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16A517-4A1B-7B47-87A2-071B39D2D8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92C39E-F6A0-F342-8B64-C46B27F448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2FD9B8-8A48-DA4B-AC56-173AD136402F}"/>
              </a:ext>
            </a:extLst>
          </p:cNvPr>
          <p:cNvSpPr>
            <a:spLocks noGrp="1"/>
          </p:cNvSpPr>
          <p:nvPr>
            <p:ph type="dt" sz="half" idx="10"/>
          </p:nvPr>
        </p:nvSpPr>
        <p:spPr>
          <a:xfrm>
            <a:off x="838200" y="6356350"/>
            <a:ext cx="2743200" cy="365125"/>
          </a:xfrm>
          <a:prstGeom prst="rect">
            <a:avLst/>
          </a:prstGeom>
        </p:spPr>
        <p:txBody>
          <a:bodyPr/>
          <a:lstStyle/>
          <a:p>
            <a:fld id="{D50748D5-2F95-F446-A6AA-87110C98D733}" type="datetimeFigureOut">
              <a:rPr lang="en-US" smtClean="0"/>
              <a:t>9/11/20</a:t>
            </a:fld>
            <a:endParaRPr lang="en-US"/>
          </a:p>
        </p:txBody>
      </p:sp>
      <p:sp>
        <p:nvSpPr>
          <p:cNvPr id="8" name="Footer Placeholder 7">
            <a:extLst>
              <a:ext uri="{FF2B5EF4-FFF2-40B4-BE49-F238E27FC236}">
                <a16:creationId xmlns:a16="http://schemas.microsoft.com/office/drawing/2014/main" id="{8737271E-9740-FA4B-893E-707C2F5BA37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0018254-8322-264B-A074-9566C18FA5CC}"/>
              </a:ext>
            </a:extLst>
          </p:cNvPr>
          <p:cNvSpPr>
            <a:spLocks noGrp="1"/>
          </p:cNvSpPr>
          <p:nvPr>
            <p:ph type="sldNum" sz="quarter" idx="12"/>
          </p:nvPr>
        </p:nvSpPr>
        <p:spPr>
          <a:xfrm>
            <a:off x="8610600" y="6356350"/>
            <a:ext cx="2743200" cy="365125"/>
          </a:xfrm>
          <a:prstGeom prst="rect">
            <a:avLst/>
          </a:prstGeom>
        </p:spPr>
        <p:txBody>
          <a:bodyPr/>
          <a:lstStyle/>
          <a:p>
            <a:fld id="{EA9177E2-CF53-5C4E-B885-B480379504FD}" type="slidenum">
              <a:rPr lang="en-US" smtClean="0"/>
              <a:t>‹#›</a:t>
            </a:fld>
            <a:endParaRPr lang="en-US"/>
          </a:p>
        </p:txBody>
      </p:sp>
    </p:spTree>
    <p:extLst>
      <p:ext uri="{BB962C8B-B14F-4D97-AF65-F5344CB8AC3E}">
        <p14:creationId xmlns:p14="http://schemas.microsoft.com/office/powerpoint/2010/main" val="4177440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733B7-EACA-4B4A-9E6A-E764D1A4F5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540CC6-817F-FA47-A33C-2FE25C5A6CD0}"/>
              </a:ext>
            </a:extLst>
          </p:cNvPr>
          <p:cNvSpPr>
            <a:spLocks noGrp="1"/>
          </p:cNvSpPr>
          <p:nvPr>
            <p:ph type="dt" sz="half" idx="10"/>
          </p:nvPr>
        </p:nvSpPr>
        <p:spPr>
          <a:xfrm>
            <a:off x="838200" y="6356350"/>
            <a:ext cx="2743200" cy="365125"/>
          </a:xfrm>
          <a:prstGeom prst="rect">
            <a:avLst/>
          </a:prstGeom>
        </p:spPr>
        <p:txBody>
          <a:bodyPr/>
          <a:lstStyle/>
          <a:p>
            <a:fld id="{D50748D5-2F95-F446-A6AA-87110C98D733}" type="datetimeFigureOut">
              <a:rPr lang="en-US" smtClean="0"/>
              <a:t>9/11/20</a:t>
            </a:fld>
            <a:endParaRPr lang="en-US"/>
          </a:p>
        </p:txBody>
      </p:sp>
      <p:sp>
        <p:nvSpPr>
          <p:cNvPr id="4" name="Footer Placeholder 3">
            <a:extLst>
              <a:ext uri="{FF2B5EF4-FFF2-40B4-BE49-F238E27FC236}">
                <a16:creationId xmlns:a16="http://schemas.microsoft.com/office/drawing/2014/main" id="{DAEBDD73-86FC-E04F-88A1-6A8B4CE4DD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9714A32B-3F4F-F24A-9D9C-373A36C08594}"/>
              </a:ext>
            </a:extLst>
          </p:cNvPr>
          <p:cNvSpPr>
            <a:spLocks noGrp="1"/>
          </p:cNvSpPr>
          <p:nvPr>
            <p:ph type="sldNum" sz="quarter" idx="12"/>
          </p:nvPr>
        </p:nvSpPr>
        <p:spPr>
          <a:xfrm>
            <a:off x="8610600" y="6356350"/>
            <a:ext cx="2743200" cy="365125"/>
          </a:xfrm>
          <a:prstGeom prst="rect">
            <a:avLst/>
          </a:prstGeom>
        </p:spPr>
        <p:txBody>
          <a:bodyPr/>
          <a:lstStyle/>
          <a:p>
            <a:fld id="{EA9177E2-CF53-5C4E-B885-B480379504FD}" type="slidenum">
              <a:rPr lang="en-US" smtClean="0"/>
              <a:t>‹#›</a:t>
            </a:fld>
            <a:endParaRPr lang="en-US"/>
          </a:p>
        </p:txBody>
      </p:sp>
    </p:spTree>
    <p:extLst>
      <p:ext uri="{BB962C8B-B14F-4D97-AF65-F5344CB8AC3E}">
        <p14:creationId xmlns:p14="http://schemas.microsoft.com/office/powerpoint/2010/main" val="3922455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90E359-3F09-7547-B02E-F22A6AD69B85}"/>
              </a:ext>
            </a:extLst>
          </p:cNvPr>
          <p:cNvSpPr>
            <a:spLocks noGrp="1"/>
          </p:cNvSpPr>
          <p:nvPr>
            <p:ph type="dt" sz="half" idx="10"/>
          </p:nvPr>
        </p:nvSpPr>
        <p:spPr>
          <a:xfrm>
            <a:off x="838200" y="6356350"/>
            <a:ext cx="2743200" cy="365125"/>
          </a:xfrm>
          <a:prstGeom prst="rect">
            <a:avLst/>
          </a:prstGeom>
        </p:spPr>
        <p:txBody>
          <a:bodyPr/>
          <a:lstStyle/>
          <a:p>
            <a:fld id="{D50748D5-2F95-F446-A6AA-87110C98D733}" type="datetimeFigureOut">
              <a:rPr lang="en-US" smtClean="0"/>
              <a:t>9/11/20</a:t>
            </a:fld>
            <a:endParaRPr lang="en-US"/>
          </a:p>
        </p:txBody>
      </p:sp>
      <p:sp>
        <p:nvSpPr>
          <p:cNvPr id="3" name="Footer Placeholder 2">
            <a:extLst>
              <a:ext uri="{FF2B5EF4-FFF2-40B4-BE49-F238E27FC236}">
                <a16:creationId xmlns:a16="http://schemas.microsoft.com/office/drawing/2014/main" id="{2BE0BF5B-1FC0-1444-B188-A0478901CD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83C4845-47F2-5546-8EE8-947589E925C3}"/>
              </a:ext>
            </a:extLst>
          </p:cNvPr>
          <p:cNvSpPr>
            <a:spLocks noGrp="1"/>
          </p:cNvSpPr>
          <p:nvPr>
            <p:ph type="sldNum" sz="quarter" idx="12"/>
          </p:nvPr>
        </p:nvSpPr>
        <p:spPr>
          <a:xfrm>
            <a:off x="8610600" y="6356350"/>
            <a:ext cx="2743200" cy="365125"/>
          </a:xfrm>
          <a:prstGeom prst="rect">
            <a:avLst/>
          </a:prstGeom>
        </p:spPr>
        <p:txBody>
          <a:bodyPr/>
          <a:lstStyle/>
          <a:p>
            <a:fld id="{EA9177E2-CF53-5C4E-B885-B480379504FD}" type="slidenum">
              <a:rPr lang="en-US" smtClean="0"/>
              <a:t>‹#›</a:t>
            </a:fld>
            <a:endParaRPr lang="en-US"/>
          </a:p>
        </p:txBody>
      </p:sp>
    </p:spTree>
    <p:extLst>
      <p:ext uri="{BB962C8B-B14F-4D97-AF65-F5344CB8AC3E}">
        <p14:creationId xmlns:p14="http://schemas.microsoft.com/office/powerpoint/2010/main" val="3904971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DF2EF-5117-7841-9699-B2D10FA2C5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65DA4B-73F9-CE4F-9AA5-677CA10028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0ABB52-F15C-4E41-926C-CD6CCB1C13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4F0C92-298C-9447-83AA-4C016343B080}"/>
              </a:ext>
            </a:extLst>
          </p:cNvPr>
          <p:cNvSpPr>
            <a:spLocks noGrp="1"/>
          </p:cNvSpPr>
          <p:nvPr>
            <p:ph type="dt" sz="half" idx="10"/>
          </p:nvPr>
        </p:nvSpPr>
        <p:spPr>
          <a:xfrm>
            <a:off x="838200" y="6356350"/>
            <a:ext cx="2743200" cy="365125"/>
          </a:xfrm>
          <a:prstGeom prst="rect">
            <a:avLst/>
          </a:prstGeom>
        </p:spPr>
        <p:txBody>
          <a:bodyPr/>
          <a:lstStyle/>
          <a:p>
            <a:fld id="{D50748D5-2F95-F446-A6AA-87110C98D733}" type="datetimeFigureOut">
              <a:rPr lang="en-US" smtClean="0"/>
              <a:t>9/11/20</a:t>
            </a:fld>
            <a:endParaRPr lang="en-US"/>
          </a:p>
        </p:txBody>
      </p:sp>
      <p:sp>
        <p:nvSpPr>
          <p:cNvPr id="6" name="Footer Placeholder 5">
            <a:extLst>
              <a:ext uri="{FF2B5EF4-FFF2-40B4-BE49-F238E27FC236}">
                <a16:creationId xmlns:a16="http://schemas.microsoft.com/office/drawing/2014/main" id="{F1A5DB26-2345-1246-90E2-63657FA998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68460F5-6EA6-0A4C-BA5C-62658B62151C}"/>
              </a:ext>
            </a:extLst>
          </p:cNvPr>
          <p:cNvSpPr>
            <a:spLocks noGrp="1"/>
          </p:cNvSpPr>
          <p:nvPr>
            <p:ph type="sldNum" sz="quarter" idx="12"/>
          </p:nvPr>
        </p:nvSpPr>
        <p:spPr>
          <a:xfrm>
            <a:off x="8610600" y="6356350"/>
            <a:ext cx="2743200" cy="365125"/>
          </a:xfrm>
          <a:prstGeom prst="rect">
            <a:avLst/>
          </a:prstGeom>
        </p:spPr>
        <p:txBody>
          <a:bodyPr/>
          <a:lstStyle/>
          <a:p>
            <a:fld id="{EA9177E2-CF53-5C4E-B885-B480379504FD}" type="slidenum">
              <a:rPr lang="en-US" smtClean="0"/>
              <a:t>‹#›</a:t>
            </a:fld>
            <a:endParaRPr lang="en-US"/>
          </a:p>
        </p:txBody>
      </p:sp>
    </p:spTree>
    <p:extLst>
      <p:ext uri="{BB962C8B-B14F-4D97-AF65-F5344CB8AC3E}">
        <p14:creationId xmlns:p14="http://schemas.microsoft.com/office/powerpoint/2010/main" val="1261820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2689A-0EF1-914B-9ECD-1F7A5577CB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C8E89D-D0A0-B049-9E8B-1CCBD792C0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46ADE2-2A4B-AC49-8443-14E1727ADB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C41D88-BA69-5148-9C6F-4F76DD5C85C0}"/>
              </a:ext>
            </a:extLst>
          </p:cNvPr>
          <p:cNvSpPr>
            <a:spLocks noGrp="1"/>
          </p:cNvSpPr>
          <p:nvPr>
            <p:ph type="dt" sz="half" idx="10"/>
          </p:nvPr>
        </p:nvSpPr>
        <p:spPr>
          <a:xfrm>
            <a:off x="838200" y="6356350"/>
            <a:ext cx="2743200" cy="365125"/>
          </a:xfrm>
          <a:prstGeom prst="rect">
            <a:avLst/>
          </a:prstGeom>
        </p:spPr>
        <p:txBody>
          <a:bodyPr/>
          <a:lstStyle/>
          <a:p>
            <a:fld id="{D50748D5-2F95-F446-A6AA-87110C98D733}" type="datetimeFigureOut">
              <a:rPr lang="en-US" smtClean="0"/>
              <a:t>9/11/20</a:t>
            </a:fld>
            <a:endParaRPr lang="en-US"/>
          </a:p>
        </p:txBody>
      </p:sp>
      <p:sp>
        <p:nvSpPr>
          <p:cNvPr id="6" name="Footer Placeholder 5">
            <a:extLst>
              <a:ext uri="{FF2B5EF4-FFF2-40B4-BE49-F238E27FC236}">
                <a16:creationId xmlns:a16="http://schemas.microsoft.com/office/drawing/2014/main" id="{FB750DE5-4BA0-3042-A2B2-A39701FEF7B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09D4C6B-5C05-7944-B336-E67371D61368}"/>
              </a:ext>
            </a:extLst>
          </p:cNvPr>
          <p:cNvSpPr>
            <a:spLocks noGrp="1"/>
          </p:cNvSpPr>
          <p:nvPr>
            <p:ph type="sldNum" sz="quarter" idx="12"/>
          </p:nvPr>
        </p:nvSpPr>
        <p:spPr>
          <a:xfrm>
            <a:off x="8610600" y="6356350"/>
            <a:ext cx="2743200" cy="365125"/>
          </a:xfrm>
          <a:prstGeom prst="rect">
            <a:avLst/>
          </a:prstGeom>
        </p:spPr>
        <p:txBody>
          <a:bodyPr/>
          <a:lstStyle/>
          <a:p>
            <a:fld id="{EA9177E2-CF53-5C4E-B885-B480379504FD}" type="slidenum">
              <a:rPr lang="en-US" smtClean="0"/>
              <a:t>‹#›</a:t>
            </a:fld>
            <a:endParaRPr lang="en-US"/>
          </a:p>
        </p:txBody>
      </p:sp>
    </p:spTree>
    <p:extLst>
      <p:ext uri="{BB962C8B-B14F-4D97-AF65-F5344CB8AC3E}">
        <p14:creationId xmlns:p14="http://schemas.microsoft.com/office/powerpoint/2010/main" val="2636128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E39E1-43A0-0D4E-9D59-FC591974CE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08D3D9F-44FE-DB4D-9CB7-C38B5D5C17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5AE598-A27F-3246-850B-412A44C25C26}"/>
              </a:ext>
            </a:extLst>
          </p:cNvPr>
          <p:cNvSpPr>
            <a:spLocks noGrp="1"/>
          </p:cNvSpPr>
          <p:nvPr>
            <p:ph type="dt" sz="half" idx="10"/>
          </p:nvPr>
        </p:nvSpPr>
        <p:spPr>
          <a:xfrm>
            <a:off x="838200" y="6356350"/>
            <a:ext cx="2743200" cy="365125"/>
          </a:xfrm>
          <a:prstGeom prst="rect">
            <a:avLst/>
          </a:prstGeom>
        </p:spPr>
        <p:txBody>
          <a:bodyPr/>
          <a:lstStyle/>
          <a:p>
            <a:fld id="{D50748D5-2F95-F446-A6AA-87110C98D733}" type="datetimeFigureOut">
              <a:rPr lang="en-US" smtClean="0"/>
              <a:t>9/11/20</a:t>
            </a:fld>
            <a:endParaRPr lang="en-US"/>
          </a:p>
        </p:txBody>
      </p:sp>
      <p:sp>
        <p:nvSpPr>
          <p:cNvPr id="5" name="Footer Placeholder 4">
            <a:extLst>
              <a:ext uri="{FF2B5EF4-FFF2-40B4-BE49-F238E27FC236}">
                <a16:creationId xmlns:a16="http://schemas.microsoft.com/office/drawing/2014/main" id="{BFA90D57-4524-C046-93D7-D4F43E69D36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8EA4CDD-B101-6A4C-B1F0-B7783AE220B4}"/>
              </a:ext>
            </a:extLst>
          </p:cNvPr>
          <p:cNvSpPr>
            <a:spLocks noGrp="1"/>
          </p:cNvSpPr>
          <p:nvPr>
            <p:ph type="sldNum" sz="quarter" idx="12"/>
          </p:nvPr>
        </p:nvSpPr>
        <p:spPr>
          <a:xfrm>
            <a:off x="8610600" y="6356350"/>
            <a:ext cx="2743200" cy="365125"/>
          </a:xfrm>
          <a:prstGeom prst="rect">
            <a:avLst/>
          </a:prstGeom>
        </p:spPr>
        <p:txBody>
          <a:bodyPr/>
          <a:lstStyle/>
          <a:p>
            <a:fld id="{EA9177E2-CF53-5C4E-B885-B480379504FD}" type="slidenum">
              <a:rPr lang="en-US" smtClean="0"/>
              <a:t>‹#›</a:t>
            </a:fld>
            <a:endParaRPr lang="en-US"/>
          </a:p>
        </p:txBody>
      </p:sp>
    </p:spTree>
    <p:extLst>
      <p:ext uri="{BB962C8B-B14F-4D97-AF65-F5344CB8AC3E}">
        <p14:creationId xmlns:p14="http://schemas.microsoft.com/office/powerpoint/2010/main" val="2898787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C810F9-422B-4248-9594-AE5F2D4221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2F1CA8-ECA9-BA4C-B064-B66D7C7581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5BF250-44B4-884C-AC93-78332D98A549}"/>
              </a:ext>
            </a:extLst>
          </p:cNvPr>
          <p:cNvSpPr>
            <a:spLocks noGrp="1"/>
          </p:cNvSpPr>
          <p:nvPr>
            <p:ph type="dt" sz="half" idx="10"/>
          </p:nvPr>
        </p:nvSpPr>
        <p:spPr>
          <a:xfrm>
            <a:off x="838200" y="6356350"/>
            <a:ext cx="2743200" cy="365125"/>
          </a:xfrm>
          <a:prstGeom prst="rect">
            <a:avLst/>
          </a:prstGeom>
        </p:spPr>
        <p:txBody>
          <a:bodyPr/>
          <a:lstStyle/>
          <a:p>
            <a:fld id="{D50748D5-2F95-F446-A6AA-87110C98D733}" type="datetimeFigureOut">
              <a:rPr lang="en-US" smtClean="0"/>
              <a:t>9/11/20</a:t>
            </a:fld>
            <a:endParaRPr lang="en-US"/>
          </a:p>
        </p:txBody>
      </p:sp>
      <p:sp>
        <p:nvSpPr>
          <p:cNvPr id="5" name="Footer Placeholder 4">
            <a:extLst>
              <a:ext uri="{FF2B5EF4-FFF2-40B4-BE49-F238E27FC236}">
                <a16:creationId xmlns:a16="http://schemas.microsoft.com/office/drawing/2014/main" id="{ABF56EDE-DE45-A547-AB2E-CBAEDB83CF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FB1C425-0ECF-7445-8F77-23B62025F9FE}"/>
              </a:ext>
            </a:extLst>
          </p:cNvPr>
          <p:cNvSpPr>
            <a:spLocks noGrp="1"/>
          </p:cNvSpPr>
          <p:nvPr>
            <p:ph type="sldNum" sz="quarter" idx="12"/>
          </p:nvPr>
        </p:nvSpPr>
        <p:spPr>
          <a:xfrm>
            <a:off x="8610600" y="6356350"/>
            <a:ext cx="2743200" cy="365125"/>
          </a:xfrm>
          <a:prstGeom prst="rect">
            <a:avLst/>
          </a:prstGeom>
        </p:spPr>
        <p:txBody>
          <a:bodyPr/>
          <a:lstStyle/>
          <a:p>
            <a:fld id="{EA9177E2-CF53-5C4E-B885-B480379504FD}" type="slidenum">
              <a:rPr lang="en-US" smtClean="0"/>
              <a:t>‹#›</a:t>
            </a:fld>
            <a:endParaRPr lang="en-US"/>
          </a:p>
        </p:txBody>
      </p:sp>
    </p:spTree>
    <p:extLst>
      <p:ext uri="{BB962C8B-B14F-4D97-AF65-F5344CB8AC3E}">
        <p14:creationId xmlns:p14="http://schemas.microsoft.com/office/powerpoint/2010/main" val="960456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F10920-189F-284E-B780-8E1AA105DFE5}"/>
              </a:ext>
            </a:extLst>
          </p:cNvPr>
          <p:cNvSpPr>
            <a:spLocks noGrp="1"/>
          </p:cNvSpPr>
          <p:nvPr>
            <p:ph type="title"/>
          </p:nvPr>
        </p:nvSpPr>
        <p:spPr>
          <a:xfrm>
            <a:off x="838200" y="1"/>
            <a:ext cx="10515600" cy="10195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8E6AB8-9E58-0F47-AE8A-0CAE3D31C403}"/>
              </a:ext>
            </a:extLst>
          </p:cNvPr>
          <p:cNvSpPr>
            <a:spLocks noGrp="1"/>
          </p:cNvSpPr>
          <p:nvPr>
            <p:ph type="body" idx="1"/>
          </p:nvPr>
        </p:nvSpPr>
        <p:spPr>
          <a:xfrm>
            <a:off x="838200" y="1103585"/>
            <a:ext cx="10515600" cy="54023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644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p:titleStyle>
    <p:bodyStyle>
      <a:lvl1pPr marL="228600" indent="-228600" algn="l" defTabSz="914400" rtl="0" eaLnBrk="1" latinLnBrk="0" hangingPunct="1">
        <a:lnSpc>
          <a:spcPct val="90000"/>
        </a:lnSpc>
        <a:spcBef>
          <a:spcPts val="1000"/>
        </a:spcBef>
        <a:buFont typeface="System Font Regular"/>
        <a:buChar char="-"/>
        <a:defRPr sz="2800" kern="1200">
          <a:solidFill>
            <a:schemeClr val="tx1"/>
          </a:solidFill>
          <a:latin typeface="Quadraat" panose="02000503060000090004" pitchFamily="2" charset="0"/>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Quadraat" panose="02000503060000090004" pitchFamily="2" charset="0"/>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Quadraat" panose="02000503060000090004" pitchFamily="2" charset="0"/>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Quadraat" panose="02000503060000090004" pitchFamily="2" charset="0"/>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Quadraat" panose="0200050306000009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tif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1.tif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4.tif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customXml" Target="../ink/ink2.xml"/><Relationship Id="rId4" Type="http://schemas.openxmlformats.org/officeDocument/2006/relationships/image" Target="../media/image50.png"/></Relationships>
</file>

<file path=ppt/slides/_rels/slide69.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hart" Target="../charts/chart2.xml"/><Relationship Id="rId5" Type="http://schemas.openxmlformats.org/officeDocument/2006/relationships/customXml" Target="../ink/ink4.xml"/><Relationship Id="rId4" Type="http://schemas.openxmlformats.org/officeDocument/2006/relationships/image" Target="../media/image5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00.png"/></Relationships>
</file>

<file path=ppt/slides/_rels/slide1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20.png"/><Relationship Id="rId4" Type="http://schemas.openxmlformats.org/officeDocument/2006/relationships/image" Target="../media/image410.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AE1E6"/>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4C38B5-5EA9-FC49-970B-5278500F005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311397" y="0"/>
            <a:ext cx="7569206" cy="6103930"/>
          </a:xfrm>
          <a:prstGeom prst="rect">
            <a:avLst/>
          </a:prstGeom>
        </p:spPr>
      </p:pic>
      <p:sp>
        <p:nvSpPr>
          <p:cNvPr id="2" name="Title 1">
            <a:extLst>
              <a:ext uri="{FF2B5EF4-FFF2-40B4-BE49-F238E27FC236}">
                <a16:creationId xmlns:a16="http://schemas.microsoft.com/office/drawing/2014/main" id="{99F04DF8-EE75-8446-B2AC-3EE6057AA4E7}"/>
              </a:ext>
            </a:extLst>
          </p:cNvPr>
          <p:cNvSpPr>
            <a:spLocks noGrp="1"/>
          </p:cNvSpPr>
          <p:nvPr>
            <p:ph type="ctrTitle"/>
          </p:nvPr>
        </p:nvSpPr>
        <p:spPr>
          <a:xfrm>
            <a:off x="1524000" y="3971925"/>
            <a:ext cx="9144000" cy="1703380"/>
          </a:xfrm>
        </p:spPr>
        <p:txBody>
          <a:bodyPr/>
          <a:lstStyle/>
          <a:p>
            <a:r>
              <a:rPr lang="en-US" dirty="0">
                <a:effectLst>
                  <a:glow rad="368300">
                    <a:schemeClr val="bg1">
                      <a:alpha val="15000"/>
                    </a:schemeClr>
                  </a:glow>
                </a:effectLst>
              </a:rPr>
              <a:t>Acute liver injury</a:t>
            </a:r>
          </a:p>
        </p:txBody>
      </p:sp>
      <p:sp>
        <p:nvSpPr>
          <p:cNvPr id="3" name="Subtitle 2">
            <a:extLst>
              <a:ext uri="{FF2B5EF4-FFF2-40B4-BE49-F238E27FC236}">
                <a16:creationId xmlns:a16="http://schemas.microsoft.com/office/drawing/2014/main" id="{360FE861-7CF7-7643-BF4C-6463FAAE28E2}"/>
              </a:ext>
            </a:extLst>
          </p:cNvPr>
          <p:cNvSpPr>
            <a:spLocks noGrp="1"/>
          </p:cNvSpPr>
          <p:nvPr>
            <p:ph type="subTitle" idx="1"/>
          </p:nvPr>
        </p:nvSpPr>
        <p:spPr>
          <a:xfrm>
            <a:off x="1524000" y="5767380"/>
            <a:ext cx="9144000" cy="1090620"/>
          </a:xfrm>
        </p:spPr>
        <p:txBody>
          <a:bodyPr/>
          <a:lstStyle/>
          <a:p>
            <a:r>
              <a:rPr lang="en-US" b="1" dirty="0">
                <a:solidFill>
                  <a:schemeClr val="tx1">
                    <a:lumMod val="50000"/>
                    <a:lumOff val="50000"/>
                  </a:schemeClr>
                </a:solidFill>
                <a:effectLst>
                  <a:glow rad="368300">
                    <a:schemeClr val="bg1">
                      <a:alpha val="15000"/>
                    </a:schemeClr>
                  </a:glow>
                </a:effectLst>
              </a:rPr>
              <a:t>Mohammad Almeqdadi, MD</a:t>
            </a:r>
          </a:p>
          <a:p>
            <a:r>
              <a:rPr lang="en-US" b="1" dirty="0">
                <a:solidFill>
                  <a:schemeClr val="tx1">
                    <a:lumMod val="50000"/>
                    <a:lumOff val="50000"/>
                  </a:schemeClr>
                </a:solidFill>
                <a:effectLst>
                  <a:glow rad="368300">
                    <a:schemeClr val="bg1">
                      <a:alpha val="15000"/>
                    </a:schemeClr>
                  </a:glow>
                </a:effectLst>
              </a:rPr>
              <a:t>GI Fellow</a:t>
            </a:r>
          </a:p>
        </p:txBody>
      </p:sp>
    </p:spTree>
    <p:extLst>
      <p:ext uri="{BB962C8B-B14F-4D97-AF65-F5344CB8AC3E}">
        <p14:creationId xmlns:p14="http://schemas.microsoft.com/office/powerpoint/2010/main" val="660562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4F519-6D1D-014E-8E43-030CD5513753}"/>
              </a:ext>
            </a:extLst>
          </p:cNvPr>
          <p:cNvSpPr>
            <a:spLocks noGrp="1"/>
          </p:cNvSpPr>
          <p:nvPr>
            <p:ph type="title"/>
          </p:nvPr>
        </p:nvSpPr>
        <p:spPr/>
        <p:txBody>
          <a:bodyPr/>
          <a:lstStyle/>
          <a:p>
            <a:r>
              <a:rPr lang="en-US" dirty="0"/>
              <a:t>Case</a:t>
            </a:r>
          </a:p>
        </p:txBody>
      </p:sp>
      <p:sp>
        <p:nvSpPr>
          <p:cNvPr id="3" name="Content Placeholder 2">
            <a:extLst>
              <a:ext uri="{FF2B5EF4-FFF2-40B4-BE49-F238E27FC236}">
                <a16:creationId xmlns:a16="http://schemas.microsoft.com/office/drawing/2014/main" id="{C98A09CB-D380-1842-AD05-F6BECB5E15D6}"/>
              </a:ext>
            </a:extLst>
          </p:cNvPr>
          <p:cNvSpPr>
            <a:spLocks noGrp="1"/>
          </p:cNvSpPr>
          <p:nvPr>
            <p:ph idx="1"/>
          </p:nvPr>
        </p:nvSpPr>
        <p:spPr/>
        <p:txBody>
          <a:bodyPr/>
          <a:lstStyle/>
          <a:p>
            <a:pPr marL="0" indent="0" algn="ctr">
              <a:buNone/>
            </a:pPr>
            <a:r>
              <a:rPr lang="en-US" b="1" dirty="0"/>
              <a:t>History of presenting illness</a:t>
            </a:r>
          </a:p>
          <a:p>
            <a:r>
              <a:rPr lang="en-US" dirty="0"/>
              <a:t>The patient is a 50-year-old gentleman who presented to the hospital with six days of fatigue, malaise, multiple episodes of non-bloody nonbilious vomiting, abdominal distension and diffuse abdominal pain. </a:t>
            </a:r>
          </a:p>
          <a:p>
            <a:r>
              <a:rPr lang="en-US" dirty="0"/>
              <a:t>Three days prior to presentation, he was noted to be jaundiced, and was brought to the hospital by his family members. </a:t>
            </a:r>
          </a:p>
        </p:txBody>
      </p:sp>
    </p:spTree>
    <p:extLst>
      <p:ext uri="{BB962C8B-B14F-4D97-AF65-F5344CB8AC3E}">
        <p14:creationId xmlns:p14="http://schemas.microsoft.com/office/powerpoint/2010/main" val="4224421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4F519-6D1D-014E-8E43-030CD5513753}"/>
              </a:ext>
            </a:extLst>
          </p:cNvPr>
          <p:cNvSpPr>
            <a:spLocks noGrp="1"/>
          </p:cNvSpPr>
          <p:nvPr>
            <p:ph type="title"/>
          </p:nvPr>
        </p:nvSpPr>
        <p:spPr/>
        <p:txBody>
          <a:bodyPr/>
          <a:lstStyle/>
          <a:p>
            <a:r>
              <a:rPr lang="en-US" dirty="0"/>
              <a:t>Case</a:t>
            </a:r>
          </a:p>
        </p:txBody>
      </p:sp>
      <p:sp>
        <p:nvSpPr>
          <p:cNvPr id="3" name="Content Placeholder 2">
            <a:extLst>
              <a:ext uri="{FF2B5EF4-FFF2-40B4-BE49-F238E27FC236}">
                <a16:creationId xmlns:a16="http://schemas.microsoft.com/office/drawing/2014/main" id="{C98A09CB-D380-1842-AD05-F6BECB5E15D6}"/>
              </a:ext>
            </a:extLst>
          </p:cNvPr>
          <p:cNvSpPr>
            <a:spLocks noGrp="1"/>
          </p:cNvSpPr>
          <p:nvPr>
            <p:ph idx="1"/>
          </p:nvPr>
        </p:nvSpPr>
        <p:spPr/>
        <p:txBody>
          <a:bodyPr/>
          <a:lstStyle/>
          <a:p>
            <a:pPr marL="0" indent="0" algn="ctr">
              <a:buNone/>
            </a:pPr>
            <a:r>
              <a:rPr lang="en-US" b="1" dirty="0"/>
              <a:t>History of presenting illness</a:t>
            </a:r>
          </a:p>
          <a:p>
            <a:r>
              <a:rPr lang="en-US" dirty="0"/>
              <a:t>He had hyperlipidemia, and 7 months before admission he had taken an unknown cholesterol-lowering medication for a period of 2 months. </a:t>
            </a:r>
          </a:p>
          <a:p>
            <a:r>
              <a:rPr lang="en-US" dirty="0"/>
              <a:t>He currently takes no medications, herbal supplements, or Ayurvedic therapies. </a:t>
            </a:r>
          </a:p>
          <a:p>
            <a:r>
              <a:rPr lang="en-US" b="1" dirty="0"/>
              <a:t>What else do you want to ask?</a:t>
            </a:r>
          </a:p>
        </p:txBody>
      </p:sp>
    </p:spTree>
    <p:extLst>
      <p:ext uri="{BB962C8B-B14F-4D97-AF65-F5344CB8AC3E}">
        <p14:creationId xmlns:p14="http://schemas.microsoft.com/office/powerpoint/2010/main" val="857056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4F519-6D1D-014E-8E43-030CD5513753}"/>
              </a:ext>
            </a:extLst>
          </p:cNvPr>
          <p:cNvSpPr>
            <a:spLocks noGrp="1"/>
          </p:cNvSpPr>
          <p:nvPr>
            <p:ph type="title"/>
          </p:nvPr>
        </p:nvSpPr>
        <p:spPr/>
        <p:txBody>
          <a:bodyPr/>
          <a:lstStyle/>
          <a:p>
            <a:r>
              <a:rPr lang="en-US" dirty="0"/>
              <a:t>Case</a:t>
            </a:r>
          </a:p>
        </p:txBody>
      </p:sp>
      <p:sp>
        <p:nvSpPr>
          <p:cNvPr id="3" name="Content Placeholder 2">
            <a:extLst>
              <a:ext uri="{FF2B5EF4-FFF2-40B4-BE49-F238E27FC236}">
                <a16:creationId xmlns:a16="http://schemas.microsoft.com/office/drawing/2014/main" id="{C98A09CB-D380-1842-AD05-F6BECB5E15D6}"/>
              </a:ext>
            </a:extLst>
          </p:cNvPr>
          <p:cNvSpPr>
            <a:spLocks noGrp="1"/>
          </p:cNvSpPr>
          <p:nvPr>
            <p:ph idx="1"/>
          </p:nvPr>
        </p:nvSpPr>
        <p:spPr/>
        <p:txBody>
          <a:bodyPr/>
          <a:lstStyle/>
          <a:p>
            <a:pPr marL="0" indent="0" algn="ctr">
              <a:buNone/>
            </a:pPr>
            <a:r>
              <a:rPr lang="en-US" b="1" dirty="0"/>
              <a:t>History of presenting illness</a:t>
            </a:r>
          </a:p>
          <a:p>
            <a:r>
              <a:rPr lang="en-US" dirty="0"/>
              <a:t>He had hyperlipidemia, and 7 months before admission he had taken an unknown cholesterol-lowering medication for a period of 2 months. </a:t>
            </a:r>
          </a:p>
          <a:p>
            <a:r>
              <a:rPr lang="en-US" dirty="0"/>
              <a:t>He currently takes no medications, herbal supplements, or Ayurvedic therapies. </a:t>
            </a:r>
          </a:p>
          <a:p>
            <a:r>
              <a:rPr lang="en-US" dirty="0"/>
              <a:t>He last drank alcohol 6 months before admission, but he previously drank in a binge pattern, consuming 8 to 10 alcoholic drinks at a time, several days per month. </a:t>
            </a:r>
          </a:p>
          <a:p>
            <a:endParaRPr lang="en-US" dirty="0"/>
          </a:p>
        </p:txBody>
      </p:sp>
    </p:spTree>
    <p:extLst>
      <p:ext uri="{BB962C8B-B14F-4D97-AF65-F5344CB8AC3E}">
        <p14:creationId xmlns:p14="http://schemas.microsoft.com/office/powerpoint/2010/main" val="1198150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4F519-6D1D-014E-8E43-030CD5513753}"/>
              </a:ext>
            </a:extLst>
          </p:cNvPr>
          <p:cNvSpPr>
            <a:spLocks noGrp="1"/>
          </p:cNvSpPr>
          <p:nvPr>
            <p:ph type="title"/>
          </p:nvPr>
        </p:nvSpPr>
        <p:spPr/>
        <p:txBody>
          <a:bodyPr/>
          <a:lstStyle/>
          <a:p>
            <a:r>
              <a:rPr lang="en-US" dirty="0"/>
              <a:t>Case</a:t>
            </a:r>
          </a:p>
        </p:txBody>
      </p:sp>
      <p:sp>
        <p:nvSpPr>
          <p:cNvPr id="3" name="Content Placeholder 2">
            <a:extLst>
              <a:ext uri="{FF2B5EF4-FFF2-40B4-BE49-F238E27FC236}">
                <a16:creationId xmlns:a16="http://schemas.microsoft.com/office/drawing/2014/main" id="{C98A09CB-D380-1842-AD05-F6BECB5E15D6}"/>
              </a:ext>
            </a:extLst>
          </p:cNvPr>
          <p:cNvSpPr>
            <a:spLocks noGrp="1"/>
          </p:cNvSpPr>
          <p:nvPr>
            <p:ph idx="1"/>
          </p:nvPr>
        </p:nvSpPr>
        <p:spPr/>
        <p:txBody>
          <a:bodyPr>
            <a:normAutofit/>
          </a:bodyPr>
          <a:lstStyle/>
          <a:p>
            <a:pPr marL="0" indent="0" algn="ctr">
              <a:buNone/>
            </a:pPr>
            <a:r>
              <a:rPr lang="en-US" b="1" dirty="0"/>
              <a:t>History of presenting illness</a:t>
            </a:r>
          </a:p>
          <a:p>
            <a:r>
              <a:rPr lang="en-US" dirty="0"/>
              <a:t>He had hyperlipidemia, and 7 months before admission he had taken an unknown cholesterol-lowering medication for a period of 2 months. </a:t>
            </a:r>
          </a:p>
          <a:p>
            <a:r>
              <a:rPr lang="en-US" dirty="0"/>
              <a:t>He currently takes no medications, herbal supplements, or Ayurvedic therapies. </a:t>
            </a:r>
          </a:p>
          <a:p>
            <a:r>
              <a:rPr lang="en-US" dirty="0"/>
              <a:t>He last drank alcohol 6 months before admission, but he previously drank in a binge pattern, consuming 8 to 10 alcoholic drinks at a time, several days per month. </a:t>
            </a:r>
          </a:p>
          <a:p>
            <a:r>
              <a:rPr lang="en-US" dirty="0"/>
              <a:t>He resided in a rural community in northern India, worked as a horticulturalist, and had cattle on his property. </a:t>
            </a:r>
          </a:p>
        </p:txBody>
      </p:sp>
    </p:spTree>
    <p:extLst>
      <p:ext uri="{BB962C8B-B14F-4D97-AF65-F5344CB8AC3E}">
        <p14:creationId xmlns:p14="http://schemas.microsoft.com/office/powerpoint/2010/main" val="49554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4F519-6D1D-014E-8E43-030CD5513753}"/>
              </a:ext>
            </a:extLst>
          </p:cNvPr>
          <p:cNvSpPr>
            <a:spLocks noGrp="1"/>
          </p:cNvSpPr>
          <p:nvPr>
            <p:ph type="title"/>
          </p:nvPr>
        </p:nvSpPr>
        <p:spPr/>
        <p:txBody>
          <a:bodyPr/>
          <a:lstStyle/>
          <a:p>
            <a:r>
              <a:rPr lang="en-US" dirty="0"/>
              <a:t>Case</a:t>
            </a:r>
          </a:p>
        </p:txBody>
      </p:sp>
      <p:sp>
        <p:nvSpPr>
          <p:cNvPr id="3" name="Content Placeholder 2">
            <a:extLst>
              <a:ext uri="{FF2B5EF4-FFF2-40B4-BE49-F238E27FC236}">
                <a16:creationId xmlns:a16="http://schemas.microsoft.com/office/drawing/2014/main" id="{C98A09CB-D380-1842-AD05-F6BECB5E15D6}"/>
              </a:ext>
            </a:extLst>
          </p:cNvPr>
          <p:cNvSpPr>
            <a:spLocks noGrp="1"/>
          </p:cNvSpPr>
          <p:nvPr>
            <p:ph idx="1"/>
          </p:nvPr>
        </p:nvSpPr>
        <p:spPr/>
        <p:txBody>
          <a:bodyPr>
            <a:normAutofit lnSpcReduction="10000"/>
          </a:bodyPr>
          <a:lstStyle/>
          <a:p>
            <a:pPr marL="0" indent="0" algn="ctr">
              <a:buNone/>
            </a:pPr>
            <a:r>
              <a:rPr lang="en-US" b="1" dirty="0"/>
              <a:t>History of presenting illness</a:t>
            </a:r>
          </a:p>
          <a:p>
            <a:r>
              <a:rPr lang="en-US" dirty="0"/>
              <a:t>He had hyperlipidemia, and 7 months before admission he had taken an unknown cholesterol-lowering medication for a period of 2 months. </a:t>
            </a:r>
          </a:p>
          <a:p>
            <a:r>
              <a:rPr lang="en-US" dirty="0"/>
              <a:t>He currently takes no medications, herbal supplements, or Ayurvedic therapies. </a:t>
            </a:r>
          </a:p>
          <a:p>
            <a:r>
              <a:rPr lang="en-US" dirty="0"/>
              <a:t>He last drank alcohol 6 months before admission, but he previously drank in a binge pattern, consuming 8 to 10 alcoholic drinks at a time, several days per month. </a:t>
            </a:r>
          </a:p>
          <a:p>
            <a:r>
              <a:rPr lang="en-US" dirty="0"/>
              <a:t>He resided in a rural community in northern India, worked as a horticulturalist, and had cattle on his property. </a:t>
            </a:r>
          </a:p>
          <a:p>
            <a:r>
              <a:rPr lang="en-US" dirty="0"/>
              <a:t>His father had reportedly died of an unspecified form of liver disease in his sixth decade of life. </a:t>
            </a:r>
          </a:p>
        </p:txBody>
      </p:sp>
    </p:spTree>
    <p:extLst>
      <p:ext uri="{BB962C8B-B14F-4D97-AF65-F5344CB8AC3E}">
        <p14:creationId xmlns:p14="http://schemas.microsoft.com/office/powerpoint/2010/main" val="4251532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4F519-6D1D-014E-8E43-030CD5513753}"/>
              </a:ext>
            </a:extLst>
          </p:cNvPr>
          <p:cNvSpPr>
            <a:spLocks noGrp="1"/>
          </p:cNvSpPr>
          <p:nvPr>
            <p:ph type="title"/>
          </p:nvPr>
        </p:nvSpPr>
        <p:spPr/>
        <p:txBody>
          <a:bodyPr/>
          <a:lstStyle/>
          <a:p>
            <a:r>
              <a:rPr lang="en-US" dirty="0"/>
              <a:t>Case</a:t>
            </a:r>
          </a:p>
        </p:txBody>
      </p:sp>
      <p:sp>
        <p:nvSpPr>
          <p:cNvPr id="3" name="Content Placeholder 2">
            <a:extLst>
              <a:ext uri="{FF2B5EF4-FFF2-40B4-BE49-F238E27FC236}">
                <a16:creationId xmlns:a16="http://schemas.microsoft.com/office/drawing/2014/main" id="{C98A09CB-D380-1842-AD05-F6BECB5E15D6}"/>
              </a:ext>
            </a:extLst>
          </p:cNvPr>
          <p:cNvSpPr>
            <a:spLocks noGrp="1"/>
          </p:cNvSpPr>
          <p:nvPr>
            <p:ph idx="1"/>
          </p:nvPr>
        </p:nvSpPr>
        <p:spPr>
          <a:xfrm>
            <a:off x="838200" y="1103585"/>
            <a:ext cx="10515600" cy="5754414"/>
          </a:xfrm>
        </p:spPr>
        <p:txBody>
          <a:bodyPr>
            <a:normAutofit fontScale="85000" lnSpcReduction="20000"/>
          </a:bodyPr>
          <a:lstStyle/>
          <a:p>
            <a:pPr marL="0" indent="0" algn="ctr">
              <a:buNone/>
            </a:pPr>
            <a:r>
              <a:rPr lang="en-US" b="1" dirty="0"/>
              <a:t>Physical examination</a:t>
            </a:r>
          </a:p>
          <a:p>
            <a:pPr marL="0" indent="0" algn="ctr">
              <a:buNone/>
            </a:pPr>
            <a:r>
              <a:rPr lang="en-US" dirty="0"/>
              <a:t>T 36.9°C</a:t>
            </a:r>
          </a:p>
          <a:p>
            <a:pPr marL="0" indent="0" algn="ctr">
              <a:buNone/>
            </a:pPr>
            <a:r>
              <a:rPr lang="en-US" dirty="0"/>
              <a:t>BP 138/82</a:t>
            </a:r>
          </a:p>
          <a:p>
            <a:pPr marL="0" indent="0" algn="ctr">
              <a:buNone/>
            </a:pPr>
            <a:r>
              <a:rPr lang="en-US" dirty="0"/>
              <a:t>HR 90</a:t>
            </a:r>
          </a:p>
          <a:p>
            <a:pPr marL="0" indent="0" algn="ctr">
              <a:buNone/>
            </a:pPr>
            <a:r>
              <a:rPr lang="en-US" dirty="0"/>
              <a:t>RR 14,  O2 94% on 4L NC</a:t>
            </a:r>
          </a:p>
          <a:p>
            <a:r>
              <a:rPr lang="en-US" dirty="0"/>
              <a:t>He was alert and oriented and had no dysarthria or asterixis. The skin was jaundiced, and the sclerae were icteric. The skin was without spider angiomas or palmar erythema. </a:t>
            </a:r>
          </a:p>
          <a:p>
            <a:r>
              <a:rPr lang="en-US" dirty="0"/>
              <a:t>The first and second heart sounds were normal and without murmurs, and the jugular venous pulsation was not distended. </a:t>
            </a:r>
          </a:p>
          <a:p>
            <a:r>
              <a:rPr lang="en-US" dirty="0"/>
              <a:t>Bowel sounds were present, and the abdomen was soft and mildly dis- tended, with minimally diffuse tenderness to palpation. </a:t>
            </a:r>
          </a:p>
          <a:p>
            <a:r>
              <a:rPr lang="en-US" dirty="0"/>
              <a:t>The liver edge was palpable and nontender, with no splenomegaly. </a:t>
            </a:r>
          </a:p>
          <a:p>
            <a:r>
              <a:rPr lang="en-US" dirty="0"/>
              <a:t>There was no edema in his arms or legs. </a:t>
            </a:r>
          </a:p>
          <a:p>
            <a:r>
              <a:rPr lang="en-US" dirty="0"/>
              <a:t>Rectal examination revealed brown stool that tested positive for fecal occult blood. </a:t>
            </a:r>
          </a:p>
        </p:txBody>
      </p:sp>
    </p:spTree>
    <p:extLst>
      <p:ext uri="{BB962C8B-B14F-4D97-AF65-F5344CB8AC3E}">
        <p14:creationId xmlns:p14="http://schemas.microsoft.com/office/powerpoint/2010/main" val="4110635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B4D65BA-30FD-6E4D-961E-01439DE74BF8}"/>
              </a:ext>
            </a:extLst>
          </p:cNvPr>
          <p:cNvGrpSpPr/>
          <p:nvPr/>
        </p:nvGrpSpPr>
        <p:grpSpPr>
          <a:xfrm>
            <a:off x="0" y="199302"/>
            <a:ext cx="6096000" cy="6459395"/>
            <a:chOff x="1447043" y="-772160"/>
            <a:chExt cx="6472180" cy="6858000"/>
          </a:xfrm>
        </p:grpSpPr>
        <p:pic>
          <p:nvPicPr>
            <p:cNvPr id="8" name="Picture 7">
              <a:extLst>
                <a:ext uri="{FF2B5EF4-FFF2-40B4-BE49-F238E27FC236}">
                  <a16:creationId xmlns:a16="http://schemas.microsoft.com/office/drawing/2014/main" id="{E74848D0-EB41-C14B-B77B-7D2EF06D62B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447043" y="-772160"/>
              <a:ext cx="1743205" cy="6858000"/>
            </a:xfrm>
            <a:prstGeom prst="rect">
              <a:avLst/>
            </a:prstGeom>
          </p:spPr>
        </p:pic>
        <p:pic>
          <p:nvPicPr>
            <p:cNvPr id="9" name="Picture 8">
              <a:extLst>
                <a:ext uri="{FF2B5EF4-FFF2-40B4-BE49-F238E27FC236}">
                  <a16:creationId xmlns:a16="http://schemas.microsoft.com/office/drawing/2014/main" id="{DC703C9C-4A41-1D48-938B-DD03D68E06F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014040" y="-772160"/>
              <a:ext cx="4905183" cy="6858000"/>
            </a:xfrm>
            <a:prstGeom prst="rect">
              <a:avLst/>
            </a:prstGeom>
          </p:spPr>
        </p:pic>
      </p:grpSp>
      <p:grpSp>
        <p:nvGrpSpPr>
          <p:cNvPr id="20" name="Group 19">
            <a:extLst>
              <a:ext uri="{FF2B5EF4-FFF2-40B4-BE49-F238E27FC236}">
                <a16:creationId xmlns:a16="http://schemas.microsoft.com/office/drawing/2014/main" id="{B47F7D72-7D28-5442-B47D-C59DFE0701F7}"/>
              </a:ext>
            </a:extLst>
          </p:cNvPr>
          <p:cNvGrpSpPr/>
          <p:nvPr/>
        </p:nvGrpSpPr>
        <p:grpSpPr>
          <a:xfrm>
            <a:off x="6096000" y="199302"/>
            <a:ext cx="6096000" cy="5380708"/>
            <a:chOff x="6096000" y="199302"/>
            <a:chExt cx="6096000" cy="5380708"/>
          </a:xfrm>
        </p:grpSpPr>
        <p:grpSp>
          <p:nvGrpSpPr>
            <p:cNvPr id="12" name="Group 11">
              <a:extLst>
                <a:ext uri="{FF2B5EF4-FFF2-40B4-BE49-F238E27FC236}">
                  <a16:creationId xmlns:a16="http://schemas.microsoft.com/office/drawing/2014/main" id="{FC5ED4AF-A831-EB44-BF54-E42D7E7E4329}"/>
                </a:ext>
              </a:extLst>
            </p:cNvPr>
            <p:cNvGrpSpPr/>
            <p:nvPr/>
          </p:nvGrpSpPr>
          <p:grpSpPr>
            <a:xfrm>
              <a:off x="6096000" y="668215"/>
              <a:ext cx="6096000" cy="4911795"/>
              <a:chOff x="1447043" y="-39694"/>
              <a:chExt cx="6472180" cy="5214899"/>
            </a:xfrm>
          </p:grpSpPr>
          <p:pic>
            <p:nvPicPr>
              <p:cNvPr id="10" name="Picture 9">
                <a:extLst>
                  <a:ext uri="{FF2B5EF4-FFF2-40B4-BE49-F238E27FC236}">
                    <a16:creationId xmlns:a16="http://schemas.microsoft.com/office/drawing/2014/main" id="{8A9ADD62-820A-224B-98D4-E94168591AD9}"/>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447043" y="-29043"/>
                <a:ext cx="1909625" cy="5203876"/>
              </a:xfrm>
              <a:prstGeom prst="rect">
                <a:avLst/>
              </a:prstGeom>
            </p:spPr>
          </p:pic>
          <p:pic>
            <p:nvPicPr>
              <p:cNvPr id="11" name="Picture 10">
                <a:extLst>
                  <a:ext uri="{FF2B5EF4-FFF2-40B4-BE49-F238E27FC236}">
                    <a16:creationId xmlns:a16="http://schemas.microsoft.com/office/drawing/2014/main" id="{860C0AC5-0648-584A-A490-34C607FAAD8F}"/>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3174609" y="-39694"/>
                <a:ext cx="4744614" cy="5214899"/>
              </a:xfrm>
              <a:prstGeom prst="rect">
                <a:avLst/>
              </a:prstGeom>
            </p:spPr>
          </p:pic>
        </p:grpSp>
        <p:grpSp>
          <p:nvGrpSpPr>
            <p:cNvPr id="17" name="Group 16">
              <a:extLst>
                <a:ext uri="{FF2B5EF4-FFF2-40B4-BE49-F238E27FC236}">
                  <a16:creationId xmlns:a16="http://schemas.microsoft.com/office/drawing/2014/main" id="{90F8D478-12F2-EF49-8345-DED1C7687C90}"/>
                </a:ext>
              </a:extLst>
            </p:cNvPr>
            <p:cNvGrpSpPr/>
            <p:nvPr/>
          </p:nvGrpSpPr>
          <p:grpSpPr>
            <a:xfrm>
              <a:off x="6096000" y="199302"/>
              <a:ext cx="6096000" cy="492369"/>
              <a:chOff x="1447043" y="-772160"/>
              <a:chExt cx="6472180" cy="522753"/>
            </a:xfrm>
          </p:grpSpPr>
          <p:pic>
            <p:nvPicPr>
              <p:cNvPr id="18" name="Picture 17">
                <a:extLst>
                  <a:ext uri="{FF2B5EF4-FFF2-40B4-BE49-F238E27FC236}">
                    <a16:creationId xmlns:a16="http://schemas.microsoft.com/office/drawing/2014/main" id="{A10E8AB7-40A1-0D45-84AA-90875319CB37}"/>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1447043" y="-772160"/>
                <a:ext cx="1743205" cy="522753"/>
              </a:xfrm>
              <a:prstGeom prst="rect">
                <a:avLst/>
              </a:prstGeom>
            </p:spPr>
          </p:pic>
          <p:pic>
            <p:nvPicPr>
              <p:cNvPr id="19" name="Picture 18">
                <a:extLst>
                  <a:ext uri="{FF2B5EF4-FFF2-40B4-BE49-F238E27FC236}">
                    <a16:creationId xmlns:a16="http://schemas.microsoft.com/office/drawing/2014/main" id="{DD6192C0-4CA5-CA4D-ACA8-EA15D54DC9EF}"/>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3014040" y="-772160"/>
                <a:ext cx="4905183" cy="522753"/>
              </a:xfrm>
              <a:prstGeom prst="rect">
                <a:avLst/>
              </a:prstGeom>
            </p:spPr>
          </p:pic>
        </p:grpSp>
      </p:grpSp>
    </p:spTree>
    <p:extLst>
      <p:ext uri="{BB962C8B-B14F-4D97-AF65-F5344CB8AC3E}">
        <p14:creationId xmlns:p14="http://schemas.microsoft.com/office/powerpoint/2010/main" val="540023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B4D65BA-30FD-6E4D-961E-01439DE74BF8}"/>
              </a:ext>
            </a:extLst>
          </p:cNvPr>
          <p:cNvGrpSpPr/>
          <p:nvPr/>
        </p:nvGrpSpPr>
        <p:grpSpPr>
          <a:xfrm>
            <a:off x="0" y="199302"/>
            <a:ext cx="6096000" cy="6459395"/>
            <a:chOff x="1447043" y="-772160"/>
            <a:chExt cx="6472180" cy="6858000"/>
          </a:xfrm>
        </p:grpSpPr>
        <p:pic>
          <p:nvPicPr>
            <p:cNvPr id="8" name="Picture 7">
              <a:extLst>
                <a:ext uri="{FF2B5EF4-FFF2-40B4-BE49-F238E27FC236}">
                  <a16:creationId xmlns:a16="http://schemas.microsoft.com/office/drawing/2014/main" id="{E74848D0-EB41-C14B-B77B-7D2EF06D62B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447043" y="-772160"/>
              <a:ext cx="1743205" cy="6858000"/>
            </a:xfrm>
            <a:prstGeom prst="rect">
              <a:avLst/>
            </a:prstGeom>
          </p:spPr>
        </p:pic>
        <p:pic>
          <p:nvPicPr>
            <p:cNvPr id="9" name="Picture 8">
              <a:extLst>
                <a:ext uri="{FF2B5EF4-FFF2-40B4-BE49-F238E27FC236}">
                  <a16:creationId xmlns:a16="http://schemas.microsoft.com/office/drawing/2014/main" id="{DC703C9C-4A41-1D48-938B-DD03D68E06F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014040" y="-772160"/>
              <a:ext cx="4905183" cy="6858000"/>
            </a:xfrm>
            <a:prstGeom prst="rect">
              <a:avLst/>
            </a:prstGeom>
          </p:spPr>
        </p:pic>
      </p:grpSp>
      <p:grpSp>
        <p:nvGrpSpPr>
          <p:cNvPr id="20" name="Group 19">
            <a:extLst>
              <a:ext uri="{FF2B5EF4-FFF2-40B4-BE49-F238E27FC236}">
                <a16:creationId xmlns:a16="http://schemas.microsoft.com/office/drawing/2014/main" id="{B47F7D72-7D28-5442-B47D-C59DFE0701F7}"/>
              </a:ext>
            </a:extLst>
          </p:cNvPr>
          <p:cNvGrpSpPr/>
          <p:nvPr/>
        </p:nvGrpSpPr>
        <p:grpSpPr>
          <a:xfrm>
            <a:off x="6096000" y="199302"/>
            <a:ext cx="6096000" cy="5380708"/>
            <a:chOff x="6096000" y="199302"/>
            <a:chExt cx="6096000" cy="5380708"/>
          </a:xfrm>
        </p:grpSpPr>
        <p:grpSp>
          <p:nvGrpSpPr>
            <p:cNvPr id="12" name="Group 11">
              <a:extLst>
                <a:ext uri="{FF2B5EF4-FFF2-40B4-BE49-F238E27FC236}">
                  <a16:creationId xmlns:a16="http://schemas.microsoft.com/office/drawing/2014/main" id="{FC5ED4AF-A831-EB44-BF54-E42D7E7E4329}"/>
                </a:ext>
              </a:extLst>
            </p:cNvPr>
            <p:cNvGrpSpPr/>
            <p:nvPr/>
          </p:nvGrpSpPr>
          <p:grpSpPr>
            <a:xfrm>
              <a:off x="6096000" y="668215"/>
              <a:ext cx="6096000" cy="4911795"/>
              <a:chOff x="1447043" y="-39694"/>
              <a:chExt cx="6472180" cy="5214899"/>
            </a:xfrm>
          </p:grpSpPr>
          <p:pic>
            <p:nvPicPr>
              <p:cNvPr id="10" name="Picture 9">
                <a:extLst>
                  <a:ext uri="{FF2B5EF4-FFF2-40B4-BE49-F238E27FC236}">
                    <a16:creationId xmlns:a16="http://schemas.microsoft.com/office/drawing/2014/main" id="{8A9ADD62-820A-224B-98D4-E94168591AD9}"/>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447043" y="-29043"/>
                <a:ext cx="1909625" cy="5203876"/>
              </a:xfrm>
              <a:prstGeom prst="rect">
                <a:avLst/>
              </a:prstGeom>
            </p:spPr>
          </p:pic>
          <p:pic>
            <p:nvPicPr>
              <p:cNvPr id="11" name="Picture 10">
                <a:extLst>
                  <a:ext uri="{FF2B5EF4-FFF2-40B4-BE49-F238E27FC236}">
                    <a16:creationId xmlns:a16="http://schemas.microsoft.com/office/drawing/2014/main" id="{860C0AC5-0648-584A-A490-34C607FAAD8F}"/>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3174609" y="-39694"/>
                <a:ext cx="4744614" cy="5214899"/>
              </a:xfrm>
              <a:prstGeom prst="rect">
                <a:avLst/>
              </a:prstGeom>
            </p:spPr>
          </p:pic>
        </p:grpSp>
        <p:grpSp>
          <p:nvGrpSpPr>
            <p:cNvPr id="17" name="Group 16">
              <a:extLst>
                <a:ext uri="{FF2B5EF4-FFF2-40B4-BE49-F238E27FC236}">
                  <a16:creationId xmlns:a16="http://schemas.microsoft.com/office/drawing/2014/main" id="{90F8D478-12F2-EF49-8345-DED1C7687C90}"/>
                </a:ext>
              </a:extLst>
            </p:cNvPr>
            <p:cNvGrpSpPr/>
            <p:nvPr/>
          </p:nvGrpSpPr>
          <p:grpSpPr>
            <a:xfrm>
              <a:off x="6096000" y="199302"/>
              <a:ext cx="6096000" cy="492369"/>
              <a:chOff x="1447043" y="-772160"/>
              <a:chExt cx="6472180" cy="522753"/>
            </a:xfrm>
          </p:grpSpPr>
          <p:pic>
            <p:nvPicPr>
              <p:cNvPr id="18" name="Picture 17">
                <a:extLst>
                  <a:ext uri="{FF2B5EF4-FFF2-40B4-BE49-F238E27FC236}">
                    <a16:creationId xmlns:a16="http://schemas.microsoft.com/office/drawing/2014/main" id="{A10E8AB7-40A1-0D45-84AA-90875319CB37}"/>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1447043" y="-772160"/>
                <a:ext cx="1743205" cy="522753"/>
              </a:xfrm>
              <a:prstGeom prst="rect">
                <a:avLst/>
              </a:prstGeom>
            </p:spPr>
          </p:pic>
          <p:pic>
            <p:nvPicPr>
              <p:cNvPr id="19" name="Picture 18">
                <a:extLst>
                  <a:ext uri="{FF2B5EF4-FFF2-40B4-BE49-F238E27FC236}">
                    <a16:creationId xmlns:a16="http://schemas.microsoft.com/office/drawing/2014/main" id="{DD6192C0-4CA5-CA4D-ACA8-EA15D54DC9EF}"/>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3014040" y="-772160"/>
                <a:ext cx="4905183" cy="522753"/>
              </a:xfrm>
              <a:prstGeom prst="rect">
                <a:avLst/>
              </a:prstGeom>
            </p:spPr>
          </p:pic>
        </p:grpSp>
      </p:grpSp>
      <p:sp>
        <p:nvSpPr>
          <p:cNvPr id="2" name="Rectangle 1">
            <a:extLst>
              <a:ext uri="{FF2B5EF4-FFF2-40B4-BE49-F238E27FC236}">
                <a16:creationId xmlns:a16="http://schemas.microsoft.com/office/drawing/2014/main" id="{25DDAF54-F22F-754D-847D-E321B59CB3FA}"/>
              </a:ext>
            </a:extLst>
          </p:cNvPr>
          <p:cNvSpPr/>
          <p:nvPr/>
        </p:nvSpPr>
        <p:spPr>
          <a:xfrm>
            <a:off x="0" y="885825"/>
            <a:ext cx="6096000" cy="18573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05BC9DC-9D80-F74B-8DFE-07E7EE5EB670}"/>
              </a:ext>
            </a:extLst>
          </p:cNvPr>
          <p:cNvSpPr/>
          <p:nvPr/>
        </p:nvSpPr>
        <p:spPr>
          <a:xfrm>
            <a:off x="0" y="1071805"/>
            <a:ext cx="6096000" cy="18573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E672B24-C3B5-8E4B-898F-0AC97B6831FE}"/>
              </a:ext>
            </a:extLst>
          </p:cNvPr>
          <p:cNvSpPr/>
          <p:nvPr/>
        </p:nvSpPr>
        <p:spPr>
          <a:xfrm>
            <a:off x="0" y="4303202"/>
            <a:ext cx="6096000" cy="30754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C9F5602-D328-8A4E-9636-87C1101494D6}"/>
              </a:ext>
            </a:extLst>
          </p:cNvPr>
          <p:cNvSpPr/>
          <p:nvPr/>
        </p:nvSpPr>
        <p:spPr>
          <a:xfrm>
            <a:off x="0" y="5171106"/>
            <a:ext cx="6096000" cy="18573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45C686D-7A48-364E-BF87-7CBC9E145781}"/>
              </a:ext>
            </a:extLst>
          </p:cNvPr>
          <p:cNvSpPr/>
          <p:nvPr/>
        </p:nvSpPr>
        <p:spPr>
          <a:xfrm>
            <a:off x="0" y="5357086"/>
            <a:ext cx="6096000" cy="18573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0B87D8A-AE9F-8449-BD9E-9AD88A6F11EA}"/>
              </a:ext>
            </a:extLst>
          </p:cNvPr>
          <p:cNvSpPr/>
          <p:nvPr/>
        </p:nvSpPr>
        <p:spPr>
          <a:xfrm>
            <a:off x="0" y="2675879"/>
            <a:ext cx="6096000" cy="18573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41D1087-8CD0-7F48-91FE-7B19AAB7F085}"/>
              </a:ext>
            </a:extLst>
          </p:cNvPr>
          <p:cNvSpPr/>
          <p:nvPr/>
        </p:nvSpPr>
        <p:spPr>
          <a:xfrm>
            <a:off x="6100550" y="4173497"/>
            <a:ext cx="6096000" cy="18573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28E41C4-49FF-B94C-9017-DCDC4303948D}"/>
              </a:ext>
            </a:extLst>
          </p:cNvPr>
          <p:cNvSpPr/>
          <p:nvPr/>
        </p:nvSpPr>
        <p:spPr>
          <a:xfrm>
            <a:off x="6100550" y="3996076"/>
            <a:ext cx="6096000" cy="18573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000B3DC-B413-8446-9C7B-5F2C88BAB103}"/>
              </a:ext>
            </a:extLst>
          </p:cNvPr>
          <p:cNvSpPr/>
          <p:nvPr/>
        </p:nvSpPr>
        <p:spPr>
          <a:xfrm>
            <a:off x="6100550" y="2290104"/>
            <a:ext cx="6096000" cy="1281232"/>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5356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ACD9F2-1C00-9944-B578-A15D6E391AD5}"/>
              </a:ext>
            </a:extLst>
          </p:cNvPr>
          <p:cNvSpPr>
            <a:spLocks noGrp="1"/>
          </p:cNvSpPr>
          <p:nvPr>
            <p:ph type="title"/>
          </p:nvPr>
        </p:nvSpPr>
        <p:spPr/>
        <p:txBody>
          <a:bodyPr/>
          <a:lstStyle/>
          <a:p>
            <a:r>
              <a:rPr lang="en-US" dirty="0"/>
              <a:t>What are your differential diagnoses?</a:t>
            </a:r>
          </a:p>
        </p:txBody>
      </p:sp>
      <p:sp>
        <p:nvSpPr>
          <p:cNvPr id="5" name="Text Placeholder 4">
            <a:extLst>
              <a:ext uri="{FF2B5EF4-FFF2-40B4-BE49-F238E27FC236}">
                <a16:creationId xmlns:a16="http://schemas.microsoft.com/office/drawing/2014/main" id="{B47F63E4-D51B-CC43-BAA3-274113CF8FF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90401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ACD9F2-1C00-9944-B578-A15D6E391AD5}"/>
              </a:ext>
            </a:extLst>
          </p:cNvPr>
          <p:cNvSpPr>
            <a:spLocks noGrp="1"/>
          </p:cNvSpPr>
          <p:nvPr>
            <p:ph type="title"/>
          </p:nvPr>
        </p:nvSpPr>
        <p:spPr/>
        <p:txBody>
          <a:bodyPr/>
          <a:lstStyle/>
          <a:p>
            <a:r>
              <a:rPr lang="en-US" dirty="0"/>
              <a:t>What are your differential diagnoses?</a:t>
            </a:r>
          </a:p>
        </p:txBody>
      </p:sp>
      <p:sp>
        <p:nvSpPr>
          <p:cNvPr id="5" name="Text Placeholder 4">
            <a:extLst>
              <a:ext uri="{FF2B5EF4-FFF2-40B4-BE49-F238E27FC236}">
                <a16:creationId xmlns:a16="http://schemas.microsoft.com/office/drawing/2014/main" id="{B47F63E4-D51B-CC43-BAA3-274113CF8FFA}"/>
              </a:ext>
            </a:extLst>
          </p:cNvPr>
          <p:cNvSpPr>
            <a:spLocks noGrp="1"/>
          </p:cNvSpPr>
          <p:nvPr>
            <p:ph type="body" idx="1"/>
          </p:nvPr>
        </p:nvSpPr>
        <p:spPr/>
        <p:txBody>
          <a:bodyPr>
            <a:normAutofit/>
          </a:bodyPr>
          <a:lstStyle/>
          <a:p>
            <a:pPr algn="ctr"/>
            <a:r>
              <a:rPr lang="en-US" sz="3200" b="1" dirty="0">
                <a:solidFill>
                  <a:schemeClr val="tx1">
                    <a:lumMod val="50000"/>
                    <a:lumOff val="50000"/>
                  </a:schemeClr>
                </a:solidFill>
              </a:rPr>
              <a:t>Acute liver injury secondary to </a:t>
            </a:r>
          </a:p>
          <a:p>
            <a:pPr algn="ctr"/>
            <a:r>
              <a:rPr lang="en-US" sz="3200" i="1" dirty="0">
                <a:solidFill>
                  <a:schemeClr val="tx1">
                    <a:lumMod val="50000"/>
                    <a:lumOff val="50000"/>
                  </a:schemeClr>
                </a:solidFill>
                <a:latin typeface="Courier" pitchFamily="2" charset="0"/>
              </a:rPr>
              <a:t>{insert all causes of hepatotoxicity here}</a:t>
            </a:r>
          </a:p>
        </p:txBody>
      </p:sp>
    </p:spTree>
    <p:extLst>
      <p:ext uri="{BB962C8B-B14F-4D97-AF65-F5344CB8AC3E}">
        <p14:creationId xmlns:p14="http://schemas.microsoft.com/office/powerpoint/2010/main" val="2391424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EC5388-C90D-C144-A830-C6CF2ACA7F62}"/>
              </a:ext>
            </a:extLst>
          </p:cNvPr>
          <p:cNvSpPr>
            <a:spLocks noGrp="1"/>
          </p:cNvSpPr>
          <p:nvPr>
            <p:ph type="title"/>
          </p:nvPr>
        </p:nvSpPr>
        <p:spPr/>
        <p:txBody>
          <a:bodyPr/>
          <a:lstStyle/>
          <a:p>
            <a:r>
              <a:rPr lang="en-US" dirty="0"/>
              <a:t>Differential Diagnoses</a:t>
            </a:r>
          </a:p>
        </p:txBody>
      </p:sp>
      <p:pic>
        <p:nvPicPr>
          <p:cNvPr id="15" name="Content Placeholder 14">
            <a:extLst>
              <a:ext uri="{FF2B5EF4-FFF2-40B4-BE49-F238E27FC236}">
                <a16:creationId xmlns:a16="http://schemas.microsoft.com/office/drawing/2014/main" id="{8B0DFCE1-507A-D94C-AF9D-1F7BA7FF7978}"/>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2230069" y="1103314"/>
            <a:ext cx="3637578" cy="5402262"/>
          </a:xfrm>
          <a:prstGeom prst="rect">
            <a:avLst/>
          </a:prstGeom>
        </p:spPr>
      </p:pic>
      <p:pic>
        <p:nvPicPr>
          <p:cNvPr id="16" name="Picture 15">
            <a:extLst>
              <a:ext uri="{FF2B5EF4-FFF2-40B4-BE49-F238E27FC236}">
                <a16:creationId xmlns:a16="http://schemas.microsoft.com/office/drawing/2014/main" id="{F9DA74C9-1D58-1349-B7F2-9BCFA23FB55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96000" y="1103314"/>
            <a:ext cx="4611970" cy="5754686"/>
          </a:xfrm>
          <a:prstGeom prst="rect">
            <a:avLst/>
          </a:prstGeom>
        </p:spPr>
      </p:pic>
    </p:spTree>
    <p:extLst>
      <p:ext uri="{BB962C8B-B14F-4D97-AF65-F5344CB8AC3E}">
        <p14:creationId xmlns:p14="http://schemas.microsoft.com/office/powerpoint/2010/main" val="3003616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02F3D-B224-B344-B865-CA0EA7A8AAE0}"/>
              </a:ext>
            </a:extLst>
          </p:cNvPr>
          <p:cNvSpPr>
            <a:spLocks noGrp="1"/>
          </p:cNvSpPr>
          <p:nvPr>
            <p:ph type="title"/>
          </p:nvPr>
        </p:nvSpPr>
        <p:spPr/>
        <p:txBody>
          <a:bodyPr/>
          <a:lstStyle/>
          <a:p>
            <a:r>
              <a:rPr lang="en-US" dirty="0"/>
              <a:t>Normal Histology of the Liver</a:t>
            </a:r>
          </a:p>
        </p:txBody>
      </p:sp>
      <p:pic>
        <p:nvPicPr>
          <p:cNvPr id="4" name="Picture 3">
            <a:extLst>
              <a:ext uri="{FF2B5EF4-FFF2-40B4-BE49-F238E27FC236}">
                <a16:creationId xmlns:a16="http://schemas.microsoft.com/office/drawing/2014/main" id="{73916635-345B-A948-A99D-85282D86D46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1162" y="1019503"/>
            <a:ext cx="11129675" cy="5272440"/>
          </a:xfrm>
          <a:prstGeom prst="rect">
            <a:avLst/>
          </a:prstGeom>
        </p:spPr>
      </p:pic>
    </p:spTree>
    <p:extLst>
      <p:ext uri="{BB962C8B-B14F-4D97-AF65-F5344CB8AC3E}">
        <p14:creationId xmlns:p14="http://schemas.microsoft.com/office/powerpoint/2010/main" val="3985564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02F3D-B224-B344-B865-CA0EA7A8AAE0}"/>
              </a:ext>
            </a:extLst>
          </p:cNvPr>
          <p:cNvSpPr>
            <a:spLocks noGrp="1"/>
          </p:cNvSpPr>
          <p:nvPr>
            <p:ph type="title"/>
          </p:nvPr>
        </p:nvSpPr>
        <p:spPr/>
        <p:txBody>
          <a:bodyPr/>
          <a:lstStyle/>
          <a:p>
            <a:r>
              <a:rPr lang="en-US" dirty="0"/>
              <a:t>Drainage of the Liver</a:t>
            </a:r>
          </a:p>
        </p:txBody>
      </p:sp>
      <p:pic>
        <p:nvPicPr>
          <p:cNvPr id="5" name="Picture 1">
            <a:extLst>
              <a:ext uri="{FF2B5EF4-FFF2-40B4-BE49-F238E27FC236}">
                <a16:creationId xmlns:a16="http://schemas.microsoft.com/office/drawing/2014/main" id="{48EDAD97-B8EE-4349-916D-570BA0CBDA08}"/>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201590" y="1340418"/>
            <a:ext cx="5754520" cy="5161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784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02F3D-B224-B344-B865-CA0EA7A8AAE0}"/>
              </a:ext>
            </a:extLst>
          </p:cNvPr>
          <p:cNvSpPr>
            <a:spLocks noGrp="1"/>
          </p:cNvSpPr>
          <p:nvPr>
            <p:ph type="title"/>
          </p:nvPr>
        </p:nvSpPr>
        <p:spPr/>
        <p:txBody>
          <a:bodyPr/>
          <a:lstStyle/>
          <a:p>
            <a:r>
              <a:rPr lang="en-US" dirty="0"/>
              <a:t>Drainage of the Liver</a:t>
            </a:r>
          </a:p>
        </p:txBody>
      </p:sp>
      <p:pic>
        <p:nvPicPr>
          <p:cNvPr id="2049" name="Picture 1" descr="page8image18152896">
            <a:extLst>
              <a:ext uri="{FF2B5EF4-FFF2-40B4-BE49-F238E27FC236}">
                <a16:creationId xmlns:a16="http://schemas.microsoft.com/office/drawing/2014/main" id="{570B1E70-FEB6-BB4A-B081-62D18FF25B7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916391" y="1019503"/>
            <a:ext cx="6359218" cy="570402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521F62F-CBA7-C647-BE34-3EA97EC3D06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63057" y="1019503"/>
            <a:ext cx="8065886" cy="5840552"/>
          </a:xfrm>
          <a:prstGeom prst="rect">
            <a:avLst/>
          </a:prstGeom>
        </p:spPr>
      </p:pic>
    </p:spTree>
    <p:extLst>
      <p:ext uri="{BB962C8B-B14F-4D97-AF65-F5344CB8AC3E}">
        <p14:creationId xmlns:p14="http://schemas.microsoft.com/office/powerpoint/2010/main" val="275547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4837-54CF-5D42-BD34-67D27AF10B5F}"/>
              </a:ext>
            </a:extLst>
          </p:cNvPr>
          <p:cNvSpPr>
            <a:spLocks noGrp="1"/>
          </p:cNvSpPr>
          <p:nvPr>
            <p:ph type="title"/>
          </p:nvPr>
        </p:nvSpPr>
        <p:spPr/>
        <p:txBody>
          <a:bodyPr>
            <a:normAutofit/>
          </a:bodyPr>
          <a:lstStyle/>
          <a:p>
            <a:r>
              <a:rPr lang="en-US" b="1" dirty="0"/>
              <a:t>Transaminitis</a:t>
            </a:r>
          </a:p>
        </p:txBody>
      </p:sp>
      <p:sp>
        <p:nvSpPr>
          <p:cNvPr id="5" name="Text Placeholder 4">
            <a:extLst>
              <a:ext uri="{FF2B5EF4-FFF2-40B4-BE49-F238E27FC236}">
                <a16:creationId xmlns:a16="http://schemas.microsoft.com/office/drawing/2014/main" id="{826587C1-0E90-3445-8E73-5237BB29AE4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57454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4837-54CF-5D42-BD34-67D27AF10B5F}"/>
              </a:ext>
            </a:extLst>
          </p:cNvPr>
          <p:cNvSpPr>
            <a:spLocks noGrp="1"/>
          </p:cNvSpPr>
          <p:nvPr>
            <p:ph type="title"/>
          </p:nvPr>
        </p:nvSpPr>
        <p:spPr/>
        <p:txBody>
          <a:bodyPr>
            <a:normAutofit/>
          </a:bodyPr>
          <a:lstStyle/>
          <a:p>
            <a:r>
              <a:rPr lang="en-US" b="1" dirty="0"/>
              <a:t>Transaminitis</a:t>
            </a:r>
          </a:p>
        </p:txBody>
      </p:sp>
      <p:sp>
        <p:nvSpPr>
          <p:cNvPr id="4" name="Text Placeholder 3">
            <a:extLst>
              <a:ext uri="{FF2B5EF4-FFF2-40B4-BE49-F238E27FC236}">
                <a16:creationId xmlns:a16="http://schemas.microsoft.com/office/drawing/2014/main" id="{C08CB346-AC55-E14F-B3B8-FC192669EDEE}"/>
              </a:ext>
            </a:extLst>
          </p:cNvPr>
          <p:cNvSpPr>
            <a:spLocks noGrp="1"/>
          </p:cNvSpPr>
          <p:nvPr>
            <p:ph type="body" idx="1"/>
          </p:nvPr>
        </p:nvSpPr>
        <p:spPr/>
        <p:txBody>
          <a:bodyPr/>
          <a:lstStyle/>
          <a:p>
            <a:pPr algn="ctr"/>
            <a:r>
              <a:rPr lang="en-US" dirty="0"/>
              <a:t>What does this mean?</a:t>
            </a:r>
          </a:p>
        </p:txBody>
      </p:sp>
    </p:spTree>
    <p:extLst>
      <p:ext uri="{BB962C8B-B14F-4D97-AF65-F5344CB8AC3E}">
        <p14:creationId xmlns:p14="http://schemas.microsoft.com/office/powerpoint/2010/main" val="537159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4837-54CF-5D42-BD34-67D27AF10B5F}"/>
              </a:ext>
            </a:extLst>
          </p:cNvPr>
          <p:cNvSpPr>
            <a:spLocks noGrp="1"/>
          </p:cNvSpPr>
          <p:nvPr>
            <p:ph type="title"/>
          </p:nvPr>
        </p:nvSpPr>
        <p:spPr/>
        <p:txBody>
          <a:bodyPr>
            <a:normAutofit/>
          </a:bodyPr>
          <a:lstStyle/>
          <a:p>
            <a:r>
              <a:rPr lang="en-US" b="1" dirty="0"/>
              <a:t>Transaminitis</a:t>
            </a:r>
            <a:br>
              <a:rPr lang="en-US" dirty="0"/>
            </a:br>
            <a:r>
              <a:rPr lang="en-US" dirty="0"/>
              <a:t>Inflammation of the transaminase</a:t>
            </a:r>
          </a:p>
        </p:txBody>
      </p:sp>
      <p:sp>
        <p:nvSpPr>
          <p:cNvPr id="4" name="Text Placeholder 3">
            <a:extLst>
              <a:ext uri="{FF2B5EF4-FFF2-40B4-BE49-F238E27FC236}">
                <a16:creationId xmlns:a16="http://schemas.microsoft.com/office/drawing/2014/main" id="{C08CB346-AC55-E14F-B3B8-FC192669EDEE}"/>
              </a:ext>
            </a:extLst>
          </p:cNvPr>
          <p:cNvSpPr>
            <a:spLocks noGrp="1"/>
          </p:cNvSpPr>
          <p:nvPr>
            <p:ph type="body" idx="1"/>
          </p:nvPr>
        </p:nvSpPr>
        <p:spPr/>
        <p:txBody>
          <a:bodyPr/>
          <a:lstStyle/>
          <a:p>
            <a:pPr algn="ctr"/>
            <a:endParaRPr lang="en-US" dirty="0"/>
          </a:p>
        </p:txBody>
      </p:sp>
    </p:spTree>
    <p:extLst>
      <p:ext uri="{BB962C8B-B14F-4D97-AF65-F5344CB8AC3E}">
        <p14:creationId xmlns:p14="http://schemas.microsoft.com/office/powerpoint/2010/main" val="1837798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4837-54CF-5D42-BD34-67D27AF10B5F}"/>
              </a:ext>
            </a:extLst>
          </p:cNvPr>
          <p:cNvSpPr>
            <a:spLocks noGrp="1"/>
          </p:cNvSpPr>
          <p:nvPr>
            <p:ph type="title"/>
          </p:nvPr>
        </p:nvSpPr>
        <p:spPr/>
        <p:txBody>
          <a:bodyPr>
            <a:normAutofit/>
          </a:bodyPr>
          <a:lstStyle/>
          <a:p>
            <a:r>
              <a:rPr lang="en-US" b="1" dirty="0"/>
              <a:t>Transaminitis</a:t>
            </a:r>
            <a:br>
              <a:rPr lang="en-US" dirty="0"/>
            </a:br>
            <a:r>
              <a:rPr lang="en-US" dirty="0"/>
              <a:t>Inflammation of the transaminase</a:t>
            </a:r>
          </a:p>
        </p:txBody>
      </p:sp>
      <p:sp>
        <p:nvSpPr>
          <p:cNvPr id="4" name="Text Placeholder 3">
            <a:extLst>
              <a:ext uri="{FF2B5EF4-FFF2-40B4-BE49-F238E27FC236}">
                <a16:creationId xmlns:a16="http://schemas.microsoft.com/office/drawing/2014/main" id="{C08CB346-AC55-E14F-B3B8-FC192669EDEE}"/>
              </a:ext>
            </a:extLst>
          </p:cNvPr>
          <p:cNvSpPr>
            <a:spLocks noGrp="1"/>
          </p:cNvSpPr>
          <p:nvPr>
            <p:ph type="body" idx="1"/>
          </p:nvPr>
        </p:nvSpPr>
        <p:spPr/>
        <p:txBody>
          <a:bodyPr>
            <a:normAutofit/>
          </a:bodyPr>
          <a:lstStyle/>
          <a:p>
            <a:pPr algn="ctr"/>
            <a:r>
              <a:rPr lang="en-US" sz="4400" dirty="0"/>
              <a:t>Would you diagnose </a:t>
            </a:r>
            <a:r>
              <a:rPr lang="en-US" sz="4400" b="1" dirty="0" err="1"/>
              <a:t>creatininitis</a:t>
            </a:r>
            <a:r>
              <a:rPr lang="en-US" sz="4400" b="1" dirty="0"/>
              <a:t> </a:t>
            </a:r>
            <a:r>
              <a:rPr lang="en-US" sz="4400" dirty="0"/>
              <a:t>or </a:t>
            </a:r>
            <a:r>
              <a:rPr lang="en-US" sz="4400" b="1" dirty="0" err="1"/>
              <a:t>troponinitis</a:t>
            </a:r>
            <a:r>
              <a:rPr lang="en-US" sz="4400" dirty="0"/>
              <a:t>?</a:t>
            </a:r>
          </a:p>
        </p:txBody>
      </p:sp>
    </p:spTree>
    <p:extLst>
      <p:ext uri="{BB962C8B-B14F-4D97-AF65-F5344CB8AC3E}">
        <p14:creationId xmlns:p14="http://schemas.microsoft.com/office/powerpoint/2010/main" val="612577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4837-54CF-5D42-BD34-67D27AF10B5F}"/>
              </a:ext>
            </a:extLst>
          </p:cNvPr>
          <p:cNvSpPr>
            <a:spLocks noGrp="1"/>
          </p:cNvSpPr>
          <p:nvPr>
            <p:ph type="title"/>
          </p:nvPr>
        </p:nvSpPr>
        <p:spPr/>
        <p:txBody>
          <a:bodyPr>
            <a:normAutofit/>
          </a:bodyPr>
          <a:lstStyle/>
          <a:p>
            <a:r>
              <a:rPr lang="en-US" dirty="0"/>
              <a:t>“Liver Function Tests” </a:t>
            </a:r>
            <a:br>
              <a:rPr lang="en-US" dirty="0"/>
            </a:br>
            <a:r>
              <a:rPr lang="en-US" dirty="0"/>
              <a:t>vs. </a:t>
            </a:r>
            <a:br>
              <a:rPr lang="en-US" dirty="0"/>
            </a:br>
            <a:r>
              <a:rPr lang="en-US" dirty="0"/>
              <a:t>Liver Function Tests</a:t>
            </a:r>
          </a:p>
        </p:txBody>
      </p:sp>
      <p:sp>
        <p:nvSpPr>
          <p:cNvPr id="4" name="Text Placeholder 3">
            <a:extLst>
              <a:ext uri="{FF2B5EF4-FFF2-40B4-BE49-F238E27FC236}">
                <a16:creationId xmlns:a16="http://schemas.microsoft.com/office/drawing/2014/main" id="{C08CB346-AC55-E14F-B3B8-FC192669EDE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66251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4837-54CF-5D42-BD34-67D27AF10B5F}"/>
              </a:ext>
            </a:extLst>
          </p:cNvPr>
          <p:cNvSpPr>
            <a:spLocks noGrp="1"/>
          </p:cNvSpPr>
          <p:nvPr>
            <p:ph type="title"/>
          </p:nvPr>
        </p:nvSpPr>
        <p:spPr/>
        <p:txBody>
          <a:bodyPr>
            <a:normAutofit fontScale="90000"/>
          </a:bodyPr>
          <a:lstStyle/>
          <a:p>
            <a:r>
              <a:rPr lang="en-US" dirty="0"/>
              <a:t>“Liver Function Tests” vs. Liver Function Tests</a:t>
            </a:r>
          </a:p>
        </p:txBody>
      </p:sp>
      <p:graphicFrame>
        <p:nvGraphicFramePr>
          <p:cNvPr id="5" name="Content Placeholder 4">
            <a:extLst>
              <a:ext uri="{FF2B5EF4-FFF2-40B4-BE49-F238E27FC236}">
                <a16:creationId xmlns:a16="http://schemas.microsoft.com/office/drawing/2014/main" id="{EDDABF33-3C27-B240-8ABD-AE6D9983ABE5}"/>
              </a:ext>
            </a:extLst>
          </p:cNvPr>
          <p:cNvGraphicFramePr>
            <a:graphicFrameLocks noGrp="1"/>
          </p:cNvGraphicFramePr>
          <p:nvPr>
            <p:ph idx="1"/>
            <p:extLst>
              <p:ext uri="{D42A27DB-BD31-4B8C-83A1-F6EECF244321}">
                <p14:modId xmlns:p14="http://schemas.microsoft.com/office/powerpoint/2010/main" val="1106397483"/>
              </p:ext>
            </p:extLst>
          </p:nvPr>
        </p:nvGraphicFramePr>
        <p:xfrm>
          <a:off x="593271" y="1876198"/>
          <a:ext cx="11005458" cy="2412774"/>
        </p:xfrm>
        <a:graphic>
          <a:graphicData uri="http://schemas.openxmlformats.org/drawingml/2006/table">
            <a:tbl>
              <a:tblPr firstRow="1" bandRow="1">
                <a:tableStyleId>{5940675A-B579-460E-94D1-54222C63F5DA}</a:tableStyleId>
              </a:tblPr>
              <a:tblGrid>
                <a:gridCol w="5502729">
                  <a:extLst>
                    <a:ext uri="{9D8B030D-6E8A-4147-A177-3AD203B41FA5}">
                      <a16:colId xmlns:a16="http://schemas.microsoft.com/office/drawing/2014/main" val="3380974088"/>
                    </a:ext>
                  </a:extLst>
                </a:gridCol>
                <a:gridCol w="5502729">
                  <a:extLst>
                    <a:ext uri="{9D8B030D-6E8A-4147-A177-3AD203B41FA5}">
                      <a16:colId xmlns:a16="http://schemas.microsoft.com/office/drawing/2014/main" val="1796904963"/>
                    </a:ext>
                  </a:extLst>
                </a:gridCol>
              </a:tblGrid>
              <a:tr h="935414">
                <a:tc>
                  <a:txBody>
                    <a:bodyPr/>
                    <a:lstStyle/>
                    <a:p>
                      <a:pPr algn="ctr"/>
                      <a:r>
                        <a:rPr lang="en-US" sz="2400" b="1" dirty="0">
                          <a:latin typeface="Quadraat" panose="02000503060000090004" pitchFamily="2" charset="0"/>
                        </a:rPr>
                        <a:t>Liver enzymes or liver chemistries</a:t>
                      </a:r>
                    </a:p>
                  </a:txBody>
                  <a:tcPr anchor="ctr"/>
                </a:tc>
                <a:tc>
                  <a:txBody>
                    <a:bodyPr/>
                    <a:lstStyle/>
                    <a:p>
                      <a:pPr algn="ctr"/>
                      <a:r>
                        <a:rPr lang="en-US" sz="2400" b="1" dirty="0">
                          <a:latin typeface="Quadraat" panose="02000503060000090004" pitchFamily="2" charset="0"/>
                        </a:rPr>
                        <a:t>Liver synthetic function tests</a:t>
                      </a:r>
                    </a:p>
                  </a:txBody>
                  <a:tcPr anchor="ctr"/>
                </a:tc>
                <a:extLst>
                  <a:ext uri="{0D108BD9-81ED-4DB2-BD59-A6C34878D82A}">
                    <a16:rowId xmlns:a16="http://schemas.microsoft.com/office/drawing/2014/main" val="3928709291"/>
                  </a:ext>
                </a:extLst>
              </a:tr>
              <a:tr h="9354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Quadraat" panose="02000503060000090004" pitchFamily="2" charset="0"/>
                        </a:rPr>
                        <a:t>Tests that reflect the integrity of the hepatobiliary system. </a:t>
                      </a:r>
                    </a:p>
                  </a:txBody>
                  <a:tcPr anchor="ctr"/>
                </a:tc>
                <a:tc>
                  <a:txBody>
                    <a:bodyPr/>
                    <a:lstStyle/>
                    <a:p>
                      <a:pPr algn="ctr"/>
                      <a:r>
                        <a:rPr lang="en-US" sz="2400" dirty="0">
                          <a:latin typeface="Quadraat" panose="02000503060000090004" pitchFamily="2" charset="0"/>
                        </a:rPr>
                        <a:t>Tests that reflect the physiologic synthetic function of the liver. </a:t>
                      </a:r>
                    </a:p>
                  </a:txBody>
                  <a:tcPr anchor="ctr"/>
                </a:tc>
                <a:extLst>
                  <a:ext uri="{0D108BD9-81ED-4DB2-BD59-A6C34878D82A}">
                    <a16:rowId xmlns:a16="http://schemas.microsoft.com/office/drawing/2014/main" val="603385515"/>
                  </a:ext>
                </a:extLst>
              </a:tr>
              <a:tr h="541946">
                <a:tc>
                  <a:txBody>
                    <a:bodyPr/>
                    <a:lstStyle/>
                    <a:p>
                      <a:pPr algn="ctr"/>
                      <a:r>
                        <a:rPr lang="en-US" sz="2400" dirty="0">
                          <a:latin typeface="Quadraat" panose="02000503060000090004" pitchFamily="2" charset="0"/>
                        </a:rPr>
                        <a:t>ALT, AST, GGT, T </a:t>
                      </a:r>
                      <a:r>
                        <a:rPr lang="en-US" sz="2400" dirty="0" err="1">
                          <a:latin typeface="Quadraat" panose="02000503060000090004" pitchFamily="2" charset="0"/>
                        </a:rPr>
                        <a:t>bili</a:t>
                      </a:r>
                      <a:r>
                        <a:rPr lang="en-US" sz="2400" dirty="0">
                          <a:latin typeface="Quadraat" panose="02000503060000090004" pitchFamily="2" charset="0"/>
                        </a:rPr>
                        <a:t>, 5’NT, etc.</a:t>
                      </a:r>
                    </a:p>
                  </a:txBody>
                  <a:tcPr anchor="ctr"/>
                </a:tc>
                <a:tc>
                  <a:txBody>
                    <a:bodyPr/>
                    <a:lstStyle/>
                    <a:p>
                      <a:pPr algn="ctr"/>
                      <a:endParaRPr lang="en-US" sz="2400" dirty="0">
                        <a:latin typeface="Quadraat" panose="02000503060000090004" pitchFamily="2" charset="0"/>
                      </a:endParaRPr>
                    </a:p>
                  </a:txBody>
                  <a:tcPr anchor="ctr"/>
                </a:tc>
                <a:extLst>
                  <a:ext uri="{0D108BD9-81ED-4DB2-BD59-A6C34878D82A}">
                    <a16:rowId xmlns:a16="http://schemas.microsoft.com/office/drawing/2014/main" val="2374870551"/>
                  </a:ext>
                </a:extLst>
              </a:tr>
            </a:tbl>
          </a:graphicData>
        </a:graphic>
      </p:graphicFrame>
    </p:spTree>
    <p:extLst>
      <p:ext uri="{BB962C8B-B14F-4D97-AF65-F5344CB8AC3E}">
        <p14:creationId xmlns:p14="http://schemas.microsoft.com/office/powerpoint/2010/main" val="4099918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4837-54CF-5D42-BD34-67D27AF10B5F}"/>
              </a:ext>
            </a:extLst>
          </p:cNvPr>
          <p:cNvSpPr>
            <a:spLocks noGrp="1"/>
          </p:cNvSpPr>
          <p:nvPr>
            <p:ph type="title"/>
          </p:nvPr>
        </p:nvSpPr>
        <p:spPr/>
        <p:txBody>
          <a:bodyPr>
            <a:normAutofit fontScale="90000"/>
          </a:bodyPr>
          <a:lstStyle/>
          <a:p>
            <a:r>
              <a:rPr lang="en-US" dirty="0"/>
              <a:t>“Liver Function Tests” vs. Liver Function Tests</a:t>
            </a:r>
          </a:p>
        </p:txBody>
      </p:sp>
      <p:graphicFrame>
        <p:nvGraphicFramePr>
          <p:cNvPr id="5" name="Content Placeholder 4">
            <a:extLst>
              <a:ext uri="{FF2B5EF4-FFF2-40B4-BE49-F238E27FC236}">
                <a16:creationId xmlns:a16="http://schemas.microsoft.com/office/drawing/2014/main" id="{EDDABF33-3C27-B240-8ABD-AE6D9983ABE5}"/>
              </a:ext>
            </a:extLst>
          </p:cNvPr>
          <p:cNvGraphicFramePr>
            <a:graphicFrameLocks noGrp="1"/>
          </p:cNvGraphicFramePr>
          <p:nvPr>
            <p:ph idx="1"/>
            <p:extLst>
              <p:ext uri="{D42A27DB-BD31-4B8C-83A1-F6EECF244321}">
                <p14:modId xmlns:p14="http://schemas.microsoft.com/office/powerpoint/2010/main" val="1764284675"/>
              </p:ext>
            </p:extLst>
          </p:nvPr>
        </p:nvGraphicFramePr>
        <p:xfrm>
          <a:off x="593271" y="1876198"/>
          <a:ext cx="11005458" cy="2412774"/>
        </p:xfrm>
        <a:graphic>
          <a:graphicData uri="http://schemas.openxmlformats.org/drawingml/2006/table">
            <a:tbl>
              <a:tblPr firstRow="1" bandRow="1">
                <a:tableStyleId>{5940675A-B579-460E-94D1-54222C63F5DA}</a:tableStyleId>
              </a:tblPr>
              <a:tblGrid>
                <a:gridCol w="5502729">
                  <a:extLst>
                    <a:ext uri="{9D8B030D-6E8A-4147-A177-3AD203B41FA5}">
                      <a16:colId xmlns:a16="http://schemas.microsoft.com/office/drawing/2014/main" val="3380974088"/>
                    </a:ext>
                  </a:extLst>
                </a:gridCol>
                <a:gridCol w="5502729">
                  <a:extLst>
                    <a:ext uri="{9D8B030D-6E8A-4147-A177-3AD203B41FA5}">
                      <a16:colId xmlns:a16="http://schemas.microsoft.com/office/drawing/2014/main" val="1796904963"/>
                    </a:ext>
                  </a:extLst>
                </a:gridCol>
              </a:tblGrid>
              <a:tr h="935414">
                <a:tc>
                  <a:txBody>
                    <a:bodyPr/>
                    <a:lstStyle/>
                    <a:p>
                      <a:pPr algn="ctr"/>
                      <a:r>
                        <a:rPr lang="en-US" sz="2400" b="1" dirty="0">
                          <a:latin typeface="Quadraat" panose="02000503060000090004" pitchFamily="2" charset="0"/>
                        </a:rPr>
                        <a:t>Liver enzymes or liver chemistries</a:t>
                      </a:r>
                    </a:p>
                  </a:txBody>
                  <a:tcPr anchor="ctr"/>
                </a:tc>
                <a:tc>
                  <a:txBody>
                    <a:bodyPr/>
                    <a:lstStyle/>
                    <a:p>
                      <a:pPr algn="ctr"/>
                      <a:r>
                        <a:rPr lang="en-US" sz="2400" b="1" dirty="0">
                          <a:latin typeface="Quadraat" panose="02000503060000090004" pitchFamily="2" charset="0"/>
                        </a:rPr>
                        <a:t>Liver synthetic function tests</a:t>
                      </a:r>
                    </a:p>
                  </a:txBody>
                  <a:tcPr anchor="ctr"/>
                </a:tc>
                <a:extLst>
                  <a:ext uri="{0D108BD9-81ED-4DB2-BD59-A6C34878D82A}">
                    <a16:rowId xmlns:a16="http://schemas.microsoft.com/office/drawing/2014/main" val="3928709291"/>
                  </a:ext>
                </a:extLst>
              </a:tr>
              <a:tr h="9354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Quadraat" panose="02000503060000090004" pitchFamily="2" charset="0"/>
                        </a:rPr>
                        <a:t>Tests that reflect the integrity of the hepatobiliary system. </a:t>
                      </a:r>
                    </a:p>
                  </a:txBody>
                  <a:tcPr anchor="ctr"/>
                </a:tc>
                <a:tc>
                  <a:txBody>
                    <a:bodyPr/>
                    <a:lstStyle/>
                    <a:p>
                      <a:pPr algn="ctr"/>
                      <a:r>
                        <a:rPr lang="en-US" sz="2400" dirty="0">
                          <a:latin typeface="Quadraat" panose="02000503060000090004" pitchFamily="2" charset="0"/>
                        </a:rPr>
                        <a:t>Tests that reflect the physiologic synthetic function of the liver. </a:t>
                      </a:r>
                    </a:p>
                  </a:txBody>
                  <a:tcPr anchor="ctr"/>
                </a:tc>
                <a:extLst>
                  <a:ext uri="{0D108BD9-81ED-4DB2-BD59-A6C34878D82A}">
                    <a16:rowId xmlns:a16="http://schemas.microsoft.com/office/drawing/2014/main" val="603385515"/>
                  </a:ext>
                </a:extLst>
              </a:tr>
              <a:tr h="541946">
                <a:tc>
                  <a:txBody>
                    <a:bodyPr/>
                    <a:lstStyle/>
                    <a:p>
                      <a:pPr algn="ctr"/>
                      <a:r>
                        <a:rPr lang="en-US" sz="2400" dirty="0">
                          <a:latin typeface="Quadraat" panose="02000503060000090004" pitchFamily="2" charset="0"/>
                        </a:rPr>
                        <a:t>ALT, AST, GGT, T </a:t>
                      </a:r>
                      <a:r>
                        <a:rPr lang="en-US" sz="2400" dirty="0" err="1">
                          <a:latin typeface="Quadraat" panose="02000503060000090004" pitchFamily="2" charset="0"/>
                        </a:rPr>
                        <a:t>bili</a:t>
                      </a:r>
                      <a:r>
                        <a:rPr lang="en-US" sz="2400" dirty="0">
                          <a:latin typeface="Quadraat" panose="02000503060000090004" pitchFamily="2" charset="0"/>
                        </a:rPr>
                        <a:t>, 5’NT, etc.</a:t>
                      </a:r>
                    </a:p>
                  </a:txBody>
                  <a:tcPr anchor="ctr"/>
                </a:tc>
                <a:tc>
                  <a:txBody>
                    <a:bodyPr/>
                    <a:lstStyle/>
                    <a:p>
                      <a:pPr algn="ctr"/>
                      <a:r>
                        <a:rPr lang="en-US" sz="2400" b="1" dirty="0">
                          <a:highlight>
                            <a:srgbClr val="FFFF00"/>
                          </a:highlight>
                          <a:latin typeface="Quadraat" panose="02000503060000090004" pitchFamily="2" charset="0"/>
                        </a:rPr>
                        <a:t>What are those?</a:t>
                      </a:r>
                    </a:p>
                  </a:txBody>
                  <a:tcPr anchor="ctr"/>
                </a:tc>
                <a:extLst>
                  <a:ext uri="{0D108BD9-81ED-4DB2-BD59-A6C34878D82A}">
                    <a16:rowId xmlns:a16="http://schemas.microsoft.com/office/drawing/2014/main" val="2374870551"/>
                  </a:ext>
                </a:extLst>
              </a:tr>
            </a:tbl>
          </a:graphicData>
        </a:graphic>
      </p:graphicFrame>
    </p:spTree>
    <p:extLst>
      <p:ext uri="{BB962C8B-B14F-4D97-AF65-F5344CB8AC3E}">
        <p14:creationId xmlns:p14="http://schemas.microsoft.com/office/powerpoint/2010/main" val="1864856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4837-54CF-5D42-BD34-67D27AF10B5F}"/>
              </a:ext>
            </a:extLst>
          </p:cNvPr>
          <p:cNvSpPr>
            <a:spLocks noGrp="1"/>
          </p:cNvSpPr>
          <p:nvPr>
            <p:ph type="title"/>
          </p:nvPr>
        </p:nvSpPr>
        <p:spPr/>
        <p:txBody>
          <a:bodyPr>
            <a:normAutofit fontScale="90000"/>
          </a:bodyPr>
          <a:lstStyle/>
          <a:p>
            <a:r>
              <a:rPr lang="en-US" dirty="0"/>
              <a:t>“Liver Function Tests” vs. Liver Function Tests</a:t>
            </a:r>
          </a:p>
        </p:txBody>
      </p:sp>
      <p:graphicFrame>
        <p:nvGraphicFramePr>
          <p:cNvPr id="5" name="Content Placeholder 4">
            <a:extLst>
              <a:ext uri="{FF2B5EF4-FFF2-40B4-BE49-F238E27FC236}">
                <a16:creationId xmlns:a16="http://schemas.microsoft.com/office/drawing/2014/main" id="{EDDABF33-3C27-B240-8ABD-AE6D9983ABE5}"/>
              </a:ext>
            </a:extLst>
          </p:cNvPr>
          <p:cNvGraphicFramePr>
            <a:graphicFrameLocks noGrp="1"/>
          </p:cNvGraphicFramePr>
          <p:nvPr>
            <p:ph idx="1"/>
            <p:extLst>
              <p:ext uri="{D42A27DB-BD31-4B8C-83A1-F6EECF244321}">
                <p14:modId xmlns:p14="http://schemas.microsoft.com/office/powerpoint/2010/main" val="3576226661"/>
              </p:ext>
            </p:extLst>
          </p:nvPr>
        </p:nvGraphicFramePr>
        <p:xfrm>
          <a:off x="593271" y="1876198"/>
          <a:ext cx="11005458" cy="2412774"/>
        </p:xfrm>
        <a:graphic>
          <a:graphicData uri="http://schemas.openxmlformats.org/drawingml/2006/table">
            <a:tbl>
              <a:tblPr firstRow="1" bandRow="1">
                <a:tableStyleId>{5940675A-B579-460E-94D1-54222C63F5DA}</a:tableStyleId>
              </a:tblPr>
              <a:tblGrid>
                <a:gridCol w="5502729">
                  <a:extLst>
                    <a:ext uri="{9D8B030D-6E8A-4147-A177-3AD203B41FA5}">
                      <a16:colId xmlns:a16="http://schemas.microsoft.com/office/drawing/2014/main" val="3380974088"/>
                    </a:ext>
                  </a:extLst>
                </a:gridCol>
                <a:gridCol w="5502729">
                  <a:extLst>
                    <a:ext uri="{9D8B030D-6E8A-4147-A177-3AD203B41FA5}">
                      <a16:colId xmlns:a16="http://schemas.microsoft.com/office/drawing/2014/main" val="1796904963"/>
                    </a:ext>
                  </a:extLst>
                </a:gridCol>
              </a:tblGrid>
              <a:tr h="935414">
                <a:tc>
                  <a:txBody>
                    <a:bodyPr/>
                    <a:lstStyle/>
                    <a:p>
                      <a:pPr algn="ctr"/>
                      <a:r>
                        <a:rPr lang="en-US" sz="2400" b="1" dirty="0">
                          <a:latin typeface="Quadraat" panose="02000503060000090004" pitchFamily="2" charset="0"/>
                        </a:rPr>
                        <a:t>Liver enzymes or liver chemistries</a:t>
                      </a:r>
                    </a:p>
                  </a:txBody>
                  <a:tcPr anchor="ctr"/>
                </a:tc>
                <a:tc>
                  <a:txBody>
                    <a:bodyPr/>
                    <a:lstStyle/>
                    <a:p>
                      <a:pPr algn="ctr"/>
                      <a:r>
                        <a:rPr lang="en-US" sz="2400" b="1" dirty="0">
                          <a:latin typeface="Quadraat" panose="02000503060000090004" pitchFamily="2" charset="0"/>
                        </a:rPr>
                        <a:t>Liver synthetic function tests</a:t>
                      </a:r>
                    </a:p>
                  </a:txBody>
                  <a:tcPr anchor="ctr"/>
                </a:tc>
                <a:extLst>
                  <a:ext uri="{0D108BD9-81ED-4DB2-BD59-A6C34878D82A}">
                    <a16:rowId xmlns:a16="http://schemas.microsoft.com/office/drawing/2014/main" val="3928709291"/>
                  </a:ext>
                </a:extLst>
              </a:tr>
              <a:tr h="9354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Quadraat" panose="02000503060000090004" pitchFamily="2" charset="0"/>
                        </a:rPr>
                        <a:t>Tests that reflect the integrity of the hepatobiliary system. </a:t>
                      </a:r>
                    </a:p>
                  </a:txBody>
                  <a:tcPr anchor="ctr"/>
                </a:tc>
                <a:tc>
                  <a:txBody>
                    <a:bodyPr/>
                    <a:lstStyle/>
                    <a:p>
                      <a:pPr algn="ctr"/>
                      <a:r>
                        <a:rPr lang="en-US" sz="2400" dirty="0">
                          <a:latin typeface="Quadraat" panose="02000503060000090004" pitchFamily="2" charset="0"/>
                        </a:rPr>
                        <a:t>Tests that reflect the physiologic synthetic function of the liver. </a:t>
                      </a:r>
                    </a:p>
                  </a:txBody>
                  <a:tcPr anchor="ctr"/>
                </a:tc>
                <a:extLst>
                  <a:ext uri="{0D108BD9-81ED-4DB2-BD59-A6C34878D82A}">
                    <a16:rowId xmlns:a16="http://schemas.microsoft.com/office/drawing/2014/main" val="603385515"/>
                  </a:ext>
                </a:extLst>
              </a:tr>
              <a:tr h="541946">
                <a:tc>
                  <a:txBody>
                    <a:bodyPr/>
                    <a:lstStyle/>
                    <a:p>
                      <a:pPr algn="ctr"/>
                      <a:r>
                        <a:rPr lang="en-US" sz="2400" dirty="0">
                          <a:latin typeface="Quadraat" panose="02000503060000090004" pitchFamily="2" charset="0"/>
                        </a:rPr>
                        <a:t>ALT, AST, GGT, T </a:t>
                      </a:r>
                      <a:r>
                        <a:rPr lang="en-US" sz="2400" dirty="0" err="1">
                          <a:latin typeface="Quadraat" panose="02000503060000090004" pitchFamily="2" charset="0"/>
                        </a:rPr>
                        <a:t>bili</a:t>
                      </a:r>
                      <a:r>
                        <a:rPr lang="en-US" sz="2400" dirty="0">
                          <a:latin typeface="Quadraat" panose="02000503060000090004" pitchFamily="2" charset="0"/>
                        </a:rPr>
                        <a:t>, 5’NT, etc.</a:t>
                      </a:r>
                    </a:p>
                  </a:txBody>
                  <a:tcPr anchor="ctr"/>
                </a:tc>
                <a:tc>
                  <a:txBody>
                    <a:bodyPr/>
                    <a:lstStyle/>
                    <a:p>
                      <a:pPr algn="ctr"/>
                      <a:r>
                        <a:rPr lang="en-US" sz="2400" b="0" dirty="0">
                          <a:latin typeface="Quadraat" panose="02000503060000090004" pitchFamily="2" charset="0"/>
                        </a:rPr>
                        <a:t>Albumin, prothrombin time</a:t>
                      </a:r>
                    </a:p>
                  </a:txBody>
                  <a:tcPr anchor="ctr"/>
                </a:tc>
                <a:extLst>
                  <a:ext uri="{0D108BD9-81ED-4DB2-BD59-A6C34878D82A}">
                    <a16:rowId xmlns:a16="http://schemas.microsoft.com/office/drawing/2014/main" val="2374870551"/>
                  </a:ext>
                </a:extLst>
              </a:tr>
            </a:tbl>
          </a:graphicData>
        </a:graphic>
      </p:graphicFrame>
    </p:spTree>
    <p:extLst>
      <p:ext uri="{BB962C8B-B14F-4D97-AF65-F5344CB8AC3E}">
        <p14:creationId xmlns:p14="http://schemas.microsoft.com/office/powerpoint/2010/main" val="1405308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51EB59-96BF-0746-A7F2-8F1E1B38D416}"/>
              </a:ext>
            </a:extLst>
          </p:cNvPr>
          <p:cNvSpPr>
            <a:spLocks noGrp="1"/>
          </p:cNvSpPr>
          <p:nvPr>
            <p:ph type="title"/>
          </p:nvPr>
        </p:nvSpPr>
        <p:spPr/>
        <p:txBody>
          <a:bodyPr/>
          <a:lstStyle/>
          <a:p>
            <a:r>
              <a:rPr lang="en-US" dirty="0"/>
              <a:t>Metabolism of a hepatocyte</a:t>
            </a:r>
          </a:p>
        </p:txBody>
      </p:sp>
      <p:sp>
        <p:nvSpPr>
          <p:cNvPr id="5" name="Text Placeholder 4">
            <a:extLst>
              <a:ext uri="{FF2B5EF4-FFF2-40B4-BE49-F238E27FC236}">
                <a16:creationId xmlns:a16="http://schemas.microsoft.com/office/drawing/2014/main" id="{F03D96BF-DC92-EA4B-861B-36D927A87DA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22368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map&#10;&#10;Description automatically generated">
            <a:extLst>
              <a:ext uri="{FF2B5EF4-FFF2-40B4-BE49-F238E27FC236}">
                <a16:creationId xmlns:a16="http://schemas.microsoft.com/office/drawing/2014/main" id="{7A753856-87B4-9941-A5A3-3857273939B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553956" y="0"/>
            <a:ext cx="7084088" cy="6858000"/>
          </a:xfrm>
          <a:prstGeom prst="rect">
            <a:avLst/>
          </a:prstGeom>
        </p:spPr>
      </p:pic>
    </p:spTree>
    <p:extLst>
      <p:ext uri="{BB962C8B-B14F-4D97-AF65-F5344CB8AC3E}">
        <p14:creationId xmlns:p14="http://schemas.microsoft.com/office/powerpoint/2010/main" val="2734983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00DE035-E337-C141-A23D-32988A67B92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34049" y="0"/>
            <a:ext cx="9323902" cy="6858000"/>
          </a:xfrm>
          <a:prstGeom prst="rect">
            <a:avLst/>
          </a:prstGeom>
        </p:spPr>
      </p:pic>
    </p:spTree>
    <p:extLst>
      <p:ext uri="{BB962C8B-B14F-4D97-AF65-F5344CB8AC3E}">
        <p14:creationId xmlns:p14="http://schemas.microsoft.com/office/powerpoint/2010/main" val="574972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02F3D-B224-B344-B865-CA0EA7A8AAE0}"/>
              </a:ext>
            </a:extLst>
          </p:cNvPr>
          <p:cNvSpPr>
            <a:spLocks noGrp="1"/>
          </p:cNvSpPr>
          <p:nvPr>
            <p:ph type="title"/>
          </p:nvPr>
        </p:nvSpPr>
        <p:spPr/>
        <p:txBody>
          <a:bodyPr/>
          <a:lstStyle/>
          <a:p>
            <a:r>
              <a:rPr lang="en-US" dirty="0"/>
              <a:t>Liver Enzymes</a:t>
            </a:r>
          </a:p>
        </p:txBody>
      </p:sp>
      <p:pic>
        <p:nvPicPr>
          <p:cNvPr id="4" name="Picture 3">
            <a:extLst>
              <a:ext uri="{FF2B5EF4-FFF2-40B4-BE49-F238E27FC236}">
                <a16:creationId xmlns:a16="http://schemas.microsoft.com/office/drawing/2014/main" id="{3A0C574B-4E90-1F49-BBC8-69F7A2A8C1EE}"/>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456800" y="1019504"/>
            <a:ext cx="7675341" cy="5838496"/>
          </a:xfrm>
          <a:prstGeom prst="rect">
            <a:avLst/>
          </a:prstGeom>
        </p:spPr>
      </p:pic>
    </p:spTree>
    <p:extLst>
      <p:ext uri="{BB962C8B-B14F-4D97-AF65-F5344CB8AC3E}">
        <p14:creationId xmlns:p14="http://schemas.microsoft.com/office/powerpoint/2010/main" val="3891644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9F02EC-53D4-BE4C-B9BD-B744997D2505}"/>
              </a:ext>
            </a:extLst>
          </p:cNvPr>
          <p:cNvSpPr>
            <a:spLocks noGrp="1"/>
          </p:cNvSpPr>
          <p:nvPr>
            <p:ph type="title"/>
          </p:nvPr>
        </p:nvSpPr>
        <p:spPr/>
        <p:txBody>
          <a:bodyPr/>
          <a:lstStyle/>
          <a:p>
            <a:r>
              <a:rPr lang="en-US" dirty="0"/>
              <a:t>Are all liver enzymes specific to the liver?</a:t>
            </a:r>
          </a:p>
        </p:txBody>
      </p:sp>
      <p:sp>
        <p:nvSpPr>
          <p:cNvPr id="5" name="Text Placeholder 4">
            <a:extLst>
              <a:ext uri="{FF2B5EF4-FFF2-40B4-BE49-F238E27FC236}">
                <a16:creationId xmlns:a16="http://schemas.microsoft.com/office/drawing/2014/main" id="{69C9085B-1429-DE42-879D-6ABF47A78BE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559197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9F02EC-53D4-BE4C-B9BD-B744997D2505}"/>
              </a:ext>
            </a:extLst>
          </p:cNvPr>
          <p:cNvSpPr>
            <a:spLocks noGrp="1"/>
          </p:cNvSpPr>
          <p:nvPr>
            <p:ph type="title"/>
          </p:nvPr>
        </p:nvSpPr>
        <p:spPr/>
        <p:txBody>
          <a:bodyPr/>
          <a:lstStyle/>
          <a:p>
            <a:r>
              <a:rPr lang="en-US" dirty="0"/>
              <a:t>Aspartate aminotransferase (AST) and alanine aminotransferase (ALT)</a:t>
            </a:r>
          </a:p>
        </p:txBody>
      </p:sp>
      <p:sp>
        <p:nvSpPr>
          <p:cNvPr id="5" name="Text Placeholder 4">
            <a:extLst>
              <a:ext uri="{FF2B5EF4-FFF2-40B4-BE49-F238E27FC236}">
                <a16:creationId xmlns:a16="http://schemas.microsoft.com/office/drawing/2014/main" id="{69C9085B-1429-DE42-879D-6ABF47A78BE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16786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0B489-17BA-914C-BE79-9F7034059ED5}"/>
              </a:ext>
            </a:extLst>
          </p:cNvPr>
          <p:cNvSpPr>
            <a:spLocks noGrp="1"/>
          </p:cNvSpPr>
          <p:nvPr>
            <p:ph type="title"/>
          </p:nvPr>
        </p:nvSpPr>
        <p:spPr/>
        <p:txBody>
          <a:bodyPr/>
          <a:lstStyle/>
          <a:p>
            <a:r>
              <a:rPr lang="en-US" dirty="0"/>
              <a:t>AST and ALT Concentrations</a:t>
            </a:r>
          </a:p>
        </p:txBody>
      </p:sp>
      <p:sp>
        <p:nvSpPr>
          <p:cNvPr id="3" name="Content Placeholder 2">
            <a:extLst>
              <a:ext uri="{FF2B5EF4-FFF2-40B4-BE49-F238E27FC236}">
                <a16:creationId xmlns:a16="http://schemas.microsoft.com/office/drawing/2014/main" id="{5DF70812-ADF5-B44B-A8B7-1E73392CA2C5}"/>
              </a:ext>
            </a:extLst>
          </p:cNvPr>
          <p:cNvSpPr>
            <a:spLocks noGrp="1"/>
          </p:cNvSpPr>
          <p:nvPr>
            <p:ph idx="1"/>
          </p:nvPr>
        </p:nvSpPr>
        <p:spPr>
          <a:xfrm>
            <a:off x="4607485" y="1578076"/>
            <a:ext cx="2900518" cy="4719485"/>
          </a:xfrm>
        </p:spPr>
        <p:txBody>
          <a:bodyPr>
            <a:normAutofit/>
          </a:bodyPr>
          <a:lstStyle/>
          <a:p>
            <a:pPr marL="0" indent="0" algn="ctr">
              <a:buNone/>
            </a:pPr>
            <a:r>
              <a:rPr lang="en-US" b="1" dirty="0"/>
              <a:t>Liver</a:t>
            </a:r>
          </a:p>
          <a:p>
            <a:pPr marL="0" indent="0" algn="ctr">
              <a:buNone/>
            </a:pPr>
            <a:r>
              <a:rPr lang="en-US" dirty="0"/>
              <a:t>Cardiac muscle</a:t>
            </a:r>
          </a:p>
          <a:p>
            <a:pPr marL="0" indent="0" algn="ctr">
              <a:buNone/>
            </a:pPr>
            <a:r>
              <a:rPr lang="en-US" dirty="0"/>
              <a:t>Skeletal muscle</a:t>
            </a:r>
          </a:p>
          <a:p>
            <a:pPr marL="0" indent="0" algn="ctr">
              <a:buNone/>
            </a:pPr>
            <a:r>
              <a:rPr lang="en-US" dirty="0"/>
              <a:t>Kidney</a:t>
            </a:r>
          </a:p>
          <a:p>
            <a:pPr marL="0" indent="0" algn="ctr">
              <a:buNone/>
            </a:pPr>
            <a:r>
              <a:rPr lang="en-US" dirty="0"/>
              <a:t>Brain</a:t>
            </a:r>
          </a:p>
          <a:p>
            <a:pPr marL="0" indent="0" algn="ctr">
              <a:buNone/>
            </a:pPr>
            <a:r>
              <a:rPr lang="en-US" dirty="0"/>
              <a:t>Pancreas</a:t>
            </a:r>
          </a:p>
          <a:p>
            <a:pPr marL="0" indent="0" algn="ctr">
              <a:buNone/>
            </a:pPr>
            <a:r>
              <a:rPr lang="en-US" dirty="0"/>
              <a:t>Lung</a:t>
            </a:r>
          </a:p>
          <a:p>
            <a:pPr marL="0" indent="0" algn="ctr">
              <a:buNone/>
            </a:pPr>
            <a:r>
              <a:rPr lang="en-US" dirty="0"/>
              <a:t>Leukocytes</a:t>
            </a:r>
          </a:p>
          <a:p>
            <a:pPr marL="0" indent="0" algn="ctr">
              <a:buNone/>
            </a:pPr>
            <a:r>
              <a:rPr lang="en-US" dirty="0"/>
              <a:t>Erythrocytes </a:t>
            </a:r>
          </a:p>
        </p:txBody>
      </p:sp>
      <p:sp>
        <p:nvSpPr>
          <p:cNvPr id="6" name="Right Triangle 5">
            <a:extLst>
              <a:ext uri="{FF2B5EF4-FFF2-40B4-BE49-F238E27FC236}">
                <a16:creationId xmlns:a16="http://schemas.microsoft.com/office/drawing/2014/main" id="{831B16CC-E68B-AD4C-9387-24BAD1EB2590}"/>
              </a:ext>
            </a:extLst>
          </p:cNvPr>
          <p:cNvSpPr/>
          <p:nvPr/>
        </p:nvSpPr>
        <p:spPr>
          <a:xfrm rot="10800000">
            <a:off x="3058905" y="1578074"/>
            <a:ext cx="1548580" cy="4719485"/>
          </a:xfrm>
          <a:prstGeom prst="rtTriangle">
            <a:avLst/>
          </a:prstGeom>
          <a:gradFill>
            <a:gsLst>
              <a:gs pos="0">
                <a:schemeClr val="bg1"/>
              </a:gs>
              <a:gs pos="100000">
                <a:schemeClr val="accent2">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9D395A6D-41EB-634C-A8CA-1B00441EA090}"/>
              </a:ext>
            </a:extLst>
          </p:cNvPr>
          <p:cNvSpPr txBox="1"/>
          <p:nvPr/>
        </p:nvSpPr>
        <p:spPr>
          <a:xfrm>
            <a:off x="3419013" y="1141435"/>
            <a:ext cx="828364" cy="461665"/>
          </a:xfrm>
          <a:prstGeom prst="rect">
            <a:avLst/>
          </a:prstGeom>
          <a:noFill/>
        </p:spPr>
        <p:txBody>
          <a:bodyPr wrap="square" rtlCol="0">
            <a:spAutoFit/>
          </a:bodyPr>
          <a:lstStyle/>
          <a:p>
            <a:pPr algn="ctr"/>
            <a:r>
              <a:rPr lang="en-US" sz="2400" b="1" dirty="0">
                <a:latin typeface="Quadraat" panose="02000503060000090004" pitchFamily="2" charset="0"/>
              </a:rPr>
              <a:t>AST</a:t>
            </a:r>
          </a:p>
        </p:txBody>
      </p:sp>
      <p:sp>
        <p:nvSpPr>
          <p:cNvPr id="10" name="Right Triangle 9">
            <a:extLst>
              <a:ext uri="{FF2B5EF4-FFF2-40B4-BE49-F238E27FC236}">
                <a16:creationId xmlns:a16="http://schemas.microsoft.com/office/drawing/2014/main" id="{BBDE3C7B-38AA-3442-B9B0-D9478B5A95D6}"/>
              </a:ext>
            </a:extLst>
          </p:cNvPr>
          <p:cNvSpPr/>
          <p:nvPr/>
        </p:nvSpPr>
        <p:spPr>
          <a:xfrm rot="10800000" flipH="1">
            <a:off x="7508003" y="1578073"/>
            <a:ext cx="1548581" cy="4719485"/>
          </a:xfrm>
          <a:prstGeom prst="rtTriangle">
            <a:avLst/>
          </a:prstGeom>
          <a:gradFill>
            <a:gsLst>
              <a:gs pos="89000">
                <a:schemeClr val="bg1"/>
              </a:gs>
              <a:gs pos="100000">
                <a:schemeClr val="accent2">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99783A86-F58C-D04E-AAFC-8C3B16D77292}"/>
              </a:ext>
            </a:extLst>
          </p:cNvPr>
          <p:cNvSpPr txBox="1"/>
          <p:nvPr/>
        </p:nvSpPr>
        <p:spPr>
          <a:xfrm>
            <a:off x="7889001" y="1116408"/>
            <a:ext cx="693179" cy="461665"/>
          </a:xfrm>
          <a:prstGeom prst="rect">
            <a:avLst/>
          </a:prstGeom>
          <a:noFill/>
        </p:spPr>
        <p:txBody>
          <a:bodyPr wrap="square" rtlCol="0">
            <a:spAutoFit/>
          </a:bodyPr>
          <a:lstStyle/>
          <a:p>
            <a:pPr algn="ctr"/>
            <a:r>
              <a:rPr lang="en-US" sz="2400" b="1" dirty="0">
                <a:latin typeface="Quadraat" panose="02000503060000090004" pitchFamily="2" charset="0"/>
              </a:rPr>
              <a:t>ALT</a:t>
            </a:r>
          </a:p>
        </p:txBody>
      </p:sp>
    </p:spTree>
    <p:extLst>
      <p:ext uri="{BB962C8B-B14F-4D97-AF65-F5344CB8AC3E}">
        <p14:creationId xmlns:p14="http://schemas.microsoft.com/office/powerpoint/2010/main" val="887148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0B489-17BA-914C-BE79-9F7034059ED5}"/>
              </a:ext>
            </a:extLst>
          </p:cNvPr>
          <p:cNvSpPr>
            <a:spLocks noGrp="1"/>
          </p:cNvSpPr>
          <p:nvPr>
            <p:ph type="title"/>
          </p:nvPr>
        </p:nvSpPr>
        <p:spPr/>
        <p:txBody>
          <a:bodyPr/>
          <a:lstStyle/>
          <a:p>
            <a:r>
              <a:rPr lang="en-US" dirty="0"/>
              <a:t>Function of ALT and AST</a:t>
            </a:r>
          </a:p>
        </p:txBody>
      </p:sp>
      <p:sp>
        <p:nvSpPr>
          <p:cNvPr id="3" name="Content Placeholder 2">
            <a:extLst>
              <a:ext uri="{FF2B5EF4-FFF2-40B4-BE49-F238E27FC236}">
                <a16:creationId xmlns:a16="http://schemas.microsoft.com/office/drawing/2014/main" id="{5DF70812-ADF5-B44B-A8B7-1E73392CA2C5}"/>
              </a:ext>
            </a:extLst>
          </p:cNvPr>
          <p:cNvSpPr>
            <a:spLocks noGrp="1"/>
          </p:cNvSpPr>
          <p:nvPr>
            <p:ph idx="1"/>
          </p:nvPr>
        </p:nvSpPr>
        <p:spPr>
          <a:xfrm>
            <a:off x="838200" y="1103585"/>
            <a:ext cx="10515600" cy="3982765"/>
          </a:xfrm>
        </p:spPr>
        <p:txBody>
          <a:bodyPr anchor="ctr"/>
          <a:lstStyle/>
          <a:p>
            <a:r>
              <a:rPr lang="en-US" dirty="0"/>
              <a:t>What functions do ALT and AST serve in hepatocytes?</a:t>
            </a:r>
          </a:p>
          <a:p>
            <a:endParaRPr lang="en-US" dirty="0"/>
          </a:p>
          <a:p>
            <a:r>
              <a:rPr lang="en-US" dirty="0"/>
              <a:t>What functions do they serve in serum?</a:t>
            </a:r>
          </a:p>
        </p:txBody>
      </p:sp>
    </p:spTree>
    <p:extLst>
      <p:ext uri="{BB962C8B-B14F-4D97-AF65-F5344CB8AC3E}">
        <p14:creationId xmlns:p14="http://schemas.microsoft.com/office/powerpoint/2010/main" val="36267535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0B489-17BA-914C-BE79-9F7034059ED5}"/>
              </a:ext>
            </a:extLst>
          </p:cNvPr>
          <p:cNvSpPr>
            <a:spLocks noGrp="1"/>
          </p:cNvSpPr>
          <p:nvPr>
            <p:ph type="title"/>
          </p:nvPr>
        </p:nvSpPr>
        <p:spPr/>
        <p:txBody>
          <a:bodyPr/>
          <a:lstStyle/>
          <a:p>
            <a:r>
              <a:rPr lang="en-US" dirty="0"/>
              <a:t>Function of ALT and AST</a:t>
            </a:r>
          </a:p>
        </p:txBody>
      </p:sp>
      <p:pic>
        <p:nvPicPr>
          <p:cNvPr id="12" name="Picture 11">
            <a:extLst>
              <a:ext uri="{FF2B5EF4-FFF2-40B4-BE49-F238E27FC236}">
                <a16:creationId xmlns:a16="http://schemas.microsoft.com/office/drawing/2014/main" id="{81F75683-1DCA-BC49-B25E-455AF79A87B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1647" y="1019503"/>
            <a:ext cx="9408706" cy="5292397"/>
          </a:xfrm>
          <a:prstGeom prst="rect">
            <a:avLst/>
          </a:prstGeom>
        </p:spPr>
      </p:pic>
    </p:spTree>
    <p:extLst>
      <p:ext uri="{BB962C8B-B14F-4D97-AF65-F5344CB8AC3E}">
        <p14:creationId xmlns:p14="http://schemas.microsoft.com/office/powerpoint/2010/main" val="37181780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C10A4-DDE8-BC43-ACEA-3E2A8F4DCB6A}"/>
              </a:ext>
            </a:extLst>
          </p:cNvPr>
          <p:cNvSpPr>
            <a:spLocks noGrp="1"/>
          </p:cNvSpPr>
          <p:nvPr>
            <p:ph type="title"/>
          </p:nvPr>
        </p:nvSpPr>
        <p:spPr/>
        <p:txBody>
          <a:bodyPr/>
          <a:lstStyle/>
          <a:p>
            <a:r>
              <a:rPr lang="en-US" dirty="0"/>
              <a:t>Alkaline Phosphatase (ALP)</a:t>
            </a:r>
          </a:p>
        </p:txBody>
      </p:sp>
      <p:sp>
        <p:nvSpPr>
          <p:cNvPr id="5" name="Text Placeholder 4">
            <a:extLst>
              <a:ext uri="{FF2B5EF4-FFF2-40B4-BE49-F238E27FC236}">
                <a16:creationId xmlns:a16="http://schemas.microsoft.com/office/drawing/2014/main" id="{2CDF82EB-3857-FE4F-84DE-FEE6F00461B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57209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C10A4-DDE8-BC43-ACEA-3E2A8F4DCB6A}"/>
              </a:ext>
            </a:extLst>
          </p:cNvPr>
          <p:cNvSpPr>
            <a:spLocks noGrp="1"/>
          </p:cNvSpPr>
          <p:nvPr>
            <p:ph type="title"/>
          </p:nvPr>
        </p:nvSpPr>
        <p:spPr/>
        <p:txBody>
          <a:bodyPr/>
          <a:lstStyle/>
          <a:p>
            <a:r>
              <a:rPr lang="en-US" dirty="0"/>
              <a:t>Alkaline Phosphatase (ALP)</a:t>
            </a:r>
          </a:p>
        </p:txBody>
      </p:sp>
      <p:sp>
        <p:nvSpPr>
          <p:cNvPr id="3" name="Content Placeholder 2">
            <a:extLst>
              <a:ext uri="{FF2B5EF4-FFF2-40B4-BE49-F238E27FC236}">
                <a16:creationId xmlns:a16="http://schemas.microsoft.com/office/drawing/2014/main" id="{0D0E97B2-B2E7-5F4C-98F8-E4A826B6E420}"/>
              </a:ext>
            </a:extLst>
          </p:cNvPr>
          <p:cNvSpPr>
            <a:spLocks noGrp="1"/>
          </p:cNvSpPr>
          <p:nvPr>
            <p:ph idx="1"/>
          </p:nvPr>
        </p:nvSpPr>
        <p:spPr/>
        <p:txBody>
          <a:bodyPr anchor="ctr"/>
          <a:lstStyle/>
          <a:p>
            <a:pPr marL="0" indent="0" algn="ctr">
              <a:buNone/>
            </a:pPr>
            <a:r>
              <a:rPr lang="en-US" dirty="0"/>
              <a:t>ALPs are group of isoenzymes found in</a:t>
            </a:r>
          </a:p>
          <a:p>
            <a:pPr marL="0" indent="0" algn="ctr">
              <a:buNone/>
            </a:pPr>
            <a:endParaRPr lang="en-US" dirty="0"/>
          </a:p>
          <a:p>
            <a:pPr marL="0" indent="0" algn="ctr">
              <a:buNone/>
            </a:pPr>
            <a:r>
              <a:rPr lang="en-US" b="1" dirty="0"/>
              <a:t>Liver</a:t>
            </a:r>
          </a:p>
          <a:p>
            <a:pPr marL="0" indent="0" algn="ctr">
              <a:buNone/>
            </a:pPr>
            <a:r>
              <a:rPr lang="en-US" b="1" dirty="0"/>
              <a:t>Biliary tree</a:t>
            </a:r>
          </a:p>
          <a:p>
            <a:pPr marL="0" indent="0" algn="ctr">
              <a:buNone/>
            </a:pPr>
            <a:r>
              <a:rPr lang="en-US" b="1" dirty="0"/>
              <a:t>Kidney</a:t>
            </a:r>
          </a:p>
          <a:p>
            <a:pPr marL="0" indent="0" algn="ctr">
              <a:buNone/>
            </a:pPr>
            <a:r>
              <a:rPr lang="en-US" b="1" dirty="0"/>
              <a:t>Bone</a:t>
            </a:r>
          </a:p>
          <a:p>
            <a:pPr marL="0" indent="0" algn="ctr">
              <a:buNone/>
            </a:pPr>
            <a:r>
              <a:rPr lang="en-US" b="1" dirty="0"/>
              <a:t>Placenta</a:t>
            </a:r>
          </a:p>
        </p:txBody>
      </p:sp>
    </p:spTree>
    <p:extLst>
      <p:ext uri="{BB962C8B-B14F-4D97-AF65-F5344CB8AC3E}">
        <p14:creationId xmlns:p14="http://schemas.microsoft.com/office/powerpoint/2010/main" val="37284003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9AAF98-CFE8-3048-B748-CDBBA68E6245}"/>
              </a:ext>
            </a:extLst>
          </p:cNvPr>
          <p:cNvSpPr>
            <a:spLocks noGrp="1"/>
          </p:cNvSpPr>
          <p:nvPr>
            <p:ph type="title"/>
          </p:nvPr>
        </p:nvSpPr>
        <p:spPr/>
        <p:txBody>
          <a:bodyPr/>
          <a:lstStyle/>
          <a:p>
            <a:r>
              <a:rPr lang="en-US" dirty="0"/>
              <a:t>What do you do if there is isolated ALP elevation?</a:t>
            </a:r>
          </a:p>
        </p:txBody>
      </p:sp>
      <p:sp>
        <p:nvSpPr>
          <p:cNvPr id="5" name="Text Placeholder 4">
            <a:extLst>
              <a:ext uri="{FF2B5EF4-FFF2-40B4-BE49-F238E27FC236}">
                <a16:creationId xmlns:a16="http://schemas.microsoft.com/office/drawing/2014/main" id="{B6351A22-6931-0C4C-BE17-BDF42CD4407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47134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C10A4-DDE8-BC43-ACEA-3E2A8F4DCB6A}"/>
              </a:ext>
            </a:extLst>
          </p:cNvPr>
          <p:cNvSpPr>
            <a:spLocks noGrp="1"/>
          </p:cNvSpPr>
          <p:nvPr>
            <p:ph type="title"/>
          </p:nvPr>
        </p:nvSpPr>
        <p:spPr/>
        <p:txBody>
          <a:bodyPr/>
          <a:lstStyle/>
          <a:p>
            <a:r>
              <a:rPr lang="en-US" dirty="0"/>
              <a:t>Alkaline Phosphatase (ALP)</a:t>
            </a:r>
          </a:p>
        </p:txBody>
      </p:sp>
      <p:pic>
        <p:nvPicPr>
          <p:cNvPr id="6" name="Content Placeholder 5">
            <a:extLst>
              <a:ext uri="{FF2B5EF4-FFF2-40B4-BE49-F238E27FC236}">
                <a16:creationId xmlns:a16="http://schemas.microsoft.com/office/drawing/2014/main" id="{BFC02C86-AE84-954D-BE4B-73B6246523D6}"/>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2112347" y="1103313"/>
            <a:ext cx="7967305" cy="5402262"/>
          </a:xfrm>
          <a:prstGeom prst="rect">
            <a:avLst/>
          </a:prstGeom>
        </p:spPr>
      </p:pic>
    </p:spTree>
    <p:extLst>
      <p:ext uri="{BB962C8B-B14F-4D97-AF65-F5344CB8AC3E}">
        <p14:creationId xmlns:p14="http://schemas.microsoft.com/office/powerpoint/2010/main" val="34211120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F3D20-55EE-5943-AF0B-2E1A53B5AC1E}"/>
              </a:ext>
            </a:extLst>
          </p:cNvPr>
          <p:cNvSpPr>
            <a:spLocks noGrp="1"/>
          </p:cNvSpPr>
          <p:nvPr>
            <p:ph type="title"/>
          </p:nvPr>
        </p:nvSpPr>
        <p:spPr/>
        <p:txBody>
          <a:bodyPr>
            <a:normAutofit/>
          </a:bodyPr>
          <a:lstStyle/>
          <a:p>
            <a:r>
              <a:rPr lang="en-US" dirty="0"/>
              <a:t>5′-Nucleotidase </a:t>
            </a:r>
          </a:p>
        </p:txBody>
      </p:sp>
      <p:sp>
        <p:nvSpPr>
          <p:cNvPr id="3" name="Content Placeholder 2">
            <a:extLst>
              <a:ext uri="{FF2B5EF4-FFF2-40B4-BE49-F238E27FC236}">
                <a16:creationId xmlns:a16="http://schemas.microsoft.com/office/drawing/2014/main" id="{A2A3F72C-F946-CA4D-8356-1A52D1DEF2FD}"/>
              </a:ext>
            </a:extLst>
          </p:cNvPr>
          <p:cNvSpPr>
            <a:spLocks noGrp="1"/>
          </p:cNvSpPr>
          <p:nvPr>
            <p:ph idx="1"/>
          </p:nvPr>
        </p:nvSpPr>
        <p:spPr>
          <a:xfrm>
            <a:off x="838200" y="1103585"/>
            <a:ext cx="10515600" cy="1303969"/>
          </a:xfrm>
        </p:spPr>
        <p:txBody>
          <a:bodyPr/>
          <a:lstStyle/>
          <a:p>
            <a:r>
              <a:rPr lang="en-US" dirty="0"/>
              <a:t>Protein associated with sinusoidal and canalicular membranes.</a:t>
            </a:r>
          </a:p>
          <a:p>
            <a:r>
              <a:rPr lang="en-US" dirty="0"/>
              <a:t>Can differentiate liver from bone injury, unlike ALP.</a:t>
            </a:r>
          </a:p>
        </p:txBody>
      </p:sp>
      <p:pic>
        <p:nvPicPr>
          <p:cNvPr id="4" name="Picture 3">
            <a:extLst>
              <a:ext uri="{FF2B5EF4-FFF2-40B4-BE49-F238E27FC236}">
                <a16:creationId xmlns:a16="http://schemas.microsoft.com/office/drawing/2014/main" id="{597E36F3-EDF1-954E-9BE3-D3EEAB93F43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647471" y="2225224"/>
            <a:ext cx="4897057" cy="4450445"/>
          </a:xfrm>
          <a:prstGeom prst="rect">
            <a:avLst/>
          </a:prstGeom>
        </p:spPr>
      </p:pic>
    </p:spTree>
    <p:extLst>
      <p:ext uri="{BB962C8B-B14F-4D97-AF65-F5344CB8AC3E}">
        <p14:creationId xmlns:p14="http://schemas.microsoft.com/office/powerpoint/2010/main" val="13504583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427CAC-6F06-024D-912A-BC32AC704529}"/>
              </a:ext>
            </a:extLst>
          </p:cNvPr>
          <p:cNvSpPr>
            <a:spLocks noGrp="1"/>
          </p:cNvSpPr>
          <p:nvPr>
            <p:ph type="title"/>
          </p:nvPr>
        </p:nvSpPr>
        <p:spPr/>
        <p:txBody>
          <a:bodyPr/>
          <a:lstStyle/>
          <a:p>
            <a:r>
              <a:rPr lang="en-US" dirty="0"/>
              <a:t>Albumin and prothrombin time</a:t>
            </a:r>
          </a:p>
        </p:txBody>
      </p:sp>
      <p:sp>
        <p:nvSpPr>
          <p:cNvPr id="5" name="Text Placeholder 4">
            <a:extLst>
              <a:ext uri="{FF2B5EF4-FFF2-40B4-BE49-F238E27FC236}">
                <a16:creationId xmlns:a16="http://schemas.microsoft.com/office/drawing/2014/main" id="{AB8AE50E-A1DB-9045-902D-BC0DBBE2A2A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199496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D27-E5A7-E048-98CD-E88862773D59}"/>
              </a:ext>
            </a:extLst>
          </p:cNvPr>
          <p:cNvSpPr>
            <a:spLocks noGrp="1"/>
          </p:cNvSpPr>
          <p:nvPr>
            <p:ph type="title"/>
          </p:nvPr>
        </p:nvSpPr>
        <p:spPr/>
        <p:txBody>
          <a:bodyPr/>
          <a:lstStyle/>
          <a:p>
            <a:r>
              <a:rPr lang="en-US" dirty="0"/>
              <a:t>Albumin</a:t>
            </a:r>
          </a:p>
        </p:txBody>
      </p:sp>
      <p:pic>
        <p:nvPicPr>
          <p:cNvPr id="4" name="Content Placeholder 3">
            <a:extLst>
              <a:ext uri="{FF2B5EF4-FFF2-40B4-BE49-F238E27FC236}">
                <a16:creationId xmlns:a16="http://schemas.microsoft.com/office/drawing/2014/main" id="{A92F3D2B-2B7F-0C4A-BB4F-13F38EC31A16}"/>
              </a:ext>
            </a:extLst>
          </p:cNvPr>
          <p:cNvPicPr>
            <a:picLocks noGrp="1" noChangeAspect="1"/>
          </p:cNvPicPr>
          <p:nvPr>
            <p:ph sz="half" idx="1"/>
          </p:nvPr>
        </p:nvPicPr>
        <p:blipFill rotWithShape="1">
          <a:blip r:embed="rId2" cstate="email">
            <a:extLst>
              <a:ext uri="{28A0092B-C50C-407E-A947-70E740481C1C}">
                <a14:useLocalDpi xmlns:a14="http://schemas.microsoft.com/office/drawing/2010/main"/>
              </a:ext>
            </a:extLst>
          </a:blip>
          <a:srcRect/>
          <a:stretch/>
        </p:blipFill>
        <p:spPr>
          <a:xfrm>
            <a:off x="7569200" y="1019503"/>
            <a:ext cx="3982194" cy="5330497"/>
          </a:xfrm>
          <a:prstGeom prst="rect">
            <a:avLst/>
          </a:prstGeom>
        </p:spPr>
      </p:pic>
      <p:sp>
        <p:nvSpPr>
          <p:cNvPr id="8" name="Content Placeholder 7">
            <a:extLst>
              <a:ext uri="{FF2B5EF4-FFF2-40B4-BE49-F238E27FC236}">
                <a16:creationId xmlns:a16="http://schemas.microsoft.com/office/drawing/2014/main" id="{8A6CCE29-9B85-1B4C-86F0-530DEEF24331}"/>
              </a:ext>
            </a:extLst>
          </p:cNvPr>
          <p:cNvSpPr>
            <a:spLocks noGrp="1"/>
          </p:cNvSpPr>
          <p:nvPr>
            <p:ph sz="half" idx="2"/>
          </p:nvPr>
        </p:nvSpPr>
        <p:spPr>
          <a:xfrm>
            <a:off x="671512" y="1019503"/>
            <a:ext cx="6543675" cy="5646048"/>
          </a:xfrm>
        </p:spPr>
        <p:txBody>
          <a:bodyPr anchor="ctr"/>
          <a:lstStyle/>
          <a:p>
            <a:pPr marL="0" indent="0" algn="ctr">
              <a:buNone/>
            </a:pPr>
            <a:r>
              <a:rPr lang="en-US" dirty="0"/>
              <a:t>“I have seen a beggar who voided milk in his urine for five years and this weakened him to death. When he added wine or vinegar to this urine it coagulated, or when he left it for a few days, cream separated on top” </a:t>
            </a:r>
          </a:p>
          <a:p>
            <a:pPr marL="0" indent="0" algn="ctr">
              <a:buNone/>
            </a:pPr>
            <a:r>
              <a:rPr lang="en-US" dirty="0"/>
              <a:t>- Paracelsus (1493–1541)</a:t>
            </a:r>
          </a:p>
          <a:p>
            <a:endParaRPr lang="en-US" dirty="0"/>
          </a:p>
          <a:p>
            <a:r>
              <a:rPr lang="en-US" dirty="0"/>
              <a:t>Produced exclusively by hepatocytes.</a:t>
            </a:r>
          </a:p>
          <a:p>
            <a:pPr lvl="1"/>
            <a:r>
              <a:rPr lang="en-US" dirty="0"/>
              <a:t>15 g/day</a:t>
            </a:r>
          </a:p>
          <a:p>
            <a:r>
              <a:rPr lang="en-US" dirty="0"/>
              <a:t>Total body albumin 300-500 g</a:t>
            </a:r>
          </a:p>
          <a:p>
            <a:r>
              <a:rPr lang="en-US" dirty="0"/>
              <a:t>Half-life is days</a:t>
            </a:r>
          </a:p>
          <a:p>
            <a:endParaRPr lang="en-US" dirty="0"/>
          </a:p>
        </p:txBody>
      </p:sp>
    </p:spTree>
    <p:extLst>
      <p:ext uri="{BB962C8B-B14F-4D97-AF65-F5344CB8AC3E}">
        <p14:creationId xmlns:p14="http://schemas.microsoft.com/office/powerpoint/2010/main" val="40324855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D27-E5A7-E048-98CD-E88862773D59}"/>
              </a:ext>
            </a:extLst>
          </p:cNvPr>
          <p:cNvSpPr>
            <a:spLocks noGrp="1"/>
          </p:cNvSpPr>
          <p:nvPr>
            <p:ph type="title"/>
          </p:nvPr>
        </p:nvSpPr>
        <p:spPr/>
        <p:txBody>
          <a:bodyPr/>
          <a:lstStyle/>
          <a:p>
            <a:r>
              <a:rPr lang="en-US" dirty="0"/>
              <a:t>Albumin</a:t>
            </a:r>
          </a:p>
        </p:txBody>
      </p:sp>
      <p:sp>
        <p:nvSpPr>
          <p:cNvPr id="8" name="Content Placeholder 7">
            <a:extLst>
              <a:ext uri="{FF2B5EF4-FFF2-40B4-BE49-F238E27FC236}">
                <a16:creationId xmlns:a16="http://schemas.microsoft.com/office/drawing/2014/main" id="{8A6CCE29-9B85-1B4C-86F0-530DEEF24331}"/>
              </a:ext>
            </a:extLst>
          </p:cNvPr>
          <p:cNvSpPr>
            <a:spLocks noGrp="1"/>
          </p:cNvSpPr>
          <p:nvPr>
            <p:ph sz="half" idx="2"/>
          </p:nvPr>
        </p:nvSpPr>
        <p:spPr>
          <a:xfrm>
            <a:off x="671512" y="1019503"/>
            <a:ext cx="6543675" cy="5646048"/>
          </a:xfrm>
        </p:spPr>
        <p:txBody>
          <a:bodyPr anchor="ctr"/>
          <a:lstStyle/>
          <a:p>
            <a:pPr marL="0" indent="0" algn="ctr">
              <a:buNone/>
            </a:pPr>
            <a:r>
              <a:rPr lang="en-US" b="1" dirty="0"/>
              <a:t>Can you measure Albumin as a screening tool for liver disease?</a:t>
            </a:r>
          </a:p>
          <a:p>
            <a:endParaRPr lang="en-US" dirty="0"/>
          </a:p>
        </p:txBody>
      </p:sp>
      <p:pic>
        <p:nvPicPr>
          <p:cNvPr id="7" name="Content Placeholder 3">
            <a:extLst>
              <a:ext uri="{FF2B5EF4-FFF2-40B4-BE49-F238E27FC236}">
                <a16:creationId xmlns:a16="http://schemas.microsoft.com/office/drawing/2014/main" id="{DABCC912-A81F-1C40-BC43-820B6ED4577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569200" y="1019503"/>
            <a:ext cx="3982194" cy="5330497"/>
          </a:xfrm>
          <a:prstGeom prst="rect">
            <a:avLst/>
          </a:prstGeom>
        </p:spPr>
      </p:pic>
    </p:spTree>
    <p:extLst>
      <p:ext uri="{BB962C8B-B14F-4D97-AF65-F5344CB8AC3E}">
        <p14:creationId xmlns:p14="http://schemas.microsoft.com/office/powerpoint/2010/main" val="40387610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D27-E5A7-E048-98CD-E88862773D59}"/>
              </a:ext>
            </a:extLst>
          </p:cNvPr>
          <p:cNvSpPr>
            <a:spLocks noGrp="1"/>
          </p:cNvSpPr>
          <p:nvPr>
            <p:ph type="title"/>
          </p:nvPr>
        </p:nvSpPr>
        <p:spPr/>
        <p:txBody>
          <a:bodyPr/>
          <a:lstStyle/>
          <a:p>
            <a:r>
              <a:rPr lang="en-US" dirty="0"/>
              <a:t>Albumin</a:t>
            </a:r>
          </a:p>
        </p:txBody>
      </p:sp>
      <p:sp>
        <p:nvSpPr>
          <p:cNvPr id="8" name="Content Placeholder 7">
            <a:extLst>
              <a:ext uri="{FF2B5EF4-FFF2-40B4-BE49-F238E27FC236}">
                <a16:creationId xmlns:a16="http://schemas.microsoft.com/office/drawing/2014/main" id="{8A6CCE29-9B85-1B4C-86F0-530DEEF24331}"/>
              </a:ext>
            </a:extLst>
          </p:cNvPr>
          <p:cNvSpPr>
            <a:spLocks noGrp="1"/>
          </p:cNvSpPr>
          <p:nvPr>
            <p:ph sz="half" idx="2"/>
          </p:nvPr>
        </p:nvSpPr>
        <p:spPr>
          <a:xfrm>
            <a:off x="671512" y="1019503"/>
            <a:ext cx="6543675" cy="5646048"/>
          </a:xfrm>
        </p:spPr>
        <p:txBody>
          <a:bodyPr anchor="ctr"/>
          <a:lstStyle/>
          <a:p>
            <a:pPr marL="0" indent="0" algn="ctr">
              <a:buNone/>
            </a:pPr>
            <a:r>
              <a:rPr lang="en-US" b="1" dirty="0"/>
              <a:t>Can you measure Albumin as a screening tool for liver disease? </a:t>
            </a:r>
            <a:r>
              <a:rPr lang="en-US" b="1" dirty="0">
                <a:highlight>
                  <a:srgbClr val="FFFF00"/>
                </a:highlight>
              </a:rPr>
              <a:t>No.</a:t>
            </a:r>
          </a:p>
          <a:p>
            <a:endParaRPr lang="en-US" dirty="0"/>
          </a:p>
        </p:txBody>
      </p:sp>
      <p:pic>
        <p:nvPicPr>
          <p:cNvPr id="7" name="Content Placeholder 3">
            <a:extLst>
              <a:ext uri="{FF2B5EF4-FFF2-40B4-BE49-F238E27FC236}">
                <a16:creationId xmlns:a16="http://schemas.microsoft.com/office/drawing/2014/main" id="{24046C50-0F88-3B40-97E5-13B1799D4F2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569200" y="1019503"/>
            <a:ext cx="3982194" cy="5330497"/>
          </a:xfrm>
          <a:prstGeom prst="rect">
            <a:avLst/>
          </a:prstGeom>
        </p:spPr>
      </p:pic>
    </p:spTree>
    <p:extLst>
      <p:ext uri="{BB962C8B-B14F-4D97-AF65-F5344CB8AC3E}">
        <p14:creationId xmlns:p14="http://schemas.microsoft.com/office/powerpoint/2010/main" val="8076304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D27-E5A7-E048-98CD-E88862773D59}"/>
              </a:ext>
            </a:extLst>
          </p:cNvPr>
          <p:cNvSpPr>
            <a:spLocks noGrp="1"/>
          </p:cNvSpPr>
          <p:nvPr>
            <p:ph type="title"/>
          </p:nvPr>
        </p:nvSpPr>
        <p:spPr/>
        <p:txBody>
          <a:bodyPr/>
          <a:lstStyle/>
          <a:p>
            <a:r>
              <a:rPr lang="en-US" dirty="0"/>
              <a:t>Prothrombin time</a:t>
            </a:r>
          </a:p>
        </p:txBody>
      </p:sp>
      <p:pic>
        <p:nvPicPr>
          <p:cNvPr id="9" name="Content Placeholder 8">
            <a:extLst>
              <a:ext uri="{FF2B5EF4-FFF2-40B4-BE49-F238E27FC236}">
                <a16:creationId xmlns:a16="http://schemas.microsoft.com/office/drawing/2014/main" id="{2639A5F6-1319-9D48-A292-E76EA219280C}"/>
              </a:ext>
            </a:extLst>
          </p:cNvPr>
          <p:cNvPicPr>
            <a:picLocks noGrp="1" noChangeAspect="1"/>
          </p:cNvPicPr>
          <p:nvPr>
            <p:ph idx="1"/>
          </p:nvPr>
        </p:nvPicPr>
        <p:blipFill rotWithShape="1">
          <a:blip r:embed="rId2" cstate="email">
            <a:extLst>
              <a:ext uri="{28A0092B-C50C-407E-A947-70E740481C1C}">
                <a14:useLocalDpi xmlns:a14="http://schemas.microsoft.com/office/drawing/2010/main"/>
              </a:ext>
            </a:extLst>
          </a:blip>
          <a:srcRect/>
          <a:stretch/>
        </p:blipFill>
        <p:spPr>
          <a:xfrm>
            <a:off x="1116001" y="1019503"/>
            <a:ext cx="9959997" cy="5638472"/>
          </a:xfrm>
          <a:prstGeom prst="rect">
            <a:avLst/>
          </a:prstGeom>
        </p:spPr>
      </p:pic>
    </p:spTree>
    <p:extLst>
      <p:ext uri="{BB962C8B-B14F-4D97-AF65-F5344CB8AC3E}">
        <p14:creationId xmlns:p14="http://schemas.microsoft.com/office/powerpoint/2010/main" val="14493429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D27-E5A7-E048-98CD-E88862773D59}"/>
              </a:ext>
            </a:extLst>
          </p:cNvPr>
          <p:cNvSpPr>
            <a:spLocks noGrp="1"/>
          </p:cNvSpPr>
          <p:nvPr>
            <p:ph type="title"/>
          </p:nvPr>
        </p:nvSpPr>
        <p:spPr/>
        <p:txBody>
          <a:bodyPr/>
          <a:lstStyle/>
          <a:p>
            <a:r>
              <a:rPr lang="en-US" dirty="0"/>
              <a:t>Prothrombin time</a:t>
            </a:r>
          </a:p>
        </p:txBody>
      </p:sp>
      <p:sp>
        <p:nvSpPr>
          <p:cNvPr id="5" name="Content Placeholder 4">
            <a:extLst>
              <a:ext uri="{FF2B5EF4-FFF2-40B4-BE49-F238E27FC236}">
                <a16:creationId xmlns:a16="http://schemas.microsoft.com/office/drawing/2014/main" id="{FF65117E-D34E-634E-92B4-848F188B6C41}"/>
              </a:ext>
            </a:extLst>
          </p:cNvPr>
          <p:cNvSpPr>
            <a:spLocks noGrp="1"/>
          </p:cNvSpPr>
          <p:nvPr>
            <p:ph idx="1"/>
          </p:nvPr>
        </p:nvSpPr>
        <p:spPr/>
        <p:txBody>
          <a:bodyPr>
            <a:normAutofit/>
          </a:bodyPr>
          <a:lstStyle/>
          <a:p>
            <a:pPr marL="0" indent="0">
              <a:buNone/>
            </a:pPr>
            <a:r>
              <a:rPr lang="en-US" dirty="0"/>
              <a:t>All of the following coagulation factors are produced by the liver </a:t>
            </a:r>
            <a:r>
              <a:rPr lang="en-US" u="sng" dirty="0"/>
              <a:t>except:</a:t>
            </a:r>
            <a:endParaRPr lang="en-US" dirty="0"/>
          </a:p>
          <a:p>
            <a:pPr marL="514350" indent="-514350">
              <a:buAutoNum type="alphaUcParenR"/>
            </a:pPr>
            <a:endParaRPr lang="en-US" dirty="0"/>
          </a:p>
          <a:p>
            <a:pPr marL="514350" indent="-514350">
              <a:buAutoNum type="alphaUcParenR"/>
            </a:pPr>
            <a:r>
              <a:rPr lang="en-US" dirty="0"/>
              <a:t>I</a:t>
            </a:r>
          </a:p>
          <a:p>
            <a:pPr marL="514350" indent="-514350">
              <a:buAutoNum type="alphaUcParenR"/>
            </a:pPr>
            <a:r>
              <a:rPr lang="en-US" dirty="0"/>
              <a:t>III</a:t>
            </a:r>
          </a:p>
          <a:p>
            <a:pPr marL="514350" indent="-514350">
              <a:buAutoNum type="alphaUcParenR"/>
            </a:pPr>
            <a:r>
              <a:rPr lang="en-US" dirty="0"/>
              <a:t>IV</a:t>
            </a:r>
          </a:p>
          <a:p>
            <a:pPr marL="514350" indent="-514350">
              <a:buAutoNum type="alphaUcParenR"/>
            </a:pPr>
            <a:r>
              <a:rPr lang="en-US" dirty="0"/>
              <a:t>VIII</a:t>
            </a:r>
          </a:p>
          <a:p>
            <a:pPr marL="514350" indent="-514350">
              <a:buAutoNum type="alphaUcParenR"/>
            </a:pPr>
            <a:r>
              <a:rPr lang="en-US" dirty="0"/>
              <a:t>IX</a:t>
            </a:r>
          </a:p>
          <a:p>
            <a:pPr marL="514350" indent="-514350">
              <a:buAutoNum type="alphaUcParenR"/>
            </a:pPr>
            <a:r>
              <a:rPr lang="en-US" dirty="0"/>
              <a:t>XI</a:t>
            </a:r>
          </a:p>
          <a:p>
            <a:pPr marL="514350" indent="-514350">
              <a:buAutoNum type="alphaUcParenR"/>
            </a:pPr>
            <a:r>
              <a:rPr lang="en-US" dirty="0"/>
              <a:t>XII</a:t>
            </a:r>
          </a:p>
        </p:txBody>
      </p:sp>
    </p:spTree>
    <p:extLst>
      <p:ext uri="{BB962C8B-B14F-4D97-AF65-F5344CB8AC3E}">
        <p14:creationId xmlns:p14="http://schemas.microsoft.com/office/powerpoint/2010/main" val="18602755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D27-E5A7-E048-98CD-E88862773D59}"/>
              </a:ext>
            </a:extLst>
          </p:cNvPr>
          <p:cNvSpPr>
            <a:spLocks noGrp="1"/>
          </p:cNvSpPr>
          <p:nvPr>
            <p:ph type="title"/>
          </p:nvPr>
        </p:nvSpPr>
        <p:spPr/>
        <p:txBody>
          <a:bodyPr/>
          <a:lstStyle/>
          <a:p>
            <a:r>
              <a:rPr lang="en-US" dirty="0"/>
              <a:t>Prothrombin time</a:t>
            </a:r>
          </a:p>
        </p:txBody>
      </p:sp>
      <p:sp>
        <p:nvSpPr>
          <p:cNvPr id="5" name="Content Placeholder 4">
            <a:extLst>
              <a:ext uri="{FF2B5EF4-FFF2-40B4-BE49-F238E27FC236}">
                <a16:creationId xmlns:a16="http://schemas.microsoft.com/office/drawing/2014/main" id="{FF65117E-D34E-634E-92B4-848F188B6C41}"/>
              </a:ext>
            </a:extLst>
          </p:cNvPr>
          <p:cNvSpPr>
            <a:spLocks noGrp="1"/>
          </p:cNvSpPr>
          <p:nvPr>
            <p:ph idx="1"/>
          </p:nvPr>
        </p:nvSpPr>
        <p:spPr/>
        <p:txBody>
          <a:bodyPr>
            <a:normAutofit/>
          </a:bodyPr>
          <a:lstStyle/>
          <a:p>
            <a:pPr marL="0" indent="0">
              <a:buNone/>
            </a:pPr>
            <a:r>
              <a:rPr lang="en-US" dirty="0"/>
              <a:t>All of the following coagulation factors are produced by the liver </a:t>
            </a:r>
            <a:r>
              <a:rPr lang="en-US" u="sng" dirty="0"/>
              <a:t>except:</a:t>
            </a:r>
            <a:endParaRPr lang="en-US" dirty="0"/>
          </a:p>
          <a:p>
            <a:pPr marL="514350" indent="-514350">
              <a:buAutoNum type="alphaUcParenR"/>
            </a:pPr>
            <a:endParaRPr lang="en-US" dirty="0"/>
          </a:p>
          <a:p>
            <a:pPr marL="514350" indent="-514350">
              <a:buAutoNum type="alphaUcParenR"/>
            </a:pPr>
            <a:r>
              <a:rPr lang="en-US" dirty="0"/>
              <a:t>I</a:t>
            </a:r>
          </a:p>
          <a:p>
            <a:pPr marL="514350" indent="-514350">
              <a:buAutoNum type="alphaUcParenR"/>
            </a:pPr>
            <a:r>
              <a:rPr lang="en-US" dirty="0"/>
              <a:t>III</a:t>
            </a:r>
          </a:p>
          <a:p>
            <a:pPr marL="514350" indent="-514350">
              <a:buAutoNum type="alphaUcParenR"/>
            </a:pPr>
            <a:r>
              <a:rPr lang="en-US" dirty="0"/>
              <a:t>IV</a:t>
            </a:r>
          </a:p>
          <a:p>
            <a:pPr marL="514350" indent="-514350">
              <a:buAutoNum type="alphaUcParenR"/>
            </a:pPr>
            <a:r>
              <a:rPr lang="en-US" b="1" dirty="0">
                <a:highlight>
                  <a:srgbClr val="FFFF00"/>
                </a:highlight>
              </a:rPr>
              <a:t>VIII – Where is it produced?</a:t>
            </a:r>
          </a:p>
          <a:p>
            <a:pPr marL="514350" indent="-514350">
              <a:buAutoNum type="alphaUcParenR"/>
            </a:pPr>
            <a:r>
              <a:rPr lang="en-US" dirty="0"/>
              <a:t>IX</a:t>
            </a:r>
          </a:p>
          <a:p>
            <a:pPr marL="514350" indent="-514350">
              <a:buAutoNum type="alphaUcParenR"/>
            </a:pPr>
            <a:r>
              <a:rPr lang="en-US" dirty="0"/>
              <a:t>XI</a:t>
            </a:r>
          </a:p>
          <a:p>
            <a:pPr marL="514350" indent="-514350">
              <a:buAutoNum type="alphaUcParenR"/>
            </a:pPr>
            <a:r>
              <a:rPr lang="en-US" dirty="0"/>
              <a:t>XII</a:t>
            </a:r>
          </a:p>
        </p:txBody>
      </p:sp>
    </p:spTree>
    <p:extLst>
      <p:ext uri="{BB962C8B-B14F-4D97-AF65-F5344CB8AC3E}">
        <p14:creationId xmlns:p14="http://schemas.microsoft.com/office/powerpoint/2010/main" val="38467470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D27-E5A7-E048-98CD-E88862773D59}"/>
              </a:ext>
            </a:extLst>
          </p:cNvPr>
          <p:cNvSpPr>
            <a:spLocks noGrp="1"/>
          </p:cNvSpPr>
          <p:nvPr>
            <p:ph type="title"/>
          </p:nvPr>
        </p:nvSpPr>
        <p:spPr/>
        <p:txBody>
          <a:bodyPr/>
          <a:lstStyle/>
          <a:p>
            <a:r>
              <a:rPr lang="en-US" dirty="0"/>
              <a:t>Prothrombin time</a:t>
            </a:r>
          </a:p>
        </p:txBody>
      </p:sp>
      <p:sp>
        <p:nvSpPr>
          <p:cNvPr id="5" name="Content Placeholder 4">
            <a:extLst>
              <a:ext uri="{FF2B5EF4-FFF2-40B4-BE49-F238E27FC236}">
                <a16:creationId xmlns:a16="http://schemas.microsoft.com/office/drawing/2014/main" id="{FF65117E-D34E-634E-92B4-848F188B6C41}"/>
              </a:ext>
            </a:extLst>
          </p:cNvPr>
          <p:cNvSpPr>
            <a:spLocks noGrp="1"/>
          </p:cNvSpPr>
          <p:nvPr>
            <p:ph idx="1"/>
          </p:nvPr>
        </p:nvSpPr>
        <p:spPr/>
        <p:txBody>
          <a:bodyPr>
            <a:normAutofit/>
          </a:bodyPr>
          <a:lstStyle/>
          <a:p>
            <a:pPr marL="0" indent="0" algn="ctr">
              <a:buNone/>
            </a:pPr>
            <a:r>
              <a:rPr lang="en-US" dirty="0"/>
              <a:t>What is the international normalized ratio?</a:t>
            </a:r>
          </a:p>
        </p:txBody>
      </p:sp>
    </p:spTree>
    <p:extLst>
      <p:ext uri="{BB962C8B-B14F-4D97-AF65-F5344CB8AC3E}">
        <p14:creationId xmlns:p14="http://schemas.microsoft.com/office/powerpoint/2010/main" val="11948625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D27-E5A7-E048-98CD-E88862773D59}"/>
              </a:ext>
            </a:extLst>
          </p:cNvPr>
          <p:cNvSpPr>
            <a:spLocks noGrp="1"/>
          </p:cNvSpPr>
          <p:nvPr>
            <p:ph type="title"/>
          </p:nvPr>
        </p:nvSpPr>
        <p:spPr/>
        <p:txBody>
          <a:bodyPr/>
          <a:lstStyle/>
          <a:p>
            <a:r>
              <a:rPr lang="en-US" dirty="0"/>
              <a:t>Prothrombin time</a:t>
            </a:r>
          </a:p>
        </p:txBody>
      </p:sp>
      <p:sp>
        <p:nvSpPr>
          <p:cNvPr id="5" name="Content Placeholder 4">
            <a:extLst>
              <a:ext uri="{FF2B5EF4-FFF2-40B4-BE49-F238E27FC236}">
                <a16:creationId xmlns:a16="http://schemas.microsoft.com/office/drawing/2014/main" id="{FF65117E-D34E-634E-92B4-848F188B6C41}"/>
              </a:ext>
            </a:extLst>
          </p:cNvPr>
          <p:cNvSpPr>
            <a:spLocks noGrp="1"/>
          </p:cNvSpPr>
          <p:nvPr>
            <p:ph idx="1"/>
          </p:nvPr>
        </p:nvSpPr>
        <p:spPr/>
        <p:txBody>
          <a:bodyPr>
            <a:normAutofit/>
          </a:bodyPr>
          <a:lstStyle/>
          <a:p>
            <a:pPr marL="0" indent="0" algn="ctr">
              <a:buNone/>
            </a:pPr>
            <a:r>
              <a:rPr lang="en-US" dirty="0"/>
              <a:t>What is the international normalized ratio?</a:t>
            </a:r>
          </a:p>
        </p:txBody>
      </p:sp>
      <p:pic>
        <p:nvPicPr>
          <p:cNvPr id="3" name="Picture 2">
            <a:extLst>
              <a:ext uri="{FF2B5EF4-FFF2-40B4-BE49-F238E27FC236}">
                <a16:creationId xmlns:a16="http://schemas.microsoft.com/office/drawing/2014/main" id="{3ADA7231-C4AF-0D4B-AAE9-440547C2AB4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143179"/>
            <a:ext cx="12192000" cy="3323129"/>
          </a:xfrm>
          <a:prstGeom prst="rect">
            <a:avLst/>
          </a:prstGeom>
        </p:spPr>
      </p:pic>
      <p:pic>
        <p:nvPicPr>
          <p:cNvPr id="4" name="Picture 3">
            <a:extLst>
              <a:ext uri="{FF2B5EF4-FFF2-40B4-BE49-F238E27FC236}">
                <a16:creationId xmlns:a16="http://schemas.microsoft.com/office/drawing/2014/main" id="{1293F209-6381-5943-BE0F-2B54999B716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00049" y="5507288"/>
            <a:ext cx="9077325" cy="1082696"/>
          </a:xfrm>
          <a:prstGeom prst="rect">
            <a:avLst/>
          </a:prstGeom>
        </p:spPr>
      </p:pic>
    </p:spTree>
    <p:extLst>
      <p:ext uri="{BB962C8B-B14F-4D97-AF65-F5344CB8AC3E}">
        <p14:creationId xmlns:p14="http://schemas.microsoft.com/office/powerpoint/2010/main" val="29966891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D27-E5A7-E048-98CD-E88862773D59}"/>
              </a:ext>
            </a:extLst>
          </p:cNvPr>
          <p:cNvSpPr>
            <a:spLocks noGrp="1"/>
          </p:cNvSpPr>
          <p:nvPr>
            <p:ph type="title"/>
          </p:nvPr>
        </p:nvSpPr>
        <p:spPr/>
        <p:txBody>
          <a:bodyPr/>
          <a:lstStyle/>
          <a:p>
            <a:r>
              <a:rPr lang="en-US" dirty="0"/>
              <a:t>Prothrombin time</a:t>
            </a:r>
          </a:p>
        </p:txBody>
      </p:sp>
      <p:sp>
        <p:nvSpPr>
          <p:cNvPr id="5" name="Content Placeholder 4">
            <a:extLst>
              <a:ext uri="{FF2B5EF4-FFF2-40B4-BE49-F238E27FC236}">
                <a16:creationId xmlns:a16="http://schemas.microsoft.com/office/drawing/2014/main" id="{FF65117E-D34E-634E-92B4-848F188B6C41}"/>
              </a:ext>
            </a:extLst>
          </p:cNvPr>
          <p:cNvSpPr>
            <a:spLocks noGrp="1"/>
          </p:cNvSpPr>
          <p:nvPr>
            <p:ph idx="1"/>
          </p:nvPr>
        </p:nvSpPr>
        <p:spPr/>
        <p:txBody>
          <a:bodyPr>
            <a:normAutofit/>
          </a:bodyPr>
          <a:lstStyle/>
          <a:p>
            <a:pPr marL="0" indent="0" algn="ctr">
              <a:buNone/>
            </a:pPr>
            <a:r>
              <a:rPr lang="en-US" dirty="0"/>
              <a:t>Can INR be used to assess risk of bleeding in patients with cirrhosis?</a:t>
            </a:r>
          </a:p>
        </p:txBody>
      </p:sp>
    </p:spTree>
    <p:extLst>
      <p:ext uri="{BB962C8B-B14F-4D97-AF65-F5344CB8AC3E}">
        <p14:creationId xmlns:p14="http://schemas.microsoft.com/office/powerpoint/2010/main" val="13985967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D27-E5A7-E048-98CD-E88862773D59}"/>
              </a:ext>
            </a:extLst>
          </p:cNvPr>
          <p:cNvSpPr>
            <a:spLocks noGrp="1"/>
          </p:cNvSpPr>
          <p:nvPr>
            <p:ph type="title"/>
          </p:nvPr>
        </p:nvSpPr>
        <p:spPr/>
        <p:txBody>
          <a:bodyPr/>
          <a:lstStyle/>
          <a:p>
            <a:r>
              <a:rPr lang="en-US" dirty="0"/>
              <a:t>Prothrombin time</a:t>
            </a:r>
          </a:p>
        </p:txBody>
      </p:sp>
      <p:sp>
        <p:nvSpPr>
          <p:cNvPr id="5" name="Content Placeholder 4">
            <a:extLst>
              <a:ext uri="{FF2B5EF4-FFF2-40B4-BE49-F238E27FC236}">
                <a16:creationId xmlns:a16="http://schemas.microsoft.com/office/drawing/2014/main" id="{FF65117E-D34E-634E-92B4-848F188B6C41}"/>
              </a:ext>
            </a:extLst>
          </p:cNvPr>
          <p:cNvSpPr>
            <a:spLocks noGrp="1"/>
          </p:cNvSpPr>
          <p:nvPr>
            <p:ph idx="1"/>
          </p:nvPr>
        </p:nvSpPr>
        <p:spPr/>
        <p:txBody>
          <a:bodyPr>
            <a:normAutofit/>
          </a:bodyPr>
          <a:lstStyle/>
          <a:p>
            <a:pPr marL="0" indent="0" algn="ctr">
              <a:buNone/>
            </a:pPr>
            <a:r>
              <a:rPr lang="en-US" dirty="0"/>
              <a:t>Can INR be used to assess risk of bleeding in patients with cirrhosis?</a:t>
            </a:r>
          </a:p>
          <a:p>
            <a:pPr marL="0" indent="0" algn="ctr">
              <a:buNone/>
            </a:pPr>
            <a:endParaRPr lang="en-US" dirty="0"/>
          </a:p>
          <a:p>
            <a:pPr marL="0" indent="0" algn="ctr">
              <a:buNone/>
            </a:pPr>
            <a:r>
              <a:rPr lang="en-US" b="1" dirty="0"/>
              <a:t>No.</a:t>
            </a:r>
            <a:endParaRPr lang="en-US" dirty="0"/>
          </a:p>
        </p:txBody>
      </p:sp>
    </p:spTree>
    <p:extLst>
      <p:ext uri="{BB962C8B-B14F-4D97-AF65-F5344CB8AC3E}">
        <p14:creationId xmlns:p14="http://schemas.microsoft.com/office/powerpoint/2010/main" val="42843617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D27-E5A7-E048-98CD-E88862773D59}"/>
              </a:ext>
            </a:extLst>
          </p:cNvPr>
          <p:cNvSpPr>
            <a:spLocks noGrp="1"/>
          </p:cNvSpPr>
          <p:nvPr>
            <p:ph type="title"/>
          </p:nvPr>
        </p:nvSpPr>
        <p:spPr/>
        <p:txBody>
          <a:bodyPr/>
          <a:lstStyle/>
          <a:p>
            <a:r>
              <a:rPr lang="en-US" dirty="0"/>
              <a:t>Prothrombin time</a:t>
            </a:r>
          </a:p>
        </p:txBody>
      </p:sp>
      <p:sp>
        <p:nvSpPr>
          <p:cNvPr id="5" name="Content Placeholder 4">
            <a:extLst>
              <a:ext uri="{FF2B5EF4-FFF2-40B4-BE49-F238E27FC236}">
                <a16:creationId xmlns:a16="http://schemas.microsoft.com/office/drawing/2014/main" id="{FF65117E-D34E-634E-92B4-848F188B6C41}"/>
              </a:ext>
            </a:extLst>
          </p:cNvPr>
          <p:cNvSpPr>
            <a:spLocks noGrp="1"/>
          </p:cNvSpPr>
          <p:nvPr>
            <p:ph idx="1"/>
          </p:nvPr>
        </p:nvSpPr>
        <p:spPr/>
        <p:txBody>
          <a:bodyPr>
            <a:normAutofit/>
          </a:bodyPr>
          <a:lstStyle/>
          <a:p>
            <a:pPr marL="0" indent="0" algn="ctr">
              <a:buNone/>
            </a:pPr>
            <a:r>
              <a:rPr lang="en-US" dirty="0"/>
              <a:t>Can INR be used to assess risk of bleeding in patients with cirrhosis?</a:t>
            </a:r>
          </a:p>
          <a:p>
            <a:pPr marL="0" indent="0" algn="ctr">
              <a:buNone/>
            </a:pPr>
            <a:endParaRPr lang="en-US" dirty="0"/>
          </a:p>
          <a:p>
            <a:pPr marL="0" indent="0" algn="ctr">
              <a:buNone/>
            </a:pPr>
            <a:r>
              <a:rPr lang="en-US" b="1" dirty="0"/>
              <a:t>No.</a:t>
            </a:r>
            <a:r>
              <a:rPr lang="en-US" dirty="0"/>
              <a:t> Why?</a:t>
            </a:r>
          </a:p>
        </p:txBody>
      </p:sp>
    </p:spTree>
    <p:extLst>
      <p:ext uri="{BB962C8B-B14F-4D97-AF65-F5344CB8AC3E}">
        <p14:creationId xmlns:p14="http://schemas.microsoft.com/office/powerpoint/2010/main" val="6181905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D27-E5A7-E048-98CD-E88862773D59}"/>
              </a:ext>
            </a:extLst>
          </p:cNvPr>
          <p:cNvSpPr>
            <a:spLocks noGrp="1"/>
          </p:cNvSpPr>
          <p:nvPr>
            <p:ph type="title"/>
          </p:nvPr>
        </p:nvSpPr>
        <p:spPr/>
        <p:txBody>
          <a:bodyPr/>
          <a:lstStyle/>
          <a:p>
            <a:r>
              <a:rPr lang="en-US" dirty="0"/>
              <a:t>Prothrombin time</a:t>
            </a:r>
          </a:p>
        </p:txBody>
      </p:sp>
      <p:sp>
        <p:nvSpPr>
          <p:cNvPr id="5" name="Content Placeholder 4">
            <a:extLst>
              <a:ext uri="{FF2B5EF4-FFF2-40B4-BE49-F238E27FC236}">
                <a16:creationId xmlns:a16="http://schemas.microsoft.com/office/drawing/2014/main" id="{FF65117E-D34E-634E-92B4-848F188B6C41}"/>
              </a:ext>
            </a:extLst>
          </p:cNvPr>
          <p:cNvSpPr>
            <a:spLocks noGrp="1"/>
          </p:cNvSpPr>
          <p:nvPr>
            <p:ph idx="1"/>
          </p:nvPr>
        </p:nvSpPr>
        <p:spPr/>
        <p:txBody>
          <a:bodyPr>
            <a:normAutofit/>
          </a:bodyPr>
          <a:lstStyle/>
          <a:p>
            <a:pPr marL="0" indent="0" algn="ctr">
              <a:buNone/>
            </a:pPr>
            <a:r>
              <a:rPr lang="en-US" dirty="0"/>
              <a:t>Can INR be used to assess risk of bleeding in patients with cirrhosis?</a:t>
            </a:r>
          </a:p>
          <a:p>
            <a:pPr marL="0" indent="0" algn="ctr">
              <a:buNone/>
            </a:pPr>
            <a:endParaRPr lang="en-US" dirty="0"/>
          </a:p>
          <a:p>
            <a:pPr marL="0" indent="0" algn="ctr">
              <a:buNone/>
            </a:pPr>
            <a:r>
              <a:rPr lang="en-US" b="1" dirty="0"/>
              <a:t>No.</a:t>
            </a:r>
            <a:r>
              <a:rPr lang="en-US" dirty="0"/>
              <a:t> Why?</a:t>
            </a:r>
          </a:p>
          <a:p>
            <a:pPr marL="0" indent="0" algn="ctr">
              <a:buNone/>
            </a:pPr>
            <a:endParaRPr lang="en-US" dirty="0"/>
          </a:p>
          <a:p>
            <a:pPr marL="0" indent="0" algn="ctr">
              <a:buNone/>
            </a:pPr>
            <a:r>
              <a:rPr lang="en-US" dirty="0"/>
              <a:t>INR assesses only the activity of procoagulant clotting factors, not anticoagulants such as protein C and antithrombin, the production of which is also reduced in cirrhosis. </a:t>
            </a:r>
          </a:p>
        </p:txBody>
      </p:sp>
    </p:spTree>
    <p:extLst>
      <p:ext uri="{BB962C8B-B14F-4D97-AF65-F5344CB8AC3E}">
        <p14:creationId xmlns:p14="http://schemas.microsoft.com/office/powerpoint/2010/main" val="32118549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8E7-1459-824A-BF00-A34EE549F243}"/>
              </a:ext>
            </a:extLst>
          </p:cNvPr>
          <p:cNvSpPr>
            <a:spLocks noGrp="1"/>
          </p:cNvSpPr>
          <p:nvPr>
            <p:ph type="title"/>
          </p:nvPr>
        </p:nvSpPr>
        <p:spPr/>
        <p:txBody>
          <a:bodyPr/>
          <a:lstStyle/>
          <a:p>
            <a:r>
              <a:rPr lang="en-US" dirty="0"/>
              <a:t>Synthetic Function</a:t>
            </a:r>
          </a:p>
        </p:txBody>
      </p:sp>
      <p:sp>
        <p:nvSpPr>
          <p:cNvPr id="3" name="Content Placeholder 2">
            <a:extLst>
              <a:ext uri="{FF2B5EF4-FFF2-40B4-BE49-F238E27FC236}">
                <a16:creationId xmlns:a16="http://schemas.microsoft.com/office/drawing/2014/main" id="{D2645671-9C6A-404E-8AE9-8DF1CDD178E1}"/>
              </a:ext>
            </a:extLst>
          </p:cNvPr>
          <p:cNvSpPr>
            <a:spLocks noGrp="1"/>
          </p:cNvSpPr>
          <p:nvPr>
            <p:ph idx="1"/>
          </p:nvPr>
        </p:nvSpPr>
        <p:spPr/>
        <p:txBody>
          <a:bodyPr/>
          <a:lstStyle/>
          <a:p>
            <a:pPr marL="0" indent="0">
              <a:buNone/>
            </a:pPr>
            <a:r>
              <a:rPr lang="en-US" dirty="0"/>
              <a:t>Which of the following proteins </a:t>
            </a:r>
            <a:r>
              <a:rPr lang="en-US" b="1" dirty="0"/>
              <a:t>decreases</a:t>
            </a:r>
            <a:r>
              <a:rPr lang="en-US" dirty="0"/>
              <a:t> during the acute phase?</a:t>
            </a:r>
            <a:endParaRPr lang="en-US" u="sng" dirty="0"/>
          </a:p>
          <a:p>
            <a:pPr marL="0" indent="0">
              <a:buNone/>
            </a:pPr>
            <a:endParaRPr lang="en-US" u="sng" dirty="0"/>
          </a:p>
          <a:p>
            <a:pPr marL="514350" indent="-514350">
              <a:buAutoNum type="alphaUcParenR"/>
            </a:pPr>
            <a:r>
              <a:rPr lang="en-US" dirty="0"/>
              <a:t>Ferritin</a:t>
            </a:r>
          </a:p>
          <a:p>
            <a:pPr marL="514350" indent="-514350">
              <a:buAutoNum type="alphaUcParenR"/>
            </a:pPr>
            <a:r>
              <a:rPr lang="en-US" dirty="0"/>
              <a:t>Ceruloplasmin</a:t>
            </a:r>
          </a:p>
          <a:p>
            <a:pPr marL="514350" indent="-514350">
              <a:buAutoNum type="alphaUcParenR"/>
            </a:pPr>
            <a:r>
              <a:rPr lang="en-US" dirty="0"/>
              <a:t>Albumin</a:t>
            </a:r>
          </a:p>
          <a:p>
            <a:pPr marL="514350" indent="-514350">
              <a:buAutoNum type="alphaUcParenR"/>
            </a:pPr>
            <a:r>
              <a:rPr lang="en-US" dirty="0"/>
              <a:t>Complement C3</a:t>
            </a:r>
          </a:p>
          <a:p>
            <a:pPr marL="514350" indent="-514350">
              <a:buAutoNum type="alphaUcParenR"/>
            </a:pPr>
            <a:r>
              <a:rPr lang="en-US" dirty="0"/>
              <a:t>Complement C4</a:t>
            </a:r>
          </a:p>
          <a:p>
            <a:pPr marL="514350" indent="-514350">
              <a:buAutoNum type="alphaUcParenR"/>
            </a:pPr>
            <a:r>
              <a:rPr lang="en-US" dirty="0"/>
              <a:t>Alpha Fetoprotein</a:t>
            </a:r>
          </a:p>
        </p:txBody>
      </p:sp>
    </p:spTree>
    <p:extLst>
      <p:ext uri="{BB962C8B-B14F-4D97-AF65-F5344CB8AC3E}">
        <p14:creationId xmlns:p14="http://schemas.microsoft.com/office/powerpoint/2010/main" val="37592533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8E7-1459-824A-BF00-A34EE549F243}"/>
              </a:ext>
            </a:extLst>
          </p:cNvPr>
          <p:cNvSpPr>
            <a:spLocks noGrp="1"/>
          </p:cNvSpPr>
          <p:nvPr>
            <p:ph type="title"/>
          </p:nvPr>
        </p:nvSpPr>
        <p:spPr/>
        <p:txBody>
          <a:bodyPr/>
          <a:lstStyle/>
          <a:p>
            <a:r>
              <a:rPr lang="en-US" dirty="0"/>
              <a:t>Synthetic Function</a:t>
            </a:r>
          </a:p>
        </p:txBody>
      </p:sp>
      <p:sp>
        <p:nvSpPr>
          <p:cNvPr id="3" name="Content Placeholder 2">
            <a:extLst>
              <a:ext uri="{FF2B5EF4-FFF2-40B4-BE49-F238E27FC236}">
                <a16:creationId xmlns:a16="http://schemas.microsoft.com/office/drawing/2014/main" id="{D2645671-9C6A-404E-8AE9-8DF1CDD178E1}"/>
              </a:ext>
            </a:extLst>
          </p:cNvPr>
          <p:cNvSpPr>
            <a:spLocks noGrp="1"/>
          </p:cNvSpPr>
          <p:nvPr>
            <p:ph idx="1"/>
          </p:nvPr>
        </p:nvSpPr>
        <p:spPr/>
        <p:txBody>
          <a:bodyPr/>
          <a:lstStyle/>
          <a:p>
            <a:pPr marL="0" indent="0">
              <a:buNone/>
            </a:pPr>
            <a:r>
              <a:rPr lang="en-US" dirty="0"/>
              <a:t>Which of the following proteins </a:t>
            </a:r>
            <a:r>
              <a:rPr lang="en-US" b="1" dirty="0"/>
              <a:t>decreases</a:t>
            </a:r>
            <a:r>
              <a:rPr lang="en-US" dirty="0"/>
              <a:t> during the acute phase?</a:t>
            </a:r>
            <a:endParaRPr lang="en-US" u="sng" dirty="0"/>
          </a:p>
          <a:p>
            <a:pPr marL="0" indent="0">
              <a:buNone/>
            </a:pPr>
            <a:endParaRPr lang="en-US" u="sng" dirty="0"/>
          </a:p>
          <a:p>
            <a:pPr marL="514350" indent="-514350">
              <a:buAutoNum type="alphaUcParenR"/>
            </a:pPr>
            <a:r>
              <a:rPr lang="en-US" dirty="0"/>
              <a:t>Ferritin</a:t>
            </a:r>
          </a:p>
          <a:p>
            <a:pPr marL="514350" indent="-514350">
              <a:buAutoNum type="alphaUcParenR"/>
            </a:pPr>
            <a:r>
              <a:rPr lang="en-US" dirty="0"/>
              <a:t>Ceruloplasmin</a:t>
            </a:r>
          </a:p>
          <a:p>
            <a:pPr marL="514350" indent="-514350">
              <a:buAutoNum type="alphaUcParenR"/>
            </a:pPr>
            <a:r>
              <a:rPr lang="en-US" b="1" dirty="0">
                <a:highlight>
                  <a:srgbClr val="FFFF00"/>
                </a:highlight>
              </a:rPr>
              <a:t>Albumin</a:t>
            </a:r>
          </a:p>
          <a:p>
            <a:pPr marL="514350" indent="-514350">
              <a:buAutoNum type="alphaUcParenR"/>
            </a:pPr>
            <a:r>
              <a:rPr lang="en-US" dirty="0"/>
              <a:t>Complement C3</a:t>
            </a:r>
          </a:p>
          <a:p>
            <a:pPr marL="514350" indent="-514350">
              <a:buAutoNum type="alphaUcParenR"/>
            </a:pPr>
            <a:r>
              <a:rPr lang="en-US" dirty="0"/>
              <a:t>Complement C4</a:t>
            </a:r>
          </a:p>
          <a:p>
            <a:pPr marL="514350" indent="-514350">
              <a:buAutoNum type="alphaUcParenR"/>
            </a:pPr>
            <a:r>
              <a:rPr lang="en-US" b="1" dirty="0">
                <a:highlight>
                  <a:srgbClr val="FFFF00"/>
                </a:highlight>
              </a:rPr>
              <a:t>Alpha Fetoprotein</a:t>
            </a:r>
          </a:p>
        </p:txBody>
      </p:sp>
    </p:spTree>
    <p:extLst>
      <p:ext uri="{BB962C8B-B14F-4D97-AF65-F5344CB8AC3E}">
        <p14:creationId xmlns:p14="http://schemas.microsoft.com/office/powerpoint/2010/main" val="16833862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CFAE9-7B53-E14F-8AC8-05B59DA84B43}"/>
              </a:ext>
            </a:extLst>
          </p:cNvPr>
          <p:cNvSpPr>
            <a:spLocks noGrp="1"/>
          </p:cNvSpPr>
          <p:nvPr>
            <p:ph type="title"/>
          </p:nvPr>
        </p:nvSpPr>
        <p:spPr/>
        <p:txBody>
          <a:bodyPr/>
          <a:lstStyle/>
          <a:p>
            <a:r>
              <a:rPr lang="en-US" dirty="0"/>
              <a:t>Types of Abnormal Liver Tests</a:t>
            </a:r>
          </a:p>
        </p:txBody>
      </p:sp>
      <p:sp>
        <p:nvSpPr>
          <p:cNvPr id="10" name="Text Placeholder 9">
            <a:extLst>
              <a:ext uri="{FF2B5EF4-FFF2-40B4-BE49-F238E27FC236}">
                <a16:creationId xmlns:a16="http://schemas.microsoft.com/office/drawing/2014/main" id="{02047815-3CDA-6944-BC2E-81BCAC52495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92671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CFAE9-7B53-E14F-8AC8-05B59DA84B43}"/>
              </a:ext>
            </a:extLst>
          </p:cNvPr>
          <p:cNvSpPr>
            <a:spLocks noGrp="1"/>
          </p:cNvSpPr>
          <p:nvPr>
            <p:ph type="title"/>
          </p:nvPr>
        </p:nvSpPr>
        <p:spPr/>
        <p:txBody>
          <a:bodyPr/>
          <a:lstStyle/>
          <a:p>
            <a:r>
              <a:rPr lang="en-US" dirty="0"/>
              <a:t>Types of Abnormal Liver Tests</a:t>
            </a:r>
          </a:p>
        </p:txBody>
      </p:sp>
      <p:pic>
        <p:nvPicPr>
          <p:cNvPr id="7" name="Content Placeholder 6">
            <a:extLst>
              <a:ext uri="{FF2B5EF4-FFF2-40B4-BE49-F238E27FC236}">
                <a16:creationId xmlns:a16="http://schemas.microsoft.com/office/drawing/2014/main" id="{534BEAF0-EA05-1648-A88A-61B58DAD72EA}"/>
              </a:ext>
            </a:extLst>
          </p:cNvPr>
          <p:cNvPicPr>
            <a:picLocks noGrp="1" noChangeAspect="1"/>
          </p:cNvPicPr>
          <p:nvPr>
            <p:ph idx="1"/>
          </p:nvPr>
        </p:nvPicPr>
        <p:blipFill rotWithShape="1">
          <a:blip r:embed="rId2" cstate="email">
            <a:extLst>
              <a:ext uri="{28A0092B-C50C-407E-A947-70E740481C1C}">
                <a14:useLocalDpi xmlns:a14="http://schemas.microsoft.com/office/drawing/2010/main"/>
              </a:ext>
            </a:extLst>
          </a:blip>
          <a:srcRect/>
          <a:stretch/>
        </p:blipFill>
        <p:spPr>
          <a:xfrm>
            <a:off x="2457450" y="1019503"/>
            <a:ext cx="7277100" cy="5535518"/>
          </a:xfrm>
          <a:prstGeom prst="rect">
            <a:avLst/>
          </a:prstGeom>
        </p:spPr>
      </p:pic>
    </p:spTree>
    <p:extLst>
      <p:ext uri="{BB962C8B-B14F-4D97-AF65-F5344CB8AC3E}">
        <p14:creationId xmlns:p14="http://schemas.microsoft.com/office/powerpoint/2010/main" val="38768350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6">
            <a:extLst>
              <a:ext uri="{FF2B5EF4-FFF2-40B4-BE49-F238E27FC236}">
                <a16:creationId xmlns:a16="http://schemas.microsoft.com/office/drawing/2014/main" id="{26EF09D2-3EB5-4B49-AB83-767CD3909C5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3437755" cy="2615019"/>
          </a:xfrm>
          <a:prstGeom prst="rect">
            <a:avLst/>
          </a:prstGeom>
        </p:spPr>
      </p:pic>
      <p:sp>
        <p:nvSpPr>
          <p:cNvPr id="2" name="Title 1">
            <a:extLst>
              <a:ext uri="{FF2B5EF4-FFF2-40B4-BE49-F238E27FC236}">
                <a16:creationId xmlns:a16="http://schemas.microsoft.com/office/drawing/2014/main" id="{B0484837-54CF-5D42-BD34-67D27AF10B5F}"/>
              </a:ext>
            </a:extLst>
          </p:cNvPr>
          <p:cNvSpPr>
            <a:spLocks noGrp="1"/>
          </p:cNvSpPr>
          <p:nvPr>
            <p:ph type="title"/>
          </p:nvPr>
        </p:nvSpPr>
        <p:spPr/>
        <p:txBody>
          <a:bodyPr/>
          <a:lstStyle/>
          <a:p>
            <a:r>
              <a:rPr lang="en-US" dirty="0"/>
              <a:t>Types of Abnormal Liver Tests</a:t>
            </a:r>
          </a:p>
        </p:txBody>
      </p:sp>
      <p:graphicFrame>
        <p:nvGraphicFramePr>
          <p:cNvPr id="4" name="Content Placeholder 3">
            <a:extLst>
              <a:ext uri="{FF2B5EF4-FFF2-40B4-BE49-F238E27FC236}">
                <a16:creationId xmlns:a16="http://schemas.microsoft.com/office/drawing/2014/main" id="{347C11CA-34A7-8B46-A5DB-560B1735D75E}"/>
              </a:ext>
            </a:extLst>
          </p:cNvPr>
          <p:cNvGraphicFramePr>
            <a:graphicFrameLocks noGrp="1"/>
          </p:cNvGraphicFramePr>
          <p:nvPr>
            <p:ph idx="1"/>
            <p:extLst>
              <p:ext uri="{D42A27DB-BD31-4B8C-83A1-F6EECF244321}">
                <p14:modId xmlns:p14="http://schemas.microsoft.com/office/powerpoint/2010/main" val="3815192526"/>
              </p:ext>
            </p:extLst>
          </p:nvPr>
        </p:nvGraphicFramePr>
        <p:xfrm>
          <a:off x="838200" y="1103313"/>
          <a:ext cx="10515600" cy="5406114"/>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2366196030"/>
                    </a:ext>
                  </a:extLst>
                </a:gridCol>
                <a:gridCol w="3505200">
                  <a:extLst>
                    <a:ext uri="{9D8B030D-6E8A-4147-A177-3AD203B41FA5}">
                      <a16:colId xmlns:a16="http://schemas.microsoft.com/office/drawing/2014/main" val="3977636323"/>
                    </a:ext>
                  </a:extLst>
                </a:gridCol>
                <a:gridCol w="3505200">
                  <a:extLst>
                    <a:ext uri="{9D8B030D-6E8A-4147-A177-3AD203B41FA5}">
                      <a16:colId xmlns:a16="http://schemas.microsoft.com/office/drawing/2014/main" val="764697866"/>
                    </a:ext>
                  </a:extLst>
                </a:gridCol>
              </a:tblGrid>
              <a:tr h="772302">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latin typeface="Quadraat" panose="02000503060000090004" pitchFamily="2"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en-US" sz="2400" b="1" dirty="0">
                          <a:latin typeface="Quadraat" panose="02000503060000090004" pitchFamily="2" charset="0"/>
                        </a:rPr>
                        <a:t>Mixed</a:t>
                      </a:r>
                    </a:p>
                  </a:txBody>
                  <a:tcPr anchor="ctr">
                    <a:lnL w="12700" cap="flat" cmpd="sng" algn="ctr">
                      <a:solidFill>
                        <a:schemeClr val="tx1"/>
                      </a:solidFill>
                      <a:prstDash val="solid"/>
                      <a:round/>
                      <a:headEnd type="none" w="med" len="med"/>
                      <a:tailEnd type="none" w="med" len="med"/>
                    </a:lnL>
                  </a:tcPr>
                </a:tc>
                <a:tc hMerge="1">
                  <a:txBody>
                    <a:bodyPr/>
                    <a:lstStyle/>
                    <a:p>
                      <a:pPr algn="ctr"/>
                      <a:endParaRPr lang="en-US" sz="2000" b="1" dirty="0">
                        <a:latin typeface="Quadraat" panose="02000503060000090004" pitchFamily="2" charset="0"/>
                      </a:endParaRPr>
                    </a:p>
                  </a:txBody>
                  <a:tcPr anchor="ctr"/>
                </a:tc>
                <a:extLst>
                  <a:ext uri="{0D108BD9-81ED-4DB2-BD59-A6C34878D82A}">
                    <a16:rowId xmlns:a16="http://schemas.microsoft.com/office/drawing/2014/main" val="202013145"/>
                  </a:ext>
                </a:extLst>
              </a:tr>
              <a:tr h="772302">
                <a:tc vMerge="1">
                  <a:txBody>
                    <a:bodyPr/>
                    <a:lstStyle/>
                    <a:p>
                      <a:pPr algn="ctr"/>
                      <a:endParaRPr lang="en-US" sz="2000" dirty="0">
                        <a:latin typeface="Quadraat" panose="02000503060000090004" pitchFamily="2" charset="0"/>
                      </a:endParaRPr>
                    </a:p>
                  </a:txBody>
                  <a:tcPr anchor="ctr"/>
                </a:tc>
                <a:tc>
                  <a:txBody>
                    <a:bodyPr/>
                    <a:lstStyle/>
                    <a:p>
                      <a:pPr algn="ctr"/>
                      <a:r>
                        <a:rPr lang="en-US" sz="2400" b="1" dirty="0">
                          <a:latin typeface="Quadraat" panose="02000503060000090004" pitchFamily="2" charset="0"/>
                        </a:rPr>
                        <a:t>Hepatocellular</a:t>
                      </a:r>
                    </a:p>
                  </a:txBody>
                  <a:tcPr anchor="ctr">
                    <a:lnL w="12700" cap="flat" cmpd="sng" algn="ctr">
                      <a:solidFill>
                        <a:schemeClr val="tx1"/>
                      </a:solidFill>
                      <a:prstDash val="solid"/>
                      <a:round/>
                      <a:headEnd type="none" w="med" len="med"/>
                      <a:tailEnd type="none" w="med" len="med"/>
                    </a:lnL>
                  </a:tcPr>
                </a:tc>
                <a:tc>
                  <a:txBody>
                    <a:bodyPr/>
                    <a:lstStyle/>
                    <a:p>
                      <a:pPr algn="ctr"/>
                      <a:r>
                        <a:rPr lang="en-US" sz="2400" b="1" dirty="0">
                          <a:latin typeface="Quadraat" panose="02000503060000090004" pitchFamily="2" charset="0"/>
                        </a:rPr>
                        <a:t>Cholestatic</a:t>
                      </a:r>
                    </a:p>
                  </a:txBody>
                  <a:tcPr anchor="ctr"/>
                </a:tc>
                <a:extLst>
                  <a:ext uri="{0D108BD9-81ED-4DB2-BD59-A6C34878D82A}">
                    <a16:rowId xmlns:a16="http://schemas.microsoft.com/office/drawing/2014/main" val="4280393950"/>
                  </a:ext>
                </a:extLst>
              </a:tr>
              <a:tr h="772302">
                <a:tc>
                  <a:txBody>
                    <a:bodyPr/>
                    <a:lstStyle/>
                    <a:p>
                      <a:pPr algn="ctr"/>
                      <a:r>
                        <a:rPr lang="en-US" sz="2400" b="1" dirty="0">
                          <a:latin typeface="Quadraat" panose="02000503060000090004" pitchFamily="2" charset="0"/>
                        </a:rPr>
                        <a:t>Enzyme elevation</a:t>
                      </a:r>
                    </a:p>
                  </a:txBody>
                  <a:tcPr anchor="ctr">
                    <a:lnT w="12700" cap="flat" cmpd="sng" algn="ctr">
                      <a:solidFill>
                        <a:schemeClr val="tx1"/>
                      </a:solidFill>
                      <a:prstDash val="solid"/>
                      <a:round/>
                      <a:headEnd type="none" w="med" len="med"/>
                      <a:tailEnd type="none" w="med" len="med"/>
                    </a:lnT>
                  </a:tcPr>
                </a:tc>
                <a:tc>
                  <a:txBody>
                    <a:bodyPr/>
                    <a:lstStyle/>
                    <a:p>
                      <a:pPr algn="ctr"/>
                      <a:r>
                        <a:rPr lang="en-US" sz="2400" dirty="0">
                          <a:latin typeface="Quadraat" panose="02000503060000090004" pitchFamily="2" charset="0"/>
                        </a:rPr>
                        <a:t>AST and ALT</a:t>
                      </a:r>
                    </a:p>
                  </a:txBody>
                  <a:tcPr anchor="ctr"/>
                </a:tc>
                <a:tc>
                  <a:txBody>
                    <a:bodyPr/>
                    <a:lstStyle/>
                    <a:p>
                      <a:pPr algn="ctr"/>
                      <a:r>
                        <a:rPr lang="en-US" sz="2400" dirty="0">
                          <a:latin typeface="Quadraat" panose="02000503060000090004" pitchFamily="2" charset="0"/>
                        </a:rPr>
                        <a:t>ALP, GGT and T. </a:t>
                      </a:r>
                      <a:r>
                        <a:rPr lang="en-US" sz="2400" dirty="0" err="1">
                          <a:latin typeface="Quadraat" panose="02000503060000090004" pitchFamily="2" charset="0"/>
                        </a:rPr>
                        <a:t>bili</a:t>
                      </a:r>
                      <a:endParaRPr lang="en-US" sz="2400" dirty="0">
                        <a:latin typeface="Quadraat" panose="02000503060000090004" pitchFamily="2" charset="0"/>
                      </a:endParaRPr>
                    </a:p>
                  </a:txBody>
                  <a:tcPr anchor="ctr"/>
                </a:tc>
                <a:extLst>
                  <a:ext uri="{0D108BD9-81ED-4DB2-BD59-A6C34878D82A}">
                    <a16:rowId xmlns:a16="http://schemas.microsoft.com/office/drawing/2014/main" val="342380353"/>
                  </a:ext>
                </a:extLst>
              </a:tr>
              <a:tr h="772302">
                <a:tc>
                  <a:txBody>
                    <a:bodyPr/>
                    <a:lstStyle/>
                    <a:p>
                      <a:pPr algn="ctr"/>
                      <a:r>
                        <a:rPr lang="en-US" sz="2400" b="1" dirty="0">
                          <a:latin typeface="Quadraat" panose="02000503060000090004" pitchFamily="2" charset="0"/>
                        </a:rPr>
                        <a:t>Jaundice</a:t>
                      </a:r>
                    </a:p>
                  </a:txBody>
                  <a:tcPr anchor="ctr"/>
                </a:tc>
                <a:tc>
                  <a:txBody>
                    <a:bodyPr/>
                    <a:lstStyle/>
                    <a:p>
                      <a:pPr algn="ctr"/>
                      <a:r>
                        <a:rPr lang="en-US" sz="2400" dirty="0">
                          <a:latin typeface="Quadraat" panose="02000503060000090004" pitchFamily="2" charset="0"/>
                        </a:rPr>
                        <a:t>+/-</a:t>
                      </a:r>
                    </a:p>
                  </a:txBody>
                  <a:tcPr anchor="ctr"/>
                </a:tc>
                <a:tc>
                  <a:txBody>
                    <a:bodyPr/>
                    <a:lstStyle/>
                    <a:p>
                      <a:pPr algn="ctr"/>
                      <a:r>
                        <a:rPr lang="en-US" sz="2400" dirty="0">
                          <a:latin typeface="Quadraat" panose="02000503060000090004" pitchFamily="2" charset="0"/>
                        </a:rPr>
                        <a:t>+</a:t>
                      </a:r>
                    </a:p>
                  </a:txBody>
                  <a:tcPr anchor="ctr"/>
                </a:tc>
                <a:extLst>
                  <a:ext uri="{0D108BD9-81ED-4DB2-BD59-A6C34878D82A}">
                    <a16:rowId xmlns:a16="http://schemas.microsoft.com/office/drawing/2014/main" val="795591297"/>
                  </a:ext>
                </a:extLst>
              </a:tr>
              <a:tr h="772302">
                <a:tc>
                  <a:txBody>
                    <a:bodyPr/>
                    <a:lstStyle/>
                    <a:p>
                      <a:pPr algn="ctr"/>
                      <a:r>
                        <a:rPr lang="en-US" sz="2400" b="1" dirty="0">
                          <a:latin typeface="Quadraat" panose="02000503060000090004" pitchFamily="2" charset="0"/>
                        </a:rPr>
                        <a:t>Pruritis</a:t>
                      </a:r>
                    </a:p>
                  </a:txBody>
                  <a:tcPr anchor="ctr"/>
                </a:tc>
                <a:tc>
                  <a:txBody>
                    <a:bodyPr/>
                    <a:lstStyle/>
                    <a:p>
                      <a:pPr algn="ctr"/>
                      <a:r>
                        <a:rPr lang="en-US" sz="2400" dirty="0">
                          <a:latin typeface="Quadraat" panose="02000503060000090004" pitchFamily="2" charset="0"/>
                        </a:rPr>
                        <a:t>No</a:t>
                      </a:r>
                    </a:p>
                  </a:txBody>
                  <a:tcPr anchor="ctr"/>
                </a:tc>
                <a:tc>
                  <a:txBody>
                    <a:bodyPr/>
                    <a:lstStyle/>
                    <a:p>
                      <a:pPr algn="ctr"/>
                      <a:r>
                        <a:rPr lang="en-US" sz="2400" dirty="0">
                          <a:latin typeface="Quadraat" panose="02000503060000090004" pitchFamily="2" charset="0"/>
                        </a:rPr>
                        <a:t>Yes</a:t>
                      </a:r>
                    </a:p>
                  </a:txBody>
                  <a:tcPr anchor="ctr"/>
                </a:tc>
                <a:extLst>
                  <a:ext uri="{0D108BD9-81ED-4DB2-BD59-A6C34878D82A}">
                    <a16:rowId xmlns:a16="http://schemas.microsoft.com/office/drawing/2014/main" val="948200015"/>
                  </a:ext>
                </a:extLst>
              </a:tr>
              <a:tr h="772302">
                <a:tc>
                  <a:txBody>
                    <a:bodyPr/>
                    <a:lstStyle/>
                    <a:p>
                      <a:pPr algn="ctr"/>
                      <a:r>
                        <a:rPr lang="en-US" sz="2400" b="1" dirty="0">
                          <a:latin typeface="Quadraat" panose="02000503060000090004" pitchFamily="2" charset="0"/>
                        </a:rPr>
                        <a:t>Acute liver failure</a:t>
                      </a:r>
                    </a:p>
                  </a:txBody>
                  <a:tcPr anchor="ctr"/>
                </a:tc>
                <a:tc>
                  <a:txBody>
                    <a:bodyPr/>
                    <a:lstStyle/>
                    <a:p>
                      <a:pPr algn="ctr"/>
                      <a:r>
                        <a:rPr lang="en-US" sz="2400" dirty="0">
                          <a:latin typeface="Quadraat" panose="02000503060000090004" pitchFamily="2" charset="0"/>
                        </a:rPr>
                        <a:t>Yes</a:t>
                      </a:r>
                    </a:p>
                  </a:txBody>
                  <a:tcPr anchor="ctr"/>
                </a:tc>
                <a:tc>
                  <a:txBody>
                    <a:bodyPr/>
                    <a:lstStyle/>
                    <a:p>
                      <a:pPr algn="ctr"/>
                      <a:r>
                        <a:rPr lang="en-US" sz="2400" dirty="0">
                          <a:latin typeface="Quadraat" panose="02000503060000090004" pitchFamily="2" charset="0"/>
                        </a:rPr>
                        <a:t>Rare</a:t>
                      </a:r>
                    </a:p>
                  </a:txBody>
                  <a:tcPr anchor="ctr"/>
                </a:tc>
                <a:extLst>
                  <a:ext uri="{0D108BD9-81ED-4DB2-BD59-A6C34878D82A}">
                    <a16:rowId xmlns:a16="http://schemas.microsoft.com/office/drawing/2014/main" val="1560557539"/>
                  </a:ext>
                </a:extLst>
              </a:tr>
              <a:tr h="772302">
                <a:tc>
                  <a:txBody>
                    <a:bodyPr/>
                    <a:lstStyle/>
                    <a:p>
                      <a:pPr algn="ctr"/>
                      <a:r>
                        <a:rPr lang="en-US" sz="2400" b="1" dirty="0">
                          <a:latin typeface="Quadraat" panose="02000503060000090004" pitchFamily="2" charset="0"/>
                        </a:rPr>
                        <a:t>Mortality</a:t>
                      </a:r>
                    </a:p>
                  </a:txBody>
                  <a:tcPr anchor="ctr"/>
                </a:tc>
                <a:tc>
                  <a:txBody>
                    <a:bodyPr/>
                    <a:lstStyle/>
                    <a:p>
                      <a:pPr algn="ctr"/>
                      <a:r>
                        <a:rPr lang="en-US" sz="2400" dirty="0">
                          <a:latin typeface="Quadraat" panose="02000503060000090004" pitchFamily="2" charset="0"/>
                        </a:rPr>
                        <a:t>Up to 10%</a:t>
                      </a:r>
                    </a:p>
                  </a:txBody>
                  <a:tcPr anchor="ctr"/>
                </a:tc>
                <a:tc>
                  <a:txBody>
                    <a:bodyPr/>
                    <a:lstStyle/>
                    <a:p>
                      <a:pPr algn="ctr"/>
                      <a:r>
                        <a:rPr lang="en-US" sz="2400" dirty="0">
                          <a:latin typeface="Quadraat" panose="02000503060000090004" pitchFamily="2" charset="0"/>
                        </a:rPr>
                        <a:t>&lt; 1%</a:t>
                      </a:r>
                    </a:p>
                  </a:txBody>
                  <a:tcPr anchor="ctr"/>
                </a:tc>
                <a:extLst>
                  <a:ext uri="{0D108BD9-81ED-4DB2-BD59-A6C34878D82A}">
                    <a16:rowId xmlns:a16="http://schemas.microsoft.com/office/drawing/2014/main" val="3511271063"/>
                  </a:ext>
                </a:extLst>
              </a:tr>
            </a:tbl>
          </a:graphicData>
        </a:graphic>
      </p:graphicFrame>
    </p:spTree>
    <p:extLst>
      <p:ext uri="{BB962C8B-B14F-4D97-AF65-F5344CB8AC3E}">
        <p14:creationId xmlns:p14="http://schemas.microsoft.com/office/powerpoint/2010/main" val="19860059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D2AD3-6C6E-B243-A1C6-0353FF81F975}"/>
              </a:ext>
            </a:extLst>
          </p:cNvPr>
          <p:cNvSpPr>
            <a:spLocks noGrp="1"/>
          </p:cNvSpPr>
          <p:nvPr>
            <p:ph type="title"/>
          </p:nvPr>
        </p:nvSpPr>
        <p:spPr/>
        <p:txBody>
          <a:bodyPr/>
          <a:lstStyle/>
          <a:p>
            <a:r>
              <a:rPr lang="en-US" dirty="0"/>
              <a:t>Evaluation of Cholestatic Liver Tests</a:t>
            </a:r>
          </a:p>
        </p:txBody>
      </p:sp>
      <p:sp>
        <p:nvSpPr>
          <p:cNvPr id="6" name="Text Placeholder 5">
            <a:extLst>
              <a:ext uri="{FF2B5EF4-FFF2-40B4-BE49-F238E27FC236}">
                <a16:creationId xmlns:a16="http://schemas.microsoft.com/office/drawing/2014/main" id="{8712DEA5-DD91-FC4B-8592-39B8D9AB914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510207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D2AD3-6C6E-B243-A1C6-0353FF81F975}"/>
              </a:ext>
            </a:extLst>
          </p:cNvPr>
          <p:cNvSpPr>
            <a:spLocks noGrp="1"/>
          </p:cNvSpPr>
          <p:nvPr>
            <p:ph type="title"/>
          </p:nvPr>
        </p:nvSpPr>
        <p:spPr/>
        <p:txBody>
          <a:bodyPr/>
          <a:lstStyle/>
          <a:p>
            <a:r>
              <a:rPr lang="en-US" dirty="0"/>
              <a:t>Evaluation of Cholestasis</a:t>
            </a:r>
          </a:p>
        </p:txBody>
      </p:sp>
      <p:pic>
        <p:nvPicPr>
          <p:cNvPr id="4" name="Content Placeholder 3">
            <a:extLst>
              <a:ext uri="{FF2B5EF4-FFF2-40B4-BE49-F238E27FC236}">
                <a16:creationId xmlns:a16="http://schemas.microsoft.com/office/drawing/2014/main" id="{93CDF87C-61AF-B443-B3E8-1F5D33620B9C}"/>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2471888" y="1103313"/>
            <a:ext cx="7248223" cy="5402262"/>
          </a:xfrm>
          <a:prstGeom prst="rect">
            <a:avLst/>
          </a:prstGeom>
        </p:spPr>
      </p:pic>
    </p:spTree>
    <p:extLst>
      <p:ext uri="{BB962C8B-B14F-4D97-AF65-F5344CB8AC3E}">
        <p14:creationId xmlns:p14="http://schemas.microsoft.com/office/powerpoint/2010/main" val="2413218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D2AD3-6C6E-B243-A1C6-0353FF81F975}"/>
              </a:ext>
            </a:extLst>
          </p:cNvPr>
          <p:cNvSpPr>
            <a:spLocks noGrp="1"/>
          </p:cNvSpPr>
          <p:nvPr>
            <p:ph type="title"/>
          </p:nvPr>
        </p:nvSpPr>
        <p:spPr/>
        <p:txBody>
          <a:bodyPr/>
          <a:lstStyle/>
          <a:p>
            <a:r>
              <a:rPr lang="en-US" dirty="0"/>
              <a:t>Evaluation of Hepatocellular Liver Tests</a:t>
            </a:r>
          </a:p>
        </p:txBody>
      </p:sp>
      <p:sp>
        <p:nvSpPr>
          <p:cNvPr id="6" name="Text Placeholder 5">
            <a:extLst>
              <a:ext uri="{FF2B5EF4-FFF2-40B4-BE49-F238E27FC236}">
                <a16:creationId xmlns:a16="http://schemas.microsoft.com/office/drawing/2014/main" id="{8712DEA5-DD91-FC4B-8592-39B8D9AB914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931507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D2AD3-6C6E-B243-A1C6-0353FF81F975}"/>
              </a:ext>
            </a:extLst>
          </p:cNvPr>
          <p:cNvSpPr>
            <a:spLocks noGrp="1"/>
          </p:cNvSpPr>
          <p:nvPr>
            <p:ph type="title"/>
          </p:nvPr>
        </p:nvSpPr>
        <p:spPr/>
        <p:txBody>
          <a:bodyPr/>
          <a:lstStyle/>
          <a:p>
            <a:r>
              <a:rPr lang="en-US" dirty="0"/>
              <a:t>Evaluation of Hepatocellular Liver Tests</a:t>
            </a:r>
          </a:p>
        </p:txBody>
      </p:sp>
      <p:sp>
        <p:nvSpPr>
          <p:cNvPr id="3" name="Content Placeholder 2">
            <a:extLst>
              <a:ext uri="{FF2B5EF4-FFF2-40B4-BE49-F238E27FC236}">
                <a16:creationId xmlns:a16="http://schemas.microsoft.com/office/drawing/2014/main" id="{B0C97B94-5846-DB44-83EF-49DA1AD01EB3}"/>
              </a:ext>
            </a:extLst>
          </p:cNvPr>
          <p:cNvSpPr>
            <a:spLocks noGrp="1"/>
          </p:cNvSpPr>
          <p:nvPr>
            <p:ph idx="1"/>
          </p:nvPr>
        </p:nvSpPr>
        <p:spPr/>
        <p:txBody>
          <a:bodyPr/>
          <a:lstStyle/>
          <a:p>
            <a:pPr marL="0" indent="0" algn="ctr">
              <a:buNone/>
            </a:pPr>
            <a:r>
              <a:rPr lang="en-US" dirty="0"/>
              <a:t>Two questions to ask</a:t>
            </a:r>
          </a:p>
        </p:txBody>
      </p:sp>
    </p:spTree>
    <p:extLst>
      <p:ext uri="{BB962C8B-B14F-4D97-AF65-F5344CB8AC3E}">
        <p14:creationId xmlns:p14="http://schemas.microsoft.com/office/powerpoint/2010/main" val="14326440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D2AD3-6C6E-B243-A1C6-0353FF81F975}"/>
              </a:ext>
            </a:extLst>
          </p:cNvPr>
          <p:cNvSpPr>
            <a:spLocks noGrp="1"/>
          </p:cNvSpPr>
          <p:nvPr>
            <p:ph type="title"/>
          </p:nvPr>
        </p:nvSpPr>
        <p:spPr/>
        <p:txBody>
          <a:bodyPr/>
          <a:lstStyle/>
          <a:p>
            <a:r>
              <a:rPr lang="en-US" dirty="0"/>
              <a:t>Evaluation of Hepatocellular Liver Tests</a:t>
            </a:r>
          </a:p>
        </p:txBody>
      </p:sp>
      <p:sp>
        <p:nvSpPr>
          <p:cNvPr id="3" name="Content Placeholder 2">
            <a:extLst>
              <a:ext uri="{FF2B5EF4-FFF2-40B4-BE49-F238E27FC236}">
                <a16:creationId xmlns:a16="http://schemas.microsoft.com/office/drawing/2014/main" id="{B0C97B94-5846-DB44-83EF-49DA1AD01EB3}"/>
              </a:ext>
            </a:extLst>
          </p:cNvPr>
          <p:cNvSpPr>
            <a:spLocks noGrp="1"/>
          </p:cNvSpPr>
          <p:nvPr>
            <p:ph idx="1"/>
          </p:nvPr>
        </p:nvSpPr>
        <p:spPr/>
        <p:txBody>
          <a:bodyPr/>
          <a:lstStyle/>
          <a:p>
            <a:pPr marL="0" indent="0" algn="ctr">
              <a:buNone/>
            </a:pPr>
            <a:r>
              <a:rPr lang="en-US" dirty="0"/>
              <a:t>Two questions to ask</a:t>
            </a:r>
          </a:p>
          <a:p>
            <a:pPr marL="514350" indent="-514350">
              <a:buAutoNum type="arabicPeriod"/>
            </a:pPr>
            <a:endParaRPr lang="en-US" dirty="0"/>
          </a:p>
          <a:p>
            <a:pPr marL="514350" indent="-514350">
              <a:buAutoNum type="arabicPeriod"/>
            </a:pPr>
            <a:r>
              <a:rPr lang="en-US" sz="3200" dirty="0"/>
              <a:t>Degree of elevation of AST and ALT</a:t>
            </a:r>
          </a:p>
          <a:p>
            <a:pPr marL="514350" indent="-514350">
              <a:buAutoNum type="arabicPeriod"/>
            </a:pPr>
            <a:r>
              <a:rPr lang="en-US" sz="3200" dirty="0"/>
              <a:t>AST-to-ALT ratio</a:t>
            </a:r>
          </a:p>
        </p:txBody>
      </p:sp>
    </p:spTree>
    <p:extLst>
      <p:ext uri="{BB962C8B-B14F-4D97-AF65-F5344CB8AC3E}">
        <p14:creationId xmlns:p14="http://schemas.microsoft.com/office/powerpoint/2010/main" val="40862052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0CCC-41EB-9242-890A-50BD01AACFF8}"/>
              </a:ext>
            </a:extLst>
          </p:cNvPr>
          <p:cNvSpPr>
            <a:spLocks noGrp="1"/>
          </p:cNvSpPr>
          <p:nvPr>
            <p:ph type="title"/>
          </p:nvPr>
        </p:nvSpPr>
        <p:spPr/>
        <p:txBody>
          <a:bodyPr/>
          <a:lstStyle/>
          <a:p>
            <a:r>
              <a:rPr lang="en-US" dirty="0"/>
              <a:t>Why does AST-to-ALT ratio matter?</a:t>
            </a:r>
          </a:p>
        </p:txBody>
      </p:sp>
      <p:sp>
        <p:nvSpPr>
          <p:cNvPr id="5" name="Text Placeholder 4">
            <a:extLst>
              <a:ext uri="{FF2B5EF4-FFF2-40B4-BE49-F238E27FC236}">
                <a16:creationId xmlns:a16="http://schemas.microsoft.com/office/drawing/2014/main" id="{F1C8A8E8-9534-4E4B-BB51-2435B1A460A9}"/>
              </a:ext>
            </a:extLst>
          </p:cNvPr>
          <p:cNvSpPr>
            <a:spLocks noGrp="1"/>
          </p:cNvSpPr>
          <p:nvPr>
            <p:ph type="body" idx="1"/>
          </p:nvPr>
        </p:nvSpPr>
        <p:spPr/>
        <p:txBody>
          <a:bodyPr>
            <a:normAutofit/>
          </a:bodyPr>
          <a:lstStyle/>
          <a:p>
            <a:pPr algn="ctr"/>
            <a:r>
              <a:rPr lang="en-US" sz="4000" dirty="0"/>
              <a:t>Which conditions have a high AST-to-ALT ratio?</a:t>
            </a:r>
          </a:p>
        </p:txBody>
      </p:sp>
    </p:spTree>
    <p:extLst>
      <p:ext uri="{BB962C8B-B14F-4D97-AF65-F5344CB8AC3E}">
        <p14:creationId xmlns:p14="http://schemas.microsoft.com/office/powerpoint/2010/main" val="14426319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0CCC-41EB-9242-890A-50BD01AACFF8}"/>
              </a:ext>
            </a:extLst>
          </p:cNvPr>
          <p:cNvSpPr>
            <a:spLocks noGrp="1"/>
          </p:cNvSpPr>
          <p:nvPr>
            <p:ph type="title"/>
          </p:nvPr>
        </p:nvSpPr>
        <p:spPr/>
        <p:txBody>
          <a:bodyPr/>
          <a:lstStyle/>
          <a:p>
            <a:r>
              <a:rPr lang="en-US" dirty="0"/>
              <a:t>Why does AST-to-ALT ratio matter?</a:t>
            </a:r>
          </a:p>
        </p:txBody>
      </p:sp>
      <p:sp>
        <p:nvSpPr>
          <p:cNvPr id="3" name="Content Placeholder 2">
            <a:extLst>
              <a:ext uri="{FF2B5EF4-FFF2-40B4-BE49-F238E27FC236}">
                <a16:creationId xmlns:a16="http://schemas.microsoft.com/office/drawing/2014/main" id="{079F579C-BB64-414A-9CF0-F62A67C8B0D7}"/>
              </a:ext>
            </a:extLst>
          </p:cNvPr>
          <p:cNvSpPr>
            <a:spLocks noGrp="1"/>
          </p:cNvSpPr>
          <p:nvPr>
            <p:ph idx="1"/>
          </p:nvPr>
        </p:nvSpPr>
        <p:spPr>
          <a:xfrm>
            <a:off x="838200" y="1103585"/>
            <a:ext cx="10515600" cy="3468415"/>
          </a:xfrm>
        </p:spPr>
        <p:txBody>
          <a:bodyPr anchor="t"/>
          <a:lstStyle/>
          <a:p>
            <a:pPr marL="0" indent="0">
              <a:buNone/>
            </a:pPr>
            <a:r>
              <a:rPr lang="en-US" dirty="0"/>
              <a:t>Which conditions have a high AST-to-ALT ratio?</a:t>
            </a:r>
          </a:p>
        </p:txBody>
      </p:sp>
    </p:spTree>
    <p:extLst>
      <p:ext uri="{BB962C8B-B14F-4D97-AF65-F5344CB8AC3E}">
        <p14:creationId xmlns:p14="http://schemas.microsoft.com/office/powerpoint/2010/main" val="24382644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0CCC-41EB-9242-890A-50BD01AACFF8}"/>
              </a:ext>
            </a:extLst>
          </p:cNvPr>
          <p:cNvSpPr>
            <a:spLocks noGrp="1"/>
          </p:cNvSpPr>
          <p:nvPr>
            <p:ph type="title"/>
          </p:nvPr>
        </p:nvSpPr>
        <p:spPr/>
        <p:txBody>
          <a:bodyPr/>
          <a:lstStyle/>
          <a:p>
            <a:r>
              <a:rPr lang="en-US" dirty="0"/>
              <a:t>Why does AST-to-ALT ratio matter?</a:t>
            </a:r>
          </a:p>
        </p:txBody>
      </p:sp>
      <p:sp>
        <p:nvSpPr>
          <p:cNvPr id="3" name="Content Placeholder 2">
            <a:extLst>
              <a:ext uri="{FF2B5EF4-FFF2-40B4-BE49-F238E27FC236}">
                <a16:creationId xmlns:a16="http://schemas.microsoft.com/office/drawing/2014/main" id="{079F579C-BB64-414A-9CF0-F62A67C8B0D7}"/>
              </a:ext>
            </a:extLst>
          </p:cNvPr>
          <p:cNvSpPr>
            <a:spLocks noGrp="1"/>
          </p:cNvSpPr>
          <p:nvPr>
            <p:ph idx="1"/>
          </p:nvPr>
        </p:nvSpPr>
        <p:spPr>
          <a:xfrm>
            <a:off x="838200" y="1103585"/>
            <a:ext cx="10515600" cy="3468415"/>
          </a:xfrm>
        </p:spPr>
        <p:txBody>
          <a:bodyPr anchor="t"/>
          <a:lstStyle/>
          <a:p>
            <a:pPr marL="0" indent="0">
              <a:buNone/>
            </a:pPr>
            <a:r>
              <a:rPr lang="en-US" dirty="0"/>
              <a:t>Which conditions have a high AST-to-ALT ratio?</a:t>
            </a:r>
          </a:p>
          <a:p>
            <a:pPr marL="514350" indent="-514350">
              <a:buAutoNum type="arabicPeriod"/>
            </a:pPr>
            <a:endParaRPr lang="en-US" dirty="0"/>
          </a:p>
          <a:p>
            <a:pPr marL="514350" indent="-514350">
              <a:buAutoNum type="arabicPeriod"/>
            </a:pPr>
            <a:r>
              <a:rPr lang="en-US" dirty="0"/>
              <a:t>Alcoholic hepatitis</a:t>
            </a:r>
          </a:p>
          <a:p>
            <a:pPr marL="514350" indent="-514350">
              <a:buAutoNum type="arabicPeriod"/>
            </a:pPr>
            <a:r>
              <a:rPr lang="en-US" dirty="0"/>
              <a:t>Cirrhosis</a:t>
            </a:r>
          </a:p>
        </p:txBody>
      </p:sp>
    </p:spTree>
    <p:extLst>
      <p:ext uri="{BB962C8B-B14F-4D97-AF65-F5344CB8AC3E}">
        <p14:creationId xmlns:p14="http://schemas.microsoft.com/office/powerpoint/2010/main" val="37220877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0CCC-41EB-9242-890A-50BD01AACFF8}"/>
              </a:ext>
            </a:extLst>
          </p:cNvPr>
          <p:cNvSpPr>
            <a:spLocks noGrp="1"/>
          </p:cNvSpPr>
          <p:nvPr>
            <p:ph type="title"/>
          </p:nvPr>
        </p:nvSpPr>
        <p:spPr/>
        <p:txBody>
          <a:bodyPr/>
          <a:lstStyle/>
          <a:p>
            <a:r>
              <a:rPr lang="en-US" dirty="0"/>
              <a:t>Why does AST-to-ALT ratio matter?</a:t>
            </a:r>
          </a:p>
        </p:txBody>
      </p:sp>
      <p:sp>
        <p:nvSpPr>
          <p:cNvPr id="3" name="Content Placeholder 2">
            <a:extLst>
              <a:ext uri="{FF2B5EF4-FFF2-40B4-BE49-F238E27FC236}">
                <a16:creationId xmlns:a16="http://schemas.microsoft.com/office/drawing/2014/main" id="{079F579C-BB64-414A-9CF0-F62A67C8B0D7}"/>
              </a:ext>
            </a:extLst>
          </p:cNvPr>
          <p:cNvSpPr>
            <a:spLocks noGrp="1"/>
          </p:cNvSpPr>
          <p:nvPr>
            <p:ph idx="1"/>
          </p:nvPr>
        </p:nvSpPr>
        <p:spPr>
          <a:xfrm>
            <a:off x="838200" y="1103585"/>
            <a:ext cx="10515600" cy="3468415"/>
          </a:xfrm>
        </p:spPr>
        <p:txBody>
          <a:bodyPr anchor="t"/>
          <a:lstStyle/>
          <a:p>
            <a:pPr marL="0" indent="0">
              <a:buNone/>
            </a:pPr>
            <a:r>
              <a:rPr lang="en-US" dirty="0"/>
              <a:t>Which conditions have a high AST-to-ALT ratio?</a:t>
            </a:r>
          </a:p>
          <a:p>
            <a:pPr marL="514350" indent="-514350">
              <a:buAutoNum type="arabicPeriod"/>
            </a:pPr>
            <a:endParaRPr lang="en-US" dirty="0"/>
          </a:p>
          <a:p>
            <a:pPr marL="514350" indent="-514350">
              <a:buAutoNum type="arabicPeriod"/>
            </a:pPr>
            <a:r>
              <a:rPr lang="en-US" dirty="0"/>
              <a:t>Alcoholic hepatitis – </a:t>
            </a:r>
            <a:r>
              <a:rPr lang="en-US" b="1" dirty="0"/>
              <a:t>Why?</a:t>
            </a:r>
          </a:p>
          <a:p>
            <a:pPr marL="514350" indent="-514350">
              <a:buAutoNum type="arabicPeriod"/>
            </a:pPr>
            <a:r>
              <a:rPr lang="en-US" dirty="0"/>
              <a:t>Cirrhosis – </a:t>
            </a:r>
            <a:r>
              <a:rPr lang="en-US" b="1" dirty="0"/>
              <a:t>Why?</a:t>
            </a:r>
          </a:p>
        </p:txBody>
      </p:sp>
    </p:spTree>
    <p:extLst>
      <p:ext uri="{BB962C8B-B14F-4D97-AF65-F5344CB8AC3E}">
        <p14:creationId xmlns:p14="http://schemas.microsoft.com/office/powerpoint/2010/main" val="22868512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0CCC-41EB-9242-890A-50BD01AACFF8}"/>
              </a:ext>
            </a:extLst>
          </p:cNvPr>
          <p:cNvSpPr>
            <a:spLocks noGrp="1"/>
          </p:cNvSpPr>
          <p:nvPr>
            <p:ph type="title"/>
          </p:nvPr>
        </p:nvSpPr>
        <p:spPr/>
        <p:txBody>
          <a:bodyPr/>
          <a:lstStyle/>
          <a:p>
            <a:r>
              <a:rPr lang="en-US" dirty="0"/>
              <a:t>The complicated story of PLP, AST and ALT</a:t>
            </a:r>
          </a:p>
        </p:txBody>
      </p:sp>
      <p:sp>
        <p:nvSpPr>
          <p:cNvPr id="5" name="Text Placeholder 4">
            <a:extLst>
              <a:ext uri="{FF2B5EF4-FFF2-40B4-BE49-F238E27FC236}">
                <a16:creationId xmlns:a16="http://schemas.microsoft.com/office/drawing/2014/main" id="{CB00D70C-9628-6A45-BC3D-32EA087ECEB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272861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0CCC-41EB-9242-890A-50BD01AACFF8}"/>
              </a:ext>
            </a:extLst>
          </p:cNvPr>
          <p:cNvSpPr>
            <a:spLocks noGrp="1"/>
          </p:cNvSpPr>
          <p:nvPr>
            <p:ph type="title"/>
          </p:nvPr>
        </p:nvSpPr>
        <p:spPr/>
        <p:txBody>
          <a:bodyPr/>
          <a:lstStyle/>
          <a:p>
            <a:r>
              <a:rPr lang="en-US" dirty="0"/>
              <a:t>The complicated story of PLP, AST and ALT</a:t>
            </a:r>
          </a:p>
        </p:txBody>
      </p:sp>
      <p:pic>
        <p:nvPicPr>
          <p:cNvPr id="4" name="Content Placeholder 3">
            <a:extLst>
              <a:ext uri="{FF2B5EF4-FFF2-40B4-BE49-F238E27FC236}">
                <a16:creationId xmlns:a16="http://schemas.microsoft.com/office/drawing/2014/main" id="{C51B89F7-9A02-034D-BB91-651A0BC7FB04}"/>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1022350" y="1427730"/>
            <a:ext cx="10147300" cy="1270000"/>
          </a:xfrm>
          <a:prstGeom prst="rect">
            <a:avLst/>
          </a:prstGeom>
        </p:spPr>
      </p:pic>
      <p:pic>
        <p:nvPicPr>
          <p:cNvPr id="6" name="Picture 5">
            <a:extLst>
              <a:ext uri="{FF2B5EF4-FFF2-40B4-BE49-F238E27FC236}">
                <a16:creationId xmlns:a16="http://schemas.microsoft.com/office/drawing/2014/main" id="{808309F9-AC3A-9C4D-BD9F-35242035F1C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34810" y="2697730"/>
            <a:ext cx="3122379" cy="4050315"/>
          </a:xfrm>
          <a:prstGeom prst="rect">
            <a:avLst/>
          </a:prstGeom>
        </p:spPr>
      </p:pic>
    </p:spTree>
    <p:extLst>
      <p:ext uri="{BB962C8B-B14F-4D97-AF65-F5344CB8AC3E}">
        <p14:creationId xmlns:p14="http://schemas.microsoft.com/office/powerpoint/2010/main" val="28239154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E3FA20-2C68-6840-B902-0617D04BD8D1}"/>
              </a:ext>
            </a:extLst>
          </p:cNvPr>
          <p:cNvSpPr>
            <a:spLocks noGrp="1"/>
          </p:cNvSpPr>
          <p:nvPr>
            <p:ph type="title"/>
          </p:nvPr>
        </p:nvSpPr>
        <p:spPr/>
        <p:txBody>
          <a:bodyPr/>
          <a:lstStyle/>
          <a:p>
            <a:r>
              <a:rPr lang="en-US" dirty="0"/>
              <a:t>Causes of Hepatocellular Injury</a:t>
            </a:r>
          </a:p>
        </p:txBody>
      </p:sp>
      <p:sp>
        <p:nvSpPr>
          <p:cNvPr id="5" name="Text Placeholder 4">
            <a:extLst>
              <a:ext uri="{FF2B5EF4-FFF2-40B4-BE49-F238E27FC236}">
                <a16:creationId xmlns:a16="http://schemas.microsoft.com/office/drawing/2014/main" id="{A656DB17-D10B-2646-AAA4-2CB2D2CEAE3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192360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E761F77-2E74-5643-91C0-FBC800AD712F}"/>
              </a:ext>
            </a:extLst>
          </p:cNvPr>
          <p:cNvSpPr/>
          <p:nvPr/>
        </p:nvSpPr>
        <p:spPr>
          <a:xfrm>
            <a:off x="7805277" y="4138367"/>
            <a:ext cx="2382265" cy="1673883"/>
          </a:xfrm>
          <a:custGeom>
            <a:avLst/>
            <a:gdLst>
              <a:gd name="connsiteX0" fmla="*/ 0 w 2382265"/>
              <a:gd name="connsiteY0" fmla="*/ 0 h 1673883"/>
              <a:gd name="connsiteX1" fmla="*/ 643212 w 2382265"/>
              <a:gd name="connsiteY1" fmla="*/ 0 h 1673883"/>
              <a:gd name="connsiteX2" fmla="*/ 1262600 w 2382265"/>
              <a:gd name="connsiteY2" fmla="*/ 0 h 1673883"/>
              <a:gd name="connsiteX3" fmla="*/ 2382265 w 2382265"/>
              <a:gd name="connsiteY3" fmla="*/ 0 h 1673883"/>
              <a:gd name="connsiteX4" fmla="*/ 2382265 w 2382265"/>
              <a:gd name="connsiteY4" fmla="*/ 507745 h 1673883"/>
              <a:gd name="connsiteX5" fmla="*/ 2382265 w 2382265"/>
              <a:gd name="connsiteY5" fmla="*/ 1099183 h 1673883"/>
              <a:gd name="connsiteX6" fmla="*/ 2382265 w 2382265"/>
              <a:gd name="connsiteY6" fmla="*/ 1673883 h 1673883"/>
              <a:gd name="connsiteX7" fmla="*/ 1834344 w 2382265"/>
              <a:gd name="connsiteY7" fmla="*/ 1673883 h 1673883"/>
              <a:gd name="connsiteX8" fmla="*/ 1262600 w 2382265"/>
              <a:gd name="connsiteY8" fmla="*/ 1673883 h 1673883"/>
              <a:gd name="connsiteX9" fmla="*/ 738502 w 2382265"/>
              <a:gd name="connsiteY9" fmla="*/ 1673883 h 1673883"/>
              <a:gd name="connsiteX10" fmla="*/ 0 w 2382265"/>
              <a:gd name="connsiteY10" fmla="*/ 1673883 h 1673883"/>
              <a:gd name="connsiteX11" fmla="*/ 0 w 2382265"/>
              <a:gd name="connsiteY11" fmla="*/ 1099183 h 1673883"/>
              <a:gd name="connsiteX12" fmla="*/ 0 w 2382265"/>
              <a:gd name="connsiteY12" fmla="*/ 591439 h 1673883"/>
              <a:gd name="connsiteX13" fmla="*/ 0 w 2382265"/>
              <a:gd name="connsiteY13" fmla="*/ 0 h 1673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2265" h="1673883" fill="none" extrusionOk="0">
                <a:moveTo>
                  <a:pt x="0" y="0"/>
                </a:moveTo>
                <a:cubicBezTo>
                  <a:pt x="276908" y="-55331"/>
                  <a:pt x="385958" y="33339"/>
                  <a:pt x="643212" y="0"/>
                </a:cubicBezTo>
                <a:cubicBezTo>
                  <a:pt x="900466" y="-33339"/>
                  <a:pt x="1126927" y="59688"/>
                  <a:pt x="1262600" y="0"/>
                </a:cubicBezTo>
                <a:cubicBezTo>
                  <a:pt x="1398273" y="-59688"/>
                  <a:pt x="1861378" y="63577"/>
                  <a:pt x="2382265" y="0"/>
                </a:cubicBezTo>
                <a:cubicBezTo>
                  <a:pt x="2423436" y="138820"/>
                  <a:pt x="2365858" y="396011"/>
                  <a:pt x="2382265" y="507745"/>
                </a:cubicBezTo>
                <a:cubicBezTo>
                  <a:pt x="2398672" y="619480"/>
                  <a:pt x="2346045" y="899036"/>
                  <a:pt x="2382265" y="1099183"/>
                </a:cubicBezTo>
                <a:cubicBezTo>
                  <a:pt x="2418485" y="1299330"/>
                  <a:pt x="2346602" y="1451979"/>
                  <a:pt x="2382265" y="1673883"/>
                </a:cubicBezTo>
                <a:cubicBezTo>
                  <a:pt x="2139132" y="1735740"/>
                  <a:pt x="1997942" y="1612935"/>
                  <a:pt x="1834344" y="1673883"/>
                </a:cubicBezTo>
                <a:cubicBezTo>
                  <a:pt x="1670746" y="1734831"/>
                  <a:pt x="1490777" y="1640426"/>
                  <a:pt x="1262600" y="1673883"/>
                </a:cubicBezTo>
                <a:cubicBezTo>
                  <a:pt x="1034423" y="1707340"/>
                  <a:pt x="879701" y="1643257"/>
                  <a:pt x="738502" y="1673883"/>
                </a:cubicBezTo>
                <a:cubicBezTo>
                  <a:pt x="597303" y="1704509"/>
                  <a:pt x="287833" y="1659815"/>
                  <a:pt x="0" y="1673883"/>
                </a:cubicBezTo>
                <a:cubicBezTo>
                  <a:pt x="-33632" y="1454744"/>
                  <a:pt x="34666" y="1364505"/>
                  <a:pt x="0" y="1099183"/>
                </a:cubicBezTo>
                <a:cubicBezTo>
                  <a:pt x="-34666" y="833861"/>
                  <a:pt x="6054" y="694542"/>
                  <a:pt x="0" y="591439"/>
                </a:cubicBezTo>
                <a:cubicBezTo>
                  <a:pt x="-6054" y="488336"/>
                  <a:pt x="65488" y="270291"/>
                  <a:pt x="0" y="0"/>
                </a:cubicBezTo>
                <a:close/>
              </a:path>
              <a:path w="2382265" h="1673883" stroke="0" extrusionOk="0">
                <a:moveTo>
                  <a:pt x="0" y="0"/>
                </a:moveTo>
                <a:cubicBezTo>
                  <a:pt x="195963" y="-3843"/>
                  <a:pt x="301057" y="30793"/>
                  <a:pt x="571744" y="0"/>
                </a:cubicBezTo>
                <a:cubicBezTo>
                  <a:pt x="842431" y="-30793"/>
                  <a:pt x="958083" y="25495"/>
                  <a:pt x="1095842" y="0"/>
                </a:cubicBezTo>
                <a:cubicBezTo>
                  <a:pt x="1233601" y="-25495"/>
                  <a:pt x="1540020" y="41306"/>
                  <a:pt x="1739053" y="0"/>
                </a:cubicBezTo>
                <a:cubicBezTo>
                  <a:pt x="1938086" y="-41306"/>
                  <a:pt x="2087036" y="38222"/>
                  <a:pt x="2382265" y="0"/>
                </a:cubicBezTo>
                <a:cubicBezTo>
                  <a:pt x="2442810" y="193560"/>
                  <a:pt x="2327044" y="422675"/>
                  <a:pt x="2382265" y="541222"/>
                </a:cubicBezTo>
                <a:cubicBezTo>
                  <a:pt x="2437486" y="659769"/>
                  <a:pt x="2326424" y="951714"/>
                  <a:pt x="2382265" y="1065706"/>
                </a:cubicBezTo>
                <a:cubicBezTo>
                  <a:pt x="2438106" y="1179698"/>
                  <a:pt x="2379114" y="1443049"/>
                  <a:pt x="2382265" y="1673883"/>
                </a:cubicBezTo>
                <a:cubicBezTo>
                  <a:pt x="2108385" y="1709809"/>
                  <a:pt x="2081315" y="1637071"/>
                  <a:pt x="1786699" y="1673883"/>
                </a:cubicBezTo>
                <a:cubicBezTo>
                  <a:pt x="1492083" y="1710695"/>
                  <a:pt x="1422736" y="1650423"/>
                  <a:pt x="1262600" y="1673883"/>
                </a:cubicBezTo>
                <a:cubicBezTo>
                  <a:pt x="1102464" y="1697343"/>
                  <a:pt x="940954" y="1613805"/>
                  <a:pt x="667034" y="1673883"/>
                </a:cubicBezTo>
                <a:cubicBezTo>
                  <a:pt x="393114" y="1733961"/>
                  <a:pt x="165702" y="1624974"/>
                  <a:pt x="0" y="1673883"/>
                </a:cubicBezTo>
                <a:cubicBezTo>
                  <a:pt x="-10289" y="1438602"/>
                  <a:pt x="63646" y="1387553"/>
                  <a:pt x="0" y="1132661"/>
                </a:cubicBezTo>
                <a:cubicBezTo>
                  <a:pt x="-63646" y="877769"/>
                  <a:pt x="14426" y="802215"/>
                  <a:pt x="0" y="591439"/>
                </a:cubicBezTo>
                <a:cubicBezTo>
                  <a:pt x="-14426" y="380663"/>
                  <a:pt x="19626" y="289796"/>
                  <a:pt x="0" y="0"/>
                </a:cubicBezTo>
                <a:close/>
              </a:path>
            </a:pathLst>
          </a:custGeom>
          <a:pattFill prst="dkUpDiag">
            <a:fgClr>
              <a:srgbClr val="E97161"/>
            </a:fgClr>
            <a:bgClr>
              <a:schemeClr val="bg1"/>
            </a:bgClr>
          </a:pattFill>
          <a:ln w="25400" cap="flat">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tx1"/>
              </a:solidFill>
              <a:effectLst>
                <a:glow rad="381000">
                  <a:schemeClr val="bg1">
                    <a:alpha val="70000"/>
                  </a:schemeClr>
                </a:glow>
              </a:effectLst>
              <a:latin typeface="Quadraat" panose="02000503060000090004" pitchFamily="2" charset="0"/>
            </a:endParaRPr>
          </a:p>
        </p:txBody>
      </p:sp>
      <p:cxnSp>
        <p:nvCxnSpPr>
          <p:cNvPr id="16" name="Straight Connector 15">
            <a:extLst>
              <a:ext uri="{FF2B5EF4-FFF2-40B4-BE49-F238E27FC236}">
                <a16:creationId xmlns:a16="http://schemas.microsoft.com/office/drawing/2014/main" id="{A8C74A05-34FA-DD44-9BA6-FBAEF74C93E6}"/>
              </a:ext>
            </a:extLst>
          </p:cNvPr>
          <p:cNvCxnSpPr>
            <a:cxnSpLocks/>
          </p:cNvCxnSpPr>
          <p:nvPr/>
        </p:nvCxnSpPr>
        <p:spPr>
          <a:xfrm>
            <a:off x="2302430" y="4082285"/>
            <a:ext cx="7729537"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ADD48D4-4357-0F4A-AC4D-931CE4E6ACB5}"/>
              </a:ext>
            </a:extLst>
          </p:cNvPr>
          <p:cNvSpPr>
            <a:spLocks noGrp="1"/>
          </p:cNvSpPr>
          <p:nvPr>
            <p:ph type="title"/>
          </p:nvPr>
        </p:nvSpPr>
        <p:spPr/>
        <p:txBody>
          <a:bodyPr/>
          <a:lstStyle/>
          <a:p>
            <a:r>
              <a:rPr lang="en-US" dirty="0"/>
              <a:t>Causes of Hepatocellular Injury</a:t>
            </a:r>
          </a:p>
        </p:txBody>
      </p:sp>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8B74225E-FDC0-3249-9AA1-3A703CCF9FDD}"/>
                  </a:ext>
                </a:extLst>
              </p14:cNvPr>
              <p14:cNvContentPartPr/>
              <p14:nvPr/>
            </p14:nvContentPartPr>
            <p14:xfrm>
              <a:off x="6094489" y="4282312"/>
              <a:ext cx="360" cy="360"/>
            </p14:xfrm>
          </p:contentPart>
        </mc:Choice>
        <mc:Fallback xmlns="">
          <p:pic>
            <p:nvPicPr>
              <p:cNvPr id="9" name="Ink 8">
                <a:extLst>
                  <a:ext uri="{FF2B5EF4-FFF2-40B4-BE49-F238E27FC236}">
                    <a16:creationId xmlns:a16="http://schemas.microsoft.com/office/drawing/2014/main" id="{8B74225E-FDC0-3249-9AA1-3A703CCF9FDD}"/>
                  </a:ext>
                </a:extLst>
              </p:cNvPr>
              <p:cNvPicPr/>
              <p:nvPr/>
            </p:nvPicPr>
            <p:blipFill>
              <a:blip r:embed="rId4"/>
              <a:stretch>
                <a:fillRect/>
              </a:stretch>
            </p:blipFill>
            <p:spPr>
              <a:xfrm>
                <a:off x="6082249" y="4269712"/>
                <a:ext cx="255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745D9307-6FBB-154D-B41D-C4AAFF52DBE3}"/>
                  </a:ext>
                </a:extLst>
              </p14:cNvPr>
              <p14:cNvContentPartPr/>
              <p14:nvPr/>
            </p14:nvContentPartPr>
            <p14:xfrm>
              <a:off x="5503009" y="5913832"/>
              <a:ext cx="360" cy="360"/>
            </p14:xfrm>
          </p:contentPart>
        </mc:Choice>
        <mc:Fallback xmlns="">
          <p:pic>
            <p:nvPicPr>
              <p:cNvPr id="10" name="Ink 9">
                <a:extLst>
                  <a:ext uri="{FF2B5EF4-FFF2-40B4-BE49-F238E27FC236}">
                    <a16:creationId xmlns:a16="http://schemas.microsoft.com/office/drawing/2014/main" id="{745D9307-6FBB-154D-B41D-C4AAFF52DBE3}"/>
                  </a:ext>
                </a:extLst>
              </p:cNvPr>
              <p:cNvPicPr/>
              <p:nvPr/>
            </p:nvPicPr>
            <p:blipFill>
              <a:blip r:embed="rId4"/>
              <a:stretch>
                <a:fillRect/>
              </a:stretch>
            </p:blipFill>
            <p:spPr>
              <a:xfrm>
                <a:off x="5487529" y="5898352"/>
                <a:ext cx="30960" cy="30960"/>
              </a:xfrm>
              <a:prstGeom prst="rect">
                <a:avLst/>
              </a:prstGeom>
            </p:spPr>
          </p:pic>
        </mc:Fallback>
      </mc:AlternateContent>
      <p:graphicFrame>
        <p:nvGraphicFramePr>
          <p:cNvPr id="13" name="Chart 12">
            <a:extLst>
              <a:ext uri="{FF2B5EF4-FFF2-40B4-BE49-F238E27FC236}">
                <a16:creationId xmlns:a16="http://schemas.microsoft.com/office/drawing/2014/main" id="{9D870FC4-A586-8945-994A-64869821C88C}"/>
              </a:ext>
            </a:extLst>
          </p:cNvPr>
          <p:cNvGraphicFramePr/>
          <p:nvPr>
            <p:extLst>
              <p:ext uri="{D42A27DB-BD31-4B8C-83A1-F6EECF244321}">
                <p14:modId xmlns:p14="http://schemas.microsoft.com/office/powerpoint/2010/main" val="1389739200"/>
              </p:ext>
            </p:extLst>
          </p:nvPr>
        </p:nvGraphicFramePr>
        <p:xfrm>
          <a:off x="1265792" y="943808"/>
          <a:ext cx="9321800" cy="5914191"/>
        </p:xfrm>
        <a:graphic>
          <a:graphicData uri="http://schemas.openxmlformats.org/drawingml/2006/chart">
            <c:chart xmlns:c="http://schemas.openxmlformats.org/drawingml/2006/chart" xmlns:r="http://schemas.openxmlformats.org/officeDocument/2006/relationships" r:id="rId6"/>
          </a:graphicData>
        </a:graphic>
      </p:graphicFrame>
      <p:sp>
        <p:nvSpPr>
          <p:cNvPr id="14" name="Rectangle 13">
            <a:extLst>
              <a:ext uri="{FF2B5EF4-FFF2-40B4-BE49-F238E27FC236}">
                <a16:creationId xmlns:a16="http://schemas.microsoft.com/office/drawing/2014/main" id="{73E02B94-2A03-CB4B-8C28-10F4EAB54A0E}"/>
              </a:ext>
            </a:extLst>
          </p:cNvPr>
          <p:cNvSpPr/>
          <p:nvPr/>
        </p:nvSpPr>
        <p:spPr>
          <a:xfrm>
            <a:off x="3376152" y="3367910"/>
            <a:ext cx="1428750" cy="1428750"/>
          </a:xfrm>
          <a:custGeom>
            <a:avLst/>
            <a:gdLst>
              <a:gd name="connsiteX0" fmla="*/ 0 w 1428750"/>
              <a:gd name="connsiteY0" fmla="*/ 0 h 1428750"/>
              <a:gd name="connsiteX1" fmla="*/ 461962 w 1428750"/>
              <a:gd name="connsiteY1" fmla="*/ 0 h 1428750"/>
              <a:gd name="connsiteX2" fmla="*/ 938212 w 1428750"/>
              <a:gd name="connsiteY2" fmla="*/ 0 h 1428750"/>
              <a:gd name="connsiteX3" fmla="*/ 1428750 w 1428750"/>
              <a:gd name="connsiteY3" fmla="*/ 0 h 1428750"/>
              <a:gd name="connsiteX4" fmla="*/ 1428750 w 1428750"/>
              <a:gd name="connsiteY4" fmla="*/ 490538 h 1428750"/>
              <a:gd name="connsiteX5" fmla="*/ 1428750 w 1428750"/>
              <a:gd name="connsiteY5" fmla="*/ 923925 h 1428750"/>
              <a:gd name="connsiteX6" fmla="*/ 1428750 w 1428750"/>
              <a:gd name="connsiteY6" fmla="*/ 1428750 h 1428750"/>
              <a:gd name="connsiteX7" fmla="*/ 923925 w 1428750"/>
              <a:gd name="connsiteY7" fmla="*/ 1428750 h 1428750"/>
              <a:gd name="connsiteX8" fmla="*/ 419100 w 1428750"/>
              <a:gd name="connsiteY8" fmla="*/ 1428750 h 1428750"/>
              <a:gd name="connsiteX9" fmla="*/ 0 w 1428750"/>
              <a:gd name="connsiteY9" fmla="*/ 1428750 h 1428750"/>
              <a:gd name="connsiteX10" fmla="*/ 0 w 1428750"/>
              <a:gd name="connsiteY10" fmla="*/ 966788 h 1428750"/>
              <a:gd name="connsiteX11" fmla="*/ 0 w 1428750"/>
              <a:gd name="connsiteY11" fmla="*/ 490538 h 1428750"/>
              <a:gd name="connsiteX12" fmla="*/ 0 w 1428750"/>
              <a:gd name="connsiteY12" fmla="*/ 0 h 142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8750" h="1428750" fill="none" extrusionOk="0">
                <a:moveTo>
                  <a:pt x="0" y="0"/>
                </a:moveTo>
                <a:cubicBezTo>
                  <a:pt x="197327" y="-13766"/>
                  <a:pt x="294805" y="41678"/>
                  <a:pt x="461962" y="0"/>
                </a:cubicBezTo>
                <a:cubicBezTo>
                  <a:pt x="629119" y="-41678"/>
                  <a:pt x="756610" y="43509"/>
                  <a:pt x="938212" y="0"/>
                </a:cubicBezTo>
                <a:cubicBezTo>
                  <a:pt x="1119814" y="-43509"/>
                  <a:pt x="1291043" y="4521"/>
                  <a:pt x="1428750" y="0"/>
                </a:cubicBezTo>
                <a:cubicBezTo>
                  <a:pt x="1438791" y="232067"/>
                  <a:pt x="1415310" y="382490"/>
                  <a:pt x="1428750" y="490538"/>
                </a:cubicBezTo>
                <a:cubicBezTo>
                  <a:pt x="1442190" y="598586"/>
                  <a:pt x="1409984" y="831579"/>
                  <a:pt x="1428750" y="923925"/>
                </a:cubicBezTo>
                <a:cubicBezTo>
                  <a:pt x="1447516" y="1016271"/>
                  <a:pt x="1397705" y="1224523"/>
                  <a:pt x="1428750" y="1428750"/>
                </a:cubicBezTo>
                <a:cubicBezTo>
                  <a:pt x="1227765" y="1442266"/>
                  <a:pt x="1067555" y="1381030"/>
                  <a:pt x="923925" y="1428750"/>
                </a:cubicBezTo>
                <a:cubicBezTo>
                  <a:pt x="780296" y="1476470"/>
                  <a:pt x="595414" y="1424180"/>
                  <a:pt x="419100" y="1428750"/>
                </a:cubicBezTo>
                <a:cubicBezTo>
                  <a:pt x="242787" y="1433320"/>
                  <a:pt x="103704" y="1425926"/>
                  <a:pt x="0" y="1428750"/>
                </a:cubicBezTo>
                <a:cubicBezTo>
                  <a:pt x="-12621" y="1285638"/>
                  <a:pt x="39472" y="1063813"/>
                  <a:pt x="0" y="966788"/>
                </a:cubicBezTo>
                <a:cubicBezTo>
                  <a:pt x="-39472" y="869763"/>
                  <a:pt x="53289" y="634289"/>
                  <a:pt x="0" y="490538"/>
                </a:cubicBezTo>
                <a:cubicBezTo>
                  <a:pt x="-53289" y="346787"/>
                  <a:pt x="56378" y="154293"/>
                  <a:pt x="0" y="0"/>
                </a:cubicBezTo>
                <a:close/>
              </a:path>
              <a:path w="1428750" h="1428750" stroke="0" extrusionOk="0">
                <a:moveTo>
                  <a:pt x="0" y="0"/>
                </a:moveTo>
                <a:cubicBezTo>
                  <a:pt x="118869" y="-37481"/>
                  <a:pt x="266234" y="40795"/>
                  <a:pt x="461962" y="0"/>
                </a:cubicBezTo>
                <a:cubicBezTo>
                  <a:pt x="657690" y="-40795"/>
                  <a:pt x="773846" y="42489"/>
                  <a:pt x="895350" y="0"/>
                </a:cubicBezTo>
                <a:cubicBezTo>
                  <a:pt x="1016854" y="-42489"/>
                  <a:pt x="1276585" y="40109"/>
                  <a:pt x="1428750" y="0"/>
                </a:cubicBezTo>
                <a:cubicBezTo>
                  <a:pt x="1437977" y="125727"/>
                  <a:pt x="1393777" y="357507"/>
                  <a:pt x="1428750" y="461962"/>
                </a:cubicBezTo>
                <a:cubicBezTo>
                  <a:pt x="1463723" y="566417"/>
                  <a:pt x="1413892" y="718189"/>
                  <a:pt x="1428750" y="909637"/>
                </a:cubicBezTo>
                <a:cubicBezTo>
                  <a:pt x="1443608" y="1101085"/>
                  <a:pt x="1419692" y="1250667"/>
                  <a:pt x="1428750" y="1428750"/>
                </a:cubicBezTo>
                <a:cubicBezTo>
                  <a:pt x="1329245" y="1464581"/>
                  <a:pt x="1060154" y="1380805"/>
                  <a:pt x="952500" y="1428750"/>
                </a:cubicBezTo>
                <a:cubicBezTo>
                  <a:pt x="844846" y="1476695"/>
                  <a:pt x="655921" y="1405161"/>
                  <a:pt x="447675" y="1428750"/>
                </a:cubicBezTo>
                <a:cubicBezTo>
                  <a:pt x="239430" y="1452339"/>
                  <a:pt x="140191" y="1414318"/>
                  <a:pt x="0" y="1428750"/>
                </a:cubicBezTo>
                <a:cubicBezTo>
                  <a:pt x="-52012" y="1223363"/>
                  <a:pt x="10504" y="1064578"/>
                  <a:pt x="0" y="952500"/>
                </a:cubicBezTo>
                <a:cubicBezTo>
                  <a:pt x="-10504" y="840422"/>
                  <a:pt x="21860" y="595127"/>
                  <a:pt x="0" y="490538"/>
                </a:cubicBezTo>
                <a:cubicBezTo>
                  <a:pt x="-21860" y="385949"/>
                  <a:pt x="22995" y="170190"/>
                  <a:pt x="0" y="0"/>
                </a:cubicBezTo>
                <a:close/>
              </a:path>
            </a:pathLst>
          </a:custGeom>
          <a:pattFill prst="dkUpDiag">
            <a:fgClr>
              <a:schemeClr val="accent6"/>
            </a:fgClr>
            <a:bgClr>
              <a:schemeClr val="bg1"/>
            </a:bgClr>
          </a:pattFill>
          <a:ln w="25400" cap="flat">
            <a:solidFill>
              <a:schemeClr val="accent6"/>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effectLst>
                  <a:glow rad="381000">
                    <a:schemeClr val="bg1">
                      <a:alpha val="70000"/>
                    </a:schemeClr>
                  </a:glow>
                </a:effectLst>
                <a:latin typeface="Quadraat" panose="02000503060000090004" pitchFamily="2" charset="0"/>
              </a:rPr>
              <a:t>Normal</a:t>
            </a:r>
          </a:p>
        </p:txBody>
      </p:sp>
      <p:sp>
        <p:nvSpPr>
          <p:cNvPr id="17" name="Rectangle 16">
            <a:extLst>
              <a:ext uri="{FF2B5EF4-FFF2-40B4-BE49-F238E27FC236}">
                <a16:creationId xmlns:a16="http://schemas.microsoft.com/office/drawing/2014/main" id="{31F6DD6D-4466-1C47-9352-F18642138FC7}"/>
              </a:ext>
            </a:extLst>
          </p:cNvPr>
          <p:cNvSpPr/>
          <p:nvPr/>
        </p:nvSpPr>
        <p:spPr>
          <a:xfrm>
            <a:off x="5204952" y="4138367"/>
            <a:ext cx="2126677" cy="1672803"/>
          </a:xfrm>
          <a:custGeom>
            <a:avLst/>
            <a:gdLst>
              <a:gd name="connsiteX0" fmla="*/ 0 w 2126677"/>
              <a:gd name="connsiteY0" fmla="*/ 0 h 1672803"/>
              <a:gd name="connsiteX1" fmla="*/ 574203 w 2126677"/>
              <a:gd name="connsiteY1" fmla="*/ 0 h 1672803"/>
              <a:gd name="connsiteX2" fmla="*/ 1127139 w 2126677"/>
              <a:gd name="connsiteY2" fmla="*/ 0 h 1672803"/>
              <a:gd name="connsiteX3" fmla="*/ 2126677 w 2126677"/>
              <a:gd name="connsiteY3" fmla="*/ 0 h 1672803"/>
              <a:gd name="connsiteX4" fmla="*/ 2126677 w 2126677"/>
              <a:gd name="connsiteY4" fmla="*/ 507417 h 1672803"/>
              <a:gd name="connsiteX5" fmla="*/ 2126677 w 2126677"/>
              <a:gd name="connsiteY5" fmla="*/ 1098474 h 1672803"/>
              <a:gd name="connsiteX6" fmla="*/ 2126677 w 2126677"/>
              <a:gd name="connsiteY6" fmla="*/ 1672803 h 1672803"/>
              <a:gd name="connsiteX7" fmla="*/ 1637541 w 2126677"/>
              <a:gd name="connsiteY7" fmla="*/ 1672803 h 1672803"/>
              <a:gd name="connsiteX8" fmla="*/ 1127139 w 2126677"/>
              <a:gd name="connsiteY8" fmla="*/ 1672803 h 1672803"/>
              <a:gd name="connsiteX9" fmla="*/ 659270 w 2126677"/>
              <a:gd name="connsiteY9" fmla="*/ 1672803 h 1672803"/>
              <a:gd name="connsiteX10" fmla="*/ 0 w 2126677"/>
              <a:gd name="connsiteY10" fmla="*/ 1672803 h 1672803"/>
              <a:gd name="connsiteX11" fmla="*/ 0 w 2126677"/>
              <a:gd name="connsiteY11" fmla="*/ 1098474 h 1672803"/>
              <a:gd name="connsiteX12" fmla="*/ 0 w 2126677"/>
              <a:gd name="connsiteY12" fmla="*/ 591057 h 1672803"/>
              <a:gd name="connsiteX13" fmla="*/ 0 w 2126677"/>
              <a:gd name="connsiteY13" fmla="*/ 0 h 1672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6677" h="1672803" fill="none" extrusionOk="0">
                <a:moveTo>
                  <a:pt x="0" y="0"/>
                </a:moveTo>
                <a:cubicBezTo>
                  <a:pt x="201714" y="-56182"/>
                  <a:pt x="328084" y="14913"/>
                  <a:pt x="574203" y="0"/>
                </a:cubicBezTo>
                <a:cubicBezTo>
                  <a:pt x="820322" y="-14913"/>
                  <a:pt x="858431" y="1722"/>
                  <a:pt x="1127139" y="0"/>
                </a:cubicBezTo>
                <a:cubicBezTo>
                  <a:pt x="1395847" y="-1722"/>
                  <a:pt x="1843342" y="112095"/>
                  <a:pt x="2126677" y="0"/>
                </a:cubicBezTo>
                <a:cubicBezTo>
                  <a:pt x="2129826" y="199947"/>
                  <a:pt x="2072687" y="337785"/>
                  <a:pt x="2126677" y="507417"/>
                </a:cubicBezTo>
                <a:cubicBezTo>
                  <a:pt x="2180667" y="677049"/>
                  <a:pt x="2094450" y="852714"/>
                  <a:pt x="2126677" y="1098474"/>
                </a:cubicBezTo>
                <a:cubicBezTo>
                  <a:pt x="2158904" y="1344234"/>
                  <a:pt x="2099082" y="1430821"/>
                  <a:pt x="2126677" y="1672803"/>
                </a:cubicBezTo>
                <a:cubicBezTo>
                  <a:pt x="2003330" y="1696429"/>
                  <a:pt x="1858898" y="1623776"/>
                  <a:pt x="1637541" y="1672803"/>
                </a:cubicBezTo>
                <a:cubicBezTo>
                  <a:pt x="1416184" y="1721830"/>
                  <a:pt x="1315779" y="1657167"/>
                  <a:pt x="1127139" y="1672803"/>
                </a:cubicBezTo>
                <a:cubicBezTo>
                  <a:pt x="938499" y="1688439"/>
                  <a:pt x="828471" y="1656702"/>
                  <a:pt x="659270" y="1672803"/>
                </a:cubicBezTo>
                <a:cubicBezTo>
                  <a:pt x="490069" y="1688904"/>
                  <a:pt x="162650" y="1609216"/>
                  <a:pt x="0" y="1672803"/>
                </a:cubicBezTo>
                <a:cubicBezTo>
                  <a:pt x="-3453" y="1544869"/>
                  <a:pt x="34198" y="1254210"/>
                  <a:pt x="0" y="1098474"/>
                </a:cubicBezTo>
                <a:cubicBezTo>
                  <a:pt x="-34198" y="942738"/>
                  <a:pt x="41976" y="829906"/>
                  <a:pt x="0" y="591057"/>
                </a:cubicBezTo>
                <a:cubicBezTo>
                  <a:pt x="-41976" y="352208"/>
                  <a:pt x="38462" y="220421"/>
                  <a:pt x="0" y="0"/>
                </a:cubicBezTo>
                <a:close/>
              </a:path>
              <a:path w="2126677" h="1672803" stroke="0" extrusionOk="0">
                <a:moveTo>
                  <a:pt x="0" y="0"/>
                </a:moveTo>
                <a:cubicBezTo>
                  <a:pt x="215929" y="-30816"/>
                  <a:pt x="259023" y="2641"/>
                  <a:pt x="510402" y="0"/>
                </a:cubicBezTo>
                <a:cubicBezTo>
                  <a:pt x="761781" y="-2641"/>
                  <a:pt x="799673" y="37116"/>
                  <a:pt x="978271" y="0"/>
                </a:cubicBezTo>
                <a:cubicBezTo>
                  <a:pt x="1156869" y="-37116"/>
                  <a:pt x="1433791" y="42604"/>
                  <a:pt x="1552474" y="0"/>
                </a:cubicBezTo>
                <a:cubicBezTo>
                  <a:pt x="1671157" y="-42604"/>
                  <a:pt x="1891902" y="9637"/>
                  <a:pt x="2126677" y="0"/>
                </a:cubicBezTo>
                <a:cubicBezTo>
                  <a:pt x="2165749" y="203002"/>
                  <a:pt x="2078397" y="318225"/>
                  <a:pt x="2126677" y="540873"/>
                </a:cubicBezTo>
                <a:cubicBezTo>
                  <a:pt x="2174957" y="763521"/>
                  <a:pt x="2112922" y="898132"/>
                  <a:pt x="2126677" y="1065018"/>
                </a:cubicBezTo>
                <a:cubicBezTo>
                  <a:pt x="2140432" y="1231904"/>
                  <a:pt x="2119988" y="1522626"/>
                  <a:pt x="2126677" y="1672803"/>
                </a:cubicBezTo>
                <a:cubicBezTo>
                  <a:pt x="1989128" y="1689032"/>
                  <a:pt x="1730903" y="1629974"/>
                  <a:pt x="1595008" y="1672803"/>
                </a:cubicBezTo>
                <a:cubicBezTo>
                  <a:pt x="1459113" y="1715632"/>
                  <a:pt x="1318341" y="1645976"/>
                  <a:pt x="1127139" y="1672803"/>
                </a:cubicBezTo>
                <a:cubicBezTo>
                  <a:pt x="935937" y="1699630"/>
                  <a:pt x="702000" y="1611951"/>
                  <a:pt x="595470" y="1672803"/>
                </a:cubicBezTo>
                <a:cubicBezTo>
                  <a:pt x="488940" y="1733655"/>
                  <a:pt x="232291" y="1660239"/>
                  <a:pt x="0" y="1672803"/>
                </a:cubicBezTo>
                <a:cubicBezTo>
                  <a:pt x="-4092" y="1496383"/>
                  <a:pt x="42267" y="1288725"/>
                  <a:pt x="0" y="1131930"/>
                </a:cubicBezTo>
                <a:cubicBezTo>
                  <a:pt x="-42267" y="975135"/>
                  <a:pt x="46038" y="823424"/>
                  <a:pt x="0" y="591057"/>
                </a:cubicBezTo>
                <a:cubicBezTo>
                  <a:pt x="-46038" y="358690"/>
                  <a:pt x="8093" y="278056"/>
                  <a:pt x="0" y="0"/>
                </a:cubicBezTo>
                <a:close/>
              </a:path>
            </a:pathLst>
          </a:custGeom>
          <a:pattFill prst="dkUpDiag">
            <a:fgClr>
              <a:srgbClr val="E97161"/>
            </a:fgClr>
            <a:bgClr>
              <a:schemeClr val="bg1"/>
            </a:bgClr>
          </a:pattFill>
          <a:ln w="25400" cap="flat">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tx1"/>
              </a:solidFill>
              <a:effectLst>
                <a:glow rad="381000">
                  <a:schemeClr val="bg1">
                    <a:alpha val="70000"/>
                  </a:schemeClr>
                </a:glow>
              </a:effectLst>
              <a:latin typeface="Quadraat" panose="02000503060000090004" pitchFamily="2" charset="0"/>
            </a:endParaRPr>
          </a:p>
        </p:txBody>
      </p:sp>
      <p:sp>
        <p:nvSpPr>
          <p:cNvPr id="23" name="Rectangle 22">
            <a:extLst>
              <a:ext uri="{FF2B5EF4-FFF2-40B4-BE49-F238E27FC236}">
                <a16:creationId xmlns:a16="http://schemas.microsoft.com/office/drawing/2014/main" id="{88D8B4FE-686D-D84A-9905-EE1B3EDC037C}"/>
              </a:ext>
            </a:extLst>
          </p:cNvPr>
          <p:cNvSpPr/>
          <p:nvPr/>
        </p:nvSpPr>
        <p:spPr>
          <a:xfrm>
            <a:off x="5204952" y="1539112"/>
            <a:ext cx="2126677" cy="1428745"/>
          </a:xfrm>
          <a:custGeom>
            <a:avLst/>
            <a:gdLst>
              <a:gd name="connsiteX0" fmla="*/ 0 w 2126677"/>
              <a:gd name="connsiteY0" fmla="*/ 0 h 1428745"/>
              <a:gd name="connsiteX1" fmla="*/ 574203 w 2126677"/>
              <a:gd name="connsiteY1" fmla="*/ 0 h 1428745"/>
              <a:gd name="connsiteX2" fmla="*/ 1127139 w 2126677"/>
              <a:gd name="connsiteY2" fmla="*/ 0 h 1428745"/>
              <a:gd name="connsiteX3" fmla="*/ 2126677 w 2126677"/>
              <a:gd name="connsiteY3" fmla="*/ 0 h 1428745"/>
              <a:gd name="connsiteX4" fmla="*/ 2126677 w 2126677"/>
              <a:gd name="connsiteY4" fmla="*/ 433386 h 1428745"/>
              <a:gd name="connsiteX5" fmla="*/ 2126677 w 2126677"/>
              <a:gd name="connsiteY5" fmla="*/ 938209 h 1428745"/>
              <a:gd name="connsiteX6" fmla="*/ 2126677 w 2126677"/>
              <a:gd name="connsiteY6" fmla="*/ 1428745 h 1428745"/>
              <a:gd name="connsiteX7" fmla="*/ 1637541 w 2126677"/>
              <a:gd name="connsiteY7" fmla="*/ 1428745 h 1428745"/>
              <a:gd name="connsiteX8" fmla="*/ 1127139 w 2126677"/>
              <a:gd name="connsiteY8" fmla="*/ 1428745 h 1428745"/>
              <a:gd name="connsiteX9" fmla="*/ 659270 w 2126677"/>
              <a:gd name="connsiteY9" fmla="*/ 1428745 h 1428745"/>
              <a:gd name="connsiteX10" fmla="*/ 0 w 2126677"/>
              <a:gd name="connsiteY10" fmla="*/ 1428745 h 1428745"/>
              <a:gd name="connsiteX11" fmla="*/ 0 w 2126677"/>
              <a:gd name="connsiteY11" fmla="*/ 938209 h 1428745"/>
              <a:gd name="connsiteX12" fmla="*/ 0 w 2126677"/>
              <a:gd name="connsiteY12" fmla="*/ 504823 h 1428745"/>
              <a:gd name="connsiteX13" fmla="*/ 0 w 2126677"/>
              <a:gd name="connsiteY13" fmla="*/ 0 h 142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6677" h="1428745" fill="none" extrusionOk="0">
                <a:moveTo>
                  <a:pt x="0" y="0"/>
                </a:moveTo>
                <a:cubicBezTo>
                  <a:pt x="201714" y="-56182"/>
                  <a:pt x="328084" y="14913"/>
                  <a:pt x="574203" y="0"/>
                </a:cubicBezTo>
                <a:cubicBezTo>
                  <a:pt x="820322" y="-14913"/>
                  <a:pt x="858431" y="1722"/>
                  <a:pt x="1127139" y="0"/>
                </a:cubicBezTo>
                <a:cubicBezTo>
                  <a:pt x="1395847" y="-1722"/>
                  <a:pt x="1843342" y="112095"/>
                  <a:pt x="2126677" y="0"/>
                </a:cubicBezTo>
                <a:cubicBezTo>
                  <a:pt x="2136542" y="197528"/>
                  <a:pt x="2123367" y="291191"/>
                  <a:pt x="2126677" y="433386"/>
                </a:cubicBezTo>
                <a:cubicBezTo>
                  <a:pt x="2129987" y="575581"/>
                  <a:pt x="2079202" y="797532"/>
                  <a:pt x="2126677" y="938209"/>
                </a:cubicBezTo>
                <a:cubicBezTo>
                  <a:pt x="2174152" y="1078886"/>
                  <a:pt x="2070951" y="1303469"/>
                  <a:pt x="2126677" y="1428745"/>
                </a:cubicBezTo>
                <a:cubicBezTo>
                  <a:pt x="2003330" y="1452371"/>
                  <a:pt x="1858898" y="1379718"/>
                  <a:pt x="1637541" y="1428745"/>
                </a:cubicBezTo>
                <a:cubicBezTo>
                  <a:pt x="1416184" y="1477772"/>
                  <a:pt x="1315779" y="1413109"/>
                  <a:pt x="1127139" y="1428745"/>
                </a:cubicBezTo>
                <a:cubicBezTo>
                  <a:pt x="938499" y="1444381"/>
                  <a:pt x="828471" y="1412644"/>
                  <a:pt x="659270" y="1428745"/>
                </a:cubicBezTo>
                <a:cubicBezTo>
                  <a:pt x="490069" y="1444846"/>
                  <a:pt x="162650" y="1365158"/>
                  <a:pt x="0" y="1428745"/>
                </a:cubicBezTo>
                <a:cubicBezTo>
                  <a:pt x="-5385" y="1253150"/>
                  <a:pt x="15550" y="1123945"/>
                  <a:pt x="0" y="938209"/>
                </a:cubicBezTo>
                <a:cubicBezTo>
                  <a:pt x="-15550" y="752473"/>
                  <a:pt x="21725" y="619170"/>
                  <a:pt x="0" y="504823"/>
                </a:cubicBezTo>
                <a:cubicBezTo>
                  <a:pt x="-21725" y="390476"/>
                  <a:pt x="679" y="127417"/>
                  <a:pt x="0" y="0"/>
                </a:cubicBezTo>
                <a:close/>
              </a:path>
              <a:path w="2126677" h="1428745" stroke="0" extrusionOk="0">
                <a:moveTo>
                  <a:pt x="0" y="0"/>
                </a:moveTo>
                <a:cubicBezTo>
                  <a:pt x="215929" y="-30816"/>
                  <a:pt x="259023" y="2641"/>
                  <a:pt x="510402" y="0"/>
                </a:cubicBezTo>
                <a:cubicBezTo>
                  <a:pt x="761781" y="-2641"/>
                  <a:pt x="799673" y="37116"/>
                  <a:pt x="978271" y="0"/>
                </a:cubicBezTo>
                <a:cubicBezTo>
                  <a:pt x="1156869" y="-37116"/>
                  <a:pt x="1433791" y="42604"/>
                  <a:pt x="1552474" y="0"/>
                </a:cubicBezTo>
                <a:cubicBezTo>
                  <a:pt x="1671157" y="-42604"/>
                  <a:pt x="1891902" y="9637"/>
                  <a:pt x="2126677" y="0"/>
                </a:cubicBezTo>
                <a:cubicBezTo>
                  <a:pt x="2161463" y="205361"/>
                  <a:pt x="2105641" y="332906"/>
                  <a:pt x="2126677" y="461961"/>
                </a:cubicBezTo>
                <a:cubicBezTo>
                  <a:pt x="2147713" y="591016"/>
                  <a:pt x="2105559" y="782987"/>
                  <a:pt x="2126677" y="909634"/>
                </a:cubicBezTo>
                <a:cubicBezTo>
                  <a:pt x="2147795" y="1036281"/>
                  <a:pt x="2097168" y="1179400"/>
                  <a:pt x="2126677" y="1428745"/>
                </a:cubicBezTo>
                <a:cubicBezTo>
                  <a:pt x="1989128" y="1444974"/>
                  <a:pt x="1730903" y="1385916"/>
                  <a:pt x="1595008" y="1428745"/>
                </a:cubicBezTo>
                <a:cubicBezTo>
                  <a:pt x="1459113" y="1471574"/>
                  <a:pt x="1318341" y="1401918"/>
                  <a:pt x="1127139" y="1428745"/>
                </a:cubicBezTo>
                <a:cubicBezTo>
                  <a:pt x="935937" y="1455572"/>
                  <a:pt x="702000" y="1367893"/>
                  <a:pt x="595470" y="1428745"/>
                </a:cubicBezTo>
                <a:cubicBezTo>
                  <a:pt x="488940" y="1489597"/>
                  <a:pt x="232291" y="1416181"/>
                  <a:pt x="0" y="1428745"/>
                </a:cubicBezTo>
                <a:cubicBezTo>
                  <a:pt x="-22420" y="1212058"/>
                  <a:pt x="1150" y="1197734"/>
                  <a:pt x="0" y="966784"/>
                </a:cubicBezTo>
                <a:cubicBezTo>
                  <a:pt x="-1150" y="735834"/>
                  <a:pt x="50490" y="625495"/>
                  <a:pt x="0" y="504823"/>
                </a:cubicBezTo>
                <a:cubicBezTo>
                  <a:pt x="-50490" y="384151"/>
                  <a:pt x="14972" y="232122"/>
                  <a:pt x="0" y="0"/>
                </a:cubicBezTo>
                <a:close/>
              </a:path>
            </a:pathLst>
          </a:custGeom>
          <a:pattFill prst="dkUpDiag">
            <a:fgClr>
              <a:srgbClr val="E97161"/>
            </a:fgClr>
            <a:bgClr>
              <a:schemeClr val="bg1"/>
            </a:bgClr>
          </a:pattFill>
          <a:ln w="25400" cap="flat">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tx1"/>
              </a:solidFill>
              <a:effectLst>
                <a:glow rad="381000">
                  <a:schemeClr val="bg1">
                    <a:alpha val="70000"/>
                  </a:schemeClr>
                </a:glow>
              </a:effectLst>
              <a:latin typeface="Quadraat" panose="02000503060000090004" pitchFamily="2" charset="0"/>
            </a:endParaRPr>
          </a:p>
        </p:txBody>
      </p:sp>
      <p:sp>
        <p:nvSpPr>
          <p:cNvPr id="24" name="Rectangle 23">
            <a:extLst>
              <a:ext uri="{FF2B5EF4-FFF2-40B4-BE49-F238E27FC236}">
                <a16:creationId xmlns:a16="http://schemas.microsoft.com/office/drawing/2014/main" id="{2B354682-DEBD-CA4B-986F-5EA751D059C0}"/>
              </a:ext>
            </a:extLst>
          </p:cNvPr>
          <p:cNvSpPr/>
          <p:nvPr/>
        </p:nvSpPr>
        <p:spPr>
          <a:xfrm>
            <a:off x="7805277" y="1539112"/>
            <a:ext cx="2382265" cy="1428750"/>
          </a:xfrm>
          <a:custGeom>
            <a:avLst/>
            <a:gdLst>
              <a:gd name="connsiteX0" fmla="*/ 0 w 2382265"/>
              <a:gd name="connsiteY0" fmla="*/ 0 h 1428750"/>
              <a:gd name="connsiteX1" fmla="*/ 643212 w 2382265"/>
              <a:gd name="connsiteY1" fmla="*/ 0 h 1428750"/>
              <a:gd name="connsiteX2" fmla="*/ 1262600 w 2382265"/>
              <a:gd name="connsiteY2" fmla="*/ 0 h 1428750"/>
              <a:gd name="connsiteX3" fmla="*/ 2382265 w 2382265"/>
              <a:gd name="connsiteY3" fmla="*/ 0 h 1428750"/>
              <a:gd name="connsiteX4" fmla="*/ 2382265 w 2382265"/>
              <a:gd name="connsiteY4" fmla="*/ 433388 h 1428750"/>
              <a:gd name="connsiteX5" fmla="*/ 2382265 w 2382265"/>
              <a:gd name="connsiteY5" fmla="*/ 938213 h 1428750"/>
              <a:gd name="connsiteX6" fmla="*/ 2382265 w 2382265"/>
              <a:gd name="connsiteY6" fmla="*/ 1428750 h 1428750"/>
              <a:gd name="connsiteX7" fmla="*/ 1834344 w 2382265"/>
              <a:gd name="connsiteY7" fmla="*/ 1428750 h 1428750"/>
              <a:gd name="connsiteX8" fmla="*/ 1262600 w 2382265"/>
              <a:gd name="connsiteY8" fmla="*/ 1428750 h 1428750"/>
              <a:gd name="connsiteX9" fmla="*/ 738502 w 2382265"/>
              <a:gd name="connsiteY9" fmla="*/ 1428750 h 1428750"/>
              <a:gd name="connsiteX10" fmla="*/ 0 w 2382265"/>
              <a:gd name="connsiteY10" fmla="*/ 1428750 h 1428750"/>
              <a:gd name="connsiteX11" fmla="*/ 0 w 2382265"/>
              <a:gd name="connsiteY11" fmla="*/ 938213 h 1428750"/>
              <a:gd name="connsiteX12" fmla="*/ 0 w 2382265"/>
              <a:gd name="connsiteY12" fmla="*/ 504825 h 1428750"/>
              <a:gd name="connsiteX13" fmla="*/ 0 w 2382265"/>
              <a:gd name="connsiteY13" fmla="*/ 0 h 142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2265" h="1428750" fill="none" extrusionOk="0">
                <a:moveTo>
                  <a:pt x="0" y="0"/>
                </a:moveTo>
                <a:cubicBezTo>
                  <a:pt x="276908" y="-55331"/>
                  <a:pt x="385958" y="33339"/>
                  <a:pt x="643212" y="0"/>
                </a:cubicBezTo>
                <a:cubicBezTo>
                  <a:pt x="900466" y="-33339"/>
                  <a:pt x="1126927" y="59688"/>
                  <a:pt x="1262600" y="0"/>
                </a:cubicBezTo>
                <a:cubicBezTo>
                  <a:pt x="1398273" y="-59688"/>
                  <a:pt x="1861378" y="63577"/>
                  <a:pt x="2382265" y="0"/>
                </a:cubicBezTo>
                <a:cubicBezTo>
                  <a:pt x="2393271" y="187305"/>
                  <a:pt x="2346356" y="287256"/>
                  <a:pt x="2382265" y="433388"/>
                </a:cubicBezTo>
                <a:cubicBezTo>
                  <a:pt x="2418174" y="579520"/>
                  <a:pt x="2335202" y="785821"/>
                  <a:pt x="2382265" y="938213"/>
                </a:cubicBezTo>
                <a:cubicBezTo>
                  <a:pt x="2429328" y="1090605"/>
                  <a:pt x="2327384" y="1302994"/>
                  <a:pt x="2382265" y="1428750"/>
                </a:cubicBezTo>
                <a:cubicBezTo>
                  <a:pt x="2139132" y="1490607"/>
                  <a:pt x="1997942" y="1367802"/>
                  <a:pt x="1834344" y="1428750"/>
                </a:cubicBezTo>
                <a:cubicBezTo>
                  <a:pt x="1670746" y="1489698"/>
                  <a:pt x="1490777" y="1395293"/>
                  <a:pt x="1262600" y="1428750"/>
                </a:cubicBezTo>
                <a:cubicBezTo>
                  <a:pt x="1034423" y="1462207"/>
                  <a:pt x="879701" y="1398124"/>
                  <a:pt x="738502" y="1428750"/>
                </a:cubicBezTo>
                <a:cubicBezTo>
                  <a:pt x="597303" y="1459376"/>
                  <a:pt x="287833" y="1414682"/>
                  <a:pt x="0" y="1428750"/>
                </a:cubicBezTo>
                <a:cubicBezTo>
                  <a:pt x="-9833" y="1259396"/>
                  <a:pt x="13593" y="1124839"/>
                  <a:pt x="0" y="938213"/>
                </a:cubicBezTo>
                <a:cubicBezTo>
                  <a:pt x="-13593" y="751587"/>
                  <a:pt x="2706" y="633471"/>
                  <a:pt x="0" y="504825"/>
                </a:cubicBezTo>
                <a:cubicBezTo>
                  <a:pt x="-2706" y="376179"/>
                  <a:pt x="54028" y="137512"/>
                  <a:pt x="0" y="0"/>
                </a:cubicBezTo>
                <a:close/>
              </a:path>
              <a:path w="2382265" h="1428750" stroke="0" extrusionOk="0">
                <a:moveTo>
                  <a:pt x="0" y="0"/>
                </a:moveTo>
                <a:cubicBezTo>
                  <a:pt x="195963" y="-3843"/>
                  <a:pt x="301057" y="30793"/>
                  <a:pt x="571744" y="0"/>
                </a:cubicBezTo>
                <a:cubicBezTo>
                  <a:pt x="842431" y="-30793"/>
                  <a:pt x="958083" y="25495"/>
                  <a:pt x="1095842" y="0"/>
                </a:cubicBezTo>
                <a:cubicBezTo>
                  <a:pt x="1233601" y="-25495"/>
                  <a:pt x="1540020" y="41306"/>
                  <a:pt x="1739053" y="0"/>
                </a:cubicBezTo>
                <a:cubicBezTo>
                  <a:pt x="1938086" y="-41306"/>
                  <a:pt x="2087036" y="38222"/>
                  <a:pt x="2382265" y="0"/>
                </a:cubicBezTo>
                <a:cubicBezTo>
                  <a:pt x="2422788" y="203150"/>
                  <a:pt x="2368396" y="330533"/>
                  <a:pt x="2382265" y="461962"/>
                </a:cubicBezTo>
                <a:cubicBezTo>
                  <a:pt x="2396134" y="593391"/>
                  <a:pt x="2368247" y="771400"/>
                  <a:pt x="2382265" y="909637"/>
                </a:cubicBezTo>
                <a:cubicBezTo>
                  <a:pt x="2396283" y="1047874"/>
                  <a:pt x="2363676" y="1323759"/>
                  <a:pt x="2382265" y="1428750"/>
                </a:cubicBezTo>
                <a:cubicBezTo>
                  <a:pt x="2108385" y="1464676"/>
                  <a:pt x="2081315" y="1391938"/>
                  <a:pt x="1786699" y="1428750"/>
                </a:cubicBezTo>
                <a:cubicBezTo>
                  <a:pt x="1492083" y="1465562"/>
                  <a:pt x="1422736" y="1405290"/>
                  <a:pt x="1262600" y="1428750"/>
                </a:cubicBezTo>
                <a:cubicBezTo>
                  <a:pt x="1102464" y="1452210"/>
                  <a:pt x="940954" y="1368672"/>
                  <a:pt x="667034" y="1428750"/>
                </a:cubicBezTo>
                <a:cubicBezTo>
                  <a:pt x="393114" y="1488828"/>
                  <a:pt x="165702" y="1379841"/>
                  <a:pt x="0" y="1428750"/>
                </a:cubicBezTo>
                <a:cubicBezTo>
                  <a:pt x="-28324" y="1215679"/>
                  <a:pt x="53171" y="1062746"/>
                  <a:pt x="0" y="966788"/>
                </a:cubicBezTo>
                <a:cubicBezTo>
                  <a:pt x="-53171" y="870830"/>
                  <a:pt x="32848" y="636246"/>
                  <a:pt x="0" y="504825"/>
                </a:cubicBezTo>
                <a:cubicBezTo>
                  <a:pt x="-32848" y="373404"/>
                  <a:pt x="7647" y="240896"/>
                  <a:pt x="0" y="0"/>
                </a:cubicBezTo>
                <a:close/>
              </a:path>
            </a:pathLst>
          </a:custGeom>
          <a:pattFill prst="dkUpDiag">
            <a:fgClr>
              <a:srgbClr val="E97161"/>
            </a:fgClr>
            <a:bgClr>
              <a:schemeClr val="bg1"/>
            </a:bgClr>
          </a:pattFill>
          <a:ln w="25400" cap="flat">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ffectLst>
                <a:glow rad="381000">
                  <a:schemeClr val="bg1">
                    <a:alpha val="70000"/>
                  </a:schemeClr>
                </a:glow>
              </a:effectLst>
              <a:latin typeface="Quadraat" panose="02000503060000090004" pitchFamily="2" charset="0"/>
            </a:endParaRPr>
          </a:p>
        </p:txBody>
      </p:sp>
      <p:sp>
        <p:nvSpPr>
          <p:cNvPr id="5" name="Right Brace 4">
            <a:extLst>
              <a:ext uri="{FF2B5EF4-FFF2-40B4-BE49-F238E27FC236}">
                <a16:creationId xmlns:a16="http://schemas.microsoft.com/office/drawing/2014/main" id="{E468CDC0-0376-5D43-928B-9CB4E059D764}"/>
              </a:ext>
            </a:extLst>
          </p:cNvPr>
          <p:cNvSpPr/>
          <p:nvPr/>
        </p:nvSpPr>
        <p:spPr>
          <a:xfrm>
            <a:off x="10587592" y="1193369"/>
            <a:ext cx="276720" cy="2758699"/>
          </a:xfrm>
          <a:prstGeom prst="rightBrace">
            <a:avLst>
              <a:gd name="adj1" fmla="val 74817"/>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71E72CFC-5FB0-C44F-9599-681C781DFAF4}"/>
              </a:ext>
            </a:extLst>
          </p:cNvPr>
          <p:cNvSpPr/>
          <p:nvPr/>
        </p:nvSpPr>
        <p:spPr>
          <a:xfrm>
            <a:off x="10587592" y="4125934"/>
            <a:ext cx="276720" cy="1678685"/>
          </a:xfrm>
          <a:prstGeom prst="rightBrace">
            <a:avLst>
              <a:gd name="adj1" fmla="val 73723"/>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2" name="TextBox 21">
            <a:extLst>
              <a:ext uri="{FF2B5EF4-FFF2-40B4-BE49-F238E27FC236}">
                <a16:creationId xmlns:a16="http://schemas.microsoft.com/office/drawing/2014/main" id="{EA67C534-B0FD-524A-AFBC-D5DEBD2165B8}"/>
              </a:ext>
            </a:extLst>
          </p:cNvPr>
          <p:cNvSpPr txBox="1"/>
          <p:nvPr/>
        </p:nvSpPr>
        <p:spPr>
          <a:xfrm rot="5400000">
            <a:off x="10261820" y="4763395"/>
            <a:ext cx="1728885" cy="400110"/>
          </a:xfrm>
          <a:prstGeom prst="rect">
            <a:avLst/>
          </a:prstGeom>
          <a:noFill/>
        </p:spPr>
        <p:txBody>
          <a:bodyPr wrap="square" rtlCol="0">
            <a:spAutoFit/>
          </a:bodyPr>
          <a:lstStyle/>
          <a:p>
            <a:pPr algn="ctr"/>
            <a:r>
              <a:rPr lang="en-US" sz="2000" b="1" dirty="0">
                <a:latin typeface="Quadraat" panose="02000503060000090004" pitchFamily="2" charset="0"/>
              </a:rPr>
              <a:t>ALT Territory</a:t>
            </a:r>
          </a:p>
        </p:txBody>
      </p:sp>
      <p:sp>
        <p:nvSpPr>
          <p:cNvPr id="27" name="TextBox 26">
            <a:extLst>
              <a:ext uri="{FF2B5EF4-FFF2-40B4-BE49-F238E27FC236}">
                <a16:creationId xmlns:a16="http://schemas.microsoft.com/office/drawing/2014/main" id="{7B6FAF39-FAA0-D641-9722-AF115C086D6C}"/>
              </a:ext>
            </a:extLst>
          </p:cNvPr>
          <p:cNvSpPr txBox="1"/>
          <p:nvPr/>
        </p:nvSpPr>
        <p:spPr>
          <a:xfrm rot="5400000">
            <a:off x="10261820" y="2378748"/>
            <a:ext cx="1728885" cy="400110"/>
          </a:xfrm>
          <a:prstGeom prst="rect">
            <a:avLst/>
          </a:prstGeom>
          <a:noFill/>
        </p:spPr>
        <p:txBody>
          <a:bodyPr wrap="square" rtlCol="0">
            <a:spAutoFit/>
          </a:bodyPr>
          <a:lstStyle/>
          <a:p>
            <a:pPr algn="ctr"/>
            <a:r>
              <a:rPr lang="en-US" sz="2000" b="1" dirty="0">
                <a:latin typeface="Quadraat" panose="02000503060000090004" pitchFamily="2" charset="0"/>
              </a:rPr>
              <a:t>AST Territory</a:t>
            </a:r>
          </a:p>
        </p:txBody>
      </p:sp>
    </p:spTree>
    <p:extLst>
      <p:ext uri="{BB962C8B-B14F-4D97-AF65-F5344CB8AC3E}">
        <p14:creationId xmlns:p14="http://schemas.microsoft.com/office/powerpoint/2010/main" val="20609963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E761F77-2E74-5643-91C0-FBC800AD712F}"/>
              </a:ext>
            </a:extLst>
          </p:cNvPr>
          <p:cNvSpPr/>
          <p:nvPr/>
        </p:nvSpPr>
        <p:spPr>
          <a:xfrm>
            <a:off x="7805277" y="4138367"/>
            <a:ext cx="2382265" cy="1673883"/>
          </a:xfrm>
          <a:custGeom>
            <a:avLst/>
            <a:gdLst>
              <a:gd name="connsiteX0" fmla="*/ 0 w 2382265"/>
              <a:gd name="connsiteY0" fmla="*/ 0 h 1673883"/>
              <a:gd name="connsiteX1" fmla="*/ 643212 w 2382265"/>
              <a:gd name="connsiteY1" fmla="*/ 0 h 1673883"/>
              <a:gd name="connsiteX2" fmla="*/ 1262600 w 2382265"/>
              <a:gd name="connsiteY2" fmla="*/ 0 h 1673883"/>
              <a:gd name="connsiteX3" fmla="*/ 2382265 w 2382265"/>
              <a:gd name="connsiteY3" fmla="*/ 0 h 1673883"/>
              <a:gd name="connsiteX4" fmla="*/ 2382265 w 2382265"/>
              <a:gd name="connsiteY4" fmla="*/ 507745 h 1673883"/>
              <a:gd name="connsiteX5" fmla="*/ 2382265 w 2382265"/>
              <a:gd name="connsiteY5" fmla="*/ 1099183 h 1673883"/>
              <a:gd name="connsiteX6" fmla="*/ 2382265 w 2382265"/>
              <a:gd name="connsiteY6" fmla="*/ 1673883 h 1673883"/>
              <a:gd name="connsiteX7" fmla="*/ 1834344 w 2382265"/>
              <a:gd name="connsiteY7" fmla="*/ 1673883 h 1673883"/>
              <a:gd name="connsiteX8" fmla="*/ 1262600 w 2382265"/>
              <a:gd name="connsiteY8" fmla="*/ 1673883 h 1673883"/>
              <a:gd name="connsiteX9" fmla="*/ 738502 w 2382265"/>
              <a:gd name="connsiteY9" fmla="*/ 1673883 h 1673883"/>
              <a:gd name="connsiteX10" fmla="*/ 0 w 2382265"/>
              <a:gd name="connsiteY10" fmla="*/ 1673883 h 1673883"/>
              <a:gd name="connsiteX11" fmla="*/ 0 w 2382265"/>
              <a:gd name="connsiteY11" fmla="*/ 1099183 h 1673883"/>
              <a:gd name="connsiteX12" fmla="*/ 0 w 2382265"/>
              <a:gd name="connsiteY12" fmla="*/ 591439 h 1673883"/>
              <a:gd name="connsiteX13" fmla="*/ 0 w 2382265"/>
              <a:gd name="connsiteY13" fmla="*/ 0 h 1673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2265" h="1673883" fill="none" extrusionOk="0">
                <a:moveTo>
                  <a:pt x="0" y="0"/>
                </a:moveTo>
                <a:cubicBezTo>
                  <a:pt x="276908" y="-55331"/>
                  <a:pt x="385958" y="33339"/>
                  <a:pt x="643212" y="0"/>
                </a:cubicBezTo>
                <a:cubicBezTo>
                  <a:pt x="900466" y="-33339"/>
                  <a:pt x="1126927" y="59688"/>
                  <a:pt x="1262600" y="0"/>
                </a:cubicBezTo>
                <a:cubicBezTo>
                  <a:pt x="1398273" y="-59688"/>
                  <a:pt x="1861378" y="63577"/>
                  <a:pt x="2382265" y="0"/>
                </a:cubicBezTo>
                <a:cubicBezTo>
                  <a:pt x="2423436" y="138820"/>
                  <a:pt x="2365858" y="396011"/>
                  <a:pt x="2382265" y="507745"/>
                </a:cubicBezTo>
                <a:cubicBezTo>
                  <a:pt x="2398672" y="619480"/>
                  <a:pt x="2346045" y="899036"/>
                  <a:pt x="2382265" y="1099183"/>
                </a:cubicBezTo>
                <a:cubicBezTo>
                  <a:pt x="2418485" y="1299330"/>
                  <a:pt x="2346602" y="1451979"/>
                  <a:pt x="2382265" y="1673883"/>
                </a:cubicBezTo>
                <a:cubicBezTo>
                  <a:pt x="2139132" y="1735740"/>
                  <a:pt x="1997942" y="1612935"/>
                  <a:pt x="1834344" y="1673883"/>
                </a:cubicBezTo>
                <a:cubicBezTo>
                  <a:pt x="1670746" y="1734831"/>
                  <a:pt x="1490777" y="1640426"/>
                  <a:pt x="1262600" y="1673883"/>
                </a:cubicBezTo>
                <a:cubicBezTo>
                  <a:pt x="1034423" y="1707340"/>
                  <a:pt x="879701" y="1643257"/>
                  <a:pt x="738502" y="1673883"/>
                </a:cubicBezTo>
                <a:cubicBezTo>
                  <a:pt x="597303" y="1704509"/>
                  <a:pt x="287833" y="1659815"/>
                  <a:pt x="0" y="1673883"/>
                </a:cubicBezTo>
                <a:cubicBezTo>
                  <a:pt x="-33632" y="1454744"/>
                  <a:pt x="34666" y="1364505"/>
                  <a:pt x="0" y="1099183"/>
                </a:cubicBezTo>
                <a:cubicBezTo>
                  <a:pt x="-34666" y="833861"/>
                  <a:pt x="6054" y="694542"/>
                  <a:pt x="0" y="591439"/>
                </a:cubicBezTo>
                <a:cubicBezTo>
                  <a:pt x="-6054" y="488336"/>
                  <a:pt x="65488" y="270291"/>
                  <a:pt x="0" y="0"/>
                </a:cubicBezTo>
                <a:close/>
              </a:path>
              <a:path w="2382265" h="1673883" stroke="0" extrusionOk="0">
                <a:moveTo>
                  <a:pt x="0" y="0"/>
                </a:moveTo>
                <a:cubicBezTo>
                  <a:pt x="195963" y="-3843"/>
                  <a:pt x="301057" y="30793"/>
                  <a:pt x="571744" y="0"/>
                </a:cubicBezTo>
                <a:cubicBezTo>
                  <a:pt x="842431" y="-30793"/>
                  <a:pt x="958083" y="25495"/>
                  <a:pt x="1095842" y="0"/>
                </a:cubicBezTo>
                <a:cubicBezTo>
                  <a:pt x="1233601" y="-25495"/>
                  <a:pt x="1540020" y="41306"/>
                  <a:pt x="1739053" y="0"/>
                </a:cubicBezTo>
                <a:cubicBezTo>
                  <a:pt x="1938086" y="-41306"/>
                  <a:pt x="2087036" y="38222"/>
                  <a:pt x="2382265" y="0"/>
                </a:cubicBezTo>
                <a:cubicBezTo>
                  <a:pt x="2442810" y="193560"/>
                  <a:pt x="2327044" y="422675"/>
                  <a:pt x="2382265" y="541222"/>
                </a:cubicBezTo>
                <a:cubicBezTo>
                  <a:pt x="2437486" y="659769"/>
                  <a:pt x="2326424" y="951714"/>
                  <a:pt x="2382265" y="1065706"/>
                </a:cubicBezTo>
                <a:cubicBezTo>
                  <a:pt x="2438106" y="1179698"/>
                  <a:pt x="2379114" y="1443049"/>
                  <a:pt x="2382265" y="1673883"/>
                </a:cubicBezTo>
                <a:cubicBezTo>
                  <a:pt x="2108385" y="1709809"/>
                  <a:pt x="2081315" y="1637071"/>
                  <a:pt x="1786699" y="1673883"/>
                </a:cubicBezTo>
                <a:cubicBezTo>
                  <a:pt x="1492083" y="1710695"/>
                  <a:pt x="1422736" y="1650423"/>
                  <a:pt x="1262600" y="1673883"/>
                </a:cubicBezTo>
                <a:cubicBezTo>
                  <a:pt x="1102464" y="1697343"/>
                  <a:pt x="940954" y="1613805"/>
                  <a:pt x="667034" y="1673883"/>
                </a:cubicBezTo>
                <a:cubicBezTo>
                  <a:pt x="393114" y="1733961"/>
                  <a:pt x="165702" y="1624974"/>
                  <a:pt x="0" y="1673883"/>
                </a:cubicBezTo>
                <a:cubicBezTo>
                  <a:pt x="-10289" y="1438602"/>
                  <a:pt x="63646" y="1387553"/>
                  <a:pt x="0" y="1132661"/>
                </a:cubicBezTo>
                <a:cubicBezTo>
                  <a:pt x="-63646" y="877769"/>
                  <a:pt x="14426" y="802215"/>
                  <a:pt x="0" y="591439"/>
                </a:cubicBezTo>
                <a:cubicBezTo>
                  <a:pt x="-14426" y="380663"/>
                  <a:pt x="19626" y="289796"/>
                  <a:pt x="0" y="0"/>
                </a:cubicBezTo>
                <a:close/>
              </a:path>
            </a:pathLst>
          </a:custGeom>
          <a:pattFill prst="dkUpDiag">
            <a:fgClr>
              <a:srgbClr val="E97161"/>
            </a:fgClr>
            <a:bgClr>
              <a:schemeClr val="bg1"/>
            </a:bgClr>
          </a:pattFill>
          <a:ln w="25400" cap="flat">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effectLst>
                  <a:glow rad="381000">
                    <a:schemeClr val="bg1">
                      <a:alpha val="70000"/>
                    </a:schemeClr>
                  </a:glow>
                </a:effectLst>
                <a:latin typeface="Quadraat" panose="02000503060000090004" pitchFamily="2" charset="0"/>
              </a:rPr>
              <a:t>Acute bile duct obstruction</a:t>
            </a:r>
          </a:p>
          <a:p>
            <a:pPr algn="ctr"/>
            <a:r>
              <a:rPr lang="en-US" sz="1200" b="1" dirty="0">
                <a:solidFill>
                  <a:schemeClr val="tx1"/>
                </a:solidFill>
                <a:effectLst>
                  <a:glow rad="381000">
                    <a:schemeClr val="bg1">
                      <a:alpha val="70000"/>
                    </a:schemeClr>
                  </a:glow>
                </a:effectLst>
                <a:latin typeface="Quadraat" panose="02000503060000090004" pitchFamily="2" charset="0"/>
              </a:rPr>
              <a:t>Acute Budd-Chiari syndrome </a:t>
            </a:r>
          </a:p>
          <a:p>
            <a:pPr algn="ctr"/>
            <a:r>
              <a:rPr lang="en-US" sz="1200" b="1" dirty="0">
                <a:solidFill>
                  <a:schemeClr val="tx1"/>
                </a:solidFill>
                <a:effectLst>
                  <a:glow rad="381000">
                    <a:schemeClr val="bg1">
                      <a:alpha val="70000"/>
                    </a:schemeClr>
                  </a:glow>
                </a:effectLst>
                <a:latin typeface="Quadraat" panose="02000503060000090004" pitchFamily="2" charset="0"/>
              </a:rPr>
              <a:t>Acute viral hepatitis </a:t>
            </a:r>
          </a:p>
          <a:p>
            <a:pPr algn="ctr"/>
            <a:r>
              <a:rPr lang="en-US" sz="1200" b="1" dirty="0">
                <a:solidFill>
                  <a:schemeClr val="tx1"/>
                </a:solidFill>
                <a:effectLst>
                  <a:glow rad="381000">
                    <a:schemeClr val="bg1">
                      <a:alpha val="70000"/>
                    </a:schemeClr>
                  </a:glow>
                </a:effectLst>
                <a:latin typeface="Quadraat" panose="02000503060000090004" pitchFamily="2" charset="0"/>
              </a:rPr>
              <a:t>Autoimmune hepatitis</a:t>
            </a:r>
          </a:p>
          <a:p>
            <a:pPr algn="ctr"/>
            <a:r>
              <a:rPr lang="en-US" sz="1200" b="1" dirty="0">
                <a:solidFill>
                  <a:schemeClr val="tx1"/>
                </a:solidFill>
                <a:effectLst>
                  <a:glow rad="381000">
                    <a:schemeClr val="bg1">
                      <a:alpha val="70000"/>
                    </a:schemeClr>
                  </a:glow>
                </a:effectLst>
                <a:latin typeface="Quadraat" panose="02000503060000090004" pitchFamily="2" charset="0"/>
              </a:rPr>
              <a:t>Drugs and toxins</a:t>
            </a:r>
          </a:p>
          <a:p>
            <a:pPr algn="ctr"/>
            <a:r>
              <a:rPr lang="en-US" sz="1200" b="1" dirty="0">
                <a:solidFill>
                  <a:schemeClr val="tx1"/>
                </a:solidFill>
                <a:effectLst>
                  <a:glow rad="381000">
                    <a:schemeClr val="bg1">
                      <a:alpha val="70000"/>
                    </a:schemeClr>
                  </a:glow>
                </a:effectLst>
                <a:latin typeface="Quadraat" panose="02000503060000090004" pitchFamily="2" charset="0"/>
              </a:rPr>
              <a:t>Hepatic artery ligation </a:t>
            </a:r>
          </a:p>
          <a:p>
            <a:pPr algn="ctr"/>
            <a:r>
              <a:rPr lang="en-US" sz="1200" b="1" dirty="0">
                <a:solidFill>
                  <a:schemeClr val="tx1"/>
                </a:solidFill>
                <a:effectLst>
                  <a:glow rad="381000">
                    <a:schemeClr val="bg1">
                      <a:alpha val="70000"/>
                    </a:schemeClr>
                  </a:glow>
                </a:effectLst>
                <a:latin typeface="Quadraat" panose="02000503060000090004" pitchFamily="2" charset="0"/>
              </a:rPr>
              <a:t>Ischemic hepatitis </a:t>
            </a:r>
          </a:p>
          <a:p>
            <a:pPr algn="ctr"/>
            <a:r>
              <a:rPr lang="en-US" sz="1200" b="1" dirty="0">
                <a:solidFill>
                  <a:schemeClr val="tx1"/>
                </a:solidFill>
                <a:effectLst>
                  <a:glow rad="381000">
                    <a:schemeClr val="bg1">
                      <a:alpha val="70000"/>
                    </a:schemeClr>
                  </a:glow>
                </a:effectLst>
                <a:latin typeface="Quadraat" panose="02000503060000090004" pitchFamily="2" charset="0"/>
              </a:rPr>
              <a:t>Wilson disease</a:t>
            </a:r>
          </a:p>
        </p:txBody>
      </p:sp>
      <p:cxnSp>
        <p:nvCxnSpPr>
          <p:cNvPr id="16" name="Straight Connector 15">
            <a:extLst>
              <a:ext uri="{FF2B5EF4-FFF2-40B4-BE49-F238E27FC236}">
                <a16:creationId xmlns:a16="http://schemas.microsoft.com/office/drawing/2014/main" id="{A8C74A05-34FA-DD44-9BA6-FBAEF74C93E6}"/>
              </a:ext>
            </a:extLst>
          </p:cNvPr>
          <p:cNvCxnSpPr>
            <a:cxnSpLocks/>
          </p:cNvCxnSpPr>
          <p:nvPr/>
        </p:nvCxnSpPr>
        <p:spPr>
          <a:xfrm>
            <a:off x="2302430" y="4082285"/>
            <a:ext cx="7729537"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ADD48D4-4357-0F4A-AC4D-931CE4E6ACB5}"/>
              </a:ext>
            </a:extLst>
          </p:cNvPr>
          <p:cNvSpPr>
            <a:spLocks noGrp="1"/>
          </p:cNvSpPr>
          <p:nvPr>
            <p:ph type="title"/>
          </p:nvPr>
        </p:nvSpPr>
        <p:spPr/>
        <p:txBody>
          <a:bodyPr/>
          <a:lstStyle/>
          <a:p>
            <a:r>
              <a:rPr lang="en-US" dirty="0"/>
              <a:t>Causes of Hepatocellular Injury</a:t>
            </a:r>
          </a:p>
        </p:txBody>
      </p:sp>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8B74225E-FDC0-3249-9AA1-3A703CCF9FDD}"/>
                  </a:ext>
                </a:extLst>
              </p14:cNvPr>
              <p14:cNvContentPartPr/>
              <p14:nvPr/>
            </p14:nvContentPartPr>
            <p14:xfrm>
              <a:off x="6094489" y="4282312"/>
              <a:ext cx="360" cy="360"/>
            </p14:xfrm>
          </p:contentPart>
        </mc:Choice>
        <mc:Fallback xmlns="">
          <p:pic>
            <p:nvPicPr>
              <p:cNvPr id="9" name="Ink 8">
                <a:extLst>
                  <a:ext uri="{FF2B5EF4-FFF2-40B4-BE49-F238E27FC236}">
                    <a16:creationId xmlns:a16="http://schemas.microsoft.com/office/drawing/2014/main" id="{8B74225E-FDC0-3249-9AA1-3A703CCF9FDD}"/>
                  </a:ext>
                </a:extLst>
              </p:cNvPr>
              <p:cNvPicPr/>
              <p:nvPr/>
            </p:nvPicPr>
            <p:blipFill>
              <a:blip r:embed="rId4"/>
              <a:stretch>
                <a:fillRect/>
              </a:stretch>
            </p:blipFill>
            <p:spPr>
              <a:xfrm>
                <a:off x="6082249" y="4269712"/>
                <a:ext cx="255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745D9307-6FBB-154D-B41D-C4AAFF52DBE3}"/>
                  </a:ext>
                </a:extLst>
              </p14:cNvPr>
              <p14:cNvContentPartPr/>
              <p14:nvPr/>
            </p14:nvContentPartPr>
            <p14:xfrm>
              <a:off x="5503009" y="5913832"/>
              <a:ext cx="360" cy="360"/>
            </p14:xfrm>
          </p:contentPart>
        </mc:Choice>
        <mc:Fallback xmlns="">
          <p:pic>
            <p:nvPicPr>
              <p:cNvPr id="10" name="Ink 9">
                <a:extLst>
                  <a:ext uri="{FF2B5EF4-FFF2-40B4-BE49-F238E27FC236}">
                    <a16:creationId xmlns:a16="http://schemas.microsoft.com/office/drawing/2014/main" id="{745D9307-6FBB-154D-B41D-C4AAFF52DBE3}"/>
                  </a:ext>
                </a:extLst>
              </p:cNvPr>
              <p:cNvPicPr/>
              <p:nvPr/>
            </p:nvPicPr>
            <p:blipFill>
              <a:blip r:embed="rId4"/>
              <a:stretch>
                <a:fillRect/>
              </a:stretch>
            </p:blipFill>
            <p:spPr>
              <a:xfrm>
                <a:off x="5487529" y="5898352"/>
                <a:ext cx="30960" cy="30960"/>
              </a:xfrm>
              <a:prstGeom prst="rect">
                <a:avLst/>
              </a:prstGeom>
            </p:spPr>
          </p:pic>
        </mc:Fallback>
      </mc:AlternateContent>
      <p:graphicFrame>
        <p:nvGraphicFramePr>
          <p:cNvPr id="13" name="Chart 12">
            <a:extLst>
              <a:ext uri="{FF2B5EF4-FFF2-40B4-BE49-F238E27FC236}">
                <a16:creationId xmlns:a16="http://schemas.microsoft.com/office/drawing/2014/main" id="{9D870FC4-A586-8945-994A-64869821C88C}"/>
              </a:ext>
            </a:extLst>
          </p:cNvPr>
          <p:cNvGraphicFramePr/>
          <p:nvPr/>
        </p:nvGraphicFramePr>
        <p:xfrm>
          <a:off x="1265792" y="943808"/>
          <a:ext cx="9321800" cy="5914191"/>
        </p:xfrm>
        <a:graphic>
          <a:graphicData uri="http://schemas.openxmlformats.org/drawingml/2006/chart">
            <c:chart xmlns:c="http://schemas.openxmlformats.org/drawingml/2006/chart" xmlns:r="http://schemas.openxmlformats.org/officeDocument/2006/relationships" r:id="rId6"/>
          </a:graphicData>
        </a:graphic>
      </p:graphicFrame>
      <p:sp>
        <p:nvSpPr>
          <p:cNvPr id="14" name="Rectangle 13">
            <a:extLst>
              <a:ext uri="{FF2B5EF4-FFF2-40B4-BE49-F238E27FC236}">
                <a16:creationId xmlns:a16="http://schemas.microsoft.com/office/drawing/2014/main" id="{73E02B94-2A03-CB4B-8C28-10F4EAB54A0E}"/>
              </a:ext>
            </a:extLst>
          </p:cNvPr>
          <p:cNvSpPr/>
          <p:nvPr/>
        </p:nvSpPr>
        <p:spPr>
          <a:xfrm>
            <a:off x="3376152" y="3367910"/>
            <a:ext cx="1428750" cy="1428750"/>
          </a:xfrm>
          <a:custGeom>
            <a:avLst/>
            <a:gdLst>
              <a:gd name="connsiteX0" fmla="*/ 0 w 1428750"/>
              <a:gd name="connsiteY0" fmla="*/ 0 h 1428750"/>
              <a:gd name="connsiteX1" fmla="*/ 461962 w 1428750"/>
              <a:gd name="connsiteY1" fmla="*/ 0 h 1428750"/>
              <a:gd name="connsiteX2" fmla="*/ 938212 w 1428750"/>
              <a:gd name="connsiteY2" fmla="*/ 0 h 1428750"/>
              <a:gd name="connsiteX3" fmla="*/ 1428750 w 1428750"/>
              <a:gd name="connsiteY3" fmla="*/ 0 h 1428750"/>
              <a:gd name="connsiteX4" fmla="*/ 1428750 w 1428750"/>
              <a:gd name="connsiteY4" fmla="*/ 490538 h 1428750"/>
              <a:gd name="connsiteX5" fmla="*/ 1428750 w 1428750"/>
              <a:gd name="connsiteY5" fmla="*/ 923925 h 1428750"/>
              <a:gd name="connsiteX6" fmla="*/ 1428750 w 1428750"/>
              <a:gd name="connsiteY6" fmla="*/ 1428750 h 1428750"/>
              <a:gd name="connsiteX7" fmla="*/ 923925 w 1428750"/>
              <a:gd name="connsiteY7" fmla="*/ 1428750 h 1428750"/>
              <a:gd name="connsiteX8" fmla="*/ 419100 w 1428750"/>
              <a:gd name="connsiteY8" fmla="*/ 1428750 h 1428750"/>
              <a:gd name="connsiteX9" fmla="*/ 0 w 1428750"/>
              <a:gd name="connsiteY9" fmla="*/ 1428750 h 1428750"/>
              <a:gd name="connsiteX10" fmla="*/ 0 w 1428750"/>
              <a:gd name="connsiteY10" fmla="*/ 966788 h 1428750"/>
              <a:gd name="connsiteX11" fmla="*/ 0 w 1428750"/>
              <a:gd name="connsiteY11" fmla="*/ 490538 h 1428750"/>
              <a:gd name="connsiteX12" fmla="*/ 0 w 1428750"/>
              <a:gd name="connsiteY12" fmla="*/ 0 h 142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8750" h="1428750" fill="none" extrusionOk="0">
                <a:moveTo>
                  <a:pt x="0" y="0"/>
                </a:moveTo>
                <a:cubicBezTo>
                  <a:pt x="197327" y="-13766"/>
                  <a:pt x="294805" y="41678"/>
                  <a:pt x="461962" y="0"/>
                </a:cubicBezTo>
                <a:cubicBezTo>
                  <a:pt x="629119" y="-41678"/>
                  <a:pt x="756610" y="43509"/>
                  <a:pt x="938212" y="0"/>
                </a:cubicBezTo>
                <a:cubicBezTo>
                  <a:pt x="1119814" y="-43509"/>
                  <a:pt x="1291043" y="4521"/>
                  <a:pt x="1428750" y="0"/>
                </a:cubicBezTo>
                <a:cubicBezTo>
                  <a:pt x="1438791" y="232067"/>
                  <a:pt x="1415310" y="382490"/>
                  <a:pt x="1428750" y="490538"/>
                </a:cubicBezTo>
                <a:cubicBezTo>
                  <a:pt x="1442190" y="598586"/>
                  <a:pt x="1409984" y="831579"/>
                  <a:pt x="1428750" y="923925"/>
                </a:cubicBezTo>
                <a:cubicBezTo>
                  <a:pt x="1447516" y="1016271"/>
                  <a:pt x="1397705" y="1224523"/>
                  <a:pt x="1428750" y="1428750"/>
                </a:cubicBezTo>
                <a:cubicBezTo>
                  <a:pt x="1227765" y="1442266"/>
                  <a:pt x="1067555" y="1381030"/>
                  <a:pt x="923925" y="1428750"/>
                </a:cubicBezTo>
                <a:cubicBezTo>
                  <a:pt x="780296" y="1476470"/>
                  <a:pt x="595414" y="1424180"/>
                  <a:pt x="419100" y="1428750"/>
                </a:cubicBezTo>
                <a:cubicBezTo>
                  <a:pt x="242787" y="1433320"/>
                  <a:pt x="103704" y="1425926"/>
                  <a:pt x="0" y="1428750"/>
                </a:cubicBezTo>
                <a:cubicBezTo>
                  <a:pt x="-12621" y="1285638"/>
                  <a:pt x="39472" y="1063813"/>
                  <a:pt x="0" y="966788"/>
                </a:cubicBezTo>
                <a:cubicBezTo>
                  <a:pt x="-39472" y="869763"/>
                  <a:pt x="53289" y="634289"/>
                  <a:pt x="0" y="490538"/>
                </a:cubicBezTo>
                <a:cubicBezTo>
                  <a:pt x="-53289" y="346787"/>
                  <a:pt x="56378" y="154293"/>
                  <a:pt x="0" y="0"/>
                </a:cubicBezTo>
                <a:close/>
              </a:path>
              <a:path w="1428750" h="1428750" stroke="0" extrusionOk="0">
                <a:moveTo>
                  <a:pt x="0" y="0"/>
                </a:moveTo>
                <a:cubicBezTo>
                  <a:pt x="118869" y="-37481"/>
                  <a:pt x="266234" y="40795"/>
                  <a:pt x="461962" y="0"/>
                </a:cubicBezTo>
                <a:cubicBezTo>
                  <a:pt x="657690" y="-40795"/>
                  <a:pt x="773846" y="42489"/>
                  <a:pt x="895350" y="0"/>
                </a:cubicBezTo>
                <a:cubicBezTo>
                  <a:pt x="1016854" y="-42489"/>
                  <a:pt x="1276585" y="40109"/>
                  <a:pt x="1428750" y="0"/>
                </a:cubicBezTo>
                <a:cubicBezTo>
                  <a:pt x="1437977" y="125727"/>
                  <a:pt x="1393777" y="357507"/>
                  <a:pt x="1428750" y="461962"/>
                </a:cubicBezTo>
                <a:cubicBezTo>
                  <a:pt x="1463723" y="566417"/>
                  <a:pt x="1413892" y="718189"/>
                  <a:pt x="1428750" y="909637"/>
                </a:cubicBezTo>
                <a:cubicBezTo>
                  <a:pt x="1443608" y="1101085"/>
                  <a:pt x="1419692" y="1250667"/>
                  <a:pt x="1428750" y="1428750"/>
                </a:cubicBezTo>
                <a:cubicBezTo>
                  <a:pt x="1329245" y="1464581"/>
                  <a:pt x="1060154" y="1380805"/>
                  <a:pt x="952500" y="1428750"/>
                </a:cubicBezTo>
                <a:cubicBezTo>
                  <a:pt x="844846" y="1476695"/>
                  <a:pt x="655921" y="1405161"/>
                  <a:pt x="447675" y="1428750"/>
                </a:cubicBezTo>
                <a:cubicBezTo>
                  <a:pt x="239430" y="1452339"/>
                  <a:pt x="140191" y="1414318"/>
                  <a:pt x="0" y="1428750"/>
                </a:cubicBezTo>
                <a:cubicBezTo>
                  <a:pt x="-52012" y="1223363"/>
                  <a:pt x="10504" y="1064578"/>
                  <a:pt x="0" y="952500"/>
                </a:cubicBezTo>
                <a:cubicBezTo>
                  <a:pt x="-10504" y="840422"/>
                  <a:pt x="21860" y="595127"/>
                  <a:pt x="0" y="490538"/>
                </a:cubicBezTo>
                <a:cubicBezTo>
                  <a:pt x="-21860" y="385949"/>
                  <a:pt x="22995" y="170190"/>
                  <a:pt x="0" y="0"/>
                </a:cubicBezTo>
                <a:close/>
              </a:path>
            </a:pathLst>
          </a:custGeom>
          <a:pattFill prst="dkUpDiag">
            <a:fgClr>
              <a:schemeClr val="accent6"/>
            </a:fgClr>
            <a:bgClr>
              <a:schemeClr val="bg1"/>
            </a:bgClr>
          </a:pattFill>
          <a:ln w="25400" cap="flat">
            <a:solidFill>
              <a:schemeClr val="accent6"/>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effectLst>
                  <a:glow rad="381000">
                    <a:schemeClr val="bg1">
                      <a:alpha val="70000"/>
                    </a:schemeClr>
                  </a:glow>
                </a:effectLst>
                <a:latin typeface="Quadraat" panose="02000503060000090004" pitchFamily="2" charset="0"/>
              </a:rPr>
              <a:t>Normal</a:t>
            </a:r>
          </a:p>
        </p:txBody>
      </p:sp>
      <p:sp>
        <p:nvSpPr>
          <p:cNvPr id="17" name="Rectangle 16">
            <a:extLst>
              <a:ext uri="{FF2B5EF4-FFF2-40B4-BE49-F238E27FC236}">
                <a16:creationId xmlns:a16="http://schemas.microsoft.com/office/drawing/2014/main" id="{31F6DD6D-4466-1C47-9352-F18642138FC7}"/>
              </a:ext>
            </a:extLst>
          </p:cNvPr>
          <p:cNvSpPr/>
          <p:nvPr/>
        </p:nvSpPr>
        <p:spPr>
          <a:xfrm>
            <a:off x="5204952" y="4138367"/>
            <a:ext cx="2126677" cy="1672803"/>
          </a:xfrm>
          <a:custGeom>
            <a:avLst/>
            <a:gdLst>
              <a:gd name="connsiteX0" fmla="*/ 0 w 2126677"/>
              <a:gd name="connsiteY0" fmla="*/ 0 h 1672803"/>
              <a:gd name="connsiteX1" fmla="*/ 574203 w 2126677"/>
              <a:gd name="connsiteY1" fmla="*/ 0 h 1672803"/>
              <a:gd name="connsiteX2" fmla="*/ 1127139 w 2126677"/>
              <a:gd name="connsiteY2" fmla="*/ 0 h 1672803"/>
              <a:gd name="connsiteX3" fmla="*/ 2126677 w 2126677"/>
              <a:gd name="connsiteY3" fmla="*/ 0 h 1672803"/>
              <a:gd name="connsiteX4" fmla="*/ 2126677 w 2126677"/>
              <a:gd name="connsiteY4" fmla="*/ 507417 h 1672803"/>
              <a:gd name="connsiteX5" fmla="*/ 2126677 w 2126677"/>
              <a:gd name="connsiteY5" fmla="*/ 1098474 h 1672803"/>
              <a:gd name="connsiteX6" fmla="*/ 2126677 w 2126677"/>
              <a:gd name="connsiteY6" fmla="*/ 1672803 h 1672803"/>
              <a:gd name="connsiteX7" fmla="*/ 1637541 w 2126677"/>
              <a:gd name="connsiteY7" fmla="*/ 1672803 h 1672803"/>
              <a:gd name="connsiteX8" fmla="*/ 1127139 w 2126677"/>
              <a:gd name="connsiteY8" fmla="*/ 1672803 h 1672803"/>
              <a:gd name="connsiteX9" fmla="*/ 659270 w 2126677"/>
              <a:gd name="connsiteY9" fmla="*/ 1672803 h 1672803"/>
              <a:gd name="connsiteX10" fmla="*/ 0 w 2126677"/>
              <a:gd name="connsiteY10" fmla="*/ 1672803 h 1672803"/>
              <a:gd name="connsiteX11" fmla="*/ 0 w 2126677"/>
              <a:gd name="connsiteY11" fmla="*/ 1098474 h 1672803"/>
              <a:gd name="connsiteX12" fmla="*/ 0 w 2126677"/>
              <a:gd name="connsiteY12" fmla="*/ 591057 h 1672803"/>
              <a:gd name="connsiteX13" fmla="*/ 0 w 2126677"/>
              <a:gd name="connsiteY13" fmla="*/ 0 h 1672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6677" h="1672803" fill="none" extrusionOk="0">
                <a:moveTo>
                  <a:pt x="0" y="0"/>
                </a:moveTo>
                <a:cubicBezTo>
                  <a:pt x="201714" y="-56182"/>
                  <a:pt x="328084" y="14913"/>
                  <a:pt x="574203" y="0"/>
                </a:cubicBezTo>
                <a:cubicBezTo>
                  <a:pt x="820322" y="-14913"/>
                  <a:pt x="858431" y="1722"/>
                  <a:pt x="1127139" y="0"/>
                </a:cubicBezTo>
                <a:cubicBezTo>
                  <a:pt x="1395847" y="-1722"/>
                  <a:pt x="1843342" y="112095"/>
                  <a:pt x="2126677" y="0"/>
                </a:cubicBezTo>
                <a:cubicBezTo>
                  <a:pt x="2129826" y="199947"/>
                  <a:pt x="2072687" y="337785"/>
                  <a:pt x="2126677" y="507417"/>
                </a:cubicBezTo>
                <a:cubicBezTo>
                  <a:pt x="2180667" y="677049"/>
                  <a:pt x="2094450" y="852714"/>
                  <a:pt x="2126677" y="1098474"/>
                </a:cubicBezTo>
                <a:cubicBezTo>
                  <a:pt x="2158904" y="1344234"/>
                  <a:pt x="2099082" y="1430821"/>
                  <a:pt x="2126677" y="1672803"/>
                </a:cubicBezTo>
                <a:cubicBezTo>
                  <a:pt x="2003330" y="1696429"/>
                  <a:pt x="1858898" y="1623776"/>
                  <a:pt x="1637541" y="1672803"/>
                </a:cubicBezTo>
                <a:cubicBezTo>
                  <a:pt x="1416184" y="1721830"/>
                  <a:pt x="1315779" y="1657167"/>
                  <a:pt x="1127139" y="1672803"/>
                </a:cubicBezTo>
                <a:cubicBezTo>
                  <a:pt x="938499" y="1688439"/>
                  <a:pt x="828471" y="1656702"/>
                  <a:pt x="659270" y="1672803"/>
                </a:cubicBezTo>
                <a:cubicBezTo>
                  <a:pt x="490069" y="1688904"/>
                  <a:pt x="162650" y="1609216"/>
                  <a:pt x="0" y="1672803"/>
                </a:cubicBezTo>
                <a:cubicBezTo>
                  <a:pt x="-3453" y="1544869"/>
                  <a:pt x="34198" y="1254210"/>
                  <a:pt x="0" y="1098474"/>
                </a:cubicBezTo>
                <a:cubicBezTo>
                  <a:pt x="-34198" y="942738"/>
                  <a:pt x="41976" y="829906"/>
                  <a:pt x="0" y="591057"/>
                </a:cubicBezTo>
                <a:cubicBezTo>
                  <a:pt x="-41976" y="352208"/>
                  <a:pt x="38462" y="220421"/>
                  <a:pt x="0" y="0"/>
                </a:cubicBezTo>
                <a:close/>
              </a:path>
              <a:path w="2126677" h="1672803" stroke="0" extrusionOk="0">
                <a:moveTo>
                  <a:pt x="0" y="0"/>
                </a:moveTo>
                <a:cubicBezTo>
                  <a:pt x="215929" y="-30816"/>
                  <a:pt x="259023" y="2641"/>
                  <a:pt x="510402" y="0"/>
                </a:cubicBezTo>
                <a:cubicBezTo>
                  <a:pt x="761781" y="-2641"/>
                  <a:pt x="799673" y="37116"/>
                  <a:pt x="978271" y="0"/>
                </a:cubicBezTo>
                <a:cubicBezTo>
                  <a:pt x="1156869" y="-37116"/>
                  <a:pt x="1433791" y="42604"/>
                  <a:pt x="1552474" y="0"/>
                </a:cubicBezTo>
                <a:cubicBezTo>
                  <a:pt x="1671157" y="-42604"/>
                  <a:pt x="1891902" y="9637"/>
                  <a:pt x="2126677" y="0"/>
                </a:cubicBezTo>
                <a:cubicBezTo>
                  <a:pt x="2165749" y="203002"/>
                  <a:pt x="2078397" y="318225"/>
                  <a:pt x="2126677" y="540873"/>
                </a:cubicBezTo>
                <a:cubicBezTo>
                  <a:pt x="2174957" y="763521"/>
                  <a:pt x="2112922" y="898132"/>
                  <a:pt x="2126677" y="1065018"/>
                </a:cubicBezTo>
                <a:cubicBezTo>
                  <a:pt x="2140432" y="1231904"/>
                  <a:pt x="2119988" y="1522626"/>
                  <a:pt x="2126677" y="1672803"/>
                </a:cubicBezTo>
                <a:cubicBezTo>
                  <a:pt x="1989128" y="1689032"/>
                  <a:pt x="1730903" y="1629974"/>
                  <a:pt x="1595008" y="1672803"/>
                </a:cubicBezTo>
                <a:cubicBezTo>
                  <a:pt x="1459113" y="1715632"/>
                  <a:pt x="1318341" y="1645976"/>
                  <a:pt x="1127139" y="1672803"/>
                </a:cubicBezTo>
                <a:cubicBezTo>
                  <a:pt x="935937" y="1699630"/>
                  <a:pt x="702000" y="1611951"/>
                  <a:pt x="595470" y="1672803"/>
                </a:cubicBezTo>
                <a:cubicBezTo>
                  <a:pt x="488940" y="1733655"/>
                  <a:pt x="232291" y="1660239"/>
                  <a:pt x="0" y="1672803"/>
                </a:cubicBezTo>
                <a:cubicBezTo>
                  <a:pt x="-4092" y="1496383"/>
                  <a:pt x="42267" y="1288725"/>
                  <a:pt x="0" y="1131930"/>
                </a:cubicBezTo>
                <a:cubicBezTo>
                  <a:pt x="-42267" y="975135"/>
                  <a:pt x="46038" y="823424"/>
                  <a:pt x="0" y="591057"/>
                </a:cubicBezTo>
                <a:cubicBezTo>
                  <a:pt x="-46038" y="358690"/>
                  <a:pt x="8093" y="278056"/>
                  <a:pt x="0" y="0"/>
                </a:cubicBezTo>
                <a:close/>
              </a:path>
            </a:pathLst>
          </a:custGeom>
          <a:pattFill prst="dkUpDiag">
            <a:fgClr>
              <a:srgbClr val="E97161"/>
            </a:fgClr>
            <a:bgClr>
              <a:schemeClr val="bg1"/>
            </a:bgClr>
          </a:pattFill>
          <a:ln w="25400" cap="flat">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1200" b="1" dirty="0">
                <a:solidFill>
                  <a:schemeClr val="tx1"/>
                </a:solidFill>
                <a:effectLst>
                  <a:glow rad="381000">
                    <a:schemeClr val="bg1">
                      <a:alpha val="70000"/>
                    </a:schemeClr>
                  </a:glow>
                </a:effectLst>
                <a:latin typeface="Quadraat" panose="02000503060000090004" pitchFamily="2" charset="0"/>
              </a:rPr>
              <a:t>α1</a:t>
            </a:r>
            <a:r>
              <a:rPr lang="en-US" sz="1200" b="1" dirty="0">
                <a:solidFill>
                  <a:schemeClr val="tx1"/>
                </a:solidFill>
                <a:effectLst>
                  <a:glow rad="381000">
                    <a:schemeClr val="bg1">
                      <a:alpha val="70000"/>
                    </a:schemeClr>
                  </a:glow>
                </a:effectLst>
                <a:latin typeface="Quadraat" panose="02000503060000090004" pitchFamily="2" charset="0"/>
              </a:rPr>
              <a:t>-Antitrypsin deficiency </a:t>
            </a:r>
          </a:p>
          <a:p>
            <a:pPr algn="ctr"/>
            <a:r>
              <a:rPr lang="en-US" sz="1200" b="1" dirty="0">
                <a:solidFill>
                  <a:schemeClr val="tx1"/>
                </a:solidFill>
                <a:effectLst>
                  <a:glow rad="381000">
                    <a:schemeClr val="bg1">
                      <a:alpha val="70000"/>
                    </a:schemeClr>
                  </a:glow>
                </a:effectLst>
                <a:latin typeface="Quadraat" panose="02000503060000090004" pitchFamily="2" charset="0"/>
              </a:rPr>
              <a:t>Autoimmune hepatitis</a:t>
            </a:r>
            <a:br>
              <a:rPr lang="en-US" sz="1200" b="1" dirty="0">
                <a:solidFill>
                  <a:schemeClr val="tx1"/>
                </a:solidFill>
                <a:effectLst>
                  <a:glow rad="381000">
                    <a:schemeClr val="bg1">
                      <a:alpha val="70000"/>
                    </a:schemeClr>
                  </a:glow>
                </a:effectLst>
                <a:latin typeface="Quadraat" panose="02000503060000090004" pitchFamily="2" charset="0"/>
              </a:rPr>
            </a:br>
            <a:r>
              <a:rPr lang="en-US" sz="1200" b="1" dirty="0">
                <a:solidFill>
                  <a:schemeClr val="tx1"/>
                </a:solidFill>
                <a:effectLst>
                  <a:glow rad="381000">
                    <a:schemeClr val="bg1">
                      <a:alpha val="70000"/>
                    </a:schemeClr>
                  </a:glow>
                </a:effectLst>
                <a:latin typeface="Quadraat" panose="02000503060000090004" pitchFamily="2" charset="0"/>
              </a:rPr>
              <a:t>Chronic viral hepatitis</a:t>
            </a:r>
          </a:p>
          <a:p>
            <a:pPr algn="ctr"/>
            <a:r>
              <a:rPr lang="en-US" sz="1200" b="1" dirty="0">
                <a:solidFill>
                  <a:schemeClr val="tx1"/>
                </a:solidFill>
                <a:effectLst>
                  <a:glow rad="381000">
                    <a:schemeClr val="bg1">
                      <a:alpha val="70000"/>
                    </a:schemeClr>
                  </a:glow>
                </a:effectLst>
                <a:latin typeface="Quadraat" panose="02000503060000090004" pitchFamily="2" charset="0"/>
              </a:rPr>
              <a:t>Hemochromatosis</a:t>
            </a:r>
            <a:br>
              <a:rPr lang="en-US" sz="1200" b="1" dirty="0">
                <a:solidFill>
                  <a:schemeClr val="tx1"/>
                </a:solidFill>
                <a:effectLst>
                  <a:glow rad="381000">
                    <a:schemeClr val="bg1">
                      <a:alpha val="70000"/>
                    </a:schemeClr>
                  </a:glow>
                </a:effectLst>
                <a:latin typeface="Quadraat" panose="02000503060000090004" pitchFamily="2" charset="0"/>
              </a:rPr>
            </a:br>
            <a:r>
              <a:rPr lang="en-US" sz="1200" b="1" dirty="0">
                <a:solidFill>
                  <a:schemeClr val="tx1"/>
                </a:solidFill>
                <a:effectLst>
                  <a:glow rad="381000">
                    <a:schemeClr val="bg1">
                      <a:alpha val="70000"/>
                    </a:schemeClr>
                  </a:glow>
                </a:effectLst>
                <a:latin typeface="Quadraat" panose="02000503060000090004" pitchFamily="2" charset="0"/>
              </a:rPr>
              <a:t>Medications and toxins</a:t>
            </a:r>
            <a:br>
              <a:rPr lang="en-US" sz="1200" b="1" dirty="0">
                <a:solidFill>
                  <a:schemeClr val="tx1"/>
                </a:solidFill>
                <a:effectLst>
                  <a:glow rad="381000">
                    <a:schemeClr val="bg1">
                      <a:alpha val="70000"/>
                    </a:schemeClr>
                  </a:glow>
                </a:effectLst>
                <a:latin typeface="Quadraat" panose="02000503060000090004" pitchFamily="2" charset="0"/>
              </a:rPr>
            </a:br>
            <a:r>
              <a:rPr lang="en-US" sz="1200" b="1" dirty="0">
                <a:solidFill>
                  <a:schemeClr val="tx1"/>
                </a:solidFill>
                <a:effectLst>
                  <a:glow rad="381000">
                    <a:schemeClr val="bg1">
                      <a:alpha val="70000"/>
                    </a:schemeClr>
                  </a:glow>
                </a:effectLst>
                <a:latin typeface="Quadraat" panose="02000503060000090004" pitchFamily="2" charset="0"/>
              </a:rPr>
              <a:t>Steatosis and steatohepatitis Wilson disease </a:t>
            </a:r>
          </a:p>
        </p:txBody>
      </p:sp>
      <p:sp>
        <p:nvSpPr>
          <p:cNvPr id="23" name="Rectangle 22">
            <a:extLst>
              <a:ext uri="{FF2B5EF4-FFF2-40B4-BE49-F238E27FC236}">
                <a16:creationId xmlns:a16="http://schemas.microsoft.com/office/drawing/2014/main" id="{88D8B4FE-686D-D84A-9905-EE1B3EDC037C}"/>
              </a:ext>
            </a:extLst>
          </p:cNvPr>
          <p:cNvSpPr/>
          <p:nvPr/>
        </p:nvSpPr>
        <p:spPr>
          <a:xfrm>
            <a:off x="5204952" y="1539112"/>
            <a:ext cx="2126677" cy="1428745"/>
          </a:xfrm>
          <a:custGeom>
            <a:avLst/>
            <a:gdLst>
              <a:gd name="connsiteX0" fmla="*/ 0 w 2126677"/>
              <a:gd name="connsiteY0" fmla="*/ 0 h 1428745"/>
              <a:gd name="connsiteX1" fmla="*/ 574203 w 2126677"/>
              <a:gd name="connsiteY1" fmla="*/ 0 h 1428745"/>
              <a:gd name="connsiteX2" fmla="*/ 1127139 w 2126677"/>
              <a:gd name="connsiteY2" fmla="*/ 0 h 1428745"/>
              <a:gd name="connsiteX3" fmla="*/ 2126677 w 2126677"/>
              <a:gd name="connsiteY3" fmla="*/ 0 h 1428745"/>
              <a:gd name="connsiteX4" fmla="*/ 2126677 w 2126677"/>
              <a:gd name="connsiteY4" fmla="*/ 433386 h 1428745"/>
              <a:gd name="connsiteX5" fmla="*/ 2126677 w 2126677"/>
              <a:gd name="connsiteY5" fmla="*/ 938209 h 1428745"/>
              <a:gd name="connsiteX6" fmla="*/ 2126677 w 2126677"/>
              <a:gd name="connsiteY6" fmla="*/ 1428745 h 1428745"/>
              <a:gd name="connsiteX7" fmla="*/ 1637541 w 2126677"/>
              <a:gd name="connsiteY7" fmla="*/ 1428745 h 1428745"/>
              <a:gd name="connsiteX8" fmla="*/ 1127139 w 2126677"/>
              <a:gd name="connsiteY8" fmla="*/ 1428745 h 1428745"/>
              <a:gd name="connsiteX9" fmla="*/ 659270 w 2126677"/>
              <a:gd name="connsiteY9" fmla="*/ 1428745 h 1428745"/>
              <a:gd name="connsiteX10" fmla="*/ 0 w 2126677"/>
              <a:gd name="connsiteY10" fmla="*/ 1428745 h 1428745"/>
              <a:gd name="connsiteX11" fmla="*/ 0 w 2126677"/>
              <a:gd name="connsiteY11" fmla="*/ 938209 h 1428745"/>
              <a:gd name="connsiteX12" fmla="*/ 0 w 2126677"/>
              <a:gd name="connsiteY12" fmla="*/ 504823 h 1428745"/>
              <a:gd name="connsiteX13" fmla="*/ 0 w 2126677"/>
              <a:gd name="connsiteY13" fmla="*/ 0 h 142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6677" h="1428745" fill="none" extrusionOk="0">
                <a:moveTo>
                  <a:pt x="0" y="0"/>
                </a:moveTo>
                <a:cubicBezTo>
                  <a:pt x="201714" y="-56182"/>
                  <a:pt x="328084" y="14913"/>
                  <a:pt x="574203" y="0"/>
                </a:cubicBezTo>
                <a:cubicBezTo>
                  <a:pt x="820322" y="-14913"/>
                  <a:pt x="858431" y="1722"/>
                  <a:pt x="1127139" y="0"/>
                </a:cubicBezTo>
                <a:cubicBezTo>
                  <a:pt x="1395847" y="-1722"/>
                  <a:pt x="1843342" y="112095"/>
                  <a:pt x="2126677" y="0"/>
                </a:cubicBezTo>
                <a:cubicBezTo>
                  <a:pt x="2136542" y="197528"/>
                  <a:pt x="2123367" y="291191"/>
                  <a:pt x="2126677" y="433386"/>
                </a:cubicBezTo>
                <a:cubicBezTo>
                  <a:pt x="2129987" y="575581"/>
                  <a:pt x="2079202" y="797532"/>
                  <a:pt x="2126677" y="938209"/>
                </a:cubicBezTo>
                <a:cubicBezTo>
                  <a:pt x="2174152" y="1078886"/>
                  <a:pt x="2070951" y="1303469"/>
                  <a:pt x="2126677" y="1428745"/>
                </a:cubicBezTo>
                <a:cubicBezTo>
                  <a:pt x="2003330" y="1452371"/>
                  <a:pt x="1858898" y="1379718"/>
                  <a:pt x="1637541" y="1428745"/>
                </a:cubicBezTo>
                <a:cubicBezTo>
                  <a:pt x="1416184" y="1477772"/>
                  <a:pt x="1315779" y="1413109"/>
                  <a:pt x="1127139" y="1428745"/>
                </a:cubicBezTo>
                <a:cubicBezTo>
                  <a:pt x="938499" y="1444381"/>
                  <a:pt x="828471" y="1412644"/>
                  <a:pt x="659270" y="1428745"/>
                </a:cubicBezTo>
                <a:cubicBezTo>
                  <a:pt x="490069" y="1444846"/>
                  <a:pt x="162650" y="1365158"/>
                  <a:pt x="0" y="1428745"/>
                </a:cubicBezTo>
                <a:cubicBezTo>
                  <a:pt x="-5385" y="1253150"/>
                  <a:pt x="15550" y="1123945"/>
                  <a:pt x="0" y="938209"/>
                </a:cubicBezTo>
                <a:cubicBezTo>
                  <a:pt x="-15550" y="752473"/>
                  <a:pt x="21725" y="619170"/>
                  <a:pt x="0" y="504823"/>
                </a:cubicBezTo>
                <a:cubicBezTo>
                  <a:pt x="-21725" y="390476"/>
                  <a:pt x="679" y="127417"/>
                  <a:pt x="0" y="0"/>
                </a:cubicBezTo>
                <a:close/>
              </a:path>
              <a:path w="2126677" h="1428745" stroke="0" extrusionOk="0">
                <a:moveTo>
                  <a:pt x="0" y="0"/>
                </a:moveTo>
                <a:cubicBezTo>
                  <a:pt x="215929" y="-30816"/>
                  <a:pt x="259023" y="2641"/>
                  <a:pt x="510402" y="0"/>
                </a:cubicBezTo>
                <a:cubicBezTo>
                  <a:pt x="761781" y="-2641"/>
                  <a:pt x="799673" y="37116"/>
                  <a:pt x="978271" y="0"/>
                </a:cubicBezTo>
                <a:cubicBezTo>
                  <a:pt x="1156869" y="-37116"/>
                  <a:pt x="1433791" y="42604"/>
                  <a:pt x="1552474" y="0"/>
                </a:cubicBezTo>
                <a:cubicBezTo>
                  <a:pt x="1671157" y="-42604"/>
                  <a:pt x="1891902" y="9637"/>
                  <a:pt x="2126677" y="0"/>
                </a:cubicBezTo>
                <a:cubicBezTo>
                  <a:pt x="2161463" y="205361"/>
                  <a:pt x="2105641" y="332906"/>
                  <a:pt x="2126677" y="461961"/>
                </a:cubicBezTo>
                <a:cubicBezTo>
                  <a:pt x="2147713" y="591016"/>
                  <a:pt x="2105559" y="782987"/>
                  <a:pt x="2126677" y="909634"/>
                </a:cubicBezTo>
                <a:cubicBezTo>
                  <a:pt x="2147795" y="1036281"/>
                  <a:pt x="2097168" y="1179400"/>
                  <a:pt x="2126677" y="1428745"/>
                </a:cubicBezTo>
                <a:cubicBezTo>
                  <a:pt x="1989128" y="1444974"/>
                  <a:pt x="1730903" y="1385916"/>
                  <a:pt x="1595008" y="1428745"/>
                </a:cubicBezTo>
                <a:cubicBezTo>
                  <a:pt x="1459113" y="1471574"/>
                  <a:pt x="1318341" y="1401918"/>
                  <a:pt x="1127139" y="1428745"/>
                </a:cubicBezTo>
                <a:cubicBezTo>
                  <a:pt x="935937" y="1455572"/>
                  <a:pt x="702000" y="1367893"/>
                  <a:pt x="595470" y="1428745"/>
                </a:cubicBezTo>
                <a:cubicBezTo>
                  <a:pt x="488940" y="1489597"/>
                  <a:pt x="232291" y="1416181"/>
                  <a:pt x="0" y="1428745"/>
                </a:cubicBezTo>
                <a:cubicBezTo>
                  <a:pt x="-22420" y="1212058"/>
                  <a:pt x="1150" y="1197734"/>
                  <a:pt x="0" y="966784"/>
                </a:cubicBezTo>
                <a:cubicBezTo>
                  <a:pt x="-1150" y="735834"/>
                  <a:pt x="50490" y="625495"/>
                  <a:pt x="0" y="504823"/>
                </a:cubicBezTo>
                <a:cubicBezTo>
                  <a:pt x="-50490" y="384151"/>
                  <a:pt x="14972" y="232122"/>
                  <a:pt x="0" y="0"/>
                </a:cubicBezTo>
                <a:close/>
              </a:path>
            </a:pathLst>
          </a:custGeom>
          <a:pattFill prst="dkUpDiag">
            <a:fgClr>
              <a:srgbClr val="E97161"/>
            </a:fgClr>
            <a:bgClr>
              <a:schemeClr val="bg1"/>
            </a:bgClr>
          </a:pattFill>
          <a:ln w="25400" cap="flat">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effectLst>
                  <a:glow rad="381000">
                    <a:schemeClr val="bg1">
                      <a:alpha val="70000"/>
                    </a:schemeClr>
                  </a:glow>
                </a:effectLst>
                <a:latin typeface="Quadraat" panose="02000503060000090004" pitchFamily="2" charset="0"/>
              </a:rPr>
              <a:t>Alcohol-related liver injury (AST/ALT &gt; 2:1, AST nearly always &lt;300 U/L) </a:t>
            </a:r>
          </a:p>
          <a:p>
            <a:pPr algn="ctr"/>
            <a:r>
              <a:rPr lang="en-US" sz="1200" b="1" dirty="0">
                <a:solidFill>
                  <a:schemeClr val="tx1"/>
                </a:solidFill>
                <a:effectLst>
                  <a:glow rad="381000">
                    <a:schemeClr val="bg1">
                      <a:alpha val="70000"/>
                    </a:schemeClr>
                  </a:glow>
                </a:effectLst>
                <a:latin typeface="Quadraat" panose="02000503060000090004" pitchFamily="2" charset="0"/>
              </a:rPr>
              <a:t>Cirrhosis</a:t>
            </a:r>
          </a:p>
        </p:txBody>
      </p:sp>
      <p:sp>
        <p:nvSpPr>
          <p:cNvPr id="24" name="Rectangle 23">
            <a:extLst>
              <a:ext uri="{FF2B5EF4-FFF2-40B4-BE49-F238E27FC236}">
                <a16:creationId xmlns:a16="http://schemas.microsoft.com/office/drawing/2014/main" id="{2B354682-DEBD-CA4B-986F-5EA751D059C0}"/>
              </a:ext>
            </a:extLst>
          </p:cNvPr>
          <p:cNvSpPr/>
          <p:nvPr/>
        </p:nvSpPr>
        <p:spPr>
          <a:xfrm>
            <a:off x="7805277" y="1539112"/>
            <a:ext cx="2382265" cy="1428750"/>
          </a:xfrm>
          <a:custGeom>
            <a:avLst/>
            <a:gdLst>
              <a:gd name="connsiteX0" fmla="*/ 0 w 2382265"/>
              <a:gd name="connsiteY0" fmla="*/ 0 h 1428750"/>
              <a:gd name="connsiteX1" fmla="*/ 643212 w 2382265"/>
              <a:gd name="connsiteY1" fmla="*/ 0 h 1428750"/>
              <a:gd name="connsiteX2" fmla="*/ 1262600 w 2382265"/>
              <a:gd name="connsiteY2" fmla="*/ 0 h 1428750"/>
              <a:gd name="connsiteX3" fmla="*/ 2382265 w 2382265"/>
              <a:gd name="connsiteY3" fmla="*/ 0 h 1428750"/>
              <a:gd name="connsiteX4" fmla="*/ 2382265 w 2382265"/>
              <a:gd name="connsiteY4" fmla="*/ 433388 h 1428750"/>
              <a:gd name="connsiteX5" fmla="*/ 2382265 w 2382265"/>
              <a:gd name="connsiteY5" fmla="*/ 938213 h 1428750"/>
              <a:gd name="connsiteX6" fmla="*/ 2382265 w 2382265"/>
              <a:gd name="connsiteY6" fmla="*/ 1428750 h 1428750"/>
              <a:gd name="connsiteX7" fmla="*/ 1834344 w 2382265"/>
              <a:gd name="connsiteY7" fmla="*/ 1428750 h 1428750"/>
              <a:gd name="connsiteX8" fmla="*/ 1262600 w 2382265"/>
              <a:gd name="connsiteY8" fmla="*/ 1428750 h 1428750"/>
              <a:gd name="connsiteX9" fmla="*/ 738502 w 2382265"/>
              <a:gd name="connsiteY9" fmla="*/ 1428750 h 1428750"/>
              <a:gd name="connsiteX10" fmla="*/ 0 w 2382265"/>
              <a:gd name="connsiteY10" fmla="*/ 1428750 h 1428750"/>
              <a:gd name="connsiteX11" fmla="*/ 0 w 2382265"/>
              <a:gd name="connsiteY11" fmla="*/ 938213 h 1428750"/>
              <a:gd name="connsiteX12" fmla="*/ 0 w 2382265"/>
              <a:gd name="connsiteY12" fmla="*/ 504825 h 1428750"/>
              <a:gd name="connsiteX13" fmla="*/ 0 w 2382265"/>
              <a:gd name="connsiteY13" fmla="*/ 0 h 142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2265" h="1428750" fill="none" extrusionOk="0">
                <a:moveTo>
                  <a:pt x="0" y="0"/>
                </a:moveTo>
                <a:cubicBezTo>
                  <a:pt x="276908" y="-55331"/>
                  <a:pt x="385958" y="33339"/>
                  <a:pt x="643212" y="0"/>
                </a:cubicBezTo>
                <a:cubicBezTo>
                  <a:pt x="900466" y="-33339"/>
                  <a:pt x="1126927" y="59688"/>
                  <a:pt x="1262600" y="0"/>
                </a:cubicBezTo>
                <a:cubicBezTo>
                  <a:pt x="1398273" y="-59688"/>
                  <a:pt x="1861378" y="63577"/>
                  <a:pt x="2382265" y="0"/>
                </a:cubicBezTo>
                <a:cubicBezTo>
                  <a:pt x="2393271" y="187305"/>
                  <a:pt x="2346356" y="287256"/>
                  <a:pt x="2382265" y="433388"/>
                </a:cubicBezTo>
                <a:cubicBezTo>
                  <a:pt x="2418174" y="579520"/>
                  <a:pt x="2335202" y="785821"/>
                  <a:pt x="2382265" y="938213"/>
                </a:cubicBezTo>
                <a:cubicBezTo>
                  <a:pt x="2429328" y="1090605"/>
                  <a:pt x="2327384" y="1302994"/>
                  <a:pt x="2382265" y="1428750"/>
                </a:cubicBezTo>
                <a:cubicBezTo>
                  <a:pt x="2139132" y="1490607"/>
                  <a:pt x="1997942" y="1367802"/>
                  <a:pt x="1834344" y="1428750"/>
                </a:cubicBezTo>
                <a:cubicBezTo>
                  <a:pt x="1670746" y="1489698"/>
                  <a:pt x="1490777" y="1395293"/>
                  <a:pt x="1262600" y="1428750"/>
                </a:cubicBezTo>
                <a:cubicBezTo>
                  <a:pt x="1034423" y="1462207"/>
                  <a:pt x="879701" y="1398124"/>
                  <a:pt x="738502" y="1428750"/>
                </a:cubicBezTo>
                <a:cubicBezTo>
                  <a:pt x="597303" y="1459376"/>
                  <a:pt x="287833" y="1414682"/>
                  <a:pt x="0" y="1428750"/>
                </a:cubicBezTo>
                <a:cubicBezTo>
                  <a:pt x="-9833" y="1259396"/>
                  <a:pt x="13593" y="1124839"/>
                  <a:pt x="0" y="938213"/>
                </a:cubicBezTo>
                <a:cubicBezTo>
                  <a:pt x="-13593" y="751587"/>
                  <a:pt x="2706" y="633471"/>
                  <a:pt x="0" y="504825"/>
                </a:cubicBezTo>
                <a:cubicBezTo>
                  <a:pt x="-2706" y="376179"/>
                  <a:pt x="54028" y="137512"/>
                  <a:pt x="0" y="0"/>
                </a:cubicBezTo>
                <a:close/>
              </a:path>
              <a:path w="2382265" h="1428750" stroke="0" extrusionOk="0">
                <a:moveTo>
                  <a:pt x="0" y="0"/>
                </a:moveTo>
                <a:cubicBezTo>
                  <a:pt x="195963" y="-3843"/>
                  <a:pt x="301057" y="30793"/>
                  <a:pt x="571744" y="0"/>
                </a:cubicBezTo>
                <a:cubicBezTo>
                  <a:pt x="842431" y="-30793"/>
                  <a:pt x="958083" y="25495"/>
                  <a:pt x="1095842" y="0"/>
                </a:cubicBezTo>
                <a:cubicBezTo>
                  <a:pt x="1233601" y="-25495"/>
                  <a:pt x="1540020" y="41306"/>
                  <a:pt x="1739053" y="0"/>
                </a:cubicBezTo>
                <a:cubicBezTo>
                  <a:pt x="1938086" y="-41306"/>
                  <a:pt x="2087036" y="38222"/>
                  <a:pt x="2382265" y="0"/>
                </a:cubicBezTo>
                <a:cubicBezTo>
                  <a:pt x="2422788" y="203150"/>
                  <a:pt x="2368396" y="330533"/>
                  <a:pt x="2382265" y="461962"/>
                </a:cubicBezTo>
                <a:cubicBezTo>
                  <a:pt x="2396134" y="593391"/>
                  <a:pt x="2368247" y="771400"/>
                  <a:pt x="2382265" y="909637"/>
                </a:cubicBezTo>
                <a:cubicBezTo>
                  <a:pt x="2396283" y="1047874"/>
                  <a:pt x="2363676" y="1323759"/>
                  <a:pt x="2382265" y="1428750"/>
                </a:cubicBezTo>
                <a:cubicBezTo>
                  <a:pt x="2108385" y="1464676"/>
                  <a:pt x="2081315" y="1391938"/>
                  <a:pt x="1786699" y="1428750"/>
                </a:cubicBezTo>
                <a:cubicBezTo>
                  <a:pt x="1492083" y="1465562"/>
                  <a:pt x="1422736" y="1405290"/>
                  <a:pt x="1262600" y="1428750"/>
                </a:cubicBezTo>
                <a:cubicBezTo>
                  <a:pt x="1102464" y="1452210"/>
                  <a:pt x="940954" y="1368672"/>
                  <a:pt x="667034" y="1428750"/>
                </a:cubicBezTo>
                <a:cubicBezTo>
                  <a:pt x="393114" y="1488828"/>
                  <a:pt x="165702" y="1379841"/>
                  <a:pt x="0" y="1428750"/>
                </a:cubicBezTo>
                <a:cubicBezTo>
                  <a:pt x="-28324" y="1215679"/>
                  <a:pt x="53171" y="1062746"/>
                  <a:pt x="0" y="966788"/>
                </a:cubicBezTo>
                <a:cubicBezTo>
                  <a:pt x="-53171" y="870830"/>
                  <a:pt x="32848" y="636246"/>
                  <a:pt x="0" y="504825"/>
                </a:cubicBezTo>
                <a:cubicBezTo>
                  <a:pt x="-32848" y="373404"/>
                  <a:pt x="7647" y="240896"/>
                  <a:pt x="0" y="0"/>
                </a:cubicBezTo>
                <a:close/>
              </a:path>
            </a:pathLst>
          </a:custGeom>
          <a:pattFill prst="dkUpDiag">
            <a:fgClr>
              <a:srgbClr val="E97161"/>
            </a:fgClr>
            <a:bgClr>
              <a:schemeClr val="bg1"/>
            </a:bgClr>
          </a:pattFill>
          <a:ln w="25400" cap="flat">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effectLst>
                  <a:glow rad="381000">
                    <a:schemeClr val="bg1">
                      <a:alpha val="70000"/>
                    </a:schemeClr>
                  </a:glow>
                </a:effectLst>
                <a:latin typeface="Quadraat" panose="02000503060000090004" pitchFamily="2" charset="0"/>
              </a:rPr>
              <a:t>Medications or toxins in a patient with underlying alcoholic liver </a:t>
            </a:r>
          </a:p>
          <a:p>
            <a:pPr algn="ctr"/>
            <a:r>
              <a:rPr lang="en-US" sz="1200" b="1" dirty="0">
                <a:solidFill>
                  <a:schemeClr val="tx1"/>
                </a:solidFill>
                <a:effectLst>
                  <a:glow rad="381000">
                    <a:schemeClr val="bg1">
                      <a:alpha val="70000"/>
                    </a:schemeClr>
                  </a:glow>
                </a:effectLst>
                <a:latin typeface="Quadraat" panose="02000503060000090004" pitchFamily="2" charset="0"/>
              </a:rPr>
              <a:t>injury </a:t>
            </a:r>
          </a:p>
          <a:p>
            <a:pPr algn="ctr"/>
            <a:endParaRPr lang="en-US" sz="1200" b="1" dirty="0">
              <a:solidFill>
                <a:schemeClr val="tx1"/>
              </a:solidFill>
              <a:effectLst>
                <a:glow rad="381000">
                  <a:schemeClr val="bg1">
                    <a:alpha val="70000"/>
                  </a:schemeClr>
                </a:glow>
              </a:effectLst>
              <a:latin typeface="Quadraat" panose="02000503060000090004" pitchFamily="2" charset="0"/>
            </a:endParaRPr>
          </a:p>
          <a:p>
            <a:pPr algn="ctr"/>
            <a:r>
              <a:rPr lang="en-US" sz="1200" dirty="0">
                <a:solidFill>
                  <a:schemeClr val="tx1"/>
                </a:solidFill>
                <a:effectLst>
                  <a:glow rad="381000">
                    <a:schemeClr val="bg1">
                      <a:alpha val="70000"/>
                    </a:schemeClr>
                  </a:glow>
                </a:effectLst>
                <a:latin typeface="Quadraat" panose="02000503060000090004" pitchFamily="2" charset="0"/>
              </a:rPr>
              <a:t>Acute rhabdomyolysis </a:t>
            </a:r>
          </a:p>
        </p:txBody>
      </p:sp>
      <p:sp>
        <p:nvSpPr>
          <p:cNvPr id="25" name="TextBox 24">
            <a:extLst>
              <a:ext uri="{FF2B5EF4-FFF2-40B4-BE49-F238E27FC236}">
                <a16:creationId xmlns:a16="http://schemas.microsoft.com/office/drawing/2014/main" id="{25317391-5FB2-B54E-B607-53EBE9F673E4}"/>
              </a:ext>
            </a:extLst>
          </p:cNvPr>
          <p:cNvSpPr txBox="1"/>
          <p:nvPr/>
        </p:nvSpPr>
        <p:spPr>
          <a:xfrm>
            <a:off x="2302430" y="3805286"/>
            <a:ext cx="876202" cy="307777"/>
          </a:xfrm>
          <a:prstGeom prst="rect">
            <a:avLst/>
          </a:prstGeom>
          <a:noFill/>
        </p:spPr>
        <p:txBody>
          <a:bodyPr wrap="none" rtlCol="0">
            <a:spAutoFit/>
          </a:bodyPr>
          <a:lstStyle/>
          <a:p>
            <a:r>
              <a:rPr lang="en-US" sz="1400" b="1" dirty="0">
                <a:latin typeface="Quadraat" panose="02000503060000090004" pitchFamily="2" charset="0"/>
              </a:rPr>
              <a:t>AST&gt;ALT</a:t>
            </a:r>
          </a:p>
        </p:txBody>
      </p:sp>
      <p:sp>
        <p:nvSpPr>
          <p:cNvPr id="26" name="TextBox 25">
            <a:extLst>
              <a:ext uri="{FF2B5EF4-FFF2-40B4-BE49-F238E27FC236}">
                <a16:creationId xmlns:a16="http://schemas.microsoft.com/office/drawing/2014/main" id="{CD35B4FC-5ABA-8747-B4DF-9C023F8B74E6}"/>
              </a:ext>
            </a:extLst>
          </p:cNvPr>
          <p:cNvSpPr txBox="1"/>
          <p:nvPr/>
        </p:nvSpPr>
        <p:spPr>
          <a:xfrm>
            <a:off x="2302430" y="4105323"/>
            <a:ext cx="876202" cy="307777"/>
          </a:xfrm>
          <a:prstGeom prst="rect">
            <a:avLst/>
          </a:prstGeom>
          <a:noFill/>
        </p:spPr>
        <p:txBody>
          <a:bodyPr wrap="none" rtlCol="0">
            <a:spAutoFit/>
          </a:bodyPr>
          <a:lstStyle/>
          <a:p>
            <a:r>
              <a:rPr lang="en-US" sz="1400" b="1" dirty="0">
                <a:latin typeface="Quadraat" panose="02000503060000090004" pitchFamily="2" charset="0"/>
              </a:rPr>
              <a:t>ALT&gt;AST</a:t>
            </a:r>
          </a:p>
        </p:txBody>
      </p:sp>
      <p:sp>
        <p:nvSpPr>
          <p:cNvPr id="15" name="Right Brace 14">
            <a:extLst>
              <a:ext uri="{FF2B5EF4-FFF2-40B4-BE49-F238E27FC236}">
                <a16:creationId xmlns:a16="http://schemas.microsoft.com/office/drawing/2014/main" id="{45DFC797-005F-4B41-9233-DECC448009A3}"/>
              </a:ext>
            </a:extLst>
          </p:cNvPr>
          <p:cNvSpPr/>
          <p:nvPr/>
        </p:nvSpPr>
        <p:spPr>
          <a:xfrm>
            <a:off x="10587592" y="1193369"/>
            <a:ext cx="276720" cy="2758699"/>
          </a:xfrm>
          <a:prstGeom prst="rightBrace">
            <a:avLst>
              <a:gd name="adj1" fmla="val 74817"/>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B65DD128-D305-054D-AA75-F7D8593D6C3E}"/>
              </a:ext>
            </a:extLst>
          </p:cNvPr>
          <p:cNvSpPr/>
          <p:nvPr/>
        </p:nvSpPr>
        <p:spPr>
          <a:xfrm>
            <a:off x="10587592" y="4125934"/>
            <a:ext cx="276720" cy="1678685"/>
          </a:xfrm>
          <a:prstGeom prst="rightBrace">
            <a:avLst>
              <a:gd name="adj1" fmla="val 73723"/>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 name="TextBox 19">
            <a:extLst>
              <a:ext uri="{FF2B5EF4-FFF2-40B4-BE49-F238E27FC236}">
                <a16:creationId xmlns:a16="http://schemas.microsoft.com/office/drawing/2014/main" id="{6446AFB2-DF21-0E43-9F8E-B28F0C31134E}"/>
              </a:ext>
            </a:extLst>
          </p:cNvPr>
          <p:cNvSpPr txBox="1"/>
          <p:nvPr/>
        </p:nvSpPr>
        <p:spPr>
          <a:xfrm rot="5400000">
            <a:off x="10261820" y="4763395"/>
            <a:ext cx="1728885" cy="400110"/>
          </a:xfrm>
          <a:prstGeom prst="rect">
            <a:avLst/>
          </a:prstGeom>
          <a:noFill/>
        </p:spPr>
        <p:txBody>
          <a:bodyPr wrap="square" rtlCol="0">
            <a:spAutoFit/>
          </a:bodyPr>
          <a:lstStyle/>
          <a:p>
            <a:pPr algn="ctr"/>
            <a:r>
              <a:rPr lang="en-US" sz="2000" b="1" dirty="0">
                <a:latin typeface="Quadraat" panose="02000503060000090004" pitchFamily="2" charset="0"/>
              </a:rPr>
              <a:t>ALT Territory</a:t>
            </a:r>
          </a:p>
        </p:txBody>
      </p:sp>
      <p:sp>
        <p:nvSpPr>
          <p:cNvPr id="21" name="TextBox 20">
            <a:extLst>
              <a:ext uri="{FF2B5EF4-FFF2-40B4-BE49-F238E27FC236}">
                <a16:creationId xmlns:a16="http://schemas.microsoft.com/office/drawing/2014/main" id="{B9C42443-C367-744B-8742-46ABEA4860BC}"/>
              </a:ext>
            </a:extLst>
          </p:cNvPr>
          <p:cNvSpPr txBox="1"/>
          <p:nvPr/>
        </p:nvSpPr>
        <p:spPr>
          <a:xfrm rot="5400000">
            <a:off x="10261820" y="2378748"/>
            <a:ext cx="1728885" cy="400110"/>
          </a:xfrm>
          <a:prstGeom prst="rect">
            <a:avLst/>
          </a:prstGeom>
          <a:noFill/>
        </p:spPr>
        <p:txBody>
          <a:bodyPr wrap="square" rtlCol="0">
            <a:spAutoFit/>
          </a:bodyPr>
          <a:lstStyle/>
          <a:p>
            <a:pPr algn="ctr"/>
            <a:r>
              <a:rPr lang="en-US" sz="2000" b="1" dirty="0">
                <a:latin typeface="Quadraat" panose="02000503060000090004" pitchFamily="2" charset="0"/>
              </a:rPr>
              <a:t>AST Territory</a:t>
            </a:r>
          </a:p>
        </p:txBody>
      </p:sp>
    </p:spTree>
    <p:extLst>
      <p:ext uri="{BB962C8B-B14F-4D97-AF65-F5344CB8AC3E}">
        <p14:creationId xmlns:p14="http://schemas.microsoft.com/office/powerpoint/2010/main" val="22137719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96215-D478-114C-817B-AB7E82C405B6}"/>
              </a:ext>
            </a:extLst>
          </p:cNvPr>
          <p:cNvSpPr>
            <a:spLocks noGrp="1"/>
          </p:cNvSpPr>
          <p:nvPr>
            <p:ph type="title"/>
          </p:nvPr>
        </p:nvSpPr>
        <p:spPr/>
        <p:txBody>
          <a:bodyPr/>
          <a:lstStyle/>
          <a:p>
            <a:r>
              <a:rPr lang="en-US" dirty="0"/>
              <a:t>Can you differentiate ischemic and viral hepatitis?</a:t>
            </a:r>
          </a:p>
        </p:txBody>
      </p:sp>
      <p:sp>
        <p:nvSpPr>
          <p:cNvPr id="3" name="Text Placeholder 2">
            <a:extLst>
              <a:ext uri="{FF2B5EF4-FFF2-40B4-BE49-F238E27FC236}">
                <a16:creationId xmlns:a16="http://schemas.microsoft.com/office/drawing/2014/main" id="{BEFE00FB-DDD0-174F-BBD6-636BE2D22C9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240464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96215-D478-114C-817B-AB7E82C405B6}"/>
              </a:ext>
            </a:extLst>
          </p:cNvPr>
          <p:cNvSpPr>
            <a:spLocks noGrp="1"/>
          </p:cNvSpPr>
          <p:nvPr>
            <p:ph type="title"/>
          </p:nvPr>
        </p:nvSpPr>
        <p:spPr/>
        <p:txBody>
          <a:bodyPr>
            <a:normAutofit fontScale="90000"/>
          </a:bodyPr>
          <a:lstStyle/>
          <a:p>
            <a:r>
              <a:rPr lang="en-US" dirty="0"/>
              <a:t>Can you differentiate ischemic and viral hepatitis?</a:t>
            </a:r>
          </a:p>
        </p:txBody>
      </p:sp>
      <p:pic>
        <p:nvPicPr>
          <p:cNvPr id="7" name="Content Placeholder 6">
            <a:extLst>
              <a:ext uri="{FF2B5EF4-FFF2-40B4-BE49-F238E27FC236}">
                <a16:creationId xmlns:a16="http://schemas.microsoft.com/office/drawing/2014/main" id="{1E8B0250-3747-4D4C-B695-A50EF468D3D0}"/>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838200" y="1925933"/>
            <a:ext cx="10515600" cy="1323003"/>
          </a:xfrm>
          <a:prstGeom prst="rect">
            <a:avLst/>
          </a:prstGeom>
        </p:spPr>
      </p:pic>
      <p:pic>
        <p:nvPicPr>
          <p:cNvPr id="8" name="Picture 7">
            <a:extLst>
              <a:ext uri="{FF2B5EF4-FFF2-40B4-BE49-F238E27FC236}">
                <a16:creationId xmlns:a16="http://schemas.microsoft.com/office/drawing/2014/main" id="{06C8DF7F-C403-E647-8190-06226BADFFB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988300" y="6464299"/>
            <a:ext cx="4203700" cy="393700"/>
          </a:xfrm>
          <a:prstGeom prst="rect">
            <a:avLst/>
          </a:prstGeom>
        </p:spPr>
      </p:pic>
      <p:pic>
        <p:nvPicPr>
          <p:cNvPr id="9" name="Picture 8">
            <a:extLst>
              <a:ext uri="{FF2B5EF4-FFF2-40B4-BE49-F238E27FC236}">
                <a16:creationId xmlns:a16="http://schemas.microsoft.com/office/drawing/2014/main" id="{66B4D412-CAE2-5448-917C-6D27A2B6DC4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900" y="3856069"/>
            <a:ext cx="8204200" cy="1701800"/>
          </a:xfrm>
          <a:prstGeom prst="rect">
            <a:avLst/>
          </a:prstGeom>
        </p:spPr>
      </p:pic>
      <p:sp>
        <p:nvSpPr>
          <p:cNvPr id="10" name="Rectangle 9">
            <a:extLst>
              <a:ext uri="{FF2B5EF4-FFF2-40B4-BE49-F238E27FC236}">
                <a16:creationId xmlns:a16="http://schemas.microsoft.com/office/drawing/2014/main" id="{5D815351-43D3-2A4B-8E61-55D5F29E526C}"/>
              </a:ext>
            </a:extLst>
          </p:cNvPr>
          <p:cNvSpPr/>
          <p:nvPr/>
        </p:nvSpPr>
        <p:spPr>
          <a:xfrm>
            <a:off x="1993900" y="3856069"/>
            <a:ext cx="3434443" cy="446704"/>
          </a:xfrm>
          <a:prstGeom prst="rect">
            <a:avLst/>
          </a:prstGeom>
          <a:solidFill>
            <a:schemeClr val="bg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06024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0CCC-41EB-9242-890A-50BD01AACFF8}"/>
              </a:ext>
            </a:extLst>
          </p:cNvPr>
          <p:cNvSpPr>
            <a:spLocks noGrp="1"/>
          </p:cNvSpPr>
          <p:nvPr>
            <p:ph type="title"/>
          </p:nvPr>
        </p:nvSpPr>
        <p:spPr/>
        <p:txBody>
          <a:bodyPr/>
          <a:lstStyle/>
          <a:p>
            <a:r>
              <a:rPr lang="en-US" dirty="0"/>
              <a:t>Who is the sickest patient?</a:t>
            </a:r>
          </a:p>
        </p:txBody>
      </p:sp>
      <p:graphicFrame>
        <p:nvGraphicFramePr>
          <p:cNvPr id="7" name="Content Placeholder 6">
            <a:extLst>
              <a:ext uri="{FF2B5EF4-FFF2-40B4-BE49-F238E27FC236}">
                <a16:creationId xmlns:a16="http://schemas.microsoft.com/office/drawing/2014/main" id="{C3DF3916-43A1-004D-8E27-C572124F50C0}"/>
              </a:ext>
            </a:extLst>
          </p:cNvPr>
          <p:cNvGraphicFramePr>
            <a:graphicFrameLocks noGrp="1"/>
          </p:cNvGraphicFramePr>
          <p:nvPr>
            <p:ph idx="1"/>
            <p:extLst>
              <p:ext uri="{D42A27DB-BD31-4B8C-83A1-F6EECF244321}">
                <p14:modId xmlns:p14="http://schemas.microsoft.com/office/powerpoint/2010/main" val="2921460415"/>
              </p:ext>
            </p:extLst>
          </p:nvPr>
        </p:nvGraphicFramePr>
        <p:xfrm>
          <a:off x="628650" y="1347123"/>
          <a:ext cx="10934700" cy="4917233"/>
        </p:xfrm>
        <a:graphic>
          <a:graphicData uri="http://schemas.openxmlformats.org/drawingml/2006/table">
            <a:tbl>
              <a:tblPr firstRow="1" bandRow="1">
                <a:tableStyleId>{5940675A-B579-460E-94D1-54222C63F5DA}</a:tableStyleId>
              </a:tblPr>
              <a:tblGrid>
                <a:gridCol w="1822450">
                  <a:extLst>
                    <a:ext uri="{9D8B030D-6E8A-4147-A177-3AD203B41FA5}">
                      <a16:colId xmlns:a16="http://schemas.microsoft.com/office/drawing/2014/main" val="1688610778"/>
                    </a:ext>
                  </a:extLst>
                </a:gridCol>
                <a:gridCol w="1822450">
                  <a:extLst>
                    <a:ext uri="{9D8B030D-6E8A-4147-A177-3AD203B41FA5}">
                      <a16:colId xmlns:a16="http://schemas.microsoft.com/office/drawing/2014/main" val="1971291627"/>
                    </a:ext>
                  </a:extLst>
                </a:gridCol>
                <a:gridCol w="1822450">
                  <a:extLst>
                    <a:ext uri="{9D8B030D-6E8A-4147-A177-3AD203B41FA5}">
                      <a16:colId xmlns:a16="http://schemas.microsoft.com/office/drawing/2014/main" val="2486403194"/>
                    </a:ext>
                  </a:extLst>
                </a:gridCol>
                <a:gridCol w="1822450">
                  <a:extLst>
                    <a:ext uri="{9D8B030D-6E8A-4147-A177-3AD203B41FA5}">
                      <a16:colId xmlns:a16="http://schemas.microsoft.com/office/drawing/2014/main" val="799969973"/>
                    </a:ext>
                  </a:extLst>
                </a:gridCol>
                <a:gridCol w="1822450">
                  <a:extLst>
                    <a:ext uri="{9D8B030D-6E8A-4147-A177-3AD203B41FA5}">
                      <a16:colId xmlns:a16="http://schemas.microsoft.com/office/drawing/2014/main" val="2419875687"/>
                    </a:ext>
                  </a:extLst>
                </a:gridCol>
                <a:gridCol w="1822450">
                  <a:extLst>
                    <a:ext uri="{9D8B030D-6E8A-4147-A177-3AD203B41FA5}">
                      <a16:colId xmlns:a16="http://schemas.microsoft.com/office/drawing/2014/main" val="3163950169"/>
                    </a:ext>
                  </a:extLst>
                </a:gridCol>
              </a:tblGrid>
              <a:tr h="571475">
                <a:tc>
                  <a:txBody>
                    <a:bodyPr/>
                    <a:lstStyle/>
                    <a:p>
                      <a:pPr algn="ctr"/>
                      <a:endParaRPr lang="en-US" sz="2400" b="1" dirty="0">
                        <a:latin typeface="Quadraat" panose="02000503060000090004"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1" dirty="0">
                          <a:latin typeface="Quadraat" panose="02000503060000090004" pitchFamily="2" charset="0"/>
                        </a:rPr>
                        <a:t>Patient 1</a:t>
                      </a:r>
                    </a:p>
                  </a:txBody>
                  <a:tcPr anchor="ctr">
                    <a:lnL w="12700" cap="flat" cmpd="sng" algn="ctr">
                      <a:solidFill>
                        <a:schemeClr val="tx1"/>
                      </a:solidFill>
                      <a:prstDash val="solid"/>
                      <a:round/>
                      <a:headEnd type="none" w="med" len="med"/>
                      <a:tailEnd type="none" w="med" len="med"/>
                    </a:lnL>
                  </a:tcPr>
                </a:tc>
                <a:tc>
                  <a:txBody>
                    <a:bodyPr/>
                    <a:lstStyle/>
                    <a:p>
                      <a:pPr algn="ctr"/>
                      <a:r>
                        <a:rPr lang="en-US" sz="2400" b="1" dirty="0">
                          <a:latin typeface="Quadraat" panose="02000503060000090004" pitchFamily="2" charset="0"/>
                        </a:rPr>
                        <a:t>Patient 2</a:t>
                      </a:r>
                    </a:p>
                  </a:txBody>
                  <a:tcPr anchor="ctr"/>
                </a:tc>
                <a:tc>
                  <a:txBody>
                    <a:bodyPr/>
                    <a:lstStyle/>
                    <a:p>
                      <a:pPr algn="ctr"/>
                      <a:r>
                        <a:rPr lang="en-US" sz="2400" b="1" dirty="0">
                          <a:latin typeface="Quadraat" panose="02000503060000090004" pitchFamily="2" charset="0"/>
                        </a:rPr>
                        <a:t>Patient 3</a:t>
                      </a:r>
                    </a:p>
                  </a:txBody>
                  <a:tcPr anchor="ctr"/>
                </a:tc>
                <a:tc>
                  <a:txBody>
                    <a:bodyPr/>
                    <a:lstStyle/>
                    <a:p>
                      <a:pPr algn="ctr"/>
                      <a:r>
                        <a:rPr lang="en-US" sz="2400" b="1" dirty="0">
                          <a:latin typeface="Quadraat" panose="02000503060000090004" pitchFamily="2" charset="0"/>
                        </a:rPr>
                        <a:t>Patient 4</a:t>
                      </a:r>
                    </a:p>
                  </a:txBody>
                  <a:tcPr anchor="ctr"/>
                </a:tc>
                <a:tc>
                  <a:txBody>
                    <a:bodyPr/>
                    <a:lstStyle/>
                    <a:p>
                      <a:pPr algn="ctr"/>
                      <a:r>
                        <a:rPr lang="en-US" sz="2400" b="1" dirty="0">
                          <a:latin typeface="Quadraat" panose="02000503060000090004" pitchFamily="2" charset="0"/>
                        </a:rPr>
                        <a:t>Patient 5</a:t>
                      </a:r>
                    </a:p>
                  </a:txBody>
                  <a:tcPr anchor="ctr"/>
                </a:tc>
                <a:extLst>
                  <a:ext uri="{0D108BD9-81ED-4DB2-BD59-A6C34878D82A}">
                    <a16:rowId xmlns:a16="http://schemas.microsoft.com/office/drawing/2014/main" val="2725954488"/>
                  </a:ext>
                </a:extLst>
              </a:tr>
              <a:tr h="3522798">
                <a:tc>
                  <a:txBody>
                    <a:bodyPr/>
                    <a:lstStyle/>
                    <a:p>
                      <a:pPr algn="ctr"/>
                      <a:r>
                        <a:rPr lang="en-US" sz="2400" b="1" dirty="0">
                          <a:latin typeface="Quadraat" panose="02000503060000090004" pitchFamily="2" charset="0"/>
                        </a:rPr>
                        <a:t>AST</a:t>
                      </a:r>
                    </a:p>
                    <a:p>
                      <a:pPr algn="ctr"/>
                      <a:r>
                        <a:rPr lang="en-US" sz="2400" b="1" dirty="0">
                          <a:latin typeface="Quadraat" panose="02000503060000090004" pitchFamily="2" charset="0"/>
                        </a:rPr>
                        <a:t>ALT</a:t>
                      </a:r>
                    </a:p>
                    <a:p>
                      <a:pPr algn="ctr"/>
                      <a:r>
                        <a:rPr lang="en-US" sz="2400" b="1" dirty="0">
                          <a:latin typeface="Quadraat" panose="02000503060000090004" pitchFamily="2" charset="0"/>
                        </a:rPr>
                        <a:t>T </a:t>
                      </a:r>
                      <a:r>
                        <a:rPr lang="en-US" sz="2400" b="1" dirty="0" err="1">
                          <a:latin typeface="Quadraat" panose="02000503060000090004" pitchFamily="2" charset="0"/>
                        </a:rPr>
                        <a:t>bili</a:t>
                      </a:r>
                      <a:endParaRPr lang="en-US" sz="2400" b="1" dirty="0">
                        <a:latin typeface="Quadraat" panose="02000503060000090004" pitchFamily="2" charset="0"/>
                      </a:endParaRPr>
                    </a:p>
                    <a:p>
                      <a:pPr algn="ctr"/>
                      <a:r>
                        <a:rPr lang="en-US" sz="2400" b="1" dirty="0">
                          <a:latin typeface="Quadraat" panose="02000503060000090004" pitchFamily="2" charset="0"/>
                        </a:rPr>
                        <a:t>ALP</a:t>
                      </a:r>
                    </a:p>
                    <a:p>
                      <a:pPr algn="ctr"/>
                      <a:r>
                        <a:rPr lang="en-US" sz="2400" b="1" dirty="0">
                          <a:latin typeface="Quadraat" panose="02000503060000090004" pitchFamily="2" charset="0"/>
                        </a:rPr>
                        <a:t>GGT</a:t>
                      </a:r>
                    </a:p>
                    <a:p>
                      <a:pPr algn="ctr"/>
                      <a:r>
                        <a:rPr lang="en-US" sz="2400" b="1" dirty="0">
                          <a:latin typeface="Quadraat" panose="02000503060000090004" pitchFamily="2" charset="0"/>
                        </a:rPr>
                        <a:t>Albumin</a:t>
                      </a:r>
                    </a:p>
                    <a:p>
                      <a:pPr algn="ctr"/>
                      <a:r>
                        <a:rPr lang="en-US" sz="2400" b="1" dirty="0">
                          <a:latin typeface="Quadraat" panose="02000503060000090004" pitchFamily="2" charset="0"/>
                        </a:rPr>
                        <a:t>INR</a:t>
                      </a:r>
                    </a:p>
                    <a:p>
                      <a:pPr algn="ctr"/>
                      <a:r>
                        <a:rPr lang="en-US" sz="2400" b="1" dirty="0">
                          <a:latin typeface="Quadraat" panose="02000503060000090004" pitchFamily="2" charset="0"/>
                        </a:rPr>
                        <a:t>Platelets</a:t>
                      </a:r>
                    </a:p>
                  </a:txBody>
                  <a:tcPr anchor="ctr">
                    <a:lnT w="12700" cap="flat" cmpd="sng" algn="ctr">
                      <a:solidFill>
                        <a:schemeClr val="tx1"/>
                      </a:solidFill>
                      <a:prstDash val="solid"/>
                      <a:round/>
                      <a:headEnd type="none" w="med" len="med"/>
                      <a:tailEnd type="none" w="med" len="med"/>
                    </a:lnT>
                  </a:tcPr>
                </a:tc>
                <a:tc>
                  <a:txBody>
                    <a:bodyPr/>
                    <a:lstStyle/>
                    <a:p>
                      <a:pPr algn="ctr"/>
                      <a:r>
                        <a:rPr lang="en-US" sz="2400" dirty="0">
                          <a:latin typeface="Quadraat" panose="02000503060000090004" pitchFamily="2" charset="0"/>
                        </a:rPr>
                        <a:t>300</a:t>
                      </a:r>
                    </a:p>
                    <a:p>
                      <a:pPr algn="ctr"/>
                      <a:r>
                        <a:rPr lang="en-US" sz="2400" dirty="0">
                          <a:latin typeface="Quadraat" panose="02000503060000090004" pitchFamily="2" charset="0"/>
                        </a:rPr>
                        <a:t>130</a:t>
                      </a:r>
                    </a:p>
                    <a:p>
                      <a:pPr algn="ctr"/>
                      <a:r>
                        <a:rPr lang="en-US" sz="2400" dirty="0">
                          <a:latin typeface="Quadraat" panose="02000503060000090004" pitchFamily="2" charset="0"/>
                        </a:rPr>
                        <a:t>4</a:t>
                      </a:r>
                    </a:p>
                    <a:p>
                      <a:pPr algn="ctr"/>
                      <a:r>
                        <a:rPr lang="en-US" sz="2400" dirty="0">
                          <a:latin typeface="Quadraat" panose="02000503060000090004" pitchFamily="2" charset="0"/>
                        </a:rPr>
                        <a:t>100</a:t>
                      </a:r>
                    </a:p>
                    <a:p>
                      <a:pPr algn="ctr"/>
                      <a:r>
                        <a:rPr lang="en-US" sz="2400" dirty="0">
                          <a:latin typeface="Quadraat" panose="02000503060000090004" pitchFamily="2" charset="0"/>
                        </a:rPr>
                        <a:t>90</a:t>
                      </a:r>
                    </a:p>
                    <a:p>
                      <a:pPr algn="ctr"/>
                      <a:r>
                        <a:rPr lang="en-US" sz="2400" dirty="0">
                          <a:latin typeface="Quadraat" panose="02000503060000090004" pitchFamily="2" charset="0"/>
                        </a:rPr>
                        <a:t>3.5</a:t>
                      </a:r>
                    </a:p>
                    <a:p>
                      <a:pPr algn="ctr"/>
                      <a:r>
                        <a:rPr lang="en-US" sz="2400" dirty="0">
                          <a:latin typeface="Quadraat" panose="02000503060000090004" pitchFamily="2" charset="0"/>
                        </a:rPr>
                        <a:t>1.3</a:t>
                      </a:r>
                    </a:p>
                    <a:p>
                      <a:pPr algn="ctr"/>
                      <a:r>
                        <a:rPr lang="en-US" sz="2400" dirty="0">
                          <a:latin typeface="Quadraat" panose="02000503060000090004" pitchFamily="2" charset="0"/>
                        </a:rPr>
                        <a:t>200,000</a:t>
                      </a:r>
                    </a:p>
                  </a:txBody>
                  <a:tcPr anchor="ctr"/>
                </a:tc>
                <a:tc>
                  <a:txBody>
                    <a:bodyPr/>
                    <a:lstStyle/>
                    <a:p>
                      <a:pPr algn="ctr"/>
                      <a:r>
                        <a:rPr lang="en-US" sz="2400" dirty="0">
                          <a:latin typeface="Quadraat" panose="02000503060000090004" pitchFamily="2" charset="0"/>
                        </a:rPr>
                        <a:t>10,000</a:t>
                      </a:r>
                    </a:p>
                    <a:p>
                      <a:pPr algn="ctr"/>
                      <a:r>
                        <a:rPr lang="en-US" sz="2400" dirty="0">
                          <a:latin typeface="Quadraat" panose="02000503060000090004" pitchFamily="2" charset="0"/>
                        </a:rPr>
                        <a:t>100</a:t>
                      </a:r>
                    </a:p>
                    <a:p>
                      <a:pPr algn="ctr"/>
                      <a:r>
                        <a:rPr lang="en-US" sz="2400" dirty="0">
                          <a:latin typeface="Quadraat" panose="02000503060000090004" pitchFamily="2" charset="0"/>
                        </a:rPr>
                        <a:t>0.3</a:t>
                      </a:r>
                    </a:p>
                    <a:p>
                      <a:pPr algn="ctr"/>
                      <a:r>
                        <a:rPr lang="en-US" sz="2400" dirty="0">
                          <a:latin typeface="Quadraat" panose="02000503060000090004" pitchFamily="2" charset="0"/>
                        </a:rPr>
                        <a:t>50</a:t>
                      </a:r>
                    </a:p>
                    <a:p>
                      <a:pPr algn="ctr"/>
                      <a:r>
                        <a:rPr lang="en-US" sz="2400" dirty="0">
                          <a:latin typeface="Quadraat" panose="02000503060000090004" pitchFamily="2" charset="0"/>
                        </a:rPr>
                        <a:t>40</a:t>
                      </a:r>
                    </a:p>
                    <a:p>
                      <a:pPr algn="ctr"/>
                      <a:r>
                        <a:rPr lang="en-US" sz="2400" dirty="0">
                          <a:latin typeface="Quadraat" panose="02000503060000090004" pitchFamily="2" charset="0"/>
                        </a:rPr>
                        <a:t>2.4</a:t>
                      </a:r>
                    </a:p>
                    <a:p>
                      <a:pPr algn="ctr"/>
                      <a:r>
                        <a:rPr lang="en-US" sz="2400" dirty="0">
                          <a:latin typeface="Quadraat" panose="02000503060000090004" pitchFamily="2" charset="0"/>
                        </a:rPr>
                        <a:t>2.1</a:t>
                      </a:r>
                    </a:p>
                    <a:p>
                      <a:pPr algn="ctr"/>
                      <a:r>
                        <a:rPr lang="en-US" sz="2400" dirty="0">
                          <a:latin typeface="Quadraat" panose="02000503060000090004" pitchFamily="2" charset="0"/>
                        </a:rPr>
                        <a:t>150,000</a:t>
                      </a:r>
                    </a:p>
                  </a:txBody>
                  <a:tcPr anchor="ctr"/>
                </a:tc>
                <a:tc>
                  <a:txBody>
                    <a:bodyPr/>
                    <a:lstStyle/>
                    <a:p>
                      <a:pPr algn="ctr"/>
                      <a:r>
                        <a:rPr lang="en-US" sz="2400" dirty="0">
                          <a:latin typeface="Quadraat" panose="02000503060000090004" pitchFamily="2" charset="0"/>
                        </a:rPr>
                        <a:t>30</a:t>
                      </a:r>
                    </a:p>
                    <a:p>
                      <a:pPr algn="ctr"/>
                      <a:r>
                        <a:rPr lang="en-US" sz="2400" dirty="0">
                          <a:latin typeface="Quadraat" panose="02000503060000090004" pitchFamily="2" charset="0"/>
                        </a:rPr>
                        <a:t>20</a:t>
                      </a:r>
                    </a:p>
                    <a:p>
                      <a:pPr algn="ctr"/>
                      <a:r>
                        <a:rPr lang="en-US" sz="2400" b="0" dirty="0">
                          <a:solidFill>
                            <a:schemeClr val="tx1"/>
                          </a:solidFill>
                          <a:latin typeface="Quadraat" panose="02000503060000090004" pitchFamily="2" charset="0"/>
                        </a:rPr>
                        <a:t>4</a:t>
                      </a:r>
                    </a:p>
                    <a:p>
                      <a:pPr algn="ctr"/>
                      <a:r>
                        <a:rPr lang="en-US" sz="2400" dirty="0">
                          <a:latin typeface="Quadraat" panose="02000503060000090004" pitchFamily="2" charset="0"/>
                        </a:rPr>
                        <a:t>40</a:t>
                      </a:r>
                    </a:p>
                    <a:p>
                      <a:pPr algn="ctr"/>
                      <a:r>
                        <a:rPr lang="en-US" sz="2400" dirty="0">
                          <a:latin typeface="Quadraat" panose="02000503060000090004" pitchFamily="2" charset="0"/>
                        </a:rPr>
                        <a:t>30</a:t>
                      </a:r>
                    </a:p>
                    <a:p>
                      <a:pPr algn="ctr"/>
                      <a:r>
                        <a:rPr lang="en-US" sz="2400" dirty="0">
                          <a:latin typeface="Quadraat" panose="02000503060000090004" pitchFamily="2" charset="0"/>
                        </a:rPr>
                        <a:t>5.1</a:t>
                      </a:r>
                    </a:p>
                    <a:p>
                      <a:pPr algn="ctr"/>
                      <a:r>
                        <a:rPr lang="en-US" sz="2400" dirty="0">
                          <a:latin typeface="Quadraat" panose="02000503060000090004" pitchFamily="2" charset="0"/>
                        </a:rPr>
                        <a:t>3.0</a:t>
                      </a:r>
                    </a:p>
                    <a:p>
                      <a:pPr algn="ctr"/>
                      <a:r>
                        <a:rPr lang="en-US" sz="2400" dirty="0">
                          <a:latin typeface="Quadraat" panose="02000503060000090004" pitchFamily="2" charset="0"/>
                        </a:rPr>
                        <a:t>350,000</a:t>
                      </a:r>
                    </a:p>
                  </a:txBody>
                  <a:tcPr anchor="ctr"/>
                </a:tc>
                <a:tc>
                  <a:txBody>
                    <a:bodyPr/>
                    <a:lstStyle/>
                    <a:p>
                      <a:pPr algn="ctr"/>
                      <a:r>
                        <a:rPr lang="en-US" sz="2400" dirty="0">
                          <a:latin typeface="Quadraat" panose="02000503060000090004" pitchFamily="2" charset="0"/>
                        </a:rPr>
                        <a:t>10,000</a:t>
                      </a:r>
                    </a:p>
                    <a:p>
                      <a:pPr algn="ctr"/>
                      <a:r>
                        <a:rPr lang="en-US" sz="2400" dirty="0">
                          <a:latin typeface="Quadraat" panose="02000503060000090004" pitchFamily="2" charset="0"/>
                        </a:rPr>
                        <a:t>12,000</a:t>
                      </a:r>
                    </a:p>
                    <a:p>
                      <a:pPr algn="ctr"/>
                      <a:r>
                        <a:rPr lang="en-US" sz="2400" dirty="0">
                          <a:latin typeface="Quadraat" panose="02000503060000090004" pitchFamily="2" charset="0"/>
                        </a:rPr>
                        <a:t>1.0</a:t>
                      </a:r>
                    </a:p>
                    <a:p>
                      <a:pPr algn="ctr"/>
                      <a:r>
                        <a:rPr lang="en-US" sz="2400" dirty="0">
                          <a:latin typeface="Quadraat" panose="02000503060000090004" pitchFamily="2" charset="0"/>
                        </a:rPr>
                        <a:t>200</a:t>
                      </a:r>
                    </a:p>
                    <a:p>
                      <a:pPr algn="ctr"/>
                      <a:r>
                        <a:rPr lang="en-US" sz="2400" dirty="0">
                          <a:latin typeface="Quadraat" panose="02000503060000090004" pitchFamily="2" charset="0"/>
                        </a:rPr>
                        <a:t>150</a:t>
                      </a:r>
                    </a:p>
                    <a:p>
                      <a:pPr algn="ctr"/>
                      <a:r>
                        <a:rPr lang="en-US" sz="2400" dirty="0">
                          <a:latin typeface="Quadraat" panose="02000503060000090004" pitchFamily="2" charset="0"/>
                        </a:rPr>
                        <a:t>3.0</a:t>
                      </a:r>
                    </a:p>
                    <a:p>
                      <a:pPr algn="ctr"/>
                      <a:r>
                        <a:rPr lang="en-US" sz="2400" dirty="0">
                          <a:latin typeface="Quadraat" panose="02000503060000090004" pitchFamily="2" charset="0"/>
                        </a:rPr>
                        <a:t>1.2</a:t>
                      </a:r>
                    </a:p>
                    <a:p>
                      <a:pPr algn="ctr"/>
                      <a:r>
                        <a:rPr lang="en-US" sz="2400" dirty="0">
                          <a:latin typeface="Quadraat" panose="02000503060000090004" pitchFamily="2" charset="0"/>
                        </a:rPr>
                        <a:t>210,000</a:t>
                      </a:r>
                    </a:p>
                  </a:txBody>
                  <a:tcPr anchor="ctr"/>
                </a:tc>
                <a:tc>
                  <a:txBody>
                    <a:bodyPr/>
                    <a:lstStyle/>
                    <a:p>
                      <a:pPr algn="ctr"/>
                      <a:r>
                        <a:rPr lang="en-US" sz="2400" dirty="0">
                          <a:latin typeface="Quadraat" panose="02000503060000090004" pitchFamily="2" charset="0"/>
                        </a:rPr>
                        <a:t>3,000</a:t>
                      </a:r>
                    </a:p>
                    <a:p>
                      <a:pPr algn="ctr"/>
                      <a:r>
                        <a:rPr lang="en-US" sz="2400" dirty="0">
                          <a:latin typeface="Quadraat" panose="02000503060000090004" pitchFamily="2" charset="0"/>
                        </a:rPr>
                        <a:t>2,500</a:t>
                      </a:r>
                    </a:p>
                    <a:p>
                      <a:pPr algn="ctr"/>
                      <a:r>
                        <a:rPr lang="en-US" sz="2400" dirty="0">
                          <a:latin typeface="Quadraat" panose="02000503060000090004" pitchFamily="2" charset="0"/>
                        </a:rPr>
                        <a:t>3</a:t>
                      </a:r>
                    </a:p>
                    <a:p>
                      <a:pPr algn="ctr"/>
                      <a:r>
                        <a:rPr lang="en-US" sz="2400" dirty="0">
                          <a:latin typeface="Quadraat" panose="02000503060000090004" pitchFamily="2" charset="0"/>
                        </a:rPr>
                        <a:t>1,500</a:t>
                      </a:r>
                    </a:p>
                    <a:p>
                      <a:pPr algn="ctr"/>
                      <a:r>
                        <a:rPr lang="en-US" sz="2400" dirty="0">
                          <a:latin typeface="Quadraat" panose="02000503060000090004" pitchFamily="2" charset="0"/>
                        </a:rPr>
                        <a:t>1,000</a:t>
                      </a:r>
                    </a:p>
                    <a:p>
                      <a:pPr algn="ctr"/>
                      <a:r>
                        <a:rPr lang="en-US" sz="2400" dirty="0">
                          <a:latin typeface="Quadraat" panose="02000503060000090004" pitchFamily="2" charset="0"/>
                        </a:rPr>
                        <a:t>2.0</a:t>
                      </a:r>
                    </a:p>
                    <a:p>
                      <a:pPr algn="ctr"/>
                      <a:r>
                        <a:rPr lang="en-US" sz="2400" dirty="0">
                          <a:latin typeface="Quadraat" panose="02000503060000090004" pitchFamily="2" charset="0"/>
                        </a:rPr>
                        <a:t>1.0</a:t>
                      </a:r>
                    </a:p>
                    <a:p>
                      <a:pPr algn="ctr"/>
                      <a:r>
                        <a:rPr lang="en-US" sz="2400" dirty="0">
                          <a:latin typeface="Quadraat" panose="02000503060000090004" pitchFamily="2" charset="0"/>
                        </a:rPr>
                        <a:t>200,000</a:t>
                      </a:r>
                    </a:p>
                  </a:txBody>
                  <a:tcPr anchor="ctr"/>
                </a:tc>
                <a:extLst>
                  <a:ext uri="{0D108BD9-81ED-4DB2-BD59-A6C34878D82A}">
                    <a16:rowId xmlns:a16="http://schemas.microsoft.com/office/drawing/2014/main" val="343184802"/>
                  </a:ext>
                </a:extLst>
              </a:tr>
              <a:tr h="571475">
                <a:tc>
                  <a:txBody>
                    <a:bodyPr/>
                    <a:lstStyle/>
                    <a:p>
                      <a:pPr algn="ctr"/>
                      <a:r>
                        <a:rPr lang="en-US" sz="2400" b="1" dirty="0">
                          <a:latin typeface="Quadraat" panose="02000503060000090004" pitchFamily="2" charset="0"/>
                        </a:rPr>
                        <a:t>Diagnosis?</a:t>
                      </a:r>
                    </a:p>
                  </a:txBody>
                  <a:tcPr anchor="ctr"/>
                </a:tc>
                <a:tc>
                  <a:txBody>
                    <a:bodyPr/>
                    <a:lstStyle/>
                    <a:p>
                      <a:pPr algn="ctr"/>
                      <a:endParaRPr lang="en-US" sz="2400" b="1" dirty="0">
                        <a:latin typeface="Quadraat" panose="02000503060000090004" pitchFamily="2" charset="0"/>
                      </a:endParaRPr>
                    </a:p>
                  </a:txBody>
                  <a:tcPr anchor="ctr"/>
                </a:tc>
                <a:tc>
                  <a:txBody>
                    <a:bodyPr/>
                    <a:lstStyle/>
                    <a:p>
                      <a:pPr algn="ctr"/>
                      <a:endParaRPr lang="en-US" sz="2400" b="1" dirty="0">
                        <a:latin typeface="Quadraat" panose="02000503060000090004" pitchFamily="2" charset="0"/>
                      </a:endParaRPr>
                    </a:p>
                    <a:p>
                      <a:pPr algn="ctr"/>
                      <a:endParaRPr lang="en-US" sz="2400" b="1" dirty="0">
                        <a:latin typeface="Quadraat" panose="02000503060000090004" pitchFamily="2" charset="0"/>
                      </a:endParaRPr>
                    </a:p>
                  </a:txBody>
                  <a:tcPr anchor="ctr"/>
                </a:tc>
                <a:tc>
                  <a:txBody>
                    <a:bodyPr/>
                    <a:lstStyle/>
                    <a:p>
                      <a:pPr algn="ctr"/>
                      <a:endParaRPr lang="en-US" sz="2400" b="1" dirty="0">
                        <a:latin typeface="Quadraat" panose="02000503060000090004" pitchFamily="2" charset="0"/>
                      </a:endParaRPr>
                    </a:p>
                  </a:txBody>
                  <a:tcPr anchor="ctr"/>
                </a:tc>
                <a:tc>
                  <a:txBody>
                    <a:bodyPr/>
                    <a:lstStyle/>
                    <a:p>
                      <a:pPr algn="ctr"/>
                      <a:endParaRPr lang="en-US" sz="2400" b="1" dirty="0">
                        <a:latin typeface="Quadraat" panose="02000503060000090004" pitchFamily="2" charset="0"/>
                      </a:endParaRPr>
                    </a:p>
                  </a:txBody>
                  <a:tcPr anchor="ctr"/>
                </a:tc>
                <a:tc>
                  <a:txBody>
                    <a:bodyPr/>
                    <a:lstStyle/>
                    <a:p>
                      <a:pPr algn="ctr"/>
                      <a:endParaRPr lang="en-US" sz="2400" b="1" dirty="0">
                        <a:latin typeface="Quadraat" panose="02000503060000090004" pitchFamily="2" charset="0"/>
                      </a:endParaRPr>
                    </a:p>
                  </a:txBody>
                  <a:tcPr anchor="ctr"/>
                </a:tc>
                <a:extLst>
                  <a:ext uri="{0D108BD9-81ED-4DB2-BD59-A6C34878D82A}">
                    <a16:rowId xmlns:a16="http://schemas.microsoft.com/office/drawing/2014/main" val="717993567"/>
                  </a:ext>
                </a:extLst>
              </a:tr>
            </a:tbl>
          </a:graphicData>
        </a:graphic>
      </p:graphicFrame>
    </p:spTree>
    <p:extLst>
      <p:ext uri="{BB962C8B-B14F-4D97-AF65-F5344CB8AC3E}">
        <p14:creationId xmlns:p14="http://schemas.microsoft.com/office/powerpoint/2010/main" val="21710772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0CCC-41EB-9242-890A-50BD01AACFF8}"/>
              </a:ext>
            </a:extLst>
          </p:cNvPr>
          <p:cNvSpPr>
            <a:spLocks noGrp="1"/>
          </p:cNvSpPr>
          <p:nvPr>
            <p:ph type="title"/>
          </p:nvPr>
        </p:nvSpPr>
        <p:spPr/>
        <p:txBody>
          <a:bodyPr/>
          <a:lstStyle/>
          <a:p>
            <a:r>
              <a:rPr lang="en-US" dirty="0"/>
              <a:t>Who is the sickest patient?</a:t>
            </a:r>
          </a:p>
        </p:txBody>
      </p:sp>
      <p:graphicFrame>
        <p:nvGraphicFramePr>
          <p:cNvPr id="7" name="Content Placeholder 6">
            <a:extLst>
              <a:ext uri="{FF2B5EF4-FFF2-40B4-BE49-F238E27FC236}">
                <a16:creationId xmlns:a16="http://schemas.microsoft.com/office/drawing/2014/main" id="{C3DF3916-43A1-004D-8E27-C572124F50C0}"/>
              </a:ext>
            </a:extLst>
          </p:cNvPr>
          <p:cNvGraphicFramePr>
            <a:graphicFrameLocks noGrp="1"/>
          </p:cNvGraphicFramePr>
          <p:nvPr>
            <p:ph idx="1"/>
          </p:nvPr>
        </p:nvGraphicFramePr>
        <p:xfrm>
          <a:off x="628650" y="1347123"/>
          <a:ext cx="10934700" cy="4917233"/>
        </p:xfrm>
        <a:graphic>
          <a:graphicData uri="http://schemas.openxmlformats.org/drawingml/2006/table">
            <a:tbl>
              <a:tblPr firstRow="1" bandRow="1">
                <a:tableStyleId>{5940675A-B579-460E-94D1-54222C63F5DA}</a:tableStyleId>
              </a:tblPr>
              <a:tblGrid>
                <a:gridCol w="1822450">
                  <a:extLst>
                    <a:ext uri="{9D8B030D-6E8A-4147-A177-3AD203B41FA5}">
                      <a16:colId xmlns:a16="http://schemas.microsoft.com/office/drawing/2014/main" val="1688610778"/>
                    </a:ext>
                  </a:extLst>
                </a:gridCol>
                <a:gridCol w="1822450">
                  <a:extLst>
                    <a:ext uri="{9D8B030D-6E8A-4147-A177-3AD203B41FA5}">
                      <a16:colId xmlns:a16="http://schemas.microsoft.com/office/drawing/2014/main" val="1971291627"/>
                    </a:ext>
                  </a:extLst>
                </a:gridCol>
                <a:gridCol w="1822450">
                  <a:extLst>
                    <a:ext uri="{9D8B030D-6E8A-4147-A177-3AD203B41FA5}">
                      <a16:colId xmlns:a16="http://schemas.microsoft.com/office/drawing/2014/main" val="2486403194"/>
                    </a:ext>
                  </a:extLst>
                </a:gridCol>
                <a:gridCol w="1822450">
                  <a:extLst>
                    <a:ext uri="{9D8B030D-6E8A-4147-A177-3AD203B41FA5}">
                      <a16:colId xmlns:a16="http://schemas.microsoft.com/office/drawing/2014/main" val="799969973"/>
                    </a:ext>
                  </a:extLst>
                </a:gridCol>
                <a:gridCol w="1822450">
                  <a:extLst>
                    <a:ext uri="{9D8B030D-6E8A-4147-A177-3AD203B41FA5}">
                      <a16:colId xmlns:a16="http://schemas.microsoft.com/office/drawing/2014/main" val="2419875687"/>
                    </a:ext>
                  </a:extLst>
                </a:gridCol>
                <a:gridCol w="1822450">
                  <a:extLst>
                    <a:ext uri="{9D8B030D-6E8A-4147-A177-3AD203B41FA5}">
                      <a16:colId xmlns:a16="http://schemas.microsoft.com/office/drawing/2014/main" val="3163950169"/>
                    </a:ext>
                  </a:extLst>
                </a:gridCol>
              </a:tblGrid>
              <a:tr h="571475">
                <a:tc>
                  <a:txBody>
                    <a:bodyPr/>
                    <a:lstStyle/>
                    <a:p>
                      <a:pPr algn="ctr"/>
                      <a:endParaRPr lang="en-US" sz="2400" b="1" dirty="0">
                        <a:latin typeface="Quadraat" panose="02000503060000090004"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1" dirty="0">
                          <a:latin typeface="Quadraat" panose="02000503060000090004" pitchFamily="2" charset="0"/>
                        </a:rPr>
                        <a:t>Patient 1</a:t>
                      </a:r>
                    </a:p>
                  </a:txBody>
                  <a:tcPr anchor="ctr">
                    <a:lnL w="12700" cap="flat" cmpd="sng" algn="ctr">
                      <a:solidFill>
                        <a:schemeClr val="tx1"/>
                      </a:solidFill>
                      <a:prstDash val="solid"/>
                      <a:round/>
                      <a:headEnd type="none" w="med" len="med"/>
                      <a:tailEnd type="none" w="med" len="med"/>
                    </a:lnL>
                  </a:tcPr>
                </a:tc>
                <a:tc>
                  <a:txBody>
                    <a:bodyPr/>
                    <a:lstStyle/>
                    <a:p>
                      <a:pPr algn="ctr"/>
                      <a:r>
                        <a:rPr lang="en-US" sz="2400" b="1" dirty="0">
                          <a:latin typeface="Quadraat" panose="02000503060000090004" pitchFamily="2" charset="0"/>
                        </a:rPr>
                        <a:t>Patient 2</a:t>
                      </a:r>
                    </a:p>
                  </a:txBody>
                  <a:tcPr anchor="ctr"/>
                </a:tc>
                <a:tc>
                  <a:txBody>
                    <a:bodyPr/>
                    <a:lstStyle/>
                    <a:p>
                      <a:pPr algn="ctr"/>
                      <a:r>
                        <a:rPr lang="en-US" sz="2400" b="1" dirty="0">
                          <a:latin typeface="Quadraat" panose="02000503060000090004" pitchFamily="2" charset="0"/>
                        </a:rPr>
                        <a:t>Patient 3</a:t>
                      </a:r>
                    </a:p>
                  </a:txBody>
                  <a:tcPr anchor="ctr"/>
                </a:tc>
                <a:tc>
                  <a:txBody>
                    <a:bodyPr/>
                    <a:lstStyle/>
                    <a:p>
                      <a:pPr algn="ctr"/>
                      <a:r>
                        <a:rPr lang="en-US" sz="2400" b="1" dirty="0">
                          <a:latin typeface="Quadraat" panose="02000503060000090004" pitchFamily="2" charset="0"/>
                        </a:rPr>
                        <a:t>Patient 4</a:t>
                      </a:r>
                    </a:p>
                  </a:txBody>
                  <a:tcPr anchor="ctr"/>
                </a:tc>
                <a:tc>
                  <a:txBody>
                    <a:bodyPr/>
                    <a:lstStyle/>
                    <a:p>
                      <a:pPr algn="ctr"/>
                      <a:r>
                        <a:rPr lang="en-US" sz="2400" b="1" dirty="0">
                          <a:latin typeface="Quadraat" panose="02000503060000090004" pitchFamily="2" charset="0"/>
                        </a:rPr>
                        <a:t>Patient 5</a:t>
                      </a:r>
                    </a:p>
                  </a:txBody>
                  <a:tcPr anchor="ctr"/>
                </a:tc>
                <a:extLst>
                  <a:ext uri="{0D108BD9-81ED-4DB2-BD59-A6C34878D82A}">
                    <a16:rowId xmlns:a16="http://schemas.microsoft.com/office/drawing/2014/main" val="2725954488"/>
                  </a:ext>
                </a:extLst>
              </a:tr>
              <a:tr h="3522798">
                <a:tc>
                  <a:txBody>
                    <a:bodyPr/>
                    <a:lstStyle/>
                    <a:p>
                      <a:pPr algn="ctr"/>
                      <a:r>
                        <a:rPr lang="en-US" sz="2400" b="1" dirty="0">
                          <a:latin typeface="Quadraat" panose="02000503060000090004" pitchFamily="2" charset="0"/>
                        </a:rPr>
                        <a:t>AST</a:t>
                      </a:r>
                    </a:p>
                    <a:p>
                      <a:pPr algn="ctr"/>
                      <a:r>
                        <a:rPr lang="en-US" sz="2400" b="1" dirty="0">
                          <a:latin typeface="Quadraat" panose="02000503060000090004" pitchFamily="2" charset="0"/>
                        </a:rPr>
                        <a:t>ALT</a:t>
                      </a:r>
                    </a:p>
                    <a:p>
                      <a:pPr algn="ctr"/>
                      <a:r>
                        <a:rPr lang="en-US" sz="2400" b="1" dirty="0">
                          <a:latin typeface="Quadraat" panose="02000503060000090004" pitchFamily="2" charset="0"/>
                        </a:rPr>
                        <a:t>T </a:t>
                      </a:r>
                      <a:r>
                        <a:rPr lang="en-US" sz="2400" b="1" dirty="0" err="1">
                          <a:latin typeface="Quadraat" panose="02000503060000090004" pitchFamily="2" charset="0"/>
                        </a:rPr>
                        <a:t>bili</a:t>
                      </a:r>
                      <a:endParaRPr lang="en-US" sz="2400" b="1" dirty="0">
                        <a:latin typeface="Quadraat" panose="02000503060000090004" pitchFamily="2" charset="0"/>
                      </a:endParaRPr>
                    </a:p>
                    <a:p>
                      <a:pPr algn="ctr"/>
                      <a:r>
                        <a:rPr lang="en-US" sz="2400" b="1" dirty="0">
                          <a:latin typeface="Quadraat" panose="02000503060000090004" pitchFamily="2" charset="0"/>
                        </a:rPr>
                        <a:t>ALP</a:t>
                      </a:r>
                    </a:p>
                    <a:p>
                      <a:pPr algn="ctr"/>
                      <a:r>
                        <a:rPr lang="en-US" sz="2400" b="1" dirty="0">
                          <a:latin typeface="Quadraat" panose="02000503060000090004" pitchFamily="2" charset="0"/>
                        </a:rPr>
                        <a:t>GGT</a:t>
                      </a:r>
                    </a:p>
                    <a:p>
                      <a:pPr algn="ctr"/>
                      <a:r>
                        <a:rPr lang="en-US" sz="2400" b="1" dirty="0">
                          <a:latin typeface="Quadraat" panose="02000503060000090004" pitchFamily="2" charset="0"/>
                        </a:rPr>
                        <a:t>Albumin</a:t>
                      </a:r>
                    </a:p>
                    <a:p>
                      <a:pPr algn="ctr"/>
                      <a:r>
                        <a:rPr lang="en-US" sz="2400" b="1" dirty="0">
                          <a:latin typeface="Quadraat" panose="02000503060000090004" pitchFamily="2" charset="0"/>
                        </a:rPr>
                        <a:t>INR</a:t>
                      </a:r>
                    </a:p>
                    <a:p>
                      <a:pPr algn="ctr"/>
                      <a:r>
                        <a:rPr lang="en-US" sz="2400" b="1" dirty="0">
                          <a:latin typeface="Quadraat" panose="02000503060000090004" pitchFamily="2" charset="0"/>
                        </a:rPr>
                        <a:t>Platelets</a:t>
                      </a:r>
                    </a:p>
                  </a:txBody>
                  <a:tcPr anchor="ctr">
                    <a:lnT w="12700" cap="flat" cmpd="sng" algn="ctr">
                      <a:solidFill>
                        <a:schemeClr val="tx1"/>
                      </a:solidFill>
                      <a:prstDash val="solid"/>
                      <a:round/>
                      <a:headEnd type="none" w="med" len="med"/>
                      <a:tailEnd type="none" w="med" len="med"/>
                    </a:lnT>
                  </a:tcPr>
                </a:tc>
                <a:tc>
                  <a:txBody>
                    <a:bodyPr/>
                    <a:lstStyle/>
                    <a:p>
                      <a:pPr algn="ctr"/>
                      <a:r>
                        <a:rPr lang="en-US" sz="2400" dirty="0">
                          <a:latin typeface="Quadraat" panose="02000503060000090004" pitchFamily="2" charset="0"/>
                        </a:rPr>
                        <a:t>300</a:t>
                      </a:r>
                    </a:p>
                    <a:p>
                      <a:pPr algn="ctr"/>
                      <a:r>
                        <a:rPr lang="en-US" sz="2400" dirty="0">
                          <a:latin typeface="Quadraat" panose="02000503060000090004" pitchFamily="2" charset="0"/>
                        </a:rPr>
                        <a:t>130</a:t>
                      </a:r>
                    </a:p>
                    <a:p>
                      <a:pPr algn="ctr"/>
                      <a:r>
                        <a:rPr lang="en-US" sz="2400" dirty="0">
                          <a:latin typeface="Quadraat" panose="02000503060000090004" pitchFamily="2" charset="0"/>
                        </a:rPr>
                        <a:t>4</a:t>
                      </a:r>
                    </a:p>
                    <a:p>
                      <a:pPr algn="ctr"/>
                      <a:r>
                        <a:rPr lang="en-US" sz="2400" dirty="0">
                          <a:latin typeface="Quadraat" panose="02000503060000090004" pitchFamily="2" charset="0"/>
                        </a:rPr>
                        <a:t>100</a:t>
                      </a:r>
                    </a:p>
                    <a:p>
                      <a:pPr algn="ctr"/>
                      <a:r>
                        <a:rPr lang="en-US" sz="2400" dirty="0">
                          <a:latin typeface="Quadraat" panose="02000503060000090004" pitchFamily="2" charset="0"/>
                        </a:rPr>
                        <a:t>90</a:t>
                      </a:r>
                    </a:p>
                    <a:p>
                      <a:pPr algn="ctr"/>
                      <a:r>
                        <a:rPr lang="en-US" sz="2400" dirty="0">
                          <a:latin typeface="Quadraat" panose="02000503060000090004" pitchFamily="2" charset="0"/>
                        </a:rPr>
                        <a:t>3.5</a:t>
                      </a:r>
                    </a:p>
                    <a:p>
                      <a:pPr algn="ctr"/>
                      <a:r>
                        <a:rPr lang="en-US" sz="2400" dirty="0">
                          <a:latin typeface="Quadraat" panose="02000503060000090004" pitchFamily="2" charset="0"/>
                        </a:rPr>
                        <a:t>1.3</a:t>
                      </a:r>
                    </a:p>
                    <a:p>
                      <a:pPr algn="ctr"/>
                      <a:r>
                        <a:rPr lang="en-US" sz="2400" dirty="0">
                          <a:latin typeface="Quadraat" panose="02000503060000090004" pitchFamily="2" charset="0"/>
                        </a:rPr>
                        <a:t>200,000</a:t>
                      </a:r>
                    </a:p>
                  </a:txBody>
                  <a:tcPr anchor="ctr"/>
                </a:tc>
                <a:tc>
                  <a:txBody>
                    <a:bodyPr/>
                    <a:lstStyle/>
                    <a:p>
                      <a:pPr algn="ctr"/>
                      <a:r>
                        <a:rPr lang="en-US" sz="2400" dirty="0">
                          <a:latin typeface="Quadraat" panose="02000503060000090004" pitchFamily="2" charset="0"/>
                        </a:rPr>
                        <a:t>10,000</a:t>
                      </a:r>
                    </a:p>
                    <a:p>
                      <a:pPr algn="ctr"/>
                      <a:r>
                        <a:rPr lang="en-US" sz="2400" dirty="0">
                          <a:latin typeface="Quadraat" panose="02000503060000090004" pitchFamily="2" charset="0"/>
                        </a:rPr>
                        <a:t>100</a:t>
                      </a:r>
                    </a:p>
                    <a:p>
                      <a:pPr algn="ctr"/>
                      <a:r>
                        <a:rPr lang="en-US" sz="2400" dirty="0">
                          <a:latin typeface="Quadraat" panose="02000503060000090004" pitchFamily="2" charset="0"/>
                        </a:rPr>
                        <a:t>0.3</a:t>
                      </a:r>
                    </a:p>
                    <a:p>
                      <a:pPr algn="ctr"/>
                      <a:r>
                        <a:rPr lang="en-US" sz="2400" dirty="0">
                          <a:latin typeface="Quadraat" panose="02000503060000090004" pitchFamily="2" charset="0"/>
                        </a:rPr>
                        <a:t>50</a:t>
                      </a:r>
                    </a:p>
                    <a:p>
                      <a:pPr algn="ctr"/>
                      <a:r>
                        <a:rPr lang="en-US" sz="2400" dirty="0">
                          <a:latin typeface="Quadraat" panose="02000503060000090004" pitchFamily="2" charset="0"/>
                        </a:rPr>
                        <a:t>40</a:t>
                      </a:r>
                    </a:p>
                    <a:p>
                      <a:pPr algn="ctr"/>
                      <a:r>
                        <a:rPr lang="en-US" sz="2400" dirty="0">
                          <a:latin typeface="Quadraat" panose="02000503060000090004" pitchFamily="2" charset="0"/>
                        </a:rPr>
                        <a:t>2.4</a:t>
                      </a:r>
                    </a:p>
                    <a:p>
                      <a:pPr algn="ctr"/>
                      <a:r>
                        <a:rPr lang="en-US" sz="2400" dirty="0">
                          <a:latin typeface="Quadraat" panose="02000503060000090004" pitchFamily="2" charset="0"/>
                        </a:rPr>
                        <a:t>2.1</a:t>
                      </a:r>
                    </a:p>
                    <a:p>
                      <a:pPr algn="ctr"/>
                      <a:r>
                        <a:rPr lang="en-US" sz="2400" dirty="0">
                          <a:latin typeface="Quadraat" panose="02000503060000090004" pitchFamily="2" charset="0"/>
                        </a:rPr>
                        <a:t>150,000</a:t>
                      </a:r>
                    </a:p>
                  </a:txBody>
                  <a:tcPr anchor="ctr"/>
                </a:tc>
                <a:tc>
                  <a:txBody>
                    <a:bodyPr/>
                    <a:lstStyle/>
                    <a:p>
                      <a:pPr algn="ctr"/>
                      <a:r>
                        <a:rPr lang="en-US" sz="2400" dirty="0">
                          <a:latin typeface="Quadraat" panose="02000503060000090004" pitchFamily="2" charset="0"/>
                        </a:rPr>
                        <a:t>30</a:t>
                      </a:r>
                    </a:p>
                    <a:p>
                      <a:pPr algn="ctr"/>
                      <a:r>
                        <a:rPr lang="en-US" sz="2400" dirty="0">
                          <a:latin typeface="Quadraat" panose="02000503060000090004" pitchFamily="2" charset="0"/>
                        </a:rPr>
                        <a:t>20</a:t>
                      </a:r>
                    </a:p>
                    <a:p>
                      <a:pPr algn="ctr"/>
                      <a:r>
                        <a:rPr lang="en-US" sz="2400" b="0" dirty="0">
                          <a:solidFill>
                            <a:schemeClr val="tx1"/>
                          </a:solidFill>
                          <a:latin typeface="Quadraat" panose="02000503060000090004" pitchFamily="2" charset="0"/>
                        </a:rPr>
                        <a:t>4</a:t>
                      </a:r>
                    </a:p>
                    <a:p>
                      <a:pPr algn="ctr"/>
                      <a:r>
                        <a:rPr lang="en-US" sz="2400" dirty="0">
                          <a:latin typeface="Quadraat" panose="02000503060000090004" pitchFamily="2" charset="0"/>
                        </a:rPr>
                        <a:t>40</a:t>
                      </a:r>
                    </a:p>
                    <a:p>
                      <a:pPr algn="ctr"/>
                      <a:r>
                        <a:rPr lang="en-US" sz="2400" dirty="0">
                          <a:latin typeface="Quadraat" panose="02000503060000090004" pitchFamily="2" charset="0"/>
                        </a:rPr>
                        <a:t>30</a:t>
                      </a:r>
                    </a:p>
                    <a:p>
                      <a:pPr algn="ctr"/>
                      <a:r>
                        <a:rPr lang="en-US" sz="2400" dirty="0">
                          <a:latin typeface="Quadraat" panose="02000503060000090004" pitchFamily="2" charset="0"/>
                        </a:rPr>
                        <a:t>5.1</a:t>
                      </a:r>
                    </a:p>
                    <a:p>
                      <a:pPr algn="ctr"/>
                      <a:r>
                        <a:rPr lang="en-US" sz="2400" dirty="0">
                          <a:latin typeface="Quadraat" panose="02000503060000090004" pitchFamily="2" charset="0"/>
                        </a:rPr>
                        <a:t>3.0</a:t>
                      </a:r>
                    </a:p>
                    <a:p>
                      <a:pPr algn="ctr"/>
                      <a:r>
                        <a:rPr lang="en-US" sz="2400" dirty="0">
                          <a:latin typeface="Quadraat" panose="02000503060000090004" pitchFamily="2" charset="0"/>
                        </a:rPr>
                        <a:t>350,000</a:t>
                      </a:r>
                    </a:p>
                  </a:txBody>
                  <a:tcPr anchor="ctr"/>
                </a:tc>
                <a:tc>
                  <a:txBody>
                    <a:bodyPr/>
                    <a:lstStyle/>
                    <a:p>
                      <a:pPr algn="ctr"/>
                      <a:r>
                        <a:rPr lang="en-US" sz="2400" dirty="0">
                          <a:latin typeface="Quadraat" panose="02000503060000090004" pitchFamily="2" charset="0"/>
                        </a:rPr>
                        <a:t>10,000</a:t>
                      </a:r>
                    </a:p>
                    <a:p>
                      <a:pPr algn="ctr"/>
                      <a:r>
                        <a:rPr lang="en-US" sz="2400" dirty="0">
                          <a:latin typeface="Quadraat" panose="02000503060000090004" pitchFamily="2" charset="0"/>
                        </a:rPr>
                        <a:t>12,000</a:t>
                      </a:r>
                    </a:p>
                    <a:p>
                      <a:pPr algn="ctr"/>
                      <a:r>
                        <a:rPr lang="en-US" sz="2400" dirty="0">
                          <a:latin typeface="Quadraat" panose="02000503060000090004" pitchFamily="2" charset="0"/>
                        </a:rPr>
                        <a:t>1.0</a:t>
                      </a:r>
                    </a:p>
                    <a:p>
                      <a:pPr algn="ctr"/>
                      <a:r>
                        <a:rPr lang="en-US" sz="2400" dirty="0">
                          <a:latin typeface="Quadraat" panose="02000503060000090004" pitchFamily="2" charset="0"/>
                        </a:rPr>
                        <a:t>200</a:t>
                      </a:r>
                    </a:p>
                    <a:p>
                      <a:pPr algn="ctr"/>
                      <a:r>
                        <a:rPr lang="en-US" sz="2400" dirty="0">
                          <a:latin typeface="Quadraat" panose="02000503060000090004" pitchFamily="2" charset="0"/>
                        </a:rPr>
                        <a:t>150</a:t>
                      </a:r>
                    </a:p>
                    <a:p>
                      <a:pPr algn="ctr"/>
                      <a:r>
                        <a:rPr lang="en-US" sz="2400" dirty="0">
                          <a:latin typeface="Quadraat" panose="02000503060000090004" pitchFamily="2" charset="0"/>
                        </a:rPr>
                        <a:t>3.0</a:t>
                      </a:r>
                    </a:p>
                    <a:p>
                      <a:pPr algn="ctr"/>
                      <a:r>
                        <a:rPr lang="en-US" sz="2400" dirty="0">
                          <a:latin typeface="Quadraat" panose="02000503060000090004" pitchFamily="2" charset="0"/>
                        </a:rPr>
                        <a:t>1.2</a:t>
                      </a:r>
                    </a:p>
                    <a:p>
                      <a:pPr algn="ctr"/>
                      <a:r>
                        <a:rPr lang="en-US" sz="2400" dirty="0">
                          <a:latin typeface="Quadraat" panose="02000503060000090004" pitchFamily="2" charset="0"/>
                        </a:rPr>
                        <a:t>210,000</a:t>
                      </a:r>
                    </a:p>
                  </a:txBody>
                  <a:tcPr anchor="ctr"/>
                </a:tc>
                <a:tc>
                  <a:txBody>
                    <a:bodyPr/>
                    <a:lstStyle/>
                    <a:p>
                      <a:pPr algn="ctr"/>
                      <a:r>
                        <a:rPr lang="en-US" sz="2400" dirty="0">
                          <a:latin typeface="Quadraat" panose="02000503060000090004" pitchFamily="2" charset="0"/>
                        </a:rPr>
                        <a:t>3,000</a:t>
                      </a:r>
                    </a:p>
                    <a:p>
                      <a:pPr algn="ctr"/>
                      <a:r>
                        <a:rPr lang="en-US" sz="2400" dirty="0">
                          <a:latin typeface="Quadraat" panose="02000503060000090004" pitchFamily="2" charset="0"/>
                        </a:rPr>
                        <a:t>2,500</a:t>
                      </a:r>
                    </a:p>
                    <a:p>
                      <a:pPr algn="ctr"/>
                      <a:r>
                        <a:rPr lang="en-US" sz="2400" dirty="0">
                          <a:latin typeface="Quadraat" panose="02000503060000090004" pitchFamily="2" charset="0"/>
                        </a:rPr>
                        <a:t>3</a:t>
                      </a:r>
                    </a:p>
                    <a:p>
                      <a:pPr algn="ctr"/>
                      <a:r>
                        <a:rPr lang="en-US" sz="2400" dirty="0">
                          <a:latin typeface="Quadraat" panose="02000503060000090004" pitchFamily="2" charset="0"/>
                        </a:rPr>
                        <a:t>1,500</a:t>
                      </a:r>
                    </a:p>
                    <a:p>
                      <a:pPr algn="ctr"/>
                      <a:r>
                        <a:rPr lang="en-US" sz="2400" dirty="0">
                          <a:latin typeface="Quadraat" panose="02000503060000090004" pitchFamily="2" charset="0"/>
                        </a:rPr>
                        <a:t>1,000</a:t>
                      </a:r>
                    </a:p>
                    <a:p>
                      <a:pPr algn="ctr"/>
                      <a:r>
                        <a:rPr lang="en-US" sz="2400" dirty="0">
                          <a:latin typeface="Quadraat" panose="02000503060000090004" pitchFamily="2" charset="0"/>
                        </a:rPr>
                        <a:t>2.0</a:t>
                      </a:r>
                    </a:p>
                    <a:p>
                      <a:pPr algn="ctr"/>
                      <a:r>
                        <a:rPr lang="en-US" sz="2400" dirty="0">
                          <a:latin typeface="Quadraat" panose="02000503060000090004" pitchFamily="2" charset="0"/>
                        </a:rPr>
                        <a:t>1.0</a:t>
                      </a:r>
                    </a:p>
                    <a:p>
                      <a:pPr algn="ctr"/>
                      <a:r>
                        <a:rPr lang="en-US" sz="2400" dirty="0">
                          <a:latin typeface="Quadraat" panose="02000503060000090004" pitchFamily="2" charset="0"/>
                        </a:rPr>
                        <a:t>200,000</a:t>
                      </a:r>
                    </a:p>
                  </a:txBody>
                  <a:tcPr anchor="ctr"/>
                </a:tc>
                <a:extLst>
                  <a:ext uri="{0D108BD9-81ED-4DB2-BD59-A6C34878D82A}">
                    <a16:rowId xmlns:a16="http://schemas.microsoft.com/office/drawing/2014/main" val="343184802"/>
                  </a:ext>
                </a:extLst>
              </a:tr>
              <a:tr h="571475">
                <a:tc>
                  <a:txBody>
                    <a:bodyPr/>
                    <a:lstStyle/>
                    <a:p>
                      <a:pPr algn="ctr"/>
                      <a:r>
                        <a:rPr lang="en-US" sz="2400" b="1" dirty="0">
                          <a:latin typeface="Quadraat" panose="02000503060000090004" pitchFamily="2" charset="0"/>
                        </a:rPr>
                        <a:t>Diagnosis?</a:t>
                      </a:r>
                    </a:p>
                  </a:txBody>
                  <a:tcPr anchor="ctr"/>
                </a:tc>
                <a:tc>
                  <a:txBody>
                    <a:bodyPr/>
                    <a:lstStyle/>
                    <a:p>
                      <a:pPr algn="ctr"/>
                      <a:endParaRPr lang="en-US" sz="2400" b="1" dirty="0">
                        <a:latin typeface="Quadraat" panose="02000503060000090004" pitchFamily="2" charset="0"/>
                      </a:endParaRPr>
                    </a:p>
                  </a:txBody>
                  <a:tcPr anchor="ctr"/>
                </a:tc>
                <a:tc>
                  <a:txBody>
                    <a:bodyPr/>
                    <a:lstStyle/>
                    <a:p>
                      <a:pPr algn="ctr"/>
                      <a:endParaRPr lang="en-US" sz="2400" b="1" dirty="0">
                        <a:latin typeface="Quadraat" panose="02000503060000090004" pitchFamily="2" charset="0"/>
                      </a:endParaRPr>
                    </a:p>
                    <a:p>
                      <a:pPr algn="ctr"/>
                      <a:endParaRPr lang="en-US" sz="2400" b="1" dirty="0">
                        <a:latin typeface="Quadraat" panose="02000503060000090004" pitchFamily="2" charset="0"/>
                      </a:endParaRPr>
                    </a:p>
                  </a:txBody>
                  <a:tcPr anchor="ctr"/>
                </a:tc>
                <a:tc>
                  <a:txBody>
                    <a:bodyPr/>
                    <a:lstStyle/>
                    <a:p>
                      <a:pPr algn="ctr"/>
                      <a:endParaRPr lang="en-US" sz="2400" b="1" dirty="0">
                        <a:latin typeface="Quadraat" panose="02000503060000090004" pitchFamily="2" charset="0"/>
                      </a:endParaRPr>
                    </a:p>
                  </a:txBody>
                  <a:tcPr anchor="ctr"/>
                </a:tc>
                <a:tc>
                  <a:txBody>
                    <a:bodyPr/>
                    <a:lstStyle/>
                    <a:p>
                      <a:pPr algn="ctr"/>
                      <a:endParaRPr lang="en-US" sz="2400" b="1" dirty="0">
                        <a:latin typeface="Quadraat" panose="02000503060000090004" pitchFamily="2" charset="0"/>
                      </a:endParaRPr>
                    </a:p>
                  </a:txBody>
                  <a:tcPr anchor="ctr"/>
                </a:tc>
                <a:tc>
                  <a:txBody>
                    <a:bodyPr/>
                    <a:lstStyle/>
                    <a:p>
                      <a:pPr algn="ctr"/>
                      <a:endParaRPr lang="en-US" sz="2400" b="1" dirty="0">
                        <a:latin typeface="Quadraat" panose="02000503060000090004" pitchFamily="2" charset="0"/>
                      </a:endParaRPr>
                    </a:p>
                  </a:txBody>
                  <a:tcPr anchor="ctr"/>
                </a:tc>
                <a:extLst>
                  <a:ext uri="{0D108BD9-81ED-4DB2-BD59-A6C34878D82A}">
                    <a16:rowId xmlns:a16="http://schemas.microsoft.com/office/drawing/2014/main" val="717993567"/>
                  </a:ext>
                </a:extLst>
              </a:tr>
            </a:tbl>
          </a:graphicData>
        </a:graphic>
      </p:graphicFrame>
    </p:spTree>
    <p:extLst>
      <p:ext uri="{BB962C8B-B14F-4D97-AF65-F5344CB8AC3E}">
        <p14:creationId xmlns:p14="http://schemas.microsoft.com/office/powerpoint/2010/main" val="37445560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0CCC-41EB-9242-890A-50BD01AACFF8}"/>
              </a:ext>
            </a:extLst>
          </p:cNvPr>
          <p:cNvSpPr>
            <a:spLocks noGrp="1"/>
          </p:cNvSpPr>
          <p:nvPr>
            <p:ph type="title"/>
          </p:nvPr>
        </p:nvSpPr>
        <p:spPr/>
        <p:txBody>
          <a:bodyPr/>
          <a:lstStyle/>
          <a:p>
            <a:r>
              <a:rPr lang="en-US" dirty="0"/>
              <a:t>Who is the sickest patient?</a:t>
            </a:r>
          </a:p>
        </p:txBody>
      </p:sp>
      <p:graphicFrame>
        <p:nvGraphicFramePr>
          <p:cNvPr id="7" name="Content Placeholder 6">
            <a:extLst>
              <a:ext uri="{FF2B5EF4-FFF2-40B4-BE49-F238E27FC236}">
                <a16:creationId xmlns:a16="http://schemas.microsoft.com/office/drawing/2014/main" id="{C3DF3916-43A1-004D-8E27-C572124F50C0}"/>
              </a:ext>
            </a:extLst>
          </p:cNvPr>
          <p:cNvGraphicFramePr>
            <a:graphicFrameLocks noGrp="1"/>
          </p:cNvGraphicFramePr>
          <p:nvPr>
            <p:ph idx="1"/>
            <p:extLst>
              <p:ext uri="{D42A27DB-BD31-4B8C-83A1-F6EECF244321}">
                <p14:modId xmlns:p14="http://schemas.microsoft.com/office/powerpoint/2010/main" val="2230624140"/>
              </p:ext>
            </p:extLst>
          </p:nvPr>
        </p:nvGraphicFramePr>
        <p:xfrm>
          <a:off x="628650" y="1347123"/>
          <a:ext cx="10934700" cy="4917233"/>
        </p:xfrm>
        <a:graphic>
          <a:graphicData uri="http://schemas.openxmlformats.org/drawingml/2006/table">
            <a:tbl>
              <a:tblPr firstRow="1" bandRow="1">
                <a:tableStyleId>{5940675A-B579-460E-94D1-54222C63F5DA}</a:tableStyleId>
              </a:tblPr>
              <a:tblGrid>
                <a:gridCol w="1822450">
                  <a:extLst>
                    <a:ext uri="{9D8B030D-6E8A-4147-A177-3AD203B41FA5}">
                      <a16:colId xmlns:a16="http://schemas.microsoft.com/office/drawing/2014/main" val="1688610778"/>
                    </a:ext>
                  </a:extLst>
                </a:gridCol>
                <a:gridCol w="1822450">
                  <a:extLst>
                    <a:ext uri="{9D8B030D-6E8A-4147-A177-3AD203B41FA5}">
                      <a16:colId xmlns:a16="http://schemas.microsoft.com/office/drawing/2014/main" val="1971291627"/>
                    </a:ext>
                  </a:extLst>
                </a:gridCol>
                <a:gridCol w="1822450">
                  <a:extLst>
                    <a:ext uri="{9D8B030D-6E8A-4147-A177-3AD203B41FA5}">
                      <a16:colId xmlns:a16="http://schemas.microsoft.com/office/drawing/2014/main" val="2486403194"/>
                    </a:ext>
                  </a:extLst>
                </a:gridCol>
                <a:gridCol w="1822450">
                  <a:extLst>
                    <a:ext uri="{9D8B030D-6E8A-4147-A177-3AD203B41FA5}">
                      <a16:colId xmlns:a16="http://schemas.microsoft.com/office/drawing/2014/main" val="799969973"/>
                    </a:ext>
                  </a:extLst>
                </a:gridCol>
                <a:gridCol w="1822450">
                  <a:extLst>
                    <a:ext uri="{9D8B030D-6E8A-4147-A177-3AD203B41FA5}">
                      <a16:colId xmlns:a16="http://schemas.microsoft.com/office/drawing/2014/main" val="2419875687"/>
                    </a:ext>
                  </a:extLst>
                </a:gridCol>
                <a:gridCol w="1822450">
                  <a:extLst>
                    <a:ext uri="{9D8B030D-6E8A-4147-A177-3AD203B41FA5}">
                      <a16:colId xmlns:a16="http://schemas.microsoft.com/office/drawing/2014/main" val="3163950169"/>
                    </a:ext>
                  </a:extLst>
                </a:gridCol>
              </a:tblGrid>
              <a:tr h="571475">
                <a:tc>
                  <a:txBody>
                    <a:bodyPr/>
                    <a:lstStyle/>
                    <a:p>
                      <a:pPr algn="ctr"/>
                      <a:endParaRPr lang="en-US" sz="2400" b="1" dirty="0">
                        <a:latin typeface="Quadraat" panose="02000503060000090004"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1" dirty="0">
                          <a:latin typeface="Quadraat" panose="02000503060000090004" pitchFamily="2" charset="0"/>
                        </a:rPr>
                        <a:t>Patient 1</a:t>
                      </a:r>
                    </a:p>
                  </a:txBody>
                  <a:tcPr anchor="ctr">
                    <a:lnL w="12700" cap="flat" cmpd="sng" algn="ctr">
                      <a:solidFill>
                        <a:schemeClr val="tx1"/>
                      </a:solidFill>
                      <a:prstDash val="solid"/>
                      <a:round/>
                      <a:headEnd type="none" w="med" len="med"/>
                      <a:tailEnd type="none" w="med" len="med"/>
                    </a:lnL>
                  </a:tcPr>
                </a:tc>
                <a:tc>
                  <a:txBody>
                    <a:bodyPr/>
                    <a:lstStyle/>
                    <a:p>
                      <a:pPr algn="ctr"/>
                      <a:r>
                        <a:rPr lang="en-US" sz="2400" b="1" dirty="0">
                          <a:latin typeface="Quadraat" panose="02000503060000090004" pitchFamily="2" charset="0"/>
                        </a:rPr>
                        <a:t>Patient 2</a:t>
                      </a:r>
                    </a:p>
                  </a:txBody>
                  <a:tcPr anchor="ctr"/>
                </a:tc>
                <a:tc>
                  <a:txBody>
                    <a:bodyPr/>
                    <a:lstStyle/>
                    <a:p>
                      <a:pPr algn="ctr"/>
                      <a:r>
                        <a:rPr lang="en-US" sz="2400" b="1" dirty="0">
                          <a:latin typeface="Quadraat" panose="02000503060000090004" pitchFamily="2" charset="0"/>
                        </a:rPr>
                        <a:t>Patient 3</a:t>
                      </a:r>
                    </a:p>
                  </a:txBody>
                  <a:tcPr anchor="ctr">
                    <a:solidFill>
                      <a:srgbClr val="FFFF00"/>
                    </a:solidFill>
                  </a:tcPr>
                </a:tc>
                <a:tc>
                  <a:txBody>
                    <a:bodyPr/>
                    <a:lstStyle/>
                    <a:p>
                      <a:pPr algn="ctr"/>
                      <a:r>
                        <a:rPr lang="en-US" sz="2400" b="1" dirty="0">
                          <a:latin typeface="Quadraat" panose="02000503060000090004" pitchFamily="2" charset="0"/>
                        </a:rPr>
                        <a:t>Patient 4</a:t>
                      </a:r>
                    </a:p>
                  </a:txBody>
                  <a:tcPr anchor="ctr"/>
                </a:tc>
                <a:tc>
                  <a:txBody>
                    <a:bodyPr/>
                    <a:lstStyle/>
                    <a:p>
                      <a:pPr algn="ctr"/>
                      <a:r>
                        <a:rPr lang="en-US" sz="2400" b="1" dirty="0">
                          <a:latin typeface="Quadraat" panose="02000503060000090004" pitchFamily="2" charset="0"/>
                        </a:rPr>
                        <a:t>Patient 5</a:t>
                      </a:r>
                    </a:p>
                  </a:txBody>
                  <a:tcPr anchor="ctr"/>
                </a:tc>
                <a:extLst>
                  <a:ext uri="{0D108BD9-81ED-4DB2-BD59-A6C34878D82A}">
                    <a16:rowId xmlns:a16="http://schemas.microsoft.com/office/drawing/2014/main" val="2725954488"/>
                  </a:ext>
                </a:extLst>
              </a:tr>
              <a:tr h="3522798">
                <a:tc>
                  <a:txBody>
                    <a:bodyPr/>
                    <a:lstStyle/>
                    <a:p>
                      <a:pPr algn="ctr"/>
                      <a:r>
                        <a:rPr lang="en-US" sz="2400" b="1" dirty="0">
                          <a:latin typeface="Quadraat" panose="02000503060000090004" pitchFamily="2" charset="0"/>
                        </a:rPr>
                        <a:t>AST</a:t>
                      </a:r>
                    </a:p>
                    <a:p>
                      <a:pPr algn="ctr"/>
                      <a:r>
                        <a:rPr lang="en-US" sz="2400" b="1" dirty="0">
                          <a:latin typeface="Quadraat" panose="02000503060000090004" pitchFamily="2" charset="0"/>
                        </a:rPr>
                        <a:t>ALT</a:t>
                      </a:r>
                    </a:p>
                    <a:p>
                      <a:pPr algn="ctr"/>
                      <a:r>
                        <a:rPr lang="en-US" sz="2400" b="1" dirty="0">
                          <a:latin typeface="Quadraat" panose="02000503060000090004" pitchFamily="2" charset="0"/>
                        </a:rPr>
                        <a:t>T </a:t>
                      </a:r>
                      <a:r>
                        <a:rPr lang="en-US" sz="2400" b="1" dirty="0" err="1">
                          <a:latin typeface="Quadraat" panose="02000503060000090004" pitchFamily="2" charset="0"/>
                        </a:rPr>
                        <a:t>bili</a:t>
                      </a:r>
                      <a:endParaRPr lang="en-US" sz="2400" b="1" dirty="0">
                        <a:latin typeface="Quadraat" panose="02000503060000090004" pitchFamily="2" charset="0"/>
                      </a:endParaRPr>
                    </a:p>
                    <a:p>
                      <a:pPr algn="ctr"/>
                      <a:r>
                        <a:rPr lang="en-US" sz="2400" b="1" dirty="0">
                          <a:latin typeface="Quadraat" panose="02000503060000090004" pitchFamily="2" charset="0"/>
                        </a:rPr>
                        <a:t>ALP</a:t>
                      </a:r>
                    </a:p>
                    <a:p>
                      <a:pPr algn="ctr"/>
                      <a:r>
                        <a:rPr lang="en-US" sz="2400" b="1" dirty="0">
                          <a:latin typeface="Quadraat" panose="02000503060000090004" pitchFamily="2" charset="0"/>
                        </a:rPr>
                        <a:t>GGT</a:t>
                      </a:r>
                    </a:p>
                    <a:p>
                      <a:pPr algn="ctr"/>
                      <a:r>
                        <a:rPr lang="en-US" sz="2400" b="1" dirty="0">
                          <a:latin typeface="Quadraat" panose="02000503060000090004" pitchFamily="2" charset="0"/>
                        </a:rPr>
                        <a:t>Albumin</a:t>
                      </a:r>
                    </a:p>
                    <a:p>
                      <a:pPr algn="ctr"/>
                      <a:r>
                        <a:rPr lang="en-US" sz="2400" b="1" dirty="0">
                          <a:latin typeface="Quadraat" panose="02000503060000090004" pitchFamily="2" charset="0"/>
                        </a:rPr>
                        <a:t>INR</a:t>
                      </a:r>
                    </a:p>
                    <a:p>
                      <a:pPr algn="ctr"/>
                      <a:r>
                        <a:rPr lang="en-US" sz="2400" b="1" dirty="0">
                          <a:latin typeface="Quadraat" panose="02000503060000090004" pitchFamily="2" charset="0"/>
                        </a:rPr>
                        <a:t>Platelets</a:t>
                      </a:r>
                    </a:p>
                  </a:txBody>
                  <a:tcPr anchor="ctr">
                    <a:lnT w="12700" cap="flat" cmpd="sng" algn="ctr">
                      <a:solidFill>
                        <a:schemeClr val="tx1"/>
                      </a:solidFill>
                      <a:prstDash val="solid"/>
                      <a:round/>
                      <a:headEnd type="none" w="med" len="med"/>
                      <a:tailEnd type="none" w="med" len="med"/>
                    </a:lnT>
                  </a:tcPr>
                </a:tc>
                <a:tc>
                  <a:txBody>
                    <a:bodyPr/>
                    <a:lstStyle/>
                    <a:p>
                      <a:pPr algn="ctr"/>
                      <a:r>
                        <a:rPr lang="en-US" sz="2400" dirty="0">
                          <a:latin typeface="Quadraat" panose="02000503060000090004" pitchFamily="2" charset="0"/>
                        </a:rPr>
                        <a:t>300</a:t>
                      </a:r>
                    </a:p>
                    <a:p>
                      <a:pPr algn="ctr"/>
                      <a:r>
                        <a:rPr lang="en-US" sz="2400" dirty="0">
                          <a:latin typeface="Quadraat" panose="02000503060000090004" pitchFamily="2" charset="0"/>
                        </a:rPr>
                        <a:t>130</a:t>
                      </a:r>
                    </a:p>
                    <a:p>
                      <a:pPr algn="ctr"/>
                      <a:r>
                        <a:rPr lang="en-US" sz="2400" dirty="0">
                          <a:latin typeface="Quadraat" panose="02000503060000090004" pitchFamily="2" charset="0"/>
                        </a:rPr>
                        <a:t>4</a:t>
                      </a:r>
                    </a:p>
                    <a:p>
                      <a:pPr algn="ctr"/>
                      <a:r>
                        <a:rPr lang="en-US" sz="2400" dirty="0">
                          <a:latin typeface="Quadraat" panose="02000503060000090004" pitchFamily="2" charset="0"/>
                        </a:rPr>
                        <a:t>100</a:t>
                      </a:r>
                    </a:p>
                    <a:p>
                      <a:pPr algn="ctr"/>
                      <a:r>
                        <a:rPr lang="en-US" sz="2400" dirty="0">
                          <a:latin typeface="Quadraat" panose="02000503060000090004" pitchFamily="2" charset="0"/>
                        </a:rPr>
                        <a:t>90</a:t>
                      </a:r>
                    </a:p>
                    <a:p>
                      <a:pPr algn="ctr"/>
                      <a:r>
                        <a:rPr lang="en-US" sz="2400" dirty="0">
                          <a:latin typeface="Quadraat" panose="02000503060000090004" pitchFamily="2" charset="0"/>
                        </a:rPr>
                        <a:t>3.5</a:t>
                      </a:r>
                    </a:p>
                    <a:p>
                      <a:pPr algn="ctr"/>
                      <a:r>
                        <a:rPr lang="en-US" sz="2400" dirty="0">
                          <a:latin typeface="Quadraat" panose="02000503060000090004" pitchFamily="2" charset="0"/>
                        </a:rPr>
                        <a:t>1.3</a:t>
                      </a:r>
                    </a:p>
                    <a:p>
                      <a:pPr algn="ctr"/>
                      <a:r>
                        <a:rPr lang="en-US" sz="2400" dirty="0">
                          <a:latin typeface="Quadraat" panose="02000503060000090004" pitchFamily="2" charset="0"/>
                        </a:rPr>
                        <a:t>200,000</a:t>
                      </a:r>
                    </a:p>
                  </a:txBody>
                  <a:tcPr anchor="ctr"/>
                </a:tc>
                <a:tc>
                  <a:txBody>
                    <a:bodyPr/>
                    <a:lstStyle/>
                    <a:p>
                      <a:pPr algn="ctr"/>
                      <a:r>
                        <a:rPr lang="en-US" sz="2400" dirty="0">
                          <a:latin typeface="Quadraat" panose="02000503060000090004" pitchFamily="2" charset="0"/>
                        </a:rPr>
                        <a:t>10,000</a:t>
                      </a:r>
                    </a:p>
                    <a:p>
                      <a:pPr algn="ctr"/>
                      <a:r>
                        <a:rPr lang="en-US" sz="2400" dirty="0">
                          <a:latin typeface="Quadraat" panose="02000503060000090004" pitchFamily="2" charset="0"/>
                        </a:rPr>
                        <a:t>100</a:t>
                      </a:r>
                    </a:p>
                    <a:p>
                      <a:pPr algn="ctr"/>
                      <a:r>
                        <a:rPr lang="en-US" sz="2400" dirty="0">
                          <a:latin typeface="Quadraat" panose="02000503060000090004" pitchFamily="2" charset="0"/>
                        </a:rPr>
                        <a:t>0.3</a:t>
                      </a:r>
                    </a:p>
                    <a:p>
                      <a:pPr algn="ctr"/>
                      <a:r>
                        <a:rPr lang="en-US" sz="2400" dirty="0">
                          <a:latin typeface="Quadraat" panose="02000503060000090004" pitchFamily="2" charset="0"/>
                        </a:rPr>
                        <a:t>50</a:t>
                      </a:r>
                    </a:p>
                    <a:p>
                      <a:pPr algn="ctr"/>
                      <a:r>
                        <a:rPr lang="en-US" sz="2400" dirty="0">
                          <a:latin typeface="Quadraat" panose="02000503060000090004" pitchFamily="2" charset="0"/>
                        </a:rPr>
                        <a:t>40</a:t>
                      </a:r>
                    </a:p>
                    <a:p>
                      <a:pPr algn="ctr"/>
                      <a:r>
                        <a:rPr lang="en-US" sz="2400" dirty="0">
                          <a:latin typeface="Quadraat" panose="02000503060000090004" pitchFamily="2" charset="0"/>
                        </a:rPr>
                        <a:t>2.4</a:t>
                      </a:r>
                    </a:p>
                    <a:p>
                      <a:pPr algn="ctr"/>
                      <a:r>
                        <a:rPr lang="en-US" sz="2400" dirty="0">
                          <a:latin typeface="Quadraat" panose="02000503060000090004" pitchFamily="2" charset="0"/>
                        </a:rPr>
                        <a:t>2.1</a:t>
                      </a:r>
                    </a:p>
                    <a:p>
                      <a:pPr algn="ctr"/>
                      <a:r>
                        <a:rPr lang="en-US" sz="2400" dirty="0">
                          <a:latin typeface="Quadraat" panose="02000503060000090004" pitchFamily="2" charset="0"/>
                        </a:rPr>
                        <a:t>150,000</a:t>
                      </a:r>
                    </a:p>
                  </a:txBody>
                  <a:tcPr anchor="ctr"/>
                </a:tc>
                <a:tc>
                  <a:txBody>
                    <a:bodyPr/>
                    <a:lstStyle/>
                    <a:p>
                      <a:pPr algn="ctr"/>
                      <a:r>
                        <a:rPr lang="en-US" sz="2400" dirty="0">
                          <a:latin typeface="Quadraat" panose="02000503060000090004" pitchFamily="2" charset="0"/>
                        </a:rPr>
                        <a:t>30</a:t>
                      </a:r>
                    </a:p>
                    <a:p>
                      <a:pPr algn="ctr"/>
                      <a:r>
                        <a:rPr lang="en-US" sz="2400" dirty="0">
                          <a:latin typeface="Quadraat" panose="02000503060000090004" pitchFamily="2" charset="0"/>
                        </a:rPr>
                        <a:t>20</a:t>
                      </a:r>
                    </a:p>
                    <a:p>
                      <a:pPr algn="ctr"/>
                      <a:r>
                        <a:rPr lang="en-US" sz="2400" b="0" dirty="0">
                          <a:solidFill>
                            <a:schemeClr val="tx1"/>
                          </a:solidFill>
                          <a:latin typeface="Quadraat" panose="02000503060000090004" pitchFamily="2" charset="0"/>
                        </a:rPr>
                        <a:t>4</a:t>
                      </a:r>
                    </a:p>
                    <a:p>
                      <a:pPr algn="ctr"/>
                      <a:r>
                        <a:rPr lang="en-US" sz="2400" dirty="0">
                          <a:latin typeface="Quadraat" panose="02000503060000090004" pitchFamily="2" charset="0"/>
                        </a:rPr>
                        <a:t>40</a:t>
                      </a:r>
                    </a:p>
                    <a:p>
                      <a:pPr algn="ctr"/>
                      <a:r>
                        <a:rPr lang="en-US" sz="2400" dirty="0">
                          <a:latin typeface="Quadraat" panose="02000503060000090004" pitchFamily="2" charset="0"/>
                        </a:rPr>
                        <a:t>30</a:t>
                      </a:r>
                    </a:p>
                    <a:p>
                      <a:pPr algn="ctr"/>
                      <a:r>
                        <a:rPr lang="en-US" sz="2400" dirty="0">
                          <a:latin typeface="Quadraat" panose="02000503060000090004" pitchFamily="2" charset="0"/>
                        </a:rPr>
                        <a:t>5.1</a:t>
                      </a:r>
                    </a:p>
                    <a:p>
                      <a:pPr algn="ctr"/>
                      <a:r>
                        <a:rPr lang="en-US" sz="2400" dirty="0">
                          <a:latin typeface="Quadraat" panose="02000503060000090004" pitchFamily="2" charset="0"/>
                        </a:rPr>
                        <a:t>3.0</a:t>
                      </a:r>
                    </a:p>
                    <a:p>
                      <a:pPr algn="ctr"/>
                      <a:r>
                        <a:rPr lang="en-US" sz="2400" dirty="0">
                          <a:latin typeface="Quadraat" panose="02000503060000090004" pitchFamily="2" charset="0"/>
                        </a:rPr>
                        <a:t>350,000</a:t>
                      </a:r>
                    </a:p>
                  </a:txBody>
                  <a:tcPr anchor="ctr">
                    <a:solidFill>
                      <a:srgbClr val="FFFF00"/>
                    </a:solidFill>
                  </a:tcPr>
                </a:tc>
                <a:tc>
                  <a:txBody>
                    <a:bodyPr/>
                    <a:lstStyle/>
                    <a:p>
                      <a:pPr algn="ctr"/>
                      <a:r>
                        <a:rPr lang="en-US" sz="2400" dirty="0">
                          <a:latin typeface="Quadraat" panose="02000503060000090004" pitchFamily="2" charset="0"/>
                        </a:rPr>
                        <a:t>10,000</a:t>
                      </a:r>
                    </a:p>
                    <a:p>
                      <a:pPr algn="ctr"/>
                      <a:r>
                        <a:rPr lang="en-US" sz="2400" dirty="0">
                          <a:latin typeface="Quadraat" panose="02000503060000090004" pitchFamily="2" charset="0"/>
                        </a:rPr>
                        <a:t>12,000</a:t>
                      </a:r>
                    </a:p>
                    <a:p>
                      <a:pPr algn="ctr"/>
                      <a:r>
                        <a:rPr lang="en-US" sz="2400" dirty="0">
                          <a:latin typeface="Quadraat" panose="02000503060000090004" pitchFamily="2" charset="0"/>
                        </a:rPr>
                        <a:t>1.0</a:t>
                      </a:r>
                    </a:p>
                    <a:p>
                      <a:pPr algn="ctr"/>
                      <a:r>
                        <a:rPr lang="en-US" sz="2400" dirty="0">
                          <a:latin typeface="Quadraat" panose="02000503060000090004" pitchFamily="2" charset="0"/>
                        </a:rPr>
                        <a:t>200</a:t>
                      </a:r>
                    </a:p>
                    <a:p>
                      <a:pPr algn="ctr"/>
                      <a:r>
                        <a:rPr lang="en-US" sz="2400" dirty="0">
                          <a:latin typeface="Quadraat" panose="02000503060000090004" pitchFamily="2" charset="0"/>
                        </a:rPr>
                        <a:t>150</a:t>
                      </a:r>
                    </a:p>
                    <a:p>
                      <a:pPr algn="ctr"/>
                      <a:r>
                        <a:rPr lang="en-US" sz="2400" dirty="0">
                          <a:latin typeface="Quadraat" panose="02000503060000090004" pitchFamily="2" charset="0"/>
                        </a:rPr>
                        <a:t>3.0</a:t>
                      </a:r>
                    </a:p>
                    <a:p>
                      <a:pPr algn="ctr"/>
                      <a:r>
                        <a:rPr lang="en-US" sz="2400" dirty="0">
                          <a:latin typeface="Quadraat" panose="02000503060000090004" pitchFamily="2" charset="0"/>
                        </a:rPr>
                        <a:t>1.2</a:t>
                      </a:r>
                    </a:p>
                    <a:p>
                      <a:pPr algn="ctr"/>
                      <a:r>
                        <a:rPr lang="en-US" sz="2400" dirty="0">
                          <a:latin typeface="Quadraat" panose="02000503060000090004" pitchFamily="2" charset="0"/>
                        </a:rPr>
                        <a:t>210,000</a:t>
                      </a:r>
                    </a:p>
                  </a:txBody>
                  <a:tcPr anchor="ctr"/>
                </a:tc>
                <a:tc>
                  <a:txBody>
                    <a:bodyPr/>
                    <a:lstStyle/>
                    <a:p>
                      <a:pPr algn="ctr"/>
                      <a:r>
                        <a:rPr lang="en-US" sz="2400" dirty="0">
                          <a:latin typeface="Quadraat" panose="02000503060000090004" pitchFamily="2" charset="0"/>
                        </a:rPr>
                        <a:t>3,000</a:t>
                      </a:r>
                    </a:p>
                    <a:p>
                      <a:pPr algn="ctr"/>
                      <a:r>
                        <a:rPr lang="en-US" sz="2400" dirty="0">
                          <a:latin typeface="Quadraat" panose="02000503060000090004" pitchFamily="2" charset="0"/>
                        </a:rPr>
                        <a:t>2,500</a:t>
                      </a:r>
                    </a:p>
                    <a:p>
                      <a:pPr algn="ctr"/>
                      <a:r>
                        <a:rPr lang="en-US" sz="2400" dirty="0">
                          <a:latin typeface="Quadraat" panose="02000503060000090004" pitchFamily="2" charset="0"/>
                        </a:rPr>
                        <a:t>3</a:t>
                      </a:r>
                    </a:p>
                    <a:p>
                      <a:pPr algn="ctr"/>
                      <a:r>
                        <a:rPr lang="en-US" sz="2400" dirty="0">
                          <a:latin typeface="Quadraat" panose="02000503060000090004" pitchFamily="2" charset="0"/>
                        </a:rPr>
                        <a:t>1,500</a:t>
                      </a:r>
                    </a:p>
                    <a:p>
                      <a:pPr algn="ctr"/>
                      <a:r>
                        <a:rPr lang="en-US" sz="2400" dirty="0">
                          <a:latin typeface="Quadraat" panose="02000503060000090004" pitchFamily="2" charset="0"/>
                        </a:rPr>
                        <a:t>1,000</a:t>
                      </a:r>
                    </a:p>
                    <a:p>
                      <a:pPr algn="ctr"/>
                      <a:r>
                        <a:rPr lang="en-US" sz="2400" dirty="0">
                          <a:latin typeface="Quadraat" panose="02000503060000090004" pitchFamily="2" charset="0"/>
                        </a:rPr>
                        <a:t>2.0</a:t>
                      </a:r>
                    </a:p>
                    <a:p>
                      <a:pPr algn="ctr"/>
                      <a:r>
                        <a:rPr lang="en-US" sz="2400" dirty="0">
                          <a:latin typeface="Quadraat" panose="02000503060000090004" pitchFamily="2" charset="0"/>
                        </a:rPr>
                        <a:t>1.0</a:t>
                      </a:r>
                    </a:p>
                    <a:p>
                      <a:pPr algn="ctr"/>
                      <a:r>
                        <a:rPr lang="en-US" sz="2400" dirty="0">
                          <a:latin typeface="Quadraat" panose="02000503060000090004" pitchFamily="2" charset="0"/>
                        </a:rPr>
                        <a:t>200,000</a:t>
                      </a:r>
                    </a:p>
                  </a:txBody>
                  <a:tcPr anchor="ctr"/>
                </a:tc>
                <a:extLst>
                  <a:ext uri="{0D108BD9-81ED-4DB2-BD59-A6C34878D82A}">
                    <a16:rowId xmlns:a16="http://schemas.microsoft.com/office/drawing/2014/main" val="343184802"/>
                  </a:ext>
                </a:extLst>
              </a:tr>
              <a:tr h="571475">
                <a:tc>
                  <a:txBody>
                    <a:bodyPr/>
                    <a:lstStyle/>
                    <a:p>
                      <a:pPr algn="ctr"/>
                      <a:r>
                        <a:rPr lang="en-US" sz="2400" b="1" dirty="0">
                          <a:latin typeface="Quadraat" panose="02000503060000090004" pitchFamily="2" charset="0"/>
                        </a:rPr>
                        <a:t>Diagnosis?</a:t>
                      </a:r>
                    </a:p>
                  </a:txBody>
                  <a:tcPr anchor="ctr"/>
                </a:tc>
                <a:tc>
                  <a:txBody>
                    <a:bodyPr/>
                    <a:lstStyle/>
                    <a:p>
                      <a:pPr algn="ctr"/>
                      <a:r>
                        <a:rPr lang="en-US" sz="2400" b="1" dirty="0">
                          <a:latin typeface="Quadraat" panose="02000503060000090004" pitchFamily="2" charset="0"/>
                        </a:rPr>
                        <a:t>Alcoholic hepatitis</a:t>
                      </a:r>
                    </a:p>
                  </a:txBody>
                  <a:tcPr anchor="ctr"/>
                </a:tc>
                <a:tc>
                  <a:txBody>
                    <a:bodyPr/>
                    <a:lstStyle/>
                    <a:p>
                      <a:pPr algn="ctr"/>
                      <a:r>
                        <a:rPr lang="en-US" sz="2400" b="1" dirty="0">
                          <a:latin typeface="Quadraat" panose="02000503060000090004" pitchFamily="2" charset="0"/>
                        </a:rPr>
                        <a:t>Rhabdo-</a:t>
                      </a:r>
                      <a:r>
                        <a:rPr lang="en-US" sz="2400" b="1" dirty="0" err="1">
                          <a:latin typeface="Quadraat" panose="02000503060000090004" pitchFamily="2" charset="0"/>
                        </a:rPr>
                        <a:t>myolysis</a:t>
                      </a:r>
                      <a:endParaRPr lang="en-US" sz="2400" b="1" dirty="0">
                        <a:latin typeface="Quadraat" panose="02000503060000090004" pitchFamily="2" charset="0"/>
                      </a:endParaRPr>
                    </a:p>
                  </a:txBody>
                  <a:tcPr anchor="ctr"/>
                </a:tc>
                <a:tc>
                  <a:txBody>
                    <a:bodyPr/>
                    <a:lstStyle/>
                    <a:p>
                      <a:pPr algn="ctr"/>
                      <a:r>
                        <a:rPr lang="en-US" sz="2400" b="1" dirty="0">
                          <a:latin typeface="Quadraat" panose="02000503060000090004" pitchFamily="2" charset="0"/>
                        </a:rPr>
                        <a:t>Acute liver failure</a:t>
                      </a:r>
                    </a:p>
                  </a:txBody>
                  <a:tcPr anchor="ctr">
                    <a:solidFill>
                      <a:srgbClr val="FFFF00"/>
                    </a:solidFill>
                  </a:tcPr>
                </a:tc>
                <a:tc>
                  <a:txBody>
                    <a:bodyPr/>
                    <a:lstStyle/>
                    <a:p>
                      <a:pPr algn="ctr"/>
                      <a:r>
                        <a:rPr lang="en-US" sz="2400" b="1" dirty="0" err="1">
                          <a:latin typeface="Quadraat" panose="02000503060000090004" pitchFamily="2" charset="0"/>
                        </a:rPr>
                        <a:t>Acetamino-phen</a:t>
                      </a:r>
                      <a:r>
                        <a:rPr lang="en-US" sz="2400" b="1" dirty="0">
                          <a:latin typeface="Quadraat" panose="02000503060000090004" pitchFamily="2" charset="0"/>
                        </a:rPr>
                        <a:t> toxicity</a:t>
                      </a:r>
                    </a:p>
                  </a:txBody>
                  <a:tcPr anchor="ctr"/>
                </a:tc>
                <a:tc>
                  <a:txBody>
                    <a:bodyPr/>
                    <a:lstStyle/>
                    <a:p>
                      <a:pPr algn="ctr"/>
                      <a:r>
                        <a:rPr lang="en-US" sz="2400" b="1" dirty="0">
                          <a:latin typeface="Quadraat" panose="02000503060000090004" pitchFamily="2" charset="0"/>
                        </a:rPr>
                        <a:t>Viral hepatitis</a:t>
                      </a:r>
                    </a:p>
                  </a:txBody>
                  <a:tcPr anchor="ctr"/>
                </a:tc>
                <a:extLst>
                  <a:ext uri="{0D108BD9-81ED-4DB2-BD59-A6C34878D82A}">
                    <a16:rowId xmlns:a16="http://schemas.microsoft.com/office/drawing/2014/main" val="717993567"/>
                  </a:ext>
                </a:extLst>
              </a:tr>
            </a:tbl>
          </a:graphicData>
        </a:graphic>
      </p:graphicFrame>
    </p:spTree>
    <p:extLst>
      <p:ext uri="{BB962C8B-B14F-4D97-AF65-F5344CB8AC3E}">
        <p14:creationId xmlns:p14="http://schemas.microsoft.com/office/powerpoint/2010/main" val="12410513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45D0-057C-FC49-8A42-3B8D547132A8}"/>
              </a:ext>
            </a:extLst>
          </p:cNvPr>
          <p:cNvSpPr>
            <a:spLocks noGrp="1"/>
          </p:cNvSpPr>
          <p:nvPr>
            <p:ph type="title"/>
          </p:nvPr>
        </p:nvSpPr>
        <p:spPr/>
        <p:txBody>
          <a:bodyPr>
            <a:normAutofit fontScale="90000"/>
          </a:bodyPr>
          <a:lstStyle/>
          <a:p>
            <a:r>
              <a:rPr lang="en-US" dirty="0"/>
              <a:t>“The degree of elevation of the aminotransferases </a:t>
            </a:r>
            <a:r>
              <a:rPr lang="en-US" b="1" dirty="0"/>
              <a:t>does not</a:t>
            </a:r>
            <a:r>
              <a:rPr lang="en-US" dirty="0"/>
              <a:t> correlate with the extent of liver injury”</a:t>
            </a:r>
          </a:p>
        </p:txBody>
      </p:sp>
    </p:spTree>
    <p:extLst>
      <p:ext uri="{BB962C8B-B14F-4D97-AF65-F5344CB8AC3E}">
        <p14:creationId xmlns:p14="http://schemas.microsoft.com/office/powerpoint/2010/main" val="32948185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DED43DC-45C4-DB4C-974A-C303EA2D55BE}"/>
              </a:ext>
            </a:extLst>
          </p:cNvPr>
          <p:cNvSpPr>
            <a:spLocks noGrp="1"/>
          </p:cNvSpPr>
          <p:nvPr>
            <p:ph type="body" idx="1"/>
          </p:nvPr>
        </p:nvSpPr>
        <p:spPr/>
        <p:txBody>
          <a:bodyPr/>
          <a:lstStyle/>
          <a:p>
            <a:endParaRPr lang="en-US"/>
          </a:p>
        </p:txBody>
      </p:sp>
      <p:sp>
        <p:nvSpPr>
          <p:cNvPr id="6" name="Title 5">
            <a:extLst>
              <a:ext uri="{FF2B5EF4-FFF2-40B4-BE49-F238E27FC236}">
                <a16:creationId xmlns:a16="http://schemas.microsoft.com/office/drawing/2014/main" id="{1FEDD4D1-33C5-1144-8407-6B0EBA735EA0}"/>
              </a:ext>
            </a:extLst>
          </p:cNvPr>
          <p:cNvSpPr>
            <a:spLocks noGrp="1"/>
          </p:cNvSpPr>
          <p:nvPr>
            <p:ph type="title"/>
          </p:nvPr>
        </p:nvSpPr>
        <p:spPr/>
        <p:txBody>
          <a:bodyPr/>
          <a:lstStyle/>
          <a:p>
            <a:r>
              <a:rPr lang="en-US" dirty="0"/>
              <a:t>Approach to Asymptomatic Elevation of Liver Enzymes</a:t>
            </a:r>
          </a:p>
        </p:txBody>
      </p:sp>
    </p:spTree>
    <p:extLst>
      <p:ext uri="{BB962C8B-B14F-4D97-AF65-F5344CB8AC3E}">
        <p14:creationId xmlns:p14="http://schemas.microsoft.com/office/powerpoint/2010/main" val="11977458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7B66-8640-F34A-B74F-CDAD188E8819}"/>
              </a:ext>
            </a:extLst>
          </p:cNvPr>
          <p:cNvSpPr>
            <a:spLocks noGrp="1"/>
          </p:cNvSpPr>
          <p:nvPr>
            <p:ph type="title"/>
          </p:nvPr>
        </p:nvSpPr>
        <p:spPr/>
        <p:txBody>
          <a:bodyPr>
            <a:noAutofit/>
          </a:bodyPr>
          <a:lstStyle/>
          <a:p>
            <a:r>
              <a:rPr lang="en-US" sz="3600" dirty="0"/>
              <a:t>Approach to Asymptomatic Elevation of Liver Enzymes</a:t>
            </a:r>
          </a:p>
        </p:txBody>
      </p:sp>
      <p:pic>
        <p:nvPicPr>
          <p:cNvPr id="4" name="Picture 3">
            <a:extLst>
              <a:ext uri="{FF2B5EF4-FFF2-40B4-BE49-F238E27FC236}">
                <a16:creationId xmlns:a16="http://schemas.microsoft.com/office/drawing/2014/main" id="{D14D121E-4DDD-C045-83ED-E6CAD373F4B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08861" y="1024222"/>
            <a:ext cx="8601171" cy="5833777"/>
          </a:xfrm>
          <a:prstGeom prst="rect">
            <a:avLst/>
          </a:prstGeom>
        </p:spPr>
      </p:pic>
    </p:spTree>
    <p:extLst>
      <p:ext uri="{BB962C8B-B14F-4D97-AF65-F5344CB8AC3E}">
        <p14:creationId xmlns:p14="http://schemas.microsoft.com/office/powerpoint/2010/main" val="18228794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Hy’s Law</a:t>
            </a:r>
          </a:p>
        </p:txBody>
      </p:sp>
      <p:sp>
        <p:nvSpPr>
          <p:cNvPr id="3" name="Text Placeholder 2">
            <a:extLst>
              <a:ext uri="{FF2B5EF4-FFF2-40B4-BE49-F238E27FC236}">
                <a16:creationId xmlns:a16="http://schemas.microsoft.com/office/drawing/2014/main" id="{C27111C8-D909-9748-996D-FC0C3BFC5C2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489616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Hy’s Law</a:t>
            </a:r>
          </a:p>
        </p:txBody>
      </p:sp>
      <p:sp>
        <p:nvSpPr>
          <p:cNvPr id="3" name="Text Placeholder 2">
            <a:extLst>
              <a:ext uri="{FF2B5EF4-FFF2-40B4-BE49-F238E27FC236}">
                <a16:creationId xmlns:a16="http://schemas.microsoft.com/office/drawing/2014/main" id="{C27111C8-D909-9748-996D-FC0C3BFC5C24}"/>
              </a:ext>
            </a:extLst>
          </p:cNvPr>
          <p:cNvSpPr>
            <a:spLocks noGrp="1"/>
          </p:cNvSpPr>
          <p:nvPr>
            <p:ph type="body" idx="1"/>
          </p:nvPr>
        </p:nvSpPr>
        <p:spPr/>
        <p:txBody>
          <a:bodyPr>
            <a:normAutofit/>
          </a:bodyPr>
          <a:lstStyle/>
          <a:p>
            <a:pPr algn="ctr"/>
            <a:r>
              <a:rPr lang="en-US" sz="4000" dirty="0"/>
              <a:t>Specifically for drug-induced liver injury (DILI)</a:t>
            </a:r>
          </a:p>
        </p:txBody>
      </p:sp>
    </p:spTree>
    <p:extLst>
      <p:ext uri="{BB962C8B-B14F-4D97-AF65-F5344CB8AC3E}">
        <p14:creationId xmlns:p14="http://schemas.microsoft.com/office/powerpoint/2010/main" val="28052985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Hy’s Law</a:t>
            </a:r>
          </a:p>
        </p:txBody>
      </p:sp>
      <p:pic>
        <p:nvPicPr>
          <p:cNvPr id="18" name="Picture 17">
            <a:extLst>
              <a:ext uri="{FF2B5EF4-FFF2-40B4-BE49-F238E27FC236}">
                <a16:creationId xmlns:a16="http://schemas.microsoft.com/office/drawing/2014/main" id="{8D67B538-84CE-0C41-86EF-FF6A89859F0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3044281"/>
            <a:ext cx="12179233" cy="2222592"/>
          </a:xfrm>
          <a:prstGeom prst="rect">
            <a:avLst/>
          </a:prstGeom>
        </p:spPr>
      </p:pic>
      <p:pic>
        <p:nvPicPr>
          <p:cNvPr id="19" name="Picture 18">
            <a:extLst>
              <a:ext uri="{FF2B5EF4-FFF2-40B4-BE49-F238E27FC236}">
                <a16:creationId xmlns:a16="http://schemas.microsoft.com/office/drawing/2014/main" id="{B5980CF5-31B6-5944-BB03-2B5DF71569E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968500" y="1019503"/>
            <a:ext cx="8255000" cy="825626"/>
          </a:xfrm>
          <a:prstGeom prst="rect">
            <a:avLst/>
          </a:prstGeom>
        </p:spPr>
      </p:pic>
      <p:grpSp>
        <p:nvGrpSpPr>
          <p:cNvPr id="22" name="Group 21">
            <a:extLst>
              <a:ext uri="{FF2B5EF4-FFF2-40B4-BE49-F238E27FC236}">
                <a16:creationId xmlns:a16="http://schemas.microsoft.com/office/drawing/2014/main" id="{6EB27AF5-2187-B74E-95BF-4C5C89CF4AEC}"/>
              </a:ext>
            </a:extLst>
          </p:cNvPr>
          <p:cNvGrpSpPr/>
          <p:nvPr/>
        </p:nvGrpSpPr>
        <p:grpSpPr>
          <a:xfrm>
            <a:off x="734341" y="6466025"/>
            <a:ext cx="11457659" cy="391974"/>
            <a:chOff x="56271" y="6077565"/>
            <a:chExt cx="11457659" cy="391974"/>
          </a:xfrm>
        </p:grpSpPr>
        <p:pic>
          <p:nvPicPr>
            <p:cNvPr id="21" name="Picture 20">
              <a:extLst>
                <a:ext uri="{FF2B5EF4-FFF2-40B4-BE49-F238E27FC236}">
                  <a16:creationId xmlns:a16="http://schemas.microsoft.com/office/drawing/2014/main" id="{0E89AB94-0707-EA4E-AF14-DF93B6EDFB36}"/>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933069" y="6077565"/>
              <a:ext cx="2580861" cy="391974"/>
            </a:xfrm>
            <a:prstGeom prst="rect">
              <a:avLst/>
            </a:prstGeom>
          </p:spPr>
        </p:pic>
        <p:pic>
          <p:nvPicPr>
            <p:cNvPr id="20" name="Picture 19">
              <a:extLst>
                <a:ext uri="{FF2B5EF4-FFF2-40B4-BE49-F238E27FC236}">
                  <a16:creationId xmlns:a16="http://schemas.microsoft.com/office/drawing/2014/main" id="{1E7719A6-C535-B749-A239-693C2BED24B8}"/>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56271" y="6077565"/>
              <a:ext cx="8991600" cy="391974"/>
            </a:xfrm>
            <a:prstGeom prst="rect">
              <a:avLst/>
            </a:prstGeom>
          </p:spPr>
        </p:pic>
      </p:grpSp>
      <p:pic>
        <p:nvPicPr>
          <p:cNvPr id="23" name="Picture 22">
            <a:extLst>
              <a:ext uri="{FF2B5EF4-FFF2-40B4-BE49-F238E27FC236}">
                <a16:creationId xmlns:a16="http://schemas.microsoft.com/office/drawing/2014/main" id="{ED8CB1A8-6AF1-F642-A036-BBEC2A0EBBB0}"/>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3410857" y="1980822"/>
            <a:ext cx="8255000" cy="634874"/>
          </a:xfrm>
          <a:prstGeom prst="rect">
            <a:avLst/>
          </a:prstGeom>
        </p:spPr>
      </p:pic>
    </p:spTree>
    <p:extLst>
      <p:ext uri="{BB962C8B-B14F-4D97-AF65-F5344CB8AC3E}">
        <p14:creationId xmlns:p14="http://schemas.microsoft.com/office/powerpoint/2010/main" val="9842696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Hy’s Law</a:t>
            </a:r>
          </a:p>
        </p:txBody>
      </p:sp>
      <p:sp>
        <p:nvSpPr>
          <p:cNvPr id="3" name="Content Placeholder 2">
            <a:extLst>
              <a:ext uri="{FF2B5EF4-FFF2-40B4-BE49-F238E27FC236}">
                <a16:creationId xmlns:a16="http://schemas.microsoft.com/office/drawing/2014/main" id="{3EE7B35E-8519-5240-9AF3-991B327486CB}"/>
              </a:ext>
            </a:extLst>
          </p:cNvPr>
          <p:cNvSpPr>
            <a:spLocks noGrp="1"/>
          </p:cNvSpPr>
          <p:nvPr>
            <p:ph idx="1"/>
          </p:nvPr>
        </p:nvSpPr>
        <p:spPr/>
        <p:txBody>
          <a:bodyPr anchor="ctr"/>
          <a:lstStyle/>
          <a:p>
            <a:pPr marL="514350" indent="-514350">
              <a:buFont typeface="+mj-lt"/>
              <a:buAutoNum type="arabicPeriod"/>
            </a:pPr>
            <a:r>
              <a:rPr lang="en-US" dirty="0"/>
              <a:t>The drug causes hepatocellular injury, generally shown by a higher incidence of 3-fold or greater elevations above the ULN of ALT or AST than the (</a:t>
            </a:r>
            <a:r>
              <a:rPr lang="en-US" dirty="0" err="1"/>
              <a:t>nonhepatotoxic</a:t>
            </a:r>
            <a:r>
              <a:rPr lang="en-US" dirty="0"/>
              <a:t>) control drug or placebo </a:t>
            </a:r>
          </a:p>
          <a:p>
            <a:pPr marL="514350" indent="-514350">
              <a:buFont typeface="+mj-lt"/>
              <a:buAutoNum type="arabicPeriod"/>
            </a:pPr>
            <a:r>
              <a:rPr lang="en-US" dirty="0"/>
              <a:t>Among trial subjects showing such AT elevations, often with ATs much greater than 3xULN, one or more also show elevation of serum TBL to &gt;2xULN, without initial findings of cholestasis (elevated serum ALP) </a:t>
            </a:r>
          </a:p>
          <a:p>
            <a:pPr marL="514350" indent="-514350">
              <a:buFont typeface="+mj-lt"/>
              <a:buAutoNum type="arabicPeriod"/>
            </a:pPr>
            <a:r>
              <a:rPr lang="en-US" dirty="0"/>
              <a:t>No other reason can be found to explain the combination of increased AT and TBL, such as viral hepatitis A, B, or C; preexisting or acute liver disease; or another drug capable of causing the observed injury </a:t>
            </a:r>
          </a:p>
          <a:p>
            <a:endParaRPr lang="en-US" dirty="0"/>
          </a:p>
        </p:txBody>
      </p:sp>
    </p:spTree>
    <p:extLst>
      <p:ext uri="{BB962C8B-B14F-4D97-AF65-F5344CB8AC3E}">
        <p14:creationId xmlns:p14="http://schemas.microsoft.com/office/powerpoint/2010/main" val="26848884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Hy’s Law</a:t>
            </a:r>
          </a:p>
        </p:txBody>
      </p:sp>
      <p:sp>
        <p:nvSpPr>
          <p:cNvPr id="3" name="Content Placeholder 2">
            <a:extLst>
              <a:ext uri="{FF2B5EF4-FFF2-40B4-BE49-F238E27FC236}">
                <a16:creationId xmlns:a16="http://schemas.microsoft.com/office/drawing/2014/main" id="{3EE7B35E-8519-5240-9AF3-991B327486CB}"/>
              </a:ext>
            </a:extLst>
          </p:cNvPr>
          <p:cNvSpPr>
            <a:spLocks noGrp="1"/>
          </p:cNvSpPr>
          <p:nvPr>
            <p:ph idx="1"/>
          </p:nvPr>
        </p:nvSpPr>
        <p:spPr/>
        <p:txBody>
          <a:bodyPr anchor="ctr">
            <a:normAutofit/>
          </a:bodyPr>
          <a:lstStyle/>
          <a:p>
            <a:pPr marL="0" indent="0" algn="ctr">
              <a:buNone/>
            </a:pPr>
            <a:r>
              <a:rPr lang="en-US" sz="4000" dirty="0"/>
              <a:t>When aminotransferase elevations are associated with </a:t>
            </a:r>
            <a:r>
              <a:rPr lang="en-US" sz="4000" b="1" dirty="0"/>
              <a:t>clinical jaundice </a:t>
            </a:r>
            <a:r>
              <a:rPr lang="en-US" sz="4000" dirty="0"/>
              <a:t>the risk of mortality is increased to </a:t>
            </a:r>
            <a:r>
              <a:rPr lang="en-US" sz="4000" b="1" dirty="0"/>
              <a:t>as high as 10%</a:t>
            </a:r>
            <a:r>
              <a:rPr lang="en-US" sz="4000" dirty="0"/>
              <a:t> in DILI</a:t>
            </a:r>
          </a:p>
        </p:txBody>
      </p:sp>
    </p:spTree>
    <p:extLst>
      <p:ext uri="{BB962C8B-B14F-4D97-AF65-F5344CB8AC3E}">
        <p14:creationId xmlns:p14="http://schemas.microsoft.com/office/powerpoint/2010/main" val="35119458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D7D82A-5A7D-5641-8638-B8BBF0479122}"/>
              </a:ext>
            </a:extLst>
          </p:cNvPr>
          <p:cNvSpPr>
            <a:spLocks noGrp="1"/>
          </p:cNvSpPr>
          <p:nvPr>
            <p:ph type="title"/>
          </p:nvPr>
        </p:nvSpPr>
        <p:spPr/>
        <p:txBody>
          <a:bodyPr/>
          <a:lstStyle/>
          <a:p>
            <a:r>
              <a:rPr lang="en-US" dirty="0"/>
              <a:t>Treatment</a:t>
            </a:r>
          </a:p>
        </p:txBody>
      </p:sp>
      <p:sp>
        <p:nvSpPr>
          <p:cNvPr id="5" name="Text Placeholder 4">
            <a:extLst>
              <a:ext uri="{FF2B5EF4-FFF2-40B4-BE49-F238E27FC236}">
                <a16:creationId xmlns:a16="http://schemas.microsoft.com/office/drawing/2014/main" id="{BD41655C-6736-AB4E-AA3F-980742A5632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214882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D7D82A-5A7D-5641-8638-B8BBF0479122}"/>
              </a:ext>
            </a:extLst>
          </p:cNvPr>
          <p:cNvSpPr>
            <a:spLocks noGrp="1"/>
          </p:cNvSpPr>
          <p:nvPr>
            <p:ph type="title"/>
          </p:nvPr>
        </p:nvSpPr>
        <p:spPr/>
        <p:txBody>
          <a:bodyPr/>
          <a:lstStyle/>
          <a:p>
            <a:r>
              <a:rPr lang="en-US" dirty="0"/>
              <a:t>Treatment</a:t>
            </a:r>
          </a:p>
        </p:txBody>
      </p:sp>
      <p:sp>
        <p:nvSpPr>
          <p:cNvPr id="5" name="Text Placeholder 4">
            <a:extLst>
              <a:ext uri="{FF2B5EF4-FFF2-40B4-BE49-F238E27FC236}">
                <a16:creationId xmlns:a16="http://schemas.microsoft.com/office/drawing/2014/main" id="{BD41655C-6736-AB4E-AA3F-980742A56322}"/>
              </a:ext>
            </a:extLst>
          </p:cNvPr>
          <p:cNvSpPr>
            <a:spLocks noGrp="1"/>
          </p:cNvSpPr>
          <p:nvPr>
            <p:ph type="body" idx="1"/>
          </p:nvPr>
        </p:nvSpPr>
        <p:spPr/>
        <p:txBody>
          <a:bodyPr/>
          <a:lstStyle/>
          <a:p>
            <a:pPr algn="ctr"/>
            <a:r>
              <a:rPr lang="en-US" dirty="0"/>
              <a:t>Depends on cause</a:t>
            </a:r>
          </a:p>
        </p:txBody>
      </p:sp>
    </p:spTree>
    <p:extLst>
      <p:ext uri="{BB962C8B-B14F-4D97-AF65-F5344CB8AC3E}">
        <p14:creationId xmlns:p14="http://schemas.microsoft.com/office/powerpoint/2010/main" val="369204634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066F7B-7AE2-AF42-A56C-1749F9C4E33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28427" y="0"/>
            <a:ext cx="11335145" cy="6858000"/>
          </a:xfrm>
          <a:prstGeom prst="rect">
            <a:avLst/>
          </a:prstGeom>
        </p:spPr>
      </p:pic>
    </p:spTree>
    <p:extLst>
      <p:ext uri="{BB962C8B-B14F-4D97-AF65-F5344CB8AC3E}">
        <p14:creationId xmlns:p14="http://schemas.microsoft.com/office/powerpoint/2010/main" val="14266118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066F7B-7AE2-AF42-A56C-1749F9C4E33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28427" y="0"/>
            <a:ext cx="11335145" cy="6858000"/>
          </a:xfrm>
          <a:prstGeom prst="rect">
            <a:avLst/>
          </a:prstGeom>
        </p:spPr>
      </p:pic>
      <p:sp>
        <p:nvSpPr>
          <p:cNvPr id="3" name="Rectangle 2">
            <a:extLst>
              <a:ext uri="{FF2B5EF4-FFF2-40B4-BE49-F238E27FC236}">
                <a16:creationId xmlns:a16="http://schemas.microsoft.com/office/drawing/2014/main" id="{6748D429-F559-E64C-A5D7-21232D35DB78}"/>
              </a:ext>
            </a:extLst>
          </p:cNvPr>
          <p:cNvSpPr/>
          <p:nvPr/>
        </p:nvSpPr>
        <p:spPr>
          <a:xfrm>
            <a:off x="3818965" y="179294"/>
            <a:ext cx="8104094" cy="6678706"/>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8521A88-2936-534C-9F88-77574B9E873A}"/>
              </a:ext>
            </a:extLst>
          </p:cNvPr>
          <p:cNvSpPr/>
          <p:nvPr/>
        </p:nvSpPr>
        <p:spPr>
          <a:xfrm>
            <a:off x="428427" y="412376"/>
            <a:ext cx="3390538" cy="52533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76957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Acute Liver Failure</a:t>
            </a:r>
          </a:p>
        </p:txBody>
      </p:sp>
      <p:sp>
        <p:nvSpPr>
          <p:cNvPr id="3" name="Text Placeholder 2">
            <a:extLst>
              <a:ext uri="{FF2B5EF4-FFF2-40B4-BE49-F238E27FC236}">
                <a16:creationId xmlns:a16="http://schemas.microsoft.com/office/drawing/2014/main" id="{C27111C8-D909-9748-996D-FC0C3BFC5C2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3892469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Acute Liver Failure</a:t>
            </a:r>
          </a:p>
        </p:txBody>
      </p:sp>
      <p:sp>
        <p:nvSpPr>
          <p:cNvPr id="4" name="Content Placeholder 3">
            <a:extLst>
              <a:ext uri="{FF2B5EF4-FFF2-40B4-BE49-F238E27FC236}">
                <a16:creationId xmlns:a16="http://schemas.microsoft.com/office/drawing/2014/main" id="{6763A111-8B14-E847-BD57-0537159766FD}"/>
              </a:ext>
            </a:extLst>
          </p:cNvPr>
          <p:cNvSpPr>
            <a:spLocks noGrp="1"/>
          </p:cNvSpPr>
          <p:nvPr>
            <p:ph idx="1"/>
          </p:nvPr>
        </p:nvSpPr>
        <p:spPr/>
        <p:txBody>
          <a:bodyPr/>
          <a:lstStyle/>
          <a:p>
            <a:pPr marL="0" indent="0" algn="ctr">
              <a:buNone/>
            </a:pPr>
            <a:r>
              <a:rPr lang="en-US" dirty="0"/>
              <a:t>Definition?</a:t>
            </a:r>
          </a:p>
        </p:txBody>
      </p:sp>
    </p:spTree>
    <p:extLst>
      <p:ext uri="{BB962C8B-B14F-4D97-AF65-F5344CB8AC3E}">
        <p14:creationId xmlns:p14="http://schemas.microsoft.com/office/powerpoint/2010/main" val="208183931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Acute Liver Failure</a:t>
            </a:r>
          </a:p>
        </p:txBody>
      </p:sp>
      <p:sp>
        <p:nvSpPr>
          <p:cNvPr id="4" name="Content Placeholder 3">
            <a:extLst>
              <a:ext uri="{FF2B5EF4-FFF2-40B4-BE49-F238E27FC236}">
                <a16:creationId xmlns:a16="http://schemas.microsoft.com/office/drawing/2014/main" id="{6763A111-8B14-E847-BD57-0537159766FD}"/>
              </a:ext>
            </a:extLst>
          </p:cNvPr>
          <p:cNvSpPr>
            <a:spLocks noGrp="1"/>
          </p:cNvSpPr>
          <p:nvPr>
            <p:ph idx="1"/>
          </p:nvPr>
        </p:nvSpPr>
        <p:spPr/>
        <p:txBody>
          <a:bodyPr/>
          <a:lstStyle/>
          <a:p>
            <a:pPr marL="514350" indent="-514350" algn="ctr">
              <a:buAutoNum type="arabicPeriod"/>
            </a:pPr>
            <a:r>
              <a:rPr lang="en-US" b="1" dirty="0"/>
              <a:t>Acute liver injury</a:t>
            </a:r>
          </a:p>
          <a:p>
            <a:pPr marL="514350" indent="-514350" algn="ctr">
              <a:buAutoNum type="arabicPeriod"/>
            </a:pPr>
            <a:r>
              <a:rPr lang="en-US" b="1" dirty="0"/>
              <a:t>Coagulopathy (INR &gt; 1.5)</a:t>
            </a:r>
          </a:p>
          <a:p>
            <a:pPr marL="514350" indent="-514350" algn="ctr">
              <a:buAutoNum type="arabicPeriod"/>
            </a:pPr>
            <a:r>
              <a:rPr lang="en-US" b="1" dirty="0"/>
              <a:t>Encephalopathy</a:t>
            </a:r>
          </a:p>
        </p:txBody>
      </p:sp>
    </p:spTree>
    <p:extLst>
      <p:ext uri="{BB962C8B-B14F-4D97-AF65-F5344CB8AC3E}">
        <p14:creationId xmlns:p14="http://schemas.microsoft.com/office/powerpoint/2010/main" val="1830483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Acute Liver Failure</a:t>
            </a:r>
          </a:p>
        </p:txBody>
      </p:sp>
      <p:sp>
        <p:nvSpPr>
          <p:cNvPr id="4" name="Content Placeholder 3">
            <a:extLst>
              <a:ext uri="{FF2B5EF4-FFF2-40B4-BE49-F238E27FC236}">
                <a16:creationId xmlns:a16="http://schemas.microsoft.com/office/drawing/2014/main" id="{6763A111-8B14-E847-BD57-0537159766FD}"/>
              </a:ext>
            </a:extLst>
          </p:cNvPr>
          <p:cNvSpPr>
            <a:spLocks noGrp="1"/>
          </p:cNvSpPr>
          <p:nvPr>
            <p:ph idx="1"/>
          </p:nvPr>
        </p:nvSpPr>
        <p:spPr/>
        <p:txBody>
          <a:bodyPr/>
          <a:lstStyle/>
          <a:p>
            <a:pPr marL="514350" indent="-514350" algn="ctr">
              <a:buAutoNum type="arabicPeriod"/>
            </a:pPr>
            <a:r>
              <a:rPr lang="en-US" b="1" dirty="0"/>
              <a:t>Acute liver injury</a:t>
            </a:r>
          </a:p>
          <a:p>
            <a:pPr marL="514350" indent="-514350" algn="ctr">
              <a:buAutoNum type="arabicPeriod"/>
            </a:pPr>
            <a:r>
              <a:rPr lang="en-US" b="1" dirty="0"/>
              <a:t>Coagulopathy (INR &gt; 1.5)</a:t>
            </a:r>
          </a:p>
          <a:p>
            <a:pPr marL="514350" indent="-514350" algn="ctr">
              <a:buAutoNum type="arabicPeriod"/>
            </a:pPr>
            <a:r>
              <a:rPr lang="en-US" b="1" dirty="0"/>
              <a:t>Encephalopathy</a:t>
            </a:r>
          </a:p>
          <a:p>
            <a:pPr marL="514350" indent="-514350" algn="ctr">
              <a:buAutoNum type="arabicPeriod"/>
            </a:pPr>
            <a:endParaRPr lang="en-US" b="1" dirty="0"/>
          </a:p>
          <a:p>
            <a:pPr marL="0" indent="0" algn="ctr">
              <a:buNone/>
            </a:pPr>
            <a:r>
              <a:rPr lang="en-US" dirty="0"/>
              <a:t>Do you have to have all three?</a:t>
            </a:r>
          </a:p>
        </p:txBody>
      </p:sp>
    </p:spTree>
    <p:extLst>
      <p:ext uri="{BB962C8B-B14F-4D97-AF65-F5344CB8AC3E}">
        <p14:creationId xmlns:p14="http://schemas.microsoft.com/office/powerpoint/2010/main" val="3670269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Acute Liver Failure</a:t>
            </a:r>
          </a:p>
        </p:txBody>
      </p:sp>
      <p:sp>
        <p:nvSpPr>
          <p:cNvPr id="4" name="Content Placeholder 3">
            <a:extLst>
              <a:ext uri="{FF2B5EF4-FFF2-40B4-BE49-F238E27FC236}">
                <a16:creationId xmlns:a16="http://schemas.microsoft.com/office/drawing/2014/main" id="{6763A111-8B14-E847-BD57-0537159766FD}"/>
              </a:ext>
            </a:extLst>
          </p:cNvPr>
          <p:cNvSpPr>
            <a:spLocks noGrp="1"/>
          </p:cNvSpPr>
          <p:nvPr>
            <p:ph idx="1"/>
          </p:nvPr>
        </p:nvSpPr>
        <p:spPr/>
        <p:txBody>
          <a:bodyPr/>
          <a:lstStyle/>
          <a:p>
            <a:pPr marL="514350" indent="-514350" algn="ctr">
              <a:buAutoNum type="arabicPeriod"/>
            </a:pPr>
            <a:r>
              <a:rPr lang="en-US" b="1" dirty="0"/>
              <a:t>Acute liver injury</a:t>
            </a:r>
          </a:p>
          <a:p>
            <a:pPr marL="514350" indent="-514350" algn="ctr">
              <a:buAutoNum type="arabicPeriod"/>
            </a:pPr>
            <a:r>
              <a:rPr lang="en-US" b="1" dirty="0"/>
              <a:t>Coagulopathy (INR &gt; 1.5)</a:t>
            </a:r>
          </a:p>
          <a:p>
            <a:pPr marL="514350" indent="-514350" algn="ctr">
              <a:buAutoNum type="arabicPeriod"/>
            </a:pPr>
            <a:r>
              <a:rPr lang="en-US" b="1" dirty="0"/>
              <a:t>Encephalopathy</a:t>
            </a:r>
          </a:p>
          <a:p>
            <a:pPr marL="514350" indent="-514350" algn="ctr">
              <a:buAutoNum type="arabicPeriod"/>
            </a:pPr>
            <a:endParaRPr lang="en-US" b="1" dirty="0"/>
          </a:p>
          <a:p>
            <a:pPr marL="0" indent="0" algn="ctr">
              <a:buNone/>
            </a:pPr>
            <a:r>
              <a:rPr lang="en-US" dirty="0"/>
              <a:t>Do you have to have all three?</a:t>
            </a:r>
          </a:p>
          <a:p>
            <a:pPr marL="0" indent="0" algn="ctr">
              <a:buNone/>
            </a:pPr>
            <a:r>
              <a:rPr lang="en-US" sz="8800" b="1" dirty="0">
                <a:highlight>
                  <a:srgbClr val="FFFF00"/>
                </a:highlight>
              </a:rPr>
              <a:t>Yes.</a:t>
            </a:r>
          </a:p>
        </p:txBody>
      </p:sp>
    </p:spTree>
    <p:extLst>
      <p:ext uri="{BB962C8B-B14F-4D97-AF65-F5344CB8AC3E}">
        <p14:creationId xmlns:p14="http://schemas.microsoft.com/office/powerpoint/2010/main" val="271643300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8688F4-6FFC-0049-BE9D-0F487D3302E0}"/>
              </a:ext>
            </a:extLst>
          </p:cNvPr>
          <p:cNvSpPr>
            <a:spLocks noGrp="1"/>
          </p:cNvSpPr>
          <p:nvPr>
            <p:ph type="title"/>
          </p:nvPr>
        </p:nvSpPr>
        <p:spPr/>
        <p:txBody>
          <a:bodyPr/>
          <a:lstStyle/>
          <a:p>
            <a:r>
              <a:rPr lang="en-US" dirty="0"/>
              <a:t>Classification of ALF</a:t>
            </a:r>
          </a:p>
        </p:txBody>
      </p:sp>
      <p:pic>
        <p:nvPicPr>
          <p:cNvPr id="6" name="Content Placeholder 5">
            <a:extLst>
              <a:ext uri="{FF2B5EF4-FFF2-40B4-BE49-F238E27FC236}">
                <a16:creationId xmlns:a16="http://schemas.microsoft.com/office/drawing/2014/main" id="{AAA942BE-6270-704A-A517-17F0E0503187}"/>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3196013" y="1103313"/>
            <a:ext cx="5799974" cy="5402262"/>
          </a:xfrm>
          <a:prstGeom prst="rect">
            <a:avLst/>
          </a:prstGeom>
        </p:spPr>
      </p:pic>
    </p:spTree>
    <p:extLst>
      <p:ext uri="{BB962C8B-B14F-4D97-AF65-F5344CB8AC3E}">
        <p14:creationId xmlns:p14="http://schemas.microsoft.com/office/powerpoint/2010/main" val="291397404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49A817-A209-5646-87C5-D1CA3698F700}"/>
              </a:ext>
            </a:extLst>
          </p:cNvPr>
          <p:cNvSpPr>
            <a:spLocks noGrp="1"/>
          </p:cNvSpPr>
          <p:nvPr>
            <p:ph type="title"/>
          </p:nvPr>
        </p:nvSpPr>
        <p:spPr/>
        <p:txBody>
          <a:bodyPr/>
          <a:lstStyle/>
          <a:p>
            <a:r>
              <a:rPr lang="en-US" dirty="0"/>
              <a:t>What are the features of a patient with ALF (apart from the definition)?</a:t>
            </a:r>
          </a:p>
        </p:txBody>
      </p:sp>
      <p:sp>
        <p:nvSpPr>
          <p:cNvPr id="5" name="Text Placeholder 4">
            <a:extLst>
              <a:ext uri="{FF2B5EF4-FFF2-40B4-BE49-F238E27FC236}">
                <a16:creationId xmlns:a16="http://schemas.microsoft.com/office/drawing/2014/main" id="{D70B6B46-E723-9445-B8A6-FEE5E239370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8524768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49A817-A209-5646-87C5-D1CA3698F700}"/>
              </a:ext>
            </a:extLst>
          </p:cNvPr>
          <p:cNvSpPr>
            <a:spLocks noGrp="1"/>
          </p:cNvSpPr>
          <p:nvPr>
            <p:ph type="title"/>
          </p:nvPr>
        </p:nvSpPr>
        <p:spPr/>
        <p:txBody>
          <a:bodyPr>
            <a:normAutofit/>
          </a:bodyPr>
          <a:lstStyle/>
          <a:p>
            <a:r>
              <a:rPr lang="en-US" dirty="0"/>
              <a:t>Features of ALF</a:t>
            </a:r>
          </a:p>
        </p:txBody>
      </p:sp>
      <p:pic>
        <p:nvPicPr>
          <p:cNvPr id="3" name="Picture 2">
            <a:extLst>
              <a:ext uri="{FF2B5EF4-FFF2-40B4-BE49-F238E27FC236}">
                <a16:creationId xmlns:a16="http://schemas.microsoft.com/office/drawing/2014/main" id="{55FDE7B8-30D4-5245-AB2C-6591F89C348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49382" y="976199"/>
            <a:ext cx="5493236" cy="5881800"/>
          </a:xfrm>
          <a:prstGeom prst="rect">
            <a:avLst/>
          </a:prstGeom>
        </p:spPr>
      </p:pic>
    </p:spTree>
    <p:extLst>
      <p:ext uri="{BB962C8B-B14F-4D97-AF65-F5344CB8AC3E}">
        <p14:creationId xmlns:p14="http://schemas.microsoft.com/office/powerpoint/2010/main" val="349084788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C3E8F8"/>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49A817-A209-5646-87C5-D1CA3698F700}"/>
              </a:ext>
            </a:extLst>
          </p:cNvPr>
          <p:cNvSpPr>
            <a:spLocks noGrp="1"/>
          </p:cNvSpPr>
          <p:nvPr>
            <p:ph type="title"/>
          </p:nvPr>
        </p:nvSpPr>
        <p:spPr/>
        <p:txBody>
          <a:bodyPr>
            <a:normAutofit/>
          </a:bodyPr>
          <a:lstStyle/>
          <a:p>
            <a:r>
              <a:rPr lang="en-US" dirty="0"/>
              <a:t>Causes of ALF Worldwide</a:t>
            </a:r>
          </a:p>
        </p:txBody>
      </p:sp>
      <p:pic>
        <p:nvPicPr>
          <p:cNvPr id="2" name="Picture 1">
            <a:extLst>
              <a:ext uri="{FF2B5EF4-FFF2-40B4-BE49-F238E27FC236}">
                <a16:creationId xmlns:a16="http://schemas.microsoft.com/office/drawing/2014/main" id="{0079E22D-B1C1-1348-B6D3-DC8F7FF26B5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639083" y="1019503"/>
            <a:ext cx="6913833" cy="5851444"/>
          </a:xfrm>
          <a:prstGeom prst="rect">
            <a:avLst/>
          </a:prstGeom>
        </p:spPr>
      </p:pic>
    </p:spTree>
    <p:extLst>
      <p:ext uri="{BB962C8B-B14F-4D97-AF65-F5344CB8AC3E}">
        <p14:creationId xmlns:p14="http://schemas.microsoft.com/office/powerpoint/2010/main" val="34527592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3E7232-237B-0D44-9A82-A69965BE6911}"/>
              </a:ext>
            </a:extLst>
          </p:cNvPr>
          <p:cNvSpPr>
            <a:spLocks noGrp="1"/>
          </p:cNvSpPr>
          <p:nvPr>
            <p:ph type="title"/>
          </p:nvPr>
        </p:nvSpPr>
        <p:spPr/>
        <p:txBody>
          <a:bodyPr/>
          <a:lstStyle/>
          <a:p>
            <a:r>
              <a:rPr lang="en-US" dirty="0"/>
              <a:t>Treatment of ALF</a:t>
            </a:r>
          </a:p>
        </p:txBody>
      </p:sp>
      <p:sp>
        <p:nvSpPr>
          <p:cNvPr id="5" name="Text Placeholder 4">
            <a:extLst>
              <a:ext uri="{FF2B5EF4-FFF2-40B4-BE49-F238E27FC236}">
                <a16:creationId xmlns:a16="http://schemas.microsoft.com/office/drawing/2014/main" id="{38834022-831E-ED4C-966B-CFEC6B33C0E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6902431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3E7232-237B-0D44-9A82-A69965BE6911}"/>
              </a:ext>
            </a:extLst>
          </p:cNvPr>
          <p:cNvSpPr>
            <a:spLocks noGrp="1"/>
          </p:cNvSpPr>
          <p:nvPr>
            <p:ph type="title"/>
          </p:nvPr>
        </p:nvSpPr>
        <p:spPr/>
        <p:txBody>
          <a:bodyPr/>
          <a:lstStyle/>
          <a:p>
            <a:r>
              <a:rPr lang="en-US" dirty="0"/>
              <a:t>Treatment of ALF</a:t>
            </a:r>
          </a:p>
        </p:txBody>
      </p:sp>
      <p:sp>
        <p:nvSpPr>
          <p:cNvPr id="6" name="Content Placeholder 5">
            <a:extLst>
              <a:ext uri="{FF2B5EF4-FFF2-40B4-BE49-F238E27FC236}">
                <a16:creationId xmlns:a16="http://schemas.microsoft.com/office/drawing/2014/main" id="{450A97C1-B37A-184D-B0FB-5DD2AF22FBC9}"/>
              </a:ext>
            </a:extLst>
          </p:cNvPr>
          <p:cNvSpPr>
            <a:spLocks noGrp="1"/>
          </p:cNvSpPr>
          <p:nvPr>
            <p:ph idx="1"/>
          </p:nvPr>
        </p:nvSpPr>
        <p:spPr>
          <a:xfrm>
            <a:off x="838200" y="1103585"/>
            <a:ext cx="10515600" cy="3211240"/>
          </a:xfrm>
        </p:spPr>
        <p:txBody>
          <a:bodyPr anchor="ctr"/>
          <a:lstStyle/>
          <a:p>
            <a:pPr marL="514350" indent="-514350">
              <a:buAutoNum type="arabicPeriod"/>
            </a:pPr>
            <a:r>
              <a:rPr lang="en-US" dirty="0"/>
              <a:t>Metabolic and nutritional support</a:t>
            </a:r>
          </a:p>
          <a:p>
            <a:pPr marL="514350" indent="-514350">
              <a:buAutoNum type="arabicPeriod"/>
            </a:pPr>
            <a:r>
              <a:rPr lang="en-US" dirty="0"/>
              <a:t>Prognostic evaluation</a:t>
            </a:r>
          </a:p>
          <a:p>
            <a:pPr marL="514350" indent="-514350">
              <a:buAutoNum type="arabicPeriod"/>
            </a:pPr>
            <a:r>
              <a:rPr lang="en-US" dirty="0"/>
              <a:t>Transplantation</a:t>
            </a:r>
          </a:p>
          <a:p>
            <a:pPr marL="514350" indent="-514350">
              <a:buAutoNum type="arabicPeriod"/>
            </a:pPr>
            <a:r>
              <a:rPr lang="en-US" dirty="0"/>
              <a:t>Other therapies</a:t>
            </a:r>
          </a:p>
        </p:txBody>
      </p:sp>
    </p:spTree>
    <p:extLst>
      <p:ext uri="{BB962C8B-B14F-4D97-AF65-F5344CB8AC3E}">
        <p14:creationId xmlns:p14="http://schemas.microsoft.com/office/powerpoint/2010/main" val="372042976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D5129E-2F15-8B4A-B83B-24C3156D920D}"/>
              </a:ext>
            </a:extLst>
          </p:cNvPr>
          <p:cNvSpPr>
            <a:spLocks noGrp="1"/>
          </p:cNvSpPr>
          <p:nvPr>
            <p:ph type="title"/>
          </p:nvPr>
        </p:nvSpPr>
        <p:spPr/>
        <p:txBody>
          <a:bodyPr/>
          <a:lstStyle/>
          <a:p>
            <a:r>
              <a:rPr lang="en-US" dirty="0"/>
              <a:t>Metabolic and nutritional support</a:t>
            </a:r>
          </a:p>
        </p:txBody>
      </p:sp>
      <p:sp>
        <p:nvSpPr>
          <p:cNvPr id="6" name="Content Placeholder 5">
            <a:extLst>
              <a:ext uri="{FF2B5EF4-FFF2-40B4-BE49-F238E27FC236}">
                <a16:creationId xmlns:a16="http://schemas.microsoft.com/office/drawing/2014/main" id="{F11B6B06-0EC5-EA4C-B6DD-DB1EAFA467D6}"/>
              </a:ext>
            </a:extLst>
          </p:cNvPr>
          <p:cNvSpPr>
            <a:spLocks noGrp="1"/>
          </p:cNvSpPr>
          <p:nvPr>
            <p:ph idx="1"/>
          </p:nvPr>
        </p:nvSpPr>
        <p:spPr/>
        <p:txBody>
          <a:bodyPr/>
          <a:lstStyle/>
          <a:p>
            <a:r>
              <a:rPr lang="en-US" dirty="0"/>
              <a:t>ALF patients are prone to hypoglycemia -&gt; support by D5 fluids</a:t>
            </a:r>
          </a:p>
          <a:p>
            <a:r>
              <a:rPr lang="en-US" dirty="0"/>
              <a:t>Avoid large volume hypotonic fluids -&gt; </a:t>
            </a:r>
            <a:r>
              <a:rPr lang="en-US" b="1" dirty="0"/>
              <a:t>Why?</a:t>
            </a:r>
          </a:p>
        </p:txBody>
      </p:sp>
    </p:spTree>
    <p:extLst>
      <p:ext uri="{BB962C8B-B14F-4D97-AF65-F5344CB8AC3E}">
        <p14:creationId xmlns:p14="http://schemas.microsoft.com/office/powerpoint/2010/main" val="11201248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D5129E-2F15-8B4A-B83B-24C3156D920D}"/>
              </a:ext>
            </a:extLst>
          </p:cNvPr>
          <p:cNvSpPr>
            <a:spLocks noGrp="1"/>
          </p:cNvSpPr>
          <p:nvPr>
            <p:ph type="title"/>
          </p:nvPr>
        </p:nvSpPr>
        <p:spPr/>
        <p:txBody>
          <a:bodyPr/>
          <a:lstStyle/>
          <a:p>
            <a:r>
              <a:rPr lang="en-US" dirty="0"/>
              <a:t>Metabolic and nutritional support</a:t>
            </a:r>
          </a:p>
        </p:txBody>
      </p:sp>
      <p:sp>
        <p:nvSpPr>
          <p:cNvPr id="6" name="Content Placeholder 5">
            <a:extLst>
              <a:ext uri="{FF2B5EF4-FFF2-40B4-BE49-F238E27FC236}">
                <a16:creationId xmlns:a16="http://schemas.microsoft.com/office/drawing/2014/main" id="{F11B6B06-0EC5-EA4C-B6DD-DB1EAFA467D6}"/>
              </a:ext>
            </a:extLst>
          </p:cNvPr>
          <p:cNvSpPr>
            <a:spLocks noGrp="1"/>
          </p:cNvSpPr>
          <p:nvPr>
            <p:ph idx="1"/>
          </p:nvPr>
        </p:nvSpPr>
        <p:spPr/>
        <p:txBody>
          <a:bodyPr/>
          <a:lstStyle/>
          <a:p>
            <a:r>
              <a:rPr lang="en-US" dirty="0"/>
              <a:t>ALF patients are prone to hypoglycemia -&gt; support by D5 fluids</a:t>
            </a:r>
          </a:p>
          <a:p>
            <a:r>
              <a:rPr lang="en-US" dirty="0"/>
              <a:t>Avoid large volume hypotonic fluids -&gt; Can cause hyponatremia and brain edema</a:t>
            </a:r>
            <a:endParaRPr lang="en-US" b="1" dirty="0"/>
          </a:p>
        </p:txBody>
      </p:sp>
    </p:spTree>
    <p:extLst>
      <p:ext uri="{BB962C8B-B14F-4D97-AF65-F5344CB8AC3E}">
        <p14:creationId xmlns:p14="http://schemas.microsoft.com/office/powerpoint/2010/main" val="35557824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D5129E-2F15-8B4A-B83B-24C3156D920D}"/>
              </a:ext>
            </a:extLst>
          </p:cNvPr>
          <p:cNvSpPr>
            <a:spLocks noGrp="1"/>
          </p:cNvSpPr>
          <p:nvPr>
            <p:ph type="title"/>
          </p:nvPr>
        </p:nvSpPr>
        <p:spPr/>
        <p:txBody>
          <a:bodyPr/>
          <a:lstStyle/>
          <a:p>
            <a:r>
              <a:rPr lang="en-US" dirty="0"/>
              <a:t>Metabolic and nutritional support</a:t>
            </a:r>
          </a:p>
        </p:txBody>
      </p:sp>
      <p:sp>
        <p:nvSpPr>
          <p:cNvPr id="6" name="Content Placeholder 5">
            <a:extLst>
              <a:ext uri="{FF2B5EF4-FFF2-40B4-BE49-F238E27FC236}">
                <a16:creationId xmlns:a16="http://schemas.microsoft.com/office/drawing/2014/main" id="{F11B6B06-0EC5-EA4C-B6DD-DB1EAFA467D6}"/>
              </a:ext>
            </a:extLst>
          </p:cNvPr>
          <p:cNvSpPr>
            <a:spLocks noGrp="1"/>
          </p:cNvSpPr>
          <p:nvPr>
            <p:ph idx="1"/>
          </p:nvPr>
        </p:nvSpPr>
        <p:spPr/>
        <p:txBody>
          <a:bodyPr/>
          <a:lstStyle/>
          <a:p>
            <a:r>
              <a:rPr lang="en-US" dirty="0"/>
              <a:t>ALF patients are prone to hypoglycemia -&gt; support by D5 fluids</a:t>
            </a:r>
          </a:p>
          <a:p>
            <a:r>
              <a:rPr lang="en-US" dirty="0"/>
              <a:t>Avoid large volume hypotonic fluids -&gt; Can cause hyponatremia and brain edema</a:t>
            </a:r>
          </a:p>
          <a:p>
            <a:endParaRPr lang="en-US" b="1" dirty="0"/>
          </a:p>
          <a:p>
            <a:r>
              <a:rPr lang="en-US" b="1" dirty="0"/>
              <a:t>If encephalopathic provide 1-1.5 g/kg of protein daily</a:t>
            </a:r>
          </a:p>
          <a:p>
            <a:r>
              <a:rPr lang="en-US" b="1" dirty="0">
                <a:highlight>
                  <a:srgbClr val="FFFF00"/>
                </a:highlight>
              </a:rPr>
              <a:t>Trend ammonia</a:t>
            </a:r>
          </a:p>
          <a:p>
            <a:endParaRPr lang="en-US" b="1" dirty="0"/>
          </a:p>
        </p:txBody>
      </p:sp>
    </p:spTree>
    <p:extLst>
      <p:ext uri="{BB962C8B-B14F-4D97-AF65-F5344CB8AC3E}">
        <p14:creationId xmlns:p14="http://schemas.microsoft.com/office/powerpoint/2010/main" val="392305730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D5129E-2F15-8B4A-B83B-24C3156D920D}"/>
              </a:ext>
            </a:extLst>
          </p:cNvPr>
          <p:cNvSpPr>
            <a:spLocks noGrp="1"/>
          </p:cNvSpPr>
          <p:nvPr>
            <p:ph type="title"/>
          </p:nvPr>
        </p:nvSpPr>
        <p:spPr/>
        <p:txBody>
          <a:bodyPr/>
          <a:lstStyle/>
          <a:p>
            <a:r>
              <a:rPr lang="en-US" dirty="0"/>
              <a:t>Metabolic and nutritional support</a:t>
            </a:r>
          </a:p>
        </p:txBody>
      </p:sp>
      <p:sp>
        <p:nvSpPr>
          <p:cNvPr id="6" name="Content Placeholder 5">
            <a:extLst>
              <a:ext uri="{FF2B5EF4-FFF2-40B4-BE49-F238E27FC236}">
                <a16:creationId xmlns:a16="http://schemas.microsoft.com/office/drawing/2014/main" id="{F11B6B06-0EC5-EA4C-B6DD-DB1EAFA467D6}"/>
              </a:ext>
            </a:extLst>
          </p:cNvPr>
          <p:cNvSpPr>
            <a:spLocks noGrp="1"/>
          </p:cNvSpPr>
          <p:nvPr>
            <p:ph idx="1"/>
          </p:nvPr>
        </p:nvSpPr>
        <p:spPr/>
        <p:txBody>
          <a:bodyPr/>
          <a:lstStyle/>
          <a:p>
            <a:r>
              <a:rPr lang="en-US" dirty="0"/>
              <a:t>ALF patients are prone to hypoglycemia -&gt; support by D5 fluids</a:t>
            </a:r>
          </a:p>
          <a:p>
            <a:r>
              <a:rPr lang="en-US" dirty="0"/>
              <a:t>Avoid large volume hypotonic fluids -&gt; Can cause hyponatremia and brain edema</a:t>
            </a:r>
          </a:p>
          <a:p>
            <a:endParaRPr lang="en-US" b="1" dirty="0"/>
          </a:p>
          <a:p>
            <a:r>
              <a:rPr lang="en-US" b="1" dirty="0"/>
              <a:t>If encephalopathic provide 1-1.5 g/kg of protein daily</a:t>
            </a:r>
          </a:p>
          <a:p>
            <a:r>
              <a:rPr lang="en-US" b="1" dirty="0">
                <a:highlight>
                  <a:srgbClr val="FFFF00"/>
                </a:highlight>
              </a:rPr>
              <a:t>Trend ammonia </a:t>
            </a:r>
            <a:r>
              <a:rPr lang="en-US" b="1" dirty="0"/>
              <a:t>– Why?</a:t>
            </a:r>
          </a:p>
          <a:p>
            <a:endParaRPr lang="en-US" b="1" dirty="0"/>
          </a:p>
        </p:txBody>
      </p:sp>
    </p:spTree>
    <p:extLst>
      <p:ext uri="{BB962C8B-B14F-4D97-AF65-F5344CB8AC3E}">
        <p14:creationId xmlns:p14="http://schemas.microsoft.com/office/powerpoint/2010/main" val="266296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D5129E-2F15-8B4A-B83B-24C3156D920D}"/>
              </a:ext>
            </a:extLst>
          </p:cNvPr>
          <p:cNvSpPr>
            <a:spLocks noGrp="1"/>
          </p:cNvSpPr>
          <p:nvPr>
            <p:ph type="title"/>
          </p:nvPr>
        </p:nvSpPr>
        <p:spPr/>
        <p:txBody>
          <a:bodyPr/>
          <a:lstStyle/>
          <a:p>
            <a:r>
              <a:rPr lang="en-US" dirty="0"/>
              <a:t>Metabolic and nutritional support</a:t>
            </a:r>
          </a:p>
        </p:txBody>
      </p:sp>
      <p:sp>
        <p:nvSpPr>
          <p:cNvPr id="6" name="Content Placeholder 5">
            <a:extLst>
              <a:ext uri="{FF2B5EF4-FFF2-40B4-BE49-F238E27FC236}">
                <a16:creationId xmlns:a16="http://schemas.microsoft.com/office/drawing/2014/main" id="{F11B6B06-0EC5-EA4C-B6DD-DB1EAFA467D6}"/>
              </a:ext>
            </a:extLst>
          </p:cNvPr>
          <p:cNvSpPr>
            <a:spLocks noGrp="1"/>
          </p:cNvSpPr>
          <p:nvPr>
            <p:ph idx="1"/>
          </p:nvPr>
        </p:nvSpPr>
        <p:spPr/>
        <p:txBody>
          <a:bodyPr/>
          <a:lstStyle/>
          <a:p>
            <a:r>
              <a:rPr lang="en-US" dirty="0"/>
              <a:t>ALF patients are prone to hypoglycemia -&gt; support by D5 fluids</a:t>
            </a:r>
          </a:p>
          <a:p>
            <a:r>
              <a:rPr lang="en-US" dirty="0"/>
              <a:t>Avoid large volume hypotonic fluids -&gt; Can cause hyponatremia and brain edema</a:t>
            </a:r>
          </a:p>
          <a:p>
            <a:endParaRPr lang="en-US" b="1" dirty="0"/>
          </a:p>
          <a:p>
            <a:r>
              <a:rPr lang="en-US" dirty="0"/>
              <a:t>If encephalopathic provide 1-1.5 g/kg of protein daily</a:t>
            </a:r>
          </a:p>
          <a:p>
            <a:r>
              <a:rPr lang="en-US" dirty="0">
                <a:highlight>
                  <a:srgbClr val="FFFF00"/>
                </a:highlight>
              </a:rPr>
              <a:t>Trend ammonia </a:t>
            </a:r>
            <a:r>
              <a:rPr lang="en-US" dirty="0"/>
              <a:t>– </a:t>
            </a:r>
            <a:r>
              <a:rPr lang="en-US" b="1" dirty="0"/>
              <a:t>Will help guide protein supplementation, but does not provide prognostic value</a:t>
            </a:r>
          </a:p>
          <a:p>
            <a:endParaRPr lang="en-US" b="1" dirty="0"/>
          </a:p>
        </p:txBody>
      </p:sp>
    </p:spTree>
    <p:extLst>
      <p:ext uri="{BB962C8B-B14F-4D97-AF65-F5344CB8AC3E}">
        <p14:creationId xmlns:p14="http://schemas.microsoft.com/office/powerpoint/2010/main" val="209755797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D5129E-2F15-8B4A-B83B-24C3156D920D}"/>
              </a:ext>
            </a:extLst>
          </p:cNvPr>
          <p:cNvSpPr>
            <a:spLocks noGrp="1"/>
          </p:cNvSpPr>
          <p:nvPr>
            <p:ph type="title"/>
          </p:nvPr>
        </p:nvSpPr>
        <p:spPr/>
        <p:txBody>
          <a:bodyPr/>
          <a:lstStyle/>
          <a:p>
            <a:r>
              <a:rPr lang="en-US" dirty="0"/>
              <a:t>Prognostic evaluation</a:t>
            </a:r>
          </a:p>
        </p:txBody>
      </p:sp>
      <p:pic>
        <p:nvPicPr>
          <p:cNvPr id="5" name="Content Placeholder 6">
            <a:extLst>
              <a:ext uri="{FF2B5EF4-FFF2-40B4-BE49-F238E27FC236}">
                <a16:creationId xmlns:a16="http://schemas.microsoft.com/office/drawing/2014/main" id="{78BE9CF2-5B5B-F045-AC6E-BFF83B10671D}"/>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838200" y="1834723"/>
            <a:ext cx="10515600" cy="3939441"/>
          </a:xfrm>
          <a:prstGeom prst="rect">
            <a:avLst/>
          </a:prstGeom>
        </p:spPr>
      </p:pic>
    </p:spTree>
    <p:extLst>
      <p:ext uri="{BB962C8B-B14F-4D97-AF65-F5344CB8AC3E}">
        <p14:creationId xmlns:p14="http://schemas.microsoft.com/office/powerpoint/2010/main" val="343572713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Criteria for Liver Transplantation in ALF</a:t>
            </a:r>
          </a:p>
        </p:txBody>
      </p:sp>
      <p:pic>
        <p:nvPicPr>
          <p:cNvPr id="6" name="Content Placeholder 5">
            <a:extLst>
              <a:ext uri="{FF2B5EF4-FFF2-40B4-BE49-F238E27FC236}">
                <a16:creationId xmlns:a16="http://schemas.microsoft.com/office/drawing/2014/main" id="{DFE988F0-8295-B44D-9B16-9AE1222526D8}"/>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2802201" y="1103313"/>
            <a:ext cx="6587598" cy="5402262"/>
          </a:xfrm>
          <a:prstGeom prst="rect">
            <a:avLst/>
          </a:prstGeom>
          <a:ln w="38100">
            <a:solidFill>
              <a:schemeClr val="tx1"/>
            </a:solidFill>
          </a:ln>
        </p:spPr>
      </p:pic>
    </p:spTree>
    <p:extLst>
      <p:ext uri="{BB962C8B-B14F-4D97-AF65-F5344CB8AC3E}">
        <p14:creationId xmlns:p14="http://schemas.microsoft.com/office/powerpoint/2010/main" val="38087997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Criteria for Liver Transplantation in ALF</a:t>
            </a:r>
          </a:p>
        </p:txBody>
      </p:sp>
      <p:pic>
        <p:nvPicPr>
          <p:cNvPr id="5" name="Content Placeholder 4">
            <a:extLst>
              <a:ext uri="{FF2B5EF4-FFF2-40B4-BE49-F238E27FC236}">
                <a16:creationId xmlns:a16="http://schemas.microsoft.com/office/drawing/2014/main" id="{4882F3EC-B88D-2541-B52D-2DB9BDCDA827}"/>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838200" y="1108136"/>
            <a:ext cx="10515600" cy="5392615"/>
          </a:xfrm>
          <a:prstGeom prst="rect">
            <a:avLst/>
          </a:prstGeom>
        </p:spPr>
      </p:pic>
    </p:spTree>
    <p:extLst>
      <p:ext uri="{BB962C8B-B14F-4D97-AF65-F5344CB8AC3E}">
        <p14:creationId xmlns:p14="http://schemas.microsoft.com/office/powerpoint/2010/main" val="17453228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How about chronic liver disease and cirrhosis, is there a score?</a:t>
            </a:r>
          </a:p>
        </p:txBody>
      </p:sp>
      <p:sp>
        <p:nvSpPr>
          <p:cNvPr id="7" name="Text Placeholder 6">
            <a:extLst>
              <a:ext uri="{FF2B5EF4-FFF2-40B4-BE49-F238E27FC236}">
                <a16:creationId xmlns:a16="http://schemas.microsoft.com/office/drawing/2014/main" id="{26D743CA-11D4-004D-88AC-62279A44693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160292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Model For End-Stage Liver Disease (MELD)</a:t>
            </a:r>
          </a:p>
        </p:txBody>
      </p:sp>
      <p:sp>
        <p:nvSpPr>
          <p:cNvPr id="7" name="Text Placeholder 6">
            <a:extLst>
              <a:ext uri="{FF2B5EF4-FFF2-40B4-BE49-F238E27FC236}">
                <a16:creationId xmlns:a16="http://schemas.microsoft.com/office/drawing/2014/main" id="{26D743CA-11D4-004D-88AC-62279A44693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1592655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normAutofit fontScale="90000"/>
          </a:bodyPr>
          <a:lstStyle/>
          <a:p>
            <a:r>
              <a:rPr lang="en-US" dirty="0"/>
              <a:t>Model For End-Stage Liver Disease (MELD) Score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E75B60-066F-284F-B2F4-42BDBF31E761}"/>
                  </a:ext>
                </a:extLst>
              </p:cNvPr>
              <p:cNvSpPr>
                <a:spLocks noGrp="1"/>
              </p:cNvSpPr>
              <p:nvPr>
                <p:ph idx="1"/>
              </p:nvPr>
            </p:nvSpPr>
            <p:spPr/>
            <p:txBody>
              <a:bodyPr anchor="ctr">
                <a:normAutofit/>
              </a:bodyPr>
              <a:lstStyle/>
              <a:p>
                <a:pPr marL="0" indent="0" algn="ctr">
                  <a:buNone/>
                </a:pPr>
                <a14:m>
                  <m:oMath xmlns:m="http://schemas.openxmlformats.org/officeDocument/2006/math">
                    <m:r>
                      <a:rPr lang="en-US" sz="4400" b="0" i="1" smtClean="0">
                        <a:latin typeface="Cambria Math" panose="02040503050406030204" pitchFamily="18" charset="0"/>
                      </a:rPr>
                      <m:t>𝑀𝐸𝐿𝐷</m:t>
                    </m:r>
                  </m:oMath>
                </a14:m>
                <a:r>
                  <a:rPr lang="en-US" sz="4400" b="0" i="1" dirty="0">
                    <a:latin typeface="Cambria Math" panose="02040503050406030204" pitchFamily="18" charset="0"/>
                  </a:rPr>
                  <a:t> = </a:t>
                </a:r>
              </a:p>
              <a:p>
                <a:pPr marL="0" indent="0" algn="ctr">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3.78</m:t>
                      </m:r>
                      <m:r>
                        <a:rPr lang="en-US" sz="4400" i="1" smtClean="0">
                          <a:latin typeface="Cambria Math" panose="02040503050406030204" pitchFamily="18" charset="0"/>
                          <a:ea typeface="Cambria Math" panose="02040503050406030204" pitchFamily="18" charset="0"/>
                        </a:rPr>
                        <m:t>∙</m:t>
                      </m:r>
                      <m:func>
                        <m:funcPr>
                          <m:ctrlPr>
                            <a:rPr lang="en-US" sz="4400" b="0" i="1" smtClean="0">
                              <a:latin typeface="Cambria Math" panose="02040503050406030204" pitchFamily="18" charset="0"/>
                            </a:rPr>
                          </m:ctrlPr>
                        </m:funcPr>
                        <m:fName>
                          <m:r>
                            <m:rPr>
                              <m:sty m:val="p"/>
                            </m:rPr>
                            <a:rPr lang="en-US" sz="4400" b="0" i="1" smtClean="0">
                              <a:latin typeface="Cambria Math" panose="02040503050406030204" pitchFamily="18" charset="0"/>
                            </a:rPr>
                            <m:t>ln</m:t>
                          </m:r>
                        </m:fName>
                        <m:e>
                          <m:d>
                            <m:dPr>
                              <m:ctrlPr>
                                <a:rPr lang="en-US" sz="4400" b="0" i="1" smtClean="0">
                                  <a:latin typeface="Cambria Math" panose="02040503050406030204" pitchFamily="18" charset="0"/>
                                </a:rPr>
                              </m:ctrlPr>
                            </m:dPr>
                            <m:e>
                              <m:r>
                                <a:rPr lang="en-US" sz="4400" b="1" i="1" smtClean="0">
                                  <a:latin typeface="Cambria Math" panose="02040503050406030204" pitchFamily="18" charset="0"/>
                                </a:rPr>
                                <m:t>𝒃𝒊𝒍𝒊𝒓𝒖𝒃𝒊𝒏</m:t>
                              </m:r>
                            </m:e>
                          </m:d>
                        </m:e>
                      </m:func>
                      <m:r>
                        <a:rPr lang="en-US" sz="4400" b="0" i="1" smtClean="0">
                          <a:latin typeface="Cambria Math" panose="02040503050406030204" pitchFamily="18" charset="0"/>
                        </a:rPr>
                        <m:t>+</m:t>
                      </m:r>
                    </m:oMath>
                  </m:oMathPara>
                </a14:m>
                <a:endParaRPr lang="en-US" sz="4400"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11.2</m:t>
                      </m:r>
                      <m:r>
                        <a:rPr lang="en-US" sz="4400" i="1">
                          <a:latin typeface="Cambria Math" panose="02040503050406030204" pitchFamily="18" charset="0"/>
                          <a:ea typeface="Cambria Math" panose="02040503050406030204" pitchFamily="18" charset="0"/>
                        </a:rPr>
                        <m:t>∙</m:t>
                      </m:r>
                      <m:func>
                        <m:funcPr>
                          <m:ctrlPr>
                            <a:rPr lang="en-US" sz="4400" b="0" i="1" smtClean="0">
                              <a:latin typeface="Cambria Math" panose="02040503050406030204" pitchFamily="18" charset="0"/>
                            </a:rPr>
                          </m:ctrlPr>
                        </m:funcPr>
                        <m:fName>
                          <m:r>
                            <m:rPr>
                              <m:sty m:val="p"/>
                            </m:rPr>
                            <a:rPr lang="en-US" sz="4400" b="0" i="1" smtClean="0">
                              <a:latin typeface="Cambria Math" panose="02040503050406030204" pitchFamily="18" charset="0"/>
                            </a:rPr>
                            <m:t>ln</m:t>
                          </m:r>
                        </m:fName>
                        <m:e>
                          <m:d>
                            <m:dPr>
                              <m:ctrlPr>
                                <a:rPr lang="en-US" sz="4400" b="0" i="1" smtClean="0">
                                  <a:latin typeface="Cambria Math" panose="02040503050406030204" pitchFamily="18" charset="0"/>
                                </a:rPr>
                              </m:ctrlPr>
                            </m:dPr>
                            <m:e>
                              <m:r>
                                <a:rPr lang="en-US" sz="4400" b="1" i="1" smtClean="0">
                                  <a:latin typeface="Cambria Math" panose="02040503050406030204" pitchFamily="18" charset="0"/>
                                </a:rPr>
                                <m:t>𝑰𝑵𝑹</m:t>
                              </m:r>
                            </m:e>
                          </m:d>
                        </m:e>
                      </m:func>
                      <m:r>
                        <a:rPr lang="en-US" sz="4400" b="0" i="1" smtClean="0">
                          <a:latin typeface="Cambria Math" panose="02040503050406030204" pitchFamily="18" charset="0"/>
                        </a:rPr>
                        <m:t>+</m:t>
                      </m:r>
                    </m:oMath>
                  </m:oMathPara>
                </a14:m>
                <a:endParaRPr lang="en-US" sz="4400"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9.57</m:t>
                      </m:r>
                      <m:r>
                        <a:rPr lang="en-US" sz="4400" i="1">
                          <a:latin typeface="Cambria Math" panose="02040503050406030204" pitchFamily="18" charset="0"/>
                          <a:ea typeface="Cambria Math" panose="02040503050406030204" pitchFamily="18" charset="0"/>
                        </a:rPr>
                        <m:t>∙</m:t>
                      </m:r>
                      <m:func>
                        <m:funcPr>
                          <m:ctrlPr>
                            <a:rPr lang="en-US" sz="4400" b="0" i="1" smtClean="0">
                              <a:latin typeface="Cambria Math" panose="02040503050406030204" pitchFamily="18" charset="0"/>
                            </a:rPr>
                          </m:ctrlPr>
                        </m:funcPr>
                        <m:fName>
                          <m:r>
                            <m:rPr>
                              <m:sty m:val="p"/>
                            </m:rPr>
                            <a:rPr lang="en-US" sz="4400" b="0" i="1" smtClean="0">
                              <a:latin typeface="Cambria Math" panose="02040503050406030204" pitchFamily="18" charset="0"/>
                            </a:rPr>
                            <m:t>ln</m:t>
                          </m:r>
                        </m:fName>
                        <m:e>
                          <m:d>
                            <m:dPr>
                              <m:ctrlPr>
                                <a:rPr lang="en-US" sz="4400" b="0" i="1" smtClean="0">
                                  <a:latin typeface="Cambria Math" panose="02040503050406030204" pitchFamily="18" charset="0"/>
                                </a:rPr>
                              </m:ctrlPr>
                            </m:dPr>
                            <m:e>
                              <m:r>
                                <a:rPr lang="en-US" sz="4400" b="1" i="1" smtClean="0">
                                  <a:latin typeface="Cambria Math" panose="02040503050406030204" pitchFamily="18" charset="0"/>
                                </a:rPr>
                                <m:t>𝒄𝒓𝒆𝒂𝒕𝒊𝒏𝒊𝒏𝒆</m:t>
                              </m:r>
                            </m:e>
                          </m:d>
                        </m:e>
                      </m:func>
                      <m:r>
                        <a:rPr lang="en-US" sz="4400" b="0" i="1" smtClean="0">
                          <a:latin typeface="Cambria Math" panose="02040503050406030204" pitchFamily="18" charset="0"/>
                        </a:rPr>
                        <m:t>+</m:t>
                      </m:r>
                    </m:oMath>
                  </m:oMathPara>
                </a14:m>
                <a:endParaRPr lang="en-US" sz="4400"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6.43</m:t>
                      </m:r>
                    </m:oMath>
                  </m:oMathPara>
                </a14:m>
                <a:endParaRPr lang="en-US" sz="4400" dirty="0"/>
              </a:p>
            </p:txBody>
          </p:sp>
        </mc:Choice>
        <mc:Fallback xmlns="">
          <p:sp>
            <p:nvSpPr>
              <p:cNvPr id="3" name="Content Placeholder 2">
                <a:extLst>
                  <a:ext uri="{FF2B5EF4-FFF2-40B4-BE49-F238E27FC236}">
                    <a16:creationId xmlns:a16="http://schemas.microsoft.com/office/drawing/2014/main" id="{BEE75B60-066F-284F-B2F4-42BDBF31E76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0393392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normAutofit fontScale="90000"/>
          </a:bodyPr>
          <a:lstStyle/>
          <a:p>
            <a:r>
              <a:rPr lang="en-US" dirty="0"/>
              <a:t>Model For End-Stage Liver Disease (MELD) Score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E75B60-066F-284F-B2F4-42BDBF31E761}"/>
                  </a:ext>
                </a:extLst>
              </p:cNvPr>
              <p:cNvSpPr>
                <a:spLocks noGrp="1"/>
              </p:cNvSpPr>
              <p:nvPr>
                <p:ph idx="1"/>
              </p:nvPr>
            </p:nvSpPr>
            <p:spPr/>
            <p:txBody>
              <a:bodyPr anchor="ctr">
                <a:normAutofit/>
              </a:bodyPr>
              <a:lstStyle/>
              <a:p>
                <a:pPr marL="0" indent="0" algn="ctr">
                  <a:buNone/>
                </a:pPr>
                <a:r>
                  <a:rPr lang="en-US" sz="4400" b="0" dirty="0"/>
                  <a:t>Normal </a:t>
                </a:r>
                <a14:m>
                  <m:oMath xmlns:m="http://schemas.openxmlformats.org/officeDocument/2006/math">
                    <m:r>
                      <a:rPr lang="en-US" sz="4400" b="0" i="1" smtClean="0">
                        <a:latin typeface="Cambria Math" panose="02040503050406030204" pitchFamily="18" charset="0"/>
                      </a:rPr>
                      <m:t>𝑀𝐸𝐿𝐷</m:t>
                    </m:r>
                  </m:oMath>
                </a14:m>
                <a:r>
                  <a:rPr lang="en-US" sz="4400" b="0" i="1" dirty="0">
                    <a:latin typeface="Cambria Math" panose="02040503050406030204" pitchFamily="18" charset="0"/>
                  </a:rPr>
                  <a:t> = </a:t>
                </a:r>
              </a:p>
              <a:p>
                <a:pPr marL="0" indent="0" algn="ctr">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3.78</m:t>
                      </m:r>
                      <m:r>
                        <a:rPr lang="en-US" sz="4400" i="1" smtClean="0">
                          <a:latin typeface="Cambria Math" panose="02040503050406030204" pitchFamily="18" charset="0"/>
                          <a:ea typeface="Cambria Math" panose="02040503050406030204" pitchFamily="18" charset="0"/>
                        </a:rPr>
                        <m:t>∙</m:t>
                      </m:r>
                      <m:func>
                        <m:funcPr>
                          <m:ctrlPr>
                            <a:rPr lang="en-US" sz="4400" b="0" i="1" smtClean="0">
                              <a:latin typeface="Cambria Math" panose="02040503050406030204" pitchFamily="18" charset="0"/>
                            </a:rPr>
                          </m:ctrlPr>
                        </m:funcPr>
                        <m:fName>
                          <m:r>
                            <m:rPr>
                              <m:sty m:val="p"/>
                            </m:rPr>
                            <a:rPr lang="en-US" sz="4400" b="0" i="1" smtClean="0">
                              <a:latin typeface="Cambria Math" panose="02040503050406030204" pitchFamily="18" charset="0"/>
                            </a:rPr>
                            <m:t>ln</m:t>
                          </m:r>
                        </m:fName>
                        <m:e>
                          <m:d>
                            <m:dPr>
                              <m:ctrlPr>
                                <a:rPr lang="en-US" sz="4400" b="0" i="1" smtClean="0">
                                  <a:latin typeface="Cambria Math" panose="02040503050406030204" pitchFamily="18" charset="0"/>
                                </a:rPr>
                              </m:ctrlPr>
                            </m:dPr>
                            <m:e>
                              <m:r>
                                <a:rPr lang="en-US" sz="4400" b="1" i="1" smtClean="0">
                                  <a:latin typeface="Cambria Math" panose="02040503050406030204" pitchFamily="18" charset="0"/>
                                </a:rPr>
                                <m:t>𝟏</m:t>
                              </m:r>
                            </m:e>
                          </m:d>
                        </m:e>
                      </m:func>
                      <m:r>
                        <a:rPr lang="en-US" sz="4400" b="0" i="1" smtClean="0">
                          <a:latin typeface="Cambria Math" panose="02040503050406030204" pitchFamily="18" charset="0"/>
                        </a:rPr>
                        <m:t>+</m:t>
                      </m:r>
                    </m:oMath>
                  </m:oMathPara>
                </a14:m>
                <a:endParaRPr lang="en-US" sz="4400"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11.2</m:t>
                      </m:r>
                      <m:r>
                        <a:rPr lang="en-US" sz="4400" i="1">
                          <a:latin typeface="Cambria Math" panose="02040503050406030204" pitchFamily="18" charset="0"/>
                          <a:ea typeface="Cambria Math" panose="02040503050406030204" pitchFamily="18" charset="0"/>
                        </a:rPr>
                        <m:t>∙</m:t>
                      </m:r>
                      <m:func>
                        <m:funcPr>
                          <m:ctrlPr>
                            <a:rPr lang="en-US" sz="4400" b="0" i="1" smtClean="0">
                              <a:latin typeface="Cambria Math" panose="02040503050406030204" pitchFamily="18" charset="0"/>
                            </a:rPr>
                          </m:ctrlPr>
                        </m:funcPr>
                        <m:fName>
                          <m:r>
                            <m:rPr>
                              <m:sty m:val="p"/>
                            </m:rPr>
                            <a:rPr lang="en-US" sz="4400" b="0" i="1" smtClean="0">
                              <a:latin typeface="Cambria Math" panose="02040503050406030204" pitchFamily="18" charset="0"/>
                            </a:rPr>
                            <m:t>ln</m:t>
                          </m:r>
                        </m:fName>
                        <m:e>
                          <m:d>
                            <m:dPr>
                              <m:ctrlPr>
                                <a:rPr lang="en-US" sz="4400" b="0" i="1" smtClean="0">
                                  <a:latin typeface="Cambria Math" panose="02040503050406030204" pitchFamily="18" charset="0"/>
                                </a:rPr>
                              </m:ctrlPr>
                            </m:dPr>
                            <m:e>
                              <m:r>
                                <a:rPr lang="en-US" sz="4400" b="1" i="1" smtClean="0">
                                  <a:latin typeface="Cambria Math" panose="02040503050406030204" pitchFamily="18" charset="0"/>
                                </a:rPr>
                                <m:t>𝟏</m:t>
                              </m:r>
                            </m:e>
                          </m:d>
                        </m:e>
                      </m:func>
                      <m:r>
                        <a:rPr lang="en-US" sz="4400" b="0" i="1" smtClean="0">
                          <a:latin typeface="Cambria Math" panose="02040503050406030204" pitchFamily="18" charset="0"/>
                        </a:rPr>
                        <m:t>+</m:t>
                      </m:r>
                    </m:oMath>
                  </m:oMathPara>
                </a14:m>
                <a:endParaRPr lang="en-US" sz="4400"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9.57</m:t>
                      </m:r>
                      <m:r>
                        <a:rPr lang="en-US" sz="4400" i="1">
                          <a:latin typeface="Cambria Math" panose="02040503050406030204" pitchFamily="18" charset="0"/>
                          <a:ea typeface="Cambria Math" panose="02040503050406030204" pitchFamily="18" charset="0"/>
                        </a:rPr>
                        <m:t>∙</m:t>
                      </m:r>
                      <m:func>
                        <m:funcPr>
                          <m:ctrlPr>
                            <a:rPr lang="en-US" sz="4400" b="0" i="1" smtClean="0">
                              <a:latin typeface="Cambria Math" panose="02040503050406030204" pitchFamily="18" charset="0"/>
                            </a:rPr>
                          </m:ctrlPr>
                        </m:funcPr>
                        <m:fName>
                          <m:r>
                            <m:rPr>
                              <m:sty m:val="p"/>
                            </m:rPr>
                            <a:rPr lang="en-US" sz="4400" b="0" i="1" smtClean="0">
                              <a:latin typeface="Cambria Math" panose="02040503050406030204" pitchFamily="18" charset="0"/>
                            </a:rPr>
                            <m:t>ln</m:t>
                          </m:r>
                        </m:fName>
                        <m:e>
                          <m:d>
                            <m:dPr>
                              <m:ctrlPr>
                                <a:rPr lang="en-US" sz="4400" b="0" i="1" smtClean="0">
                                  <a:latin typeface="Cambria Math" panose="02040503050406030204" pitchFamily="18" charset="0"/>
                                </a:rPr>
                              </m:ctrlPr>
                            </m:dPr>
                            <m:e>
                              <m:r>
                                <a:rPr lang="en-US" sz="4400" b="1" i="1" smtClean="0">
                                  <a:latin typeface="Cambria Math" panose="02040503050406030204" pitchFamily="18" charset="0"/>
                                </a:rPr>
                                <m:t>𝟏</m:t>
                              </m:r>
                            </m:e>
                          </m:d>
                        </m:e>
                      </m:func>
                      <m:r>
                        <a:rPr lang="en-US" sz="4400" b="0" i="1" smtClean="0">
                          <a:latin typeface="Cambria Math" panose="02040503050406030204" pitchFamily="18" charset="0"/>
                        </a:rPr>
                        <m:t>+</m:t>
                      </m:r>
                    </m:oMath>
                  </m:oMathPara>
                </a14:m>
                <a:endParaRPr lang="en-US" sz="4400"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6.43</m:t>
                      </m:r>
                    </m:oMath>
                  </m:oMathPara>
                </a14:m>
                <a:endParaRPr lang="en-US" sz="4400" dirty="0"/>
              </a:p>
            </p:txBody>
          </p:sp>
        </mc:Choice>
        <mc:Fallback xmlns="">
          <p:sp>
            <p:nvSpPr>
              <p:cNvPr id="3" name="Content Placeholder 2">
                <a:extLst>
                  <a:ext uri="{FF2B5EF4-FFF2-40B4-BE49-F238E27FC236}">
                    <a16:creationId xmlns:a16="http://schemas.microsoft.com/office/drawing/2014/main" id="{BEE75B60-066F-284F-B2F4-42BDBF31E76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777022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normAutofit fontScale="90000"/>
          </a:bodyPr>
          <a:lstStyle/>
          <a:p>
            <a:r>
              <a:rPr lang="en-US" dirty="0"/>
              <a:t>Model For End-Stage Liver Disease (MELD) Score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E75B60-066F-284F-B2F4-42BDBF31E761}"/>
                  </a:ext>
                </a:extLst>
              </p:cNvPr>
              <p:cNvSpPr>
                <a:spLocks noGrp="1"/>
              </p:cNvSpPr>
              <p:nvPr>
                <p:ph idx="1"/>
              </p:nvPr>
            </p:nvSpPr>
            <p:spPr/>
            <p:txBody>
              <a:bodyPr anchor="ctr">
                <a:normAutofit/>
              </a:bodyPr>
              <a:lstStyle/>
              <a:p>
                <a:pPr marL="0" indent="0" algn="ctr">
                  <a:buNone/>
                </a:pPr>
                <a14:m>
                  <m:oMath xmlns:m="http://schemas.openxmlformats.org/officeDocument/2006/math">
                    <m:r>
                      <a:rPr lang="en-US" sz="4400" b="0" i="1" smtClean="0">
                        <a:latin typeface="Cambria Math" panose="02040503050406030204" pitchFamily="18" charset="0"/>
                      </a:rPr>
                      <m:t>𝑁𝑜𝑟𝑚𝑎𝑙</m:t>
                    </m:r>
                    <m:r>
                      <a:rPr lang="en-US" sz="4400" b="0" i="1" smtClean="0">
                        <a:latin typeface="Cambria Math" panose="02040503050406030204" pitchFamily="18" charset="0"/>
                      </a:rPr>
                      <m:t> </m:t>
                    </m:r>
                    <m:r>
                      <a:rPr lang="en-US" sz="4400" b="0" i="1" smtClean="0">
                        <a:latin typeface="Cambria Math" panose="02040503050406030204" pitchFamily="18" charset="0"/>
                      </a:rPr>
                      <m:t>𝑀𝐸𝐿𝐷</m:t>
                    </m:r>
                  </m:oMath>
                </a14:m>
                <a:r>
                  <a:rPr lang="en-US" sz="4400" b="0" i="1" dirty="0">
                    <a:latin typeface="Cambria Math" panose="02040503050406030204" pitchFamily="18" charset="0"/>
                  </a:rPr>
                  <a:t> =  </a:t>
                </a:r>
                <a14:m>
                  <m:oMath xmlns:m="http://schemas.openxmlformats.org/officeDocument/2006/math">
                    <m:r>
                      <a:rPr lang="en-US" sz="4400" b="0" i="1" smtClean="0">
                        <a:latin typeface="Cambria Math" panose="02040503050406030204" pitchFamily="18" charset="0"/>
                      </a:rPr>
                      <m:t>6.43</m:t>
                    </m:r>
                  </m:oMath>
                </a14:m>
                <a:endParaRPr lang="en-US" sz="4400" dirty="0"/>
              </a:p>
            </p:txBody>
          </p:sp>
        </mc:Choice>
        <mc:Fallback xmlns="">
          <p:sp>
            <p:nvSpPr>
              <p:cNvPr id="3" name="Content Placeholder 2">
                <a:extLst>
                  <a:ext uri="{FF2B5EF4-FFF2-40B4-BE49-F238E27FC236}">
                    <a16:creationId xmlns:a16="http://schemas.microsoft.com/office/drawing/2014/main" id="{BEE75B60-066F-284F-B2F4-42BDBF31E76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0776897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MELD Score</a:t>
            </a:r>
          </a:p>
        </p:txBody>
      </p:sp>
      <p:pic>
        <p:nvPicPr>
          <p:cNvPr id="5" name="Content Placeholder 4">
            <a:extLst>
              <a:ext uri="{FF2B5EF4-FFF2-40B4-BE49-F238E27FC236}">
                <a16:creationId xmlns:a16="http://schemas.microsoft.com/office/drawing/2014/main" id="{BCB31FC4-DB82-6B47-BDF3-8B6D35CC06AD}"/>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2666052" y="1103313"/>
            <a:ext cx="6859895" cy="5402262"/>
          </a:xfrm>
          <a:prstGeom prst="rect">
            <a:avLst/>
          </a:prstGeom>
        </p:spPr>
      </p:pic>
    </p:spTree>
    <p:extLst>
      <p:ext uri="{BB962C8B-B14F-4D97-AF65-F5344CB8AC3E}">
        <p14:creationId xmlns:p14="http://schemas.microsoft.com/office/powerpoint/2010/main" val="400287177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MELD Score</a:t>
            </a:r>
          </a:p>
        </p:txBody>
      </p:sp>
      <p:pic>
        <p:nvPicPr>
          <p:cNvPr id="5" name="Content Placeholder 4">
            <a:extLst>
              <a:ext uri="{FF2B5EF4-FFF2-40B4-BE49-F238E27FC236}">
                <a16:creationId xmlns:a16="http://schemas.microsoft.com/office/drawing/2014/main" id="{BCB31FC4-DB82-6B47-BDF3-8B6D35CC06AD}"/>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2666052" y="1103313"/>
            <a:ext cx="6859895" cy="5402262"/>
          </a:xfrm>
          <a:prstGeom prst="rect">
            <a:avLst/>
          </a:prstGeom>
        </p:spPr>
      </p:pic>
      <p:cxnSp>
        <p:nvCxnSpPr>
          <p:cNvPr id="4" name="Straight Arrow Connector 3">
            <a:extLst>
              <a:ext uri="{FF2B5EF4-FFF2-40B4-BE49-F238E27FC236}">
                <a16:creationId xmlns:a16="http://schemas.microsoft.com/office/drawing/2014/main" id="{168FB550-A4C3-9241-A9E3-270C2A4B8DA0}"/>
              </a:ext>
            </a:extLst>
          </p:cNvPr>
          <p:cNvCxnSpPr>
            <a:cxnSpLocks/>
          </p:cNvCxnSpPr>
          <p:nvPr/>
        </p:nvCxnSpPr>
        <p:spPr>
          <a:xfrm flipV="1">
            <a:off x="4409077" y="1360583"/>
            <a:ext cx="0" cy="4212824"/>
          </a:xfrm>
          <a:prstGeom prst="straightConnector1">
            <a:avLst/>
          </a:prstGeom>
          <a:ln w="25400">
            <a:solidFill>
              <a:schemeClr val="tx1"/>
            </a:solidFill>
            <a:prstDash val="dash"/>
            <a:tailEnd type="none" w="lg" len="lg"/>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A8825BE-38B0-E740-A885-DCAEAE6B252E}"/>
              </a:ext>
            </a:extLst>
          </p:cNvPr>
          <p:cNvSpPr txBox="1"/>
          <p:nvPr/>
        </p:nvSpPr>
        <p:spPr>
          <a:xfrm>
            <a:off x="4409077" y="5207950"/>
            <a:ext cx="1923283" cy="369332"/>
          </a:xfrm>
          <a:prstGeom prst="rect">
            <a:avLst/>
          </a:prstGeom>
          <a:noFill/>
        </p:spPr>
        <p:txBody>
          <a:bodyPr wrap="none" rtlCol="0">
            <a:spAutoFit/>
          </a:bodyPr>
          <a:lstStyle/>
          <a:p>
            <a:r>
              <a:rPr lang="en-US" dirty="0">
                <a:latin typeface="Quadraat" panose="02000503060000090004" pitchFamily="2" charset="0"/>
              </a:rPr>
              <a:t>Starts at MELD = 6</a:t>
            </a:r>
          </a:p>
        </p:txBody>
      </p:sp>
    </p:spTree>
    <p:extLst>
      <p:ext uri="{BB962C8B-B14F-4D97-AF65-F5344CB8AC3E}">
        <p14:creationId xmlns:p14="http://schemas.microsoft.com/office/powerpoint/2010/main" val="429337691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MELD Score</a:t>
            </a:r>
          </a:p>
        </p:txBody>
      </p:sp>
      <p:pic>
        <p:nvPicPr>
          <p:cNvPr id="5" name="Content Placeholder 4">
            <a:extLst>
              <a:ext uri="{FF2B5EF4-FFF2-40B4-BE49-F238E27FC236}">
                <a16:creationId xmlns:a16="http://schemas.microsoft.com/office/drawing/2014/main" id="{BCB31FC4-DB82-6B47-BDF3-8B6D35CC06AD}"/>
              </a:ext>
            </a:extLst>
          </p:cNvPr>
          <p:cNvPicPr>
            <a:picLocks noGrp="1" noChangeAspect="1"/>
          </p:cNvPicPr>
          <p:nvPr>
            <p:ph idx="1"/>
          </p:nvPr>
        </p:nvPicPr>
        <p:blipFill>
          <a:blip r:embed="rId3" cstate="email">
            <a:extLst>
              <a:ext uri="{28A0092B-C50C-407E-A947-70E740481C1C}">
                <a14:useLocalDpi xmlns:a14="http://schemas.microsoft.com/office/drawing/2010/main"/>
              </a:ext>
            </a:extLst>
          </a:blip>
          <a:stretch>
            <a:fillRect/>
          </a:stretch>
        </p:blipFill>
        <p:spPr>
          <a:xfrm>
            <a:off x="2666052" y="1103313"/>
            <a:ext cx="6859895" cy="5402262"/>
          </a:xfrm>
          <a:prstGeom prst="rect">
            <a:avLst/>
          </a:prstGeom>
        </p:spPr>
      </p:pic>
      <p:cxnSp>
        <p:nvCxnSpPr>
          <p:cNvPr id="4" name="Straight Arrow Connector 3">
            <a:extLst>
              <a:ext uri="{FF2B5EF4-FFF2-40B4-BE49-F238E27FC236}">
                <a16:creationId xmlns:a16="http://schemas.microsoft.com/office/drawing/2014/main" id="{2038829A-A19E-A346-817E-86B3AA9C89F8}"/>
              </a:ext>
            </a:extLst>
          </p:cNvPr>
          <p:cNvCxnSpPr/>
          <p:nvPr/>
        </p:nvCxnSpPr>
        <p:spPr>
          <a:xfrm flipV="1">
            <a:off x="5448168" y="1530043"/>
            <a:ext cx="0" cy="4043363"/>
          </a:xfrm>
          <a:prstGeom prst="straightConnector1">
            <a:avLst/>
          </a:prstGeom>
          <a:ln w="25400">
            <a:solidFill>
              <a:schemeClr val="tx1"/>
            </a:solidFill>
            <a:prstDash val="dash"/>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078BF6-7FF8-764D-A2DC-A8D36F4115E1}"/>
                  </a:ext>
                </a:extLst>
              </p:cNvPr>
              <p:cNvSpPr txBox="1"/>
              <p:nvPr/>
            </p:nvSpPr>
            <p:spPr>
              <a:xfrm>
                <a:off x="7037835" y="1220732"/>
                <a:ext cx="4315965" cy="1384995"/>
              </a:xfrm>
              <a:prstGeom prst="rect">
                <a:avLst/>
              </a:prstGeom>
              <a:noFill/>
            </p:spPr>
            <p:txBody>
              <a:bodyPr wrap="square" rtlCol="0">
                <a:spAutoFit/>
              </a:bodyPr>
              <a:lstStyle/>
              <a:p>
                <a:r>
                  <a:rPr lang="en-US" sz="2800" dirty="0">
                    <a:latin typeface="Quadraat" panose="02000503060000090004" pitchFamily="2" charset="0"/>
                  </a:rPr>
                  <a:t>MELD </a:t>
                </a:r>
                <a14:m>
                  <m:oMath xmlns:m="http://schemas.openxmlformats.org/officeDocument/2006/math">
                    <m:r>
                      <a:rPr lang="en-US" sz="2800" i="1" smtClean="0">
                        <a:latin typeface="Cambria Math" panose="02040503050406030204" pitchFamily="18" charset="0"/>
                        <a:ea typeface="Cambria Math" panose="02040503050406030204" pitchFamily="18" charset="0"/>
                      </a:rPr>
                      <m:t>≥</m:t>
                    </m:r>
                  </m:oMath>
                </a14:m>
                <a:r>
                  <a:rPr lang="en-US" sz="2800" dirty="0">
                    <a:latin typeface="Quadraat" panose="02000503060000090004" pitchFamily="2" charset="0"/>
                  </a:rPr>
                  <a:t> 15 is an indication for transplant listing in patients with </a:t>
                </a:r>
                <a:r>
                  <a:rPr lang="en-US" sz="2800" b="1" dirty="0">
                    <a:latin typeface="Quadraat" panose="02000503060000090004" pitchFamily="2" charset="0"/>
                  </a:rPr>
                  <a:t>cirrhosis</a:t>
                </a:r>
                <a:r>
                  <a:rPr lang="en-US" sz="2800" dirty="0">
                    <a:latin typeface="Quadraat" panose="02000503060000090004" pitchFamily="2" charset="0"/>
                  </a:rPr>
                  <a:t>.</a:t>
                </a:r>
              </a:p>
            </p:txBody>
          </p:sp>
        </mc:Choice>
        <mc:Fallback xmlns="">
          <p:sp>
            <p:nvSpPr>
              <p:cNvPr id="6" name="TextBox 5">
                <a:extLst>
                  <a:ext uri="{FF2B5EF4-FFF2-40B4-BE49-F238E27FC236}">
                    <a16:creationId xmlns:a16="http://schemas.microsoft.com/office/drawing/2014/main" id="{DB078BF6-7FF8-764D-A2DC-A8D36F4115E1}"/>
                  </a:ext>
                </a:extLst>
              </p:cNvPr>
              <p:cNvSpPr txBox="1">
                <a:spLocks noRot="1" noChangeAspect="1" noMove="1" noResize="1" noEditPoints="1" noAdjustHandles="1" noChangeArrowheads="1" noChangeShapeType="1" noTextEdit="1"/>
              </p:cNvSpPr>
              <p:nvPr/>
            </p:nvSpPr>
            <p:spPr>
              <a:xfrm>
                <a:off x="7037835" y="1220732"/>
                <a:ext cx="4315965" cy="1384995"/>
              </a:xfrm>
              <a:prstGeom prst="rect">
                <a:avLst/>
              </a:prstGeom>
              <a:blipFill>
                <a:blip r:embed="rId4"/>
                <a:stretch>
                  <a:fillRect l="-2639" t="-4587" b="-11009"/>
                </a:stretch>
              </a:blipFill>
            </p:spPr>
            <p:txBody>
              <a:bodyPr/>
              <a:lstStyle/>
              <a:p>
                <a:r>
                  <a:rPr lang="en-US">
                    <a:noFill/>
                  </a:rPr>
                  <a:t> </a:t>
                </a:r>
              </a:p>
            </p:txBody>
          </p:sp>
        </mc:Fallback>
      </mc:AlternateContent>
    </p:spTree>
    <p:extLst>
      <p:ext uri="{BB962C8B-B14F-4D97-AF65-F5344CB8AC3E}">
        <p14:creationId xmlns:p14="http://schemas.microsoft.com/office/powerpoint/2010/main" val="242301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MELD Score</a:t>
            </a:r>
          </a:p>
        </p:txBody>
      </p:sp>
      <p:pic>
        <p:nvPicPr>
          <p:cNvPr id="5" name="Content Placeholder 4">
            <a:extLst>
              <a:ext uri="{FF2B5EF4-FFF2-40B4-BE49-F238E27FC236}">
                <a16:creationId xmlns:a16="http://schemas.microsoft.com/office/drawing/2014/main" id="{BCB31FC4-DB82-6B47-BDF3-8B6D35CC06AD}"/>
              </a:ext>
            </a:extLst>
          </p:cNvPr>
          <p:cNvPicPr>
            <a:picLocks noGrp="1" noChangeAspect="1"/>
          </p:cNvPicPr>
          <p:nvPr>
            <p:ph idx="1"/>
          </p:nvPr>
        </p:nvPicPr>
        <p:blipFill>
          <a:blip r:embed="rId3" cstate="email">
            <a:extLst>
              <a:ext uri="{28A0092B-C50C-407E-A947-70E740481C1C}">
                <a14:useLocalDpi xmlns:a14="http://schemas.microsoft.com/office/drawing/2010/main"/>
              </a:ext>
            </a:extLst>
          </a:blip>
          <a:stretch>
            <a:fillRect/>
          </a:stretch>
        </p:blipFill>
        <p:spPr>
          <a:xfrm>
            <a:off x="2666052" y="1103313"/>
            <a:ext cx="6859895" cy="5402262"/>
          </a:xfrm>
          <a:prstGeom prst="rect">
            <a:avLst/>
          </a:prstGeom>
        </p:spPr>
      </p:pic>
      <p:cxnSp>
        <p:nvCxnSpPr>
          <p:cNvPr id="4" name="Straight Arrow Connector 3">
            <a:extLst>
              <a:ext uri="{FF2B5EF4-FFF2-40B4-BE49-F238E27FC236}">
                <a16:creationId xmlns:a16="http://schemas.microsoft.com/office/drawing/2014/main" id="{2038829A-A19E-A346-817E-86B3AA9C89F8}"/>
              </a:ext>
            </a:extLst>
          </p:cNvPr>
          <p:cNvCxnSpPr/>
          <p:nvPr/>
        </p:nvCxnSpPr>
        <p:spPr>
          <a:xfrm flipV="1">
            <a:off x="5448168" y="1530043"/>
            <a:ext cx="0" cy="4043363"/>
          </a:xfrm>
          <a:prstGeom prst="straightConnector1">
            <a:avLst/>
          </a:prstGeom>
          <a:ln w="25400">
            <a:solidFill>
              <a:schemeClr val="tx1"/>
            </a:solidFill>
            <a:prstDash val="dash"/>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078BF6-7FF8-764D-A2DC-A8D36F4115E1}"/>
                  </a:ext>
                </a:extLst>
              </p:cNvPr>
              <p:cNvSpPr txBox="1"/>
              <p:nvPr/>
            </p:nvSpPr>
            <p:spPr>
              <a:xfrm>
                <a:off x="7037835" y="1220732"/>
                <a:ext cx="4315965" cy="1384995"/>
              </a:xfrm>
              <a:prstGeom prst="rect">
                <a:avLst/>
              </a:prstGeom>
              <a:noFill/>
            </p:spPr>
            <p:txBody>
              <a:bodyPr wrap="square" rtlCol="0">
                <a:spAutoFit/>
              </a:bodyPr>
              <a:lstStyle/>
              <a:p>
                <a:r>
                  <a:rPr lang="en-US" sz="2800" dirty="0">
                    <a:latin typeface="Quadraat" panose="02000503060000090004" pitchFamily="2" charset="0"/>
                  </a:rPr>
                  <a:t>MELD </a:t>
                </a:r>
                <a14:m>
                  <m:oMath xmlns:m="http://schemas.openxmlformats.org/officeDocument/2006/math">
                    <m:r>
                      <a:rPr lang="en-US" sz="2800" i="1" smtClean="0">
                        <a:latin typeface="Cambria Math" panose="02040503050406030204" pitchFamily="18" charset="0"/>
                        <a:ea typeface="Cambria Math" panose="02040503050406030204" pitchFamily="18" charset="0"/>
                      </a:rPr>
                      <m:t>≥</m:t>
                    </m:r>
                  </m:oMath>
                </a14:m>
                <a:r>
                  <a:rPr lang="en-US" sz="2800" dirty="0">
                    <a:latin typeface="Quadraat" panose="02000503060000090004" pitchFamily="2" charset="0"/>
                  </a:rPr>
                  <a:t> 15 is an indication for transplant listing in patients with cirrhosis.</a:t>
                </a:r>
              </a:p>
            </p:txBody>
          </p:sp>
        </mc:Choice>
        <mc:Fallback xmlns="">
          <p:sp>
            <p:nvSpPr>
              <p:cNvPr id="6" name="TextBox 5">
                <a:extLst>
                  <a:ext uri="{FF2B5EF4-FFF2-40B4-BE49-F238E27FC236}">
                    <a16:creationId xmlns:a16="http://schemas.microsoft.com/office/drawing/2014/main" id="{DB078BF6-7FF8-764D-A2DC-A8D36F4115E1}"/>
                  </a:ext>
                </a:extLst>
              </p:cNvPr>
              <p:cNvSpPr txBox="1">
                <a:spLocks noRot="1" noChangeAspect="1" noMove="1" noResize="1" noEditPoints="1" noAdjustHandles="1" noChangeArrowheads="1" noChangeShapeType="1" noTextEdit="1"/>
              </p:cNvSpPr>
              <p:nvPr/>
            </p:nvSpPr>
            <p:spPr>
              <a:xfrm>
                <a:off x="7037835" y="1220732"/>
                <a:ext cx="4315965" cy="1384995"/>
              </a:xfrm>
              <a:prstGeom prst="rect">
                <a:avLst/>
              </a:prstGeom>
              <a:blipFill>
                <a:blip r:embed="rId4"/>
                <a:stretch>
                  <a:fillRect l="-2639" t="-4587" b="-11009"/>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8F5CFADA-939D-E74D-80FF-EBD70D88757D}"/>
              </a:ext>
            </a:extLst>
          </p:cNvPr>
          <p:cNvCxnSpPr>
            <a:cxnSpLocks/>
          </p:cNvCxnSpPr>
          <p:nvPr/>
        </p:nvCxnSpPr>
        <p:spPr>
          <a:xfrm flipV="1">
            <a:off x="7554059" y="3865418"/>
            <a:ext cx="0" cy="1707989"/>
          </a:xfrm>
          <a:prstGeom prst="straightConnector1">
            <a:avLst/>
          </a:prstGeom>
          <a:ln w="25400">
            <a:solidFill>
              <a:srgbClr val="7030A0"/>
            </a:solidFill>
            <a:prstDash val="dash"/>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501F0E4-F2EC-6944-9F82-0CB55B04253B}"/>
                  </a:ext>
                </a:extLst>
              </p:cNvPr>
              <p:cNvSpPr txBox="1"/>
              <p:nvPr/>
            </p:nvSpPr>
            <p:spPr>
              <a:xfrm>
                <a:off x="7992099" y="2856978"/>
                <a:ext cx="3895102" cy="1815882"/>
              </a:xfrm>
              <a:prstGeom prst="rect">
                <a:avLst/>
              </a:prstGeom>
              <a:noFill/>
            </p:spPr>
            <p:txBody>
              <a:bodyPr wrap="square" rtlCol="0">
                <a:spAutoFit/>
              </a:bodyPr>
              <a:lstStyle/>
              <a:p>
                <a:r>
                  <a:rPr lang="en-US" sz="2800" dirty="0">
                    <a:solidFill>
                      <a:srgbClr val="7030A0"/>
                    </a:solidFill>
                    <a:latin typeface="Quadraat" panose="02000503060000090004" pitchFamily="2" charset="0"/>
                  </a:rPr>
                  <a:t>MELD </a:t>
                </a:r>
                <a14:m>
                  <m:oMath xmlns:m="http://schemas.openxmlformats.org/officeDocument/2006/math">
                    <m:r>
                      <a:rPr lang="en-US" sz="2800" i="1" smtClean="0">
                        <a:solidFill>
                          <a:srgbClr val="7030A0"/>
                        </a:solidFill>
                        <a:latin typeface="Cambria Math" panose="02040503050406030204" pitchFamily="18" charset="0"/>
                        <a:ea typeface="Cambria Math" panose="02040503050406030204" pitchFamily="18" charset="0"/>
                      </a:rPr>
                      <m:t>≥</m:t>
                    </m:r>
                  </m:oMath>
                </a14:m>
                <a:r>
                  <a:rPr lang="en-US" sz="2800" dirty="0">
                    <a:solidFill>
                      <a:srgbClr val="7030A0"/>
                    </a:solidFill>
                    <a:latin typeface="Quadraat" panose="02000503060000090004" pitchFamily="2" charset="0"/>
                  </a:rPr>
                  <a:t> 33 is an indication for transplant listing in patients with acetaminophen toxicity.</a:t>
                </a:r>
              </a:p>
            </p:txBody>
          </p:sp>
        </mc:Choice>
        <mc:Fallback xmlns="">
          <p:sp>
            <p:nvSpPr>
              <p:cNvPr id="8" name="TextBox 7">
                <a:extLst>
                  <a:ext uri="{FF2B5EF4-FFF2-40B4-BE49-F238E27FC236}">
                    <a16:creationId xmlns:a16="http://schemas.microsoft.com/office/drawing/2014/main" id="{B501F0E4-F2EC-6944-9F82-0CB55B04253B}"/>
                  </a:ext>
                </a:extLst>
              </p:cNvPr>
              <p:cNvSpPr txBox="1">
                <a:spLocks noRot="1" noChangeAspect="1" noMove="1" noResize="1" noEditPoints="1" noAdjustHandles="1" noChangeArrowheads="1" noChangeShapeType="1" noTextEdit="1"/>
              </p:cNvSpPr>
              <p:nvPr/>
            </p:nvSpPr>
            <p:spPr>
              <a:xfrm>
                <a:off x="7992099" y="2856978"/>
                <a:ext cx="3895102" cy="1815882"/>
              </a:xfrm>
              <a:prstGeom prst="rect">
                <a:avLst/>
              </a:prstGeom>
              <a:blipFill>
                <a:blip r:embed="rId5"/>
                <a:stretch>
                  <a:fillRect l="-2922" t="-3472" b="-7639"/>
                </a:stretch>
              </a:blipFill>
            </p:spPr>
            <p:txBody>
              <a:bodyPr/>
              <a:lstStyle/>
              <a:p>
                <a:r>
                  <a:rPr lang="en-US">
                    <a:noFill/>
                  </a:rPr>
                  <a:t> </a:t>
                </a:r>
              </a:p>
            </p:txBody>
          </p:sp>
        </mc:Fallback>
      </mc:AlternateContent>
    </p:spTree>
    <p:extLst>
      <p:ext uri="{BB962C8B-B14F-4D97-AF65-F5344CB8AC3E}">
        <p14:creationId xmlns:p14="http://schemas.microsoft.com/office/powerpoint/2010/main" val="17518604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Liver Transplantation</a:t>
            </a:r>
          </a:p>
        </p:txBody>
      </p:sp>
      <p:sp>
        <p:nvSpPr>
          <p:cNvPr id="3" name="Text Placeholder 2">
            <a:extLst>
              <a:ext uri="{FF2B5EF4-FFF2-40B4-BE49-F238E27FC236}">
                <a16:creationId xmlns:a16="http://schemas.microsoft.com/office/drawing/2014/main" id="{C27111C8-D909-9748-996D-FC0C3BFC5C2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5427749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Indications for Liver Transplantation</a:t>
            </a:r>
          </a:p>
        </p:txBody>
      </p:sp>
      <p:pic>
        <p:nvPicPr>
          <p:cNvPr id="5" name="Content Placeholder 4">
            <a:extLst>
              <a:ext uri="{FF2B5EF4-FFF2-40B4-BE49-F238E27FC236}">
                <a16:creationId xmlns:a16="http://schemas.microsoft.com/office/drawing/2014/main" id="{CC2F9DC8-4D6E-5D42-B5E6-481097B2B091}"/>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2563457" y="1103313"/>
            <a:ext cx="7065085" cy="5402262"/>
          </a:xfrm>
          <a:prstGeom prst="rect">
            <a:avLst/>
          </a:prstGeom>
          <a:ln w="38100">
            <a:solidFill>
              <a:schemeClr val="tx1"/>
            </a:solidFill>
          </a:ln>
        </p:spPr>
      </p:pic>
    </p:spTree>
    <p:extLst>
      <p:ext uri="{BB962C8B-B14F-4D97-AF65-F5344CB8AC3E}">
        <p14:creationId xmlns:p14="http://schemas.microsoft.com/office/powerpoint/2010/main" val="385369808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What about contraindications for liver transplant?</a:t>
            </a:r>
          </a:p>
        </p:txBody>
      </p:sp>
      <p:sp>
        <p:nvSpPr>
          <p:cNvPr id="6" name="Text Placeholder 5">
            <a:extLst>
              <a:ext uri="{FF2B5EF4-FFF2-40B4-BE49-F238E27FC236}">
                <a16:creationId xmlns:a16="http://schemas.microsoft.com/office/drawing/2014/main" id="{D08BFB24-3957-CF4A-8B30-CC261D737BE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8072578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Contraindications for Liver Transplantation</a:t>
            </a:r>
          </a:p>
        </p:txBody>
      </p:sp>
      <p:pic>
        <p:nvPicPr>
          <p:cNvPr id="7" name="Content Placeholder 6">
            <a:extLst>
              <a:ext uri="{FF2B5EF4-FFF2-40B4-BE49-F238E27FC236}">
                <a16:creationId xmlns:a16="http://schemas.microsoft.com/office/drawing/2014/main" id="{FA6F4EB2-A41C-3545-B534-7214F12D9D4D}"/>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1703294" y="1734803"/>
            <a:ext cx="8785412" cy="4139282"/>
          </a:xfrm>
          <a:prstGeom prst="rect">
            <a:avLst/>
          </a:prstGeom>
          <a:ln w="38100">
            <a:solidFill>
              <a:schemeClr val="tx1"/>
            </a:solidFill>
          </a:ln>
        </p:spPr>
      </p:pic>
    </p:spTree>
    <p:extLst>
      <p:ext uri="{BB962C8B-B14F-4D97-AF65-F5344CB8AC3E}">
        <p14:creationId xmlns:p14="http://schemas.microsoft.com/office/powerpoint/2010/main" val="246256620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1694-19BC-DF4E-BCEF-078292C59B13}"/>
              </a:ext>
            </a:extLst>
          </p:cNvPr>
          <p:cNvSpPr>
            <a:spLocks noGrp="1"/>
          </p:cNvSpPr>
          <p:nvPr>
            <p:ph type="title"/>
          </p:nvPr>
        </p:nvSpPr>
        <p:spPr/>
        <p:txBody>
          <a:bodyPr/>
          <a:lstStyle/>
          <a:p>
            <a:r>
              <a:rPr lang="en-US" dirty="0"/>
              <a:t>Overall Reasons for Liver Transplantation</a:t>
            </a:r>
          </a:p>
        </p:txBody>
      </p:sp>
      <p:pic>
        <p:nvPicPr>
          <p:cNvPr id="5" name="Content Placeholder 4">
            <a:extLst>
              <a:ext uri="{FF2B5EF4-FFF2-40B4-BE49-F238E27FC236}">
                <a16:creationId xmlns:a16="http://schemas.microsoft.com/office/drawing/2014/main" id="{0633F0D8-1574-2D46-B640-B72E61B50F07}"/>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1318401" y="1103313"/>
            <a:ext cx="9555197" cy="5402262"/>
          </a:xfrm>
          <a:prstGeom prst="rect">
            <a:avLst/>
          </a:prstGeom>
        </p:spPr>
      </p:pic>
    </p:spTree>
    <p:extLst>
      <p:ext uri="{BB962C8B-B14F-4D97-AF65-F5344CB8AC3E}">
        <p14:creationId xmlns:p14="http://schemas.microsoft.com/office/powerpoint/2010/main" val="244704896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AC5101-9436-ED41-957E-6068DD14BC6D}"/>
              </a:ext>
            </a:extLst>
          </p:cNvPr>
          <p:cNvSpPr>
            <a:spLocks noGrp="1"/>
          </p:cNvSpPr>
          <p:nvPr>
            <p:ph type="title"/>
          </p:nvPr>
        </p:nvSpPr>
        <p:spPr/>
        <p:txBody>
          <a:bodyPr/>
          <a:lstStyle/>
          <a:p>
            <a:r>
              <a:rPr lang="en-US" dirty="0"/>
              <a:t>Back to the algorithm</a:t>
            </a:r>
          </a:p>
        </p:txBody>
      </p:sp>
      <p:sp>
        <p:nvSpPr>
          <p:cNvPr id="5" name="Text Placeholder 4">
            <a:extLst>
              <a:ext uri="{FF2B5EF4-FFF2-40B4-BE49-F238E27FC236}">
                <a16:creationId xmlns:a16="http://schemas.microsoft.com/office/drawing/2014/main" id="{A6F7CFAB-C9EF-D84E-9533-790FD813E55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114408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CA1F201-1FE3-C14D-9B15-385FF3DFDB7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28427" y="0"/>
            <a:ext cx="11335145" cy="6858000"/>
          </a:xfrm>
          <a:prstGeom prst="rect">
            <a:avLst/>
          </a:prstGeom>
        </p:spPr>
      </p:pic>
    </p:spTree>
    <p:extLst>
      <p:ext uri="{BB962C8B-B14F-4D97-AF65-F5344CB8AC3E}">
        <p14:creationId xmlns:p14="http://schemas.microsoft.com/office/powerpoint/2010/main" val="147957455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E89420-1E29-924D-9489-9BF61557B5AB}"/>
              </a:ext>
            </a:extLst>
          </p:cNvPr>
          <p:cNvSpPr>
            <a:spLocks noGrp="1"/>
          </p:cNvSpPr>
          <p:nvPr>
            <p:ph type="title"/>
          </p:nvPr>
        </p:nvSpPr>
        <p:spPr/>
        <p:txBody>
          <a:bodyPr/>
          <a:lstStyle/>
          <a:p>
            <a:r>
              <a:rPr lang="en-US" dirty="0"/>
              <a:t>But wait…</a:t>
            </a:r>
          </a:p>
        </p:txBody>
      </p:sp>
      <p:sp>
        <p:nvSpPr>
          <p:cNvPr id="5" name="Text Placeholder 4">
            <a:extLst>
              <a:ext uri="{FF2B5EF4-FFF2-40B4-BE49-F238E27FC236}">
                <a16:creationId xmlns:a16="http://schemas.microsoft.com/office/drawing/2014/main" id="{E65EB5E1-4C00-3B44-8738-3B67C8E229F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9314855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E89420-1E29-924D-9489-9BF61557B5AB}"/>
              </a:ext>
            </a:extLst>
          </p:cNvPr>
          <p:cNvSpPr>
            <a:spLocks noGrp="1"/>
          </p:cNvSpPr>
          <p:nvPr>
            <p:ph type="title"/>
          </p:nvPr>
        </p:nvSpPr>
        <p:spPr/>
        <p:txBody>
          <a:bodyPr/>
          <a:lstStyle/>
          <a:p>
            <a:r>
              <a:rPr lang="en-US" dirty="0"/>
              <a:t>But wait…</a:t>
            </a:r>
          </a:p>
        </p:txBody>
      </p:sp>
      <p:pic>
        <p:nvPicPr>
          <p:cNvPr id="6" name="Content Placeholder 5">
            <a:extLst>
              <a:ext uri="{FF2B5EF4-FFF2-40B4-BE49-F238E27FC236}">
                <a16:creationId xmlns:a16="http://schemas.microsoft.com/office/drawing/2014/main" id="{541E6711-57D5-7246-B17F-7D94EB39109A}"/>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1631475" y="1103313"/>
            <a:ext cx="8929049" cy="5402262"/>
          </a:xfrm>
          <a:prstGeom prst="rect">
            <a:avLst/>
          </a:prstGeom>
        </p:spPr>
      </p:pic>
    </p:spTree>
    <p:extLst>
      <p:ext uri="{BB962C8B-B14F-4D97-AF65-F5344CB8AC3E}">
        <p14:creationId xmlns:p14="http://schemas.microsoft.com/office/powerpoint/2010/main" val="990236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287CF8A0-7BDA-7645-BF0F-4A23666CFDE4}"/>
              </a:ext>
            </a:extLst>
          </p:cNvPr>
          <p:cNvPicPr>
            <a:picLocks noChangeAspect="1"/>
          </p:cNvPicPr>
          <p:nvPr/>
        </p:nvPicPr>
        <p:blipFill>
          <a:blip r:embed="rId2" cstate="email">
            <a:alphaModFix amt="25000"/>
            <a:extLst>
              <a:ext uri="{28A0092B-C50C-407E-A947-70E740481C1C}">
                <a14:useLocalDpi xmlns:a14="http://schemas.microsoft.com/office/drawing/2010/main"/>
              </a:ext>
            </a:extLst>
          </a:blip>
          <a:stretch>
            <a:fillRect/>
          </a:stretch>
        </p:blipFill>
        <p:spPr>
          <a:xfrm>
            <a:off x="1631475" y="1103313"/>
            <a:ext cx="8929049" cy="5402262"/>
          </a:xfrm>
          <a:prstGeom prst="rect">
            <a:avLst/>
          </a:prstGeom>
        </p:spPr>
      </p:pic>
      <p:sp>
        <p:nvSpPr>
          <p:cNvPr id="4" name="Title 3">
            <a:extLst>
              <a:ext uri="{FF2B5EF4-FFF2-40B4-BE49-F238E27FC236}">
                <a16:creationId xmlns:a16="http://schemas.microsoft.com/office/drawing/2014/main" id="{F8E89420-1E29-924D-9489-9BF61557B5AB}"/>
              </a:ext>
            </a:extLst>
          </p:cNvPr>
          <p:cNvSpPr>
            <a:spLocks noGrp="1"/>
          </p:cNvSpPr>
          <p:nvPr>
            <p:ph type="title"/>
          </p:nvPr>
        </p:nvSpPr>
        <p:spPr/>
        <p:txBody>
          <a:bodyPr/>
          <a:lstStyle/>
          <a:p>
            <a:r>
              <a:rPr lang="en-US" dirty="0"/>
              <a:t>But wait…</a:t>
            </a:r>
          </a:p>
        </p:txBody>
      </p:sp>
      <p:pic>
        <p:nvPicPr>
          <p:cNvPr id="6" name="Content Placeholder 5">
            <a:extLst>
              <a:ext uri="{FF2B5EF4-FFF2-40B4-BE49-F238E27FC236}">
                <a16:creationId xmlns:a16="http://schemas.microsoft.com/office/drawing/2014/main" id="{541E6711-57D5-7246-B17F-7D94EB39109A}"/>
              </a:ext>
            </a:extLst>
          </p:cNvPr>
          <p:cNvPicPr>
            <a:picLocks noGrp="1" noChangeAspect="1"/>
          </p:cNvPicPr>
          <p:nvPr>
            <p:ph idx="1"/>
          </p:nvPr>
        </p:nvPicPr>
        <p:blipFill rotWithShape="1">
          <a:blip r:embed="rId3" cstate="email">
            <a:extLst>
              <a:ext uri="{28A0092B-C50C-407E-A947-70E740481C1C}">
                <a14:useLocalDpi xmlns:a14="http://schemas.microsoft.com/office/drawing/2010/main"/>
              </a:ext>
            </a:extLst>
          </a:blip>
          <a:srcRect/>
          <a:stretch/>
        </p:blipFill>
        <p:spPr>
          <a:xfrm>
            <a:off x="3012140" y="4069976"/>
            <a:ext cx="1004047" cy="466165"/>
          </a:xfrm>
          <a:prstGeom prst="ellipse">
            <a:avLst/>
          </a:prstGeom>
        </p:spPr>
      </p:pic>
      <p:sp>
        <p:nvSpPr>
          <p:cNvPr id="3" name="Oval 2">
            <a:extLst>
              <a:ext uri="{FF2B5EF4-FFF2-40B4-BE49-F238E27FC236}">
                <a16:creationId xmlns:a16="http://schemas.microsoft.com/office/drawing/2014/main" id="{68CA6E80-10DC-7340-A993-6A8CED7C41A0}"/>
              </a:ext>
            </a:extLst>
          </p:cNvPr>
          <p:cNvSpPr/>
          <p:nvPr/>
        </p:nvSpPr>
        <p:spPr>
          <a:xfrm>
            <a:off x="3012141" y="4069976"/>
            <a:ext cx="1004047" cy="46616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96498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E89420-1E29-924D-9489-9BF61557B5AB}"/>
              </a:ext>
            </a:extLst>
          </p:cNvPr>
          <p:cNvSpPr>
            <a:spLocks noGrp="1"/>
          </p:cNvSpPr>
          <p:nvPr>
            <p:ph type="title"/>
          </p:nvPr>
        </p:nvSpPr>
        <p:spPr/>
        <p:txBody>
          <a:bodyPr/>
          <a:lstStyle/>
          <a:p>
            <a:r>
              <a:rPr lang="en-US" dirty="0"/>
              <a:t>But wait…</a:t>
            </a:r>
          </a:p>
        </p:txBody>
      </p:sp>
      <p:pic>
        <p:nvPicPr>
          <p:cNvPr id="6" name="Content Placeholder 5">
            <a:extLst>
              <a:ext uri="{FF2B5EF4-FFF2-40B4-BE49-F238E27FC236}">
                <a16:creationId xmlns:a16="http://schemas.microsoft.com/office/drawing/2014/main" id="{541E6711-57D5-7246-B17F-7D94EB39109A}"/>
              </a:ext>
            </a:extLst>
          </p:cNvPr>
          <p:cNvPicPr>
            <a:picLocks noGrp="1" noChangeAspect="1"/>
          </p:cNvPicPr>
          <p:nvPr>
            <p:ph idx="1"/>
          </p:nvPr>
        </p:nvPicPr>
        <p:blipFill>
          <a:blip r:embed="rId2" cstate="email">
            <a:alphaModFix amt="15000"/>
            <a:extLst>
              <a:ext uri="{28A0092B-C50C-407E-A947-70E740481C1C}">
                <a14:useLocalDpi xmlns:a14="http://schemas.microsoft.com/office/drawing/2010/main"/>
              </a:ext>
            </a:extLst>
          </a:blip>
          <a:stretch>
            <a:fillRect/>
          </a:stretch>
        </p:blipFill>
        <p:spPr>
          <a:xfrm>
            <a:off x="1631475" y="1103313"/>
            <a:ext cx="8929049" cy="5402262"/>
          </a:xfrm>
          <a:prstGeom prst="rect">
            <a:avLst/>
          </a:prstGeom>
        </p:spPr>
      </p:pic>
      <p:sp>
        <p:nvSpPr>
          <p:cNvPr id="2" name="TextBox 1">
            <a:extLst>
              <a:ext uri="{FF2B5EF4-FFF2-40B4-BE49-F238E27FC236}">
                <a16:creationId xmlns:a16="http://schemas.microsoft.com/office/drawing/2014/main" id="{310DECC3-04B2-F147-8068-5FC6ABAD05F4}"/>
              </a:ext>
            </a:extLst>
          </p:cNvPr>
          <p:cNvSpPr txBox="1"/>
          <p:nvPr/>
        </p:nvSpPr>
        <p:spPr>
          <a:xfrm>
            <a:off x="1353354" y="2497976"/>
            <a:ext cx="9485289" cy="1862048"/>
          </a:xfrm>
          <a:prstGeom prst="rect">
            <a:avLst/>
          </a:prstGeom>
          <a:noFill/>
        </p:spPr>
        <p:txBody>
          <a:bodyPr wrap="none" rtlCol="0">
            <a:spAutoFit/>
          </a:bodyPr>
          <a:lstStyle/>
          <a:p>
            <a:pPr algn="ctr"/>
            <a:r>
              <a:rPr lang="en-US" sz="11500" dirty="0">
                <a:latin typeface="Quadraat" panose="02000503060000090004" pitchFamily="2" charset="0"/>
              </a:rPr>
              <a:t>Liver dialysis???</a:t>
            </a:r>
          </a:p>
        </p:txBody>
      </p:sp>
    </p:spTree>
    <p:extLst>
      <p:ext uri="{BB962C8B-B14F-4D97-AF65-F5344CB8AC3E}">
        <p14:creationId xmlns:p14="http://schemas.microsoft.com/office/powerpoint/2010/main" val="264192007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464355D-1977-9743-BA6E-FF0625AEEFC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847098"/>
            <a:ext cx="6196441" cy="5970494"/>
          </a:xfrm>
          <a:prstGeom prst="rect">
            <a:avLst/>
          </a:prstGeom>
        </p:spPr>
      </p:pic>
      <p:pic>
        <p:nvPicPr>
          <p:cNvPr id="10" name="Picture 9">
            <a:extLst>
              <a:ext uri="{FF2B5EF4-FFF2-40B4-BE49-F238E27FC236}">
                <a16:creationId xmlns:a16="http://schemas.microsoft.com/office/drawing/2014/main" id="{95757417-417A-C042-A130-3287202A016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196440" y="865027"/>
            <a:ext cx="5995559" cy="5809256"/>
          </a:xfrm>
          <a:prstGeom prst="rect">
            <a:avLst/>
          </a:prstGeom>
        </p:spPr>
      </p:pic>
      <p:sp>
        <p:nvSpPr>
          <p:cNvPr id="11" name="Rectangle 10">
            <a:extLst>
              <a:ext uri="{FF2B5EF4-FFF2-40B4-BE49-F238E27FC236}">
                <a16:creationId xmlns:a16="http://schemas.microsoft.com/office/drawing/2014/main" id="{C1B24DEE-DFCB-194A-8FE1-2C058DAD863D}"/>
              </a:ext>
            </a:extLst>
          </p:cNvPr>
          <p:cNvSpPr/>
          <p:nvPr/>
        </p:nvSpPr>
        <p:spPr>
          <a:xfrm>
            <a:off x="1079078" y="208954"/>
            <a:ext cx="4038286" cy="461665"/>
          </a:xfrm>
          <a:prstGeom prst="rect">
            <a:avLst/>
          </a:prstGeom>
        </p:spPr>
        <p:txBody>
          <a:bodyPr wrap="none">
            <a:spAutoFit/>
          </a:bodyPr>
          <a:lstStyle/>
          <a:p>
            <a:pPr algn="ctr"/>
            <a:r>
              <a:rPr lang="en-US" sz="2400" b="1" dirty="0">
                <a:latin typeface="Quadraat" panose="02000503060000090004" pitchFamily="2" charset="0"/>
              </a:rPr>
              <a:t>Artificial liver support systems </a:t>
            </a:r>
            <a:endParaRPr lang="en-US" sz="2400" b="1" dirty="0">
              <a:effectLst/>
              <a:latin typeface="Quadraat" panose="02000503060000090004" pitchFamily="2" charset="0"/>
            </a:endParaRPr>
          </a:p>
        </p:txBody>
      </p:sp>
      <p:sp>
        <p:nvSpPr>
          <p:cNvPr id="12" name="Rectangle 11">
            <a:extLst>
              <a:ext uri="{FF2B5EF4-FFF2-40B4-BE49-F238E27FC236}">
                <a16:creationId xmlns:a16="http://schemas.microsoft.com/office/drawing/2014/main" id="{7B61E35D-76ED-224A-91D3-C8A7837C7D25}"/>
              </a:ext>
            </a:extLst>
          </p:cNvPr>
          <p:cNvSpPr/>
          <p:nvPr/>
        </p:nvSpPr>
        <p:spPr>
          <a:xfrm>
            <a:off x="6196437" y="215152"/>
            <a:ext cx="5995564" cy="461665"/>
          </a:xfrm>
          <a:prstGeom prst="rect">
            <a:avLst/>
          </a:prstGeom>
        </p:spPr>
        <p:txBody>
          <a:bodyPr wrap="square">
            <a:spAutoFit/>
          </a:bodyPr>
          <a:lstStyle/>
          <a:p>
            <a:pPr algn="ctr"/>
            <a:r>
              <a:rPr lang="en-US" sz="2400" b="1" dirty="0" err="1">
                <a:latin typeface="Quadraat" panose="02000503060000090004" pitchFamily="2" charset="0"/>
              </a:rPr>
              <a:t>Bioartifical</a:t>
            </a:r>
            <a:r>
              <a:rPr lang="en-US" sz="2400" b="1" dirty="0">
                <a:latin typeface="Quadraat" panose="02000503060000090004" pitchFamily="2" charset="0"/>
              </a:rPr>
              <a:t> liver support devices</a:t>
            </a:r>
            <a:endParaRPr lang="en-US" sz="2400" b="1" dirty="0">
              <a:effectLst/>
              <a:latin typeface="Quadraat" panose="02000503060000090004" pitchFamily="2" charset="0"/>
            </a:endParaRPr>
          </a:p>
        </p:txBody>
      </p:sp>
      <p:cxnSp>
        <p:nvCxnSpPr>
          <p:cNvPr id="14" name="Straight Connector 13">
            <a:extLst>
              <a:ext uri="{FF2B5EF4-FFF2-40B4-BE49-F238E27FC236}">
                <a16:creationId xmlns:a16="http://schemas.microsoft.com/office/drawing/2014/main" id="{C59F144B-782B-6644-A813-55B18BBD70E9}"/>
              </a:ext>
            </a:extLst>
          </p:cNvPr>
          <p:cNvCxnSpPr/>
          <p:nvPr/>
        </p:nvCxnSpPr>
        <p:spPr>
          <a:xfrm>
            <a:off x="6096000" y="321902"/>
            <a:ext cx="0" cy="645541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3549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2E9CE1-B2A7-1B4D-B317-EB461419D7F2}"/>
              </a:ext>
            </a:extLst>
          </p:cNvPr>
          <p:cNvSpPr>
            <a:spLocks noGrp="1"/>
          </p:cNvSpPr>
          <p:nvPr>
            <p:ph type="title"/>
          </p:nvPr>
        </p:nvSpPr>
        <p:spPr/>
        <p:txBody>
          <a:bodyPr>
            <a:normAutofit fontScale="90000"/>
          </a:bodyPr>
          <a:lstStyle/>
          <a:p>
            <a:r>
              <a:rPr lang="en-US" dirty="0"/>
              <a:t>Artificial and bioartificial liver support systems</a:t>
            </a:r>
          </a:p>
        </p:txBody>
      </p:sp>
      <p:sp>
        <p:nvSpPr>
          <p:cNvPr id="5" name="Content Placeholder 4">
            <a:extLst>
              <a:ext uri="{FF2B5EF4-FFF2-40B4-BE49-F238E27FC236}">
                <a16:creationId xmlns:a16="http://schemas.microsoft.com/office/drawing/2014/main" id="{30DDB0D7-5552-2149-96C4-84F2D5211DFC}"/>
              </a:ext>
            </a:extLst>
          </p:cNvPr>
          <p:cNvSpPr>
            <a:spLocks noGrp="1"/>
          </p:cNvSpPr>
          <p:nvPr>
            <p:ph idx="1"/>
          </p:nvPr>
        </p:nvSpPr>
        <p:spPr>
          <a:xfrm>
            <a:off x="838200" y="1103585"/>
            <a:ext cx="10515600" cy="3038109"/>
          </a:xfrm>
        </p:spPr>
        <p:txBody>
          <a:bodyPr anchor="ctr"/>
          <a:lstStyle/>
          <a:p>
            <a:pPr algn="ctr"/>
            <a:r>
              <a:rPr lang="en-US" dirty="0"/>
              <a:t>Only meant for bridging until transplantation</a:t>
            </a:r>
          </a:p>
          <a:p>
            <a:pPr algn="ctr"/>
            <a:r>
              <a:rPr lang="en-US" dirty="0"/>
              <a:t>Although some systems showed promise in resolving encephalopathy, none have shown mortality benefit yet</a:t>
            </a:r>
          </a:p>
        </p:txBody>
      </p:sp>
    </p:spTree>
    <p:extLst>
      <p:ext uri="{BB962C8B-B14F-4D97-AF65-F5344CB8AC3E}">
        <p14:creationId xmlns:p14="http://schemas.microsoft.com/office/powerpoint/2010/main" val="336771349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4D3E8A-FCBF-B446-A5B9-2353782E0439}"/>
              </a:ext>
            </a:extLst>
          </p:cNvPr>
          <p:cNvSpPr>
            <a:spLocks noGrp="1"/>
          </p:cNvSpPr>
          <p:nvPr>
            <p:ph type="title"/>
          </p:nvPr>
        </p:nvSpPr>
        <p:spPr/>
        <p:txBody>
          <a:bodyPr/>
          <a:lstStyle/>
          <a:p>
            <a:r>
              <a:rPr lang="en-US" dirty="0"/>
              <a:t>Thank you</a:t>
            </a:r>
          </a:p>
        </p:txBody>
      </p:sp>
      <p:sp>
        <p:nvSpPr>
          <p:cNvPr id="9" name="Text Placeholder 8">
            <a:extLst>
              <a:ext uri="{FF2B5EF4-FFF2-40B4-BE49-F238E27FC236}">
                <a16:creationId xmlns:a16="http://schemas.microsoft.com/office/drawing/2014/main" id="{1AEC0194-EB7D-F24B-9CB2-A9A46B82C1E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585885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10046</TotalTime>
  <Words>2461</Words>
  <Application>Microsoft Macintosh PowerPoint</Application>
  <PresentationFormat>Widescreen</PresentationFormat>
  <Paragraphs>554</Paragraphs>
  <Slides>128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128</vt:i4>
      </vt:variant>
    </vt:vector>
  </HeadingPairs>
  <TitlesOfParts>
    <vt:vector size="135" baseType="lpstr">
      <vt:lpstr>Arial</vt:lpstr>
      <vt:lpstr>Calibri</vt:lpstr>
      <vt:lpstr>Cambria Math</vt:lpstr>
      <vt:lpstr>Courier</vt:lpstr>
      <vt:lpstr>Quadraat</vt:lpstr>
      <vt:lpstr>System Font Regular</vt:lpstr>
      <vt:lpstr>Office Theme</vt:lpstr>
      <vt:lpstr>Acute liver injury</vt:lpstr>
      <vt:lpstr>Case</vt:lpstr>
      <vt:lpstr>Case</vt:lpstr>
      <vt:lpstr>Case</vt:lpstr>
      <vt:lpstr>Case</vt:lpstr>
      <vt:lpstr>Case</vt:lpstr>
      <vt:lpstr>Case</vt:lpstr>
      <vt:lpstr>PowerPoint Presentation</vt:lpstr>
      <vt:lpstr>PowerPoint Presentation</vt:lpstr>
      <vt:lpstr>What are your differential diagnoses?</vt:lpstr>
      <vt:lpstr>What are your differential diagnoses?</vt:lpstr>
      <vt:lpstr>Differential Diagnoses</vt:lpstr>
      <vt:lpstr>Normal Histology of the Liver</vt:lpstr>
      <vt:lpstr>Drainage of the Liver</vt:lpstr>
      <vt:lpstr>Drainage of the Liver</vt:lpstr>
      <vt:lpstr>Transaminitis</vt:lpstr>
      <vt:lpstr>Transaminitis</vt:lpstr>
      <vt:lpstr>Transaminitis Inflammation of the transaminase</vt:lpstr>
      <vt:lpstr>Transaminitis Inflammation of the transaminase</vt:lpstr>
      <vt:lpstr>“Liver Function Tests”  vs.  Liver Function Tests</vt:lpstr>
      <vt:lpstr>“Liver Function Tests” vs. Liver Function Tests</vt:lpstr>
      <vt:lpstr>“Liver Function Tests” vs. Liver Function Tests</vt:lpstr>
      <vt:lpstr>“Liver Function Tests” vs. Liver Function Tests</vt:lpstr>
      <vt:lpstr>Metabolism of a hepatocyte</vt:lpstr>
      <vt:lpstr>PowerPoint Presentation</vt:lpstr>
      <vt:lpstr>PowerPoint Presentation</vt:lpstr>
      <vt:lpstr>Liver Enzymes</vt:lpstr>
      <vt:lpstr>Are all liver enzymes specific to the liver?</vt:lpstr>
      <vt:lpstr>Aspartate aminotransferase (AST) and alanine aminotransferase (ALT)</vt:lpstr>
      <vt:lpstr>AST and ALT Concentrations</vt:lpstr>
      <vt:lpstr>Function of ALT and AST</vt:lpstr>
      <vt:lpstr>Function of ALT and AST</vt:lpstr>
      <vt:lpstr>Alkaline Phosphatase (ALP)</vt:lpstr>
      <vt:lpstr>Alkaline Phosphatase (ALP)</vt:lpstr>
      <vt:lpstr>What do you do if there is isolated ALP elevation?</vt:lpstr>
      <vt:lpstr>Alkaline Phosphatase (ALP)</vt:lpstr>
      <vt:lpstr>5′-Nucleotidase </vt:lpstr>
      <vt:lpstr>Albumin and prothrombin time</vt:lpstr>
      <vt:lpstr>Albumin</vt:lpstr>
      <vt:lpstr>Albumin</vt:lpstr>
      <vt:lpstr>Albumin</vt:lpstr>
      <vt:lpstr>Prothrombin time</vt:lpstr>
      <vt:lpstr>Prothrombin time</vt:lpstr>
      <vt:lpstr>Prothrombin time</vt:lpstr>
      <vt:lpstr>Prothrombin time</vt:lpstr>
      <vt:lpstr>Prothrombin time</vt:lpstr>
      <vt:lpstr>Prothrombin time</vt:lpstr>
      <vt:lpstr>Prothrombin time</vt:lpstr>
      <vt:lpstr>Prothrombin time</vt:lpstr>
      <vt:lpstr>Prothrombin time</vt:lpstr>
      <vt:lpstr>Synthetic Function</vt:lpstr>
      <vt:lpstr>Synthetic Function</vt:lpstr>
      <vt:lpstr>Types of Abnormal Liver Tests</vt:lpstr>
      <vt:lpstr>Types of Abnormal Liver Tests</vt:lpstr>
      <vt:lpstr>Types of Abnormal Liver Tests</vt:lpstr>
      <vt:lpstr>Evaluation of Cholestatic Liver Tests</vt:lpstr>
      <vt:lpstr>Evaluation of Cholestasis</vt:lpstr>
      <vt:lpstr>Evaluation of Hepatocellular Liver Tests</vt:lpstr>
      <vt:lpstr>Evaluation of Hepatocellular Liver Tests</vt:lpstr>
      <vt:lpstr>Evaluation of Hepatocellular Liver Tests</vt:lpstr>
      <vt:lpstr>Why does AST-to-ALT ratio matter?</vt:lpstr>
      <vt:lpstr>Why does AST-to-ALT ratio matter?</vt:lpstr>
      <vt:lpstr>Why does AST-to-ALT ratio matter?</vt:lpstr>
      <vt:lpstr>Why does AST-to-ALT ratio matter?</vt:lpstr>
      <vt:lpstr>The complicated story of PLP, AST and ALT</vt:lpstr>
      <vt:lpstr>The complicated story of PLP, AST and ALT</vt:lpstr>
      <vt:lpstr>Causes of Hepatocellular Injury</vt:lpstr>
      <vt:lpstr>Causes of Hepatocellular Injury</vt:lpstr>
      <vt:lpstr>Causes of Hepatocellular Injury</vt:lpstr>
      <vt:lpstr>Can you differentiate ischemic and viral hepatitis?</vt:lpstr>
      <vt:lpstr>Can you differentiate ischemic and viral hepatitis?</vt:lpstr>
      <vt:lpstr>Who is the sickest patient?</vt:lpstr>
      <vt:lpstr>Who is the sickest patient?</vt:lpstr>
      <vt:lpstr>Who is the sickest patient?</vt:lpstr>
      <vt:lpstr>“The degree of elevation of the aminotransferases does not correlate with the extent of liver injury”</vt:lpstr>
      <vt:lpstr>Approach to Asymptomatic Elevation of Liver Enzymes</vt:lpstr>
      <vt:lpstr>Approach to Asymptomatic Elevation of Liver Enzymes</vt:lpstr>
      <vt:lpstr>Hy’s Law</vt:lpstr>
      <vt:lpstr>Hy’s Law</vt:lpstr>
      <vt:lpstr>Hy’s Law</vt:lpstr>
      <vt:lpstr>Hy’s Law</vt:lpstr>
      <vt:lpstr>Hy’s Law</vt:lpstr>
      <vt:lpstr>Treatment</vt:lpstr>
      <vt:lpstr>Treatment</vt:lpstr>
      <vt:lpstr>PowerPoint Presentation</vt:lpstr>
      <vt:lpstr>PowerPoint Presentation</vt:lpstr>
      <vt:lpstr>Acute Liver Failure</vt:lpstr>
      <vt:lpstr>Acute Liver Failure</vt:lpstr>
      <vt:lpstr>Acute Liver Failure</vt:lpstr>
      <vt:lpstr>Acute Liver Failure</vt:lpstr>
      <vt:lpstr>Acute Liver Failure</vt:lpstr>
      <vt:lpstr>Classification of ALF</vt:lpstr>
      <vt:lpstr>What are the features of a patient with ALF (apart from the definition)?</vt:lpstr>
      <vt:lpstr>Features of ALF</vt:lpstr>
      <vt:lpstr>Causes of ALF Worldwide</vt:lpstr>
      <vt:lpstr>Treatment of ALF</vt:lpstr>
      <vt:lpstr>Treatment of ALF</vt:lpstr>
      <vt:lpstr>Metabolic and nutritional support</vt:lpstr>
      <vt:lpstr>Metabolic and nutritional support</vt:lpstr>
      <vt:lpstr>Metabolic and nutritional support</vt:lpstr>
      <vt:lpstr>Metabolic and nutritional support</vt:lpstr>
      <vt:lpstr>Metabolic and nutritional support</vt:lpstr>
      <vt:lpstr>Prognostic evaluation</vt:lpstr>
      <vt:lpstr>Criteria for Liver Transplantation in ALF</vt:lpstr>
      <vt:lpstr>Criteria for Liver Transplantation in ALF</vt:lpstr>
      <vt:lpstr>How about chronic liver disease and cirrhosis, is there a score?</vt:lpstr>
      <vt:lpstr>Model For End-Stage Liver Disease (MELD)</vt:lpstr>
      <vt:lpstr>Model For End-Stage Liver Disease (MELD) Score</vt:lpstr>
      <vt:lpstr>Model For End-Stage Liver Disease (MELD) Score</vt:lpstr>
      <vt:lpstr>Model For End-Stage Liver Disease (MELD) Score</vt:lpstr>
      <vt:lpstr>MELD Score</vt:lpstr>
      <vt:lpstr>MELD Score</vt:lpstr>
      <vt:lpstr>MELD Score</vt:lpstr>
      <vt:lpstr>MELD Score</vt:lpstr>
      <vt:lpstr>Liver Transplantation</vt:lpstr>
      <vt:lpstr>Indications for Liver Transplantation</vt:lpstr>
      <vt:lpstr>What about contraindications for liver transplant?</vt:lpstr>
      <vt:lpstr>Contraindications for Liver Transplantation</vt:lpstr>
      <vt:lpstr>Overall Reasons for Liver Transplantation</vt:lpstr>
      <vt:lpstr>Back to the algorithm</vt:lpstr>
      <vt:lpstr>PowerPoint Presentation</vt:lpstr>
      <vt:lpstr>But wait…</vt:lpstr>
      <vt:lpstr>But wait…</vt:lpstr>
      <vt:lpstr>But wait…</vt:lpstr>
      <vt:lpstr>But wait…</vt:lpstr>
      <vt:lpstr>PowerPoint Presentation</vt:lpstr>
      <vt:lpstr>Artificial and bioartificial liver support systems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Almeqdadi</dc:creator>
  <cp:lastModifiedBy>Mohammad Almeqdadi</cp:lastModifiedBy>
  <cp:revision>290</cp:revision>
  <dcterms:created xsi:type="dcterms:W3CDTF">2020-01-19T18:19:33Z</dcterms:created>
  <dcterms:modified xsi:type="dcterms:W3CDTF">2020-09-11T22:02:13Z</dcterms:modified>
</cp:coreProperties>
</file>