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8" r:id="rId3"/>
    <p:sldId id="259" r:id="rId4"/>
    <p:sldId id="260" r:id="rId5"/>
    <p:sldId id="257" r:id="rId6"/>
    <p:sldId id="299" r:id="rId7"/>
    <p:sldId id="276" r:id="rId8"/>
    <p:sldId id="282" r:id="rId9"/>
    <p:sldId id="264" r:id="rId10"/>
    <p:sldId id="284" r:id="rId11"/>
    <p:sldId id="266" r:id="rId12"/>
    <p:sldId id="286" r:id="rId13"/>
    <p:sldId id="267" r:id="rId14"/>
    <p:sldId id="287" r:id="rId15"/>
    <p:sldId id="265" r:id="rId16"/>
    <p:sldId id="285" r:id="rId17"/>
    <p:sldId id="268" r:id="rId18"/>
    <p:sldId id="288" r:id="rId19"/>
    <p:sldId id="289" r:id="rId20"/>
    <p:sldId id="271" r:id="rId21"/>
    <p:sldId id="290" r:id="rId22"/>
    <p:sldId id="270" r:id="rId23"/>
    <p:sldId id="291" r:id="rId24"/>
    <p:sldId id="269" r:id="rId25"/>
    <p:sldId id="283" r:id="rId26"/>
    <p:sldId id="272" r:id="rId27"/>
    <p:sldId id="292" r:id="rId28"/>
    <p:sldId id="293" r:id="rId29"/>
    <p:sldId id="294" r:id="rId30"/>
    <p:sldId id="274" r:id="rId31"/>
    <p:sldId id="295" r:id="rId32"/>
    <p:sldId id="275" r:id="rId33"/>
    <p:sldId id="296" r:id="rId34"/>
    <p:sldId id="278" r:id="rId35"/>
    <p:sldId id="297" r:id="rId36"/>
    <p:sldId id="281" r:id="rId37"/>
    <p:sldId id="280" r:id="rId38"/>
    <p:sldId id="298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94"/>
    <p:restoredTop sz="96197"/>
  </p:normalViewPr>
  <p:slideViewPr>
    <p:cSldViewPr snapToGrid="0" snapToObjects="1">
      <p:cViewPr varScale="1">
        <p:scale>
          <a:sx n="109" d="100"/>
          <a:sy n="109" d="100"/>
        </p:scale>
        <p:origin x="1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4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0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00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15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5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60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7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5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4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4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6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BE1FA-BCD9-1B47-A54E-D6C0F7221BE9}" type="datetimeFigureOut">
              <a:rPr lang="en-US" smtClean="0"/>
              <a:t>7/19/22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AE82C-B1DF-BA4A-9C51-7A09F4498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6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ystem Font Regular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Math Zack Galifianakis GIF - Math Zack Galifianakis Thinking GIFs">
            <a:extLst>
              <a:ext uri="{FF2B5EF4-FFF2-40B4-BE49-F238E27FC236}">
                <a16:creationId xmlns:a16="http://schemas.microsoft.com/office/drawing/2014/main" id="{27B26616-BA85-774C-BB94-E85923093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32" y="1638790"/>
            <a:ext cx="12302663" cy="525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FAC985-0C00-F04C-B78F-153E00062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0"/>
            <a:ext cx="12192002" cy="1638790"/>
          </a:xfrm>
        </p:spPr>
        <p:txBody>
          <a:bodyPr anchor="ctr">
            <a:normAutofit/>
          </a:bodyPr>
          <a:lstStyle/>
          <a:p>
            <a:r>
              <a:rPr lang="en-US" dirty="0"/>
              <a:t>Acute Liver Injury</a:t>
            </a:r>
            <a:br>
              <a:rPr lang="en-US" dirty="0"/>
            </a:br>
            <a:r>
              <a:rPr lang="en-US" sz="3100" i="1" dirty="0"/>
              <a:t>The art of pattern recognition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ABF9DB8-F260-434D-902E-DE32ED0A322F}"/>
              </a:ext>
            </a:extLst>
          </p:cNvPr>
          <p:cNvSpPr txBox="1">
            <a:spLocks/>
          </p:cNvSpPr>
          <p:nvPr/>
        </p:nvSpPr>
        <p:spPr>
          <a:xfrm>
            <a:off x="-55332" y="6061587"/>
            <a:ext cx="12192002" cy="835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200" b="1" i="1" dirty="0">
                <a:solidFill>
                  <a:schemeClr val="bg1"/>
                </a:solidFill>
              </a:rPr>
              <a:t>Mohammad Almeqdadi, MD</a:t>
            </a:r>
          </a:p>
        </p:txBody>
      </p:sp>
    </p:spTree>
    <p:extLst>
      <p:ext uri="{BB962C8B-B14F-4D97-AF65-F5344CB8AC3E}">
        <p14:creationId xmlns:p14="http://schemas.microsoft.com/office/powerpoint/2010/main" val="3290586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E677E6-9596-834A-94A7-C1D13F4E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Principles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7BEAB-88C5-F841-B6EE-A26AA8CC4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68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DD2C39-C91F-F64E-8BEF-66984CC5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“Liver Function Tests”</a:t>
            </a:r>
            <a:br>
              <a:rPr lang="en-US" dirty="0"/>
            </a:br>
            <a:r>
              <a:rPr lang="en-US" dirty="0"/>
              <a:t>vs</a:t>
            </a:r>
            <a:br>
              <a:rPr lang="en-US" dirty="0"/>
            </a:br>
            <a:r>
              <a:rPr lang="en-US" dirty="0"/>
              <a:t>Liver </a:t>
            </a:r>
            <a:r>
              <a:rPr lang="en-US" b="1" i="1" dirty="0"/>
              <a:t>Function</a:t>
            </a:r>
            <a:r>
              <a:rPr lang="en-US" dirty="0"/>
              <a:t> Tests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32079E-B5B2-304E-8503-9DBAF6B56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9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C04B69A-5A3B-D44D-BA81-668D0A0A62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488838"/>
              </p:ext>
            </p:extLst>
          </p:nvPr>
        </p:nvGraphicFramePr>
        <p:xfrm>
          <a:off x="2532993" y="1713723"/>
          <a:ext cx="7126014" cy="34305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3007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3563007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57175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Liver Integrity 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Liver Function Tests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5717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5717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5717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PT/INR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5717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5717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986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660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65EEF54-3718-B045-93AB-290427D94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101" y="319088"/>
            <a:ext cx="6841325" cy="6336636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3A4520-512C-3441-AA24-1F48E5CD9977}"/>
              </a:ext>
            </a:extLst>
          </p:cNvPr>
          <p:cNvSpPr txBox="1"/>
          <p:nvPr/>
        </p:nvSpPr>
        <p:spPr>
          <a:xfrm>
            <a:off x="1094959" y="3105834"/>
            <a:ext cx="1991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Sinusoidal side</a:t>
            </a:r>
          </a:p>
          <a:p>
            <a:pPr algn="ctr"/>
            <a:r>
              <a:rPr lang="en-US" b="1" dirty="0"/>
              <a:t>(</a:t>
            </a:r>
            <a:r>
              <a:rPr lang="en-US" b="1" dirty="0">
                <a:solidFill>
                  <a:srgbClr val="FF0000"/>
                </a:solidFill>
              </a:rPr>
              <a:t>Blood</a:t>
            </a:r>
            <a:r>
              <a:rPr lang="en-US" b="1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ABB90-DAA7-B94A-8E96-A9BA7FE5EEC3}"/>
              </a:ext>
            </a:extLst>
          </p:cNvPr>
          <p:cNvSpPr txBox="1"/>
          <p:nvPr/>
        </p:nvSpPr>
        <p:spPr>
          <a:xfrm>
            <a:off x="8764926" y="3105834"/>
            <a:ext cx="2137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Canalicular Side</a:t>
            </a:r>
          </a:p>
          <a:p>
            <a:pPr algn="ctr"/>
            <a:r>
              <a:rPr lang="en-US" b="1" dirty="0"/>
              <a:t>(</a:t>
            </a:r>
            <a:r>
              <a:rPr lang="en-US" b="1" dirty="0">
                <a:solidFill>
                  <a:srgbClr val="00B050"/>
                </a:solidFill>
              </a:rPr>
              <a:t>Bile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84649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9153F2-6123-6D42-A713-408D77B0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Presentations</a:t>
            </a:r>
            <a:br>
              <a:rPr lang="en-US" dirty="0"/>
            </a:br>
            <a:br>
              <a:rPr lang="en-US" dirty="0"/>
            </a:br>
            <a:r>
              <a:rPr lang="en-US" b="1" i="1" dirty="0"/>
              <a:t>What’s the most likely diagnosis?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A2686-85A6-7B4F-B7AF-D887DEE65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3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625601"/>
              </p:ext>
            </p:extLst>
          </p:nvPr>
        </p:nvGraphicFramePr>
        <p:xfrm>
          <a:off x="385729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51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902385"/>
              </p:ext>
            </p:extLst>
          </p:nvPr>
        </p:nvGraphicFramePr>
        <p:xfrm>
          <a:off x="1391498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4095D-9547-F044-923D-199187805221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Ischemic hepatitis</a:t>
            </a:r>
          </a:p>
          <a:p>
            <a:r>
              <a:rPr lang="en-US" dirty="0"/>
              <a:t>R factor determines </a:t>
            </a:r>
          </a:p>
          <a:p>
            <a:pPr lvl="1"/>
            <a:r>
              <a:rPr lang="en-US" dirty="0"/>
              <a:t>Hepatocellular vs cholestatic vs mixed</a:t>
            </a:r>
          </a:p>
          <a:p>
            <a:r>
              <a:rPr lang="en-US" dirty="0"/>
              <a:t>When you see hepatocellular injury in the 1000s, think the following</a:t>
            </a:r>
          </a:p>
          <a:p>
            <a:pPr marL="514350" indent="-514350">
              <a:buAutoNum type="arabicPeriod"/>
            </a:pPr>
            <a:r>
              <a:rPr lang="en-US" b="1" dirty="0"/>
              <a:t>Acute viral hepatitis</a:t>
            </a:r>
          </a:p>
          <a:p>
            <a:pPr marL="514350" indent="-514350">
              <a:buAutoNum type="arabicPeriod"/>
            </a:pPr>
            <a:r>
              <a:rPr lang="en-US" b="1" dirty="0"/>
              <a:t>Tylenol toxicity</a:t>
            </a:r>
          </a:p>
          <a:p>
            <a:pPr marL="514350" indent="-514350">
              <a:buAutoNum type="arabicPeriod"/>
            </a:pPr>
            <a:r>
              <a:rPr lang="en-US" b="1" dirty="0"/>
              <a:t>Ischemic hepatitis (shock)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ALT:LDH &lt; 1.5 is able to differentiate ischemic hepatitis</a:t>
            </a:r>
          </a:p>
        </p:txBody>
      </p:sp>
    </p:spTree>
    <p:extLst>
      <p:ext uri="{BB962C8B-B14F-4D97-AF65-F5344CB8AC3E}">
        <p14:creationId xmlns:p14="http://schemas.microsoft.com/office/powerpoint/2010/main" val="2319735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581447"/>
              </p:ext>
            </p:extLst>
          </p:nvPr>
        </p:nvGraphicFramePr>
        <p:xfrm>
          <a:off x="385729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13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1204744"/>
              </p:ext>
            </p:extLst>
          </p:nvPr>
        </p:nvGraphicFramePr>
        <p:xfrm>
          <a:off x="1473691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1ED3-14F2-D943-8CC9-3EAB1469AA34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Alcoholic hepatitis</a:t>
            </a:r>
          </a:p>
          <a:p>
            <a:r>
              <a:rPr lang="en-US" dirty="0"/>
              <a:t>Notice AST:ALT &gt; 2</a:t>
            </a:r>
          </a:p>
          <a:p>
            <a:r>
              <a:rPr lang="en-US" dirty="0"/>
              <a:t>Notice AST is in the 100s</a:t>
            </a:r>
          </a:p>
          <a:p>
            <a:pPr lvl="1"/>
            <a:r>
              <a:rPr lang="en-US" dirty="0"/>
              <a:t>Remember, AST in the 1000s is </a:t>
            </a:r>
            <a:r>
              <a:rPr lang="en-US" b="1" dirty="0"/>
              <a:t>not</a:t>
            </a:r>
            <a:r>
              <a:rPr lang="en-US" dirty="0"/>
              <a:t> alcoholic hepatitis, and look for another cause</a:t>
            </a:r>
          </a:p>
          <a:p>
            <a:r>
              <a:rPr lang="en-US" dirty="0"/>
              <a:t>Elevated </a:t>
            </a:r>
            <a:r>
              <a:rPr lang="en-US" dirty="0" err="1"/>
              <a:t>Tbili</a:t>
            </a:r>
            <a:r>
              <a:rPr lang="en-US" dirty="0"/>
              <a:t> and INR define severity of </a:t>
            </a:r>
            <a:r>
              <a:rPr lang="en-US" dirty="0" err="1"/>
              <a:t>alc</a:t>
            </a:r>
            <a:r>
              <a:rPr lang="en-US" dirty="0"/>
              <a:t> hep</a:t>
            </a:r>
          </a:p>
          <a:p>
            <a:pPr lvl="1"/>
            <a:r>
              <a:rPr lang="en-US" dirty="0"/>
              <a:t>Remember</a:t>
            </a:r>
            <a:r>
              <a:rPr lang="en-US" b="1" dirty="0"/>
              <a:t> </a:t>
            </a:r>
            <a:r>
              <a:rPr lang="en-US" b="1" dirty="0" err="1"/>
              <a:t>Maddrey</a:t>
            </a:r>
            <a:r>
              <a:rPr lang="en-US" b="1" dirty="0"/>
              <a:t> Discriminant Function </a:t>
            </a:r>
            <a:r>
              <a:rPr lang="en-US" dirty="0"/>
              <a:t>(MDF)</a:t>
            </a:r>
          </a:p>
          <a:p>
            <a:r>
              <a:rPr lang="en-US" b="1" dirty="0"/>
              <a:t>MDF is being replaced by MELD </a:t>
            </a:r>
            <a:r>
              <a:rPr lang="en-US" dirty="0"/>
              <a:t>as it is more accurate in predicting mortality 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1188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563013"/>
              </p:ext>
            </p:extLst>
          </p:nvPr>
        </p:nvGraphicFramePr>
        <p:xfrm>
          <a:off x="3857296" y="614658"/>
          <a:ext cx="3836277" cy="60977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Lipase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225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34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474158"/>
              </p:ext>
            </p:extLst>
          </p:nvPr>
        </p:nvGraphicFramePr>
        <p:xfrm>
          <a:off x="949709" y="614658"/>
          <a:ext cx="3836277" cy="60977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Lipase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22579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08649-B3AC-BD4D-8F76-1435EB155F40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Tylenol toxicity</a:t>
            </a:r>
          </a:p>
          <a:p>
            <a:r>
              <a:rPr lang="en-US" dirty="0"/>
              <a:t>Remember when you see ALT &gt; 10,000, think Tylenol</a:t>
            </a:r>
          </a:p>
          <a:p>
            <a:r>
              <a:rPr lang="en-US" dirty="0"/>
              <a:t>Can end up in massive hepatic necrosis and ALT levels fall to normal </a:t>
            </a:r>
          </a:p>
          <a:p>
            <a:pPr lvl="1"/>
            <a:r>
              <a:rPr lang="en-US" dirty="0"/>
              <a:t>Here, INR and </a:t>
            </a:r>
            <a:r>
              <a:rPr lang="en-US" dirty="0" err="1"/>
              <a:t>Tbili</a:t>
            </a:r>
            <a:r>
              <a:rPr lang="en-US" dirty="0"/>
              <a:t> will be elevated</a:t>
            </a:r>
          </a:p>
          <a:p>
            <a:r>
              <a:rPr lang="en-US" dirty="0"/>
              <a:t>Acute pancreatitis can also result from Tylenol </a:t>
            </a:r>
          </a:p>
          <a:p>
            <a:r>
              <a:rPr lang="en-US" b="1" dirty="0"/>
              <a:t>Do not delay NAC if Tylenol is suspected!</a:t>
            </a:r>
          </a:p>
          <a:p>
            <a:r>
              <a:rPr lang="en-US" dirty="0"/>
              <a:t>MELD &gt; 32 = transplant referral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745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134966"/>
              </p:ext>
            </p:extLst>
          </p:nvPr>
        </p:nvGraphicFramePr>
        <p:xfrm>
          <a:off x="385729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68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484933"/>
              </p:ext>
            </p:extLst>
          </p:nvPr>
        </p:nvGraphicFramePr>
        <p:xfrm>
          <a:off x="1124370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CF14E-92AE-4747-AA51-C0033277903B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Rhabdomyolysis</a:t>
            </a:r>
          </a:p>
          <a:p>
            <a:pPr lvl="1"/>
            <a:r>
              <a:rPr lang="en-US" dirty="0"/>
              <a:t>Could also be cardiac muscle (STEMI), but would not expect it in the 1000s</a:t>
            </a:r>
          </a:p>
          <a:p>
            <a:r>
              <a:rPr lang="en-US" dirty="0"/>
              <a:t>Normal ALT = no liver injury</a:t>
            </a:r>
          </a:p>
          <a:p>
            <a:r>
              <a:rPr lang="en-US" dirty="0"/>
              <a:t>Isolated AST elevation = extrahepatic sources</a:t>
            </a:r>
          </a:p>
          <a:p>
            <a:pPr lvl="1"/>
            <a:r>
              <a:rPr lang="en-US" dirty="0"/>
              <a:t>Skeletal muscle</a:t>
            </a:r>
          </a:p>
          <a:p>
            <a:pPr lvl="1"/>
            <a:r>
              <a:rPr lang="en-US" dirty="0"/>
              <a:t>Cardiac muscle</a:t>
            </a:r>
          </a:p>
          <a:p>
            <a:pPr lvl="1"/>
            <a:r>
              <a:rPr lang="en-US" dirty="0"/>
              <a:t>RBCs</a:t>
            </a:r>
          </a:p>
          <a:p>
            <a:pPr lvl="1"/>
            <a:r>
              <a:rPr lang="en-US" dirty="0"/>
              <a:t>Kidney</a:t>
            </a:r>
          </a:p>
          <a:p>
            <a:pPr lvl="1"/>
            <a:r>
              <a:rPr lang="en-US" dirty="0"/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266949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450656"/>
              </p:ext>
            </p:extLst>
          </p:nvPr>
        </p:nvGraphicFramePr>
        <p:xfrm>
          <a:off x="385729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377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636213"/>
              </p:ext>
            </p:extLst>
          </p:nvPr>
        </p:nvGraphicFramePr>
        <p:xfrm>
          <a:off x="1329853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E91F7-3A69-A542-B456-0C312AF6B1A1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Acute liver injury in the setting of chronic alcohol drinking</a:t>
            </a:r>
          </a:p>
          <a:p>
            <a:r>
              <a:rPr lang="en-US" dirty="0"/>
              <a:t>Notice the AST:ALT &gt; 2</a:t>
            </a:r>
          </a:p>
          <a:p>
            <a:pPr lvl="1"/>
            <a:r>
              <a:rPr lang="en-US" dirty="0"/>
              <a:t>Because it’s in the 1000s, it is unlikely </a:t>
            </a:r>
            <a:r>
              <a:rPr lang="en-US" dirty="0" err="1"/>
              <a:t>alc</a:t>
            </a:r>
            <a:r>
              <a:rPr lang="en-US" dirty="0"/>
              <a:t> hep</a:t>
            </a:r>
          </a:p>
          <a:p>
            <a:r>
              <a:rPr lang="en-US" dirty="0"/>
              <a:t>The following are hallmarks of alcohol drinking</a:t>
            </a:r>
          </a:p>
          <a:p>
            <a:pPr lvl="1"/>
            <a:r>
              <a:rPr lang="en-US" dirty="0"/>
              <a:t>Elevated GGT (even without ALP)</a:t>
            </a:r>
          </a:p>
          <a:p>
            <a:pPr lvl="1"/>
            <a:r>
              <a:rPr lang="en-US" dirty="0"/>
              <a:t>Elevated MCV</a:t>
            </a:r>
          </a:p>
          <a:p>
            <a:pPr lvl="1"/>
            <a:r>
              <a:rPr lang="en-US" dirty="0"/>
              <a:t>Low platelets</a:t>
            </a:r>
          </a:p>
          <a:p>
            <a:pPr lvl="1"/>
            <a:r>
              <a:rPr lang="en-US" dirty="0"/>
              <a:t>AST:ALT&gt;2 (regardless of levels)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479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065551"/>
              </p:ext>
            </p:extLst>
          </p:nvPr>
        </p:nvGraphicFramePr>
        <p:xfrm>
          <a:off x="385729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086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5832163"/>
              </p:ext>
            </p:extLst>
          </p:nvPr>
        </p:nvGraphicFramePr>
        <p:xfrm>
          <a:off x="888064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9D4E1-1010-A540-B3D6-12D0528CF560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Cholestatic injury</a:t>
            </a:r>
          </a:p>
          <a:p>
            <a:r>
              <a:rPr lang="en-US" dirty="0"/>
              <a:t>R factor &lt; 2</a:t>
            </a:r>
          </a:p>
          <a:p>
            <a:pPr lvl="1"/>
            <a:r>
              <a:rPr lang="en-US" dirty="0"/>
              <a:t>mainly ALP and GGT elevation</a:t>
            </a:r>
          </a:p>
          <a:p>
            <a:r>
              <a:rPr lang="en-US" dirty="0"/>
              <a:t>Next step is RUQ US to evaluate </a:t>
            </a:r>
            <a:r>
              <a:rPr lang="en-US" b="1" dirty="0"/>
              <a:t>ductal dilation</a:t>
            </a:r>
          </a:p>
          <a:p>
            <a:r>
              <a:rPr lang="en-US" dirty="0"/>
              <a:t>Extrahepatic cholestasis</a:t>
            </a:r>
          </a:p>
          <a:p>
            <a:pPr lvl="1"/>
            <a:r>
              <a:rPr lang="en-US" dirty="0"/>
              <a:t>Choledocholithiasis</a:t>
            </a:r>
          </a:p>
          <a:p>
            <a:pPr lvl="1"/>
            <a:r>
              <a:rPr lang="en-US" dirty="0"/>
              <a:t>Tumors</a:t>
            </a:r>
          </a:p>
          <a:p>
            <a:pPr lvl="1"/>
            <a:r>
              <a:rPr lang="en-US" dirty="0"/>
              <a:t>Strictures (PSC)</a:t>
            </a:r>
          </a:p>
          <a:p>
            <a:r>
              <a:rPr lang="en-US" dirty="0"/>
              <a:t>Intrahepatic cholestasis</a:t>
            </a:r>
          </a:p>
          <a:p>
            <a:pPr lvl="1"/>
            <a:r>
              <a:rPr lang="en-US" dirty="0"/>
              <a:t>Sepsis</a:t>
            </a:r>
          </a:p>
          <a:p>
            <a:pPr lvl="1"/>
            <a:r>
              <a:rPr lang="en-US" dirty="0"/>
              <a:t>Drug induced (DILI)</a:t>
            </a:r>
          </a:p>
          <a:p>
            <a:pPr lvl="1"/>
            <a:r>
              <a:rPr lang="en-US" dirty="0"/>
              <a:t>PBC</a:t>
            </a:r>
          </a:p>
        </p:txBody>
      </p:sp>
    </p:spTree>
    <p:extLst>
      <p:ext uri="{BB962C8B-B14F-4D97-AF65-F5344CB8AC3E}">
        <p14:creationId xmlns:p14="http://schemas.microsoft.com/office/powerpoint/2010/main" val="2929344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151743"/>
              </p:ext>
            </p:extLst>
          </p:nvPr>
        </p:nvGraphicFramePr>
        <p:xfrm>
          <a:off x="888064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9D4E1-1010-A540-B3D6-12D0528CF560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Cholestatic injury</a:t>
            </a:r>
          </a:p>
          <a:p>
            <a:r>
              <a:rPr lang="en-US" dirty="0"/>
              <a:t>Why is the INR elevated?</a:t>
            </a:r>
          </a:p>
          <a:p>
            <a:r>
              <a:rPr lang="en-US" dirty="0"/>
              <a:t>Vit K deficiency</a:t>
            </a:r>
          </a:p>
          <a:p>
            <a:pPr lvl="1"/>
            <a:r>
              <a:rPr lang="en-US" dirty="0"/>
              <a:t>Remember, no bile = no ADEK absorption = high INR</a:t>
            </a:r>
          </a:p>
          <a:p>
            <a:pPr lvl="1"/>
            <a:r>
              <a:rPr lang="en-US" dirty="0"/>
              <a:t>Liver function is </a:t>
            </a:r>
            <a:r>
              <a:rPr lang="en-US" b="1" dirty="0"/>
              <a:t>intact</a:t>
            </a:r>
          </a:p>
          <a:p>
            <a:r>
              <a:rPr lang="en-US" dirty="0"/>
              <a:t>Give Vit K </a:t>
            </a:r>
            <a:r>
              <a:rPr lang="en-US" b="1" dirty="0"/>
              <a:t>IV not PO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891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122828"/>
              </p:ext>
            </p:extLst>
          </p:nvPr>
        </p:nvGraphicFramePr>
        <p:xfrm>
          <a:off x="3857296" y="617002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042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0496553"/>
              </p:ext>
            </p:extLst>
          </p:nvPr>
        </p:nvGraphicFramePr>
        <p:xfrm>
          <a:off x="1134644" y="617002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31C57-FE01-C343-AD41-B2FD092E6635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Extrahepatic ALP</a:t>
            </a:r>
          </a:p>
          <a:p>
            <a:r>
              <a:rPr lang="en-US" dirty="0"/>
              <a:t>ALP without GGT elevation confirms an extrahepatic source</a:t>
            </a:r>
          </a:p>
          <a:p>
            <a:endParaRPr lang="en-US" dirty="0"/>
          </a:p>
          <a:p>
            <a:r>
              <a:rPr lang="en-US" dirty="0"/>
              <a:t>ALP isoenzymes found in:</a:t>
            </a:r>
          </a:p>
          <a:p>
            <a:pPr lvl="1"/>
            <a:r>
              <a:rPr lang="en-US" dirty="0"/>
              <a:t>Hepatocytes (canalicular side)</a:t>
            </a:r>
          </a:p>
          <a:p>
            <a:pPr lvl="1"/>
            <a:r>
              <a:rPr lang="en-US" dirty="0" err="1"/>
              <a:t>Cholangiocytes</a:t>
            </a:r>
            <a:r>
              <a:rPr lang="en-US" dirty="0"/>
              <a:t> (biliary tree)</a:t>
            </a:r>
          </a:p>
          <a:p>
            <a:pPr lvl="1"/>
            <a:r>
              <a:rPr lang="en-US" dirty="0"/>
              <a:t>Intestinal epithelium (SBO)</a:t>
            </a:r>
          </a:p>
          <a:p>
            <a:pPr lvl="1"/>
            <a:r>
              <a:rPr lang="en-US" dirty="0"/>
              <a:t>Kidney (CKD/AKI)</a:t>
            </a:r>
          </a:p>
          <a:p>
            <a:pPr lvl="1"/>
            <a:r>
              <a:rPr lang="en-US" dirty="0"/>
              <a:t>Bone (</a:t>
            </a:r>
            <a:r>
              <a:rPr lang="en-US" b="1" dirty="0"/>
              <a:t>osteoblastic, </a:t>
            </a:r>
            <a:r>
              <a:rPr lang="en-US" dirty="0"/>
              <a:t>not lytic)</a:t>
            </a:r>
          </a:p>
          <a:p>
            <a:pPr lvl="1"/>
            <a:r>
              <a:rPr lang="en-US" dirty="0"/>
              <a:t>Placenta (1</a:t>
            </a:r>
            <a:r>
              <a:rPr lang="en-US" baseline="30000" dirty="0"/>
              <a:t>st</a:t>
            </a:r>
            <a:r>
              <a:rPr lang="en-US" dirty="0"/>
              <a:t> + 3</a:t>
            </a:r>
            <a:r>
              <a:rPr lang="en-US" baseline="30000" dirty="0"/>
              <a:t>rd</a:t>
            </a:r>
            <a:r>
              <a:rPr lang="en-US" dirty="0"/>
              <a:t> trimester)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499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2665466"/>
              </p:ext>
            </p:extLst>
          </p:nvPr>
        </p:nvGraphicFramePr>
        <p:xfrm>
          <a:off x="385729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891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798055"/>
              </p:ext>
            </p:extLst>
          </p:nvPr>
        </p:nvGraphicFramePr>
        <p:xfrm>
          <a:off x="1144918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6F159-AF20-064B-8BF6-713BE46851CC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Alcohol drinking</a:t>
            </a:r>
          </a:p>
          <a:p>
            <a:r>
              <a:rPr lang="en-US" dirty="0"/>
              <a:t>Remember the hallmarks of drinking</a:t>
            </a:r>
          </a:p>
          <a:p>
            <a:pPr lvl="1"/>
            <a:r>
              <a:rPr lang="en-US" dirty="0"/>
              <a:t>Elevated GGT (induced elevation without liver injury)</a:t>
            </a:r>
          </a:p>
          <a:p>
            <a:pPr lvl="1"/>
            <a:r>
              <a:rPr lang="en-US" dirty="0"/>
              <a:t>AST:ALT&gt;2 (vit B6 deficiency)</a:t>
            </a:r>
          </a:p>
          <a:p>
            <a:pPr lvl="1"/>
            <a:r>
              <a:rPr lang="en-US" dirty="0"/>
              <a:t>Elevated MCV</a:t>
            </a:r>
          </a:p>
          <a:p>
            <a:pPr lvl="1"/>
            <a:r>
              <a:rPr lang="en-US" dirty="0"/>
              <a:t>Low platelets</a:t>
            </a:r>
          </a:p>
          <a:p>
            <a:pPr lvl="1"/>
            <a:r>
              <a:rPr lang="en-US" dirty="0"/>
              <a:t>Elevated IgA levels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462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880109"/>
              </p:ext>
            </p:extLst>
          </p:nvPr>
        </p:nvGraphicFramePr>
        <p:xfrm>
          <a:off x="385729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300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236934"/>
              </p:ext>
            </p:extLst>
          </p:nvPr>
        </p:nvGraphicFramePr>
        <p:xfrm>
          <a:off x="1155193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BE0A-B6D5-194D-A493-41EE5F9087AB}"/>
              </a:ext>
            </a:extLst>
          </p:cNvPr>
          <p:cNvSpPr txBox="1">
            <a:spLocks/>
          </p:cNvSpPr>
          <p:nvPr/>
        </p:nvSpPr>
        <p:spPr>
          <a:xfrm>
            <a:off x="5291190" y="614658"/>
            <a:ext cx="6062609" cy="5562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Infiltrative liver injury</a:t>
            </a:r>
          </a:p>
          <a:p>
            <a:r>
              <a:rPr lang="en-US" dirty="0"/>
              <a:t>ALP and GGT elevation without </a:t>
            </a:r>
            <a:r>
              <a:rPr lang="en-US" dirty="0" err="1"/>
              <a:t>Tbili</a:t>
            </a:r>
            <a:r>
              <a:rPr lang="en-US" dirty="0"/>
              <a:t> elevation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Sarcoidosis</a:t>
            </a:r>
          </a:p>
          <a:p>
            <a:pPr lvl="1"/>
            <a:r>
              <a:rPr lang="en-US" dirty="0"/>
              <a:t>Syphilis</a:t>
            </a:r>
          </a:p>
          <a:p>
            <a:pPr lvl="1"/>
            <a:r>
              <a:rPr lang="en-US" dirty="0"/>
              <a:t>Drug-induced liver injury</a:t>
            </a:r>
          </a:p>
          <a:p>
            <a:pPr lvl="1"/>
            <a:r>
              <a:rPr lang="en-US" dirty="0"/>
              <a:t>Early PBC</a:t>
            </a:r>
          </a:p>
          <a:p>
            <a:pPr lvl="1"/>
            <a:r>
              <a:rPr lang="en-US" dirty="0"/>
              <a:t>Infiltrative carcinomas</a:t>
            </a:r>
          </a:p>
        </p:txBody>
      </p:sp>
    </p:spTree>
    <p:extLst>
      <p:ext uri="{BB962C8B-B14F-4D97-AF65-F5344CB8AC3E}">
        <p14:creationId xmlns:p14="http://schemas.microsoft.com/office/powerpoint/2010/main" val="1314127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9295276"/>
              </p:ext>
            </p:extLst>
          </p:nvPr>
        </p:nvGraphicFramePr>
        <p:xfrm>
          <a:off x="385729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480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347052"/>
              </p:ext>
            </p:extLst>
          </p:nvPr>
        </p:nvGraphicFramePr>
        <p:xfrm>
          <a:off x="898338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3A814-7A18-9647-8A0D-BE1F5D654DA2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Cirrhosis</a:t>
            </a:r>
          </a:p>
          <a:p>
            <a:r>
              <a:rPr lang="en-US" dirty="0"/>
              <a:t>Hallmarks of cirrhosis on labs</a:t>
            </a:r>
          </a:p>
          <a:p>
            <a:pPr lvl="1"/>
            <a:r>
              <a:rPr lang="en-US" dirty="0"/>
              <a:t>AST&gt;ALT (even normal ranges)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536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ADF909-2140-F94C-98D1-D03761AA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AST&gt;ALT in Cirrhosis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3B5AE9-B4C0-ED40-8935-D6BF33EAA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42" y="1690688"/>
            <a:ext cx="9385716" cy="457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24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3725335"/>
              </p:ext>
            </p:extLst>
          </p:nvPr>
        </p:nvGraphicFramePr>
        <p:xfrm>
          <a:off x="898338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3A814-7A18-9647-8A0D-BE1F5D654DA2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Cirrhosis</a:t>
            </a:r>
          </a:p>
          <a:p>
            <a:r>
              <a:rPr lang="en-US" dirty="0"/>
              <a:t>Hallmarks of cirrhosis on labs</a:t>
            </a:r>
          </a:p>
          <a:p>
            <a:pPr lvl="1"/>
            <a:r>
              <a:rPr lang="en-US" dirty="0"/>
              <a:t>AST&gt;ALT (even normal ranges)</a:t>
            </a:r>
          </a:p>
          <a:p>
            <a:pPr lvl="1"/>
            <a:r>
              <a:rPr lang="en-US" dirty="0"/>
              <a:t>Low albumin</a:t>
            </a:r>
          </a:p>
          <a:p>
            <a:pPr lvl="1"/>
            <a:r>
              <a:rPr lang="en-US" dirty="0"/>
              <a:t>Elevated INR</a:t>
            </a:r>
          </a:p>
          <a:p>
            <a:pPr lvl="1"/>
            <a:r>
              <a:rPr lang="en-US" dirty="0"/>
              <a:t>Elevated </a:t>
            </a:r>
            <a:r>
              <a:rPr lang="en-US" dirty="0" err="1"/>
              <a:t>Tbili</a:t>
            </a:r>
            <a:endParaRPr lang="en-US" dirty="0"/>
          </a:p>
          <a:p>
            <a:pPr lvl="1"/>
            <a:r>
              <a:rPr lang="en-US" dirty="0"/>
              <a:t>Low platelets </a:t>
            </a:r>
            <a:r>
              <a:rPr lang="en-US" b="1" dirty="0"/>
              <a:t>(indicates portal hypertension!)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89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2526305"/>
              </p:ext>
            </p:extLst>
          </p:nvPr>
        </p:nvGraphicFramePr>
        <p:xfrm>
          <a:off x="385729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0026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553082"/>
              </p:ext>
            </p:extLst>
          </p:nvPr>
        </p:nvGraphicFramePr>
        <p:xfrm>
          <a:off x="1144917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26B5EE-4605-E444-818B-119CAC29B6D5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Chronic liver disease</a:t>
            </a:r>
          </a:p>
          <a:p>
            <a:r>
              <a:rPr lang="en-US" dirty="0"/>
              <a:t>ALT (sometimes AST and others) is mildly elevated</a:t>
            </a:r>
          </a:p>
          <a:p>
            <a:pPr lvl="1"/>
            <a:r>
              <a:rPr lang="en-US" dirty="0"/>
              <a:t>ALT&gt;AST</a:t>
            </a:r>
          </a:p>
          <a:p>
            <a:r>
              <a:rPr lang="en-US" dirty="0"/>
              <a:t>Work up of all causes of chronic liver diseases</a:t>
            </a:r>
          </a:p>
          <a:p>
            <a:pPr lvl="1"/>
            <a:r>
              <a:rPr lang="en-US" dirty="0"/>
              <a:t>Chronic hep B</a:t>
            </a:r>
          </a:p>
          <a:p>
            <a:pPr lvl="1"/>
            <a:r>
              <a:rPr lang="en-US" dirty="0"/>
              <a:t>Chronic hep C</a:t>
            </a:r>
          </a:p>
          <a:p>
            <a:pPr lvl="1"/>
            <a:r>
              <a:rPr lang="en-US" dirty="0"/>
              <a:t>Hemochromatosis</a:t>
            </a:r>
          </a:p>
          <a:p>
            <a:pPr lvl="1"/>
            <a:r>
              <a:rPr lang="en-US" dirty="0"/>
              <a:t>Autoimmune hepatitis/etc.</a:t>
            </a:r>
          </a:p>
          <a:p>
            <a:pPr lvl="1"/>
            <a:r>
              <a:rPr lang="en-US" dirty="0"/>
              <a:t>A1ATD</a:t>
            </a:r>
          </a:p>
          <a:p>
            <a:pPr lvl="1"/>
            <a:r>
              <a:rPr lang="en-US" dirty="0"/>
              <a:t>Wilson’s</a:t>
            </a:r>
          </a:p>
          <a:p>
            <a:pPr lvl="1"/>
            <a:r>
              <a:rPr lang="en-US" b="1" dirty="0"/>
              <a:t>NAFLD </a:t>
            </a:r>
            <a:r>
              <a:rPr lang="en-US" b="1" dirty="0">
                <a:sym typeface="Wingdings" pitchFamily="2" charset="2"/>
              </a:rPr>
              <a:t> exclude others first</a:t>
            </a:r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6374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4676521"/>
              </p:ext>
            </p:extLst>
          </p:nvPr>
        </p:nvGraphicFramePr>
        <p:xfrm>
          <a:off x="385729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462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512670"/>
              </p:ext>
            </p:extLst>
          </p:nvPr>
        </p:nvGraphicFramePr>
        <p:xfrm>
          <a:off x="1206563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A2346-4B84-4549-A942-C5416881E041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Hemolysis</a:t>
            </a:r>
          </a:p>
          <a:p>
            <a:r>
              <a:rPr lang="en-US" dirty="0"/>
              <a:t>Elevated AST with no elevation in ALT indicates extrahepatic AST</a:t>
            </a:r>
          </a:p>
          <a:p>
            <a:r>
              <a:rPr lang="en-US" dirty="0"/>
              <a:t>Elevated LDH, </a:t>
            </a:r>
            <a:r>
              <a:rPr lang="en-US" dirty="0" err="1"/>
              <a:t>Tbili</a:t>
            </a:r>
            <a:r>
              <a:rPr lang="en-US" dirty="0"/>
              <a:t> and MCV indicates hemolysis</a:t>
            </a:r>
          </a:p>
          <a:p>
            <a:endParaRPr lang="en-US" dirty="0"/>
          </a:p>
          <a:p>
            <a:r>
              <a:rPr lang="en-US" b="1" dirty="0"/>
              <a:t>Elevated INR and low platelets may indicate DIC here!</a:t>
            </a:r>
          </a:p>
        </p:txBody>
      </p:sp>
    </p:spTree>
    <p:extLst>
      <p:ext uri="{BB962C8B-B14F-4D97-AF65-F5344CB8AC3E}">
        <p14:creationId xmlns:p14="http://schemas.microsoft.com/office/powerpoint/2010/main" val="3228990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677961"/>
              </p:ext>
            </p:extLst>
          </p:nvPr>
        </p:nvGraphicFramePr>
        <p:xfrm>
          <a:off x="385729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563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6231A521-1275-A045-89C4-0FCB3E303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586126"/>
              </p:ext>
            </p:extLst>
          </p:nvPr>
        </p:nvGraphicFramePr>
        <p:xfrm>
          <a:off x="990806" y="614658"/>
          <a:ext cx="3836277" cy="5628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371">
                  <a:extLst>
                    <a:ext uri="{9D8B030D-6E8A-4147-A177-3AD203B41FA5}">
                      <a16:colId xmlns:a16="http://schemas.microsoft.com/office/drawing/2014/main" val="2428530925"/>
                    </a:ext>
                  </a:extLst>
                </a:gridCol>
                <a:gridCol w="1550906">
                  <a:extLst>
                    <a:ext uri="{9D8B030D-6E8A-4147-A177-3AD203B41FA5}">
                      <a16:colId xmlns:a16="http://schemas.microsoft.com/office/drawing/2014/main" val="2233805228"/>
                    </a:ext>
                  </a:extLst>
                </a:gridCol>
              </a:tblGrid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Case 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86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24921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79783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0580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89217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16578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 Bilirubin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93927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Albumin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283170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Protein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621675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727684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Platelets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446093"/>
                  </a:ext>
                </a:extLst>
              </a:tr>
              <a:tr h="469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47097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26821-031C-C44E-A42B-4B34C364E2D8}"/>
              </a:ext>
            </a:extLst>
          </p:cNvPr>
          <p:cNvSpPr txBox="1">
            <a:spLocks/>
          </p:cNvSpPr>
          <p:nvPr/>
        </p:nvSpPr>
        <p:spPr>
          <a:xfrm>
            <a:off x="5763802" y="614658"/>
            <a:ext cx="5589998" cy="56286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Acute Wilson’s disease</a:t>
            </a:r>
          </a:p>
          <a:p>
            <a:r>
              <a:rPr lang="en-US" dirty="0"/>
              <a:t>AST:ALT &gt; 2.2</a:t>
            </a:r>
          </a:p>
          <a:p>
            <a:r>
              <a:rPr lang="en-US" dirty="0" err="1"/>
              <a:t>ALP:Tbili</a:t>
            </a:r>
            <a:r>
              <a:rPr lang="en-US" dirty="0"/>
              <a:t> &lt; 4</a:t>
            </a:r>
          </a:p>
          <a:p>
            <a:pPr lvl="1"/>
            <a:r>
              <a:rPr lang="en-US" dirty="0"/>
              <a:t>“low ALP”</a:t>
            </a:r>
          </a:p>
          <a:p>
            <a:pPr lvl="1"/>
            <a:r>
              <a:rPr lang="en-US" dirty="0" err="1"/>
              <a:t>Tbili</a:t>
            </a:r>
            <a:r>
              <a:rPr lang="en-US" dirty="0"/>
              <a:t> is out of proportion to ALP</a:t>
            </a:r>
          </a:p>
          <a:p>
            <a:r>
              <a:rPr lang="en-US" dirty="0"/>
              <a:t>Supportive evidence</a:t>
            </a:r>
          </a:p>
          <a:p>
            <a:pPr lvl="1"/>
            <a:r>
              <a:rPr lang="en-US" dirty="0"/>
              <a:t>Non-immune hemolytic anemia</a:t>
            </a:r>
          </a:p>
          <a:p>
            <a:pPr lvl="2"/>
            <a:r>
              <a:rPr lang="en-US" dirty="0" err="1"/>
              <a:t>Tbili</a:t>
            </a:r>
            <a:r>
              <a:rPr lang="en-US" dirty="0"/>
              <a:t> is high</a:t>
            </a:r>
          </a:p>
          <a:p>
            <a:pPr lvl="2"/>
            <a:r>
              <a:rPr lang="en-US" dirty="0"/>
              <a:t>LDH is high</a:t>
            </a:r>
          </a:p>
          <a:p>
            <a:pPr lvl="2"/>
            <a:r>
              <a:rPr lang="en-US" dirty="0"/>
              <a:t>MCV is high</a:t>
            </a:r>
          </a:p>
          <a:p>
            <a:pPr lvl="1"/>
            <a:r>
              <a:rPr lang="en-US" dirty="0"/>
              <a:t>INR is elevated indicating liver failure</a:t>
            </a:r>
          </a:p>
          <a:p>
            <a:r>
              <a:rPr lang="en-US" dirty="0"/>
              <a:t>This patient requires transplant referral!</a:t>
            </a:r>
          </a:p>
        </p:txBody>
      </p:sp>
    </p:spTree>
    <p:extLst>
      <p:ext uri="{BB962C8B-B14F-4D97-AF65-F5344CB8AC3E}">
        <p14:creationId xmlns:p14="http://schemas.microsoft.com/office/powerpoint/2010/main" val="26729473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B45494-E78C-814F-A370-D6AD0D8C36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53"/>
          <a:stretch/>
        </p:blipFill>
        <p:spPr>
          <a:xfrm>
            <a:off x="2395003" y="729049"/>
            <a:ext cx="7406635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618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FF96B29-E4BF-A049-B3D6-90F8784D8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44" y="1315150"/>
            <a:ext cx="12192000" cy="422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8661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17F648-1DF3-3D43-955E-16EDEE7F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D981F3-C254-2F4C-9A59-C1955559D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52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1422</Words>
  <Application>Microsoft Macintosh PowerPoint</Application>
  <PresentationFormat>Widescreen</PresentationFormat>
  <Paragraphs>821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Georgia</vt:lpstr>
      <vt:lpstr>System Font Regular</vt:lpstr>
      <vt:lpstr>Office Theme</vt:lpstr>
      <vt:lpstr>Acute Liver Injury The art of pattern recognition</vt:lpstr>
      <vt:lpstr>Basic Principles</vt:lpstr>
      <vt:lpstr>“Liver Function Tests” vs Liver Function Tests</vt:lpstr>
      <vt:lpstr>PowerPoint Presentation</vt:lpstr>
      <vt:lpstr>PowerPoint Presentation</vt:lpstr>
      <vt:lpstr>Case Presentations  What’s the most likely diagnosis?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AST&gt;ALT in Cirrhosis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Approach to Acute Liver Injury</dc:title>
  <dc:creator>Mohammad Almeqdadi</dc:creator>
  <cp:lastModifiedBy>Mohammad Almeqdadi</cp:lastModifiedBy>
  <cp:revision>90</cp:revision>
  <dcterms:created xsi:type="dcterms:W3CDTF">2022-01-16T16:08:04Z</dcterms:created>
  <dcterms:modified xsi:type="dcterms:W3CDTF">2022-07-19T18:24:42Z</dcterms:modified>
</cp:coreProperties>
</file>